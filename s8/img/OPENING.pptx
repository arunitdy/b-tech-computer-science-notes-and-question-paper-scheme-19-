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99A8F-3D5F-4BA0-9965-EA405D0A1CDD}" v="1" dt="2026-03-09T04:13:08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96E6-5873-C2E1-CF75-7136D264B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31392-A7ED-438C-767F-046A8FA0C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838C-88B8-ADD6-E63A-B461FAFB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3DE22-B8CF-DB08-66A4-13D31155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C385E-3A8C-21D5-CDB4-E50DE0D0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65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B42E-77B8-4694-9989-A2E18DCA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E7769-6C35-D63C-49F1-404148995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66666-B68F-923F-BA68-1CF8215D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EA8E-5FB0-9E8C-DAE7-6EF0B3F7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00C6-8A4E-3FF4-498D-1E0380C2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887-1892-F556-31CB-1BB2CDDE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FB203-C1F6-66EE-46F5-5C722D8A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EF773-E07A-4ADC-A9AD-6633ED86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570B-E9BB-EC46-A190-47A5786C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F939F-6257-089A-FD66-3F5E71C2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4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CDCF-FDE3-44E0-E0E7-1F7A5430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3E177-F67F-246A-FD4B-F2E880861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67C09-A333-043F-E9C4-35DE57CE4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F6F5B-6D31-ECDF-0E6E-B17B511C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5CB4E-18F6-F4FA-1534-217275EF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D4DCC-47F0-5282-739E-DFFFD830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35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3EDD-C3EB-3835-52B7-63482E79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71BB3-E65D-4522-78FA-834327520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D3EA0-D124-9C9E-A59B-93E28345C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F06B1-642C-0A93-399F-8D75C592E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29CD0-9D9B-6104-EB7B-40E151C89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26E9F-C0AF-A81F-177F-15F0E848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F1160-0CB5-E8EE-8AFB-65C0D001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5CF71-98B3-4BC9-0856-F9BC95DE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17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932F-27A8-5608-E691-755C76F0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2C014-556C-DF7E-43C0-8EF8BA35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EAA9B-A65C-4413-C05E-7508CD91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9E30E-1064-C3B7-0C5A-84584EE2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504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D9057-53CB-8C55-C35F-AC75D4B6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DA14D-98C2-F1EA-4ABA-336B84DF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66F4D-E2BA-8CFE-1E12-6B3E7CA2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62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7264-6D8B-FA21-4599-43DDC96C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3F27-A4A0-D2B8-2D20-2686169D6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09322-9D30-47E2-43A8-B673BD833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53E5-7F09-8727-C778-C1377460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2EB52-E50D-03D9-AF39-59A0FB2B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1A92-CE35-E246-AB4A-631B4C61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57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46F3-E13B-2CF7-8B1B-F9D7B581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99751-EC00-47A0-F047-A5E12DCE9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1C7C7-1FE7-CA9C-D873-CE21A0578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74CB4-C17B-A087-6282-CD3A308D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7F041-75C8-308E-B94F-CA4D2DCF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83B85-9C6B-44C5-4763-3108B388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63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C8B0-48FA-447C-7E03-9C31BF60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D6BF3-AC44-561E-55A6-3FB045E3D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CE089-B055-65D1-4A29-5D3A8901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0C874-DA72-0EB3-5E92-D69A52F9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DBE84-15C6-B6E1-A87E-80C37ACC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6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B4429-7C08-0EEF-F009-B85B5D075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C4D55-E5DD-CFBF-F66C-95078602D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16C45-8CFE-16C8-AE0F-15E1DF9E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11477-50CD-CAA9-88B6-8D60D244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9B5D7-03E2-B497-7A46-73C93894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3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052F2-FE0D-B06D-D530-4913FCDFA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AAB15-0E68-4B29-7D5F-EA72568E5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26AD2-54AF-F741-E266-EA1B70724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62109-836E-4C1F-B573-ECFCBB8961C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1A04A-1515-603B-A717-02DC1A07D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79E3E-0FD9-7F8A-3E27-03EB09D9F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70FD9-8669-417E-8A39-E5C38C890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24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12A4-04F4-4EA9-0B10-FE07BC677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MORPHOLOGICAL OPENING &amp;</a:t>
            </a:r>
            <a:br>
              <a:rPr lang="en-IN" b="1" dirty="0"/>
            </a:br>
            <a:r>
              <a:rPr lang="en-IN" b="1" dirty="0"/>
              <a:t>CLOSING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2ADBD-E692-3AE7-E24F-CC993DC53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AJAY SUSEEL</a:t>
            </a:r>
            <a:br>
              <a:rPr lang="en-IN" dirty="0"/>
            </a:br>
            <a:r>
              <a:rPr lang="en-IN" dirty="0"/>
              <a:t>R8B</a:t>
            </a:r>
            <a:br>
              <a:rPr lang="en-IN" dirty="0"/>
            </a:br>
            <a:r>
              <a:rPr lang="en-IN" dirty="0"/>
              <a:t>B22CSB06</a:t>
            </a:r>
          </a:p>
        </p:txBody>
      </p:sp>
    </p:spTree>
    <p:extLst>
      <p:ext uri="{BB962C8B-B14F-4D97-AF65-F5344CB8AC3E}">
        <p14:creationId xmlns:p14="http://schemas.microsoft.com/office/powerpoint/2010/main" val="125863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C573-D83A-88D8-73DD-3A8064C8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38DE1-0F6A-F14B-7611-0AA1019749EA}"/>
              </a:ext>
            </a:extLst>
          </p:cNvPr>
          <p:cNvSpPr txBox="1"/>
          <p:nvPr/>
        </p:nvSpPr>
        <p:spPr>
          <a:xfrm>
            <a:off x="737419" y="1412058"/>
            <a:ext cx="9596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Opening is a morphological operation consisting of two sequential steps: erosion followed by dilation.</a:t>
            </a:r>
          </a:p>
          <a:p>
            <a:r>
              <a:rPr lang="en-IN" dirty="0"/>
              <a:t>• It is mainly used for removing noise, smoothing object boundaries, and separating touching objects.</a:t>
            </a:r>
          </a:p>
          <a:p>
            <a:r>
              <a:rPr lang="en-IN" dirty="0"/>
              <a:t>• The operation removes small or thin structures while preserving the overall shape of larger objects.</a:t>
            </a:r>
          </a:p>
          <a:p>
            <a:r>
              <a:rPr lang="en-IN" dirty="0"/>
              <a:t>• Opening simplifies the image by eliminating insignificant details.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01F07-B626-345F-B358-E9727CCDBE65}"/>
              </a:ext>
            </a:extLst>
          </p:cNvPr>
          <p:cNvSpPr txBox="1"/>
          <p:nvPr/>
        </p:nvSpPr>
        <p:spPr>
          <a:xfrm>
            <a:off x="737419" y="31663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Opening of image </a:t>
            </a:r>
            <a:r>
              <a:rPr lang="en-US" b="1" dirty="0"/>
              <a:t>A</a:t>
            </a:r>
            <a:r>
              <a:rPr lang="en-US" dirty="0"/>
              <a:t> by structuring element </a:t>
            </a:r>
            <a:r>
              <a:rPr lang="en-US" b="1" dirty="0"/>
              <a:t>B</a:t>
            </a:r>
            <a:r>
              <a:rPr lang="en-US" dirty="0"/>
              <a:t> is expressed as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23171-47E1-936C-7500-B340886BF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93" y="3535716"/>
            <a:ext cx="2391109" cy="419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CCD372-DEF4-77A4-A6D7-55F6C3CD1DCD}"/>
              </a:ext>
            </a:extLst>
          </p:cNvPr>
          <p:cNvSpPr txBox="1"/>
          <p:nvPr/>
        </p:nvSpPr>
        <p:spPr>
          <a:xfrm>
            <a:off x="838200" y="4134249"/>
            <a:ext cx="93775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First step - Erosion: removes small noise and thin protrusions from objects.</a:t>
            </a:r>
          </a:p>
          <a:p>
            <a:r>
              <a:rPr lang="en-IN" dirty="0"/>
              <a:t>• Second step - Dilation: expands the remaining structures to approximately restore their original size.</a:t>
            </a:r>
          </a:p>
          <a:p>
            <a:r>
              <a:rPr lang="en-IN" dirty="0"/>
              <a:t>• The process produces cleaner objects with smoother boundaries.</a:t>
            </a:r>
          </a:p>
        </p:txBody>
      </p:sp>
    </p:spTree>
    <p:extLst>
      <p:ext uri="{BB962C8B-B14F-4D97-AF65-F5344CB8AC3E}">
        <p14:creationId xmlns:p14="http://schemas.microsoft.com/office/powerpoint/2010/main" val="236263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176D7-2553-B528-77D6-120532F4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Geometric Interpretation and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A0B3C-B15F-7E1D-41B5-3A0C75019F05}"/>
              </a:ext>
            </a:extLst>
          </p:cNvPr>
          <p:cNvSpPr txBox="1"/>
          <p:nvPr/>
        </p:nvSpPr>
        <p:spPr>
          <a:xfrm>
            <a:off x="749710" y="1472746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The structuring element B can be imagined as a rolling ball moving inside the boundary of object A.</a:t>
            </a:r>
          </a:p>
          <a:p>
            <a:r>
              <a:rPr lang="en-IN" dirty="0"/>
              <a:t>• Only the regions where the structuring element fits completely inside the object are retained.</a:t>
            </a:r>
          </a:p>
          <a:p>
            <a:r>
              <a:rPr lang="en-IN" dirty="0"/>
              <a:t>• Opening can be interpreted as the union of all translations of B that fit within 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AFEFB-B6BA-F7B5-CA47-B18D22AC5E4F}"/>
              </a:ext>
            </a:extLst>
          </p:cNvPr>
          <p:cNvSpPr txBox="1"/>
          <p:nvPr/>
        </p:nvSpPr>
        <p:spPr>
          <a:xfrm>
            <a:off x="749710" y="2765033"/>
            <a:ext cx="72537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Applications :</a:t>
            </a:r>
            <a:br>
              <a:rPr lang="en-US" dirty="0"/>
            </a:br>
            <a:r>
              <a:rPr lang="en-US" dirty="0"/>
              <a:t>• Noise removal</a:t>
            </a:r>
            <a:br>
              <a:rPr lang="en-US" dirty="0"/>
            </a:br>
            <a:r>
              <a:rPr lang="en-US" dirty="0"/>
              <a:t>• Separation of overlapping objects</a:t>
            </a:r>
            <a:br>
              <a:rPr lang="en-US" dirty="0"/>
            </a:br>
            <a:r>
              <a:rPr lang="en-US" dirty="0"/>
              <a:t>• Boundary smoothing</a:t>
            </a:r>
            <a:br>
              <a:rPr lang="en-US" dirty="0"/>
            </a:br>
            <a:r>
              <a:rPr lang="en-US" dirty="0"/>
              <a:t>• Background suppression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53E7E7-B2B6-EB21-4888-38A91E00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118" y="2396076"/>
            <a:ext cx="7123920" cy="25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4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BA9E-C877-BBE7-35ED-F5ADD1E6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CLOSING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F42FB-0571-8929-F0B2-121CF56A728D}"/>
              </a:ext>
            </a:extLst>
          </p:cNvPr>
          <p:cNvSpPr txBox="1"/>
          <p:nvPr/>
        </p:nvSpPr>
        <p:spPr>
          <a:xfrm>
            <a:off x="838197" y="1459855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Closing is a morphological operation consisting of two steps: dilation followed by erosion.</a:t>
            </a:r>
            <a:br>
              <a:rPr lang="en-US" dirty="0"/>
            </a:br>
            <a:r>
              <a:rPr lang="en-US" dirty="0"/>
              <a:t>• It is mainly used for filling gaps, connecting broken contours, and closing small holes in objects.</a:t>
            </a:r>
            <a:br>
              <a:rPr lang="en-US" dirty="0"/>
            </a:br>
            <a:r>
              <a:rPr lang="en-US" dirty="0"/>
              <a:t>• The operation helps complete object boundaries and improve object continuity.</a:t>
            </a:r>
            <a:br>
              <a:rPr lang="en-US" dirty="0"/>
            </a:br>
            <a:r>
              <a:rPr lang="en-US" dirty="0"/>
              <a:t>• Small gaps or breaks in objects are eliminated.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1562F-6E7D-351C-179E-5E4B440B2F34}"/>
              </a:ext>
            </a:extLst>
          </p:cNvPr>
          <p:cNvSpPr txBox="1"/>
          <p:nvPr/>
        </p:nvSpPr>
        <p:spPr>
          <a:xfrm>
            <a:off x="838197" y="27785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Closing of image A by structuring element B is expressed as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6875F-B56C-0776-CFC2-AC4B2EFD3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91" y="3147847"/>
            <a:ext cx="2410161" cy="4286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186011-21C6-C83C-AB87-EEBC5223AF00}"/>
              </a:ext>
            </a:extLst>
          </p:cNvPr>
          <p:cNvSpPr txBox="1"/>
          <p:nvPr/>
        </p:nvSpPr>
        <p:spPr>
          <a:xfrm>
            <a:off x="838196" y="3576532"/>
            <a:ext cx="10515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First step – Dilation: expands objects and fills small holes or gaps.</a:t>
            </a:r>
            <a:br>
              <a:rPr lang="en-US" dirty="0"/>
            </a:br>
            <a:r>
              <a:rPr lang="en-US" dirty="0"/>
              <a:t>• Second step – Erosion: slightly shrinks the expanded region to restore object size.</a:t>
            </a:r>
            <a:br>
              <a:rPr lang="en-US" dirty="0"/>
            </a:br>
            <a:r>
              <a:rPr lang="en-US" dirty="0"/>
              <a:t>• The final result produces objects with filled holes and continuous boundaries.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97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96E7-04C7-42AD-D078-DB447CF0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Geometric Interpretation and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2CF08-4B81-0365-34FC-BF80FF10C0E0}"/>
              </a:ext>
            </a:extLst>
          </p:cNvPr>
          <p:cNvSpPr txBox="1"/>
          <p:nvPr/>
        </p:nvSpPr>
        <p:spPr>
          <a:xfrm>
            <a:off x="838200" y="1325263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The structuring element can be imagined as a rolling ball moving outside the object boundary.</a:t>
            </a:r>
            <a:br>
              <a:rPr lang="en-US" dirty="0"/>
            </a:br>
            <a:r>
              <a:rPr lang="en-US" dirty="0"/>
              <a:t>• A point belongs to the closing result if the translated structuring element intersects the object region.</a:t>
            </a:r>
            <a:br>
              <a:rPr lang="en-US" dirty="0"/>
            </a:br>
            <a:r>
              <a:rPr lang="en-US" dirty="0"/>
              <a:t>• Opening and closing are dual operations of each other in mathematical morphology.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054D2-7414-E63F-C665-5F8E7BDF94B6}"/>
              </a:ext>
            </a:extLst>
          </p:cNvPr>
          <p:cNvSpPr txBox="1"/>
          <p:nvPr/>
        </p:nvSpPr>
        <p:spPr>
          <a:xfrm>
            <a:off x="946355" y="247006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Applications :</a:t>
            </a:r>
            <a:br>
              <a:rPr lang="en-US" dirty="0"/>
            </a:br>
            <a:r>
              <a:rPr lang="en-US" dirty="0"/>
              <a:t>• Filling holes in objects</a:t>
            </a:r>
            <a:br>
              <a:rPr lang="en-US" dirty="0"/>
            </a:br>
            <a:r>
              <a:rPr lang="en-US" dirty="0"/>
              <a:t>• Connecting broken lines or contours</a:t>
            </a:r>
            <a:br>
              <a:rPr lang="en-US" dirty="0"/>
            </a:br>
            <a:r>
              <a:rPr lang="en-US" dirty="0"/>
              <a:t>• Completing boundaries</a:t>
            </a:r>
            <a:br>
              <a:rPr lang="en-US" dirty="0"/>
            </a:br>
            <a:r>
              <a:rPr lang="en-US" dirty="0"/>
              <a:t>• Object reconstruction in images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C6591B-1A8F-9C06-1C9C-56FB97D4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3" r="1366"/>
          <a:stretch>
            <a:fillRect/>
          </a:stretch>
        </p:blipFill>
        <p:spPr>
          <a:xfrm>
            <a:off x="5161935" y="2419953"/>
            <a:ext cx="6449962" cy="18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5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B1E3A-194A-B923-FEEA-145844CCD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36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405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MORPHOLOGICAL OPENING &amp; CLOSING</vt:lpstr>
      <vt:lpstr>OPENING</vt:lpstr>
      <vt:lpstr>Geometric Interpretation and Applications</vt:lpstr>
      <vt:lpstr>CLOSING</vt:lpstr>
      <vt:lpstr>Geometric Interpretation and Applications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Suseel</dc:creator>
  <cp:lastModifiedBy>Ajay Suseel</cp:lastModifiedBy>
  <cp:revision>2</cp:revision>
  <dcterms:created xsi:type="dcterms:W3CDTF">2026-03-09T04:00:59Z</dcterms:created>
  <dcterms:modified xsi:type="dcterms:W3CDTF">2026-03-09T04:27:42Z</dcterms:modified>
</cp:coreProperties>
</file>