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92" r:id="rId29"/>
    <p:sldId id="293" r:id="rId30"/>
    <p:sldId id="282" r:id="rId31"/>
    <p:sldId id="284" r:id="rId32"/>
    <p:sldId id="285" r:id="rId33"/>
    <p:sldId id="286" r:id="rId34"/>
    <p:sldId id="287" r:id="rId35"/>
    <p:sldId id="288" r:id="rId36"/>
    <p:sldId id="289" r:id="rId37"/>
    <p:sldId id="290" r:id="rId38"/>
    <p:sldId id="291" r:id="rId39"/>
  </p:sldIdLst>
  <p:sldSz cx="9144000" cy="5143500" type="screen16x9"/>
  <p:notesSz cx="6858000" cy="9144000"/>
  <p:embeddedFontLst>
    <p:embeddedFont>
      <p:font typeface="Bebas Neue" panose="020B0606020202050201" pitchFamily="34" charset="0"/>
      <p:regular r:id="rId41"/>
    </p:embeddedFont>
    <p:embeddedFont>
      <p:font typeface="Cambria Math" panose="02040503050406030204" pitchFamily="18"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45" autoAdjust="0"/>
  </p:normalViewPr>
  <p:slideViewPr>
    <p:cSldViewPr snapToGrid="0">
      <p:cViewPr varScale="1">
        <p:scale>
          <a:sx n="90" d="100"/>
          <a:sy n="90" d="100"/>
        </p:scale>
        <p:origin x="1234"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37a95990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37a95990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7a95990d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37a95990d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37a95990d0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37a95990d0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37a95990d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37a95990d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7a95990d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37a95990d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7a95990d0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7a95990d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37a95990d0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37a95990d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37a95990d0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37a95990d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7a95990d0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37a95990d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37a95990d0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37a95990d0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37a95990d0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37a95990d0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37a95990d0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37a95990d0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37a95990d0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37a95990d0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83612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4774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FE490-35BD-F2C2-C0F1-72A35768B68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9BD01AE-1B14-B1D5-47CE-CFACDDC8941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092A09-2407-957E-814F-C087A677D090}"/>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5" name="Footer Placeholder 4">
            <a:extLst>
              <a:ext uri="{FF2B5EF4-FFF2-40B4-BE49-F238E27FC236}">
                <a16:creationId xmlns:a16="http://schemas.microsoft.com/office/drawing/2014/main" id="{20C6605F-A271-237E-91F6-15D06E0D19B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1E46CC-F5D9-DE8F-7479-981BF1487A0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6989706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4E63-2E86-CE77-F219-C9676EFA3B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2293B8-78D6-9D83-0F7F-6BC79343A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E15FEC-7A47-F0B2-FC5C-CB394F21BF5C}"/>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5" name="Footer Placeholder 4">
            <a:extLst>
              <a:ext uri="{FF2B5EF4-FFF2-40B4-BE49-F238E27FC236}">
                <a16:creationId xmlns:a16="http://schemas.microsoft.com/office/drawing/2014/main" id="{63B6D1BC-BC27-6A9D-FE91-C8E5A20875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84280A-CF9C-2FCB-82A7-594A3625C0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571690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5B55-AFD1-77E8-686E-8630BFFBAED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186558-AB84-5F9C-89AF-E99520C5329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8ABF75-A615-E45C-C33B-5574C2860771}"/>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5" name="Footer Placeholder 4">
            <a:extLst>
              <a:ext uri="{FF2B5EF4-FFF2-40B4-BE49-F238E27FC236}">
                <a16:creationId xmlns:a16="http://schemas.microsoft.com/office/drawing/2014/main" id="{BE510DCB-0861-85DF-D559-F557B6F01E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54BE7B-590B-4F7C-7FB1-453DA5D4475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210593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9C3E5-8525-2B96-D358-BA3E7DB058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D11B61-BE4E-C3A0-F12C-F00E66440FC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D1B8EE-37BF-3530-0BF3-416C76430DB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229BF7-EED6-D54B-7468-D38AE64C3F9E}"/>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6" name="Footer Placeholder 5">
            <a:extLst>
              <a:ext uri="{FF2B5EF4-FFF2-40B4-BE49-F238E27FC236}">
                <a16:creationId xmlns:a16="http://schemas.microsoft.com/office/drawing/2014/main" id="{F9EC0759-8F66-332A-E17E-76204A570DF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FD09A81-9740-D15E-4B86-E6A3AD50BB6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746594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E7E5-5032-3EA9-5024-96A6FF90E0C9}"/>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BC5A78-954D-BFEC-DC47-D489D14E770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611BD88-E093-8A47-307C-07BCAB903D62}"/>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BA278F-0BC1-EDB2-6470-0C2E9E584F6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28773ED-1848-A91C-2ECB-78DFCA31759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269A50E-DEEE-047E-F4C4-DA7BF9E9ABD7}"/>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8" name="Footer Placeholder 7">
            <a:extLst>
              <a:ext uri="{FF2B5EF4-FFF2-40B4-BE49-F238E27FC236}">
                <a16:creationId xmlns:a16="http://schemas.microsoft.com/office/drawing/2014/main" id="{EA0A75FC-793B-2988-14DD-A916BE5D708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7598CD0-3F4D-9B68-96FD-682DAEF994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6163930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FCC50-E653-74E0-5AEA-B2685D293F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0981A9-FBF0-56D9-7D62-AC8AB1B407FE}"/>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4" name="Footer Placeholder 3">
            <a:extLst>
              <a:ext uri="{FF2B5EF4-FFF2-40B4-BE49-F238E27FC236}">
                <a16:creationId xmlns:a16="http://schemas.microsoft.com/office/drawing/2014/main" id="{3A15B243-D5A5-C461-F037-DD2BB855367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E59C434-11B5-3069-DB01-4EE3A1F9EB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7165209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0228D1-FEEC-E9E0-98BD-45090CCBCEF5}"/>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3" name="Footer Placeholder 2">
            <a:extLst>
              <a:ext uri="{FF2B5EF4-FFF2-40B4-BE49-F238E27FC236}">
                <a16:creationId xmlns:a16="http://schemas.microsoft.com/office/drawing/2014/main" id="{94CFD1DC-BE7C-BC44-56C3-F3B394EE6BF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C6131D7-EA08-8CD2-F035-05AA28E6C0D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8890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DBBB-A762-1D00-31EE-21A74AC4F13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BCD8FD-ECA0-5BDF-A658-76A345339A6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85C6D0-D6FE-E0DD-701F-9BD6A43A95D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6CFA120-D99B-0B73-6861-D875AC7F89E3}"/>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6" name="Footer Placeholder 5">
            <a:extLst>
              <a:ext uri="{FF2B5EF4-FFF2-40B4-BE49-F238E27FC236}">
                <a16:creationId xmlns:a16="http://schemas.microsoft.com/office/drawing/2014/main" id="{C0418C1D-5D0B-1C5D-F923-8420E614CA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57CE8F-2BF1-BCA9-9638-6D095610A6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1606766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63544-9232-5C7A-1E28-BD4285DD93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9684AE-0E95-D4E6-7497-DE59F26EAD1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363DC2D8-9FD3-21BB-8BA9-CFE88119DB8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4611C87-3EE7-32B7-5454-65BB0ACCAFD9}"/>
              </a:ext>
            </a:extLst>
          </p:cNvPr>
          <p:cNvSpPr>
            <a:spLocks noGrp="1"/>
          </p:cNvSpPr>
          <p:nvPr>
            <p:ph type="dt" sz="half" idx="10"/>
          </p:nvPr>
        </p:nvSpPr>
        <p:spPr/>
        <p:txBody>
          <a:bodyPr/>
          <a:lstStyle/>
          <a:p>
            <a:fld id="{48A87A34-81AB-432B-8DAE-1953F412C126}" type="datetimeFigureOut">
              <a:rPr lang="en-US" smtClean="0"/>
              <a:pPr/>
              <a:t>3/3/2026</a:t>
            </a:fld>
            <a:endParaRPr lang="en-US" dirty="0"/>
          </a:p>
        </p:txBody>
      </p:sp>
      <p:sp>
        <p:nvSpPr>
          <p:cNvPr id="6" name="Footer Placeholder 5">
            <a:extLst>
              <a:ext uri="{FF2B5EF4-FFF2-40B4-BE49-F238E27FC236}">
                <a16:creationId xmlns:a16="http://schemas.microsoft.com/office/drawing/2014/main" id="{14AF4FBF-058E-39D9-BFB2-2E745EED1FE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5F41AD0-9CC0-1340-04C1-ADB02AA5DAA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937774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5FAF-286D-2161-0F9C-47E37B72CA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B77C05-6DE0-F77D-4C57-1AC6DA4C3F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8B5775-2928-289D-FF44-5CAA027EE47D}"/>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5" name="Footer Placeholder 4">
            <a:extLst>
              <a:ext uri="{FF2B5EF4-FFF2-40B4-BE49-F238E27FC236}">
                <a16:creationId xmlns:a16="http://schemas.microsoft.com/office/drawing/2014/main" id="{9AC3B6D9-001A-D4A0-34D2-7E8CD3902B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E8AFE2-E1C1-1DA2-93B1-75C46FA23F2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5131031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56A646-8A97-C6FE-662F-AE0D03B77E30}"/>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A2BF27-F629-6B44-C35B-CA49DB711E7C}"/>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03F981-7253-F70C-ACA6-FA9C6F8380E8}"/>
              </a:ext>
            </a:extLst>
          </p:cNvPr>
          <p:cNvSpPr>
            <a:spLocks noGrp="1"/>
          </p:cNvSpPr>
          <p:nvPr>
            <p:ph type="dt" sz="half" idx="10"/>
          </p:nvPr>
        </p:nvSpPr>
        <p:spPr/>
        <p:txBody>
          <a:bodyPr/>
          <a:lstStyle/>
          <a:p>
            <a:fld id="{48A87A34-81AB-432B-8DAE-1953F412C126}" type="datetimeFigureOut">
              <a:rPr lang="en-US" smtClean="0"/>
              <a:t>3/3/2026</a:t>
            </a:fld>
            <a:endParaRPr lang="en-US" dirty="0"/>
          </a:p>
        </p:txBody>
      </p:sp>
      <p:sp>
        <p:nvSpPr>
          <p:cNvPr id="5" name="Footer Placeholder 4">
            <a:extLst>
              <a:ext uri="{FF2B5EF4-FFF2-40B4-BE49-F238E27FC236}">
                <a16:creationId xmlns:a16="http://schemas.microsoft.com/office/drawing/2014/main" id="{FF5ADC26-FCEC-4532-1C07-7E6FEB2B83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9CC86F-0C2E-88E8-DFB9-AAC4898A3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109972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836224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FCECE-705C-9CA4-B5CE-0772AE7F3BE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5908B3-A66E-06E6-C3E9-8286E4A003CD}"/>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551BA0-778D-2BF2-7FA7-729A58C31B0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3/3/2026</a:t>
            </a:fld>
            <a:endParaRPr lang="en-US" dirty="0"/>
          </a:p>
        </p:txBody>
      </p:sp>
      <p:sp>
        <p:nvSpPr>
          <p:cNvPr id="5" name="Footer Placeholder 4">
            <a:extLst>
              <a:ext uri="{FF2B5EF4-FFF2-40B4-BE49-F238E27FC236}">
                <a16:creationId xmlns:a16="http://schemas.microsoft.com/office/drawing/2014/main" id="{4E72BCAB-1B73-3AB0-5CE9-DEEC8AC9903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01275A8-E23B-2037-EE24-5513E23A1067}"/>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85002210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latin typeface="Bebas Neue"/>
                <a:ea typeface="Bebas Neue"/>
                <a:cs typeface="Bebas Neue"/>
                <a:sym typeface="Bebas Neue"/>
              </a:rPr>
              <a:t>IMAGE DEGRADATION MODELS AND NOISE MODELS</a:t>
            </a:r>
            <a:endParaRPr>
              <a:latin typeface="Bebas Neue"/>
              <a:ea typeface="Bebas Neue"/>
              <a:cs typeface="Bebas Neue"/>
              <a:sym typeface="Bebas Neue"/>
            </a:endParaRPr>
          </a:p>
        </p:txBody>
      </p:sp>
      <p:sp>
        <p:nvSpPr>
          <p:cNvPr id="55" name="Google Shape;55;p13"/>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latin typeface="Bebas Neue"/>
                <a:ea typeface="Bebas Neue"/>
                <a:cs typeface="Bebas Neue"/>
                <a:sym typeface="Bebas Neue"/>
              </a:rPr>
              <a:t>MODULE 4</a:t>
            </a:r>
            <a:endParaRPr>
              <a:latin typeface="Bebas Neue"/>
              <a:ea typeface="Bebas Neue"/>
              <a:cs typeface="Bebas Neue"/>
              <a:sym typeface="Bebas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IMAGE DEGRADATION AND RESTORATION MODEL</a:t>
            </a:r>
            <a:endParaRPr b="1"/>
          </a:p>
        </p:txBody>
      </p:sp>
      <p:sp>
        <p:nvSpPr>
          <p:cNvPr id="61" name="Google Shape;61;p14"/>
          <p:cNvSpPr txBox="1"/>
          <p:nvPr/>
        </p:nvSpPr>
        <p:spPr>
          <a:xfrm>
            <a:off x="590325" y="1380175"/>
            <a:ext cx="7694400" cy="3369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GB" sz="1800" b="1">
                <a:solidFill>
                  <a:schemeClr val="dk1"/>
                </a:solidFill>
              </a:rPr>
              <a:t>DEGRADATION</a:t>
            </a:r>
            <a:endParaRPr sz="1800" b="1">
              <a:solidFill>
                <a:schemeClr val="dk1"/>
              </a:solidFill>
            </a:endParaRPr>
          </a:p>
          <a:p>
            <a:pPr marL="457200" lvl="0" indent="0" algn="l" rtl="0">
              <a:spcBef>
                <a:spcPts val="0"/>
              </a:spcBef>
              <a:spcAft>
                <a:spcPts val="0"/>
              </a:spcAft>
              <a:buNone/>
            </a:pPr>
            <a:r>
              <a:rPr lang="en-GB" sz="1800">
                <a:solidFill>
                  <a:schemeClr val="dk1"/>
                </a:solidFill>
              </a:rPr>
              <a:t>Deterioration of image quality due to factors like noise, blur, compression artifacts, and environmental distortions.</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n-GB" sz="1800" b="1">
                <a:solidFill>
                  <a:schemeClr val="dk1"/>
                </a:solidFill>
              </a:rPr>
              <a:t>RESTORATION</a:t>
            </a:r>
            <a:endParaRPr sz="1800" b="1">
              <a:solidFill>
                <a:schemeClr val="dk1"/>
              </a:solidFill>
            </a:endParaRPr>
          </a:p>
          <a:p>
            <a:pPr marL="457200" lvl="0" indent="0" algn="l" rtl="0">
              <a:spcBef>
                <a:spcPts val="0"/>
              </a:spcBef>
              <a:spcAft>
                <a:spcPts val="0"/>
              </a:spcAft>
              <a:buNone/>
            </a:pPr>
            <a:r>
              <a:rPr lang="en-GB" sz="1800">
                <a:solidFill>
                  <a:schemeClr val="dk1"/>
                </a:solidFill>
              </a:rPr>
              <a:t>Recovering the original image by applying computational techniques to reduce noise, sharpen details, and improve overall clarity.</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IMAGE DEGRADATION AND RESTORATION MODEL</a:t>
            </a:r>
            <a:endParaRPr b="1"/>
          </a:p>
        </p:txBody>
      </p:sp>
      <p:pic>
        <p:nvPicPr>
          <p:cNvPr id="67" name="Google Shape;67;p15"/>
          <p:cNvPicPr preferRelativeResize="0"/>
          <p:nvPr/>
        </p:nvPicPr>
        <p:blipFill>
          <a:blip r:embed="rId3">
            <a:alphaModFix/>
          </a:blip>
          <a:stretch>
            <a:fillRect/>
          </a:stretch>
        </p:blipFill>
        <p:spPr>
          <a:xfrm>
            <a:off x="432875" y="1075650"/>
            <a:ext cx="8399425" cy="2359229"/>
          </a:xfrm>
          <a:prstGeom prst="rect">
            <a:avLst/>
          </a:prstGeom>
          <a:noFill/>
          <a:ln>
            <a:noFill/>
          </a:ln>
        </p:spPr>
      </p:pic>
      <p:pic>
        <p:nvPicPr>
          <p:cNvPr id="68" name="Google Shape;68;p15"/>
          <p:cNvPicPr preferRelativeResize="0"/>
          <p:nvPr/>
        </p:nvPicPr>
        <p:blipFill>
          <a:blip r:embed="rId4">
            <a:alphaModFix/>
          </a:blip>
          <a:stretch>
            <a:fillRect/>
          </a:stretch>
        </p:blipFill>
        <p:spPr>
          <a:xfrm>
            <a:off x="485775" y="3587279"/>
            <a:ext cx="3438525" cy="333375"/>
          </a:xfrm>
          <a:prstGeom prst="rect">
            <a:avLst/>
          </a:prstGeom>
          <a:noFill/>
          <a:ln>
            <a:noFill/>
          </a:ln>
        </p:spPr>
      </p:pic>
      <p:pic>
        <p:nvPicPr>
          <p:cNvPr id="69" name="Google Shape;69;p15"/>
          <p:cNvPicPr preferRelativeResize="0"/>
          <p:nvPr/>
        </p:nvPicPr>
        <p:blipFill>
          <a:blip r:embed="rId5">
            <a:alphaModFix/>
          </a:blip>
          <a:stretch>
            <a:fillRect/>
          </a:stretch>
        </p:blipFill>
        <p:spPr>
          <a:xfrm>
            <a:off x="572275" y="4073054"/>
            <a:ext cx="3076575" cy="304800"/>
          </a:xfrm>
          <a:prstGeom prst="rect">
            <a:avLst/>
          </a:prstGeom>
          <a:noFill/>
          <a:ln>
            <a:noFill/>
          </a:ln>
        </p:spPr>
      </p:pic>
      <p:pic>
        <p:nvPicPr>
          <p:cNvPr id="70" name="Google Shape;70;p15"/>
          <p:cNvPicPr preferRelativeResize="0"/>
          <p:nvPr/>
        </p:nvPicPr>
        <p:blipFill>
          <a:blip r:embed="rId6">
            <a:alphaModFix/>
          </a:blip>
          <a:stretch>
            <a:fillRect/>
          </a:stretch>
        </p:blipFill>
        <p:spPr>
          <a:xfrm>
            <a:off x="4572000" y="3611092"/>
            <a:ext cx="3076575" cy="285750"/>
          </a:xfrm>
          <a:prstGeom prst="rect">
            <a:avLst/>
          </a:prstGeom>
          <a:noFill/>
          <a:ln>
            <a:noFill/>
          </a:ln>
        </p:spPr>
      </p:pic>
      <p:pic>
        <p:nvPicPr>
          <p:cNvPr id="71" name="Google Shape;71;p15"/>
          <p:cNvPicPr preferRelativeResize="0"/>
          <p:nvPr/>
        </p:nvPicPr>
        <p:blipFill>
          <a:blip r:embed="rId7">
            <a:alphaModFix/>
          </a:blip>
          <a:stretch>
            <a:fillRect/>
          </a:stretch>
        </p:blipFill>
        <p:spPr>
          <a:xfrm>
            <a:off x="4572000" y="3920654"/>
            <a:ext cx="3819525" cy="428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IMAGE DEGRADATION MODEL</a:t>
            </a:r>
            <a:endParaRPr b="1"/>
          </a:p>
        </p:txBody>
      </p:sp>
      <p:pic>
        <p:nvPicPr>
          <p:cNvPr id="77" name="Google Shape;77;p16"/>
          <p:cNvPicPr preferRelativeResize="0"/>
          <p:nvPr/>
        </p:nvPicPr>
        <p:blipFill>
          <a:blip r:embed="rId3">
            <a:alphaModFix/>
          </a:blip>
          <a:stretch>
            <a:fillRect/>
          </a:stretch>
        </p:blipFill>
        <p:spPr>
          <a:xfrm>
            <a:off x="311700" y="1170125"/>
            <a:ext cx="8520599" cy="3561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83" name="Google Shape;83;p17"/>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Clr>
                <a:schemeClr val="dk1"/>
              </a:buClr>
              <a:buSzPts val="2300"/>
              <a:buChar char="➢"/>
            </a:pPr>
            <a:r>
              <a:rPr lang="en-GB" sz="2300">
                <a:solidFill>
                  <a:schemeClr val="dk1"/>
                </a:solidFill>
              </a:rPr>
              <a:t>Principal source of noise arises during </a:t>
            </a:r>
            <a:endParaRPr sz="2300">
              <a:solidFill>
                <a:schemeClr val="dk1"/>
              </a:solidFill>
            </a:endParaRPr>
          </a:p>
          <a:p>
            <a:pPr marL="914400" lvl="0" indent="-374650" algn="l" rtl="0">
              <a:spcBef>
                <a:spcPts val="0"/>
              </a:spcBef>
              <a:spcAft>
                <a:spcPts val="0"/>
              </a:spcAft>
              <a:buClr>
                <a:schemeClr val="dk1"/>
              </a:buClr>
              <a:buSzPts val="2300"/>
              <a:buChar char="★"/>
            </a:pPr>
            <a:r>
              <a:rPr lang="en-GB" sz="2300" b="1">
                <a:solidFill>
                  <a:schemeClr val="dk1"/>
                </a:solidFill>
              </a:rPr>
              <a:t>Image acquisition</a:t>
            </a:r>
            <a:endParaRPr sz="2300" b="1">
              <a:solidFill>
                <a:schemeClr val="dk1"/>
              </a:solidFill>
            </a:endParaRPr>
          </a:p>
          <a:p>
            <a:pPr marL="1371600" lvl="1" indent="-349250" algn="l" rtl="0">
              <a:spcBef>
                <a:spcPts val="0"/>
              </a:spcBef>
              <a:spcAft>
                <a:spcPts val="0"/>
              </a:spcAft>
              <a:buClr>
                <a:schemeClr val="dk1"/>
              </a:buClr>
              <a:buSzPts val="1900"/>
              <a:buChar char="○"/>
            </a:pPr>
            <a:r>
              <a:rPr lang="en-GB" sz="1900">
                <a:solidFill>
                  <a:schemeClr val="dk1"/>
                </a:solidFill>
              </a:rPr>
              <a:t>Environmental factors</a:t>
            </a:r>
            <a:endParaRPr sz="1900">
              <a:solidFill>
                <a:schemeClr val="dk1"/>
              </a:solidFill>
            </a:endParaRPr>
          </a:p>
          <a:p>
            <a:pPr marL="1371600" lvl="1" indent="-349250" algn="l" rtl="0">
              <a:spcBef>
                <a:spcPts val="0"/>
              </a:spcBef>
              <a:spcAft>
                <a:spcPts val="0"/>
              </a:spcAft>
              <a:buClr>
                <a:schemeClr val="dk1"/>
              </a:buClr>
              <a:buSzPts val="1900"/>
              <a:buChar char="○"/>
            </a:pPr>
            <a:r>
              <a:rPr lang="en-GB" sz="1900">
                <a:solidFill>
                  <a:schemeClr val="dk1"/>
                </a:solidFill>
              </a:rPr>
              <a:t>Quality of sensing elements</a:t>
            </a:r>
            <a:endParaRPr sz="1900">
              <a:solidFill>
                <a:schemeClr val="dk1"/>
              </a:solidFill>
            </a:endParaRPr>
          </a:p>
          <a:p>
            <a:pPr marL="914400" lvl="0" indent="-374650" algn="l" rtl="0">
              <a:spcBef>
                <a:spcPts val="0"/>
              </a:spcBef>
              <a:spcAft>
                <a:spcPts val="0"/>
              </a:spcAft>
              <a:buClr>
                <a:schemeClr val="dk1"/>
              </a:buClr>
              <a:buSzPts val="2300"/>
              <a:buChar char="★"/>
            </a:pPr>
            <a:r>
              <a:rPr lang="en-GB" sz="2300" b="1">
                <a:solidFill>
                  <a:schemeClr val="dk1"/>
                </a:solidFill>
              </a:rPr>
              <a:t>Image transmission</a:t>
            </a:r>
            <a:endParaRPr sz="2300" b="1">
              <a:solidFill>
                <a:schemeClr val="dk1"/>
              </a:solidFill>
            </a:endParaRPr>
          </a:p>
          <a:p>
            <a:pPr marL="1371600" lvl="1" indent="-349250" algn="l" rtl="0">
              <a:spcBef>
                <a:spcPts val="0"/>
              </a:spcBef>
              <a:spcAft>
                <a:spcPts val="0"/>
              </a:spcAft>
              <a:buClr>
                <a:schemeClr val="dk1"/>
              </a:buClr>
              <a:buSzPts val="1900"/>
              <a:buChar char="○"/>
            </a:pPr>
            <a:r>
              <a:rPr lang="en-GB" sz="1900">
                <a:solidFill>
                  <a:schemeClr val="dk1"/>
                </a:solidFill>
              </a:rPr>
              <a:t>Non-ideal channel characteristics</a:t>
            </a:r>
            <a:endParaRPr sz="1900">
              <a:solidFill>
                <a:schemeClr val="dk1"/>
              </a:solidFill>
            </a:endParaRPr>
          </a:p>
          <a:p>
            <a:pPr marL="1371600" lvl="1" indent="-349250" algn="l" rtl="0">
              <a:spcBef>
                <a:spcPts val="0"/>
              </a:spcBef>
              <a:spcAft>
                <a:spcPts val="0"/>
              </a:spcAft>
              <a:buClr>
                <a:schemeClr val="dk1"/>
              </a:buClr>
              <a:buSzPts val="1900"/>
              <a:buChar char="○"/>
            </a:pPr>
            <a:r>
              <a:rPr lang="en-GB" sz="1900">
                <a:solidFill>
                  <a:schemeClr val="dk1"/>
                </a:solidFill>
              </a:rPr>
              <a:t>Interference in transmission channels</a:t>
            </a:r>
            <a:endParaRPr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89" name="Google Shape;89;p1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GB" b="1">
                <a:solidFill>
                  <a:schemeClr val="dk1"/>
                </a:solidFill>
              </a:rPr>
              <a:t>Spatial Properties of Noise:</a:t>
            </a:r>
            <a:endParaRPr b="1">
              <a:solidFill>
                <a:schemeClr val="dk1"/>
              </a:solidFill>
            </a:endParaRPr>
          </a:p>
          <a:p>
            <a:pPr marL="457200" lvl="0" indent="-342900" algn="l" rtl="0">
              <a:spcBef>
                <a:spcPts val="1200"/>
              </a:spcBef>
              <a:spcAft>
                <a:spcPts val="0"/>
              </a:spcAft>
              <a:buClr>
                <a:schemeClr val="dk1"/>
              </a:buClr>
              <a:buSzPts val="1800"/>
              <a:buChar char="●"/>
            </a:pPr>
            <a:r>
              <a:rPr lang="en-GB" b="1">
                <a:solidFill>
                  <a:schemeClr val="dk1"/>
                </a:solidFill>
              </a:rPr>
              <a:t>Randomness:</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Random variations in pixel brightness.</a:t>
            </a:r>
            <a:endParaRPr sz="1800">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Spatial Correlation:</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Neighboring pixels share similar noise, forming patterns (e.g., stripes, bands).</a:t>
            </a:r>
            <a:endParaRPr sz="1800">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Clustering:</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Noise tends to group in specific image regions.</a:t>
            </a:r>
            <a:endParaRPr sz="1800">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Impulsiveness:</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Isolated bright or dark pixels (e.g., salt-and-pepper noise).</a:t>
            </a:r>
            <a:endParaRPr sz="1800">
              <a:solidFill>
                <a:schemeClr val="dk1"/>
              </a:solidFill>
            </a:endParaRPr>
          </a:p>
          <a:p>
            <a:pPr marL="457200" lvl="0" indent="0" algn="l" rtl="0">
              <a:spcBef>
                <a:spcPts val="1200"/>
              </a:spcBef>
              <a:spcAft>
                <a:spcPts val="1200"/>
              </a:spcAft>
              <a:buNone/>
            </a:pPr>
            <a:endParaRPr sz="2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95" name="Google Shape;95;p19"/>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GB" b="1">
                <a:solidFill>
                  <a:schemeClr val="dk1"/>
                </a:solidFill>
              </a:rPr>
              <a:t>Frequency Properties of Noise:</a:t>
            </a:r>
            <a:endParaRPr b="1">
              <a:solidFill>
                <a:schemeClr val="dk1"/>
              </a:solidFill>
            </a:endParaRPr>
          </a:p>
          <a:p>
            <a:pPr marL="457200" lvl="0" indent="-342900" algn="l" rtl="0">
              <a:spcBef>
                <a:spcPts val="1200"/>
              </a:spcBef>
              <a:spcAft>
                <a:spcPts val="0"/>
              </a:spcAft>
              <a:buClr>
                <a:schemeClr val="dk1"/>
              </a:buClr>
              <a:buSzPts val="1800"/>
              <a:buChar char="●"/>
            </a:pPr>
            <a:r>
              <a:rPr lang="en-GB" b="1">
                <a:solidFill>
                  <a:schemeClr val="dk1"/>
                </a:solidFill>
              </a:rPr>
              <a:t>High-Frequency Noise:</a:t>
            </a:r>
            <a:endParaRPr b="1">
              <a:solidFill>
                <a:schemeClr val="dk1"/>
              </a:solidFill>
            </a:endParaRPr>
          </a:p>
          <a:p>
            <a:pPr marL="914400" lvl="1" indent="-323850" algn="l" rtl="0">
              <a:spcBef>
                <a:spcPts val="0"/>
              </a:spcBef>
              <a:spcAft>
                <a:spcPts val="0"/>
              </a:spcAft>
              <a:buClr>
                <a:schemeClr val="dk1"/>
              </a:buClr>
              <a:buSzPts val="1500"/>
              <a:buChar char="○"/>
            </a:pPr>
            <a:r>
              <a:rPr lang="en-GB" sz="1800">
                <a:solidFill>
                  <a:schemeClr val="dk1"/>
                </a:solidFill>
              </a:rPr>
              <a:t>Noise that has a significant amount of energy in high-frequency components appears as fine-grained or granular noise.</a:t>
            </a:r>
            <a:endParaRPr sz="1800">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Low-Frequency Noise:</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Noise that exhibits energy in low-frequency components appears as large scale variations or patterns.</a:t>
            </a:r>
            <a:endParaRPr sz="1800">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Color Noise:</a:t>
            </a:r>
            <a:endParaRPr b="1">
              <a:solidFill>
                <a:schemeClr val="dk1"/>
              </a:solidFill>
            </a:endParaRPr>
          </a:p>
          <a:p>
            <a:pPr marL="914400" lvl="1" indent="-342900" algn="l" rtl="0">
              <a:spcBef>
                <a:spcPts val="0"/>
              </a:spcBef>
              <a:spcAft>
                <a:spcPts val="0"/>
              </a:spcAft>
              <a:buClr>
                <a:schemeClr val="dk1"/>
              </a:buClr>
              <a:buSzPts val="1800"/>
              <a:buChar char="○"/>
            </a:pPr>
            <a:r>
              <a:rPr lang="en-GB" sz="1800">
                <a:solidFill>
                  <a:schemeClr val="dk1"/>
                </a:solidFill>
              </a:rPr>
              <a:t>In color images, noise can exhibit different frequency properties in different color channels</a:t>
            </a:r>
            <a:endParaRPr sz="1800">
              <a:solidFill>
                <a:schemeClr val="dk1"/>
              </a:solidFill>
            </a:endParaRPr>
          </a:p>
          <a:p>
            <a:pPr marL="457200" lvl="0" indent="0" algn="l" rtl="0">
              <a:spcBef>
                <a:spcPts val="1200"/>
              </a:spcBef>
              <a:spcAft>
                <a:spcPts val="1200"/>
              </a:spcAft>
              <a:buNone/>
            </a:pP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101" name="Google Shape;101;p2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eriod"/>
            </a:pPr>
            <a:r>
              <a:rPr lang="en-GB" b="1" dirty="0">
                <a:solidFill>
                  <a:schemeClr val="dk1"/>
                </a:solidFill>
              </a:rPr>
              <a:t>Gaussian(Normal) noise</a:t>
            </a:r>
          </a:p>
          <a:p>
            <a:pPr marL="114300" indent="0">
              <a:buClr>
                <a:schemeClr val="dk1"/>
              </a:buClr>
              <a:buNone/>
            </a:pPr>
            <a:r>
              <a:rPr lang="en-US" dirty="0"/>
              <a:t>Gaussian noise arises in an image due to factors such as electronic circuit noise and sensor noise due to poor illumination or high temperature.</a:t>
            </a:r>
          </a:p>
          <a:p>
            <a:pPr marL="114300" lvl="0" indent="0" algn="l" rtl="0">
              <a:spcBef>
                <a:spcPts val="0"/>
              </a:spcBef>
              <a:spcAft>
                <a:spcPts val="0"/>
              </a:spcAft>
              <a:buClr>
                <a:schemeClr val="dk1"/>
              </a:buClr>
              <a:buSzPts val="1800"/>
              <a:buNone/>
            </a:pPr>
            <a:endParaRPr b="1" dirty="0">
              <a:solidFill>
                <a:schemeClr val="dk1"/>
              </a:solidFill>
            </a:endParaRPr>
          </a:p>
          <a:p>
            <a:pPr marL="457200" lvl="0" indent="0" algn="l" rtl="0">
              <a:spcBef>
                <a:spcPts val="1200"/>
              </a:spcBef>
              <a:spcAft>
                <a:spcPts val="1200"/>
              </a:spcAft>
              <a:buNone/>
            </a:pPr>
            <a:r>
              <a:rPr lang="en-GB" dirty="0">
                <a:solidFill>
                  <a:schemeClr val="dk1"/>
                </a:solidFill>
              </a:rPr>
              <a:t>PDF of a random variable z,</a:t>
            </a:r>
            <a:endParaRPr dirty="0">
              <a:solidFill>
                <a:schemeClr val="dk1"/>
              </a:solidFill>
            </a:endParaRPr>
          </a:p>
        </p:txBody>
      </p:sp>
      <p:pic>
        <p:nvPicPr>
          <p:cNvPr id="102" name="Google Shape;102;p20"/>
          <p:cNvPicPr preferRelativeResize="0"/>
          <p:nvPr/>
        </p:nvPicPr>
        <p:blipFill rotWithShape="1">
          <a:blip r:embed="rId3">
            <a:alphaModFix/>
          </a:blip>
          <a:srcRect t="12633"/>
          <a:stretch/>
        </p:blipFill>
        <p:spPr>
          <a:xfrm>
            <a:off x="470325" y="2164862"/>
            <a:ext cx="4425575" cy="2353913"/>
          </a:xfrm>
          <a:prstGeom prst="rect">
            <a:avLst/>
          </a:prstGeom>
          <a:noFill/>
          <a:ln>
            <a:noFill/>
          </a:ln>
        </p:spPr>
      </p:pic>
      <p:pic>
        <p:nvPicPr>
          <p:cNvPr id="103" name="Google Shape;103;p20"/>
          <p:cNvPicPr preferRelativeResize="0"/>
          <p:nvPr/>
        </p:nvPicPr>
        <p:blipFill>
          <a:blip r:embed="rId4">
            <a:alphaModFix/>
          </a:blip>
          <a:stretch>
            <a:fillRect/>
          </a:stretch>
        </p:blipFill>
        <p:spPr>
          <a:xfrm>
            <a:off x="6158524" y="2164862"/>
            <a:ext cx="2985476" cy="290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31170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t>NOISE MODELS</a:t>
            </a:r>
            <a:endParaRPr b="1" dirty="0"/>
          </a:p>
        </p:txBody>
      </p:sp>
      <p:sp>
        <p:nvSpPr>
          <p:cNvPr id="109" name="Google Shape;109;p21"/>
          <p:cNvSpPr txBox="1">
            <a:spLocks noGrp="1"/>
          </p:cNvSpPr>
          <p:nvPr>
            <p:ph type="body" idx="1"/>
          </p:nvPr>
        </p:nvSpPr>
        <p:spPr>
          <a:xfrm>
            <a:off x="311700" y="57462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solidFill>
                  <a:schemeClr val="dk1"/>
                </a:solidFill>
              </a:rPr>
              <a:t>2. Rayleigh noise </a:t>
            </a:r>
          </a:p>
          <a:p>
            <a:pPr>
              <a:buFont typeface="Wingdings" panose="05000000000000000000" pitchFamily="2" charset="2"/>
              <a:buChar char="Ø"/>
            </a:pPr>
            <a:r>
              <a:rPr lang="en-US" dirty="0"/>
              <a:t>Rayleigh noise is a type of multiplicative noise that follows the Rayleigh distribution. </a:t>
            </a:r>
          </a:p>
          <a:p>
            <a:pPr>
              <a:buFont typeface="Wingdings" panose="05000000000000000000" pitchFamily="2" charset="2"/>
              <a:buChar char="Ø"/>
            </a:pPr>
            <a:r>
              <a:rPr lang="en-US" dirty="0"/>
              <a:t>It commonly appears in imaging systems like ultrasound, radar, and synthetic aperture radar (SAR) due to the scattering effects of the medium.</a:t>
            </a:r>
          </a:p>
          <a:p>
            <a:pPr marL="0" lvl="0" indent="0" algn="l" rtl="0">
              <a:spcBef>
                <a:spcPts val="0"/>
              </a:spcBef>
              <a:spcAft>
                <a:spcPts val="0"/>
              </a:spcAft>
              <a:buNone/>
            </a:pPr>
            <a:endParaRPr b="1" dirty="0">
              <a:solidFill>
                <a:schemeClr val="dk1"/>
              </a:solidFill>
            </a:endParaRPr>
          </a:p>
          <a:p>
            <a:pPr marL="457200" lvl="0" indent="0" algn="l" rtl="0">
              <a:spcBef>
                <a:spcPts val="1200"/>
              </a:spcBef>
              <a:spcAft>
                <a:spcPts val="1200"/>
              </a:spcAft>
              <a:buNone/>
            </a:pPr>
            <a:endParaRPr dirty="0">
              <a:solidFill>
                <a:schemeClr val="dk1"/>
              </a:solidFill>
            </a:endParaRPr>
          </a:p>
        </p:txBody>
      </p:sp>
      <p:pic>
        <p:nvPicPr>
          <p:cNvPr id="110" name="Google Shape;110;p21"/>
          <p:cNvPicPr preferRelativeResize="0"/>
          <p:nvPr/>
        </p:nvPicPr>
        <p:blipFill>
          <a:blip r:embed="rId3">
            <a:alphaModFix/>
          </a:blip>
          <a:stretch>
            <a:fillRect/>
          </a:stretch>
        </p:blipFill>
        <p:spPr>
          <a:xfrm>
            <a:off x="384609" y="2547412"/>
            <a:ext cx="7574150" cy="25941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22"/>
          <p:cNvSpPr txBox="1">
            <a:spLocks noGrp="1"/>
          </p:cNvSpPr>
          <p:nvPr>
            <p:ph type="body" idx="4294967295"/>
          </p:nvPr>
        </p:nvSpPr>
        <p:spPr>
          <a:xfrm>
            <a:off x="623888" y="0"/>
            <a:ext cx="8520112" cy="341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solidFill>
                  <a:schemeClr val="dk1"/>
                </a:solidFill>
              </a:rPr>
              <a:t>3. Erlang (gamma) noise</a:t>
            </a:r>
          </a:p>
          <a:p>
            <a:pPr>
              <a:buFont typeface="Wingdings" panose="05000000000000000000" pitchFamily="2" charset="2"/>
              <a:buChar char="Ø"/>
            </a:pPr>
            <a:r>
              <a:rPr lang="en-US" dirty="0"/>
              <a:t>Erlang noise, also known as </a:t>
            </a:r>
            <a:r>
              <a:rPr lang="en-US" b="1" dirty="0"/>
              <a:t>Gamma noise</a:t>
            </a:r>
            <a:r>
              <a:rPr lang="en-US" dirty="0"/>
              <a:t>, follows the </a:t>
            </a:r>
            <a:r>
              <a:rPr lang="en-US" b="1" dirty="0"/>
              <a:t>Gamma distribution</a:t>
            </a:r>
            <a:r>
              <a:rPr lang="en-US" dirty="0"/>
              <a:t> and is commonly found in </a:t>
            </a:r>
            <a:r>
              <a:rPr lang="en-US" b="1" dirty="0"/>
              <a:t>medical imaging (CT scans, MRI), radar, and fluorescence microscopy</a:t>
            </a:r>
            <a:r>
              <a:rPr lang="en-US" dirty="0"/>
              <a:t>. </a:t>
            </a:r>
            <a:r>
              <a:rPr lang="en-US" sz="1100" dirty="0"/>
              <a:t>z</a:t>
            </a:r>
          </a:p>
          <a:p>
            <a:pPr>
              <a:buFont typeface="Wingdings" panose="05000000000000000000" pitchFamily="2" charset="2"/>
              <a:buChar char="Ø"/>
            </a:pPr>
            <a:r>
              <a:rPr lang="en-US" dirty="0"/>
              <a:t>It is often used to model </a:t>
            </a:r>
            <a:r>
              <a:rPr lang="en-US" b="1" dirty="0"/>
              <a:t>multiplicative noise</a:t>
            </a:r>
            <a:r>
              <a:rPr lang="en-US" dirty="0"/>
              <a:t> in imaging systems, particularly in low-light conditions.</a:t>
            </a:r>
          </a:p>
          <a:p>
            <a:pPr marL="0" lvl="0" indent="0" algn="l" rtl="0">
              <a:spcBef>
                <a:spcPts val="0"/>
              </a:spcBef>
              <a:spcAft>
                <a:spcPts val="0"/>
              </a:spcAft>
              <a:buNone/>
            </a:pPr>
            <a:r>
              <a:rPr lang="en-GB" b="1" dirty="0">
                <a:solidFill>
                  <a:schemeClr val="dk1"/>
                </a:solidFill>
              </a:rPr>
              <a:t> </a:t>
            </a:r>
            <a:endParaRPr b="1" dirty="0">
              <a:solidFill>
                <a:schemeClr val="dk1"/>
              </a:solidFill>
            </a:endParaRPr>
          </a:p>
          <a:p>
            <a:pPr marL="457200" lvl="0" indent="0" algn="l" rtl="0">
              <a:spcBef>
                <a:spcPts val="1200"/>
              </a:spcBef>
              <a:spcAft>
                <a:spcPts val="1200"/>
              </a:spcAft>
              <a:buNone/>
            </a:pPr>
            <a:endParaRPr dirty="0">
              <a:solidFill>
                <a:schemeClr val="dk1"/>
              </a:solidFill>
            </a:endParaRPr>
          </a:p>
        </p:txBody>
      </p:sp>
      <p:pic>
        <p:nvPicPr>
          <p:cNvPr id="118" name="Google Shape;118;p22"/>
          <p:cNvPicPr preferRelativeResize="0"/>
          <p:nvPr/>
        </p:nvPicPr>
        <p:blipFill>
          <a:blip r:embed="rId3">
            <a:alphaModFix/>
          </a:blip>
          <a:stretch>
            <a:fillRect/>
          </a:stretch>
        </p:blipFill>
        <p:spPr>
          <a:xfrm>
            <a:off x="788012" y="1481667"/>
            <a:ext cx="7732100" cy="29125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481034" y="69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t>NOISE MODELS</a:t>
            </a:r>
            <a:endParaRPr b="1" dirty="0"/>
          </a:p>
        </p:txBody>
      </p:sp>
      <p:sp>
        <p:nvSpPr>
          <p:cNvPr id="125" name="Google Shape;125;p23"/>
          <p:cNvSpPr txBox="1">
            <a:spLocks noGrp="1"/>
          </p:cNvSpPr>
          <p:nvPr>
            <p:ph type="body" idx="1"/>
          </p:nvPr>
        </p:nvSpPr>
        <p:spPr>
          <a:xfrm>
            <a:off x="311700" y="64205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solidFill>
                  <a:schemeClr val="dk1"/>
                </a:solidFill>
              </a:rPr>
              <a:t>4. Exponential noise</a:t>
            </a:r>
            <a:endParaRPr b="1" dirty="0">
              <a:solidFill>
                <a:schemeClr val="dk1"/>
              </a:solidFill>
            </a:endParaRPr>
          </a:p>
          <a:p>
            <a:pPr marL="457200" lvl="0" indent="0" algn="l" rtl="0">
              <a:spcBef>
                <a:spcPts val="1200"/>
              </a:spcBef>
              <a:spcAft>
                <a:spcPts val="1200"/>
              </a:spcAft>
              <a:buNone/>
            </a:pPr>
            <a:endParaRPr dirty="0">
              <a:solidFill>
                <a:schemeClr val="dk1"/>
              </a:solidFill>
            </a:endParaRPr>
          </a:p>
        </p:txBody>
      </p:sp>
      <p:pic>
        <p:nvPicPr>
          <p:cNvPr id="126" name="Google Shape;126;p23"/>
          <p:cNvPicPr preferRelativeResize="0"/>
          <p:nvPr/>
        </p:nvPicPr>
        <p:blipFill>
          <a:blip r:embed="rId3">
            <a:alphaModFix/>
          </a:blip>
          <a:stretch>
            <a:fillRect/>
          </a:stretch>
        </p:blipFill>
        <p:spPr>
          <a:xfrm>
            <a:off x="680733" y="1085050"/>
            <a:ext cx="7620775" cy="3321500"/>
          </a:xfrm>
          <a:prstGeom prst="rect">
            <a:avLst/>
          </a:prstGeom>
          <a:noFill/>
          <a:ln>
            <a:noFill/>
          </a:ln>
        </p:spPr>
      </p:pic>
      <p:sp>
        <p:nvSpPr>
          <p:cNvPr id="127" name="Google Shape;127;p23"/>
          <p:cNvSpPr txBox="1"/>
          <p:nvPr/>
        </p:nvSpPr>
        <p:spPr>
          <a:xfrm>
            <a:off x="7402850" y="1275225"/>
            <a:ext cx="1249200" cy="1007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133" name="Google Shape;133;p24"/>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dk1"/>
                </a:solidFill>
              </a:rPr>
              <a:t>5. Uniform noise</a:t>
            </a:r>
            <a:endParaRPr b="1">
              <a:solidFill>
                <a:schemeClr val="dk1"/>
              </a:solidFill>
            </a:endParaRPr>
          </a:p>
          <a:p>
            <a:pPr marL="457200" lvl="0" indent="0" algn="l" rtl="0">
              <a:spcBef>
                <a:spcPts val="1200"/>
              </a:spcBef>
              <a:spcAft>
                <a:spcPts val="1200"/>
              </a:spcAft>
              <a:buNone/>
            </a:pPr>
            <a:endParaRPr>
              <a:solidFill>
                <a:schemeClr val="dk1"/>
              </a:solidFill>
            </a:endParaRPr>
          </a:p>
        </p:txBody>
      </p:sp>
      <p:pic>
        <p:nvPicPr>
          <p:cNvPr id="134" name="Google Shape;134;p24"/>
          <p:cNvPicPr preferRelativeResize="0"/>
          <p:nvPr/>
        </p:nvPicPr>
        <p:blipFill>
          <a:blip r:embed="rId3">
            <a:alphaModFix/>
          </a:blip>
          <a:stretch>
            <a:fillRect/>
          </a:stretch>
        </p:blipFill>
        <p:spPr>
          <a:xfrm>
            <a:off x="611325" y="1506150"/>
            <a:ext cx="7421325" cy="3495475"/>
          </a:xfrm>
          <a:prstGeom prst="rect">
            <a:avLst/>
          </a:prstGeom>
          <a:noFill/>
          <a:ln>
            <a:noFill/>
          </a:ln>
        </p:spPr>
      </p:pic>
      <p:sp>
        <p:nvSpPr>
          <p:cNvPr id="135" name="Google Shape;135;p24"/>
          <p:cNvSpPr txBox="1"/>
          <p:nvPr/>
        </p:nvSpPr>
        <p:spPr>
          <a:xfrm>
            <a:off x="8032650" y="4634250"/>
            <a:ext cx="294000" cy="15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rPr>
              <a:t>z</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531833" y="65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t>NOISE MODELS</a:t>
            </a:r>
            <a:endParaRPr b="1" dirty="0"/>
          </a:p>
        </p:txBody>
      </p:sp>
      <p:sp>
        <p:nvSpPr>
          <p:cNvPr id="142" name="Google Shape;142;p25"/>
          <p:cNvSpPr txBox="1">
            <a:spLocks noGrp="1"/>
          </p:cNvSpPr>
          <p:nvPr>
            <p:ph type="body" idx="1"/>
          </p:nvPr>
        </p:nvSpPr>
        <p:spPr>
          <a:xfrm>
            <a:off x="447167" y="5305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solidFill>
                  <a:schemeClr val="dk1"/>
                </a:solidFill>
              </a:rPr>
              <a:t>6. Impulse (salt-and-pepper) noise</a:t>
            </a:r>
            <a:endParaRPr b="1" dirty="0">
              <a:solidFill>
                <a:schemeClr val="dk1"/>
              </a:solidFill>
            </a:endParaRPr>
          </a:p>
          <a:p>
            <a:pPr marL="457200" lvl="0" indent="0" algn="l" rtl="0">
              <a:spcBef>
                <a:spcPts val="1200"/>
              </a:spcBef>
              <a:spcAft>
                <a:spcPts val="1200"/>
              </a:spcAft>
              <a:buNone/>
            </a:pPr>
            <a:endParaRPr dirty="0">
              <a:solidFill>
                <a:schemeClr val="dk1"/>
              </a:solidFill>
            </a:endParaRPr>
          </a:p>
        </p:txBody>
      </p:sp>
      <p:sp>
        <p:nvSpPr>
          <p:cNvPr id="143" name="Google Shape;143;p25"/>
          <p:cNvSpPr txBox="1"/>
          <p:nvPr/>
        </p:nvSpPr>
        <p:spPr>
          <a:xfrm>
            <a:off x="8032650" y="4634250"/>
            <a:ext cx="294000" cy="15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pic>
        <p:nvPicPr>
          <p:cNvPr id="144" name="Google Shape;144;p25"/>
          <p:cNvPicPr preferRelativeResize="0"/>
          <p:nvPr/>
        </p:nvPicPr>
        <p:blipFill>
          <a:blip r:embed="rId3">
            <a:alphaModFix/>
          </a:blip>
          <a:stretch>
            <a:fillRect/>
          </a:stretch>
        </p:blipFill>
        <p:spPr>
          <a:xfrm>
            <a:off x="952954" y="895675"/>
            <a:ext cx="7509025" cy="3516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a:t>NOISE MODELS</a:t>
            </a:r>
            <a:endParaRPr b="1"/>
          </a:p>
        </p:txBody>
      </p:sp>
      <p:sp>
        <p:nvSpPr>
          <p:cNvPr id="151" name="Google Shape;151;p2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dk1"/>
                </a:solidFill>
              </a:rPr>
              <a:t>7. Periodic noise</a:t>
            </a:r>
            <a:endParaRPr b="1">
              <a:solidFill>
                <a:schemeClr val="dk1"/>
              </a:solidFill>
            </a:endParaRPr>
          </a:p>
          <a:p>
            <a:pPr marL="457200" lvl="0" indent="-342900" algn="l" rtl="0">
              <a:spcBef>
                <a:spcPts val="1200"/>
              </a:spcBef>
              <a:spcAft>
                <a:spcPts val="0"/>
              </a:spcAft>
              <a:buClr>
                <a:schemeClr val="dk1"/>
              </a:buClr>
              <a:buSzPts val="1800"/>
              <a:buChar char="●"/>
            </a:pPr>
            <a:r>
              <a:rPr lang="en-GB">
                <a:solidFill>
                  <a:schemeClr val="dk1"/>
                </a:solidFill>
              </a:rPr>
              <a:t>Periodic noise in an image arises typically from electrical or electromechanical interference during image acquisition</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Periodic noise can be reduced significantly via frequency domain filtering.</a:t>
            </a:r>
            <a:endParaRPr>
              <a:solidFill>
                <a:schemeClr val="dk1"/>
              </a:solidFill>
            </a:endParaRPr>
          </a:p>
        </p:txBody>
      </p:sp>
      <p:sp>
        <p:nvSpPr>
          <p:cNvPr id="152" name="Google Shape;152;p26"/>
          <p:cNvSpPr txBox="1"/>
          <p:nvPr/>
        </p:nvSpPr>
        <p:spPr>
          <a:xfrm>
            <a:off x="8032650" y="4634250"/>
            <a:ext cx="294000" cy="15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7E38-174A-EBB7-7B3F-D4D4CED4DCCF}"/>
              </a:ext>
            </a:extLst>
          </p:cNvPr>
          <p:cNvSpPr>
            <a:spLocks noGrp="1"/>
          </p:cNvSpPr>
          <p:nvPr>
            <p:ph type="title"/>
          </p:nvPr>
        </p:nvSpPr>
        <p:spPr>
          <a:xfrm>
            <a:off x="311700" y="89425"/>
            <a:ext cx="8520600" cy="572700"/>
          </a:xfrm>
        </p:spPr>
        <p:txBody>
          <a:bodyPr>
            <a:normAutofit fontScale="90000"/>
          </a:bodyPr>
          <a:lstStyle/>
          <a:p>
            <a:r>
              <a:rPr lang="en-IN" b="1" dirty="0"/>
              <a:t>MEAN FILTERS</a:t>
            </a: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10552B0-E11D-D24D-E8C2-63082492B6F4}"/>
                  </a:ext>
                </a:extLst>
              </p:cNvPr>
              <p:cNvSpPr>
                <a:spLocks noGrp="1"/>
              </p:cNvSpPr>
              <p:nvPr>
                <p:ph type="body" idx="1"/>
              </p:nvPr>
            </p:nvSpPr>
            <p:spPr>
              <a:xfrm>
                <a:off x="311700" y="518192"/>
                <a:ext cx="8520600" cy="4359325"/>
              </a:xfrm>
            </p:spPr>
            <p:txBody>
              <a:bodyPr>
                <a:normAutofit fontScale="92500" lnSpcReduction="10000"/>
              </a:bodyPr>
              <a:lstStyle/>
              <a:p>
                <a:pPr algn="just"/>
                <a:r>
                  <a:rPr lang="en-US" dirty="0"/>
                  <a:t>Mean filtering is a simple and widely used spatial domain smoothing technique in digital image processing. </a:t>
                </a:r>
              </a:p>
              <a:p>
                <a:pPr marL="114300" indent="0" algn="just">
                  <a:buNone/>
                </a:pPr>
                <a:endParaRPr lang="en-US" dirty="0"/>
              </a:p>
              <a:p>
                <a:pPr algn="just"/>
                <a:r>
                  <a:rPr lang="en-US" dirty="0"/>
                  <a:t>It is mainly used to reduce noise and smooth images by replacing each pixel with the average value of its </a:t>
                </a:r>
                <a:r>
                  <a:rPr lang="en-US" dirty="0" err="1"/>
                  <a:t>neighbourhood</a:t>
                </a:r>
                <a:r>
                  <a:rPr lang="en-US" dirty="0"/>
                  <a:t> pixels.</a:t>
                </a:r>
              </a:p>
              <a:p>
                <a:pPr algn="just"/>
                <a:endParaRPr lang="en-US" dirty="0"/>
              </a:p>
              <a:p>
                <a:r>
                  <a:rPr lang="en-IN" b="1" dirty="0"/>
                  <a:t>Mean filter</a:t>
                </a:r>
                <a:r>
                  <a:rPr lang="en-IN" dirty="0"/>
                  <a:t> replaces the value of a pixel by the </a:t>
                </a:r>
                <a:r>
                  <a:rPr lang="en-IN" b="1" dirty="0"/>
                  <a:t>average (mean)</a:t>
                </a:r>
                <a:r>
                  <a:rPr lang="en-IN" dirty="0"/>
                  <a:t> of the intensity values in a specified window around that pixel.</a:t>
                </a:r>
              </a:p>
              <a:p>
                <a:endParaRPr lang="en-IN" dirty="0"/>
              </a:p>
              <a:p>
                <a:r>
                  <a:rPr lang="en-IN" dirty="0"/>
                  <a:t>Mathematically,</a:t>
                </a:r>
              </a:p>
              <a:p>
                <a:pPr marL="11430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𝑔</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𝑚𝑛</m:t>
                          </m:r>
                        </m:den>
                      </m:f>
                      <m:nary>
                        <m:naryPr>
                          <m:chr m:val="∑"/>
                          <m:grow m:val="on"/>
                          <m:supHide m:val="on"/>
                          <m:ctrlPr>
                            <a:rPr lang="ar-AE" i="1">
                              <a:latin typeface="Cambria Math" panose="02040503050406030204" pitchFamily="18" charset="0"/>
                            </a:rPr>
                          </m:ctrlPr>
                        </m:naryPr>
                        <m:sub>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𝑡</m:t>
                              </m:r>
                            </m:e>
                          </m:d>
                          <m:r>
                            <a:rPr lang="ar-AE">
                              <a:latin typeface="Cambria Math" panose="02040503050406030204" pitchFamily="18" charset="0"/>
                            </a:rPr>
                            <m:t>∈</m:t>
                          </m:r>
                          <m:r>
                            <a:rPr lang="ar-AE" i="1">
                              <a:latin typeface="Cambria Math" panose="02040503050406030204" pitchFamily="18" charset="0"/>
                            </a:rPr>
                            <m:t>𝑆</m:t>
                          </m:r>
                        </m:sub>
                        <m:sup/>
                        <m:e>
                          <m:r>
                            <a:rPr lang="ar-AE" i="1">
                              <a:latin typeface="Cambria Math" panose="02040503050406030204" pitchFamily="18" charset="0"/>
                            </a:rPr>
                            <m:t>𝑓</m:t>
                          </m:r>
                        </m:e>
                      </m:nary>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𝑡</m:t>
                          </m:r>
                        </m:e>
                      </m:d>
                    </m:oMath>
                  </m:oMathPara>
                </a14:m>
                <a:endParaRPr lang="ar-AE" dirty="0"/>
              </a:p>
              <a:p>
                <a:pPr marL="114300" indent="0">
                  <a:buNone/>
                </a:pPr>
                <a:r>
                  <a:rPr lang="en-IN" dirty="0"/>
                  <a:t>where</a:t>
                </a:r>
              </a:p>
              <a:p>
                <a14:m>
                  <m:oMath xmlns:m="http://schemas.openxmlformats.org/officeDocument/2006/math">
                    <m:r>
                      <a:rPr lang="en-IN" i="1">
                        <a:latin typeface="Cambria Math" panose="02040503050406030204" pitchFamily="18" charset="0"/>
                      </a:rPr>
                      <m:t>𝑓</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oMath>
                </a14:m>
                <a:r>
                  <a:rPr lang="ar-AE" dirty="0"/>
                  <a:t>= </a:t>
                </a:r>
                <a:r>
                  <a:rPr lang="en-IN" dirty="0"/>
                  <a:t>original image</a:t>
                </a:r>
              </a:p>
              <a:p>
                <a14:m>
                  <m:oMath xmlns:m="http://schemas.openxmlformats.org/officeDocument/2006/math">
                    <m:r>
                      <a:rPr lang="en-IN" i="1">
                        <a:latin typeface="Cambria Math" panose="02040503050406030204" pitchFamily="18" charset="0"/>
                      </a:rPr>
                      <m:t>𝑔</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oMath>
                </a14:m>
                <a:r>
                  <a:rPr lang="ar-AE" dirty="0"/>
                  <a:t>= </a:t>
                </a:r>
                <a:r>
                  <a:rPr lang="en-IN" dirty="0"/>
                  <a:t>filtered image</a:t>
                </a:r>
              </a:p>
              <a:p>
                <a14:m>
                  <m:oMath xmlns:m="http://schemas.openxmlformats.org/officeDocument/2006/math">
                    <m:r>
                      <a:rPr lang="en-IN" i="1">
                        <a:latin typeface="Cambria Math" panose="02040503050406030204" pitchFamily="18" charset="0"/>
                      </a:rPr>
                      <m:t>𝑆</m:t>
                    </m:r>
                  </m:oMath>
                </a14:m>
                <a:r>
                  <a:rPr lang="en-IN" dirty="0"/>
                  <a:t>= neighbourhood window of size </a:t>
                </a:r>
                <a14:m>
                  <m:oMath xmlns:m="http://schemas.openxmlformats.org/officeDocument/2006/math">
                    <m:r>
                      <a:rPr lang="en-IN" i="1">
                        <a:latin typeface="Cambria Math" panose="02040503050406030204" pitchFamily="18" charset="0"/>
                      </a:rPr>
                      <m:t>𝑚</m:t>
                    </m:r>
                    <m:r>
                      <a:rPr lang="en-IN">
                        <a:latin typeface="Cambria Math" panose="02040503050406030204" pitchFamily="18" charset="0"/>
                      </a:rPr>
                      <m:t>×</m:t>
                    </m:r>
                    <m:r>
                      <a:rPr lang="en-IN" i="1">
                        <a:latin typeface="Cambria Math" panose="02040503050406030204" pitchFamily="18" charset="0"/>
                      </a:rPr>
                      <m:t>𝑛</m:t>
                    </m:r>
                  </m:oMath>
                </a14:m>
                <a:endParaRPr lang="en-IN" dirty="0"/>
              </a:p>
              <a:p>
                <a:pPr algn="just"/>
                <a:endParaRPr lang="en-IN" dirty="0"/>
              </a:p>
            </p:txBody>
          </p:sp>
        </mc:Choice>
        <mc:Fallback xmlns="">
          <p:sp>
            <p:nvSpPr>
              <p:cNvPr id="3" name="Text Placeholder 2">
                <a:extLst>
                  <a:ext uri="{FF2B5EF4-FFF2-40B4-BE49-F238E27FC236}">
                    <a16:creationId xmlns:a16="http://schemas.microsoft.com/office/drawing/2014/main" id="{B10552B0-E11D-D24D-E8C2-63082492B6F4}"/>
                  </a:ext>
                </a:extLst>
              </p:cNvPr>
              <p:cNvSpPr>
                <a:spLocks noGrp="1" noRot="1" noChangeAspect="1" noMove="1" noResize="1" noEditPoints="1" noAdjustHandles="1" noChangeArrowheads="1" noChangeShapeType="1" noTextEdit="1"/>
              </p:cNvSpPr>
              <p:nvPr>
                <p:ph type="body" idx="1"/>
              </p:nvPr>
            </p:nvSpPr>
            <p:spPr>
              <a:xfrm>
                <a:off x="311700" y="518192"/>
                <a:ext cx="8520600" cy="4359325"/>
              </a:xfrm>
              <a:blipFill>
                <a:blip r:embed="rId2"/>
                <a:stretch>
                  <a:fillRect t="-699" r="-715"/>
                </a:stretch>
              </a:blipFill>
            </p:spPr>
            <p:txBody>
              <a:bodyPr/>
              <a:lstStyle/>
              <a:p>
                <a:r>
                  <a:rPr lang="en-IN">
                    <a:noFill/>
                  </a:rPr>
                  <a:t> </a:t>
                </a:r>
              </a:p>
            </p:txBody>
          </p:sp>
        </mc:Fallback>
      </mc:AlternateContent>
    </p:spTree>
    <p:extLst>
      <p:ext uri="{BB962C8B-B14F-4D97-AF65-F5344CB8AC3E}">
        <p14:creationId xmlns:p14="http://schemas.microsoft.com/office/powerpoint/2010/main" val="1178083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2995-7E83-1699-C9C5-50407FD57626}"/>
              </a:ext>
            </a:extLst>
          </p:cNvPr>
          <p:cNvSpPr>
            <a:spLocks noGrp="1"/>
          </p:cNvSpPr>
          <p:nvPr>
            <p:ph type="title"/>
          </p:nvPr>
        </p:nvSpPr>
        <p:spPr/>
        <p:txBody>
          <a:bodyPr>
            <a:normAutofit fontScale="90000"/>
          </a:bodyPr>
          <a:lstStyle/>
          <a:p>
            <a:r>
              <a:rPr lang="en-IN" dirty="0"/>
              <a:t>CLASSIFICATION</a:t>
            </a:r>
          </a:p>
        </p:txBody>
      </p:sp>
      <p:sp>
        <p:nvSpPr>
          <p:cNvPr id="3" name="Text Placeholder 2">
            <a:extLst>
              <a:ext uri="{FF2B5EF4-FFF2-40B4-BE49-F238E27FC236}">
                <a16:creationId xmlns:a16="http://schemas.microsoft.com/office/drawing/2014/main" id="{078CE559-CB6B-8BEA-D97F-CDEA4DCD9D18}"/>
              </a:ext>
            </a:extLst>
          </p:cNvPr>
          <p:cNvSpPr>
            <a:spLocks noGrp="1"/>
          </p:cNvSpPr>
          <p:nvPr>
            <p:ph type="body" idx="1"/>
          </p:nvPr>
        </p:nvSpPr>
        <p:spPr/>
        <p:txBody>
          <a:bodyPr/>
          <a:lstStyle/>
          <a:p>
            <a:endParaRPr lang="en-IN" dirty="0"/>
          </a:p>
          <a:p>
            <a:pPr>
              <a:buAutoNum type="arabicPeriod"/>
            </a:pPr>
            <a:r>
              <a:rPr lang="en-IN" b="1" i="1" dirty="0"/>
              <a:t>Arithmetic Mean filter</a:t>
            </a:r>
          </a:p>
          <a:p>
            <a:endParaRPr lang="en-IN" dirty="0"/>
          </a:p>
          <a:p>
            <a:pPr marL="114300" indent="0">
              <a:buNone/>
            </a:pPr>
            <a:r>
              <a:rPr lang="en-IN" b="1" i="1" dirty="0"/>
              <a:t>2. Geometric mean filter </a:t>
            </a:r>
          </a:p>
          <a:p>
            <a:endParaRPr lang="en-IN" dirty="0"/>
          </a:p>
          <a:p>
            <a:pPr marL="114300" indent="0">
              <a:buNone/>
            </a:pPr>
            <a:r>
              <a:rPr lang="en-IN" b="1" i="1" dirty="0"/>
              <a:t>3. Harmonic mean filter</a:t>
            </a:r>
          </a:p>
          <a:p>
            <a:endParaRPr lang="en-IN" dirty="0"/>
          </a:p>
          <a:p>
            <a:pPr marL="114300" indent="0">
              <a:buNone/>
            </a:pPr>
            <a:r>
              <a:rPr lang="en-US" b="1" i="1" dirty="0"/>
              <a:t>4. </a:t>
            </a:r>
            <a:r>
              <a:rPr lang="en-US" b="1" i="1" dirty="0" err="1"/>
              <a:t>Contraharmonic</a:t>
            </a:r>
            <a:r>
              <a:rPr lang="en-US" b="1" i="1" dirty="0"/>
              <a:t> mean filter</a:t>
            </a:r>
            <a:endParaRPr lang="en-US" dirty="0"/>
          </a:p>
          <a:p>
            <a:pPr marL="114300" indent="0">
              <a:buNone/>
            </a:pPr>
            <a:r>
              <a:rPr lang="en-IN" b="1" i="1" dirty="0"/>
              <a:t> </a:t>
            </a:r>
            <a:endParaRPr lang="en-IN" dirty="0"/>
          </a:p>
          <a:p>
            <a:pPr marL="114300" indent="0">
              <a:buNone/>
            </a:pPr>
            <a:endParaRPr lang="en-IN" dirty="0"/>
          </a:p>
          <a:p>
            <a:pPr>
              <a:buAutoNum type="arabicPeriod"/>
            </a:pPr>
            <a:endParaRPr lang="en-IN" dirty="0"/>
          </a:p>
        </p:txBody>
      </p:sp>
    </p:spTree>
    <p:extLst>
      <p:ext uri="{BB962C8B-B14F-4D97-AF65-F5344CB8AC3E}">
        <p14:creationId xmlns:p14="http://schemas.microsoft.com/office/powerpoint/2010/main" val="3116203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F047F-8669-4937-321B-0CE3DD591AD7}"/>
              </a:ext>
            </a:extLst>
          </p:cNvPr>
          <p:cNvSpPr>
            <a:spLocks noGrp="1"/>
          </p:cNvSpPr>
          <p:nvPr>
            <p:ph type="title"/>
          </p:nvPr>
        </p:nvSpPr>
        <p:spPr/>
        <p:txBody>
          <a:bodyPr>
            <a:normAutofit fontScale="90000"/>
          </a:bodyPr>
          <a:lstStyle/>
          <a:p>
            <a:r>
              <a:rPr lang="en-IN" b="1" dirty="0"/>
              <a:t>1. Arithmetic Mean Filter</a:t>
            </a:r>
            <a:br>
              <a:rPr lang="en-IN" b="1" dirty="0"/>
            </a:br>
            <a:endParaRPr lang="en-IN" dirty="0"/>
          </a:p>
        </p:txBody>
      </p:sp>
      <p:sp>
        <p:nvSpPr>
          <p:cNvPr id="3" name="Text Placeholder 2">
            <a:extLst>
              <a:ext uri="{FF2B5EF4-FFF2-40B4-BE49-F238E27FC236}">
                <a16:creationId xmlns:a16="http://schemas.microsoft.com/office/drawing/2014/main" id="{2D1995EB-25E2-189B-5B74-12EBB643499F}"/>
              </a:ext>
            </a:extLst>
          </p:cNvPr>
          <p:cNvSpPr>
            <a:spLocks noGrp="1"/>
          </p:cNvSpPr>
          <p:nvPr>
            <p:ph type="body" idx="1"/>
          </p:nvPr>
        </p:nvSpPr>
        <p:spPr/>
        <p:txBody>
          <a:bodyPr/>
          <a:lstStyle/>
          <a:p>
            <a:endParaRPr lang="en-IN" dirty="0"/>
          </a:p>
        </p:txBody>
      </p:sp>
      <p:pic>
        <p:nvPicPr>
          <p:cNvPr id="8" name="Picture 7">
            <a:extLst>
              <a:ext uri="{FF2B5EF4-FFF2-40B4-BE49-F238E27FC236}">
                <a16:creationId xmlns:a16="http://schemas.microsoft.com/office/drawing/2014/main" id="{61542E0D-7C8F-17E2-D2C0-47A34BEABDD2}"/>
              </a:ext>
            </a:extLst>
          </p:cNvPr>
          <p:cNvPicPr>
            <a:picLocks noChangeAspect="1"/>
          </p:cNvPicPr>
          <p:nvPr/>
        </p:nvPicPr>
        <p:blipFill>
          <a:blip r:embed="rId2"/>
          <a:stretch>
            <a:fillRect/>
          </a:stretch>
        </p:blipFill>
        <p:spPr>
          <a:xfrm>
            <a:off x="218567" y="1092200"/>
            <a:ext cx="7579233" cy="3476675"/>
          </a:xfrm>
          <a:prstGeom prst="rect">
            <a:avLst/>
          </a:prstGeom>
        </p:spPr>
      </p:pic>
    </p:spTree>
    <p:extLst>
      <p:ext uri="{BB962C8B-B14F-4D97-AF65-F5344CB8AC3E}">
        <p14:creationId xmlns:p14="http://schemas.microsoft.com/office/powerpoint/2010/main" val="235489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675A-BEE5-9356-F8E0-98CC5716D9F9}"/>
              </a:ext>
            </a:extLst>
          </p:cNvPr>
          <p:cNvSpPr>
            <a:spLocks noGrp="1"/>
          </p:cNvSpPr>
          <p:nvPr>
            <p:ph type="title"/>
          </p:nvPr>
        </p:nvSpPr>
        <p:spPr>
          <a:xfrm>
            <a:off x="489500" y="1925"/>
            <a:ext cx="8520600" cy="572700"/>
          </a:xfrm>
        </p:spPr>
        <p:txBody>
          <a:bodyPr>
            <a:normAutofit fontScale="90000"/>
          </a:bodyPr>
          <a:lstStyle/>
          <a:p>
            <a:r>
              <a:rPr lang="en-IN" b="1" i="1" dirty="0"/>
              <a:t>2. Geometric mean filter</a:t>
            </a:r>
            <a:br>
              <a:rPr lang="en-IN" dirty="0"/>
            </a:br>
            <a:br>
              <a:rPr lang="en-IN" dirty="0"/>
            </a:br>
            <a:endParaRPr lang="en-IN" dirty="0"/>
          </a:p>
        </p:txBody>
      </p:sp>
      <p:sp>
        <p:nvSpPr>
          <p:cNvPr id="3" name="Text Placeholder 2">
            <a:extLst>
              <a:ext uri="{FF2B5EF4-FFF2-40B4-BE49-F238E27FC236}">
                <a16:creationId xmlns:a16="http://schemas.microsoft.com/office/drawing/2014/main" id="{1CD451DE-8843-119E-5784-C8A0D62C79B9}"/>
              </a:ext>
            </a:extLst>
          </p:cNvPr>
          <p:cNvSpPr>
            <a:spLocks noGrp="1"/>
          </p:cNvSpPr>
          <p:nvPr>
            <p:ph type="body" idx="1"/>
          </p:nvPr>
        </p:nvSpPr>
        <p:spPr>
          <a:xfrm>
            <a:off x="311700" y="1117599"/>
            <a:ext cx="8520600" cy="3451275"/>
          </a:xfrm>
        </p:spPr>
        <p:txBody>
          <a:bodyPr/>
          <a:lstStyle/>
          <a:p>
            <a:pPr marL="114300" indent="0">
              <a:buNone/>
            </a:pPr>
            <a:endParaRPr lang="en-IN" dirty="0"/>
          </a:p>
        </p:txBody>
      </p:sp>
      <p:pic>
        <p:nvPicPr>
          <p:cNvPr id="9" name="Picture 8">
            <a:extLst>
              <a:ext uri="{FF2B5EF4-FFF2-40B4-BE49-F238E27FC236}">
                <a16:creationId xmlns:a16="http://schemas.microsoft.com/office/drawing/2014/main" id="{1A12FA28-C2F2-8640-55FF-45660A9BE01D}"/>
              </a:ext>
            </a:extLst>
          </p:cNvPr>
          <p:cNvPicPr>
            <a:picLocks noChangeAspect="1"/>
          </p:cNvPicPr>
          <p:nvPr/>
        </p:nvPicPr>
        <p:blipFill>
          <a:blip r:embed="rId3"/>
          <a:stretch>
            <a:fillRect/>
          </a:stretch>
        </p:blipFill>
        <p:spPr>
          <a:xfrm>
            <a:off x="67734" y="913292"/>
            <a:ext cx="9144000" cy="3853441"/>
          </a:xfrm>
          <a:prstGeom prst="rect">
            <a:avLst/>
          </a:prstGeom>
        </p:spPr>
      </p:pic>
    </p:spTree>
    <p:extLst>
      <p:ext uri="{BB962C8B-B14F-4D97-AF65-F5344CB8AC3E}">
        <p14:creationId xmlns:p14="http://schemas.microsoft.com/office/powerpoint/2010/main" val="1384361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4B36-C625-CB3B-3462-7E1F50A99AE5}"/>
              </a:ext>
            </a:extLst>
          </p:cNvPr>
          <p:cNvSpPr>
            <a:spLocks noGrp="1"/>
          </p:cNvSpPr>
          <p:nvPr>
            <p:ph type="title"/>
          </p:nvPr>
        </p:nvSpPr>
        <p:spPr>
          <a:xfrm>
            <a:off x="311700" y="525550"/>
            <a:ext cx="8520600" cy="572700"/>
          </a:xfrm>
        </p:spPr>
        <p:txBody>
          <a:bodyPr>
            <a:normAutofit fontScale="90000"/>
          </a:bodyPr>
          <a:lstStyle/>
          <a:p>
            <a:r>
              <a:rPr lang="en-IN" b="1" i="1" dirty="0"/>
              <a:t>3.Harmonic mean filter</a:t>
            </a:r>
            <a:br>
              <a:rPr lang="en-IN" dirty="0"/>
            </a:br>
            <a:br>
              <a:rPr lang="en-IN" dirty="0"/>
            </a:br>
            <a:endParaRPr lang="en-IN" dirty="0"/>
          </a:p>
        </p:txBody>
      </p:sp>
      <p:sp>
        <p:nvSpPr>
          <p:cNvPr id="3" name="Text Placeholder 2">
            <a:extLst>
              <a:ext uri="{FF2B5EF4-FFF2-40B4-BE49-F238E27FC236}">
                <a16:creationId xmlns:a16="http://schemas.microsoft.com/office/drawing/2014/main" id="{24E6A735-9F05-83FD-9A83-5435C0702861}"/>
              </a:ext>
            </a:extLst>
          </p:cNvPr>
          <p:cNvSpPr>
            <a:spLocks noGrp="1"/>
          </p:cNvSpPr>
          <p:nvPr>
            <p:ph type="body" idx="1"/>
          </p:nvPr>
        </p:nvSpPr>
        <p:spPr>
          <a:xfrm>
            <a:off x="311700" y="1464733"/>
            <a:ext cx="8520600" cy="3104142"/>
          </a:xfrm>
        </p:spPr>
        <p:txBody>
          <a:bodyPr/>
          <a:lstStyle/>
          <a:p>
            <a:endParaRPr lang="en-IN" dirty="0"/>
          </a:p>
        </p:txBody>
      </p:sp>
      <p:pic>
        <p:nvPicPr>
          <p:cNvPr id="5" name="Picture 4">
            <a:extLst>
              <a:ext uri="{FF2B5EF4-FFF2-40B4-BE49-F238E27FC236}">
                <a16:creationId xmlns:a16="http://schemas.microsoft.com/office/drawing/2014/main" id="{0C360A16-7348-8850-C44A-D97DE3B7C0A3}"/>
              </a:ext>
            </a:extLst>
          </p:cNvPr>
          <p:cNvPicPr>
            <a:picLocks noChangeAspect="1"/>
          </p:cNvPicPr>
          <p:nvPr/>
        </p:nvPicPr>
        <p:blipFill>
          <a:blip r:embed="rId2"/>
          <a:stretch>
            <a:fillRect/>
          </a:stretch>
        </p:blipFill>
        <p:spPr>
          <a:xfrm>
            <a:off x="80335" y="1024467"/>
            <a:ext cx="8983329" cy="3593483"/>
          </a:xfrm>
          <a:prstGeom prst="rect">
            <a:avLst/>
          </a:prstGeom>
        </p:spPr>
      </p:pic>
    </p:spTree>
    <p:extLst>
      <p:ext uri="{BB962C8B-B14F-4D97-AF65-F5344CB8AC3E}">
        <p14:creationId xmlns:p14="http://schemas.microsoft.com/office/powerpoint/2010/main" val="144758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F551741-E335-D98D-D881-4211EE300AD0}"/>
              </a:ext>
            </a:extLst>
          </p:cNvPr>
          <p:cNvPicPr>
            <a:picLocks noChangeAspect="1"/>
          </p:cNvPicPr>
          <p:nvPr/>
        </p:nvPicPr>
        <p:blipFill>
          <a:blip r:embed="rId3"/>
          <a:stretch>
            <a:fillRect/>
          </a:stretch>
        </p:blipFill>
        <p:spPr>
          <a:xfrm>
            <a:off x="0" y="110067"/>
            <a:ext cx="9144000" cy="4355613"/>
          </a:xfrm>
          <a:prstGeom prst="rect">
            <a:avLst/>
          </a:prstGeom>
        </p:spPr>
      </p:pic>
    </p:spTree>
    <p:extLst>
      <p:ext uri="{BB962C8B-B14F-4D97-AF65-F5344CB8AC3E}">
        <p14:creationId xmlns:p14="http://schemas.microsoft.com/office/powerpoint/2010/main" val="1817188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FEE1F-A3DF-4D1C-C9A4-40C08954F313}"/>
              </a:ext>
            </a:extLst>
          </p:cNvPr>
          <p:cNvSpPr>
            <a:spLocks noGrp="1"/>
          </p:cNvSpPr>
          <p:nvPr>
            <p:ph type="title"/>
          </p:nvPr>
        </p:nvSpPr>
        <p:spPr/>
        <p:txBody>
          <a:bodyPr/>
          <a:lstStyle/>
          <a:p>
            <a:r>
              <a:rPr lang="en-IN" b="1" dirty="0"/>
              <a:t>ORDER STATISTIC FILTERS </a:t>
            </a:r>
            <a:endParaRPr lang="en-IN" dirty="0"/>
          </a:p>
        </p:txBody>
      </p:sp>
      <p:sp>
        <p:nvSpPr>
          <p:cNvPr id="3" name="Content Placeholder 2">
            <a:extLst>
              <a:ext uri="{FF2B5EF4-FFF2-40B4-BE49-F238E27FC236}">
                <a16:creationId xmlns:a16="http://schemas.microsoft.com/office/drawing/2014/main" id="{46D22C2F-7C6E-DD78-CA4C-CA184B2541EA}"/>
              </a:ext>
            </a:extLst>
          </p:cNvPr>
          <p:cNvSpPr>
            <a:spLocks noGrp="1"/>
          </p:cNvSpPr>
          <p:nvPr>
            <p:ph idx="1"/>
          </p:nvPr>
        </p:nvSpPr>
        <p:spPr/>
        <p:txBody>
          <a:bodyPr/>
          <a:lstStyle/>
          <a:p>
            <a:pPr algn="just">
              <a:lnSpc>
                <a:spcPct val="150000"/>
              </a:lnSpc>
            </a:pPr>
            <a:r>
              <a:rPr lang="en-US" dirty="0"/>
              <a:t>Order-statistic filters are nonlinear spatial filters whose response is based on ordering (ranking) the pixels contained in the image area encompassed by the filter, and then replacing the value of the center pixel with the value determined by the ranking result.</a:t>
            </a:r>
            <a:endParaRPr lang="en-IN" dirty="0"/>
          </a:p>
        </p:txBody>
      </p:sp>
    </p:spTree>
    <p:extLst>
      <p:ext uri="{BB962C8B-B14F-4D97-AF65-F5344CB8AC3E}">
        <p14:creationId xmlns:p14="http://schemas.microsoft.com/office/powerpoint/2010/main" val="503258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8D11-7DCA-759B-CBD3-09ACEA223AD2}"/>
              </a:ext>
            </a:extLst>
          </p:cNvPr>
          <p:cNvSpPr>
            <a:spLocks noGrp="1"/>
          </p:cNvSpPr>
          <p:nvPr>
            <p:ph type="title"/>
          </p:nvPr>
        </p:nvSpPr>
        <p:spPr/>
        <p:txBody>
          <a:bodyPr>
            <a:normAutofit fontScale="90000"/>
          </a:bodyPr>
          <a:lstStyle/>
          <a:p>
            <a:br>
              <a:rPr lang="en-IN" dirty="0"/>
            </a:br>
            <a:r>
              <a:rPr lang="en-IN" b="1" i="1" dirty="0"/>
              <a:t>1. Median Filters</a:t>
            </a:r>
            <a:br>
              <a:rPr lang="en-IN" dirty="0"/>
            </a:br>
            <a:endParaRPr lang="en-IN" dirty="0"/>
          </a:p>
        </p:txBody>
      </p:sp>
      <p:pic>
        <p:nvPicPr>
          <p:cNvPr id="5" name="Content Placeholder 4">
            <a:extLst>
              <a:ext uri="{FF2B5EF4-FFF2-40B4-BE49-F238E27FC236}">
                <a16:creationId xmlns:a16="http://schemas.microsoft.com/office/drawing/2014/main" id="{4A6DD024-AE18-D5D0-F2D4-AC9FC6A52E56}"/>
              </a:ext>
            </a:extLst>
          </p:cNvPr>
          <p:cNvPicPr>
            <a:picLocks noGrp="1" noChangeAspect="1"/>
          </p:cNvPicPr>
          <p:nvPr>
            <p:ph idx="1"/>
          </p:nvPr>
        </p:nvPicPr>
        <p:blipFill>
          <a:blip r:embed="rId2"/>
          <a:stretch>
            <a:fillRect/>
          </a:stretch>
        </p:blipFill>
        <p:spPr>
          <a:xfrm>
            <a:off x="628650" y="1032932"/>
            <a:ext cx="7886700" cy="3920067"/>
          </a:xfrm>
          <a:prstGeom prst="rect">
            <a:avLst/>
          </a:prstGeom>
        </p:spPr>
      </p:pic>
    </p:spTree>
    <p:extLst>
      <p:ext uri="{BB962C8B-B14F-4D97-AF65-F5344CB8AC3E}">
        <p14:creationId xmlns:p14="http://schemas.microsoft.com/office/powerpoint/2010/main" val="2006912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4734-89AC-856E-726D-5FC0BADBC6BB}"/>
              </a:ext>
            </a:extLst>
          </p:cNvPr>
          <p:cNvSpPr>
            <a:spLocks noGrp="1"/>
          </p:cNvSpPr>
          <p:nvPr>
            <p:ph type="title"/>
          </p:nvPr>
        </p:nvSpPr>
        <p:spPr/>
        <p:txBody>
          <a:bodyPr>
            <a:normAutofit fontScale="90000"/>
          </a:bodyPr>
          <a:lstStyle/>
          <a:p>
            <a:br>
              <a:rPr lang="en-IN" dirty="0"/>
            </a:br>
            <a:r>
              <a:rPr lang="en-IN" b="1" i="1" dirty="0"/>
              <a:t>2. Max and min filters</a:t>
            </a:r>
            <a:br>
              <a:rPr lang="en-IN" dirty="0"/>
            </a:br>
            <a:endParaRPr lang="en-IN" dirty="0"/>
          </a:p>
        </p:txBody>
      </p:sp>
      <p:pic>
        <p:nvPicPr>
          <p:cNvPr id="5" name="Content Placeholder 4">
            <a:extLst>
              <a:ext uri="{FF2B5EF4-FFF2-40B4-BE49-F238E27FC236}">
                <a16:creationId xmlns:a16="http://schemas.microsoft.com/office/drawing/2014/main" id="{E5340507-5C19-4AD3-2F00-41CA27896C0B}"/>
              </a:ext>
            </a:extLst>
          </p:cNvPr>
          <p:cNvPicPr>
            <a:picLocks noGrp="1" noChangeAspect="1"/>
          </p:cNvPicPr>
          <p:nvPr>
            <p:ph idx="1"/>
          </p:nvPr>
        </p:nvPicPr>
        <p:blipFill>
          <a:blip r:embed="rId2"/>
          <a:stretch>
            <a:fillRect/>
          </a:stretch>
        </p:blipFill>
        <p:spPr>
          <a:xfrm>
            <a:off x="628650" y="990600"/>
            <a:ext cx="7886700" cy="3380223"/>
          </a:xfrm>
          <a:prstGeom prst="rect">
            <a:avLst/>
          </a:prstGeom>
        </p:spPr>
      </p:pic>
    </p:spTree>
    <p:extLst>
      <p:ext uri="{BB962C8B-B14F-4D97-AF65-F5344CB8AC3E}">
        <p14:creationId xmlns:p14="http://schemas.microsoft.com/office/powerpoint/2010/main" val="1016617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EBBA-3944-BA04-6566-7351BDE6BDB0}"/>
              </a:ext>
            </a:extLst>
          </p:cNvPr>
          <p:cNvSpPr>
            <a:spLocks noGrp="1"/>
          </p:cNvSpPr>
          <p:nvPr>
            <p:ph type="title"/>
          </p:nvPr>
        </p:nvSpPr>
        <p:spPr/>
        <p:txBody>
          <a:bodyPr>
            <a:normAutofit fontScale="90000"/>
          </a:bodyPr>
          <a:lstStyle/>
          <a:p>
            <a:r>
              <a:rPr lang="en-US" b="1" dirty="0"/>
              <a:t>Working Steps</a:t>
            </a:r>
            <a:br>
              <a:rPr lang="en-US" b="1" dirty="0"/>
            </a:br>
            <a:endParaRPr lang="en-IN" dirty="0"/>
          </a:p>
        </p:txBody>
      </p:sp>
      <p:sp>
        <p:nvSpPr>
          <p:cNvPr id="3" name="Content Placeholder 2">
            <a:extLst>
              <a:ext uri="{FF2B5EF4-FFF2-40B4-BE49-F238E27FC236}">
                <a16:creationId xmlns:a16="http://schemas.microsoft.com/office/drawing/2014/main" id="{9BF4F694-198C-9F5D-6225-A37145981FA0}"/>
              </a:ext>
            </a:extLst>
          </p:cNvPr>
          <p:cNvSpPr>
            <a:spLocks noGrp="1"/>
          </p:cNvSpPr>
          <p:nvPr>
            <p:ph idx="1"/>
          </p:nvPr>
        </p:nvSpPr>
        <p:spPr/>
        <p:txBody>
          <a:bodyPr/>
          <a:lstStyle/>
          <a:p>
            <a:r>
              <a:rPr lang="en-US" dirty="0"/>
              <a:t>Select window (e.g., 3×3).</a:t>
            </a:r>
          </a:p>
          <a:p>
            <a:r>
              <a:rPr lang="en-US" dirty="0"/>
              <a:t>Arrange pixel values inside window.</a:t>
            </a:r>
          </a:p>
          <a:p>
            <a:r>
              <a:rPr lang="en-US" dirty="0"/>
              <a:t>Choose the </a:t>
            </a:r>
            <a:r>
              <a:rPr lang="en-US" b="1" dirty="0"/>
              <a:t>largest value</a:t>
            </a:r>
            <a:r>
              <a:rPr lang="en-US" dirty="0"/>
              <a:t>.</a:t>
            </a:r>
          </a:p>
          <a:p>
            <a:r>
              <a:rPr lang="en-US" dirty="0"/>
              <a:t>Replace </a:t>
            </a:r>
            <a:r>
              <a:rPr lang="en-US" dirty="0" err="1"/>
              <a:t>centre</a:t>
            </a:r>
            <a:r>
              <a:rPr lang="en-US" dirty="0"/>
              <a:t> pixel with that value.</a:t>
            </a:r>
          </a:p>
          <a:p>
            <a:endParaRPr lang="en-IN" dirty="0"/>
          </a:p>
        </p:txBody>
      </p:sp>
    </p:spTree>
    <p:extLst>
      <p:ext uri="{BB962C8B-B14F-4D97-AF65-F5344CB8AC3E}">
        <p14:creationId xmlns:p14="http://schemas.microsoft.com/office/powerpoint/2010/main" val="2166756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052E-FA75-02A5-6169-25281E89F392}"/>
              </a:ext>
            </a:extLst>
          </p:cNvPr>
          <p:cNvSpPr>
            <a:spLocks noGrp="1"/>
          </p:cNvSpPr>
          <p:nvPr>
            <p:ph type="title"/>
          </p:nvPr>
        </p:nvSpPr>
        <p:spPr/>
        <p:txBody>
          <a:bodyPr/>
          <a:lstStyle/>
          <a:p>
            <a:r>
              <a:rPr lang="en-IN" dirty="0"/>
              <a:t>Min Filter</a:t>
            </a:r>
          </a:p>
        </p:txBody>
      </p:sp>
      <p:pic>
        <p:nvPicPr>
          <p:cNvPr id="5" name="Content Placeholder 4">
            <a:extLst>
              <a:ext uri="{FF2B5EF4-FFF2-40B4-BE49-F238E27FC236}">
                <a16:creationId xmlns:a16="http://schemas.microsoft.com/office/drawing/2014/main" id="{8CED46CF-5A61-C06E-4A8D-0865D7AB690C}"/>
              </a:ext>
            </a:extLst>
          </p:cNvPr>
          <p:cNvPicPr>
            <a:picLocks noGrp="1" noChangeAspect="1"/>
          </p:cNvPicPr>
          <p:nvPr>
            <p:ph idx="1"/>
          </p:nvPr>
        </p:nvPicPr>
        <p:blipFill>
          <a:blip r:embed="rId2"/>
          <a:stretch>
            <a:fillRect/>
          </a:stretch>
        </p:blipFill>
        <p:spPr>
          <a:xfrm>
            <a:off x="628650" y="1268016"/>
            <a:ext cx="7886700" cy="1467085"/>
          </a:xfrm>
          <a:prstGeom prst="rect">
            <a:avLst/>
          </a:prstGeom>
        </p:spPr>
      </p:pic>
      <p:sp>
        <p:nvSpPr>
          <p:cNvPr id="7" name="TextBox 6">
            <a:extLst>
              <a:ext uri="{FF2B5EF4-FFF2-40B4-BE49-F238E27FC236}">
                <a16:creationId xmlns:a16="http://schemas.microsoft.com/office/drawing/2014/main" id="{754496A0-9F2C-6B71-A0F8-81056929257D}"/>
              </a:ext>
            </a:extLst>
          </p:cNvPr>
          <p:cNvSpPr txBox="1"/>
          <p:nvPr/>
        </p:nvSpPr>
        <p:spPr>
          <a:xfrm>
            <a:off x="829733" y="2800402"/>
            <a:ext cx="4572000" cy="1477328"/>
          </a:xfrm>
          <a:prstGeom prst="rect">
            <a:avLst/>
          </a:prstGeom>
          <a:noFill/>
        </p:spPr>
        <p:txBody>
          <a:bodyPr wrap="square">
            <a:spAutoFit/>
          </a:bodyPr>
          <a:lstStyle/>
          <a:p>
            <a:pPr>
              <a:buNone/>
            </a:pPr>
            <a:r>
              <a:rPr lang="en-US" b="1" dirty="0"/>
              <a:t>Working Steps</a:t>
            </a:r>
          </a:p>
          <a:p>
            <a:pPr>
              <a:buFont typeface="+mj-lt"/>
              <a:buAutoNum type="arabicPeriod"/>
            </a:pPr>
            <a:r>
              <a:rPr lang="en-US" dirty="0"/>
              <a:t>Select window (e.g., 3×3).</a:t>
            </a:r>
          </a:p>
          <a:p>
            <a:pPr>
              <a:buFont typeface="+mj-lt"/>
              <a:buAutoNum type="arabicPeriod"/>
            </a:pPr>
            <a:r>
              <a:rPr lang="en-US" dirty="0"/>
              <a:t>Arrange pixel values inside window.</a:t>
            </a:r>
          </a:p>
          <a:p>
            <a:pPr>
              <a:buFont typeface="+mj-lt"/>
              <a:buAutoNum type="arabicPeriod"/>
            </a:pPr>
            <a:r>
              <a:rPr lang="en-US" dirty="0"/>
              <a:t>Choose the </a:t>
            </a:r>
            <a:r>
              <a:rPr lang="en-US" b="1" dirty="0"/>
              <a:t>smallest value</a:t>
            </a:r>
            <a:r>
              <a:rPr lang="en-US" dirty="0"/>
              <a:t>.</a:t>
            </a:r>
          </a:p>
          <a:p>
            <a:pPr>
              <a:buFont typeface="+mj-lt"/>
              <a:buAutoNum type="arabicPeriod"/>
            </a:pPr>
            <a:r>
              <a:rPr lang="en-US" dirty="0"/>
              <a:t>Replace </a:t>
            </a:r>
            <a:r>
              <a:rPr lang="en-US" dirty="0" err="1"/>
              <a:t>centre</a:t>
            </a:r>
            <a:r>
              <a:rPr lang="en-US" dirty="0"/>
              <a:t> pixel with that value.</a:t>
            </a:r>
          </a:p>
        </p:txBody>
      </p:sp>
    </p:spTree>
    <p:extLst>
      <p:ext uri="{BB962C8B-B14F-4D97-AF65-F5344CB8AC3E}">
        <p14:creationId xmlns:p14="http://schemas.microsoft.com/office/powerpoint/2010/main" val="465704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09B3D-DC99-9E3C-984F-03B605B98A68}"/>
              </a:ext>
            </a:extLst>
          </p:cNvPr>
          <p:cNvSpPr>
            <a:spLocks noGrp="1"/>
          </p:cNvSpPr>
          <p:nvPr>
            <p:ph type="title"/>
          </p:nvPr>
        </p:nvSpPr>
        <p:spPr/>
        <p:txBody>
          <a:bodyPr/>
          <a:lstStyle/>
          <a:p>
            <a:r>
              <a:rPr lang="en-IN" dirty="0"/>
              <a:t>3.Midpoint Filter</a:t>
            </a:r>
          </a:p>
        </p:txBody>
      </p:sp>
      <p:sp>
        <p:nvSpPr>
          <p:cNvPr id="3" name="Content Placeholder 2">
            <a:extLst>
              <a:ext uri="{FF2B5EF4-FFF2-40B4-BE49-F238E27FC236}">
                <a16:creationId xmlns:a16="http://schemas.microsoft.com/office/drawing/2014/main" id="{8C74382C-F239-98A9-7E6E-67E46B282430}"/>
              </a:ext>
            </a:extLst>
          </p:cNvPr>
          <p:cNvSpPr>
            <a:spLocks noGrp="1"/>
          </p:cNvSpPr>
          <p:nvPr>
            <p:ph idx="1"/>
          </p:nvPr>
        </p:nvSpPr>
        <p:spPr/>
        <p:txBody>
          <a:bodyPr/>
          <a:lstStyle/>
          <a:p>
            <a:r>
              <a:rPr lang="en-US" dirty="0"/>
              <a:t>The midpoint filter replaces the value of a pixel by the average of the maximum and minimum intensity values in its </a:t>
            </a:r>
            <a:r>
              <a:rPr lang="en-US" dirty="0" err="1"/>
              <a:t>neighbourhood</a:t>
            </a:r>
            <a:r>
              <a:rPr lang="en-US" dirty="0"/>
              <a:t> window.</a:t>
            </a:r>
          </a:p>
          <a:p>
            <a:endParaRPr lang="en-US" dirty="0"/>
          </a:p>
          <a:p>
            <a:endParaRPr lang="en-IN" dirty="0"/>
          </a:p>
        </p:txBody>
      </p:sp>
      <p:pic>
        <p:nvPicPr>
          <p:cNvPr id="5" name="Picture 4">
            <a:extLst>
              <a:ext uri="{FF2B5EF4-FFF2-40B4-BE49-F238E27FC236}">
                <a16:creationId xmlns:a16="http://schemas.microsoft.com/office/drawing/2014/main" id="{D9EE8973-4CA1-3F09-4799-6A4FD60A8B9D}"/>
              </a:ext>
            </a:extLst>
          </p:cNvPr>
          <p:cNvPicPr>
            <a:picLocks noChangeAspect="1"/>
          </p:cNvPicPr>
          <p:nvPr/>
        </p:nvPicPr>
        <p:blipFill>
          <a:blip r:embed="rId2"/>
          <a:stretch>
            <a:fillRect/>
          </a:stretch>
        </p:blipFill>
        <p:spPr>
          <a:xfrm>
            <a:off x="1815765" y="2571750"/>
            <a:ext cx="4801270" cy="809738"/>
          </a:xfrm>
          <a:prstGeom prst="rect">
            <a:avLst/>
          </a:prstGeom>
        </p:spPr>
      </p:pic>
    </p:spTree>
    <p:extLst>
      <p:ext uri="{BB962C8B-B14F-4D97-AF65-F5344CB8AC3E}">
        <p14:creationId xmlns:p14="http://schemas.microsoft.com/office/powerpoint/2010/main" val="3251839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41698-8CE0-0879-3E5C-54DFA2039CE4}"/>
              </a:ext>
            </a:extLst>
          </p:cNvPr>
          <p:cNvSpPr>
            <a:spLocks noGrp="1"/>
          </p:cNvSpPr>
          <p:nvPr>
            <p:ph type="title"/>
          </p:nvPr>
        </p:nvSpPr>
        <p:spPr/>
        <p:txBody>
          <a:bodyPr>
            <a:normAutofit fontScale="90000"/>
          </a:bodyPr>
          <a:lstStyle/>
          <a:p>
            <a:br>
              <a:rPr lang="en-IN" dirty="0"/>
            </a:br>
            <a:r>
              <a:rPr lang="en-IN" b="1" i="1" dirty="0"/>
              <a:t>4. Alpha Trimmed Filter: </a:t>
            </a:r>
            <a:br>
              <a:rPr lang="en-IN" dirty="0"/>
            </a:br>
            <a:endParaRPr lang="en-IN" dirty="0"/>
          </a:p>
        </p:txBody>
      </p:sp>
      <p:pic>
        <p:nvPicPr>
          <p:cNvPr id="7" name="Content Placeholder 6">
            <a:extLst>
              <a:ext uri="{FF2B5EF4-FFF2-40B4-BE49-F238E27FC236}">
                <a16:creationId xmlns:a16="http://schemas.microsoft.com/office/drawing/2014/main" id="{CDA4D8E2-3BDD-BAE8-8B8A-041DBF887CB8}"/>
              </a:ext>
            </a:extLst>
          </p:cNvPr>
          <p:cNvPicPr>
            <a:picLocks noGrp="1" noChangeAspect="1"/>
          </p:cNvPicPr>
          <p:nvPr>
            <p:ph idx="1"/>
          </p:nvPr>
        </p:nvPicPr>
        <p:blipFill>
          <a:blip r:embed="rId2"/>
          <a:stretch>
            <a:fillRect/>
          </a:stretch>
        </p:blipFill>
        <p:spPr>
          <a:xfrm>
            <a:off x="1236133" y="1443660"/>
            <a:ext cx="6106017" cy="3259574"/>
          </a:xfrm>
          <a:prstGeom prst="rect">
            <a:avLst/>
          </a:prstGeom>
        </p:spPr>
      </p:pic>
    </p:spTree>
    <p:extLst>
      <p:ext uri="{BB962C8B-B14F-4D97-AF65-F5344CB8AC3E}">
        <p14:creationId xmlns:p14="http://schemas.microsoft.com/office/powerpoint/2010/main" val="893942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5955F-D976-C470-596D-430D25F03664}"/>
              </a:ext>
            </a:extLst>
          </p:cNvPr>
          <p:cNvSpPr>
            <a:spLocks noGrp="1"/>
          </p:cNvSpPr>
          <p:nvPr>
            <p:ph type="title" idx="4294967295"/>
          </p:nvPr>
        </p:nvSpPr>
        <p:spPr>
          <a:xfrm>
            <a:off x="1024466" y="266171"/>
            <a:ext cx="7886700" cy="993775"/>
          </a:xfrm>
        </p:spPr>
        <p:txBody>
          <a:bodyPr>
            <a:normAutofit/>
          </a:bodyPr>
          <a:lstStyle/>
          <a:p>
            <a:r>
              <a:rPr lang="en-US" sz="2000" dirty="0"/>
              <a:t>Given A 4 x 4 noisy </a:t>
            </a:r>
            <a:r>
              <a:rPr lang="en-US" sz="2000" dirty="0" err="1"/>
              <a:t>image.Filter</a:t>
            </a:r>
            <a:r>
              <a:rPr lang="en-US" sz="2000" dirty="0"/>
              <a:t> the Image using 3x3 MIN and MAX filter masks.</a:t>
            </a:r>
            <a:endParaRPr lang="en-IN" sz="2000" dirty="0"/>
          </a:p>
        </p:txBody>
      </p:sp>
      <p:pic>
        <p:nvPicPr>
          <p:cNvPr id="5" name="Picture 4">
            <a:extLst>
              <a:ext uri="{FF2B5EF4-FFF2-40B4-BE49-F238E27FC236}">
                <a16:creationId xmlns:a16="http://schemas.microsoft.com/office/drawing/2014/main" id="{1275681D-3DEA-B202-0673-5591F6DA6EC4}"/>
              </a:ext>
            </a:extLst>
          </p:cNvPr>
          <p:cNvPicPr>
            <a:picLocks noChangeAspect="1"/>
          </p:cNvPicPr>
          <p:nvPr/>
        </p:nvPicPr>
        <p:blipFill>
          <a:blip r:embed="rId2"/>
          <a:stretch>
            <a:fillRect/>
          </a:stretch>
        </p:blipFill>
        <p:spPr>
          <a:xfrm>
            <a:off x="2887477" y="763058"/>
            <a:ext cx="2657846" cy="1505160"/>
          </a:xfrm>
          <a:prstGeom prst="rect">
            <a:avLst/>
          </a:prstGeom>
        </p:spPr>
      </p:pic>
      <p:sp>
        <p:nvSpPr>
          <p:cNvPr id="7" name="TextBox 6">
            <a:extLst>
              <a:ext uri="{FF2B5EF4-FFF2-40B4-BE49-F238E27FC236}">
                <a16:creationId xmlns:a16="http://schemas.microsoft.com/office/drawing/2014/main" id="{8D54CA05-0040-4503-97A6-5CD375BC2993}"/>
              </a:ext>
            </a:extLst>
          </p:cNvPr>
          <p:cNvSpPr txBox="1"/>
          <p:nvPr/>
        </p:nvSpPr>
        <p:spPr>
          <a:xfrm>
            <a:off x="1024466" y="2202418"/>
            <a:ext cx="7459134" cy="923330"/>
          </a:xfrm>
          <a:prstGeom prst="rect">
            <a:avLst/>
          </a:prstGeom>
          <a:noFill/>
        </p:spPr>
        <p:txBody>
          <a:bodyPr wrap="square">
            <a:spAutoFit/>
          </a:bodyPr>
          <a:lstStyle/>
          <a:p>
            <a:r>
              <a:rPr lang="en-IN" dirty="0"/>
              <a:t>3 × 3 MIN Filter</a:t>
            </a:r>
          </a:p>
          <a:p>
            <a:r>
              <a:rPr lang="en-US" dirty="0"/>
              <a:t>The MIN filter replaces the center pixel by the minimum value in the 3×3 </a:t>
            </a:r>
            <a:r>
              <a:rPr lang="en-US" dirty="0" err="1"/>
              <a:t>neighbourhood</a:t>
            </a:r>
            <a:r>
              <a:rPr lang="en-US" dirty="0"/>
              <a:t>.</a:t>
            </a:r>
            <a:endParaRPr lang="en-IN" dirty="0"/>
          </a:p>
        </p:txBody>
      </p:sp>
      <p:pic>
        <p:nvPicPr>
          <p:cNvPr id="9" name="Picture 8">
            <a:extLst>
              <a:ext uri="{FF2B5EF4-FFF2-40B4-BE49-F238E27FC236}">
                <a16:creationId xmlns:a16="http://schemas.microsoft.com/office/drawing/2014/main" id="{2CB9A60E-A8B5-4DAC-EAC2-F8610B5BD2BF}"/>
              </a:ext>
            </a:extLst>
          </p:cNvPr>
          <p:cNvPicPr>
            <a:picLocks noChangeAspect="1"/>
          </p:cNvPicPr>
          <p:nvPr/>
        </p:nvPicPr>
        <p:blipFill>
          <a:blip r:embed="rId3"/>
          <a:stretch>
            <a:fillRect/>
          </a:stretch>
        </p:blipFill>
        <p:spPr>
          <a:xfrm>
            <a:off x="1214609" y="3125749"/>
            <a:ext cx="3357391" cy="1911918"/>
          </a:xfrm>
          <a:prstGeom prst="rect">
            <a:avLst/>
          </a:prstGeom>
        </p:spPr>
      </p:pic>
    </p:spTree>
    <p:extLst>
      <p:ext uri="{BB962C8B-B14F-4D97-AF65-F5344CB8AC3E}">
        <p14:creationId xmlns:p14="http://schemas.microsoft.com/office/powerpoint/2010/main" val="2901472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1D462D-975C-05F4-4BA8-3BF4BB74575B}"/>
              </a:ext>
            </a:extLst>
          </p:cNvPr>
          <p:cNvPicPr>
            <a:picLocks noChangeAspect="1"/>
          </p:cNvPicPr>
          <p:nvPr/>
        </p:nvPicPr>
        <p:blipFill>
          <a:blip r:embed="rId2"/>
          <a:stretch>
            <a:fillRect/>
          </a:stretch>
        </p:blipFill>
        <p:spPr>
          <a:xfrm>
            <a:off x="1386052" y="0"/>
            <a:ext cx="4032615" cy="1727200"/>
          </a:xfrm>
          <a:prstGeom prst="rect">
            <a:avLst/>
          </a:prstGeom>
        </p:spPr>
      </p:pic>
      <p:pic>
        <p:nvPicPr>
          <p:cNvPr id="5" name="Picture 4">
            <a:extLst>
              <a:ext uri="{FF2B5EF4-FFF2-40B4-BE49-F238E27FC236}">
                <a16:creationId xmlns:a16="http://schemas.microsoft.com/office/drawing/2014/main" id="{4FD272CF-03C8-49B7-FF27-41CD41C08C87}"/>
              </a:ext>
            </a:extLst>
          </p:cNvPr>
          <p:cNvPicPr>
            <a:picLocks noChangeAspect="1"/>
          </p:cNvPicPr>
          <p:nvPr/>
        </p:nvPicPr>
        <p:blipFill>
          <a:blip r:embed="rId3"/>
          <a:stretch>
            <a:fillRect/>
          </a:stretch>
        </p:blipFill>
        <p:spPr>
          <a:xfrm>
            <a:off x="1386052" y="1855175"/>
            <a:ext cx="4032615" cy="1433149"/>
          </a:xfrm>
          <a:prstGeom prst="rect">
            <a:avLst/>
          </a:prstGeom>
        </p:spPr>
      </p:pic>
      <p:pic>
        <p:nvPicPr>
          <p:cNvPr id="7" name="Picture 6">
            <a:extLst>
              <a:ext uri="{FF2B5EF4-FFF2-40B4-BE49-F238E27FC236}">
                <a16:creationId xmlns:a16="http://schemas.microsoft.com/office/drawing/2014/main" id="{075F5087-2C9D-BF54-1FB1-966C48549A4D}"/>
              </a:ext>
            </a:extLst>
          </p:cNvPr>
          <p:cNvPicPr>
            <a:picLocks noChangeAspect="1"/>
          </p:cNvPicPr>
          <p:nvPr/>
        </p:nvPicPr>
        <p:blipFill>
          <a:blip r:embed="rId4"/>
          <a:stretch>
            <a:fillRect/>
          </a:stretch>
        </p:blipFill>
        <p:spPr>
          <a:xfrm>
            <a:off x="1572319" y="3288324"/>
            <a:ext cx="3518780" cy="1644650"/>
          </a:xfrm>
          <a:prstGeom prst="rect">
            <a:avLst/>
          </a:prstGeom>
        </p:spPr>
      </p:pic>
      <p:pic>
        <p:nvPicPr>
          <p:cNvPr id="9" name="Picture 8">
            <a:extLst>
              <a:ext uri="{FF2B5EF4-FFF2-40B4-BE49-F238E27FC236}">
                <a16:creationId xmlns:a16="http://schemas.microsoft.com/office/drawing/2014/main" id="{7D79DF7B-E5AD-AD85-80EA-C833144F8B94}"/>
              </a:ext>
            </a:extLst>
          </p:cNvPr>
          <p:cNvPicPr>
            <a:picLocks noChangeAspect="1"/>
          </p:cNvPicPr>
          <p:nvPr/>
        </p:nvPicPr>
        <p:blipFill>
          <a:blip r:embed="rId5"/>
          <a:stretch>
            <a:fillRect/>
          </a:stretch>
        </p:blipFill>
        <p:spPr>
          <a:xfrm>
            <a:off x="5872380" y="1871564"/>
            <a:ext cx="3271620" cy="1400370"/>
          </a:xfrm>
          <a:prstGeom prst="rect">
            <a:avLst/>
          </a:prstGeom>
        </p:spPr>
      </p:pic>
    </p:spTree>
    <p:extLst>
      <p:ext uri="{BB962C8B-B14F-4D97-AF65-F5344CB8AC3E}">
        <p14:creationId xmlns:p14="http://schemas.microsoft.com/office/powerpoint/2010/main" val="3738530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A10B8-BAF4-93F7-8788-B40E4198D52A}"/>
              </a:ext>
            </a:extLst>
          </p:cNvPr>
          <p:cNvSpPr>
            <a:spLocks noGrp="1"/>
          </p:cNvSpPr>
          <p:nvPr>
            <p:ph type="title"/>
          </p:nvPr>
        </p:nvSpPr>
        <p:spPr>
          <a:xfrm>
            <a:off x="2736850" y="1857111"/>
            <a:ext cx="7886700" cy="994172"/>
          </a:xfrm>
        </p:spPr>
        <p:txBody>
          <a:bodyPr/>
          <a:lstStyle/>
          <a:p>
            <a:r>
              <a:rPr lang="en-IN" b="1" dirty="0"/>
              <a:t>ADAPTIVE FILTERS </a:t>
            </a:r>
            <a:endParaRPr lang="en-IN" dirty="0"/>
          </a:p>
        </p:txBody>
      </p:sp>
    </p:spTree>
    <p:extLst>
      <p:ext uri="{BB962C8B-B14F-4D97-AF65-F5344CB8AC3E}">
        <p14:creationId xmlns:p14="http://schemas.microsoft.com/office/powerpoint/2010/main" val="2233247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69A7E8-3E21-1EFF-F2DA-150BC7DA624A}"/>
              </a:ext>
            </a:extLst>
          </p:cNvPr>
          <p:cNvSpPr>
            <a:spLocks noGrp="1"/>
          </p:cNvSpPr>
          <p:nvPr>
            <p:ph type="title"/>
          </p:nvPr>
        </p:nvSpPr>
        <p:spPr/>
        <p:txBody>
          <a:bodyPr/>
          <a:lstStyle/>
          <a:p>
            <a:r>
              <a:rPr lang="en-IN" b="1" dirty="0"/>
              <a:t>ADAPTIVE FILTERS </a:t>
            </a:r>
            <a:endParaRPr lang="en-IN" dirty="0"/>
          </a:p>
        </p:txBody>
      </p:sp>
      <p:sp>
        <p:nvSpPr>
          <p:cNvPr id="4" name="Content Placeholder 3">
            <a:extLst>
              <a:ext uri="{FF2B5EF4-FFF2-40B4-BE49-F238E27FC236}">
                <a16:creationId xmlns:a16="http://schemas.microsoft.com/office/drawing/2014/main" id="{58E7654D-9D0A-14AF-9D95-8C8A36588371}"/>
              </a:ext>
            </a:extLst>
          </p:cNvPr>
          <p:cNvSpPr>
            <a:spLocks noGrp="1"/>
          </p:cNvSpPr>
          <p:nvPr>
            <p:ph idx="1"/>
          </p:nvPr>
        </p:nvSpPr>
        <p:spPr/>
        <p:txBody>
          <a:bodyPr>
            <a:normAutofit lnSpcReduction="10000"/>
          </a:bodyPr>
          <a:lstStyle/>
          <a:p>
            <a:r>
              <a:rPr lang="en-US" dirty="0"/>
              <a:t>An adaptive filter is a filter whose behavior changes automatically based on the local characteristics of the image.</a:t>
            </a:r>
          </a:p>
          <a:p>
            <a:r>
              <a:rPr lang="en-US" dirty="0"/>
              <a:t> Unlike fixed filters, it adapts to different regions to remove noise while preserving important details like edges.</a:t>
            </a:r>
          </a:p>
          <a:p>
            <a:pPr marL="0" indent="0">
              <a:buNone/>
            </a:pPr>
            <a:r>
              <a:rPr lang="en-US" dirty="0"/>
              <a:t>An adaptive filter adjusts its parameters depending on:</a:t>
            </a:r>
          </a:p>
          <a:p>
            <a:r>
              <a:rPr lang="en-US" dirty="0"/>
              <a:t>Local mean</a:t>
            </a:r>
          </a:p>
          <a:p>
            <a:r>
              <a:rPr lang="en-US" dirty="0"/>
              <a:t>Local variance</a:t>
            </a:r>
          </a:p>
          <a:p>
            <a:r>
              <a:rPr lang="en-US" dirty="0"/>
              <a:t>Noise level in the image</a:t>
            </a:r>
          </a:p>
          <a:p>
            <a:pPr marL="0" indent="0">
              <a:buNone/>
            </a:pPr>
            <a:r>
              <a:rPr lang="en-US" dirty="0"/>
              <a:t>So, it performs different filtering in smooth and edge regions.</a:t>
            </a:r>
          </a:p>
          <a:p>
            <a:endParaRPr lang="en-IN" dirty="0"/>
          </a:p>
        </p:txBody>
      </p:sp>
    </p:spTree>
    <p:extLst>
      <p:ext uri="{BB962C8B-B14F-4D97-AF65-F5344CB8AC3E}">
        <p14:creationId xmlns:p14="http://schemas.microsoft.com/office/powerpoint/2010/main" val="3218649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C693-80E3-863E-887C-DFE686A8740E}"/>
              </a:ext>
            </a:extLst>
          </p:cNvPr>
          <p:cNvSpPr>
            <a:spLocks noGrp="1"/>
          </p:cNvSpPr>
          <p:nvPr>
            <p:ph type="title"/>
          </p:nvPr>
        </p:nvSpPr>
        <p:spPr/>
        <p:txBody>
          <a:bodyPr/>
          <a:lstStyle/>
          <a:p>
            <a:r>
              <a:rPr lang="en-IN" dirty="0"/>
              <a:t>Types of Adaptive Filters</a:t>
            </a:r>
          </a:p>
        </p:txBody>
      </p:sp>
      <p:sp>
        <p:nvSpPr>
          <p:cNvPr id="3" name="Content Placeholder 2">
            <a:extLst>
              <a:ext uri="{FF2B5EF4-FFF2-40B4-BE49-F238E27FC236}">
                <a16:creationId xmlns:a16="http://schemas.microsoft.com/office/drawing/2014/main" id="{52C3CF88-619D-0B2B-5E68-B4C15E530835}"/>
              </a:ext>
            </a:extLst>
          </p:cNvPr>
          <p:cNvSpPr>
            <a:spLocks noGrp="1"/>
          </p:cNvSpPr>
          <p:nvPr>
            <p:ph idx="1"/>
          </p:nvPr>
        </p:nvSpPr>
        <p:spPr>
          <a:xfrm>
            <a:off x="831850" y="1089686"/>
            <a:ext cx="7886700" cy="3263504"/>
          </a:xfrm>
        </p:spPr>
        <p:txBody>
          <a:bodyPr/>
          <a:lstStyle/>
          <a:p>
            <a:pPr>
              <a:lnSpc>
                <a:spcPct val="200000"/>
              </a:lnSpc>
            </a:pPr>
            <a:r>
              <a:rPr lang="en-IN" dirty="0"/>
              <a:t>Adaptive Mean Filter</a:t>
            </a:r>
          </a:p>
          <a:p>
            <a:pPr>
              <a:lnSpc>
                <a:spcPct val="200000"/>
              </a:lnSpc>
            </a:pPr>
            <a:r>
              <a:rPr lang="en-IN" dirty="0"/>
              <a:t>Adaptive Median Filter</a:t>
            </a:r>
          </a:p>
          <a:p>
            <a:pPr>
              <a:lnSpc>
                <a:spcPct val="200000"/>
              </a:lnSpc>
            </a:pPr>
            <a:r>
              <a:rPr lang="en-IN" dirty="0"/>
              <a:t>Wiener Filter</a:t>
            </a:r>
          </a:p>
        </p:txBody>
      </p:sp>
    </p:spTree>
    <p:extLst>
      <p:ext uri="{BB962C8B-B14F-4D97-AF65-F5344CB8AC3E}">
        <p14:creationId xmlns:p14="http://schemas.microsoft.com/office/powerpoint/2010/main" val="1446647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2A14-7C8E-12BD-7DAF-D9A76EB43338}"/>
              </a:ext>
            </a:extLst>
          </p:cNvPr>
          <p:cNvSpPr>
            <a:spLocks noGrp="1"/>
          </p:cNvSpPr>
          <p:nvPr>
            <p:ph type="title"/>
          </p:nvPr>
        </p:nvSpPr>
        <p:spPr/>
        <p:txBody>
          <a:bodyPr>
            <a:normAutofit fontScale="90000"/>
          </a:bodyPr>
          <a:lstStyle/>
          <a:p>
            <a:br>
              <a:rPr lang="en-IN" dirty="0"/>
            </a:br>
            <a:r>
              <a:rPr lang="fr-FR" b="1" i="1" dirty="0"/>
              <a:t>1. Adaptive, local noise </a:t>
            </a:r>
            <a:r>
              <a:rPr lang="fr-FR" b="1" i="1" dirty="0" err="1"/>
              <a:t>reduction</a:t>
            </a:r>
            <a:r>
              <a:rPr lang="fr-FR" b="1" i="1" dirty="0"/>
              <a:t> </a:t>
            </a:r>
            <a:r>
              <a:rPr lang="fr-FR" b="1" i="1" dirty="0" err="1"/>
              <a:t>filter</a:t>
            </a:r>
            <a:r>
              <a:rPr lang="fr-FR" b="1" i="1" dirty="0"/>
              <a:t> </a:t>
            </a:r>
            <a:br>
              <a:rPr lang="fr-FR" dirty="0"/>
            </a:br>
            <a:endParaRPr lang="en-IN" dirty="0"/>
          </a:p>
        </p:txBody>
      </p:sp>
      <p:pic>
        <p:nvPicPr>
          <p:cNvPr id="17" name="Content Placeholder 16">
            <a:extLst>
              <a:ext uri="{FF2B5EF4-FFF2-40B4-BE49-F238E27FC236}">
                <a16:creationId xmlns:a16="http://schemas.microsoft.com/office/drawing/2014/main" id="{F58DB823-D567-FC94-2A46-0D1FF8B6302D}"/>
              </a:ext>
            </a:extLst>
          </p:cNvPr>
          <p:cNvPicPr>
            <a:picLocks noGrp="1" noChangeAspect="1"/>
          </p:cNvPicPr>
          <p:nvPr>
            <p:ph idx="1"/>
          </p:nvPr>
        </p:nvPicPr>
        <p:blipFill>
          <a:blip r:embed="rId2"/>
          <a:stretch>
            <a:fillRect/>
          </a:stretch>
        </p:blipFill>
        <p:spPr>
          <a:xfrm>
            <a:off x="2218268" y="1671805"/>
            <a:ext cx="3991532" cy="1314633"/>
          </a:xfrm>
          <a:prstGeom prst="rect">
            <a:avLst/>
          </a:prstGeom>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4110F7A-AF44-5359-A2DC-302D8D3F2277}"/>
                  </a:ext>
                </a:extLst>
              </p:cNvPr>
              <p:cNvSpPr txBox="1"/>
              <p:nvPr/>
            </p:nvSpPr>
            <p:spPr>
              <a:xfrm>
                <a:off x="1676400" y="2902726"/>
                <a:ext cx="5655733" cy="1758174"/>
              </a:xfrm>
              <a:prstGeom prst="rect">
                <a:avLst/>
              </a:prstGeom>
              <a:noFill/>
            </p:spPr>
            <p:txBody>
              <a:bodyPr wrap="square">
                <a:spAutoFit/>
              </a:bodyPr>
              <a:lstStyle/>
              <a:p>
                <a:pPr>
                  <a:buNone/>
                </a:pPr>
                <a:r>
                  <a:rPr lang="en-IN" dirty="0"/>
                  <a:t>Where:</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𝑔</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oMath>
                </a14:m>
                <a:r>
                  <a:rPr lang="ar-AE" dirty="0"/>
                  <a:t>→ </a:t>
                </a:r>
                <a:r>
                  <a:rPr lang="en-IN" dirty="0"/>
                  <a:t>noisy image</a:t>
                </a:r>
              </a:p>
              <a:p>
                <a:pPr>
                  <a:buFont typeface="Arial" panose="020B0604020202020204" pitchFamily="34" charset="0"/>
                  <a:buChar char="•"/>
                </a:pPr>
                <a14:m>
                  <m:oMath xmlns:m="http://schemas.openxmlformats.org/officeDocument/2006/math">
                    <m:r>
                      <a:rPr lang="en-IN" i="1">
                        <a:latin typeface="Cambria Math" panose="02040503050406030204" pitchFamily="18" charset="0"/>
                      </a:rPr>
                      <m:t>𝑓</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oMath>
                </a14:m>
                <a:r>
                  <a:rPr lang="ar-AE" dirty="0"/>
                  <a:t>→ </a:t>
                </a:r>
                <a:r>
                  <a:rPr lang="en-IN" dirty="0"/>
                  <a:t>restored image</a:t>
                </a:r>
              </a:p>
              <a:p>
                <a:pPr>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𝐿</m:t>
                        </m:r>
                      </m:sub>
                    </m:sSub>
                  </m:oMath>
                </a14:m>
                <a:r>
                  <a:rPr lang="ar-AE" dirty="0"/>
                  <a:t>→ </a:t>
                </a:r>
                <a:r>
                  <a:rPr lang="en-IN" dirty="0"/>
                  <a:t>local mean</a:t>
                </a:r>
              </a:p>
              <a:p>
                <a:pPr>
                  <a:buFont typeface="Arial" panose="020B0604020202020204" pitchFamily="34" charset="0"/>
                  <a:buChar char="•"/>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𝜎</m:t>
                        </m:r>
                      </m:e>
                      <m:sub>
                        <m:r>
                          <a:rPr lang="ar-AE" i="1">
                            <a:latin typeface="Cambria Math" panose="02040503050406030204" pitchFamily="18" charset="0"/>
                          </a:rPr>
                          <m:t>𝐿</m:t>
                        </m:r>
                      </m:sub>
                      <m:sup>
                        <m:r>
                          <a:rPr lang="ar-AE" i="0">
                            <a:latin typeface="Cambria Math" panose="02040503050406030204" pitchFamily="18" charset="0"/>
                          </a:rPr>
                          <m:t>2</m:t>
                        </m:r>
                      </m:sup>
                    </m:sSubSup>
                  </m:oMath>
                </a14:m>
                <a:r>
                  <a:rPr lang="ar-AE" dirty="0"/>
                  <a:t>→ </a:t>
                </a:r>
                <a:r>
                  <a:rPr lang="en-IN" dirty="0"/>
                  <a:t>local variance</a:t>
                </a:r>
              </a:p>
              <a:p>
                <a:pPr>
                  <a:buFont typeface="Arial" panose="020B0604020202020204" pitchFamily="34" charset="0"/>
                  <a:buChar char="•"/>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𝜎</m:t>
                        </m:r>
                      </m:e>
                      <m:sub>
                        <m:r>
                          <a:rPr lang="ar-AE" i="1">
                            <a:latin typeface="Cambria Math" panose="02040503050406030204" pitchFamily="18" charset="0"/>
                          </a:rPr>
                          <m:t>𝑛</m:t>
                        </m:r>
                      </m:sub>
                      <m:sup>
                        <m:r>
                          <a:rPr lang="ar-AE" i="0">
                            <a:latin typeface="Cambria Math" panose="02040503050406030204" pitchFamily="18" charset="0"/>
                          </a:rPr>
                          <m:t>2</m:t>
                        </m:r>
                      </m:sup>
                    </m:sSubSup>
                  </m:oMath>
                </a14:m>
                <a:r>
                  <a:rPr lang="ar-AE" dirty="0"/>
                  <a:t>→ </a:t>
                </a:r>
                <a:r>
                  <a:rPr lang="en-IN" dirty="0"/>
                  <a:t>noise variance</a:t>
                </a:r>
              </a:p>
            </p:txBody>
          </p:sp>
        </mc:Choice>
        <mc:Fallback>
          <p:sp>
            <p:nvSpPr>
              <p:cNvPr id="19" name="TextBox 18">
                <a:extLst>
                  <a:ext uri="{FF2B5EF4-FFF2-40B4-BE49-F238E27FC236}">
                    <a16:creationId xmlns:a16="http://schemas.microsoft.com/office/drawing/2014/main" id="{F4110F7A-AF44-5359-A2DC-302D8D3F2277}"/>
                  </a:ext>
                </a:extLst>
              </p:cNvPr>
              <p:cNvSpPr txBox="1">
                <a:spLocks noRot="1" noChangeAspect="1" noMove="1" noResize="1" noEditPoints="1" noAdjustHandles="1" noChangeArrowheads="1" noChangeShapeType="1" noTextEdit="1"/>
              </p:cNvSpPr>
              <p:nvPr/>
            </p:nvSpPr>
            <p:spPr>
              <a:xfrm>
                <a:off x="1676400" y="2902726"/>
                <a:ext cx="5655733" cy="1758174"/>
              </a:xfrm>
              <a:prstGeom prst="rect">
                <a:avLst/>
              </a:prstGeom>
              <a:blipFill>
                <a:blip r:embed="rId3"/>
                <a:stretch>
                  <a:fillRect l="-862" t="-1730" b="-4498"/>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5E3D861A-7BCA-B6E3-CFC0-BAA4E52D7981}"/>
              </a:ext>
            </a:extLst>
          </p:cNvPr>
          <p:cNvSpPr txBox="1"/>
          <p:nvPr/>
        </p:nvSpPr>
        <p:spPr>
          <a:xfrm>
            <a:off x="982133" y="956734"/>
            <a:ext cx="8026400" cy="1200329"/>
          </a:xfrm>
          <a:prstGeom prst="rect">
            <a:avLst/>
          </a:prstGeom>
          <a:noFill/>
        </p:spPr>
        <p:txBody>
          <a:bodyPr wrap="square">
            <a:spAutoFit/>
          </a:bodyPr>
          <a:lstStyle/>
          <a:p>
            <a:pPr algn="just">
              <a:buNone/>
            </a:pPr>
            <a:r>
              <a:rPr lang="en-US" dirty="0"/>
              <a:t>An Adaptive Mean Filter is a statistical filter used to remove noise (especially Gaussian noise) while preserving edges better than a simple arithmetic mean filter.</a:t>
            </a:r>
          </a:p>
          <a:p>
            <a:pPr algn="just">
              <a:buNone/>
            </a:pPr>
            <a:r>
              <a:rPr lang="en-US" dirty="0"/>
              <a:t>Unlike a normal mean filter, it changes its behavior based on local image statistics (mean and variance).</a:t>
            </a:r>
          </a:p>
        </p:txBody>
      </p:sp>
    </p:spTree>
    <p:extLst>
      <p:ext uri="{BB962C8B-B14F-4D97-AF65-F5344CB8AC3E}">
        <p14:creationId xmlns:p14="http://schemas.microsoft.com/office/powerpoint/2010/main" val="1232666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335A78-CD39-740B-7A6D-5938845E20DF}"/>
              </a:ext>
            </a:extLst>
          </p:cNvPr>
          <p:cNvPicPr>
            <a:picLocks noGrp="1" noChangeAspect="1"/>
          </p:cNvPicPr>
          <p:nvPr>
            <p:ph idx="4294967295"/>
          </p:nvPr>
        </p:nvPicPr>
        <p:blipFill>
          <a:blip r:embed="rId2"/>
          <a:stretch>
            <a:fillRect/>
          </a:stretch>
        </p:blipFill>
        <p:spPr>
          <a:xfrm>
            <a:off x="762001" y="0"/>
            <a:ext cx="6772275" cy="3733800"/>
          </a:xfrm>
          <a:prstGeom prst="rect">
            <a:avLst/>
          </a:prstGeom>
        </p:spPr>
      </p:pic>
      <p:pic>
        <p:nvPicPr>
          <p:cNvPr id="7" name="Picture 6">
            <a:extLst>
              <a:ext uri="{FF2B5EF4-FFF2-40B4-BE49-F238E27FC236}">
                <a16:creationId xmlns:a16="http://schemas.microsoft.com/office/drawing/2014/main" id="{C99B9A68-D5FB-DC3E-8FA2-2B07C82FA2EA}"/>
              </a:ext>
            </a:extLst>
          </p:cNvPr>
          <p:cNvPicPr>
            <a:picLocks noChangeAspect="1"/>
          </p:cNvPicPr>
          <p:nvPr/>
        </p:nvPicPr>
        <p:blipFill>
          <a:blip r:embed="rId3"/>
          <a:stretch>
            <a:fillRect/>
          </a:stretch>
        </p:blipFill>
        <p:spPr>
          <a:xfrm>
            <a:off x="480441" y="3556000"/>
            <a:ext cx="8183117" cy="1516315"/>
          </a:xfrm>
          <a:prstGeom prst="rect">
            <a:avLst/>
          </a:prstGeom>
        </p:spPr>
      </p:pic>
    </p:spTree>
    <p:extLst>
      <p:ext uri="{BB962C8B-B14F-4D97-AF65-F5344CB8AC3E}">
        <p14:creationId xmlns:p14="http://schemas.microsoft.com/office/powerpoint/2010/main" val="3743301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04EC6E-30A9-CD29-B972-18BD4FE744DC}"/>
              </a:ext>
            </a:extLst>
          </p:cNvPr>
          <p:cNvPicPr>
            <a:picLocks noChangeAspect="1"/>
          </p:cNvPicPr>
          <p:nvPr/>
        </p:nvPicPr>
        <p:blipFill>
          <a:blip r:embed="rId2"/>
          <a:stretch>
            <a:fillRect/>
          </a:stretch>
        </p:blipFill>
        <p:spPr>
          <a:xfrm>
            <a:off x="457200" y="253705"/>
            <a:ext cx="8559800" cy="2318045"/>
          </a:xfrm>
          <a:prstGeom prst="rect">
            <a:avLst/>
          </a:prstGeom>
        </p:spPr>
      </p:pic>
    </p:spTree>
    <p:extLst>
      <p:ext uri="{BB962C8B-B14F-4D97-AF65-F5344CB8AC3E}">
        <p14:creationId xmlns:p14="http://schemas.microsoft.com/office/powerpoint/2010/main" val="963169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F6893-1899-0561-B2BB-A4D557223732}"/>
              </a:ext>
            </a:extLst>
          </p:cNvPr>
          <p:cNvSpPr>
            <a:spLocks noGrp="1"/>
          </p:cNvSpPr>
          <p:nvPr>
            <p:ph type="title"/>
          </p:nvPr>
        </p:nvSpPr>
        <p:spPr/>
        <p:txBody>
          <a:bodyPr>
            <a:normAutofit fontScale="90000"/>
          </a:bodyPr>
          <a:lstStyle/>
          <a:p>
            <a:r>
              <a:rPr lang="en-IN" dirty="0"/>
              <a:t>Adaptive Median Filter</a:t>
            </a:r>
            <a:br>
              <a:rPr lang="en-IN" dirty="0"/>
            </a:br>
            <a:endParaRPr lang="en-IN" dirty="0"/>
          </a:p>
        </p:txBody>
      </p:sp>
      <p:sp>
        <p:nvSpPr>
          <p:cNvPr id="3" name="Content Placeholder 2">
            <a:extLst>
              <a:ext uri="{FF2B5EF4-FFF2-40B4-BE49-F238E27FC236}">
                <a16:creationId xmlns:a16="http://schemas.microsoft.com/office/drawing/2014/main" id="{D4FC5293-150E-F141-85A7-76BD04BDD1BD}"/>
              </a:ext>
            </a:extLst>
          </p:cNvPr>
          <p:cNvSpPr>
            <a:spLocks noGrp="1"/>
          </p:cNvSpPr>
          <p:nvPr>
            <p:ph idx="1"/>
          </p:nvPr>
        </p:nvSpPr>
        <p:spPr/>
        <p:txBody>
          <a:bodyPr/>
          <a:lstStyle/>
          <a:p>
            <a:r>
              <a:rPr lang="en-US" dirty="0"/>
              <a:t>Adaptive median filtering is an advanced nonlinear filter used mainly to remove impulse noise (salt-and-pepper noise) while preserving image details. </a:t>
            </a:r>
          </a:p>
          <a:p>
            <a:r>
              <a:rPr lang="en-US" dirty="0"/>
              <a:t>The median filter removes impulse noise, but it uses a fixed window size, which may:</a:t>
            </a:r>
          </a:p>
          <a:p>
            <a:pPr marL="0" indent="0">
              <a:buNone/>
            </a:pPr>
            <a:r>
              <a:rPr lang="en-US" dirty="0"/>
              <a:t>	Blur fine details</a:t>
            </a:r>
          </a:p>
          <a:p>
            <a:pPr marL="0" indent="0">
              <a:buNone/>
            </a:pPr>
            <a:r>
              <a:rPr lang="en-US" dirty="0"/>
              <a:t>	Fail when noise density is high</a:t>
            </a:r>
          </a:p>
          <a:p>
            <a:r>
              <a:rPr lang="en-US" dirty="0"/>
              <a:t>The adaptive median filter overcomes this by changing the window size automatically based on local noise.</a:t>
            </a:r>
          </a:p>
          <a:p>
            <a:endParaRPr lang="en-IN" dirty="0"/>
          </a:p>
        </p:txBody>
      </p:sp>
    </p:spTree>
    <p:extLst>
      <p:ext uri="{BB962C8B-B14F-4D97-AF65-F5344CB8AC3E}">
        <p14:creationId xmlns:p14="http://schemas.microsoft.com/office/powerpoint/2010/main" val="3138551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B8E89-41F5-8EE3-3347-471C34328B0E}"/>
              </a:ext>
            </a:extLst>
          </p:cNvPr>
          <p:cNvSpPr>
            <a:spLocks noGrp="1"/>
          </p:cNvSpPr>
          <p:nvPr>
            <p:ph type="title"/>
          </p:nvPr>
        </p:nvSpPr>
        <p:spPr/>
        <p:txBody>
          <a:bodyPr/>
          <a:lstStyle/>
          <a:p>
            <a:r>
              <a:rPr lang="en-IN" dirty="0"/>
              <a:t>Algorithm </a:t>
            </a:r>
          </a:p>
        </p:txBody>
      </p:sp>
      <p:sp>
        <p:nvSpPr>
          <p:cNvPr id="3" name="Content Placeholder 2">
            <a:extLst>
              <a:ext uri="{FF2B5EF4-FFF2-40B4-BE49-F238E27FC236}">
                <a16:creationId xmlns:a16="http://schemas.microsoft.com/office/drawing/2014/main" id="{3A4C9911-C5D5-3675-B56A-90D4794DD335}"/>
              </a:ext>
            </a:extLst>
          </p:cNvPr>
          <p:cNvSpPr>
            <a:spLocks noGrp="1"/>
          </p:cNvSpPr>
          <p:nvPr>
            <p:ph idx="1"/>
          </p:nvPr>
        </p:nvSpPr>
        <p:spPr/>
        <p:txBody>
          <a:bodyPr/>
          <a:lstStyle/>
          <a:p>
            <a:r>
              <a:rPr lang="en-US" dirty="0"/>
              <a:t>The adaptive median filter works in two stages:</a:t>
            </a:r>
          </a:p>
          <a:p>
            <a:endParaRPr lang="en-US" dirty="0"/>
          </a:p>
          <a:p>
            <a:endParaRPr lang="en-IN" dirty="0"/>
          </a:p>
        </p:txBody>
      </p:sp>
      <p:pic>
        <p:nvPicPr>
          <p:cNvPr id="5" name="Picture 4">
            <a:extLst>
              <a:ext uri="{FF2B5EF4-FFF2-40B4-BE49-F238E27FC236}">
                <a16:creationId xmlns:a16="http://schemas.microsoft.com/office/drawing/2014/main" id="{4D200C37-0020-CC0C-4FEA-01D0FCB51519}"/>
              </a:ext>
            </a:extLst>
          </p:cNvPr>
          <p:cNvPicPr>
            <a:picLocks noChangeAspect="1"/>
          </p:cNvPicPr>
          <p:nvPr/>
        </p:nvPicPr>
        <p:blipFill>
          <a:blip r:embed="rId2"/>
          <a:stretch>
            <a:fillRect/>
          </a:stretch>
        </p:blipFill>
        <p:spPr>
          <a:xfrm>
            <a:off x="127001" y="1975166"/>
            <a:ext cx="6025460" cy="3038899"/>
          </a:xfrm>
          <a:prstGeom prst="rect">
            <a:avLst/>
          </a:prstGeom>
        </p:spPr>
      </p:pic>
      <p:pic>
        <p:nvPicPr>
          <p:cNvPr id="7" name="Picture 6">
            <a:extLst>
              <a:ext uri="{FF2B5EF4-FFF2-40B4-BE49-F238E27FC236}">
                <a16:creationId xmlns:a16="http://schemas.microsoft.com/office/drawing/2014/main" id="{CB79B00D-A613-619C-D4C5-38CF17FBAA00}"/>
              </a:ext>
            </a:extLst>
          </p:cNvPr>
          <p:cNvPicPr>
            <a:picLocks noChangeAspect="1"/>
          </p:cNvPicPr>
          <p:nvPr/>
        </p:nvPicPr>
        <p:blipFill>
          <a:blip r:embed="rId3"/>
          <a:stretch>
            <a:fillRect/>
          </a:stretch>
        </p:blipFill>
        <p:spPr>
          <a:xfrm>
            <a:off x="5828837" y="1748803"/>
            <a:ext cx="3315163" cy="1324160"/>
          </a:xfrm>
          <a:prstGeom prst="rect">
            <a:avLst/>
          </a:prstGeom>
        </p:spPr>
      </p:pic>
    </p:spTree>
    <p:extLst>
      <p:ext uri="{BB962C8B-B14F-4D97-AF65-F5344CB8AC3E}">
        <p14:creationId xmlns:p14="http://schemas.microsoft.com/office/powerpoint/2010/main" val="3822514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6BC730-1EB8-4D5A-368E-E8DA1AA3BDBA}"/>
              </a:ext>
            </a:extLst>
          </p:cNvPr>
          <p:cNvSpPr>
            <a:spLocks noGrp="1"/>
          </p:cNvSpPr>
          <p:nvPr>
            <p:ph idx="4294967295"/>
          </p:nvPr>
        </p:nvSpPr>
        <p:spPr>
          <a:xfrm>
            <a:off x="999067" y="497946"/>
            <a:ext cx="7886700" cy="3262312"/>
          </a:xfrm>
        </p:spPr>
        <p:txBody>
          <a:bodyPr/>
          <a:lstStyle/>
          <a:p>
            <a:r>
              <a:rPr lang="en-US" b="1" dirty="0"/>
              <a:t>Working Explanation</a:t>
            </a:r>
          </a:p>
          <a:p>
            <a:pPr marL="0" indent="0">
              <a:buNone/>
            </a:pPr>
            <a:r>
              <a:rPr lang="en-US" dirty="0"/>
              <a:t> In smooth areas → Small window used</a:t>
            </a:r>
            <a:br>
              <a:rPr lang="en-US" dirty="0"/>
            </a:br>
            <a:r>
              <a:rPr lang="en-US" dirty="0"/>
              <a:t> In noisy areas → Window increases</a:t>
            </a:r>
          </a:p>
          <a:p>
            <a:pPr marL="0" indent="0">
              <a:buNone/>
            </a:pPr>
            <a:r>
              <a:rPr lang="en-US" dirty="0"/>
              <a:t> In edges → Original pixel preserved</a:t>
            </a:r>
          </a:p>
          <a:p>
            <a:endParaRPr lang="en-IN" dirty="0"/>
          </a:p>
        </p:txBody>
      </p:sp>
      <p:sp>
        <p:nvSpPr>
          <p:cNvPr id="2" name="Rectangle 1">
            <a:extLst>
              <a:ext uri="{FF2B5EF4-FFF2-40B4-BE49-F238E27FC236}">
                <a16:creationId xmlns:a16="http://schemas.microsoft.com/office/drawing/2014/main" id="{8FDFEA25-9134-60F0-32F5-E828D097BBB6}"/>
              </a:ext>
            </a:extLst>
          </p:cNvPr>
          <p:cNvSpPr>
            <a:spLocks noChangeArrowheads="1"/>
          </p:cNvSpPr>
          <p:nvPr/>
        </p:nvSpPr>
        <p:spPr bwMode="auto">
          <a:xfrm>
            <a:off x="821267" y="2030438"/>
            <a:ext cx="4801314"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STEPS</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Start with 3×3 window</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Compute min, max, median</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Check if median is valid</a:t>
            </a:r>
          </a:p>
          <a:p>
            <a:pPr marL="0" marR="0" lvl="0" indent="0" algn="l" defTabSz="914400" rtl="0" eaLnBrk="0" fontAlgn="base" latinLnBrk="0" hangingPunct="0">
              <a:lnSpc>
                <a:spcPct val="150000"/>
              </a:lnSpc>
              <a:spcBef>
                <a:spcPct val="0"/>
              </a:spcBef>
              <a:spcAft>
                <a:spcPct val="0"/>
              </a:spcAft>
              <a:buClrTx/>
              <a:buSzTx/>
              <a:tabLst/>
            </a:pPr>
            <a:r>
              <a:rPr lang="en-US" altLang="en-US" dirty="0">
                <a:latin typeface="Arial" panose="020B0604020202020204" pitchFamily="34" charset="0"/>
              </a:rPr>
              <a:t>I</a:t>
            </a:r>
            <a:r>
              <a:rPr kumimoji="0" lang="en-US" altLang="en-US" sz="1800" b="0" i="0" u="none" strike="noStrike" cap="none" normalizeH="0" baseline="0" dirty="0">
                <a:ln>
                  <a:noFill/>
                </a:ln>
                <a:solidFill>
                  <a:schemeClr val="tx1"/>
                </a:solidFill>
                <a:effectLst/>
                <a:latin typeface="Arial" panose="020B0604020202020204" pitchFamily="34" charset="0"/>
              </a:rPr>
              <a:t>f not → increase window</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If center pixel is noisy → replace with median</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Continue for entire image</a:t>
            </a:r>
          </a:p>
        </p:txBody>
      </p:sp>
    </p:spTree>
    <p:extLst>
      <p:ext uri="{BB962C8B-B14F-4D97-AF65-F5344CB8AC3E}">
        <p14:creationId xmlns:p14="http://schemas.microsoft.com/office/powerpoint/2010/main" val="3684007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TotalTime>
  <Words>1053</Words>
  <Application>Microsoft Office PowerPoint</Application>
  <PresentationFormat>On-screen Show (16:9)</PresentationFormat>
  <Paragraphs>147</Paragraphs>
  <Slides>38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Cambria Math</vt:lpstr>
      <vt:lpstr>Calibri</vt:lpstr>
      <vt:lpstr>Arial</vt:lpstr>
      <vt:lpstr>Wingdings</vt:lpstr>
      <vt:lpstr>Calibri Light</vt:lpstr>
      <vt:lpstr>Bebas Neue</vt:lpstr>
      <vt:lpstr>Office Theme</vt:lpstr>
      <vt:lpstr>IMAGE DEGRADATION MODELS AND NOISE MODELS</vt:lpstr>
      <vt:lpstr>IMAGE DEGRADATION AND RESTORATION MODEL</vt:lpstr>
      <vt:lpstr>IMAGE DEGRADATION AND RESTORATION MODEL</vt:lpstr>
      <vt:lpstr>IMAGE DEGRADATION MODEL</vt:lpstr>
      <vt:lpstr>NOISE MODELS</vt:lpstr>
      <vt:lpstr>NOISE MODELS</vt:lpstr>
      <vt:lpstr>NOISE MODELS</vt:lpstr>
      <vt:lpstr>NOISE MODELS</vt:lpstr>
      <vt:lpstr>NOISE MODELS</vt:lpstr>
      <vt:lpstr>PowerPoint Presentation</vt:lpstr>
      <vt:lpstr>NOISE MODELS</vt:lpstr>
      <vt:lpstr>NOISE MODELS</vt:lpstr>
      <vt:lpstr>NOISE MODELS</vt:lpstr>
      <vt:lpstr>NOISE MODELS</vt:lpstr>
      <vt:lpstr>MEAN FILTERS</vt:lpstr>
      <vt:lpstr>CLASSIFICATION</vt:lpstr>
      <vt:lpstr>1. Arithmetic Mean Filter </vt:lpstr>
      <vt:lpstr>2. Geometric mean filter  </vt:lpstr>
      <vt:lpstr>3.Harmonic mean filter  </vt:lpstr>
      <vt:lpstr>PowerPoint Presentation</vt:lpstr>
      <vt:lpstr>ORDER STATISTIC FILTERS </vt:lpstr>
      <vt:lpstr> 1. Median Filters </vt:lpstr>
      <vt:lpstr> 2. Max and min filters </vt:lpstr>
      <vt:lpstr>Working Steps </vt:lpstr>
      <vt:lpstr>Min Filter</vt:lpstr>
      <vt:lpstr>3.Midpoint Filter</vt:lpstr>
      <vt:lpstr> 4. Alpha Trimmed Filter:  </vt:lpstr>
      <vt:lpstr>Given A 4 x 4 noisy image.Filter the Image using 3x3 MIN and MAX filter masks.</vt:lpstr>
      <vt:lpstr>PowerPoint Presentation</vt:lpstr>
      <vt:lpstr>ADAPTIVE FILTERS </vt:lpstr>
      <vt:lpstr>ADAPTIVE FILTERS </vt:lpstr>
      <vt:lpstr>Types of Adaptive Filters</vt:lpstr>
      <vt:lpstr> 1. Adaptive, local noise reduction filter  </vt:lpstr>
      <vt:lpstr>PowerPoint Presentation</vt:lpstr>
      <vt:lpstr>PowerPoint Presentation</vt:lpstr>
      <vt:lpstr>Adaptive Median Filter </vt:lpstr>
      <vt:lpstr>Algorithm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FATHIMA A</cp:lastModifiedBy>
  <cp:revision>26</cp:revision>
  <dcterms:modified xsi:type="dcterms:W3CDTF">2026-03-03T04:43:19Z</dcterms:modified>
</cp:coreProperties>
</file>