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1" r:id="rId6"/>
    <p:sldId id="260"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HIMA A" userId="07560874674b0125" providerId="LiveId" clId="{5945B3F5-A3F1-4A6A-B728-902E8F5E1AF7}"/>
    <pc:docChg chg="addSld modSld">
      <pc:chgData name="FATHIMA A" userId="07560874674b0125" providerId="LiveId" clId="{5945B3F5-A3F1-4A6A-B728-902E8F5E1AF7}" dt="2026-03-05T17:41:09.589" v="1" actId="22"/>
      <pc:docMkLst>
        <pc:docMk/>
      </pc:docMkLst>
      <pc:sldChg chg="addSp new mod">
        <pc:chgData name="FATHIMA A" userId="07560874674b0125" providerId="LiveId" clId="{5945B3F5-A3F1-4A6A-B728-902E8F5E1AF7}" dt="2026-03-05T17:41:09.589" v="1" actId="22"/>
        <pc:sldMkLst>
          <pc:docMk/>
          <pc:sldMk cId="2239531825" sldId="265"/>
        </pc:sldMkLst>
        <pc:picChg chg="add">
          <ac:chgData name="FATHIMA A" userId="07560874674b0125" providerId="LiveId" clId="{5945B3F5-A3F1-4A6A-B728-902E8F5E1AF7}" dt="2026-03-05T17:41:09.589" v="1" actId="22"/>
          <ac:picMkLst>
            <pc:docMk/>
            <pc:sldMk cId="2239531825" sldId="265"/>
            <ac:picMk id="3" creationId="{BC7AB193-FF51-85C1-F981-816169649592}"/>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IN"/>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CC0EA38C-8203-4723-B28E-DBF9F6052CCD}" type="slidenum">
              <a:rPr lang="en-IN" smtClean="0"/>
              <a:t>‹#›</a:t>
            </a:fld>
            <a:endParaRPr lang="en-IN"/>
          </a:p>
        </p:txBody>
      </p:sp>
    </p:spTree>
    <p:extLst>
      <p:ext uri="{BB962C8B-B14F-4D97-AF65-F5344CB8AC3E}">
        <p14:creationId xmlns:p14="http://schemas.microsoft.com/office/powerpoint/2010/main" val="584012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3873860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3806562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8CA533-514D-4054-87BE-BD47C1733C7E}"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6503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8CA533-514D-4054-87BE-BD47C1733C7E}"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4131383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8CA533-514D-4054-87BE-BD47C1733C7E}" type="datetimeFigureOut">
              <a:rPr lang="en-IN" smtClean="0"/>
              <a:t>05-03-2026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1010977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8CA533-514D-4054-87BE-BD47C1733C7E}" type="datetimeFigureOut">
              <a:rPr lang="en-IN" smtClean="0"/>
              <a:t>05-03-2026</a:t>
            </a:fld>
            <a:endParaRPr lang="en-IN"/>
          </a:p>
        </p:txBody>
      </p:sp>
      <p:sp>
        <p:nvSpPr>
          <p:cNvPr id="3" name="Footer Placeholder 2"/>
          <p:cNvSpPr>
            <a:spLocks noGrp="1"/>
          </p:cNvSpPr>
          <p:nvPr>
            <p:ph type="ftr" sz="quarter" idx="11"/>
          </p:nvPr>
        </p:nvSpPr>
        <p:spPr/>
        <p:txBody>
          <a:bodyPr/>
          <a:lstStyle/>
          <a:p>
            <a:endParaRPr lang="en-IN"/>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2398172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8CA533-514D-4054-87BE-BD47C1733C7E}"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868573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8CA533-514D-4054-87BE-BD47C1733C7E}"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3857513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8CA533-514D-4054-87BE-BD47C1733C7E}"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485076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1953020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321856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1266908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98CA533-514D-4054-87BE-BD47C1733C7E}"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1987665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98CA533-514D-4054-87BE-BD47C1733C7E}"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1551182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6470382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CA533-514D-4054-87BE-BD47C1733C7E}"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EA38C-8203-4723-B28E-DBF9F6052CCD}" type="slidenum">
              <a:rPr lang="en-IN" smtClean="0"/>
              <a:t>‹#›</a:t>
            </a:fld>
            <a:endParaRPr lang="en-IN"/>
          </a:p>
        </p:txBody>
      </p:sp>
    </p:spTree>
    <p:extLst>
      <p:ext uri="{BB962C8B-B14F-4D97-AF65-F5344CB8AC3E}">
        <p14:creationId xmlns:p14="http://schemas.microsoft.com/office/powerpoint/2010/main" val="2785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298CA533-514D-4054-87BE-BD47C1733C7E}" type="datetimeFigureOut">
              <a:rPr lang="en-IN" smtClean="0"/>
              <a:t>05-03-2026</a:t>
            </a:fld>
            <a:endParaRPr lang="en-IN"/>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IN"/>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C0EA38C-8203-4723-B28E-DBF9F6052CCD}" type="slidenum">
              <a:rPr lang="en-IN" smtClean="0"/>
              <a:t>‹#›</a:t>
            </a:fld>
            <a:endParaRPr lang="en-IN"/>
          </a:p>
        </p:txBody>
      </p:sp>
    </p:spTree>
    <p:extLst>
      <p:ext uri="{BB962C8B-B14F-4D97-AF65-F5344CB8AC3E}">
        <p14:creationId xmlns:p14="http://schemas.microsoft.com/office/powerpoint/2010/main" val="165161922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02710D-BDA7-C82A-D4D8-DBE3096D3A9B}"/>
              </a:ext>
            </a:extLst>
          </p:cNvPr>
          <p:cNvSpPr>
            <a:spLocks noGrp="1"/>
          </p:cNvSpPr>
          <p:nvPr>
            <p:ph type="title"/>
          </p:nvPr>
        </p:nvSpPr>
        <p:spPr/>
        <p:txBody>
          <a:bodyPr/>
          <a:lstStyle/>
          <a:p>
            <a:r>
              <a:rPr lang="en-IN" dirty="0"/>
              <a:t>SEGMENTATION</a:t>
            </a:r>
          </a:p>
        </p:txBody>
      </p:sp>
      <p:sp>
        <p:nvSpPr>
          <p:cNvPr id="5" name="Content Placeholder 4">
            <a:extLst>
              <a:ext uri="{FF2B5EF4-FFF2-40B4-BE49-F238E27FC236}">
                <a16:creationId xmlns:a16="http://schemas.microsoft.com/office/drawing/2014/main" id="{3A800FAB-38D4-C792-3D5A-A894F33B11F4}"/>
              </a:ext>
            </a:extLst>
          </p:cNvPr>
          <p:cNvSpPr>
            <a:spLocks noGrp="1"/>
          </p:cNvSpPr>
          <p:nvPr>
            <p:ph idx="1"/>
          </p:nvPr>
        </p:nvSpPr>
        <p:spPr>
          <a:xfrm>
            <a:off x="1154954" y="2306972"/>
            <a:ext cx="8825659" cy="3712828"/>
          </a:xfrm>
        </p:spPr>
        <p:txBody>
          <a:bodyPr/>
          <a:lstStyle/>
          <a:p>
            <a:r>
              <a:rPr lang="en-US" b="0" i="0" dirty="0">
                <a:solidFill>
                  <a:srgbClr val="000000"/>
                </a:solidFill>
                <a:effectLst/>
                <a:latin typeface="Verdana" panose="020B0604030504040204" pitchFamily="34" charset="0"/>
              </a:rPr>
              <a:t>Image Segmentation is the process of dividing a digital image into smaller groups so that processing and analyzing the larger images becomes easier and simpler.</a:t>
            </a:r>
          </a:p>
          <a:p>
            <a:endParaRPr lang="en-US" dirty="0">
              <a:solidFill>
                <a:srgbClr val="000000"/>
              </a:solidFill>
              <a:latin typeface="Verdana" panose="020B0604030504040204" pitchFamily="34" charset="0"/>
            </a:endParaRPr>
          </a:p>
          <a:p>
            <a:r>
              <a:rPr lang="en-US" b="0" i="0" dirty="0">
                <a:solidFill>
                  <a:srgbClr val="000000"/>
                </a:solidFill>
                <a:effectLst/>
                <a:latin typeface="Verdana" panose="020B0604030504040204" pitchFamily="34" charset="0"/>
              </a:rPr>
              <a:t>Region and Edge-based segmentation are different types of Image Segmentation.</a:t>
            </a:r>
            <a:endParaRPr lang="en-IN" dirty="0"/>
          </a:p>
        </p:txBody>
      </p:sp>
    </p:spTree>
    <p:extLst>
      <p:ext uri="{BB962C8B-B14F-4D97-AF65-F5344CB8AC3E}">
        <p14:creationId xmlns:p14="http://schemas.microsoft.com/office/powerpoint/2010/main" val="338919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55544-1F8C-22C5-0392-6E9145A04806}"/>
              </a:ext>
            </a:extLst>
          </p:cNvPr>
          <p:cNvSpPr>
            <a:spLocks noGrp="1"/>
          </p:cNvSpPr>
          <p:nvPr>
            <p:ph type="title"/>
          </p:nvPr>
        </p:nvSpPr>
        <p:spPr/>
        <p:txBody>
          <a:bodyPr/>
          <a:lstStyle/>
          <a:p>
            <a:r>
              <a:rPr lang="en-US" dirty="0">
                <a:solidFill>
                  <a:schemeClr val="bg1"/>
                </a:solidFill>
                <a:latin typeface="Verdana" panose="020B0604030504040204" pitchFamily="34" charset="0"/>
              </a:rPr>
              <a:t>Region</a:t>
            </a:r>
            <a:r>
              <a:rPr lang="en-US" b="0" i="0" dirty="0">
                <a:solidFill>
                  <a:schemeClr val="bg1"/>
                </a:solidFill>
                <a:effectLst/>
                <a:latin typeface="Verdana" panose="020B0604030504040204" pitchFamily="34" charset="0"/>
              </a:rPr>
              <a:t>-based segmentation</a:t>
            </a:r>
            <a:endParaRPr lang="en-IN" dirty="0">
              <a:solidFill>
                <a:schemeClr val="bg1"/>
              </a:solidFill>
            </a:endParaRPr>
          </a:p>
        </p:txBody>
      </p:sp>
      <p:sp>
        <p:nvSpPr>
          <p:cNvPr id="3" name="Content Placeholder 2">
            <a:extLst>
              <a:ext uri="{FF2B5EF4-FFF2-40B4-BE49-F238E27FC236}">
                <a16:creationId xmlns:a16="http://schemas.microsoft.com/office/drawing/2014/main" id="{F2CE1AAE-6BC4-6A6F-5DB6-1EDBF633A23F}"/>
              </a:ext>
            </a:extLst>
          </p:cNvPr>
          <p:cNvSpPr>
            <a:spLocks noGrp="1"/>
          </p:cNvSpPr>
          <p:nvPr>
            <p:ph idx="1"/>
          </p:nvPr>
        </p:nvSpPr>
        <p:spPr/>
        <p:txBody>
          <a:bodyPr/>
          <a:lstStyle/>
          <a:p>
            <a:r>
              <a:rPr lang="en-US" b="0" i="0" dirty="0">
                <a:solidFill>
                  <a:srgbClr val="000000"/>
                </a:solidFill>
                <a:effectLst/>
                <a:latin typeface="Verdana" panose="020B0604030504040204" pitchFamily="34" charset="0"/>
              </a:rPr>
              <a:t>This process involves dividing the image into smaller segments that have a certain set of rules.</a:t>
            </a:r>
          </a:p>
          <a:p>
            <a:r>
              <a:rPr lang="en-US" b="0" i="0" dirty="0">
                <a:solidFill>
                  <a:srgbClr val="000000"/>
                </a:solidFill>
                <a:effectLst/>
                <a:latin typeface="Verdana" panose="020B0604030504040204" pitchFamily="34" charset="0"/>
              </a:rPr>
              <a:t>This technique employs an algorithm that divides the image into several components with common pixels.</a:t>
            </a:r>
          </a:p>
          <a:p>
            <a:r>
              <a:rPr lang="en-US" b="0" i="0" dirty="0">
                <a:solidFill>
                  <a:srgbClr val="000000"/>
                </a:solidFill>
                <a:effectLst/>
                <a:latin typeface="Verdana" panose="020B0604030504040204" pitchFamily="34" charset="0"/>
              </a:rPr>
              <a:t>Small segments can include similar pixels from neighboring pixels and subsequently grow in size. </a:t>
            </a:r>
          </a:p>
          <a:p>
            <a:r>
              <a:rPr lang="en-IN" b="0" i="0" dirty="0">
                <a:solidFill>
                  <a:srgbClr val="000000"/>
                </a:solidFill>
                <a:effectLst/>
                <a:latin typeface="Verdana" panose="020B0604030504040204" pitchFamily="34" charset="0"/>
              </a:rPr>
              <a:t>They are two types:</a:t>
            </a:r>
            <a:endParaRPr lang="en-US" dirty="0">
              <a:solidFill>
                <a:srgbClr val="000000"/>
              </a:solidFill>
              <a:latin typeface="Verdana" panose="020B0604030504040204" pitchFamily="34" charset="0"/>
            </a:endParaRPr>
          </a:p>
          <a:p>
            <a:pPr marL="0" indent="0">
              <a:buNone/>
            </a:pPr>
            <a:r>
              <a:rPr lang="en-US" dirty="0">
                <a:solidFill>
                  <a:srgbClr val="000000"/>
                </a:solidFill>
                <a:latin typeface="Verdana" panose="020B0604030504040204" pitchFamily="34" charset="0"/>
              </a:rPr>
              <a:t>                     </a:t>
            </a:r>
            <a:r>
              <a:rPr lang="en-IN" b="1" i="0" dirty="0">
                <a:solidFill>
                  <a:srgbClr val="000000"/>
                </a:solidFill>
                <a:effectLst/>
              </a:rPr>
              <a:t>Region growing</a:t>
            </a:r>
          </a:p>
          <a:p>
            <a:pPr marL="0" indent="0">
              <a:buNone/>
            </a:pPr>
            <a:r>
              <a:rPr lang="en-IN" b="1" dirty="0">
                <a:solidFill>
                  <a:srgbClr val="000000"/>
                </a:solidFill>
              </a:rPr>
              <a:t>                           </a:t>
            </a:r>
            <a:r>
              <a:rPr lang="en-IN" b="1" i="0" dirty="0">
                <a:solidFill>
                  <a:srgbClr val="000000"/>
                </a:solidFill>
                <a:effectLst/>
              </a:rPr>
              <a:t>Region splitting </a:t>
            </a:r>
            <a:r>
              <a:rPr lang="en-IN" dirty="0"/>
              <a:t> </a:t>
            </a:r>
            <a:r>
              <a:rPr lang="en-IN" b="1" dirty="0">
                <a:solidFill>
                  <a:schemeClr val="tx1"/>
                </a:solidFill>
              </a:rPr>
              <a:t>and merging</a:t>
            </a:r>
          </a:p>
        </p:txBody>
      </p:sp>
    </p:spTree>
    <p:extLst>
      <p:ext uri="{BB962C8B-B14F-4D97-AF65-F5344CB8AC3E}">
        <p14:creationId xmlns:p14="http://schemas.microsoft.com/office/powerpoint/2010/main" val="2928114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09C6F-8097-DCD9-C84F-819837C8C10C}"/>
              </a:ext>
            </a:extLst>
          </p:cNvPr>
          <p:cNvSpPr>
            <a:spLocks noGrp="1"/>
          </p:cNvSpPr>
          <p:nvPr>
            <p:ph type="title"/>
          </p:nvPr>
        </p:nvSpPr>
        <p:spPr/>
        <p:txBody>
          <a:bodyPr/>
          <a:lstStyle/>
          <a:p>
            <a:r>
              <a:rPr lang="en-IN" dirty="0"/>
              <a:t>Region Growing</a:t>
            </a:r>
          </a:p>
        </p:txBody>
      </p:sp>
      <p:sp>
        <p:nvSpPr>
          <p:cNvPr id="3" name="Content Placeholder 2">
            <a:extLst>
              <a:ext uri="{FF2B5EF4-FFF2-40B4-BE49-F238E27FC236}">
                <a16:creationId xmlns:a16="http://schemas.microsoft.com/office/drawing/2014/main" id="{84C48CCA-527C-883C-AE45-84A09312587A}"/>
              </a:ext>
            </a:extLst>
          </p:cNvPr>
          <p:cNvSpPr>
            <a:spLocks noGrp="1"/>
          </p:cNvSpPr>
          <p:nvPr>
            <p:ph idx="1"/>
          </p:nvPr>
        </p:nvSpPr>
        <p:spPr>
          <a:xfrm>
            <a:off x="1154954" y="2332139"/>
            <a:ext cx="8825659" cy="4525861"/>
          </a:xfrm>
        </p:spPr>
        <p:txBody>
          <a:bodyPr>
            <a:normAutofit lnSpcReduction="10000"/>
          </a:bodyPr>
          <a:lstStyle/>
          <a:p>
            <a:r>
              <a:rPr lang="en-US" dirty="0"/>
              <a:t>As its name implies, region growing is a procedure that groups pixels or subregions into larger regions based on predefined criteria for growth.</a:t>
            </a:r>
          </a:p>
          <a:p>
            <a:r>
              <a:rPr lang="en-US" dirty="0"/>
              <a:t> The basic approach is to start with a set of “seed” points and from these grow regions by appending to each seed those neighboring pixels that have predefined properties similar to the seed (such as specific ranges of intensity or color).</a:t>
            </a:r>
          </a:p>
          <a:p>
            <a:r>
              <a:rPr lang="en-US" dirty="0"/>
              <a:t>In Region growing method, we start with a random pixel as the seed pixel and then check the adjacent pixels.</a:t>
            </a:r>
          </a:p>
          <a:p>
            <a:r>
              <a:rPr lang="en-US" dirty="0"/>
              <a:t>If the adjacent pixels satisfy the predefined rules, then that pixel is added to the region of the seed pixel.</a:t>
            </a:r>
          </a:p>
          <a:p>
            <a:r>
              <a:rPr lang="en-US" dirty="0"/>
              <a:t>Region is grown from the seed pixel by adding in neighboring pixels that are similar, increasing the size of the region.</a:t>
            </a:r>
          </a:p>
          <a:p>
            <a:r>
              <a:rPr lang="en-US" dirty="0"/>
              <a:t>When the growth of one region stops, we simply choose another seed pixel which does not yet belong to any region and start again.</a:t>
            </a:r>
            <a:endParaRPr lang="en-IN" dirty="0"/>
          </a:p>
        </p:txBody>
      </p:sp>
    </p:spTree>
    <p:extLst>
      <p:ext uri="{BB962C8B-B14F-4D97-AF65-F5344CB8AC3E}">
        <p14:creationId xmlns:p14="http://schemas.microsoft.com/office/powerpoint/2010/main" val="262840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4494BF-7857-ED3C-D95A-E9B7DB9C46BE}"/>
              </a:ext>
            </a:extLst>
          </p:cNvPr>
          <p:cNvSpPr txBox="1"/>
          <p:nvPr/>
        </p:nvSpPr>
        <p:spPr>
          <a:xfrm>
            <a:off x="1526796" y="906012"/>
            <a:ext cx="9320169" cy="1200329"/>
          </a:xfrm>
          <a:prstGeom prst="rect">
            <a:avLst/>
          </a:prstGeom>
          <a:noFill/>
        </p:spPr>
        <p:txBody>
          <a:bodyPr wrap="square">
            <a:spAutoFit/>
          </a:bodyPr>
          <a:lstStyle/>
          <a:p>
            <a:pPr marL="285750" indent="-285750">
              <a:buFont typeface="Wingdings" panose="05000000000000000000" pitchFamily="2" charset="2"/>
              <a:buChar char="Ø"/>
            </a:pPr>
            <a:r>
              <a:rPr lang="en-IN" b="1" dirty="0"/>
              <a:t>Drawback:</a:t>
            </a:r>
          </a:p>
          <a:p>
            <a:r>
              <a:rPr lang="en-IN" dirty="0"/>
              <a:t>                   o Current region dominates the growth process</a:t>
            </a:r>
          </a:p>
          <a:p>
            <a:endParaRPr lang="en-IN" dirty="0"/>
          </a:p>
          <a:p>
            <a:r>
              <a:rPr lang="en-IN" dirty="0"/>
              <a:t>                   o Different choices of seeds may give different segmentation results.</a:t>
            </a:r>
          </a:p>
        </p:txBody>
      </p:sp>
      <p:sp>
        <p:nvSpPr>
          <p:cNvPr id="7" name="TextBox 6">
            <a:extLst>
              <a:ext uri="{FF2B5EF4-FFF2-40B4-BE49-F238E27FC236}">
                <a16:creationId xmlns:a16="http://schemas.microsoft.com/office/drawing/2014/main" id="{B893F157-29D9-2EF2-D7D4-EE1AF252F682}"/>
              </a:ext>
            </a:extLst>
          </p:cNvPr>
          <p:cNvSpPr txBox="1"/>
          <p:nvPr/>
        </p:nvSpPr>
        <p:spPr>
          <a:xfrm>
            <a:off x="1596005" y="2562648"/>
            <a:ext cx="9653632" cy="646331"/>
          </a:xfrm>
          <a:prstGeom prst="rect">
            <a:avLst/>
          </a:prstGeom>
          <a:noFill/>
        </p:spPr>
        <p:txBody>
          <a:bodyPr wrap="square">
            <a:spAutoFit/>
          </a:bodyPr>
          <a:lstStyle/>
          <a:p>
            <a:pPr marL="285750" indent="-285750">
              <a:buFont typeface="Wingdings" panose="05000000000000000000" pitchFamily="2" charset="2"/>
              <a:buChar char="Ø"/>
            </a:pPr>
            <a:r>
              <a:rPr lang="en-IN" dirty="0"/>
              <a:t>A basic region-growing algorithm based on 8-connectivity may be stated as follows</a:t>
            </a:r>
          </a:p>
        </p:txBody>
      </p:sp>
      <p:pic>
        <p:nvPicPr>
          <p:cNvPr id="9" name="Picture 8">
            <a:extLst>
              <a:ext uri="{FF2B5EF4-FFF2-40B4-BE49-F238E27FC236}">
                <a16:creationId xmlns:a16="http://schemas.microsoft.com/office/drawing/2014/main" id="{69E59375-AD13-3708-D683-A1EE04327384}"/>
              </a:ext>
            </a:extLst>
          </p:cNvPr>
          <p:cNvPicPr>
            <a:picLocks noChangeAspect="1"/>
          </p:cNvPicPr>
          <p:nvPr/>
        </p:nvPicPr>
        <p:blipFill>
          <a:blip r:embed="rId2"/>
          <a:stretch>
            <a:fillRect/>
          </a:stretch>
        </p:blipFill>
        <p:spPr>
          <a:xfrm>
            <a:off x="3628535" y="2942679"/>
            <a:ext cx="4515480" cy="3915321"/>
          </a:xfrm>
          <a:prstGeom prst="rect">
            <a:avLst/>
          </a:prstGeom>
        </p:spPr>
      </p:pic>
    </p:spTree>
    <p:extLst>
      <p:ext uri="{BB962C8B-B14F-4D97-AF65-F5344CB8AC3E}">
        <p14:creationId xmlns:p14="http://schemas.microsoft.com/office/powerpoint/2010/main" val="3826927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223E4B-DDF6-D230-7547-2CF3475602FB}"/>
              </a:ext>
            </a:extLst>
          </p:cNvPr>
          <p:cNvPicPr>
            <a:picLocks noChangeAspect="1"/>
          </p:cNvPicPr>
          <p:nvPr/>
        </p:nvPicPr>
        <p:blipFill>
          <a:blip r:embed="rId2"/>
          <a:stretch>
            <a:fillRect/>
          </a:stretch>
        </p:blipFill>
        <p:spPr>
          <a:xfrm>
            <a:off x="942256" y="866417"/>
            <a:ext cx="10307488" cy="5125165"/>
          </a:xfrm>
          <a:prstGeom prst="rect">
            <a:avLst/>
          </a:prstGeom>
        </p:spPr>
      </p:pic>
    </p:spTree>
    <p:extLst>
      <p:ext uri="{BB962C8B-B14F-4D97-AF65-F5344CB8AC3E}">
        <p14:creationId xmlns:p14="http://schemas.microsoft.com/office/powerpoint/2010/main" val="4212823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529B3D-7EB4-0C91-CDCC-D05323AAD0C7}"/>
              </a:ext>
            </a:extLst>
          </p:cNvPr>
          <p:cNvSpPr>
            <a:spLocks noGrp="1"/>
          </p:cNvSpPr>
          <p:nvPr>
            <p:ph type="title"/>
          </p:nvPr>
        </p:nvSpPr>
        <p:spPr/>
        <p:txBody>
          <a:bodyPr/>
          <a:lstStyle/>
          <a:p>
            <a:r>
              <a:rPr lang="en-IN" dirty="0"/>
              <a:t>Region splitting and merging</a:t>
            </a:r>
          </a:p>
        </p:txBody>
      </p:sp>
      <p:sp>
        <p:nvSpPr>
          <p:cNvPr id="5" name="Content Placeholder 4">
            <a:extLst>
              <a:ext uri="{FF2B5EF4-FFF2-40B4-BE49-F238E27FC236}">
                <a16:creationId xmlns:a16="http://schemas.microsoft.com/office/drawing/2014/main" id="{A95908AD-D0D6-E2DC-402C-B60D519929A1}"/>
              </a:ext>
            </a:extLst>
          </p:cNvPr>
          <p:cNvSpPr>
            <a:spLocks noGrp="1"/>
          </p:cNvSpPr>
          <p:nvPr>
            <p:ph idx="1"/>
          </p:nvPr>
        </p:nvSpPr>
        <p:spPr/>
        <p:txBody>
          <a:bodyPr/>
          <a:lstStyle/>
          <a:p>
            <a:r>
              <a:rPr lang="en-US" b="0" i="0" dirty="0">
                <a:solidFill>
                  <a:srgbClr val="000000"/>
                </a:solidFill>
                <a:effectLst/>
                <a:latin typeface="Verdana" panose="020B0604030504040204" pitchFamily="34" charset="0"/>
              </a:rPr>
              <a:t>In this method, the whole image is considered a single region.</a:t>
            </a:r>
          </a:p>
          <a:p>
            <a:pPr marL="0" indent="0">
              <a:buNone/>
            </a:pPr>
            <a:endParaRPr lang="en-US" b="0" i="0" dirty="0">
              <a:solidFill>
                <a:srgbClr val="000000"/>
              </a:solidFill>
              <a:effectLst/>
              <a:latin typeface="Verdana" panose="020B0604030504040204" pitchFamily="34" charset="0"/>
            </a:endParaRPr>
          </a:p>
          <a:p>
            <a:r>
              <a:rPr lang="en-US" b="0" i="0" dirty="0">
                <a:solidFill>
                  <a:srgbClr val="000000"/>
                </a:solidFill>
                <a:effectLst/>
                <a:latin typeface="Verdana" panose="020B0604030504040204" pitchFamily="34" charset="0"/>
              </a:rPr>
              <a:t> Now to divide the region into segments it checks for pixels included in the initial region if they follow the predefined set of criteria.</a:t>
            </a:r>
          </a:p>
          <a:p>
            <a:pPr marL="0" indent="0">
              <a:buNone/>
            </a:pPr>
            <a:endParaRPr lang="en-US" b="0" i="0" dirty="0">
              <a:solidFill>
                <a:srgbClr val="000000"/>
              </a:solidFill>
              <a:effectLst/>
              <a:latin typeface="Verdana" panose="020B0604030504040204" pitchFamily="34" charset="0"/>
            </a:endParaRPr>
          </a:p>
          <a:p>
            <a:r>
              <a:rPr lang="en-US" b="0" i="0" dirty="0">
                <a:solidFill>
                  <a:srgbClr val="000000"/>
                </a:solidFill>
                <a:effectLst/>
                <a:latin typeface="Verdana" panose="020B0604030504040204" pitchFamily="34" charset="0"/>
              </a:rPr>
              <a:t> If they follow similar rules they are taken into one segment.</a:t>
            </a:r>
            <a:endParaRPr lang="en-IN" dirty="0"/>
          </a:p>
        </p:txBody>
      </p:sp>
    </p:spTree>
    <p:extLst>
      <p:ext uri="{BB962C8B-B14F-4D97-AF65-F5344CB8AC3E}">
        <p14:creationId xmlns:p14="http://schemas.microsoft.com/office/powerpoint/2010/main" val="2334705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D7AEDB-DB4D-1CD8-1F1A-187CED4823C5}"/>
              </a:ext>
            </a:extLst>
          </p:cNvPr>
          <p:cNvSpPr txBox="1"/>
          <p:nvPr/>
        </p:nvSpPr>
        <p:spPr>
          <a:xfrm>
            <a:off x="1545671" y="1106590"/>
            <a:ext cx="8495951" cy="5355312"/>
          </a:xfrm>
          <a:prstGeom prst="rect">
            <a:avLst/>
          </a:prstGeom>
          <a:noFill/>
        </p:spPr>
        <p:txBody>
          <a:bodyPr wrap="square">
            <a:spAutoFit/>
          </a:bodyPr>
          <a:lstStyle/>
          <a:p>
            <a:pPr marL="285750" indent="-285750">
              <a:buFont typeface="Wingdings" panose="05000000000000000000" pitchFamily="2" charset="2"/>
              <a:buChar char="Ø"/>
            </a:pPr>
            <a:r>
              <a:rPr lang="en-IN" dirty="0"/>
              <a:t> Let R represents the entire image region and select Q the predicate.</a:t>
            </a:r>
          </a:p>
          <a:p>
            <a:r>
              <a:rPr lang="en-IN" dirty="0"/>
              <a:t> </a:t>
            </a:r>
          </a:p>
          <a:p>
            <a:pPr marL="285750" indent="-285750">
              <a:buFont typeface="Wingdings" panose="05000000000000000000" pitchFamily="2" charset="2"/>
              <a:buChar char="Ø"/>
            </a:pPr>
            <a:r>
              <a:rPr lang="en-IN" dirty="0"/>
              <a:t>One approach for segmentation is to subdivide it successively into smaller and smaller quadrants so that for any region Ri, Q(Ri) = TRUE.</a:t>
            </a:r>
          </a:p>
          <a:p>
            <a:endParaRPr lang="en-IN" dirty="0"/>
          </a:p>
          <a:p>
            <a:pPr marL="285750" indent="-285750">
              <a:buFont typeface="Wingdings" panose="05000000000000000000" pitchFamily="2" charset="2"/>
              <a:buChar char="Ø"/>
            </a:pPr>
            <a:r>
              <a:rPr lang="en-IN" dirty="0"/>
              <a:t> We start with the entire region. When Q(Ri) = FALSE, we divide the image segments into quadrants.</a:t>
            </a:r>
          </a:p>
          <a:p>
            <a:endParaRPr lang="en-IN" dirty="0"/>
          </a:p>
          <a:p>
            <a:pPr marL="285750" indent="-285750">
              <a:buFont typeface="Wingdings" panose="05000000000000000000" pitchFamily="2" charset="2"/>
              <a:buChar char="Ø"/>
            </a:pPr>
            <a:r>
              <a:rPr lang="en-IN" dirty="0"/>
              <a:t>If Q is false for any quadrant, we subdivide that quadrant into sub – quadrants and so on.</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US" dirty="0"/>
              <a:t>This particular splitting technique has a convenient representation in the form of so called, quad </a:t>
            </a:r>
            <a:r>
              <a:rPr lang="en-US" dirty="0" err="1"/>
              <a:t>trees,i.e</a:t>
            </a:r>
            <a:r>
              <a:rPr lang="en-US" dirty="0"/>
              <a:t>. trees with exactly four descendants.</a:t>
            </a:r>
          </a:p>
          <a:p>
            <a:pPr marL="285750" indent="-285750">
              <a:buFont typeface="Wingdings" panose="05000000000000000000" pitchFamily="2" charset="2"/>
              <a:buChar char="Ø"/>
            </a:pPr>
            <a:endParaRPr lang="en-US" dirty="0"/>
          </a:p>
          <a:p>
            <a:endParaRPr lang="en-US" dirty="0"/>
          </a:p>
          <a:p>
            <a:pPr marL="285750" indent="-285750">
              <a:buFont typeface="Wingdings" panose="05000000000000000000" pitchFamily="2" charset="2"/>
              <a:buChar char="Ø"/>
            </a:pPr>
            <a:r>
              <a:rPr lang="en-US" dirty="0"/>
              <a:t>The root of the tree corresponds to the entire image, and that each</a:t>
            </a:r>
          </a:p>
          <a:p>
            <a:r>
              <a:rPr lang="en-US" dirty="0"/>
              <a:t>node corresponds to the subdivision of a node into four descendant nodes.</a:t>
            </a:r>
          </a:p>
          <a:p>
            <a:r>
              <a:rPr lang="en-US" dirty="0"/>
              <a:t> </a:t>
            </a:r>
            <a:endParaRPr lang="en-IN" dirty="0"/>
          </a:p>
        </p:txBody>
      </p:sp>
    </p:spTree>
    <p:extLst>
      <p:ext uri="{BB962C8B-B14F-4D97-AF65-F5344CB8AC3E}">
        <p14:creationId xmlns:p14="http://schemas.microsoft.com/office/powerpoint/2010/main" val="2258309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915287-FC61-A593-EA62-A4A35E60170B}"/>
              </a:ext>
            </a:extLst>
          </p:cNvPr>
          <p:cNvSpPr txBox="1"/>
          <p:nvPr/>
        </p:nvSpPr>
        <p:spPr>
          <a:xfrm>
            <a:off x="1853966" y="813733"/>
            <a:ext cx="8321880" cy="3693319"/>
          </a:xfrm>
          <a:prstGeom prst="rect">
            <a:avLst/>
          </a:prstGeom>
          <a:noFill/>
        </p:spPr>
        <p:txBody>
          <a:bodyPr wrap="square">
            <a:spAutoFit/>
          </a:bodyPr>
          <a:lstStyle/>
          <a:p>
            <a:pPr marL="285750" indent="-285750">
              <a:buFont typeface="Wingdings" panose="05000000000000000000" pitchFamily="2" charset="2"/>
              <a:buChar char="Ø"/>
            </a:pPr>
            <a:r>
              <a:rPr lang="en-US" dirty="0"/>
              <a:t>In this case, only R4 was subdivided further.</a:t>
            </a:r>
          </a:p>
          <a:p>
            <a:endParaRPr lang="en-US" dirty="0"/>
          </a:p>
          <a:p>
            <a:pPr marL="285750" indent="-285750">
              <a:buFont typeface="Wingdings" panose="05000000000000000000" pitchFamily="2" charset="2"/>
              <a:buChar char="Ø"/>
            </a:pPr>
            <a:r>
              <a:rPr lang="en-US" dirty="0"/>
              <a:t> If only splitting is used, the final partition normally contains adjacent regions with identical properties.</a:t>
            </a:r>
          </a:p>
          <a:p>
            <a:endParaRPr lang="en-US" dirty="0"/>
          </a:p>
          <a:p>
            <a:pPr marL="285750" indent="-285750">
              <a:buFont typeface="Wingdings" panose="05000000000000000000" pitchFamily="2" charset="2"/>
              <a:buChar char="Ø"/>
            </a:pPr>
            <a:r>
              <a:rPr lang="en-US" dirty="0"/>
              <a:t>This drawback can be remedied by allowing merging as well as splitting.</a:t>
            </a:r>
          </a:p>
          <a:p>
            <a:endParaRPr lang="en-US" dirty="0"/>
          </a:p>
          <a:p>
            <a:pPr marL="285750" indent="-285750">
              <a:buFont typeface="Wingdings" panose="05000000000000000000" pitchFamily="2" charset="2"/>
              <a:buChar char="Ø"/>
            </a:pPr>
            <a:r>
              <a:rPr lang="en-US" dirty="0"/>
              <a:t> Satisfying the constraints of segmentation requires merging only adjacent regions whose combined pixels satisfy the predicate Q</a:t>
            </a:r>
          </a:p>
          <a:p>
            <a:endParaRPr lang="en-US" dirty="0"/>
          </a:p>
          <a:p>
            <a:pPr marL="285750" indent="-285750">
              <a:buFont typeface="Wingdings" panose="05000000000000000000" pitchFamily="2" charset="2"/>
              <a:buChar char="Ø"/>
            </a:pPr>
            <a:r>
              <a:rPr lang="en-US" dirty="0"/>
              <a:t>That is, two adjacent regions </a:t>
            </a:r>
            <a:r>
              <a:rPr lang="en-US" dirty="0" err="1"/>
              <a:t>Rj</a:t>
            </a:r>
            <a:r>
              <a:rPr lang="en-US" dirty="0"/>
              <a:t> and </a:t>
            </a:r>
            <a:r>
              <a:rPr lang="en-US" dirty="0" err="1"/>
              <a:t>Rk</a:t>
            </a:r>
            <a:r>
              <a:rPr lang="en-US" dirty="0"/>
              <a:t> are merged only if</a:t>
            </a:r>
          </a:p>
          <a:p>
            <a:r>
              <a:rPr lang="en-US" dirty="0"/>
              <a:t>     Q (</a:t>
            </a:r>
            <a:r>
              <a:rPr lang="en-US" dirty="0" err="1"/>
              <a:t>Rj</a:t>
            </a:r>
            <a:r>
              <a:rPr lang="en-US" dirty="0"/>
              <a:t> ∪ </a:t>
            </a:r>
            <a:r>
              <a:rPr lang="en-US" dirty="0" err="1"/>
              <a:t>Rk</a:t>
            </a:r>
            <a:r>
              <a:rPr lang="en-US" dirty="0"/>
              <a:t>)=TRUE.</a:t>
            </a:r>
          </a:p>
        </p:txBody>
      </p:sp>
    </p:spTree>
    <p:extLst>
      <p:ext uri="{BB962C8B-B14F-4D97-AF65-F5344CB8AC3E}">
        <p14:creationId xmlns:p14="http://schemas.microsoft.com/office/powerpoint/2010/main" val="123346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F2E31C-1869-B59B-49AF-939B09B017E1}"/>
              </a:ext>
            </a:extLst>
          </p:cNvPr>
          <p:cNvSpPr txBox="1"/>
          <p:nvPr/>
        </p:nvSpPr>
        <p:spPr>
          <a:xfrm>
            <a:off x="1721840" y="418856"/>
            <a:ext cx="8638563" cy="2585323"/>
          </a:xfrm>
          <a:prstGeom prst="rect">
            <a:avLst/>
          </a:prstGeom>
          <a:noFill/>
        </p:spPr>
        <p:txBody>
          <a:bodyPr wrap="square">
            <a:spAutoFit/>
          </a:bodyPr>
          <a:lstStyle/>
          <a:p>
            <a:pPr marL="285750" indent="-285750">
              <a:buFont typeface="Wingdings" panose="05000000000000000000" pitchFamily="2" charset="2"/>
              <a:buChar char="Ø"/>
            </a:pPr>
            <a:r>
              <a:rPr lang="en-IN" dirty="0"/>
              <a:t>The preceding discussion can be summarized by the following procedure in which, at any step, we</a:t>
            </a:r>
          </a:p>
          <a:p>
            <a:pPr marL="285750" indent="-285750">
              <a:buFont typeface="Wingdings" panose="05000000000000000000" pitchFamily="2" charset="2"/>
              <a:buChar char="Ø"/>
            </a:pPr>
            <a:endParaRPr lang="en-IN" dirty="0"/>
          </a:p>
          <a:p>
            <a:endParaRPr lang="en-IN" dirty="0"/>
          </a:p>
          <a:p>
            <a:pPr marL="342900" indent="-342900">
              <a:buAutoNum type="arabicPeriod"/>
            </a:pPr>
            <a:r>
              <a:rPr lang="en-IN" dirty="0"/>
              <a:t>Split into four disjoint quadrants any region Ri for which Q (Ri) = FALSE.</a:t>
            </a:r>
          </a:p>
          <a:p>
            <a:endParaRPr lang="en-IN" dirty="0"/>
          </a:p>
          <a:p>
            <a:r>
              <a:rPr lang="en-IN" dirty="0"/>
              <a:t>2. When no further splitting is possible, merge any adjacent regions </a:t>
            </a:r>
            <a:r>
              <a:rPr lang="en-IN" dirty="0" err="1"/>
              <a:t>Rj</a:t>
            </a:r>
            <a:r>
              <a:rPr lang="en-IN" dirty="0"/>
              <a:t> and </a:t>
            </a:r>
            <a:r>
              <a:rPr lang="en-IN" dirty="0" err="1"/>
              <a:t>Rk</a:t>
            </a:r>
            <a:r>
              <a:rPr lang="en-IN" dirty="0"/>
              <a:t> for which Q (</a:t>
            </a:r>
            <a:r>
              <a:rPr lang="en-IN" dirty="0" err="1"/>
              <a:t>Rj</a:t>
            </a:r>
            <a:r>
              <a:rPr lang="en-IN" dirty="0"/>
              <a:t> ∪ </a:t>
            </a:r>
            <a:r>
              <a:rPr lang="en-IN" dirty="0" err="1"/>
              <a:t>Rk</a:t>
            </a:r>
            <a:r>
              <a:rPr lang="en-IN" dirty="0"/>
              <a:t>) =</a:t>
            </a:r>
          </a:p>
          <a:p>
            <a:r>
              <a:rPr lang="en-IN" dirty="0"/>
              <a:t>TRUE.</a:t>
            </a:r>
          </a:p>
        </p:txBody>
      </p:sp>
      <p:pic>
        <p:nvPicPr>
          <p:cNvPr id="5" name="Picture 4">
            <a:extLst>
              <a:ext uri="{FF2B5EF4-FFF2-40B4-BE49-F238E27FC236}">
                <a16:creationId xmlns:a16="http://schemas.microsoft.com/office/drawing/2014/main" id="{60A2B062-BD8B-BDC1-567F-350E0D6BC797}"/>
              </a:ext>
            </a:extLst>
          </p:cNvPr>
          <p:cNvPicPr>
            <a:picLocks noChangeAspect="1"/>
          </p:cNvPicPr>
          <p:nvPr/>
        </p:nvPicPr>
        <p:blipFill>
          <a:blip r:embed="rId2"/>
          <a:stretch>
            <a:fillRect/>
          </a:stretch>
        </p:blipFill>
        <p:spPr>
          <a:xfrm>
            <a:off x="3101378" y="3063031"/>
            <a:ext cx="5606393" cy="2490352"/>
          </a:xfrm>
          <a:prstGeom prst="rect">
            <a:avLst/>
          </a:prstGeom>
        </p:spPr>
      </p:pic>
      <p:sp>
        <p:nvSpPr>
          <p:cNvPr id="6" name="TextBox 5">
            <a:extLst>
              <a:ext uri="{FF2B5EF4-FFF2-40B4-BE49-F238E27FC236}">
                <a16:creationId xmlns:a16="http://schemas.microsoft.com/office/drawing/2014/main" id="{7D30E3DE-F893-5603-212E-18C5A81A4CF1}"/>
              </a:ext>
            </a:extLst>
          </p:cNvPr>
          <p:cNvSpPr txBox="1"/>
          <p:nvPr/>
        </p:nvSpPr>
        <p:spPr>
          <a:xfrm>
            <a:off x="3204594" y="5612235"/>
            <a:ext cx="2188420" cy="369332"/>
          </a:xfrm>
          <a:prstGeom prst="rect">
            <a:avLst/>
          </a:prstGeom>
          <a:noFill/>
        </p:spPr>
        <p:txBody>
          <a:bodyPr wrap="none" rtlCol="0">
            <a:spAutoFit/>
          </a:bodyPr>
          <a:lstStyle/>
          <a:p>
            <a:r>
              <a:rPr lang="en-IN" dirty="0"/>
              <a:t>Partitioned image</a:t>
            </a:r>
          </a:p>
        </p:txBody>
      </p:sp>
      <p:sp>
        <p:nvSpPr>
          <p:cNvPr id="7" name="TextBox 6">
            <a:extLst>
              <a:ext uri="{FF2B5EF4-FFF2-40B4-BE49-F238E27FC236}">
                <a16:creationId xmlns:a16="http://schemas.microsoft.com/office/drawing/2014/main" id="{7DAF0D8C-BBC4-83DE-D76E-0A9E75BB6474}"/>
              </a:ext>
            </a:extLst>
          </p:cNvPr>
          <p:cNvSpPr txBox="1"/>
          <p:nvPr/>
        </p:nvSpPr>
        <p:spPr>
          <a:xfrm>
            <a:off x="5754849" y="5738070"/>
            <a:ext cx="3512604" cy="369332"/>
          </a:xfrm>
          <a:prstGeom prst="rect">
            <a:avLst/>
          </a:prstGeom>
          <a:noFill/>
        </p:spPr>
        <p:txBody>
          <a:bodyPr wrap="square" rtlCol="0">
            <a:spAutoFit/>
          </a:bodyPr>
          <a:lstStyle/>
          <a:p>
            <a:r>
              <a:rPr lang="en-IN" dirty="0"/>
              <a:t>Corresponding quadtree.</a:t>
            </a:r>
          </a:p>
        </p:txBody>
      </p:sp>
    </p:spTree>
    <p:extLst>
      <p:ext uri="{BB962C8B-B14F-4D97-AF65-F5344CB8AC3E}">
        <p14:creationId xmlns:p14="http://schemas.microsoft.com/office/powerpoint/2010/main" val="1061460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7AB193-FF51-85C1-F981-816169649592}"/>
              </a:ext>
            </a:extLst>
          </p:cNvPr>
          <p:cNvPicPr>
            <a:picLocks noChangeAspect="1"/>
          </p:cNvPicPr>
          <p:nvPr/>
        </p:nvPicPr>
        <p:blipFill>
          <a:blip r:embed="rId2"/>
          <a:stretch>
            <a:fillRect/>
          </a:stretch>
        </p:blipFill>
        <p:spPr>
          <a:xfrm>
            <a:off x="1842494" y="109074"/>
            <a:ext cx="8507012" cy="6639852"/>
          </a:xfrm>
          <a:prstGeom prst="rect">
            <a:avLst/>
          </a:prstGeom>
        </p:spPr>
      </p:pic>
    </p:spTree>
    <p:extLst>
      <p:ext uri="{BB962C8B-B14F-4D97-AF65-F5344CB8AC3E}">
        <p14:creationId xmlns:p14="http://schemas.microsoft.com/office/powerpoint/2010/main" val="22395318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Ion Boardroom</Template>
  <TotalTime>46</TotalTime>
  <Words>648</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Century Gothic</vt:lpstr>
      <vt:lpstr>Verdana</vt:lpstr>
      <vt:lpstr>Wingdings</vt:lpstr>
      <vt:lpstr>Wingdings 3</vt:lpstr>
      <vt:lpstr>Ion Boardroom</vt:lpstr>
      <vt:lpstr>SEGMENTATION</vt:lpstr>
      <vt:lpstr>Region-based segmentation</vt:lpstr>
      <vt:lpstr>Region Growing</vt:lpstr>
      <vt:lpstr>PowerPoint Presentation</vt:lpstr>
      <vt:lpstr>PowerPoint Presentation</vt:lpstr>
      <vt:lpstr>Region splitting and merging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FATHIMA A</dc:creator>
  <cp:lastModifiedBy>FATHIMA A</cp:lastModifiedBy>
  <cp:revision>1</cp:revision>
  <dcterms:created xsi:type="dcterms:W3CDTF">2025-03-03T04:32:12Z</dcterms:created>
  <dcterms:modified xsi:type="dcterms:W3CDTF">2026-03-05T17:41:11Z</dcterms:modified>
</cp:coreProperties>
</file>