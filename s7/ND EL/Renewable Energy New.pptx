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3"/>
    <p:sldId id="260" r:id="rId4"/>
    <p:sldId id="423" r:id="rId5"/>
    <p:sldId id="424" r:id="rId6"/>
    <p:sldId id="425" r:id="rId7"/>
    <p:sldId id="426" r:id="rId8"/>
    <p:sldId id="427" r:id="rId9"/>
    <p:sldId id="428" r:id="rId10"/>
    <p:sldId id="258" r:id="rId11"/>
    <p:sldId id="261" r:id="rId12"/>
    <p:sldId id="277" r:id="rId13"/>
    <p:sldId id="268" r:id="rId14"/>
    <p:sldId id="269" r:id="rId15"/>
    <p:sldId id="270" r:id="rId16"/>
    <p:sldId id="271" r:id="rId17"/>
    <p:sldId id="273" r:id="rId18"/>
    <p:sldId id="311" r:id="rId19"/>
    <p:sldId id="320" r:id="rId20"/>
    <p:sldId id="321" r:id="rId21"/>
    <p:sldId id="315" r:id="rId22"/>
    <p:sldId id="322" r:id="rId23"/>
    <p:sldId id="323" r:id="rId24"/>
    <p:sldId id="324" r:id="rId25"/>
    <p:sldId id="325" r:id="rId26"/>
    <p:sldId id="326" r:id="rId27"/>
    <p:sldId id="327" r:id="rId29"/>
    <p:sldId id="395" r:id="rId30"/>
    <p:sldId id="396" r:id="rId31"/>
    <p:sldId id="316" r:id="rId32"/>
    <p:sldId id="274" r:id="rId33"/>
    <p:sldId id="278" r:id="rId34"/>
    <p:sldId id="279" r:id="rId35"/>
    <p:sldId id="362" r:id="rId36"/>
    <p:sldId id="360" r:id="rId37"/>
    <p:sldId id="361" r:id="rId38"/>
    <p:sldId id="348" r:id="rId39"/>
    <p:sldId id="350" r:id="rId40"/>
    <p:sldId id="349" r:id="rId41"/>
    <p:sldId id="333" r:id="rId42"/>
    <p:sldId id="377" r:id="rId43"/>
    <p:sldId id="334" r:id="rId44"/>
    <p:sldId id="378" r:id="rId45"/>
    <p:sldId id="475" r:id="rId46"/>
    <p:sldId id="488" r:id="rId47"/>
    <p:sldId id="489" r:id="rId48"/>
    <p:sldId id="490" r:id="rId49"/>
    <p:sldId id="337" r:id="rId50"/>
    <p:sldId id="342" r:id="rId51"/>
    <p:sldId id="344" r:id="rId52"/>
    <p:sldId id="345" r:id="rId53"/>
    <p:sldId id="363" r:id="rId54"/>
    <p:sldId id="340" r:id="rId55"/>
    <p:sldId id="339" r:id="rId56"/>
    <p:sldId id="388" r:id="rId57"/>
    <p:sldId id="390" r:id="rId58"/>
    <p:sldId id="391" r:id="rId59"/>
    <p:sldId id="393" r:id="rId60"/>
    <p:sldId id="389"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ssig" initials="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4" d="100"/>
          <a:sy n="64" d="100"/>
        </p:scale>
        <p:origin x="97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5" Type="http://schemas.openxmlformats.org/officeDocument/2006/relationships/commentAuthors" Target="commentAuthors.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notesMaster" Target="notesMasters/notesMaster1.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F0BAAA3-EDB7-472A-A765-F0DBDAA42A88}"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fld>
            <a:endParaRPr lang="en-IN"/>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F0BAAA3-EDB7-472A-A765-F0DBDAA42A88}"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fld>
            <a:endParaRPr lang="en-IN"/>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F0BAAA3-EDB7-472A-A765-F0DBDAA42A88}"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fld>
            <a:endParaRPr lang="en-IN"/>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FF0BAAA3-EDB7-472A-A765-F0DBDAA42A88}"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0AFA18-B5E9-44AB-BE35-EB1C0427FFA4}" type="slidenum">
              <a:rPr lang="en-IN" smtClean="0"/>
            </a:fld>
            <a:endParaRPr lang="en-IN"/>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FF0BAAA3-EDB7-472A-A765-F0DBDAA42A88}"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50AFA18-B5E9-44AB-BE35-EB1C0427FFA4}" type="slidenum">
              <a:rPr lang="en-IN" smtClean="0"/>
            </a:fld>
            <a:endParaRPr lang="en-IN"/>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F0BAAA3-EDB7-472A-A765-F0DBDAA42A88}"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0AFA18-B5E9-44AB-BE35-EB1C0427FFA4}" type="slidenum">
              <a:rPr lang="en-IN" smtClean="0"/>
            </a:fld>
            <a:endParaRPr lang="en-IN"/>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0BAAA3-EDB7-472A-A765-F0DBDAA42A88}"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50AFA18-B5E9-44AB-BE35-EB1C0427FFA4}" type="slidenum">
              <a:rPr lang="en-IN" smtClean="0"/>
            </a:fld>
            <a:endParaRPr lang="en-IN"/>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F0BAAA3-EDB7-472A-A765-F0DBDAA42A88}"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0AFA18-B5E9-44AB-BE35-EB1C0427FFA4}" type="slidenum">
              <a:rPr lang="en-IN" smtClean="0"/>
            </a:fld>
            <a:endParaRPr lang="en-IN"/>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F0BAAA3-EDB7-472A-A765-F0DBDAA42A88}"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0AFA18-B5E9-44AB-BE35-EB1C0427FFA4}" type="slidenum">
              <a:rPr lang="en-IN" smtClean="0"/>
            </a:fld>
            <a:endParaRPr lang="en-IN"/>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F0BAAA3-EDB7-472A-A765-F0DBDAA42A88}"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fld>
            <a:endParaRPr lang="en-IN"/>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F0BAAA3-EDB7-472A-A765-F0DBDAA42A88}"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fld>
            <a:endParaRPr lang="en-IN"/>
          </a:p>
        </p:txBody>
      </p:sp>
    </p:spTree>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F0BAAA3-EDB7-472A-A765-F0DBDAA42A88}"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0BAAA3-EDB7-472A-A765-F0DBDAA42A88}"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0AFA18-B5E9-44AB-BE35-EB1C0427FFA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image" Target="../media/image12.jpeg"/><Relationship Id="rId2" Type="http://schemas.openxmlformats.org/officeDocument/2006/relationships/image" Target="file:///C:\Users\tssig\AppData\Local\Temp\wps\INetCache\0d462245193734501bebb068b2f3c065" TargetMode="External"/><Relationship Id="rId1" Type="http://schemas.openxmlformats.org/officeDocument/2006/relationships/image" Target="../media/image11.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jpeg"/></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19.wmf"/><Relationship Id="rId1"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20.wmf"/><Relationship Id="rId1"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22.wmf"/><Relationship Id="rId1" Type="http://schemas.openxmlformats.org/officeDocument/2006/relationships/oleObject" Target="../embeddings/oleObject5.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7.jpeg"/><Relationship Id="rId1" Type="http://schemas.openxmlformats.org/officeDocument/2006/relationships/image" Target="../media/image26.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3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8.png"/><Relationship Id="rId2" Type="http://schemas.openxmlformats.org/officeDocument/2006/relationships/image" Target="file:///C:\Users\tssig\AppData\Local\Temp\wps\INetCache\0d462245193734501bebb068b2f3c065" TargetMode="External"/><Relationship Id="rId1" Type="http://schemas.openxmlformats.org/officeDocument/2006/relationships/image" Target="../media/image11.jpe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l="20239" t="713" r="20573" b="8894"/>
          <a:stretch>
            <a:fillRect/>
          </a:stretch>
        </p:blipFill>
        <p:spPr>
          <a:xfrm>
            <a:off x="479686" y="246173"/>
            <a:ext cx="10912840" cy="6469420"/>
          </a:xfrm>
          <a:prstGeom prst="rect">
            <a:avLst/>
          </a:prstGeom>
        </p:spPr>
      </p:pic>
      <p:sp>
        <p:nvSpPr>
          <p:cNvPr id="2" name="Footer Placeholder 1"/>
          <p:cNvSpPr>
            <a:spLocks noGrp="1"/>
          </p:cNvSpPr>
          <p:nvPr>
            <p:ph type="ftr" sz="quarter" idx="11"/>
          </p:nvPr>
        </p:nvSpPr>
        <p:spPr/>
        <p:txBody>
          <a:bodyPr/>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1"/>
          <a:srcRect l="21808" r="19375" b="13761"/>
          <a:stretch>
            <a:fillRect/>
          </a:stretch>
        </p:blipFill>
        <p:spPr>
          <a:xfrm>
            <a:off x="494675" y="149220"/>
            <a:ext cx="11197653" cy="6491424"/>
          </a:xfrm>
          <a:prstGeom prst="rect">
            <a:avLst/>
          </a:prstGeom>
        </p:spPr>
      </p:pic>
      <p:sp>
        <p:nvSpPr>
          <p:cNvPr id="2" name="Footer Placeholder 1"/>
          <p:cNvSpPr>
            <a:spLocks noGrp="1"/>
          </p:cNvSpPr>
          <p:nvPr>
            <p:ph type="ftr" sz="quarter" idx="11"/>
          </p:nvPr>
        </p:nvSpPr>
        <p:spPr/>
        <p:txBody>
          <a:bodyPr/>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sp>
        <p:nvSpPr>
          <p:cNvPr id="5" name="Text Box 4"/>
          <p:cNvSpPr txBox="1"/>
          <p:nvPr/>
        </p:nvSpPr>
        <p:spPr>
          <a:xfrm>
            <a:off x="349250" y="293370"/>
            <a:ext cx="11408410" cy="6216015"/>
          </a:xfrm>
          <a:prstGeom prst="rect">
            <a:avLst/>
          </a:prstGeom>
          <a:noFill/>
        </p:spPr>
        <p:txBody>
          <a:bodyPr wrap="square" rtlCol="0" anchor="t">
            <a:spAutoFit/>
          </a:bodyPr>
          <a:p>
            <a:r>
              <a:rPr lang="en-US" sz="2800" b="1"/>
              <a:t>Energy Alternatives: The Imperative Need for Diversification</a:t>
            </a:r>
            <a:endParaRPr lang="en-US" sz="2800" b="1"/>
          </a:p>
          <a:p>
            <a:endParaRPr lang="en-US" b="1"/>
          </a:p>
          <a:p>
            <a:r>
              <a:rPr lang="en-US" b="1"/>
              <a:t>Energy is the lifeblood of modern society, powering everything from homes and industries to transportation and communication. </a:t>
            </a:r>
            <a:endParaRPr lang="en-US" b="1"/>
          </a:p>
          <a:p>
            <a:endParaRPr lang="en-US" b="1"/>
          </a:p>
          <a:p>
            <a:r>
              <a:rPr lang="en-US" b="1"/>
              <a:t>However, the predominant reliance on fossil fuels, primarily coal, oil, and natural gas, has led to a range of environmental, economic, and geopolitical challenges.</a:t>
            </a:r>
            <a:endParaRPr lang="en-US" b="1"/>
          </a:p>
          <a:p>
            <a:endParaRPr lang="en-US" b="1"/>
          </a:p>
          <a:p>
            <a:r>
              <a:rPr lang="en-US" b="1"/>
              <a:t> The urgent need for energy alternatives has emerged as a critical solution to address these issues and secure a sustainable future for our planet.</a:t>
            </a:r>
            <a:endParaRPr lang="en-US" b="1"/>
          </a:p>
          <a:p>
            <a:endParaRPr lang="en-US" b="1"/>
          </a:p>
          <a:p>
            <a:r>
              <a:rPr lang="en-US" sz="2800" b="1"/>
              <a:t>Environmental Concerns:</a:t>
            </a:r>
            <a:endParaRPr lang="en-US" sz="2800" b="1"/>
          </a:p>
          <a:p>
            <a:endParaRPr lang="en-US" b="1"/>
          </a:p>
          <a:p>
            <a:r>
              <a:rPr lang="en-US" b="1"/>
              <a:t>The burning of fossil fuels releases greenhouse gases such as carbon dioxide into the atmosphere, contributing to global warming and climate change.</a:t>
            </a:r>
            <a:endParaRPr lang="en-US" b="1"/>
          </a:p>
          <a:p>
            <a:endParaRPr lang="en-US" b="1"/>
          </a:p>
          <a:p>
            <a:r>
              <a:rPr lang="en-US" b="1"/>
              <a:t> This phenomenon results in rising sea levels, more frequent and severe weather events, and disruptions to ecosystems. </a:t>
            </a:r>
            <a:endParaRPr lang="en-US" b="1"/>
          </a:p>
          <a:p>
            <a:endParaRPr lang="en-US" b="1"/>
          </a:p>
          <a:p>
            <a:r>
              <a:rPr lang="en-US" b="1"/>
              <a:t>The pollution associated with fossil fuel extraction, transportation, and combustion also leads to air and water pollution, jeopardizing human health and biodiversity.</a:t>
            </a:r>
            <a:endParaRPr lang="en-US"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sp>
        <p:nvSpPr>
          <p:cNvPr id="5" name="Text Box 4"/>
          <p:cNvSpPr txBox="1"/>
          <p:nvPr/>
        </p:nvSpPr>
        <p:spPr>
          <a:xfrm>
            <a:off x="407670" y="217805"/>
            <a:ext cx="11209020" cy="5631180"/>
          </a:xfrm>
          <a:prstGeom prst="rect">
            <a:avLst/>
          </a:prstGeom>
          <a:noFill/>
        </p:spPr>
        <p:txBody>
          <a:bodyPr wrap="square" rtlCol="0" anchor="t">
            <a:spAutoFit/>
          </a:bodyPr>
          <a:p>
            <a:r>
              <a:rPr lang="en-US" sz="2800"/>
              <a:t>Finite Resources:</a:t>
            </a:r>
            <a:endParaRPr lang="en-US" sz="2800"/>
          </a:p>
          <a:p>
            <a:endParaRPr lang="en-US"/>
          </a:p>
          <a:p>
            <a:r>
              <a:rPr lang="en-US" sz="2000" b="1"/>
              <a:t>Fossil fuels are finite resources, and their depletion is inevitable.</a:t>
            </a:r>
            <a:endParaRPr lang="en-US" sz="2000" b="1"/>
          </a:p>
          <a:p>
            <a:endParaRPr lang="en-US" sz="2000" b="1"/>
          </a:p>
          <a:p>
            <a:r>
              <a:rPr lang="en-US" sz="2000" b="1"/>
              <a:t> As these resources become scarcer, their extraction becomes more expensive and environmentally damaging.</a:t>
            </a:r>
            <a:endParaRPr lang="en-US" sz="2000" b="1"/>
          </a:p>
          <a:p>
            <a:endParaRPr lang="en-US" sz="2000" b="1"/>
          </a:p>
          <a:p>
            <a:r>
              <a:rPr lang="en-US" sz="2000" b="1"/>
              <a:t> Moreover, energy scarcity can lead to geopolitical tensions, as nations compete for access to these diminishing reserves.</a:t>
            </a:r>
            <a:endParaRPr lang="en-US" sz="2000" b="1"/>
          </a:p>
          <a:p>
            <a:endParaRPr lang="en-US"/>
          </a:p>
          <a:p>
            <a:r>
              <a:rPr lang="en-US" sz="2800"/>
              <a:t>Energy Security:</a:t>
            </a:r>
            <a:endParaRPr lang="en-US" sz="2800"/>
          </a:p>
          <a:p>
            <a:endParaRPr lang="en-US" sz="2800"/>
          </a:p>
          <a:p>
            <a:pPr algn="l">
              <a:buClrTx/>
              <a:buSzTx/>
              <a:buFontTx/>
            </a:pPr>
            <a:r>
              <a:rPr lang="en-US" sz="2000" b="1"/>
              <a:t>Transitioning to energy alternatives presents economic opportunities by driving innovation, creating jobs, and fostering sustainable economic growth. </a:t>
            </a:r>
            <a:endParaRPr lang="en-US" sz="2000" b="1"/>
          </a:p>
          <a:p>
            <a:pPr algn="l">
              <a:buClrTx/>
              <a:buSzTx/>
              <a:buFontTx/>
            </a:pPr>
            <a:endParaRPr lang="en-US" sz="2000" b="1"/>
          </a:p>
          <a:p>
            <a:pPr algn="l">
              <a:buClrTx/>
              <a:buSzTx/>
              <a:buFontTx/>
            </a:pPr>
            <a:r>
              <a:rPr lang="en-US" sz="2000" b="1"/>
              <a:t>Investments in renewable energy technologies, such as solar, wind, and hydropower, can stimulate local economies and encourage research and development in emerging industries.</a:t>
            </a:r>
            <a:endParaRPr lang="en-US" sz="20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endParaRPr lang="en-IN"/>
          </a:p>
        </p:txBody>
      </p:sp>
      <p:sp>
        <p:nvSpPr>
          <p:cNvPr id="3" name="Text Box 2"/>
          <p:cNvSpPr txBox="1"/>
          <p:nvPr/>
        </p:nvSpPr>
        <p:spPr>
          <a:xfrm>
            <a:off x="253365" y="386715"/>
            <a:ext cx="11439525" cy="5107940"/>
          </a:xfrm>
          <a:prstGeom prst="rect">
            <a:avLst/>
          </a:prstGeom>
          <a:noFill/>
        </p:spPr>
        <p:txBody>
          <a:bodyPr wrap="square" rtlCol="0" anchor="t">
            <a:spAutoFit/>
          </a:bodyPr>
          <a:p>
            <a:r>
              <a:rPr lang="en-US" sz="2800" b="1"/>
              <a:t>Health Benefits:</a:t>
            </a:r>
            <a:endParaRPr lang="en-US" sz="2800" b="1"/>
          </a:p>
          <a:p>
            <a:endParaRPr lang="en-US" b="1"/>
          </a:p>
          <a:p>
            <a:endParaRPr lang="en-US" b="1"/>
          </a:p>
          <a:p>
            <a:r>
              <a:rPr lang="en-US" b="1"/>
              <a:t>Air pollution caused by burning fossil fuels has dire consequences for public health. Respiratory diseases, cardiovascular issues, and premature deaths are linked to pollutants emitted from conventional energy sources.</a:t>
            </a:r>
            <a:endParaRPr lang="en-US" b="1"/>
          </a:p>
          <a:p>
            <a:endParaRPr lang="en-US" b="1"/>
          </a:p>
          <a:p>
            <a:endParaRPr lang="en-US" b="1"/>
          </a:p>
          <a:p>
            <a:r>
              <a:rPr lang="en-US" b="1"/>
              <a:t> Energy alternatives offer cleaner options that can significantly improve air quality and human well-being.</a:t>
            </a:r>
            <a:endParaRPr lang="en-US" b="1"/>
          </a:p>
          <a:p>
            <a:endParaRPr lang="en-US" b="1"/>
          </a:p>
          <a:p>
            <a:r>
              <a:rPr lang="en-US" sz="2800" b="1"/>
              <a:t>Technological Advances:</a:t>
            </a:r>
            <a:endParaRPr lang="en-US" sz="2800" b="1"/>
          </a:p>
          <a:p>
            <a:endParaRPr lang="en-US" b="1"/>
          </a:p>
          <a:p>
            <a:r>
              <a:rPr lang="en-US" b="1"/>
              <a:t>Advancements in renewable energy technologies have made them more efficient, affordable, and accessible. </a:t>
            </a:r>
            <a:endParaRPr lang="en-US" b="1"/>
          </a:p>
          <a:p>
            <a:endParaRPr lang="en-US" b="1"/>
          </a:p>
          <a:p>
            <a:r>
              <a:rPr lang="en-US" b="1"/>
              <a:t>Solar panels and wind turbines are becoming increasingly efficient at harnessing energy from natural sources.</a:t>
            </a:r>
            <a:endParaRPr lang="en-US" b="1"/>
          </a:p>
          <a:p>
            <a:endParaRPr lang="en-US" b="1"/>
          </a:p>
          <a:p>
            <a:r>
              <a:rPr lang="en-US" b="1"/>
              <a:t> Energy storage technologies, such as batteries, are evolving rapidly, enabling a more reliable integration of intermittent renewable sources into the grid.</a:t>
            </a:r>
            <a:endParaRPr lang="en-US"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endParaRPr lang="en-IN"/>
          </a:p>
        </p:txBody>
      </p:sp>
      <p:sp>
        <p:nvSpPr>
          <p:cNvPr id="3" name="Text Box 2"/>
          <p:cNvSpPr txBox="1"/>
          <p:nvPr/>
        </p:nvSpPr>
        <p:spPr>
          <a:xfrm>
            <a:off x="130810" y="415290"/>
            <a:ext cx="11746230" cy="5662295"/>
          </a:xfrm>
          <a:prstGeom prst="rect">
            <a:avLst/>
          </a:prstGeom>
          <a:noFill/>
        </p:spPr>
        <p:txBody>
          <a:bodyPr wrap="square" rtlCol="0" anchor="t">
            <a:spAutoFit/>
          </a:bodyPr>
          <a:p>
            <a:r>
              <a:rPr lang="en-US" sz="2800" b="1"/>
              <a:t>Need for Alternatives:</a:t>
            </a:r>
            <a:endParaRPr lang="en-US" sz="2800" b="1"/>
          </a:p>
          <a:p>
            <a:endParaRPr lang="en-US" b="1"/>
          </a:p>
          <a:p>
            <a:endParaRPr lang="en-US" b="1"/>
          </a:p>
          <a:p>
            <a:r>
              <a:rPr lang="en-US" b="1"/>
              <a:t>Mitigating Climate Change: The adoption of energy alternatives, particularly renewable sources like solar, wind, and geothermal, can significantly reduce greenhouse gas emissions and mitigate the impacts of climate change.</a:t>
            </a:r>
            <a:endParaRPr lang="en-US" b="1"/>
          </a:p>
          <a:p>
            <a:endParaRPr lang="en-US" b="1"/>
          </a:p>
          <a:p>
            <a:endParaRPr lang="en-US" b="1"/>
          </a:p>
          <a:p>
            <a:r>
              <a:rPr lang="en-US" b="1"/>
              <a:t> By transitioning to low-carbon energy sources, we can contribute to a sustainable and habitable planet for future generations.</a:t>
            </a:r>
            <a:endParaRPr lang="en-US" b="1"/>
          </a:p>
          <a:p>
            <a:endParaRPr lang="en-US" b="1"/>
          </a:p>
          <a:p>
            <a:endParaRPr lang="en-US" b="1"/>
          </a:p>
          <a:p>
            <a:r>
              <a:rPr lang="en-US" sz="2800" b="1"/>
              <a:t>Resource Conservation: </a:t>
            </a:r>
            <a:endParaRPr lang="en-US" sz="2800" b="1"/>
          </a:p>
          <a:p>
            <a:endParaRPr lang="en-US" b="1"/>
          </a:p>
          <a:p>
            <a:endParaRPr lang="en-US" b="1"/>
          </a:p>
          <a:p>
            <a:r>
              <a:rPr lang="en-US" b="1"/>
              <a:t>Energy alternatives, unlike fossil fuels, are sustainable and abundant. Sunlight, wind, and geothermal heat are resources that will not run out in the foreseeable future. </a:t>
            </a:r>
            <a:endParaRPr lang="en-US" b="1"/>
          </a:p>
          <a:p>
            <a:endParaRPr lang="en-US" b="1"/>
          </a:p>
          <a:p>
            <a:endParaRPr lang="en-US" b="1"/>
          </a:p>
          <a:p>
            <a:r>
              <a:rPr lang="en-US" b="1"/>
              <a:t>This ensures a reliable and continuous supply of energy without contributing to resource depletion.</a:t>
            </a:r>
            <a:endParaRPr lang="en-US"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endParaRPr lang="en-IN"/>
          </a:p>
        </p:txBody>
      </p:sp>
      <p:sp>
        <p:nvSpPr>
          <p:cNvPr id="3" name="Text Box 2"/>
          <p:cNvSpPr txBox="1"/>
          <p:nvPr/>
        </p:nvSpPr>
        <p:spPr>
          <a:xfrm>
            <a:off x="176530" y="292735"/>
            <a:ext cx="11700510" cy="4276725"/>
          </a:xfrm>
          <a:prstGeom prst="rect">
            <a:avLst/>
          </a:prstGeom>
          <a:noFill/>
        </p:spPr>
        <p:txBody>
          <a:bodyPr wrap="square" rtlCol="0" anchor="t">
            <a:spAutoFit/>
          </a:bodyPr>
          <a:p>
            <a:r>
              <a:rPr lang="en-US" sz="2800" b="1"/>
              <a:t>Job Creation and Economic Growth: </a:t>
            </a:r>
            <a:endParaRPr lang="en-US" sz="2800" b="1"/>
          </a:p>
          <a:p>
            <a:r>
              <a:rPr lang="en-US" b="1"/>
              <a:t>nvesting in energy alternatives stimulates economic growth and job creation. </a:t>
            </a:r>
            <a:endParaRPr lang="en-US" b="1"/>
          </a:p>
          <a:p>
            <a:endParaRPr lang="en-US" b="1"/>
          </a:p>
          <a:p>
            <a:r>
              <a:rPr lang="en-US" b="1"/>
              <a:t>The renewable energy sector offers diverse employment opportunities, ranging from manufacturing and construction to research and development. </a:t>
            </a:r>
            <a:endParaRPr lang="en-US" b="1"/>
          </a:p>
          <a:p>
            <a:endParaRPr lang="en-US" b="1"/>
          </a:p>
          <a:p>
            <a:r>
              <a:rPr lang="en-US" b="1"/>
              <a:t>This fosters local economic resilience and reduces dependence on fluctuating global energy markets.</a:t>
            </a:r>
            <a:endParaRPr lang="en-US" b="1"/>
          </a:p>
          <a:p>
            <a:endParaRPr lang="en-US" b="1"/>
          </a:p>
          <a:p>
            <a:r>
              <a:rPr lang="en-US" sz="2800" b="1"/>
              <a:t>Energy Security: </a:t>
            </a:r>
            <a:endParaRPr lang="en-US" sz="2800" b="1"/>
          </a:p>
          <a:p>
            <a:endParaRPr lang="en-US" b="1"/>
          </a:p>
          <a:p>
            <a:r>
              <a:rPr lang="en-US" b="1"/>
              <a:t>Diversifying energy sources enhances energy security by reducing dependence on imported fossil fuels. </a:t>
            </a:r>
            <a:endParaRPr lang="en-US" b="1"/>
          </a:p>
          <a:p>
            <a:endParaRPr lang="en-US" b="1"/>
          </a:p>
          <a:p>
            <a:r>
              <a:rPr lang="en-US" b="1"/>
              <a:t>Locally generated renewable energy reduces vulnerabilities to supply disruptions, geopolitical conflicts, and price fluctuations in the international energy market.</a:t>
            </a:r>
            <a:endParaRPr lang="en-US"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endParaRPr lang="en-IN"/>
          </a:p>
        </p:txBody>
      </p:sp>
      <p:sp>
        <p:nvSpPr>
          <p:cNvPr id="3" name="Text Box 2"/>
          <p:cNvSpPr txBox="1"/>
          <p:nvPr/>
        </p:nvSpPr>
        <p:spPr>
          <a:xfrm>
            <a:off x="0" y="478155"/>
            <a:ext cx="12030710" cy="3969385"/>
          </a:xfrm>
          <a:prstGeom prst="rect">
            <a:avLst/>
          </a:prstGeom>
          <a:noFill/>
        </p:spPr>
        <p:txBody>
          <a:bodyPr wrap="square" rtlCol="0" anchor="t">
            <a:spAutoFit/>
          </a:bodyPr>
          <a:p>
            <a:r>
              <a:rPr lang="en-US" sz="2400" b="1"/>
              <a:t>Improved Air Quality and Public Health: </a:t>
            </a:r>
            <a:endParaRPr lang="en-US" sz="2400" b="1"/>
          </a:p>
          <a:p>
            <a:endParaRPr lang="en-US"/>
          </a:p>
          <a:p>
            <a:r>
              <a:rPr lang="en-US"/>
              <a:t>Energy alternatives produce minimal or no emissions, leading to improved air quality and reduced health risks. </a:t>
            </a:r>
            <a:endParaRPr lang="en-US"/>
          </a:p>
          <a:p>
            <a:endParaRPr lang="en-US"/>
          </a:p>
          <a:p>
            <a:r>
              <a:rPr lang="en-US"/>
              <a:t>Transitioning away from fossil fuels can alleviate respiratory diseases, cardiovascular problems, and other health issues associated with pollution.</a:t>
            </a:r>
            <a:endParaRPr lang="en-US"/>
          </a:p>
          <a:p>
            <a:endParaRPr lang="en-US" sz="2400" b="1"/>
          </a:p>
          <a:p>
            <a:r>
              <a:rPr lang="en-US" sz="2400" b="1"/>
              <a:t>Technological Innovation: </a:t>
            </a:r>
            <a:endParaRPr lang="en-US" sz="2400" b="1"/>
          </a:p>
          <a:p>
            <a:endParaRPr lang="en-US"/>
          </a:p>
          <a:p>
            <a:r>
              <a:rPr lang="en-US"/>
              <a:t>The pursuit of energy alternatives fosters innovation in various fields, including engineering, materials science, and energy storage. </a:t>
            </a:r>
            <a:endParaRPr lang="en-US"/>
          </a:p>
          <a:p>
            <a:endParaRPr lang="en-US"/>
          </a:p>
          <a:p>
            <a:r>
              <a:rPr lang="en-US"/>
              <a:t>Breakthroughs in these areas have far-reaching implications beyond energy generation, driving progress in multiple industries.</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1"/>
          <a:srcRect l="12593" t="-4" r="12778" b="9117"/>
          <a:stretch>
            <a:fillRect/>
          </a:stretch>
        </p:blipFill>
        <p:spPr>
          <a:xfrm>
            <a:off x="582295" y="295910"/>
            <a:ext cx="11410315" cy="6393815"/>
          </a:xfrm>
          <a:prstGeom prst="rect">
            <a:avLst/>
          </a:prstGeom>
        </p:spPr>
      </p:pic>
      <p:sp>
        <p:nvSpPr>
          <p:cNvPr id="2" name="Footer Placeholder 1"/>
          <p:cNvSpPr>
            <a:spLocks noGrp="1"/>
          </p:cNvSpPr>
          <p:nvPr>
            <p:ph type="ftr" sz="quarter" idx="11"/>
          </p:nvPr>
        </p:nvSpPr>
        <p:spPr/>
        <p:txBody>
          <a:bodyPr/>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1"/>
          <a:srcRect l="13278" t="-24" r="13689" b="2951"/>
          <a:stretch>
            <a:fillRect/>
          </a:stretch>
        </p:blipFill>
        <p:spPr>
          <a:xfrm>
            <a:off x="1618938" y="1"/>
            <a:ext cx="8904157" cy="6655632"/>
          </a:xfrm>
          <a:prstGeom prst="rect">
            <a:avLst/>
          </a:prstGeom>
        </p:spPr>
      </p:pic>
      <p:sp>
        <p:nvSpPr>
          <p:cNvPr id="2" name="Footer Placeholder 1"/>
          <p:cNvSpPr>
            <a:spLocks noGrp="1"/>
          </p:cNvSpPr>
          <p:nvPr>
            <p:ph type="ftr" sz="quarter" idx="11"/>
          </p:nvPr>
        </p:nvSpPr>
        <p:spPr/>
        <p:txBody>
          <a:bodyPr/>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 name="Footer Placeholder 1"/>
          <p:cNvSpPr>
            <a:spLocks noGrp="1"/>
          </p:cNvSpPr>
          <p:nvPr>
            <p:ph type="ftr" sz="quarter" idx="11"/>
          </p:nvPr>
        </p:nvSpPr>
        <p:spPr/>
        <p:txBody>
          <a:bodyPr/>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1"/>
          <a:srcRect l="12664" r="12582" b="8832"/>
          <a:stretch>
            <a:fillRect/>
          </a:stretch>
        </p:blipFill>
        <p:spPr>
          <a:xfrm>
            <a:off x="1538990" y="304387"/>
            <a:ext cx="9114020" cy="6249225"/>
          </a:xfrm>
          <a:prstGeom prst="rect">
            <a:avLst/>
          </a:prstGeom>
        </p:spPr>
      </p:pic>
      <p:sp>
        <p:nvSpPr>
          <p:cNvPr id="2" name="Footer Placeholder 1"/>
          <p:cNvSpPr>
            <a:spLocks noGrp="1"/>
          </p:cNvSpPr>
          <p:nvPr>
            <p:ph type="ftr" sz="quarter" idx="11"/>
          </p:nvPr>
        </p:nvSpPr>
        <p:spPr/>
        <p:txBody>
          <a:bodyPr/>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1"/>
          <a:srcRect l="12909" t="2381" r="13442"/>
          <a:stretch>
            <a:fillRect/>
          </a:stretch>
        </p:blipFill>
        <p:spPr>
          <a:xfrm>
            <a:off x="1573967" y="164892"/>
            <a:ext cx="8979108" cy="6691434"/>
          </a:xfrm>
          <a:prstGeom prst="rect">
            <a:avLst/>
          </a:prstGeom>
        </p:spPr>
      </p:pic>
      <p:sp>
        <p:nvSpPr>
          <p:cNvPr id="2" name="Footer Placeholder 1"/>
          <p:cNvSpPr>
            <a:spLocks noGrp="1"/>
          </p:cNvSpPr>
          <p:nvPr>
            <p:ph type="ftr" sz="quarter" idx="11"/>
          </p:nvPr>
        </p:nvSpPr>
        <p:spPr/>
        <p:txBody>
          <a:bodyPr/>
          <a:p>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1"/>
          <a:srcRect l="12910" r="12828"/>
          <a:stretch>
            <a:fillRect/>
          </a:stretch>
        </p:blipFill>
        <p:spPr>
          <a:xfrm>
            <a:off x="1573966" y="1673"/>
            <a:ext cx="9054059" cy="6854653"/>
          </a:xfrm>
          <a:prstGeom prst="rect">
            <a:avLst/>
          </a:prstGeom>
        </p:spPr>
      </p:pic>
      <p:sp>
        <p:nvSpPr>
          <p:cNvPr id="2" name="Footer Placeholder 1"/>
          <p:cNvSpPr>
            <a:spLocks noGrp="1"/>
          </p:cNvSpPr>
          <p:nvPr>
            <p:ph type="ftr" sz="quarter" idx="11"/>
          </p:nvPr>
        </p:nvSpPr>
        <p:spPr/>
        <p:txBody>
          <a:bodyPr/>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1"/>
          <a:srcRect l="13033" r="12828"/>
          <a:stretch>
            <a:fillRect/>
          </a:stretch>
        </p:blipFill>
        <p:spPr>
          <a:xfrm>
            <a:off x="1588956" y="1673"/>
            <a:ext cx="9039069" cy="6854653"/>
          </a:xfrm>
          <a:prstGeom prst="rect">
            <a:avLst/>
          </a:prstGeom>
        </p:spPr>
      </p:pic>
      <p:sp>
        <p:nvSpPr>
          <p:cNvPr id="2" name="Footer Placeholder 1"/>
          <p:cNvSpPr>
            <a:spLocks noGrp="1"/>
          </p:cNvSpPr>
          <p:nvPr>
            <p:ph type="ftr" sz="quarter" idx="11"/>
          </p:nvPr>
        </p:nvSpPr>
        <p:spPr/>
        <p:txBody>
          <a:bodyPr/>
          <a:p>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rcRect l="9907" r="9751" b="234"/>
          <a:stretch>
            <a:fillRect/>
          </a:stretch>
        </p:blipFill>
        <p:spPr>
          <a:xfrm>
            <a:off x="112395" y="-36195"/>
            <a:ext cx="12078970" cy="6772275"/>
          </a:xfrm>
          <a:prstGeom prst="rect">
            <a:avLst/>
          </a:prstGeom>
        </p:spPr>
      </p:pic>
      <p:sp>
        <p:nvSpPr>
          <p:cNvPr id="3" name="Footer Placeholder 2"/>
          <p:cNvSpPr>
            <a:spLocks noGrp="1"/>
          </p:cNvSpPr>
          <p:nvPr>
            <p:ph type="ftr" sz="quarter" idx="11"/>
          </p:nvPr>
        </p:nvSpPr>
        <p:spPr/>
        <p:txBody>
          <a:bodyPr/>
          <a:p>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77800" y="1582420"/>
            <a:ext cx="12000230" cy="3107690"/>
          </a:xfrm>
          <a:prstGeom prst="rect">
            <a:avLst/>
          </a:prstGeom>
          <a:noFill/>
        </p:spPr>
        <p:txBody>
          <a:bodyPr wrap="square" rtlCol="0" anchor="t">
            <a:spAutoFit/>
          </a:bodyPr>
          <a:p>
            <a:r>
              <a:rPr lang="en-IN" altLang="en-US" sz="2800" b="1">
                <a:latin typeface="Times New Roman" panose="02020603050405020304" charset="0"/>
                <a:cs typeface="Times New Roman" panose="02020603050405020304" charset="0"/>
              </a:rPr>
              <a:t>E</a:t>
            </a:r>
            <a:r>
              <a:rPr lang="en-US" sz="2800" b="1">
                <a:latin typeface="Times New Roman" panose="02020603050405020304" charset="0"/>
                <a:cs typeface="Times New Roman" panose="02020603050405020304" charset="0"/>
              </a:rPr>
              <a:t>nergy efficiency</a:t>
            </a:r>
            <a:r>
              <a:rPr lang="en-IN" altLang="en-US" sz="2800" b="1">
                <a:latin typeface="Times New Roman" panose="02020603050405020304" charset="0"/>
                <a:cs typeface="Times New Roman" panose="02020603050405020304" charset="0"/>
              </a:rPr>
              <a:t> </a:t>
            </a:r>
            <a:r>
              <a:rPr lang="en-US" sz="2800" b="1">
                <a:latin typeface="Times New Roman" panose="02020603050405020304" charset="0"/>
                <a:cs typeface="Times New Roman" panose="02020603050405020304" charset="0"/>
              </a:rPr>
              <a:t> is the process of reducing the amount of energy required to provide products and services. For example, insulating a building allows it to use less heating and cooling energy to achieve and maintain a thermal comfort. </a:t>
            </a:r>
            <a:endParaRPr lang="en-US" sz="2800" b="1">
              <a:latin typeface="Times New Roman" panose="02020603050405020304" charset="0"/>
              <a:cs typeface="Times New Roman" panose="02020603050405020304" charset="0"/>
            </a:endParaRPr>
          </a:p>
          <a:p>
            <a:endParaRPr lang="en-US" sz="2800" b="1">
              <a:latin typeface="Times New Roman" panose="02020603050405020304" charset="0"/>
              <a:cs typeface="Times New Roman" panose="02020603050405020304" charset="0"/>
            </a:endParaRPr>
          </a:p>
          <a:p>
            <a:r>
              <a:rPr lang="en-IN" altLang="en-US" sz="2800" b="1">
                <a:latin typeface="Times New Roman" panose="02020603050405020304" charset="0"/>
                <a:cs typeface="Times New Roman" panose="02020603050405020304" charset="0"/>
              </a:rPr>
              <a:t>E</a:t>
            </a:r>
            <a:r>
              <a:rPr lang="en-US" sz="2800" b="1">
                <a:latin typeface="Times New Roman" panose="02020603050405020304" charset="0"/>
                <a:cs typeface="Times New Roman" panose="02020603050405020304" charset="0"/>
              </a:rPr>
              <a:t>nergy-efficient LED light bulbs are able to produce the same amount of light as incandescent light bulbs by using 75 to 80 percent less electricity.</a:t>
            </a:r>
            <a:endParaRPr lang="en-US" sz="2800" b="1">
              <a:latin typeface="Times New Roman" panose="02020603050405020304" charset="0"/>
              <a:cs typeface="Times New Roman" panose="02020603050405020304" charset="0"/>
            </a:endParaRPr>
          </a:p>
        </p:txBody>
      </p:sp>
      <p:sp>
        <p:nvSpPr>
          <p:cNvPr id="3" name="Text Box 2"/>
          <p:cNvSpPr txBox="1"/>
          <p:nvPr/>
        </p:nvSpPr>
        <p:spPr>
          <a:xfrm>
            <a:off x="463550" y="483870"/>
            <a:ext cx="4805045" cy="521970"/>
          </a:xfrm>
          <a:prstGeom prst="rect">
            <a:avLst/>
          </a:prstGeom>
          <a:noFill/>
        </p:spPr>
        <p:txBody>
          <a:bodyPr wrap="square" rtlCol="0" anchor="t">
            <a:spAutoFit/>
          </a:bodyPr>
          <a:p>
            <a:r>
              <a:rPr lang="en-IN" altLang="en-US" sz="2800" b="1">
                <a:latin typeface="Times New Roman" panose="02020603050405020304" charset="0"/>
                <a:cs typeface="Times New Roman" panose="02020603050405020304" charset="0"/>
                <a:sym typeface="+mn-ea"/>
              </a:rPr>
              <a:t>E</a:t>
            </a:r>
            <a:r>
              <a:rPr lang="en-US" sz="2800" b="1">
                <a:latin typeface="Times New Roman" panose="02020603050405020304" charset="0"/>
                <a:cs typeface="Times New Roman" panose="02020603050405020304" charset="0"/>
                <a:sym typeface="+mn-ea"/>
              </a:rPr>
              <a:t>nergy efficiency</a:t>
            </a:r>
            <a:endParaRPr lang="en-US" sz="2800"/>
          </a:p>
        </p:txBody>
      </p:sp>
      <p:sp>
        <p:nvSpPr>
          <p:cNvPr id="4" name="Footer Placeholder 3"/>
          <p:cNvSpPr>
            <a:spLocks noGrp="1"/>
          </p:cNvSpPr>
          <p:nvPr>
            <p:ph type="ftr" sz="quarter" idx="11"/>
          </p:nvPr>
        </p:nvSpPr>
        <p:spPr/>
        <p:txBody>
          <a:bodyPr/>
          <a:p>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6870" y="534670"/>
            <a:ext cx="10821035" cy="1568450"/>
          </a:xfrm>
          <a:prstGeom prst="rect">
            <a:avLst/>
          </a:prstGeom>
          <a:noFill/>
        </p:spPr>
        <p:txBody>
          <a:bodyPr wrap="square" rtlCol="0" anchor="t">
            <a:spAutoFit/>
          </a:bodyPr>
          <a:p>
            <a:r>
              <a:rPr lang="en-US" sz="4000" b="1">
                <a:solidFill>
                  <a:srgbClr val="FF0000"/>
                </a:solidFill>
                <a:latin typeface="Times New Roman" panose="02020603050405020304" charset="0"/>
                <a:cs typeface="Times New Roman" panose="02020603050405020304" charset="0"/>
              </a:rPr>
              <a:t>Solar declination</a:t>
            </a:r>
            <a:r>
              <a:rPr lang="en-US" sz="2800" b="1">
                <a:latin typeface="Times New Roman" panose="02020603050405020304" charset="0"/>
                <a:cs typeface="Times New Roman" panose="02020603050405020304" charset="0"/>
              </a:rPr>
              <a:t> </a:t>
            </a:r>
            <a:r>
              <a:rPr lang="en-IN" altLang="en-US" sz="2800" b="1">
                <a:latin typeface="Times New Roman" panose="02020603050405020304" charset="0"/>
                <a:cs typeface="Times New Roman" panose="02020603050405020304" charset="0"/>
              </a:rPr>
              <a:t>is</a:t>
            </a:r>
            <a:r>
              <a:rPr lang="en-US" sz="2800" b="1">
                <a:latin typeface="Times New Roman" panose="02020603050405020304" charset="0"/>
                <a:cs typeface="Times New Roman" panose="02020603050405020304" charset="0"/>
              </a:rPr>
              <a:t> defined as the angle between the line joining the centers of the Sun and the Earth and its projection on the equatorial plane.</a:t>
            </a:r>
            <a:endParaRPr lang="en-US" sz="2800" b="1">
              <a:latin typeface="Times New Roman" panose="02020603050405020304" charset="0"/>
              <a:cs typeface="Times New Roman" panose="02020603050405020304" charset="0"/>
            </a:endParaRPr>
          </a:p>
        </p:txBody>
      </p:sp>
      <p:pic>
        <p:nvPicPr>
          <p:cNvPr id="100" name="Picture 99"/>
          <p:cNvPicPr/>
          <p:nvPr/>
        </p:nvPicPr>
        <p:blipFill>
          <a:blip r:embed="rId1" r:link="rId2"/>
          <a:stretch>
            <a:fillRect/>
          </a:stretch>
        </p:blipFill>
        <p:spPr>
          <a:xfrm>
            <a:off x="6096000" y="4070350"/>
            <a:ext cx="2644140" cy="1726565"/>
          </a:xfrm>
          <a:prstGeom prst="rect">
            <a:avLst/>
          </a:prstGeom>
          <a:noFill/>
          <a:ln w="9525">
            <a:noFill/>
          </a:ln>
        </p:spPr>
      </p:pic>
      <p:pic>
        <p:nvPicPr>
          <p:cNvPr id="102" name="Picture 101"/>
          <p:cNvPicPr/>
          <p:nvPr/>
        </p:nvPicPr>
        <p:blipFill>
          <a:blip r:embed="rId3"/>
          <a:srcRect t="31871" r="24713" b="7150"/>
          <a:stretch>
            <a:fillRect/>
          </a:stretch>
        </p:blipFill>
        <p:spPr>
          <a:xfrm>
            <a:off x="60960" y="2611120"/>
            <a:ext cx="6461760" cy="3926205"/>
          </a:xfrm>
          <a:prstGeom prst="rect">
            <a:avLst/>
          </a:prstGeom>
          <a:noFill/>
          <a:ln w="9525">
            <a:noFill/>
          </a:ln>
        </p:spPr>
      </p:pic>
      <p:sp>
        <p:nvSpPr>
          <p:cNvPr id="3" name="Footer Placeholder 2"/>
          <p:cNvSpPr>
            <a:spLocks noGrp="1"/>
          </p:cNvSpPr>
          <p:nvPr>
            <p:ph type="ftr" sz="quarter" idx="11"/>
          </p:nvPr>
        </p:nvSpPr>
        <p:spPr/>
        <p:txBody>
          <a:bodyPr/>
          <a:p>
            <a:endParaRPr lang="en-IN"/>
          </a:p>
        </p:txBody>
      </p:sp>
      <p:pic>
        <p:nvPicPr>
          <p:cNvPr id="5" name="Picture 4"/>
          <p:cNvPicPr>
            <a:picLocks noChangeAspect="1"/>
          </p:cNvPicPr>
          <p:nvPr/>
        </p:nvPicPr>
        <p:blipFill>
          <a:blip r:embed="rId4"/>
          <a:srcRect l="4485" t="24384" r="40093" b="15773"/>
          <a:stretch>
            <a:fillRect/>
          </a:stretch>
        </p:blipFill>
        <p:spPr>
          <a:xfrm>
            <a:off x="6659245" y="2208530"/>
            <a:ext cx="5131435" cy="3398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rcRect l="15674" t="26415" r="16544" b="15253"/>
          <a:stretch>
            <a:fillRect/>
          </a:stretch>
        </p:blipFill>
        <p:spPr>
          <a:xfrm>
            <a:off x="883920" y="749935"/>
            <a:ext cx="10423525" cy="5043805"/>
          </a:xfrm>
          <a:prstGeom prst="rect">
            <a:avLst/>
          </a:prstGeom>
        </p:spPr>
      </p:pic>
      <p:sp>
        <p:nvSpPr>
          <p:cNvPr id="3" name="Footer Placeholder 2"/>
          <p:cNvSpPr>
            <a:spLocks noGrp="1"/>
          </p:cNvSpPr>
          <p:nvPr>
            <p:ph type="ftr" sz="quarter" idx="11"/>
          </p:nvPr>
        </p:nvSpPr>
        <p:spPr/>
        <p:txBody>
          <a:bodyPr/>
          <a:p>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rcRect l="-93" t="16571" r="-29" b="21840"/>
          <a:stretch>
            <a:fillRect/>
          </a:stretch>
        </p:blipFill>
        <p:spPr>
          <a:xfrm>
            <a:off x="203835" y="1304290"/>
            <a:ext cx="11498580" cy="4505325"/>
          </a:xfrm>
          <a:prstGeom prst="rect">
            <a:avLst/>
          </a:prstGeom>
        </p:spPr>
      </p:pic>
      <p:pic>
        <p:nvPicPr>
          <p:cNvPr id="3" name="Picture 2"/>
          <p:cNvPicPr>
            <a:picLocks noChangeAspect="1"/>
          </p:cNvPicPr>
          <p:nvPr/>
        </p:nvPicPr>
        <p:blipFill>
          <a:blip r:embed="rId2"/>
          <a:srcRect l="112" t="30295" r="70381" b="61450"/>
          <a:stretch>
            <a:fillRect/>
          </a:stretch>
        </p:blipFill>
        <p:spPr>
          <a:xfrm>
            <a:off x="203835" y="146685"/>
            <a:ext cx="3839210" cy="603885"/>
          </a:xfrm>
          <a:prstGeom prst="rect">
            <a:avLst/>
          </a:prstGeom>
        </p:spPr>
      </p:pic>
      <p:sp>
        <p:nvSpPr>
          <p:cNvPr id="4" name="Footer Placeholder 3"/>
          <p:cNvSpPr>
            <a:spLocks noGrp="1"/>
          </p:cNvSpPr>
          <p:nvPr>
            <p:ph type="ftr" sz="quarter" idx="11"/>
          </p:nvPr>
        </p:nvSpPr>
        <p:spPr/>
        <p:txBody>
          <a:bodyPr/>
          <a:p>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4" name="Picture 103"/>
          <p:cNvPicPr/>
          <p:nvPr/>
        </p:nvPicPr>
        <p:blipFill>
          <a:blip r:embed="rId1"/>
          <a:stretch>
            <a:fillRect/>
          </a:stretch>
        </p:blipFill>
        <p:spPr>
          <a:xfrm>
            <a:off x="2648585" y="1104265"/>
            <a:ext cx="5904230" cy="5247640"/>
          </a:xfrm>
          <a:prstGeom prst="rect">
            <a:avLst/>
          </a:prstGeom>
          <a:noFill/>
          <a:ln w="9525">
            <a:noFill/>
          </a:ln>
        </p:spPr>
      </p:pic>
      <p:sp>
        <p:nvSpPr>
          <p:cNvPr id="2" name="Footer Placeholder 1"/>
          <p:cNvSpPr>
            <a:spLocks noGrp="1"/>
          </p:cNvSpPr>
          <p:nvPr>
            <p:ph type="ftr" sz="quarter" idx="11"/>
          </p:nvPr>
        </p:nvSpPr>
        <p:spPr/>
        <p:txBody>
          <a:bodyPr/>
          <a:p>
            <a:endParaRPr lang="en-IN"/>
          </a:p>
        </p:txBody>
      </p:sp>
      <p:sp>
        <p:nvSpPr>
          <p:cNvPr id="3" name="Text Box 2"/>
          <p:cNvSpPr txBox="1"/>
          <p:nvPr/>
        </p:nvSpPr>
        <p:spPr>
          <a:xfrm>
            <a:off x="8439150" y="1615440"/>
            <a:ext cx="3406775" cy="1076325"/>
          </a:xfrm>
          <a:prstGeom prst="rect">
            <a:avLst/>
          </a:prstGeom>
          <a:noFill/>
        </p:spPr>
        <p:txBody>
          <a:bodyPr wrap="none" rtlCol="0">
            <a:spAutoFit/>
          </a:bodyPr>
          <a:p>
            <a:r>
              <a:rPr lang="en-IN" altLang="en-US" sz="3200" b="1">
                <a:solidFill>
                  <a:schemeClr val="tx1"/>
                </a:solidFill>
                <a:effectLst>
                  <a:outerShdw blurRad="38100" dist="19050" dir="2700000" algn="tl" rotWithShape="0">
                    <a:schemeClr val="dk1">
                      <a:alpha val="40000"/>
                    </a:schemeClr>
                  </a:outerShdw>
                </a:effectLst>
              </a:rPr>
              <a:t>+ in the north pole </a:t>
            </a:r>
            <a:endParaRPr lang="en-IN" altLang="en-US" sz="3200" b="1">
              <a:solidFill>
                <a:schemeClr val="tx1"/>
              </a:solidFill>
              <a:effectLst>
                <a:outerShdw blurRad="38100" dist="19050" dir="2700000" algn="tl" rotWithShape="0">
                  <a:schemeClr val="dk1">
                    <a:alpha val="40000"/>
                  </a:schemeClr>
                </a:outerShdw>
              </a:effectLst>
            </a:endParaRPr>
          </a:p>
          <a:p>
            <a:r>
              <a:rPr lang="en-IN" altLang="en-US" sz="3200" b="1">
                <a:solidFill>
                  <a:schemeClr val="tx1"/>
                </a:solidFill>
                <a:effectLst>
                  <a:outerShdw blurRad="38100" dist="19050" dir="2700000" algn="tl" rotWithShape="0">
                    <a:schemeClr val="dk1">
                      <a:alpha val="40000"/>
                    </a:schemeClr>
                  </a:outerShdw>
                </a:effectLst>
              </a:rPr>
              <a:t>- in the south pole</a:t>
            </a:r>
            <a:endParaRPr lang="en-IN" altLang="en-US" sz="3200" b="1">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endParaRPr lang="en-IN"/>
          </a:p>
        </p:txBody>
      </p:sp>
      <p:graphicFrame>
        <p:nvGraphicFramePr>
          <p:cNvPr id="4" name="Object 3"/>
          <p:cNvGraphicFramePr/>
          <p:nvPr/>
        </p:nvGraphicFramePr>
        <p:xfrm>
          <a:off x="200025" y="435610"/>
          <a:ext cx="11791950" cy="5986780"/>
        </p:xfrm>
        <a:graphic>
          <a:graphicData uri="http://schemas.openxmlformats.org/presentationml/2006/ole">
            <mc:AlternateContent xmlns:mc="http://schemas.openxmlformats.org/markup-compatibility/2006">
              <mc:Choice xmlns:v="urn:schemas-microsoft-com:vml" Requires="v">
                <p:oleObj spid="_x0000_s5" name="" r:id="rId1" imgW="11782425" imgH="5981700" progId="Paint.Picture">
                  <p:embed/>
                </p:oleObj>
              </mc:Choice>
              <mc:Fallback>
                <p:oleObj name="" r:id="rId1" imgW="11782425" imgH="5981700" progId="Paint.Picture">
                  <p:embed/>
                  <p:pic>
                    <p:nvPicPr>
                      <p:cNvPr id="0" name="Picture 4"/>
                      <p:cNvPicPr/>
                      <p:nvPr/>
                    </p:nvPicPr>
                    <p:blipFill>
                      <a:blip r:embed="rId2"/>
                      <a:stretch>
                        <a:fillRect/>
                      </a:stretch>
                    </p:blipFill>
                    <p:spPr>
                      <a:xfrm>
                        <a:off x="200025" y="435610"/>
                        <a:ext cx="11791950" cy="5986780"/>
                      </a:xfrm>
                      <a:prstGeom prst="rect">
                        <a:avLst/>
                      </a:prstGeom>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endParaRPr lang="en-IN"/>
          </a:p>
        </p:txBody>
      </p:sp>
      <p:graphicFrame>
        <p:nvGraphicFramePr>
          <p:cNvPr id="5" name="Object 4"/>
          <p:cNvGraphicFramePr/>
          <p:nvPr/>
        </p:nvGraphicFramePr>
        <p:xfrm>
          <a:off x="109855" y="180975"/>
          <a:ext cx="11861800" cy="6416675"/>
        </p:xfrm>
        <a:graphic>
          <a:graphicData uri="http://schemas.openxmlformats.org/presentationml/2006/ole">
            <mc:AlternateContent xmlns:mc="http://schemas.openxmlformats.org/markup-compatibility/2006">
              <mc:Choice xmlns:v="urn:schemas-microsoft-com:vml" Requires="v">
                <p:oleObj spid="_x0000_s6" name="" r:id="rId1" imgW="10581640" imgH="7315200" progId="Paint.Picture">
                  <p:embed/>
                </p:oleObj>
              </mc:Choice>
              <mc:Fallback>
                <p:oleObj name="" r:id="rId1" imgW="10581640" imgH="7315200" progId="Paint.Picture">
                  <p:embed/>
                  <p:pic>
                    <p:nvPicPr>
                      <p:cNvPr id="0" name="Picture 5"/>
                      <p:cNvPicPr/>
                      <p:nvPr/>
                    </p:nvPicPr>
                    <p:blipFill>
                      <a:blip r:embed="rId2"/>
                      <a:stretch>
                        <a:fillRect/>
                      </a:stretch>
                    </p:blipFill>
                    <p:spPr>
                      <a:xfrm>
                        <a:off x="109855" y="180975"/>
                        <a:ext cx="11861800" cy="6416675"/>
                      </a:xfrm>
                      <a:prstGeom prst="rect">
                        <a:avLst/>
                      </a:prstGeom>
                    </p:spPr>
                  </p:pic>
                </p:oleObj>
              </mc:Fallback>
            </mc:AlternateContent>
          </a:graphicData>
        </a:graphic>
      </p:graphicFrame>
      <p:sp>
        <p:nvSpPr>
          <p:cNvPr id="7" name="Text Box 6"/>
          <p:cNvSpPr txBox="1"/>
          <p:nvPr/>
        </p:nvSpPr>
        <p:spPr>
          <a:xfrm>
            <a:off x="109855" y="4261485"/>
            <a:ext cx="5674995" cy="829945"/>
          </a:xfrm>
          <a:prstGeom prst="rect">
            <a:avLst/>
          </a:prstGeom>
          <a:noFill/>
        </p:spPr>
        <p:txBody>
          <a:bodyPr wrap="none" rtlCol="0">
            <a:spAutoFit/>
          </a:bodyPr>
          <a:p>
            <a:r>
              <a:rPr lang="en-IN" altLang="en-US" sz="2400" b="1"/>
              <a:t>Zenith angle is +90 degrees  during sun rise </a:t>
            </a:r>
            <a:endParaRPr lang="en-IN" altLang="en-US" sz="2400" b="1"/>
          </a:p>
          <a:p>
            <a:r>
              <a:rPr lang="en-IN" altLang="en-US" sz="2400" b="1"/>
              <a:t>-90 degrees during sun set</a:t>
            </a:r>
            <a:endParaRPr lang="en-IN" altLang="en-US" sz="2400"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endParaRPr lang="en-IN"/>
          </a:p>
        </p:txBody>
      </p:sp>
      <p:graphicFrame>
        <p:nvGraphicFramePr>
          <p:cNvPr id="4" name="Object 3"/>
          <p:cNvGraphicFramePr/>
          <p:nvPr/>
        </p:nvGraphicFramePr>
        <p:xfrm>
          <a:off x="395605" y="144780"/>
          <a:ext cx="11328400" cy="6621145"/>
        </p:xfrm>
        <a:graphic>
          <a:graphicData uri="http://schemas.openxmlformats.org/presentationml/2006/ole">
            <mc:AlternateContent xmlns:mc="http://schemas.openxmlformats.org/markup-compatibility/2006">
              <mc:Choice xmlns:v="urn:schemas-microsoft-com:vml" Requires="v">
                <p:oleObj spid="_x0000_s5" name="" r:id="rId1" imgW="10629265" imgH="7267575" progId="Paint.Picture">
                  <p:embed/>
                </p:oleObj>
              </mc:Choice>
              <mc:Fallback>
                <p:oleObj name="" r:id="rId1" imgW="10629265" imgH="7267575" progId="Paint.Picture">
                  <p:embed/>
                  <p:pic>
                    <p:nvPicPr>
                      <p:cNvPr id="0" name="Picture 4"/>
                      <p:cNvPicPr/>
                      <p:nvPr/>
                    </p:nvPicPr>
                    <p:blipFill>
                      <a:blip r:embed="rId2"/>
                      <a:stretch>
                        <a:fillRect/>
                      </a:stretch>
                    </p:blipFill>
                    <p:spPr>
                      <a:xfrm>
                        <a:off x="395605" y="144780"/>
                        <a:ext cx="11328400" cy="6621145"/>
                      </a:xfrm>
                      <a:prstGeom prst="rect">
                        <a:avLst/>
                      </a:prstGeom>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endParaRPr lang="en-IN"/>
          </a:p>
        </p:txBody>
      </p:sp>
      <p:graphicFrame>
        <p:nvGraphicFramePr>
          <p:cNvPr id="5" name="Object 4"/>
          <p:cNvGraphicFramePr/>
          <p:nvPr/>
        </p:nvGraphicFramePr>
        <p:xfrm>
          <a:off x="142875" y="106680"/>
          <a:ext cx="11906250" cy="6644005"/>
        </p:xfrm>
        <a:graphic>
          <a:graphicData uri="http://schemas.openxmlformats.org/presentationml/2006/ole">
            <mc:AlternateContent xmlns:mc="http://schemas.openxmlformats.org/markup-compatibility/2006">
              <mc:Choice xmlns:v="urn:schemas-microsoft-com:vml" Requires="v">
                <p:oleObj spid="_x0000_s6" name="" r:id="rId1" imgW="11696700" imgH="6638925" progId="Paint.Picture">
                  <p:embed/>
                </p:oleObj>
              </mc:Choice>
              <mc:Fallback>
                <p:oleObj name="" r:id="rId1" imgW="11696700" imgH="6638925" progId="Paint.Picture">
                  <p:embed/>
                  <p:pic>
                    <p:nvPicPr>
                      <p:cNvPr id="0" name="Picture 5"/>
                      <p:cNvPicPr/>
                      <p:nvPr/>
                    </p:nvPicPr>
                    <p:blipFill>
                      <a:blip r:embed="rId2"/>
                      <a:stretch>
                        <a:fillRect/>
                      </a:stretch>
                    </p:blipFill>
                    <p:spPr>
                      <a:xfrm>
                        <a:off x="142875" y="106680"/>
                        <a:ext cx="11906250" cy="6644005"/>
                      </a:xfrm>
                      <a:prstGeom prst="rect">
                        <a:avLst/>
                      </a:prstGeom>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endParaRPr lang="en-IN"/>
          </a:p>
        </p:txBody>
      </p:sp>
      <p:graphicFrame>
        <p:nvGraphicFramePr>
          <p:cNvPr id="3" name="Object 2"/>
          <p:cNvGraphicFramePr/>
          <p:nvPr/>
        </p:nvGraphicFramePr>
        <p:xfrm>
          <a:off x="53340" y="42545"/>
          <a:ext cx="12106910" cy="6642100"/>
        </p:xfrm>
        <a:graphic>
          <a:graphicData uri="http://schemas.openxmlformats.org/presentationml/2006/ole">
            <mc:AlternateContent xmlns:mc="http://schemas.openxmlformats.org/markup-compatibility/2006">
              <mc:Choice xmlns:v="urn:schemas-microsoft-com:vml" Requires="v">
                <p:oleObj spid="_x0000_s4" name="" r:id="rId1" imgW="10876915" imgH="6810375" progId="Paint.Picture">
                  <p:embed/>
                </p:oleObj>
              </mc:Choice>
              <mc:Fallback>
                <p:oleObj name="" r:id="rId1" imgW="10876915" imgH="6810375" progId="Paint.Picture">
                  <p:embed/>
                  <p:pic>
                    <p:nvPicPr>
                      <p:cNvPr id="0" name="Picture 3"/>
                      <p:cNvPicPr/>
                      <p:nvPr/>
                    </p:nvPicPr>
                    <p:blipFill>
                      <a:blip r:embed="rId2"/>
                      <a:stretch>
                        <a:fillRect/>
                      </a:stretch>
                    </p:blipFill>
                    <p:spPr>
                      <a:xfrm>
                        <a:off x="53340" y="42545"/>
                        <a:ext cx="12106910" cy="6642100"/>
                      </a:xfrm>
                      <a:prstGeom prst="rect">
                        <a:avLst/>
                      </a:prstGeom>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sp>
        <p:nvSpPr>
          <p:cNvPr id="5" name="Text Box 4"/>
          <p:cNvSpPr txBox="1"/>
          <p:nvPr/>
        </p:nvSpPr>
        <p:spPr>
          <a:xfrm>
            <a:off x="294005" y="0"/>
            <a:ext cx="11603990" cy="7539355"/>
          </a:xfrm>
          <a:prstGeom prst="rect">
            <a:avLst/>
          </a:prstGeom>
          <a:noFill/>
        </p:spPr>
        <p:txBody>
          <a:bodyPr wrap="square" rtlCol="0" anchor="t">
            <a:spAutoFit/>
          </a:bodyPr>
          <a:p>
            <a:r>
              <a:rPr lang="en-US" sz="2800" b="1"/>
              <a:t>Solar Elevation Angle (Altitude):</a:t>
            </a:r>
            <a:r>
              <a:rPr lang="en-US" sz="2800"/>
              <a:t> This angle measures the height of the Sun above the horizon as observed from a specific location on Earth. It ranges from 0° (on the horizon) to 90° (directly overhead). Higher values indicate the Sun is higher in the sky, leading to more direct sunlight and potentially higher temperatures.</a:t>
            </a:r>
            <a:endParaRPr lang="en-US" sz="2800"/>
          </a:p>
          <a:p>
            <a:endParaRPr lang="en-US" sz="2800"/>
          </a:p>
          <a:p>
            <a:r>
              <a:rPr lang="en-US" sz="2800" b="1"/>
              <a:t>Solar Azimuth Angle:</a:t>
            </a:r>
            <a:r>
              <a:rPr lang="en-US" sz="2800"/>
              <a:t> This angle defines the direction of the Sun relative to the observer's location. It is measured clockwise from true north. A solar azimuth angle of 0° indicates the Sun is due north, 90° means it's due east, 180° is due south, and 270° is due west.</a:t>
            </a:r>
            <a:endParaRPr lang="en-US" sz="2800"/>
          </a:p>
          <a:p>
            <a:endParaRPr lang="en-US" sz="2800"/>
          </a:p>
          <a:p>
            <a:r>
              <a:rPr lang="en-US" sz="2800" b="1"/>
              <a:t>S</a:t>
            </a:r>
            <a:r>
              <a:rPr lang="en-US" sz="2800" b="1">
                <a:sym typeface="+mn-ea"/>
              </a:rPr>
              <a:t>olar Declination Angle:</a:t>
            </a:r>
            <a:r>
              <a:rPr lang="en-US" sz="2800">
                <a:sym typeface="+mn-ea"/>
              </a:rPr>
              <a:t> This angle measures the latitude at which the Sun's rays are perpendicular to the Earth's surface. It changes throughout the year as the Earth orbits the Sun, causing the seasons. The solar declination angle is 0° during the equinoxes, positive during the northern hemisphere's summer, and negative during its winter.</a:t>
            </a:r>
            <a:endParaRPr lang="en-US" sz="2800"/>
          </a:p>
          <a:p>
            <a:endParaRPr lang="en-US"/>
          </a:p>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endParaRPr lang="en-IN"/>
          </a:p>
        </p:txBody>
      </p:sp>
      <p:sp>
        <p:nvSpPr>
          <p:cNvPr id="3" name="Text Box 2"/>
          <p:cNvSpPr txBox="1"/>
          <p:nvPr/>
        </p:nvSpPr>
        <p:spPr>
          <a:xfrm>
            <a:off x="384810" y="0"/>
            <a:ext cx="11423015" cy="7232015"/>
          </a:xfrm>
          <a:prstGeom prst="rect">
            <a:avLst/>
          </a:prstGeom>
          <a:noFill/>
        </p:spPr>
        <p:txBody>
          <a:bodyPr wrap="square" rtlCol="0" anchor="t">
            <a:spAutoFit/>
          </a:bodyPr>
          <a:p>
            <a:endParaRPr lang="en-US"/>
          </a:p>
          <a:p>
            <a:r>
              <a:rPr lang="en-US" sz="2800" b="1">
                <a:sym typeface="+mn-ea"/>
              </a:rPr>
              <a:t>Hour Angle: </a:t>
            </a:r>
            <a:r>
              <a:rPr lang="en-US" sz="2800">
                <a:sym typeface="+mn-ea"/>
              </a:rPr>
              <a:t>This angle measures the time since solar noon, which is the time when the Sun is at its highest point in the sky. It is often expressed in degrees, with 15° per hour of time.</a:t>
            </a:r>
            <a:endParaRPr lang="en-US" sz="2800">
              <a:sym typeface="+mn-ea"/>
            </a:endParaRPr>
          </a:p>
          <a:p>
            <a:endParaRPr lang="en-US" sz="2800"/>
          </a:p>
          <a:p>
            <a:endParaRPr lang="en-US" sz="2800"/>
          </a:p>
          <a:p>
            <a:r>
              <a:rPr lang="en-US" sz="2800" b="1">
                <a:sym typeface="+mn-ea"/>
              </a:rPr>
              <a:t>Inclination of Earth's Axis:</a:t>
            </a:r>
            <a:r>
              <a:rPr lang="en-US" sz="2800">
                <a:sym typeface="+mn-ea"/>
              </a:rPr>
              <a:t> Earth's axis is tilted relative to its orbital plane around the Sun. This tilt is responsible for the changing seasons as different parts of the Earth receive varying amounts of sunlight throughout the year. The axial tilt is approximately 23.5°.</a:t>
            </a:r>
            <a:endParaRPr lang="en-US" sz="2800">
              <a:sym typeface="+mn-ea"/>
            </a:endParaRPr>
          </a:p>
          <a:p>
            <a:endParaRPr lang="en-US" sz="2800"/>
          </a:p>
          <a:p>
            <a:endParaRPr lang="en-US" sz="2800" b="1"/>
          </a:p>
          <a:p>
            <a:r>
              <a:rPr lang="en-US" sz="2800" b="1">
                <a:sym typeface="+mn-ea"/>
              </a:rPr>
              <a:t>Angle of Incidence:</a:t>
            </a:r>
            <a:r>
              <a:rPr lang="en-US" sz="2800">
                <a:sym typeface="+mn-ea"/>
              </a:rPr>
              <a:t> This angle refers to the angle at which sunlight strikes a surface. The more direct the sunlight, the smaller the angle of incidence, resulting in more concentrated energy per unit area.</a:t>
            </a:r>
            <a:endParaRPr lang="en-US" sz="2800"/>
          </a:p>
          <a:p>
            <a:endParaRPr lang="en-US"/>
          </a:p>
          <a:p>
            <a:endParaRPr lang="en-US"/>
          </a:p>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258570" y="1859915"/>
            <a:ext cx="9993630" cy="2553335"/>
          </a:xfrm>
          <a:prstGeom prst="rect">
            <a:avLst/>
          </a:prstGeom>
          <a:noFill/>
        </p:spPr>
        <p:txBody>
          <a:bodyPr wrap="square" rtlCol="0" anchor="t">
            <a:spAutoFit/>
          </a:bodyPr>
          <a:p>
            <a:pPr marL="457200" indent="-457200">
              <a:buFont typeface="Wingdings" panose="05000000000000000000" charset="0"/>
              <a:buChar char="v"/>
            </a:pPr>
            <a:r>
              <a:rPr lang="en-US" sz="3200">
                <a:latin typeface="Times New Roman" panose="02020603050405020304" charset="0"/>
                <a:cs typeface="Times New Roman" panose="02020603050405020304" charset="0"/>
              </a:rPr>
              <a:t>Solar Photovoltaic Technology. </a:t>
            </a:r>
            <a:endParaRPr lang="en-US" sz="3200">
              <a:latin typeface="Times New Roman" panose="02020603050405020304" charset="0"/>
              <a:cs typeface="Times New Roman" panose="02020603050405020304" charset="0"/>
            </a:endParaRPr>
          </a:p>
          <a:p>
            <a:pPr marL="457200" indent="-457200">
              <a:buFont typeface="Wingdings" panose="05000000000000000000" charset="0"/>
              <a:buChar char="v"/>
            </a:pPr>
            <a:r>
              <a:rPr lang="en-US" sz="3200">
                <a:latin typeface="Times New Roman" panose="02020603050405020304" charset="0"/>
                <a:cs typeface="Times New Roman" panose="02020603050405020304" charset="0"/>
              </a:rPr>
              <a:t>Passive Solar Technology.</a:t>
            </a:r>
            <a:endParaRPr lang="en-US" sz="3200">
              <a:latin typeface="Times New Roman" panose="02020603050405020304" charset="0"/>
              <a:cs typeface="Times New Roman" panose="02020603050405020304" charset="0"/>
            </a:endParaRPr>
          </a:p>
          <a:p>
            <a:pPr marL="457200" indent="-457200">
              <a:buFont typeface="Wingdings" panose="05000000000000000000" charset="0"/>
              <a:buChar char="v"/>
            </a:pPr>
            <a:r>
              <a:rPr lang="en-US" sz="3200">
                <a:latin typeface="Times New Roman" panose="02020603050405020304" charset="0"/>
                <a:cs typeface="Times New Roman" panose="02020603050405020304" charset="0"/>
              </a:rPr>
              <a:t>Solar Water Heating. </a:t>
            </a:r>
            <a:endParaRPr lang="en-US" sz="3200">
              <a:latin typeface="Times New Roman" panose="02020603050405020304" charset="0"/>
              <a:cs typeface="Times New Roman" panose="02020603050405020304" charset="0"/>
            </a:endParaRPr>
          </a:p>
          <a:p>
            <a:pPr marL="457200" indent="-457200">
              <a:buFont typeface="Wingdings" panose="05000000000000000000" charset="0"/>
              <a:buChar char="v"/>
            </a:pPr>
            <a:r>
              <a:rPr lang="en-US" sz="3200">
                <a:latin typeface="Times New Roman" panose="02020603050405020304" charset="0"/>
                <a:cs typeface="Times New Roman" panose="02020603050405020304" charset="0"/>
              </a:rPr>
              <a:t>Solar Process Heat. </a:t>
            </a:r>
            <a:endParaRPr lang="en-US" sz="3200">
              <a:latin typeface="Times New Roman" panose="02020603050405020304" charset="0"/>
              <a:cs typeface="Times New Roman" panose="02020603050405020304" charset="0"/>
            </a:endParaRPr>
          </a:p>
          <a:p>
            <a:pPr marL="457200" indent="-457200">
              <a:buFont typeface="Wingdings" panose="05000000000000000000" charset="0"/>
              <a:buChar char="v"/>
            </a:pPr>
            <a:r>
              <a:rPr lang="en-US" sz="3200">
                <a:latin typeface="Times New Roman" panose="02020603050405020304" charset="0"/>
                <a:cs typeface="Times New Roman" panose="02020603050405020304" charset="0"/>
              </a:rPr>
              <a:t>Concentrating Solar Power.</a:t>
            </a:r>
            <a:endParaRPr lang="en-US" sz="3200">
              <a:latin typeface="Times New Roman" panose="02020603050405020304" charset="0"/>
              <a:cs typeface="Times New Roman" panose="02020603050405020304" charset="0"/>
            </a:endParaRPr>
          </a:p>
        </p:txBody>
      </p:sp>
      <p:sp>
        <p:nvSpPr>
          <p:cNvPr id="2" name="Footer Placeholder 1"/>
          <p:cNvSpPr>
            <a:spLocks noGrp="1"/>
          </p:cNvSpPr>
          <p:nvPr>
            <p:ph type="ftr" sz="quarter" idx="11"/>
          </p:nvPr>
        </p:nvSpPr>
        <p:spPr/>
        <p:txBody>
          <a:bodyPr/>
          <a:p>
            <a:endParaRPr lang="en-I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2" name="Picture 1"/>
          <p:cNvPicPr>
            <a:picLocks noChangeAspect="1"/>
          </p:cNvPicPr>
          <p:nvPr/>
        </p:nvPicPr>
        <p:blipFill>
          <a:blip r:embed="rId1"/>
          <a:srcRect l="9546" r="9165" b="1892"/>
          <a:stretch>
            <a:fillRect/>
          </a:stretch>
        </p:blipFill>
        <p:spPr>
          <a:xfrm>
            <a:off x="0" y="0"/>
            <a:ext cx="12191365" cy="6948170"/>
          </a:xfrm>
          <a:prstGeom prst="rect">
            <a:avLst/>
          </a:prstGeom>
        </p:spPr>
      </p:pic>
      <p:sp>
        <p:nvSpPr>
          <p:cNvPr id="3" name="Footer Placeholder 2"/>
          <p:cNvSpPr>
            <a:spLocks noGrp="1"/>
          </p:cNvSpPr>
          <p:nvPr>
            <p:ph type="ftr" sz="quarter" idx="11"/>
          </p:nvPr>
        </p:nvSpPr>
        <p:spPr/>
        <p:txBody>
          <a:bodyPr/>
          <a:p>
            <a:endParaRPr lang="en-I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rcRect l="9321" r="9509"/>
          <a:stretch>
            <a:fillRect/>
          </a:stretch>
        </p:blipFill>
        <p:spPr>
          <a:xfrm>
            <a:off x="123825" y="93980"/>
            <a:ext cx="12068810" cy="6604000"/>
          </a:xfrm>
          <a:prstGeom prst="rect">
            <a:avLst/>
          </a:prstGeom>
        </p:spPr>
      </p:pic>
      <p:sp>
        <p:nvSpPr>
          <p:cNvPr id="2" name="Footer Placeholder 1"/>
          <p:cNvSpPr>
            <a:spLocks noGrp="1"/>
          </p:cNvSpPr>
          <p:nvPr>
            <p:ph type="ftr" sz="quarter" idx="11"/>
          </p:nvPr>
        </p:nvSpPr>
        <p:spPr/>
        <p:txBody>
          <a:bodyPr/>
          <a:p>
            <a:endParaRPr lang="en-I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2" name="Footer Placeholder 1"/>
          <p:cNvSpPr>
            <a:spLocks noGrp="1"/>
          </p:cNvSpPr>
          <p:nvPr>
            <p:ph type="ftr" sz="quarter" idx="11"/>
          </p:nvPr>
        </p:nvSpPr>
        <p:spPr/>
        <p:txBody>
          <a:bodyPr/>
          <a:p>
            <a:endParaRPr lang="en-I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sp>
        <p:nvSpPr>
          <p:cNvPr id="5" name="Text Box 4"/>
          <p:cNvSpPr txBox="1"/>
          <p:nvPr/>
        </p:nvSpPr>
        <p:spPr>
          <a:xfrm>
            <a:off x="706120" y="349250"/>
            <a:ext cx="10779760" cy="2491740"/>
          </a:xfrm>
          <a:prstGeom prst="rect">
            <a:avLst/>
          </a:prstGeom>
          <a:noFill/>
        </p:spPr>
        <p:txBody>
          <a:bodyPr wrap="square" rtlCol="0" anchor="t">
            <a:spAutoFit/>
          </a:bodyPr>
          <a:p>
            <a:r>
              <a:rPr lang="en-US" sz="2800">
                <a:latin typeface="Times New Roman" panose="02020603050405020304" charset="0"/>
                <a:cs typeface="Times New Roman" panose="02020603050405020304" charset="0"/>
              </a:rPr>
              <a:t>What is a Windmill?</a:t>
            </a:r>
            <a:endParaRPr lang="en-US" sz="2800">
              <a:latin typeface="Times New Roman" panose="02020603050405020304" charset="0"/>
              <a:cs typeface="Times New Roman" panose="02020603050405020304" charset="0"/>
            </a:endParaRPr>
          </a:p>
          <a:p>
            <a:pPr algn="l">
              <a:buClrTx/>
              <a:buSzTx/>
              <a:buFontTx/>
            </a:pPr>
            <a:r>
              <a:rPr lang="en-US" sz="2000">
                <a:latin typeface="Times New Roman" panose="02020603050405020304" charset="0"/>
                <a:cs typeface="Times New Roman" panose="02020603050405020304" charset="0"/>
              </a:rPr>
              <a:t>Windmills effective man-made means of power generation that harness the power of wind and use it for a number of functions such as pumping water, saw-milling timber, grinding grain, and so on. Windmills have been around for as long as humans existed on earth</a:t>
            </a:r>
            <a:endParaRPr lang="en-US" sz="2000">
              <a:latin typeface="Times New Roman" panose="02020603050405020304" charset="0"/>
              <a:cs typeface="Times New Roman" panose="02020603050405020304" charset="0"/>
            </a:endParaRPr>
          </a:p>
          <a:p>
            <a:r>
              <a:rPr lang="en-US" sz="2800">
                <a:latin typeface="Times New Roman" panose="02020603050405020304" charset="0"/>
                <a:cs typeface="Times New Roman" panose="02020603050405020304" charset="0"/>
              </a:rPr>
              <a:t>What is a Wind Turbine?</a:t>
            </a:r>
            <a:endParaRPr lang="en-US" sz="2800">
              <a:latin typeface="Times New Roman" panose="02020603050405020304" charset="0"/>
              <a:cs typeface="Times New Roman" panose="02020603050405020304" charset="0"/>
            </a:endParaRPr>
          </a:p>
          <a:p>
            <a:r>
              <a:rPr lang="en-US" sz="2000">
                <a:latin typeface="Times New Roman" panose="02020603050405020304" charset="0"/>
                <a:cs typeface="Times New Roman" panose="02020603050405020304" charset="0"/>
              </a:rPr>
              <a:t>Wind turbine is a mechanical device that uses the kinetic energy of the wind to generate electricity mostly for commercial applications. </a:t>
            </a:r>
            <a:endParaRPr lang="en-US" sz="2000">
              <a:latin typeface="Times New Roman" panose="02020603050405020304" charset="0"/>
              <a:cs typeface="Times New Roman" panose="02020603050405020304" charset="0"/>
            </a:endParaRPr>
          </a:p>
        </p:txBody>
      </p:sp>
      <p:pic>
        <p:nvPicPr>
          <p:cNvPr id="100" name="Picture 99"/>
          <p:cNvPicPr/>
          <p:nvPr/>
        </p:nvPicPr>
        <p:blipFill>
          <a:blip r:embed="rId1"/>
          <a:stretch>
            <a:fillRect/>
          </a:stretch>
        </p:blipFill>
        <p:spPr>
          <a:xfrm>
            <a:off x="6259830" y="3120390"/>
            <a:ext cx="5720715" cy="3587115"/>
          </a:xfrm>
          <a:prstGeom prst="rect">
            <a:avLst/>
          </a:prstGeom>
          <a:noFill/>
          <a:ln w="9525">
            <a:noFill/>
          </a:ln>
        </p:spPr>
      </p:pic>
      <p:pic>
        <p:nvPicPr>
          <p:cNvPr id="101" name="Picture 100"/>
          <p:cNvPicPr/>
          <p:nvPr/>
        </p:nvPicPr>
        <p:blipFill>
          <a:blip r:embed="rId2"/>
          <a:stretch>
            <a:fillRect/>
          </a:stretch>
        </p:blipFill>
        <p:spPr>
          <a:xfrm>
            <a:off x="250190" y="3120390"/>
            <a:ext cx="5691505" cy="3587115"/>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sp>
        <p:nvSpPr>
          <p:cNvPr id="5" name="Text Box 4"/>
          <p:cNvSpPr txBox="1"/>
          <p:nvPr/>
        </p:nvSpPr>
        <p:spPr>
          <a:xfrm>
            <a:off x="1943735" y="2275205"/>
            <a:ext cx="5422265" cy="1198880"/>
          </a:xfrm>
          <a:prstGeom prst="rect">
            <a:avLst/>
          </a:prstGeom>
          <a:noFill/>
        </p:spPr>
        <p:txBody>
          <a:bodyPr wrap="square" rtlCol="0" anchor="t">
            <a:spAutoFit/>
          </a:bodyPr>
          <a:p>
            <a:r>
              <a:rPr lang="en-US"/>
              <a:t>Tidal energy is a renewable energy powered by the natural rise and fall of ocean tides and currents. </a:t>
            </a:r>
            <a:endParaRPr lang="en-US"/>
          </a:p>
          <a:p>
            <a:r>
              <a:rPr lang="en-US"/>
              <a:t>Some of these technologies include turbines and paddles.</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pic>
        <p:nvPicPr>
          <p:cNvPr id="5" name="Picture 4"/>
          <p:cNvPicPr>
            <a:picLocks noChangeAspect="1"/>
          </p:cNvPicPr>
          <p:nvPr/>
        </p:nvPicPr>
        <p:blipFill>
          <a:blip r:embed="rId1"/>
          <a:srcRect l="17755" t="30382" r="48102" b="25087"/>
          <a:stretch>
            <a:fillRect/>
          </a:stretch>
        </p:blipFill>
        <p:spPr>
          <a:xfrm>
            <a:off x="1783715" y="313055"/>
            <a:ext cx="8241665" cy="604329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pic>
        <p:nvPicPr>
          <p:cNvPr id="5" name="Picture 4"/>
          <p:cNvPicPr>
            <a:picLocks noChangeAspect="1"/>
          </p:cNvPicPr>
          <p:nvPr/>
        </p:nvPicPr>
        <p:blipFill>
          <a:blip r:embed="rId1"/>
          <a:srcRect l="15886" t="17439" r="17662" b="6372"/>
          <a:stretch>
            <a:fillRect/>
          </a:stretch>
        </p:blipFill>
        <p:spPr>
          <a:xfrm>
            <a:off x="1229360" y="840740"/>
            <a:ext cx="9204960" cy="5933440"/>
          </a:xfrm>
          <a:prstGeom prst="rect">
            <a:avLst/>
          </a:prstGeom>
        </p:spPr>
      </p:pic>
      <p:sp>
        <p:nvSpPr>
          <p:cNvPr id="6" name="Text Box 5"/>
          <p:cNvSpPr txBox="1"/>
          <p:nvPr/>
        </p:nvSpPr>
        <p:spPr>
          <a:xfrm>
            <a:off x="1727200" y="0"/>
            <a:ext cx="5566410" cy="583565"/>
          </a:xfrm>
          <a:prstGeom prst="rect">
            <a:avLst/>
          </a:prstGeom>
          <a:noFill/>
        </p:spPr>
        <p:txBody>
          <a:bodyPr wrap="none" rtlCol="0">
            <a:spAutoFit/>
          </a:bodyPr>
          <a:p>
            <a:r>
              <a:rPr lang="en-IN" altLang="en-US" sz="3200" b="1">
                <a:latin typeface="Times New Roman" panose="02020603050405020304" charset="0"/>
                <a:cs typeface="Times New Roman" panose="02020603050405020304" charset="0"/>
              </a:rPr>
              <a:t>Binary type geothermal system</a:t>
            </a:r>
            <a:endParaRPr lang="en-IN" altLang="en-US" sz="3200" b="1">
              <a:latin typeface="Times New Roman" panose="02020603050405020304" charset="0"/>
              <a:cs typeface="Times New Roman" panose="020206030504050203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sp>
        <p:nvSpPr>
          <p:cNvPr id="5" name="Text Box 4"/>
          <p:cNvSpPr txBox="1"/>
          <p:nvPr/>
        </p:nvSpPr>
        <p:spPr>
          <a:xfrm>
            <a:off x="2117725" y="1569085"/>
            <a:ext cx="4287520" cy="2676525"/>
          </a:xfrm>
          <a:prstGeom prst="rect">
            <a:avLst/>
          </a:prstGeom>
          <a:noFill/>
        </p:spPr>
        <p:txBody>
          <a:bodyPr wrap="square" rtlCol="0" anchor="t">
            <a:spAutoFit/>
          </a:bodyPr>
          <a:p>
            <a:r>
              <a:rPr lang="en-US" sz="2400">
                <a:latin typeface="Times New Roman" panose="02020603050405020304" charset="0"/>
                <a:cs typeface="Times New Roman" panose="02020603050405020304" charset="0"/>
              </a:rPr>
              <a:t>Production Well</a:t>
            </a:r>
            <a:endParaRPr lang="en-US" sz="2400">
              <a:latin typeface="Times New Roman" panose="02020603050405020304" charset="0"/>
              <a:cs typeface="Times New Roman" panose="02020603050405020304" charset="0"/>
            </a:endParaRPr>
          </a:p>
          <a:p>
            <a:r>
              <a:rPr lang="en-US" sz="2400">
                <a:latin typeface="Times New Roman" panose="02020603050405020304" charset="0"/>
                <a:cs typeface="Times New Roman" panose="02020603050405020304" charset="0"/>
              </a:rPr>
              <a:t>Injection Well</a:t>
            </a:r>
            <a:endParaRPr lang="en-US" sz="2400">
              <a:latin typeface="Times New Roman" panose="02020603050405020304" charset="0"/>
              <a:cs typeface="Times New Roman" panose="02020603050405020304" charset="0"/>
            </a:endParaRPr>
          </a:p>
          <a:p>
            <a:r>
              <a:rPr lang="en-US" sz="2400">
                <a:latin typeface="Times New Roman" panose="02020603050405020304" charset="0"/>
                <a:cs typeface="Times New Roman" panose="02020603050405020304" charset="0"/>
              </a:rPr>
              <a:t>Heat Exchanger</a:t>
            </a:r>
            <a:endParaRPr lang="en-US" sz="2400">
              <a:latin typeface="Times New Roman" panose="02020603050405020304" charset="0"/>
              <a:cs typeface="Times New Roman" panose="02020603050405020304" charset="0"/>
            </a:endParaRPr>
          </a:p>
          <a:p>
            <a:r>
              <a:rPr lang="en-US" sz="2400">
                <a:latin typeface="Times New Roman" panose="02020603050405020304" charset="0"/>
                <a:cs typeface="Times New Roman" panose="02020603050405020304" charset="0"/>
              </a:rPr>
              <a:t>Organic Rankine Cycle (ORC) Turbine</a:t>
            </a:r>
            <a:endParaRPr lang="en-US" sz="2400">
              <a:latin typeface="Times New Roman" panose="02020603050405020304" charset="0"/>
              <a:cs typeface="Times New Roman" panose="02020603050405020304" charset="0"/>
            </a:endParaRPr>
          </a:p>
          <a:p>
            <a:r>
              <a:rPr lang="en-US" sz="2400">
                <a:latin typeface="Times New Roman" panose="02020603050405020304" charset="0"/>
                <a:cs typeface="Times New Roman" panose="02020603050405020304" charset="0"/>
              </a:rPr>
              <a:t>AC Generator</a:t>
            </a:r>
            <a:endParaRPr lang="en-US" sz="2400">
              <a:latin typeface="Times New Roman" panose="02020603050405020304" charset="0"/>
              <a:cs typeface="Times New Roman" panose="02020603050405020304" charset="0"/>
            </a:endParaRPr>
          </a:p>
          <a:p>
            <a:r>
              <a:rPr lang="en-US" sz="2400">
                <a:latin typeface="Times New Roman" panose="02020603050405020304" charset="0"/>
                <a:cs typeface="Times New Roman" panose="02020603050405020304" charset="0"/>
              </a:rPr>
              <a:t>Cooling Tower</a:t>
            </a:r>
            <a:endParaRPr lang="en-US" sz="2400">
              <a:latin typeface="Times New Roman" panose="02020603050405020304" charset="0"/>
              <a:cs typeface="Times New Roman" panose="02020603050405020304" charset="0"/>
            </a:endParaRPr>
          </a:p>
        </p:txBody>
      </p:sp>
      <p:sp>
        <p:nvSpPr>
          <p:cNvPr id="6" name="Text Box 5"/>
          <p:cNvSpPr txBox="1"/>
          <p:nvPr/>
        </p:nvSpPr>
        <p:spPr>
          <a:xfrm>
            <a:off x="2117725" y="640080"/>
            <a:ext cx="1826260" cy="460375"/>
          </a:xfrm>
          <a:prstGeom prst="rect">
            <a:avLst/>
          </a:prstGeom>
          <a:noFill/>
        </p:spPr>
        <p:txBody>
          <a:bodyPr wrap="none" rtlCol="0">
            <a:spAutoFit/>
          </a:bodyPr>
          <a:p>
            <a:r>
              <a:rPr lang="en-IN" altLang="en-US" sz="2400" b="1">
                <a:latin typeface="Times New Roman" panose="02020603050405020304" charset="0"/>
                <a:cs typeface="Times New Roman" panose="02020603050405020304" charset="0"/>
              </a:rPr>
              <a:t>Components</a:t>
            </a:r>
            <a:endParaRPr lang="en-IN" altLang="en-US" sz="2400" b="1">
              <a:latin typeface="Times New Roman" panose="02020603050405020304" charset="0"/>
              <a:cs typeface="Times New Roman" panose="0202060305040502030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sp>
        <p:nvSpPr>
          <p:cNvPr id="5" name="Text Box 4"/>
          <p:cNvSpPr txBox="1"/>
          <p:nvPr/>
        </p:nvSpPr>
        <p:spPr>
          <a:xfrm>
            <a:off x="1524000" y="1151890"/>
            <a:ext cx="9611360" cy="1075690"/>
          </a:xfrm>
          <a:prstGeom prst="rect">
            <a:avLst/>
          </a:prstGeom>
          <a:noFill/>
        </p:spPr>
        <p:txBody>
          <a:bodyPr wrap="square" rtlCol="0" anchor="t">
            <a:noAutofit/>
          </a:bodyPr>
          <a:p>
            <a:r>
              <a:rPr lang="en-US">
                <a:latin typeface="Times New Roman" panose="02020603050405020304" charset="0"/>
                <a:cs typeface="Times New Roman" panose="02020603050405020304" charset="0"/>
              </a:rPr>
              <a:t>Heat from the geothermal fluid causes the secondary fluid to flash to vapor, which then drives the turbines and subsequently, the generators.</a:t>
            </a:r>
            <a:endParaRPr lang="en-US">
              <a:latin typeface="Times New Roman" panose="02020603050405020304" charset="0"/>
              <a:cs typeface="Times New Roman" panose="02020603050405020304" charset="0"/>
            </a:endParaRPr>
          </a:p>
        </p:txBody>
      </p:sp>
      <p:sp>
        <p:nvSpPr>
          <p:cNvPr id="7" name="Text Box 6"/>
          <p:cNvSpPr txBox="1"/>
          <p:nvPr/>
        </p:nvSpPr>
        <p:spPr>
          <a:xfrm>
            <a:off x="1304925" y="2329180"/>
            <a:ext cx="9830435" cy="1198880"/>
          </a:xfrm>
          <a:prstGeom prst="rect">
            <a:avLst/>
          </a:prstGeom>
          <a:noFill/>
        </p:spPr>
        <p:txBody>
          <a:bodyPr wrap="none" rtlCol="0">
            <a:spAutoFit/>
          </a:bodyPr>
          <a:p>
            <a:pPr algn="l"/>
            <a:r>
              <a:rPr lang="en-US">
                <a:latin typeface="Times New Roman" panose="02020603050405020304" charset="0"/>
                <a:cs typeface="Times New Roman" panose="02020603050405020304" charset="0"/>
                <a:sym typeface="+mn-ea"/>
              </a:rPr>
              <a:t>A binary cycle power plant is used where geothermal resources are not sufficiently hot to produce steam, </a:t>
            </a:r>
            <a:endParaRPr lang="en-US">
              <a:latin typeface="Times New Roman" panose="02020603050405020304" charset="0"/>
              <a:cs typeface="Times New Roman" panose="02020603050405020304" charset="0"/>
              <a:sym typeface="+mn-ea"/>
            </a:endParaRPr>
          </a:p>
          <a:p>
            <a:pPr algn="l"/>
            <a:r>
              <a:rPr lang="en-US">
                <a:latin typeface="Times New Roman" panose="02020603050405020304" charset="0"/>
                <a:cs typeface="Times New Roman" panose="02020603050405020304" charset="0"/>
                <a:sym typeface="+mn-ea"/>
              </a:rPr>
              <a:t>or where the source contains minerals or chemical impurities to allow flashing. </a:t>
            </a:r>
            <a:endParaRPr lang="en-US">
              <a:latin typeface="Times New Roman" panose="02020603050405020304" charset="0"/>
              <a:cs typeface="Times New Roman" panose="02020603050405020304" charset="0"/>
              <a:sym typeface="+mn-ea"/>
            </a:endParaRPr>
          </a:p>
          <a:p>
            <a:pPr algn="l"/>
            <a:r>
              <a:rPr lang="en-US">
                <a:latin typeface="Times New Roman" panose="02020603050405020304" charset="0"/>
                <a:cs typeface="Times New Roman" panose="02020603050405020304" charset="0"/>
                <a:sym typeface="+mn-ea"/>
              </a:rPr>
              <a:t>In the binary cycle process, the geothermal liquid is passed through a heat exchanger.</a:t>
            </a:r>
            <a:endParaRPr lang="en-US">
              <a:latin typeface="Times New Roman" panose="02020603050405020304" charset="0"/>
              <a:cs typeface="Times New Roman" panose="02020603050405020304" charset="0"/>
            </a:endParaRPr>
          </a:p>
          <a:p>
            <a:endParaRPr lang="en-US"/>
          </a:p>
        </p:txBody>
      </p:sp>
      <p:sp>
        <p:nvSpPr>
          <p:cNvPr id="8" name="Text Box 7"/>
          <p:cNvSpPr txBox="1"/>
          <p:nvPr/>
        </p:nvSpPr>
        <p:spPr>
          <a:xfrm>
            <a:off x="1403985" y="3629660"/>
            <a:ext cx="10025380" cy="645160"/>
          </a:xfrm>
          <a:prstGeom prst="rect">
            <a:avLst/>
          </a:prstGeom>
          <a:noFill/>
        </p:spPr>
        <p:txBody>
          <a:bodyPr wrap="none" rtlCol="0" anchor="t">
            <a:spAutoFit/>
          </a:bodyPr>
          <a:p>
            <a:r>
              <a:rPr lang="en-US">
                <a:latin typeface="Times New Roman" panose="02020603050405020304" charset="0"/>
                <a:cs typeface="Times New Roman" panose="02020603050405020304" charset="0"/>
                <a:sym typeface="+mn-ea"/>
              </a:rPr>
              <a:t>the geothermal water and the working ﬂuid are kept separated during the whole process, </a:t>
            </a:r>
            <a:endParaRPr lang="en-US">
              <a:latin typeface="Times New Roman" panose="02020603050405020304" charset="0"/>
              <a:cs typeface="Times New Roman" panose="02020603050405020304" charset="0"/>
              <a:sym typeface="+mn-ea"/>
            </a:endParaRPr>
          </a:p>
          <a:p>
            <a:r>
              <a:rPr lang="en-US">
                <a:latin typeface="Times New Roman" panose="02020603050405020304" charset="0"/>
                <a:cs typeface="Times New Roman" panose="02020603050405020304" charset="0"/>
                <a:sym typeface="+mn-ea"/>
              </a:rPr>
              <a:t>so there are little or no air emissions, and additionally it is able to isolate scaling, gas and erosion problems </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pic>
        <p:nvPicPr>
          <p:cNvPr id="5" name="Content Placeholder 4"/>
          <p:cNvPicPr>
            <a:picLocks noChangeAspect="1"/>
          </p:cNvPicPr>
          <p:nvPr>
            <p:ph idx="1"/>
          </p:nvPr>
        </p:nvPicPr>
        <p:blipFill>
          <a:blip r:embed="rId1"/>
          <a:srcRect l="4513" t="8697" r="2445" b="11032"/>
          <a:stretch>
            <a:fillRect/>
          </a:stretch>
        </p:blipFill>
        <p:spPr>
          <a:xfrm>
            <a:off x="491490" y="150495"/>
            <a:ext cx="11607165" cy="647763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pic>
        <p:nvPicPr>
          <p:cNvPr id="5" name="Content Placeholder 4"/>
          <p:cNvPicPr>
            <a:picLocks noChangeAspect="1"/>
          </p:cNvPicPr>
          <p:nvPr/>
        </p:nvPicPr>
        <p:blipFill>
          <a:blip r:embed="rId1"/>
          <a:srcRect l="49331" t="38583" r="4929" b="11032"/>
          <a:stretch>
            <a:fillRect/>
          </a:stretch>
        </p:blipFill>
        <p:spPr>
          <a:xfrm>
            <a:off x="1203325" y="274955"/>
            <a:ext cx="10119995" cy="653097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pic>
        <p:nvPicPr>
          <p:cNvPr id="5" name="Content Placeholder 4"/>
          <p:cNvPicPr>
            <a:picLocks noChangeAspect="1"/>
          </p:cNvPicPr>
          <p:nvPr>
            <p:ph idx="1"/>
          </p:nvPr>
        </p:nvPicPr>
        <p:blipFill>
          <a:blip r:embed="rId1"/>
          <a:srcRect l="4324" t="9033" r="3389" b="11032"/>
          <a:stretch>
            <a:fillRect/>
          </a:stretch>
        </p:blipFill>
        <p:spPr>
          <a:xfrm>
            <a:off x="170815" y="123190"/>
            <a:ext cx="12021185" cy="678624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pic>
        <p:nvPicPr>
          <p:cNvPr id="5" name="Content Placeholder 4"/>
          <p:cNvPicPr>
            <a:picLocks noChangeAspect="1"/>
          </p:cNvPicPr>
          <p:nvPr/>
        </p:nvPicPr>
        <p:blipFill>
          <a:blip r:embed="rId1"/>
          <a:srcRect l="55394" t="36124" r="3613" b="13874"/>
          <a:stretch>
            <a:fillRect/>
          </a:stretch>
        </p:blipFill>
        <p:spPr>
          <a:xfrm>
            <a:off x="2964815" y="391160"/>
            <a:ext cx="8510905" cy="646684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pic>
        <p:nvPicPr>
          <p:cNvPr id="5" name="Picture 4" descr="Screenshot 2024-10-14 112214"/>
          <p:cNvPicPr>
            <a:picLocks noChangeAspect="1"/>
          </p:cNvPicPr>
          <p:nvPr/>
        </p:nvPicPr>
        <p:blipFill>
          <a:blip r:embed="rId1"/>
          <a:stretch>
            <a:fillRect/>
          </a:stretch>
        </p:blipFill>
        <p:spPr>
          <a:xfrm>
            <a:off x="1544320" y="9525"/>
            <a:ext cx="6497955" cy="4798695"/>
          </a:xfrm>
          <a:prstGeom prst="rect">
            <a:avLst/>
          </a:prstGeom>
        </p:spPr>
      </p:pic>
      <p:pic>
        <p:nvPicPr>
          <p:cNvPr id="6" name="Picture 5" descr="Screenshot 2024-10-14 112234"/>
          <p:cNvPicPr>
            <a:picLocks noChangeAspect="1"/>
          </p:cNvPicPr>
          <p:nvPr/>
        </p:nvPicPr>
        <p:blipFill>
          <a:blip r:embed="rId2"/>
          <a:stretch>
            <a:fillRect/>
          </a:stretch>
        </p:blipFill>
        <p:spPr>
          <a:xfrm>
            <a:off x="1389380" y="4791075"/>
            <a:ext cx="7131050" cy="237744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endParaRPr lang="en-IN"/>
          </a:p>
        </p:txBody>
      </p:sp>
      <p:pic>
        <p:nvPicPr>
          <p:cNvPr id="3" name="Picture 2"/>
          <p:cNvPicPr/>
          <p:nvPr/>
        </p:nvPicPr>
        <p:blipFill>
          <a:blip r:embed="rId1"/>
          <a:stretch>
            <a:fillRect/>
          </a:stretch>
        </p:blipFill>
        <p:spPr>
          <a:xfrm>
            <a:off x="222885" y="835660"/>
            <a:ext cx="11746230" cy="588581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pic>
        <p:nvPicPr>
          <p:cNvPr id="5" name="Picture 4"/>
          <p:cNvPicPr>
            <a:picLocks noChangeAspect="1"/>
          </p:cNvPicPr>
          <p:nvPr/>
        </p:nvPicPr>
        <p:blipFill>
          <a:blip r:embed="rId1"/>
          <a:stretch>
            <a:fillRect/>
          </a:stretch>
        </p:blipFill>
        <p:spPr>
          <a:xfrm>
            <a:off x="535940" y="1115695"/>
            <a:ext cx="11120120" cy="4627245"/>
          </a:xfrm>
          <a:prstGeom prst="rect">
            <a:avLst/>
          </a:prstGeom>
        </p:spPr>
      </p:pic>
      <p:sp>
        <p:nvSpPr>
          <p:cNvPr id="6" name="Text Box 5"/>
          <p:cNvSpPr txBox="1"/>
          <p:nvPr/>
        </p:nvSpPr>
        <p:spPr>
          <a:xfrm>
            <a:off x="685165" y="310515"/>
            <a:ext cx="6642100" cy="460375"/>
          </a:xfrm>
          <a:prstGeom prst="rect">
            <a:avLst/>
          </a:prstGeom>
        </p:spPr>
        <p:txBody>
          <a:bodyPr wrap="square">
            <a:spAutoFit/>
          </a:bodyPr>
          <a:p>
            <a:pPr marL="0" indent="0">
              <a:spcBef>
                <a:spcPts val="300"/>
              </a:spcBef>
              <a:spcAft>
                <a:spcPct val="0"/>
              </a:spcAft>
            </a:pPr>
            <a:r>
              <a:rPr sz="2400" b="1" i="0">
                <a:solidFill>
                  <a:srgbClr val="000000"/>
                </a:solidFill>
                <a:latin typeface="Tahoma" panose="020B0604030504040204" charset="0"/>
                <a:ea typeface="sans-serif"/>
                <a:cs typeface="Tahoma" panose="020B0604030504040204" charset="0"/>
              </a:rPr>
              <a:t>Oscillating Water Columns (OCW)</a:t>
            </a:r>
            <a:endParaRPr sz="2400" b="1" i="0">
              <a:solidFill>
                <a:srgbClr val="000000"/>
              </a:solidFill>
              <a:latin typeface="Tahoma" panose="020B0604030504040204" charset="0"/>
              <a:ea typeface="sans-serif"/>
              <a:cs typeface="Tahoma" panose="020B060403050404020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pic>
        <p:nvPicPr>
          <p:cNvPr id="5" name="Picture 4"/>
          <p:cNvPicPr>
            <a:picLocks noChangeAspect="1"/>
          </p:cNvPicPr>
          <p:nvPr/>
        </p:nvPicPr>
        <p:blipFill>
          <a:blip r:embed="rId1"/>
          <a:stretch>
            <a:fillRect/>
          </a:stretch>
        </p:blipFill>
        <p:spPr>
          <a:xfrm>
            <a:off x="381000" y="1744345"/>
            <a:ext cx="11430000" cy="289115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pic>
        <p:nvPicPr>
          <p:cNvPr id="8" name="Content Placeholder 7"/>
          <p:cNvPicPr>
            <a:picLocks noChangeAspect="1"/>
          </p:cNvPicPr>
          <p:nvPr>
            <p:ph idx="1"/>
          </p:nvPr>
        </p:nvPicPr>
        <p:blipFill>
          <a:blip r:embed="rId1"/>
          <a:srcRect l="14670" t="18255" r="16697" b="7354"/>
          <a:stretch>
            <a:fillRect/>
          </a:stretch>
        </p:blipFill>
        <p:spPr>
          <a:xfrm>
            <a:off x="1108710" y="114300"/>
            <a:ext cx="9975215" cy="607949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pic>
        <p:nvPicPr>
          <p:cNvPr id="101" name="Picture 100"/>
          <p:cNvPicPr/>
          <p:nvPr/>
        </p:nvPicPr>
        <p:blipFill>
          <a:blip r:embed="rId1" r:link="rId2"/>
          <a:stretch>
            <a:fillRect/>
          </a:stretch>
        </p:blipFill>
        <p:spPr>
          <a:xfrm>
            <a:off x="6096000" y="3429000"/>
            <a:ext cx="0" cy="0"/>
          </a:xfrm>
          <a:prstGeom prst="rect">
            <a:avLst/>
          </a:prstGeom>
          <a:noFill/>
          <a:ln w="9525">
            <a:noFill/>
          </a:ln>
        </p:spPr>
      </p:pic>
      <p:pic>
        <p:nvPicPr>
          <p:cNvPr id="5" name="Picture 4"/>
          <p:cNvPicPr>
            <a:picLocks noChangeAspect="1"/>
          </p:cNvPicPr>
          <p:nvPr/>
        </p:nvPicPr>
        <p:blipFill>
          <a:blip r:embed="rId3"/>
          <a:srcRect l="29894" t="27598" r="2212" b="9144"/>
          <a:stretch>
            <a:fillRect/>
          </a:stretch>
        </p:blipFill>
        <p:spPr>
          <a:xfrm>
            <a:off x="2634615" y="1178560"/>
            <a:ext cx="8284210" cy="5542915"/>
          </a:xfrm>
          <a:prstGeom prst="rect">
            <a:avLst/>
          </a:prstGeom>
        </p:spPr>
      </p:pic>
      <p:sp>
        <p:nvSpPr>
          <p:cNvPr id="6" name="Text Box 5"/>
          <p:cNvSpPr txBox="1"/>
          <p:nvPr/>
        </p:nvSpPr>
        <p:spPr>
          <a:xfrm>
            <a:off x="2019300" y="323215"/>
            <a:ext cx="8153400" cy="953135"/>
          </a:xfrm>
          <a:prstGeom prst="rect">
            <a:avLst/>
          </a:prstGeom>
          <a:noFill/>
        </p:spPr>
        <p:txBody>
          <a:bodyPr wrap="square" rtlCol="0" anchor="t">
            <a:spAutoFit/>
          </a:bodyPr>
          <a:p>
            <a:r>
              <a:rPr lang="en-US" sz="2800">
                <a:solidFill>
                  <a:schemeClr val="tx1"/>
                </a:solidFill>
                <a:effectLst>
                  <a:outerShdw blurRad="38100" dist="19050" dir="2700000" algn="tl" rotWithShape="0">
                    <a:schemeClr val="dk1">
                      <a:alpha val="40000"/>
                    </a:schemeClr>
                  </a:outerShdw>
                </a:effectLst>
              </a:rPr>
              <a:t>Khadi and Village Industries Commission (KVIC) design</a:t>
            </a:r>
            <a:r>
              <a:rPr lang="en-IN" altLang="en-US" sz="2800">
                <a:solidFill>
                  <a:schemeClr val="tx1"/>
                </a:solidFill>
                <a:effectLst>
                  <a:outerShdw blurRad="38100" dist="19050" dir="2700000" algn="tl" rotWithShape="0">
                    <a:schemeClr val="dk1">
                      <a:alpha val="40000"/>
                    </a:schemeClr>
                  </a:outerShdw>
                </a:effectLst>
              </a:rPr>
              <a:t> of bio gas plant</a:t>
            </a:r>
            <a:endParaRPr lang="en-IN" altLang="en-US" sz="280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pic>
        <p:nvPicPr>
          <p:cNvPr id="5" name="Picture 4"/>
          <p:cNvPicPr>
            <a:picLocks noChangeAspect="1"/>
          </p:cNvPicPr>
          <p:nvPr/>
        </p:nvPicPr>
        <p:blipFill>
          <a:blip r:embed="rId1"/>
          <a:srcRect l="15071" t="18637" r="16432" b="9366"/>
          <a:stretch>
            <a:fillRect/>
          </a:stretch>
        </p:blipFill>
        <p:spPr>
          <a:xfrm>
            <a:off x="1551305" y="1134745"/>
            <a:ext cx="8912225" cy="5266690"/>
          </a:xfrm>
          <a:prstGeom prst="rect">
            <a:avLst/>
          </a:prstGeom>
        </p:spPr>
      </p:pic>
      <p:sp>
        <p:nvSpPr>
          <p:cNvPr id="6" name="Text Box 5"/>
          <p:cNvSpPr txBox="1"/>
          <p:nvPr/>
        </p:nvSpPr>
        <p:spPr>
          <a:xfrm>
            <a:off x="1697990" y="436245"/>
            <a:ext cx="1934210" cy="460375"/>
          </a:xfrm>
          <a:prstGeom prst="rect">
            <a:avLst/>
          </a:prstGeom>
          <a:noFill/>
        </p:spPr>
        <p:txBody>
          <a:bodyPr wrap="none" rtlCol="0">
            <a:spAutoFit/>
          </a:bodyPr>
          <a:p>
            <a:r>
              <a:rPr lang="en-IN" altLang="en-US" sz="2400">
                <a:latin typeface="Times New Roman" panose="02020603050405020304" charset="0"/>
                <a:cs typeface="Times New Roman" panose="02020603050405020304" charset="0"/>
              </a:rPr>
              <a:t>Janatha model</a:t>
            </a:r>
            <a:endParaRPr lang="en-IN" altLang="en-US" sz="2400">
              <a:latin typeface="Times New Roman" panose="02020603050405020304" charset="0"/>
              <a:cs typeface="Times New Roman" panose="0202060305040502030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sp>
        <p:nvSpPr>
          <p:cNvPr id="5" name="Text Box 4"/>
          <p:cNvSpPr txBox="1"/>
          <p:nvPr/>
        </p:nvSpPr>
        <p:spPr>
          <a:xfrm>
            <a:off x="195580" y="818515"/>
            <a:ext cx="11304905" cy="3538220"/>
          </a:xfrm>
          <a:prstGeom prst="rect">
            <a:avLst/>
          </a:prstGeom>
          <a:noFill/>
        </p:spPr>
        <p:txBody>
          <a:bodyPr wrap="square" rtlCol="0" anchor="t">
            <a:spAutoFit/>
          </a:bodyPr>
          <a:p>
            <a:pPr marL="285750" indent="-285750">
              <a:buFont typeface="Wingdings" panose="05000000000000000000" charset="0"/>
              <a:buChar char="q"/>
            </a:pPr>
            <a:r>
              <a:rPr lang="en-IN" altLang="en-US" sz="2800" b="1"/>
              <a:t>Jantha model have </a:t>
            </a:r>
            <a:r>
              <a:rPr lang="en-US" sz="2800" b="1"/>
              <a:t>higher capacity when compared with KVIC model</a:t>
            </a:r>
            <a:r>
              <a:rPr lang="en-IN" altLang="en-US" sz="2800" b="1"/>
              <a:t> </a:t>
            </a:r>
            <a:endParaRPr lang="en-IN" altLang="en-US" sz="2800" b="1"/>
          </a:p>
          <a:p>
            <a:pPr indent="0">
              <a:buFont typeface="Wingdings" panose="05000000000000000000" charset="0"/>
              <a:buNone/>
            </a:pPr>
            <a:endParaRPr lang="en-IN" altLang="en-US" sz="2800" b="1"/>
          </a:p>
          <a:p>
            <a:pPr marL="285750" indent="-285750">
              <a:buFont typeface="Wingdings" panose="05000000000000000000" charset="0"/>
              <a:buChar char="q"/>
            </a:pPr>
            <a:r>
              <a:rPr lang="en-IN" altLang="en-US" sz="2800" b="1"/>
              <a:t>U</a:t>
            </a:r>
            <a:r>
              <a:rPr lang="en-US" sz="2800" b="1"/>
              <a:t>sed as a community biogas plant. </a:t>
            </a:r>
            <a:endParaRPr lang="en-US" sz="2800" b="1"/>
          </a:p>
          <a:p>
            <a:pPr indent="0">
              <a:buFont typeface="Wingdings" panose="05000000000000000000" charset="0"/>
              <a:buNone/>
            </a:pPr>
            <a:endParaRPr lang="en-US" sz="2800" b="1"/>
          </a:p>
          <a:p>
            <a:pPr marL="285750" indent="-285750">
              <a:buFont typeface="Wingdings" panose="05000000000000000000" charset="0"/>
              <a:buChar char="q"/>
            </a:pPr>
            <a:r>
              <a:rPr lang="en-US" sz="2800" b="1"/>
              <a:t>This design has longer life than KVIC models.</a:t>
            </a:r>
            <a:endParaRPr lang="en-US" sz="2800" b="1"/>
          </a:p>
          <a:p>
            <a:pPr indent="0">
              <a:buFont typeface="Wingdings" panose="05000000000000000000" charset="0"/>
              <a:buNone/>
            </a:pPr>
            <a:endParaRPr lang="en-US" sz="2800" b="1"/>
          </a:p>
          <a:p>
            <a:pPr marL="285750" indent="-285750">
              <a:buFont typeface="Wingdings" panose="05000000000000000000" charset="0"/>
              <a:buChar char="q"/>
            </a:pPr>
            <a:r>
              <a:rPr lang="en-US" sz="2800" b="1"/>
              <a:t> Substrates other than cattle dung such as municipal waste and plant residues can also be used in janata type plants.</a:t>
            </a:r>
            <a:endParaRPr lang="en-US" sz="2800" b="1"/>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pic>
        <p:nvPicPr>
          <p:cNvPr id="5" name="Picture 4"/>
          <p:cNvPicPr>
            <a:picLocks noChangeAspect="1"/>
          </p:cNvPicPr>
          <p:nvPr/>
        </p:nvPicPr>
        <p:blipFill>
          <a:blip r:embed="rId1"/>
          <a:srcRect l="2914" t="25009" r="31986" b="10547"/>
          <a:stretch>
            <a:fillRect/>
          </a:stretch>
        </p:blipFill>
        <p:spPr>
          <a:xfrm>
            <a:off x="1381125" y="546735"/>
            <a:ext cx="9648825" cy="537019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sp>
        <p:nvSpPr>
          <p:cNvPr id="5" name="Text Box 4"/>
          <p:cNvSpPr txBox="1"/>
          <p:nvPr/>
        </p:nvSpPr>
        <p:spPr>
          <a:xfrm>
            <a:off x="384810" y="1167130"/>
            <a:ext cx="11712575" cy="4523105"/>
          </a:xfrm>
          <a:prstGeom prst="rect">
            <a:avLst/>
          </a:prstGeom>
          <a:noFill/>
        </p:spPr>
        <p:txBody>
          <a:bodyPr wrap="square" rtlCol="0" anchor="t">
            <a:spAutoFit/>
          </a:bodyPr>
          <a:p>
            <a:r>
              <a:rPr lang="en-US">
                <a:latin typeface="Times New Roman" panose="02020603050405020304" charset="0"/>
                <a:cs typeface="Times New Roman" panose="02020603050405020304" charset="0"/>
              </a:rPr>
              <a:t>The gasification is a thermo-chemical process that converts any carbon-containing material into a combustible gas by supplying </a:t>
            </a:r>
            <a:r>
              <a:rPr lang="en-US" b="1">
                <a:latin typeface="Times New Roman" panose="02020603050405020304" charset="0"/>
                <a:cs typeface="Times New Roman" panose="02020603050405020304" charset="0"/>
              </a:rPr>
              <a:t>a restricted amount of oxygen</a:t>
            </a:r>
            <a:r>
              <a:rPr lang="en-US">
                <a:latin typeface="Times New Roman" panose="02020603050405020304" charset="0"/>
                <a:cs typeface="Times New Roman" panose="02020603050405020304" charset="0"/>
              </a:rPr>
              <a:t>.</a:t>
            </a:r>
            <a:endParaRPr 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T</a:t>
            </a:r>
            <a:r>
              <a:rPr lang="en-US">
                <a:latin typeface="Times New Roman" panose="02020603050405020304" charset="0"/>
                <a:cs typeface="Times New Roman" panose="02020603050405020304" charset="0"/>
              </a:rPr>
              <a:t>his gas is known as wood gas, producer gas or syngas, which composed primarily of carbon monoxide and hydrogen as fuels</a:t>
            </a:r>
            <a:r>
              <a:rPr lang="en-IN" altLang="en-US">
                <a:latin typeface="Times New Roman" panose="02020603050405020304" charset="0"/>
                <a:cs typeface="Times New Roman" panose="02020603050405020304" charset="0"/>
              </a:rPr>
              <a:t>.</a:t>
            </a:r>
            <a:endParaRPr lang="en-IN" altLang="en-US">
              <a:latin typeface="Times New Roman" panose="02020603050405020304" charset="0"/>
              <a:cs typeface="Times New Roman" panose="02020603050405020304" charset="0"/>
            </a:endParaRPr>
          </a:p>
          <a:p>
            <a:endParaRPr lang="en-IN"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Producer gas is generated in the low temperature gasification process (&lt; 1000°C) and contains CO, H2, CH4, CxHy, aliphatic hydrocarbons, benzene, toluene, and tars (besides CO2, H2O, and N2 in case of gasification in air).</a:t>
            </a:r>
            <a:endParaRPr lang="en-IN" altLang="en-US">
              <a:latin typeface="Times New Roman" panose="02020603050405020304" charset="0"/>
              <a:cs typeface="Times New Roman" panose="02020603050405020304" charset="0"/>
            </a:endParaRPr>
          </a:p>
          <a:p>
            <a:endParaRPr lang="en-IN"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H2 and CO typically contain only ~50% of the energy in the gas, while the remainder is in CH4 and higher (aromatic) HCs.</a:t>
            </a:r>
            <a:endParaRPr lang="en-IN"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Syngas is produced by high temperature (above 1200°C) or catalytic gasification.</a:t>
            </a:r>
            <a:endParaRPr lang="en-IN" altLang="en-US">
              <a:latin typeface="Times New Roman" panose="02020603050405020304" charset="0"/>
              <a:cs typeface="Times New Roman" panose="02020603050405020304" charset="0"/>
            </a:endParaRPr>
          </a:p>
          <a:p>
            <a:endParaRPr lang="en-IN"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Under these conditions the biomass is completely converted into H2 and CO (besides CO2, H2O, and N2 in case of gasification in air).</a:t>
            </a:r>
            <a:endParaRPr lang="en-IN" altLang="en-US">
              <a:latin typeface="Times New Roman" panose="02020603050405020304" charset="0"/>
              <a:cs typeface="Times New Roman" panose="02020603050405020304" charset="0"/>
            </a:endParaRPr>
          </a:p>
          <a:p>
            <a:endParaRPr lang="en-IN" altLang="en-US">
              <a:latin typeface="Times New Roman" panose="02020603050405020304" charset="0"/>
              <a:cs typeface="Times New Roman" panose="02020603050405020304" charset="0"/>
            </a:endParaRPr>
          </a:p>
          <a:p>
            <a:r>
              <a:rPr lang="en-IN" altLang="en-US">
                <a:latin typeface="Times New Roman" panose="02020603050405020304" charset="0"/>
                <a:cs typeface="Times New Roman" panose="02020603050405020304" charset="0"/>
              </a:rPr>
              <a:t>Syngas is chemically similar to that derived from fossil sources.</a:t>
            </a:r>
            <a:endParaRPr lang="en-IN" altLang="en-US">
              <a:latin typeface="Times New Roman" panose="02020603050405020304" charset="0"/>
              <a:cs typeface="Times New Roman" panose="0202060305040502030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sp>
        <p:nvSpPr>
          <p:cNvPr id="100" name="Text Box 99"/>
          <p:cNvSpPr txBox="1"/>
          <p:nvPr/>
        </p:nvSpPr>
        <p:spPr>
          <a:xfrm>
            <a:off x="397510" y="-101600"/>
            <a:ext cx="11237595" cy="6647180"/>
          </a:xfrm>
          <a:prstGeom prst="rect">
            <a:avLst/>
          </a:prstGeom>
          <a:noFill/>
          <a:ln w="9525">
            <a:noFill/>
          </a:ln>
        </p:spPr>
        <p:txBody>
          <a:bodyPr wrap="square">
            <a:spAutoFit/>
          </a:bodyPr>
          <a:p>
            <a:pPr marL="228600" indent="-228600" algn="just" fontAlgn="auto">
              <a:lnSpc>
                <a:spcPct val="150000"/>
              </a:lnSpc>
            </a:pPr>
            <a:r>
              <a:rPr lang="en-US" sz="2400" b="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 Pyrolysis </a:t>
            </a:r>
            <a:endParaRPr lang="en-US" sz="2400" b="1">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p>
            <a:pPr marL="228600" indent="-228600" algn="just" fontAlgn="auto">
              <a:lnSpc>
                <a:spcPct val="150000"/>
              </a:lnSpc>
            </a:pPr>
            <a:r>
              <a:rPr lang="en-US" sz="2000" b="0">
                <a:solidFill>
                  <a:srgbClr val="3B3835"/>
                </a:solidFill>
                <a:latin typeface="Times New Roman" panose="02020603050405020304" charset="0"/>
                <a:cs typeface="Times New Roman" panose="02020603050405020304" charset="0"/>
              </a:rPr>
              <a:t> It is the process of conversion of biomass to liquid (bio-oil), solid (charcoal) and gaseous (fuel gases) products by heating in the </a:t>
            </a:r>
            <a:r>
              <a:rPr lang="en-US" sz="2000" b="1">
                <a:solidFill>
                  <a:srgbClr val="3B3835"/>
                </a:solidFill>
                <a:latin typeface="Times New Roman" panose="02020603050405020304" charset="0"/>
                <a:cs typeface="Times New Roman" panose="02020603050405020304" charset="0"/>
              </a:rPr>
              <a:t>absence of air</a:t>
            </a:r>
            <a:r>
              <a:rPr lang="en-US" sz="2000" b="0">
                <a:solidFill>
                  <a:srgbClr val="3B3835"/>
                </a:solidFill>
                <a:latin typeface="Times New Roman" panose="02020603050405020304" charset="0"/>
                <a:cs typeface="Times New Roman" panose="02020603050405020304" charset="0"/>
              </a:rPr>
              <a:t> at 500 °C.</a:t>
            </a:r>
            <a:endParaRPr lang="en-US" sz="2000" b="0">
              <a:solidFill>
                <a:srgbClr val="3B3835"/>
              </a:solidFill>
              <a:latin typeface="Times New Roman" panose="02020603050405020304" charset="0"/>
              <a:cs typeface="Times New Roman" panose="02020603050405020304" charset="0"/>
            </a:endParaRPr>
          </a:p>
          <a:p>
            <a:pPr marL="228600" indent="-228600" algn="just" fontAlgn="auto">
              <a:lnSpc>
                <a:spcPct val="150000"/>
              </a:lnSpc>
            </a:pPr>
            <a:endParaRPr lang="en-US" sz="2000" b="0">
              <a:solidFill>
                <a:srgbClr val="3B3835"/>
              </a:solidFill>
              <a:latin typeface="Times New Roman" panose="02020603050405020304" charset="0"/>
              <a:cs typeface="Times New Roman" panose="02020603050405020304" charset="0"/>
            </a:endParaRPr>
          </a:p>
          <a:p>
            <a:pPr marL="228600" indent="-228600" algn="just" fontAlgn="auto">
              <a:lnSpc>
                <a:spcPct val="150000"/>
              </a:lnSpc>
            </a:pPr>
            <a:r>
              <a:rPr lang="en-US" sz="2000" b="0">
                <a:solidFill>
                  <a:srgbClr val="3B3835"/>
                </a:solidFill>
                <a:latin typeface="Times New Roman" panose="02020603050405020304" charset="0"/>
                <a:cs typeface="Times New Roman" panose="02020603050405020304" charset="0"/>
              </a:rPr>
              <a:t> There are two types of pyrolysis: Fast pyrolysis, conventional (Carbonization) pyrolysis and slow pyrolysis. </a:t>
            </a:r>
            <a:endParaRPr lang="en-US" sz="2000" b="0">
              <a:solidFill>
                <a:srgbClr val="3B3835"/>
              </a:solidFill>
              <a:latin typeface="Times New Roman" panose="02020603050405020304" charset="0"/>
              <a:cs typeface="Times New Roman" panose="02020603050405020304" charset="0"/>
            </a:endParaRPr>
          </a:p>
          <a:p>
            <a:pPr marL="228600" indent="-228600" algn="just" fontAlgn="auto">
              <a:lnSpc>
                <a:spcPct val="150000"/>
              </a:lnSpc>
            </a:pPr>
            <a:endParaRPr lang="en-US" sz="2000" b="0">
              <a:solidFill>
                <a:srgbClr val="3B3835"/>
              </a:solidFill>
              <a:latin typeface="Times New Roman" panose="02020603050405020304" charset="0"/>
              <a:cs typeface="Times New Roman" panose="02020603050405020304" charset="0"/>
            </a:endParaRPr>
          </a:p>
          <a:p>
            <a:pPr marL="228600" indent="-228600" algn="just" fontAlgn="auto">
              <a:lnSpc>
                <a:spcPct val="150000"/>
              </a:lnSpc>
            </a:pPr>
            <a:r>
              <a:rPr lang="en-US" sz="2000" b="0">
                <a:solidFill>
                  <a:srgbClr val="3B3835"/>
                </a:solidFill>
                <a:latin typeface="Times New Roman" panose="02020603050405020304" charset="0"/>
                <a:cs typeface="Times New Roman" panose="02020603050405020304" charset="0"/>
              </a:rPr>
              <a:t>Fast pyrolysis process has high heating value and heat transfer rate and completes within seconds. Fast pyrolysis yields 60% bio-oil, 20% bio-char and 20% biogas. </a:t>
            </a:r>
            <a:r>
              <a:rPr lang="en-US" sz="2000">
                <a:solidFill>
                  <a:srgbClr val="3B3835"/>
                </a:solidFill>
                <a:latin typeface="Times New Roman" panose="02020603050405020304" charset="0"/>
                <a:cs typeface="Times New Roman" panose="02020603050405020304" charset="0"/>
                <a:sym typeface="+mn-ea"/>
              </a:rPr>
              <a:t>in which 80% bio-oil is obtained at keeping temperature low. If flash pyrolysis is used for converting biomass to bio-crude, it has up to 80% efficiency .</a:t>
            </a:r>
            <a:endParaRPr lang="en-US" sz="2000">
              <a:latin typeface="Times New Roman" panose="02020603050405020304" charset="0"/>
              <a:cs typeface="Times New Roman" panose="02020603050405020304" charset="0"/>
            </a:endParaRPr>
          </a:p>
          <a:p>
            <a:pPr marL="228600" indent="-228600" algn="just" fontAlgn="auto">
              <a:lnSpc>
                <a:spcPct val="150000"/>
              </a:lnSpc>
            </a:pPr>
            <a:endParaRPr lang="en-US" sz="2000" b="0">
              <a:solidFill>
                <a:srgbClr val="3B3835"/>
              </a:solidFill>
              <a:latin typeface="Times New Roman" panose="02020603050405020304" charset="0"/>
              <a:cs typeface="Times New Roman" panose="02020603050405020304" charset="0"/>
            </a:endParaRPr>
          </a:p>
          <a:p>
            <a:pPr marL="228600" indent="-228600" algn="just" fontAlgn="auto">
              <a:lnSpc>
                <a:spcPct val="150000"/>
              </a:lnSpc>
            </a:pPr>
            <a:r>
              <a:rPr lang="en-IN" altLang="en-US" sz="2000" b="0">
                <a:solidFill>
                  <a:srgbClr val="3B3835"/>
                </a:solidFill>
                <a:latin typeface="Times New Roman" panose="02020603050405020304" charset="0"/>
                <a:cs typeface="Times New Roman" panose="02020603050405020304" charset="0"/>
              </a:rPr>
              <a:t>Slow </a:t>
            </a:r>
            <a:r>
              <a:rPr lang="en-US" sz="2000" b="0">
                <a:solidFill>
                  <a:srgbClr val="3B3835"/>
                </a:solidFill>
                <a:latin typeface="Times New Roman" panose="02020603050405020304" charset="0"/>
                <a:cs typeface="Times New Roman" panose="02020603050405020304" charset="0"/>
              </a:rPr>
              <a:t> pyrolysis process is the process in which mostly carbon (35%) is leaved as residue. Slow pyrolysis takes more time than fast pyrolysis, it also has low temperature and heating values. Flash pyrolysis is the type of fast pyrolysis, </a:t>
            </a:r>
            <a:endParaRPr lang="en-US" sz="2000">
              <a:latin typeface="Times New Roman" panose="02020603050405020304" charset="0"/>
              <a:cs typeface="Times New Roman" panose="0202060305040502030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1287780" y="1190625"/>
            <a:ext cx="10292080" cy="737235"/>
          </a:xfrm>
          <a:prstGeom prst="rect">
            <a:avLst/>
          </a:prstGeom>
          <a:noFill/>
        </p:spPr>
        <p:txBody>
          <a:bodyPr wrap="square" rtlCol="0" anchor="t">
            <a:spAutoFit/>
          </a:bodyPr>
          <a:p>
            <a:r>
              <a:rPr lang="en-US"/>
              <a:t> </a:t>
            </a:r>
            <a:r>
              <a:rPr lang="en-US" sz="2400" b="1">
                <a:ln w="22225">
                  <a:solidFill>
                    <a:schemeClr val="accent2"/>
                  </a:solidFill>
                  <a:prstDash val="solid"/>
                </a:ln>
                <a:solidFill>
                  <a:schemeClr val="accent2">
                    <a:lumMod val="40000"/>
                    <a:lumOff val="60000"/>
                  </a:schemeClr>
                </a:solidFill>
                <a:effectLst/>
              </a:rPr>
              <a:t>Initial cost </a:t>
            </a:r>
            <a:r>
              <a:rPr lang="en-US"/>
              <a:t>means the moneys required for the capital construction or renovation of a facility or the construction of an addition</a:t>
            </a:r>
            <a:r>
              <a:rPr lang="en-IN" altLang="en-US"/>
              <a:t>.</a:t>
            </a:r>
            <a:endParaRPr lang="en-IN" altLang="en-US"/>
          </a:p>
        </p:txBody>
      </p:sp>
      <p:sp>
        <p:nvSpPr>
          <p:cNvPr id="2" name="Text Box 1"/>
          <p:cNvSpPr txBox="1"/>
          <p:nvPr/>
        </p:nvSpPr>
        <p:spPr>
          <a:xfrm>
            <a:off x="1287780" y="2639695"/>
            <a:ext cx="10116820" cy="1014730"/>
          </a:xfrm>
          <a:prstGeom prst="rect">
            <a:avLst/>
          </a:prstGeom>
          <a:noFill/>
        </p:spPr>
        <p:txBody>
          <a:bodyPr wrap="square" rtlCol="0" anchor="t">
            <a:spAutoFit/>
          </a:bodyPr>
          <a:p>
            <a:r>
              <a:rPr lang="en-US" sz="2400" b="1">
                <a:ln w="22225">
                  <a:solidFill>
                    <a:schemeClr val="accent2"/>
                  </a:solidFill>
                  <a:prstDash val="solid"/>
                </a:ln>
                <a:solidFill>
                  <a:schemeClr val="accent2">
                    <a:lumMod val="40000"/>
                    <a:lumOff val="60000"/>
                  </a:schemeClr>
                </a:solidFill>
                <a:effectLst/>
              </a:rPr>
              <a:t>Annual Costs</a:t>
            </a:r>
            <a:r>
              <a:rPr lang="en-US"/>
              <a:t> means for each Fiscal Year, the total of 1) Authorized Services 2) Administrative Expenses; and 3) any amounts needed to cure actual or estimated delinquencies in Special Taxes for the current or previous Fiscal Year.</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sp>
        <p:nvSpPr>
          <p:cNvPr id="5" name="Text Box 4"/>
          <p:cNvSpPr txBox="1"/>
          <p:nvPr/>
        </p:nvSpPr>
        <p:spPr>
          <a:xfrm>
            <a:off x="574675" y="491490"/>
            <a:ext cx="11376025" cy="1137285"/>
          </a:xfrm>
          <a:prstGeom prst="rect">
            <a:avLst/>
          </a:prstGeom>
          <a:noFill/>
        </p:spPr>
        <p:txBody>
          <a:bodyPr wrap="square" rtlCol="0" anchor="t">
            <a:spAutoFit/>
          </a:bodyPr>
          <a:p>
            <a:r>
              <a:rPr lang="en-IN" altLang="en-US" sz="2000"/>
              <a:t>We can calculate </a:t>
            </a:r>
            <a:r>
              <a:rPr lang="en-US" sz="2800">
                <a:ln w="22225">
                  <a:solidFill>
                    <a:schemeClr val="accent2"/>
                  </a:solidFill>
                  <a:prstDash val="solid"/>
                </a:ln>
                <a:solidFill>
                  <a:schemeClr val="accent2">
                    <a:lumMod val="40000"/>
                    <a:lumOff val="60000"/>
                  </a:schemeClr>
                </a:solidFill>
                <a:effectLst/>
              </a:rPr>
              <a:t>solar panel payback period</a:t>
            </a:r>
            <a:r>
              <a:rPr lang="en-US" sz="2000"/>
              <a:t> by starting with the total cost of installing the solar panels, minus any incentives or rebates you receive. Then just divide the remaining cost by your monthly electric bill savings, until you reach the amount you originally spent.</a:t>
            </a:r>
            <a:endParaRPr lang="en-US" sz="2000"/>
          </a:p>
        </p:txBody>
      </p:sp>
      <p:sp>
        <p:nvSpPr>
          <p:cNvPr id="6" name="Text Box 5"/>
          <p:cNvSpPr txBox="1"/>
          <p:nvPr/>
        </p:nvSpPr>
        <p:spPr>
          <a:xfrm>
            <a:off x="815340" y="1852930"/>
            <a:ext cx="10953750" cy="645160"/>
          </a:xfrm>
          <a:prstGeom prst="rect">
            <a:avLst/>
          </a:prstGeom>
          <a:noFill/>
        </p:spPr>
        <p:txBody>
          <a:bodyPr wrap="square" rtlCol="0" anchor="t">
            <a:spAutoFit/>
          </a:bodyPr>
          <a:p>
            <a:r>
              <a:rPr lang="en-US"/>
              <a:t>The average residential solar power system payback is about 8.7 years, but it varies by location and property. So, the typical payback period is about 6 – 10 years.</a:t>
            </a:r>
            <a:endParaRPr lang="en-I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endParaRPr lang="en-IN"/>
          </a:p>
        </p:txBody>
      </p:sp>
      <p:sp>
        <p:nvSpPr>
          <p:cNvPr id="3" name="Text Box 2"/>
          <p:cNvSpPr txBox="1"/>
          <p:nvPr/>
        </p:nvSpPr>
        <p:spPr>
          <a:xfrm>
            <a:off x="344805" y="46355"/>
            <a:ext cx="11502390" cy="1476375"/>
          </a:xfrm>
          <a:prstGeom prst="rect">
            <a:avLst/>
          </a:prstGeom>
          <a:noFill/>
        </p:spPr>
        <p:txBody>
          <a:bodyPr wrap="square" rtlCol="0" anchor="t">
            <a:spAutoFit/>
          </a:bodyPr>
          <a:p>
            <a:r>
              <a:rPr lang="en-IN" altLang="en-US">
                <a:sym typeface="+mn-ea"/>
              </a:rPr>
              <a:t>A person installs a solar panel worth 3 lakh and the state government gives an incentive of 40% of the initial cost of the </a:t>
            </a:r>
            <a:endParaRPr lang="en-IN" altLang="en-US">
              <a:sym typeface="+mn-ea"/>
            </a:endParaRPr>
          </a:p>
          <a:p>
            <a:r>
              <a:rPr lang="en-IN" altLang="en-US">
                <a:sym typeface="+mn-ea"/>
              </a:rPr>
              <a:t>panel .The average monthily electricity bill of his  house is 3000 rupees.Claculate the pay back time for the solar </a:t>
            </a:r>
            <a:endParaRPr lang="en-IN" altLang="en-US">
              <a:sym typeface="+mn-ea"/>
            </a:endParaRPr>
          </a:p>
          <a:p>
            <a:r>
              <a:rPr lang="en-IN" altLang="en-US">
                <a:sym typeface="+mn-ea"/>
              </a:rPr>
              <a:t>panel installation.  </a:t>
            </a:r>
            <a:r>
              <a:rPr lang="en-IN" altLang="en-US"/>
              <a:t>                                                                                                  </a:t>
            </a:r>
            <a:endParaRPr lang="en-IN" altLang="en-US"/>
          </a:p>
          <a:p>
            <a:r>
              <a:rPr lang="en-IN" altLang="en-US"/>
              <a:t>                                              </a:t>
            </a:r>
            <a:endParaRPr lang="en-IN" altLang="en-US"/>
          </a:p>
          <a:p>
            <a:r>
              <a:rPr lang="en-IN" altLang="en-US"/>
              <a:t>                                             </a:t>
            </a:r>
            <a:endParaRPr lang="en-IN" altLang="en-US"/>
          </a:p>
        </p:txBody>
      </p:sp>
      <p:sp>
        <p:nvSpPr>
          <p:cNvPr id="4" name="Text Box 3"/>
          <p:cNvSpPr txBox="1"/>
          <p:nvPr/>
        </p:nvSpPr>
        <p:spPr>
          <a:xfrm>
            <a:off x="2381885" y="1609090"/>
            <a:ext cx="4341495" cy="368300"/>
          </a:xfrm>
          <a:prstGeom prst="rect">
            <a:avLst/>
          </a:prstGeom>
          <a:noFill/>
        </p:spPr>
        <p:txBody>
          <a:bodyPr wrap="none" rtlCol="0" anchor="t">
            <a:spAutoFit/>
          </a:bodyPr>
          <a:p>
            <a:r>
              <a:rPr lang="en-IN" altLang="en-US">
                <a:sym typeface="+mn-ea"/>
              </a:rPr>
              <a:t>Total initial cost of installation =Rs 3,00,000/-</a:t>
            </a:r>
            <a:endParaRPr lang="en-US"/>
          </a:p>
        </p:txBody>
      </p:sp>
      <p:sp>
        <p:nvSpPr>
          <p:cNvPr id="5" name="Text Box 4"/>
          <p:cNvSpPr txBox="1"/>
          <p:nvPr/>
        </p:nvSpPr>
        <p:spPr>
          <a:xfrm>
            <a:off x="2127885" y="2199640"/>
            <a:ext cx="5080635" cy="368300"/>
          </a:xfrm>
          <a:prstGeom prst="rect">
            <a:avLst/>
          </a:prstGeom>
          <a:noFill/>
        </p:spPr>
        <p:txBody>
          <a:bodyPr wrap="none" rtlCol="0" anchor="t">
            <a:spAutoFit/>
          </a:bodyPr>
          <a:p>
            <a:r>
              <a:rPr lang="en-IN" altLang="en-US">
                <a:sym typeface="+mn-ea"/>
              </a:rPr>
              <a:t>State Govermment incentive = 40% of the Initial Cost</a:t>
            </a:r>
            <a:endParaRPr lang="en-US"/>
          </a:p>
        </p:txBody>
      </p:sp>
      <p:sp>
        <p:nvSpPr>
          <p:cNvPr id="6" name="Text Box 5"/>
          <p:cNvSpPr txBox="1"/>
          <p:nvPr/>
        </p:nvSpPr>
        <p:spPr>
          <a:xfrm>
            <a:off x="4918710" y="2795905"/>
            <a:ext cx="1856105" cy="368300"/>
          </a:xfrm>
          <a:prstGeom prst="rect">
            <a:avLst/>
          </a:prstGeom>
          <a:noFill/>
        </p:spPr>
        <p:txBody>
          <a:bodyPr wrap="none" rtlCol="0" anchor="t">
            <a:spAutoFit/>
          </a:bodyPr>
          <a:p>
            <a:r>
              <a:rPr lang="en-IN" altLang="en-US">
                <a:sym typeface="+mn-ea"/>
              </a:rPr>
              <a:t> = 0.4 x </a:t>
            </a:r>
            <a:r>
              <a:rPr lang="en-IN" altLang="en-US">
                <a:sym typeface="+mn-ea"/>
              </a:rPr>
              <a:t>3,00,000/-</a:t>
            </a:r>
            <a:endParaRPr lang="en-US"/>
          </a:p>
        </p:txBody>
      </p:sp>
      <p:sp>
        <p:nvSpPr>
          <p:cNvPr id="7" name="Text Box 6"/>
          <p:cNvSpPr txBox="1"/>
          <p:nvPr/>
        </p:nvSpPr>
        <p:spPr>
          <a:xfrm>
            <a:off x="4918710" y="3244850"/>
            <a:ext cx="1416685" cy="368300"/>
          </a:xfrm>
          <a:prstGeom prst="rect">
            <a:avLst/>
          </a:prstGeom>
          <a:noFill/>
        </p:spPr>
        <p:txBody>
          <a:bodyPr wrap="none" rtlCol="0" anchor="t">
            <a:spAutoFit/>
          </a:bodyPr>
          <a:p>
            <a:r>
              <a:rPr lang="en-IN" altLang="en-US">
                <a:sym typeface="+mn-ea"/>
              </a:rPr>
              <a:t>  = 1,20,000/-</a:t>
            </a:r>
            <a:endParaRPr lang="en-US"/>
          </a:p>
        </p:txBody>
      </p:sp>
      <p:sp>
        <p:nvSpPr>
          <p:cNvPr id="8" name="Text Box 7"/>
          <p:cNvSpPr txBox="1"/>
          <p:nvPr/>
        </p:nvSpPr>
        <p:spPr>
          <a:xfrm>
            <a:off x="2725420" y="4380865"/>
            <a:ext cx="3885565" cy="368300"/>
          </a:xfrm>
          <a:prstGeom prst="rect">
            <a:avLst/>
          </a:prstGeom>
          <a:noFill/>
        </p:spPr>
        <p:txBody>
          <a:bodyPr wrap="none" rtlCol="0" anchor="t">
            <a:spAutoFit/>
          </a:bodyPr>
          <a:p>
            <a:r>
              <a:rPr lang="en-IN" altLang="en-US">
                <a:sym typeface="+mn-ea"/>
              </a:rPr>
              <a:t>Average monthly Electricity bill = 3000/-</a:t>
            </a:r>
            <a:endParaRPr lang="en-US"/>
          </a:p>
        </p:txBody>
      </p:sp>
      <p:sp>
        <p:nvSpPr>
          <p:cNvPr id="9" name="Text Box 8"/>
          <p:cNvSpPr txBox="1"/>
          <p:nvPr/>
        </p:nvSpPr>
        <p:spPr>
          <a:xfrm>
            <a:off x="2381885" y="4729480"/>
            <a:ext cx="5278755" cy="368300"/>
          </a:xfrm>
          <a:prstGeom prst="rect">
            <a:avLst/>
          </a:prstGeom>
          <a:noFill/>
        </p:spPr>
        <p:txBody>
          <a:bodyPr wrap="none" rtlCol="0" anchor="t">
            <a:spAutoFit/>
          </a:bodyPr>
          <a:p>
            <a:r>
              <a:rPr lang="en-IN" altLang="en-US">
                <a:sym typeface="+mn-ea"/>
              </a:rPr>
              <a:t>Pay  back time in months = </a:t>
            </a:r>
            <a:r>
              <a:rPr lang="en-IN" altLang="en-US">
                <a:sym typeface="+mn-ea"/>
              </a:rPr>
              <a:t>1,80,000/3000 = 60 months</a:t>
            </a:r>
            <a:endParaRPr lang="en-US"/>
          </a:p>
        </p:txBody>
      </p:sp>
      <p:sp>
        <p:nvSpPr>
          <p:cNvPr id="10" name="Text Box 9"/>
          <p:cNvSpPr txBox="1"/>
          <p:nvPr/>
        </p:nvSpPr>
        <p:spPr>
          <a:xfrm>
            <a:off x="4918710" y="5107940"/>
            <a:ext cx="949960" cy="368300"/>
          </a:xfrm>
          <a:prstGeom prst="rect">
            <a:avLst/>
          </a:prstGeom>
          <a:noFill/>
        </p:spPr>
        <p:txBody>
          <a:bodyPr wrap="none" rtlCol="0" anchor="t">
            <a:spAutoFit/>
          </a:bodyPr>
          <a:p>
            <a:r>
              <a:rPr lang="en-IN" altLang="en-US">
                <a:sym typeface="+mn-ea"/>
              </a:rPr>
              <a:t>  =60/12</a:t>
            </a:r>
            <a:endParaRPr lang="en-US"/>
          </a:p>
        </p:txBody>
      </p:sp>
      <p:sp>
        <p:nvSpPr>
          <p:cNvPr id="11" name="Text Box 10"/>
          <p:cNvSpPr txBox="1"/>
          <p:nvPr/>
        </p:nvSpPr>
        <p:spPr>
          <a:xfrm>
            <a:off x="4918710" y="5396865"/>
            <a:ext cx="1209040" cy="368300"/>
          </a:xfrm>
          <a:prstGeom prst="rect">
            <a:avLst/>
          </a:prstGeom>
          <a:noFill/>
        </p:spPr>
        <p:txBody>
          <a:bodyPr wrap="none" rtlCol="0" anchor="t">
            <a:spAutoFit/>
          </a:bodyPr>
          <a:p>
            <a:r>
              <a:rPr lang="en-IN" altLang="en-US">
                <a:sym typeface="+mn-ea"/>
              </a:rPr>
              <a:t>    =5 years </a:t>
            </a:r>
            <a:endParaRPr lang="en-US"/>
          </a:p>
        </p:txBody>
      </p:sp>
      <p:sp>
        <p:nvSpPr>
          <p:cNvPr id="12" name="Text Box 11"/>
          <p:cNvSpPr txBox="1"/>
          <p:nvPr/>
        </p:nvSpPr>
        <p:spPr>
          <a:xfrm>
            <a:off x="2571750" y="3653790"/>
            <a:ext cx="4636770" cy="368300"/>
          </a:xfrm>
          <a:prstGeom prst="rect">
            <a:avLst/>
          </a:prstGeom>
          <a:noFill/>
        </p:spPr>
        <p:txBody>
          <a:bodyPr wrap="none" rtlCol="0">
            <a:spAutoFit/>
          </a:bodyPr>
          <a:p>
            <a:pPr algn="l"/>
            <a:r>
              <a:rPr lang="en-IN" altLang="en-US"/>
              <a:t>Total to be paid for installtion =3,00,000-120000</a:t>
            </a:r>
            <a:endParaRPr lang="en-IN" altLang="en-US"/>
          </a:p>
        </p:txBody>
      </p:sp>
      <p:sp>
        <p:nvSpPr>
          <p:cNvPr id="13" name="Text Box 12"/>
          <p:cNvSpPr txBox="1"/>
          <p:nvPr/>
        </p:nvSpPr>
        <p:spPr>
          <a:xfrm>
            <a:off x="5294630" y="4016375"/>
            <a:ext cx="1104265" cy="368300"/>
          </a:xfrm>
          <a:prstGeom prst="rect">
            <a:avLst/>
          </a:prstGeom>
          <a:noFill/>
        </p:spPr>
        <p:txBody>
          <a:bodyPr wrap="none" rtlCol="0" anchor="t">
            <a:spAutoFit/>
          </a:bodyPr>
          <a:p>
            <a:pPr algn="l"/>
            <a:r>
              <a:rPr lang="en-IN" altLang="en-US">
                <a:sym typeface="+mn-ea"/>
              </a:rPr>
              <a:t>=1,80,000</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P spid="7" grpId="0"/>
      <p:bldP spid="7" grpId="1"/>
      <p:bldP spid="8" grpId="0"/>
      <p:bldP spid="8" grpId="1"/>
      <p:bldP spid="9" grpId="0"/>
      <p:bldP spid="9" grpId="1"/>
      <p:bldP spid="10" grpId="0"/>
      <p:bldP spid="10" grpId="1"/>
      <p:bldP spid="11" grpId="0"/>
      <p:bldP spid="11" grpId="1"/>
      <p:bldP spid="12" grpId="0"/>
      <p:bldP spid="12" grpId="1"/>
      <p:bldP spid="13" grpId="0"/>
      <p:bldP spid="13" grpId="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sz="quarter" idx="11"/>
          </p:nvPr>
        </p:nvSpPr>
        <p:spPr/>
        <p:txBody>
          <a:bodyPr/>
          <a:p>
            <a:endParaRPr lang="en-IN"/>
          </a:p>
        </p:txBody>
      </p:sp>
      <p:sp>
        <p:nvSpPr>
          <p:cNvPr id="5" name="Text Box 4"/>
          <p:cNvSpPr txBox="1"/>
          <p:nvPr/>
        </p:nvSpPr>
        <p:spPr>
          <a:xfrm>
            <a:off x="858520" y="615315"/>
            <a:ext cx="10924540" cy="368300"/>
          </a:xfrm>
          <a:prstGeom prst="rect">
            <a:avLst/>
          </a:prstGeom>
          <a:noFill/>
        </p:spPr>
        <p:txBody>
          <a:bodyPr wrap="square" rtlCol="0" anchor="t">
            <a:spAutoFit/>
          </a:bodyPr>
          <a:p>
            <a:r>
              <a:rPr lang="en-IN" altLang="en-US"/>
              <a:t>Equal Monthly Installment</a:t>
            </a:r>
            <a:endParaRPr lang="en-US"/>
          </a:p>
        </p:txBody>
      </p:sp>
      <p:pic>
        <p:nvPicPr>
          <p:cNvPr id="100" name="Picture 99"/>
          <p:cNvPicPr/>
          <p:nvPr/>
        </p:nvPicPr>
        <p:blipFill>
          <a:blip r:embed="rId1"/>
          <a:stretch>
            <a:fillRect/>
          </a:stretch>
        </p:blipFill>
        <p:spPr>
          <a:xfrm>
            <a:off x="3962400" y="2319338"/>
            <a:ext cx="4267200" cy="2219325"/>
          </a:xfrm>
          <a:prstGeom prst="rect">
            <a:avLst/>
          </a:prstGeom>
          <a:noFill/>
          <a:ln w="9525">
            <a:noFill/>
          </a:ln>
        </p:spPr>
      </p:pic>
      <p:sp>
        <p:nvSpPr>
          <p:cNvPr id="2" name="Text Box 1"/>
          <p:cNvSpPr txBox="1"/>
          <p:nvPr/>
        </p:nvSpPr>
        <p:spPr>
          <a:xfrm>
            <a:off x="555625" y="1164590"/>
            <a:ext cx="11080750" cy="645160"/>
          </a:xfrm>
          <a:prstGeom prst="rect">
            <a:avLst/>
          </a:prstGeom>
          <a:noFill/>
        </p:spPr>
        <p:txBody>
          <a:bodyPr wrap="none" rtlCol="0" anchor="t">
            <a:spAutoFit/>
          </a:bodyPr>
          <a:p>
            <a:r>
              <a:rPr lang="en-US">
                <a:sym typeface="+mn-ea"/>
              </a:rPr>
              <a:t>The EMI amount is calculated by adding the total principal of the loan and the total interest on the principal together, </a:t>
            </a:r>
            <a:endParaRPr lang="en-US">
              <a:sym typeface="+mn-ea"/>
            </a:endParaRPr>
          </a:p>
          <a:p>
            <a:r>
              <a:rPr lang="en-US">
                <a:sym typeface="+mn-ea"/>
              </a:rPr>
              <a:t>then dividing the sum by the number of EMI payments, which is the number of months during the loan term</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Footer Placeholder 1"/>
          <p:cNvSpPr>
            <a:spLocks noGrp="1"/>
          </p:cNvSpPr>
          <p:nvPr>
            <p:ph type="ftr" sz="quarter" idx="11"/>
          </p:nvPr>
        </p:nvSpPr>
        <p:spPr/>
        <p:txBody>
          <a:bodyPr/>
          <a:p>
            <a:endParaRPr lang="en-IN"/>
          </a:p>
        </p:txBody>
      </p:sp>
      <p:pic>
        <p:nvPicPr>
          <p:cNvPr id="3" name="Picture 2"/>
          <p:cNvPicPr>
            <a:picLocks noChangeAspect="1"/>
          </p:cNvPicPr>
          <p:nvPr/>
        </p:nvPicPr>
        <p:blipFill>
          <a:blip r:embed="rId1"/>
          <a:stretch>
            <a:fillRect/>
          </a:stretch>
        </p:blipFill>
        <p:spPr>
          <a:xfrm>
            <a:off x="1524000" y="0"/>
            <a:ext cx="9144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11875</Words>
  <Application>WPS Presentation</Application>
  <PresentationFormat>Widescreen</PresentationFormat>
  <Paragraphs>231</Paragraphs>
  <Slides>58</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5</vt:i4>
      </vt:variant>
      <vt:variant>
        <vt:lpstr>幻灯片标题</vt:lpstr>
      </vt:variant>
      <vt:variant>
        <vt:i4>58</vt:i4>
      </vt:variant>
    </vt:vector>
  </HeadingPairs>
  <TitlesOfParts>
    <vt:vector size="76" baseType="lpstr">
      <vt:lpstr>Arial</vt:lpstr>
      <vt:lpstr>SimSun</vt:lpstr>
      <vt:lpstr>Wingdings</vt:lpstr>
      <vt:lpstr>Calibri</vt:lpstr>
      <vt:lpstr>Microsoft YaHei</vt:lpstr>
      <vt:lpstr>Arial Unicode MS</vt:lpstr>
      <vt:lpstr>Calibri Light</vt:lpstr>
      <vt:lpstr>Times New Roman</vt:lpstr>
      <vt:lpstr>Wingdings</vt:lpstr>
      <vt:lpstr>sans-serif</vt:lpstr>
      <vt:lpstr>Segoe Print</vt:lpstr>
      <vt:lpstr>Tahoma</vt:lpstr>
      <vt:lpstr>Office Theme</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tssigikumar@gmail.com</dc:creator>
  <cp:lastModifiedBy>Sigi Kumar</cp:lastModifiedBy>
  <cp:revision>60</cp:revision>
  <dcterms:created xsi:type="dcterms:W3CDTF">2022-09-13T04:33:00Z</dcterms:created>
  <dcterms:modified xsi:type="dcterms:W3CDTF">2024-10-21T17:04:45Z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D9DA0AF0583844F9840A81595DAFB1A1_13</vt:lpwstr>
  </property>
  <property fmtid="{D5CDD505-2E9C-101B-9397-08002B2CF9AE}" pid="3" name="KSOProductBuildVer">
    <vt:lpwstr>1033-12.2.0.18607</vt:lpwstr>
  </property>
</Properties>
</file>