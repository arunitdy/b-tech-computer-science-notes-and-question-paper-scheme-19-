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8" r:id="rId13"/>
    <p:sldId id="267" r:id="rId14"/>
    <p:sldId id="299" r:id="rId15"/>
    <p:sldId id="268" r:id="rId16"/>
    <p:sldId id="269" r:id="rId17"/>
    <p:sldId id="300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301" r:id="rId47"/>
    <p:sldId id="305" r:id="rId48"/>
    <p:sldId id="304" r:id="rId49"/>
    <p:sldId id="302" r:id="rId50"/>
    <p:sldId id="303" r:id="rId51"/>
  </p:sldIdLst>
  <p:sldSz cx="2679700" cy="2012950"/>
  <p:notesSz cx="2679700" cy="20129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01" autoAdjust="0"/>
    <p:restoredTop sz="94660"/>
  </p:normalViewPr>
  <p:slideViewPr>
    <p:cSldViewPr>
      <p:cViewPr varScale="1">
        <p:scale>
          <a:sx n="260" d="100"/>
          <a:sy n="260" d="100"/>
        </p:scale>
        <p:origin x="1766" y="1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160463" cy="101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17650" y="0"/>
            <a:ext cx="1162050" cy="101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000D5E-6A5A-4EAD-8A79-DCE6DAB8E0F7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0" y="252413"/>
            <a:ext cx="901700" cy="677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68288" y="968375"/>
            <a:ext cx="2143125" cy="7937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911350"/>
            <a:ext cx="1160463" cy="101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17650" y="1911350"/>
            <a:ext cx="1162050" cy="101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A271F-B6EA-4725-B16B-9B315DB86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748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A271F-B6EA-4725-B16B-9B315DB86FC3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826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1453" y="624014"/>
            <a:ext cx="2283142" cy="422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02907" y="1127252"/>
            <a:ext cx="1880235" cy="5032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1">
                <a:solidFill>
                  <a:srgbClr val="FF0000"/>
                </a:solidFill>
                <a:latin typeface="TeX Gyre Bonum"/>
                <a:cs typeface="TeX Gyre Bon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tx1"/>
                </a:solidFill>
                <a:latin typeface="DejaVu Serif"/>
                <a:cs typeface="DejaVu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1">
                <a:solidFill>
                  <a:srgbClr val="FF0000"/>
                </a:solidFill>
                <a:latin typeface="TeX Gyre Bonum"/>
                <a:cs typeface="TeX Gyre Bon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34302" y="462978"/>
            <a:ext cx="1168431" cy="13285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383315" y="462978"/>
            <a:ext cx="1168431" cy="13285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1">
                <a:solidFill>
                  <a:srgbClr val="FF0000"/>
                </a:solidFill>
                <a:latin typeface="TeX Gyre Bonum"/>
                <a:cs typeface="TeX Gyre Bon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918" y="-5841"/>
            <a:ext cx="1912213" cy="333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1">
                <a:solidFill>
                  <a:srgbClr val="FF0000"/>
                </a:solidFill>
                <a:latin typeface="TeX Gyre Bonum"/>
                <a:cs typeface="TeX Gyre Bon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733" y="465963"/>
            <a:ext cx="1381125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" b="0" i="0">
                <a:solidFill>
                  <a:schemeClr val="tx1"/>
                </a:solidFill>
                <a:latin typeface="DejaVu Serif"/>
                <a:cs typeface="DejaVu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13257" y="1872043"/>
            <a:ext cx="859536" cy="100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34302" y="1872043"/>
            <a:ext cx="617791" cy="100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933956" y="1872043"/>
            <a:ext cx="617791" cy="100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s.google.com/site/rejeeshcrfisat" TargetMode="Externa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07717" y="65151"/>
            <a:ext cx="256540" cy="17761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15240">
              <a:lnSpc>
                <a:spcPct val="100000"/>
              </a:lnSpc>
              <a:spcBef>
                <a:spcPts val="45"/>
              </a:spcBef>
            </a:pPr>
            <a:endParaRPr sz="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3357" y="242241"/>
            <a:ext cx="2420620" cy="1068882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R="20955" algn="ctr">
              <a:lnSpc>
                <a:spcPct val="100000"/>
              </a:lnSpc>
              <a:spcBef>
                <a:spcPts val="295"/>
              </a:spcBef>
            </a:pPr>
            <a:r>
              <a:rPr lang="en-US" sz="1450" b="1" i="1" spc="5" smtClean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Renewable</a:t>
            </a:r>
            <a:r>
              <a:rPr sz="1450" b="1" i="1" spc="5" smtClean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50" b="1" i="1" spc="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Energy</a:t>
            </a:r>
            <a:r>
              <a:rPr sz="1450" b="1" i="1" spc="-1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50" b="1" i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Engineering</a:t>
            </a:r>
            <a:endParaRPr sz="1450">
              <a:latin typeface="Times New Roman" panose="02020603050405020304"/>
              <a:cs typeface="Times New Roman" panose="02020603050405020304"/>
            </a:endParaRPr>
          </a:p>
          <a:p>
            <a:pPr marL="619760">
              <a:lnSpc>
                <a:spcPct val="100000"/>
              </a:lnSpc>
              <a:spcBef>
                <a:spcPts val="930"/>
              </a:spcBef>
            </a:pPr>
            <a:r>
              <a:rPr sz="1750" b="1" i="1" spc="5">
                <a:solidFill>
                  <a:srgbClr val="1F487C"/>
                </a:solidFill>
                <a:latin typeface="Times New Roman" panose="02020603050405020304"/>
                <a:cs typeface="Times New Roman" panose="02020603050405020304"/>
              </a:rPr>
              <a:t>Module </a:t>
            </a:r>
            <a:r>
              <a:rPr lang="en-US" sz="1750" b="1" i="1" dirty="0" smtClean="0">
                <a:solidFill>
                  <a:srgbClr val="1F487C"/>
                </a:solidFill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1750" b="1" i="1" spc="-50" smtClean="0">
                <a:solidFill>
                  <a:srgbClr val="1F487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50" b="1" i="1" dirty="0">
                <a:solidFill>
                  <a:srgbClr val="1F487C"/>
                </a:solidFill>
                <a:latin typeface="Times New Roman" panose="02020603050405020304"/>
                <a:cs typeface="Times New Roman" panose="02020603050405020304"/>
              </a:rPr>
              <a:t>II</a:t>
            </a:r>
            <a:endParaRPr sz="17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600">
              <a:latin typeface="Times New Roman" panose="02020603050405020304"/>
              <a:cs typeface="Times New Roman" panose="02020603050405020304"/>
            </a:endParaRPr>
          </a:p>
          <a:p>
            <a:pPr marL="1076325">
              <a:lnSpc>
                <a:spcPct val="100000"/>
              </a:lnSpc>
            </a:pPr>
            <a:r>
              <a:rPr sz="550" i="1" u="sng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  <a:hlinkClick r:id="rId2"/>
              </a:rPr>
              <a:t>https://sites.google.com/site/rejeeshcrfisa</a:t>
            </a:r>
            <a:r>
              <a:rPr sz="550" i="1" spc="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  <a:hlinkClick r:id="rId2"/>
              </a:rPr>
              <a:t>t</a:t>
            </a:r>
            <a:endParaRPr sz="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7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85389" y="1875663"/>
            <a:ext cx="4826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4</a:t>
            </a:r>
            <a:endParaRPr sz="350">
              <a:latin typeface="Carlito"/>
              <a:cs typeface="Carli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1556" y="0"/>
            <a:ext cx="2705735" cy="2035175"/>
            <a:chOff x="-11556" y="0"/>
            <a:chExt cx="2705735" cy="2035175"/>
          </a:xfrm>
        </p:grpSpPr>
        <p:sp>
          <p:nvSpPr>
            <p:cNvPr id="4" name="object 4"/>
            <p:cNvSpPr/>
            <p:nvPr/>
          </p:nvSpPr>
          <p:spPr>
            <a:xfrm>
              <a:off x="201041" y="804722"/>
              <a:ext cx="2368423" cy="11397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3393" y="67170"/>
              <a:ext cx="2323718" cy="75985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5" y="127"/>
              <a:ext cx="2681605" cy="2011045"/>
            </a:xfrm>
            <a:custGeom>
              <a:avLst/>
              <a:gdLst/>
              <a:ahLst/>
              <a:cxnLst/>
              <a:rect l="l" t="t" r="r" b="b"/>
              <a:pathLst>
                <a:path w="2681605" h="2011045">
                  <a:moveTo>
                    <a:pt x="0" y="2010790"/>
                  </a:moveTo>
                  <a:lnTo>
                    <a:pt x="2681351" y="201079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79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7709" y="80581"/>
            <a:ext cx="12280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Course</a:t>
            </a:r>
            <a:r>
              <a:rPr sz="1300" b="1" i="1" spc="-9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i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Outcomes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1938" y="1916747"/>
            <a:ext cx="4826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3</a:t>
            </a:r>
            <a:endParaRPr sz="350">
              <a:latin typeface="Carlito"/>
              <a:cs typeface="Carli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9859" y="512170"/>
          <a:ext cx="2501900" cy="14041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145"/>
                <a:gridCol w="1978025"/>
                <a:gridCol w="379730"/>
              </a:tblGrid>
              <a:tr h="201422">
                <a:tc>
                  <a:txBody>
                    <a:bodyPr/>
                    <a:lstStyle/>
                    <a:p>
                      <a:pPr marL="33020" marR="24130" indent="10160">
                        <a:lnSpc>
                          <a:spcPct val="123000"/>
                        </a:lnSpc>
                        <a:spcBef>
                          <a:spcPts val="145"/>
                        </a:spcBef>
                      </a:pPr>
                      <a:r>
                        <a:rPr sz="400" b="1" dirty="0">
                          <a:latin typeface="Times New Roman" panose="02020603050405020304"/>
                          <a:cs typeface="Times New Roman" panose="02020603050405020304"/>
                        </a:rPr>
                        <a:t>S</a:t>
                      </a:r>
                      <a:r>
                        <a:rPr sz="400" b="1" spc="-5" dirty="0">
                          <a:latin typeface="Times New Roman" panose="02020603050405020304"/>
                          <a:cs typeface="Times New Roman" panose="02020603050405020304"/>
                        </a:rPr>
                        <a:t>l</a:t>
                      </a:r>
                      <a:r>
                        <a:rPr sz="400" b="1" dirty="0">
                          <a:latin typeface="Times New Roman" panose="02020603050405020304"/>
                          <a:cs typeface="Times New Roman" panose="02020603050405020304"/>
                        </a:rPr>
                        <a:t>.  </a:t>
                      </a:r>
                      <a:r>
                        <a:rPr sz="400" b="1" spc="5" dirty="0">
                          <a:latin typeface="Times New Roman" panose="02020603050405020304"/>
                          <a:cs typeface="Times New Roman" panose="02020603050405020304"/>
                        </a:rPr>
                        <a:t>NO</a:t>
                      </a:r>
                      <a:endParaRPr sz="4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500" b="1" spc="10" dirty="0">
                          <a:latin typeface="Times New Roman" panose="02020603050405020304"/>
                          <a:cs typeface="Times New Roman" panose="02020603050405020304"/>
                        </a:rPr>
                        <a:t>DESCRIPTION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28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 marR="40640" indent="101600">
                        <a:lnSpc>
                          <a:spcPct val="127000"/>
                        </a:lnSpc>
                        <a:spcBef>
                          <a:spcPts val="35"/>
                        </a:spcBef>
                      </a:pPr>
                      <a:r>
                        <a:rPr sz="450" b="1" spc="10" dirty="0">
                          <a:latin typeface="Times New Roman" panose="02020603050405020304"/>
                          <a:cs typeface="Times New Roman" panose="02020603050405020304"/>
                        </a:rPr>
                        <a:t>PO  </a:t>
                      </a:r>
                      <a:r>
                        <a:rPr sz="450" b="1" dirty="0">
                          <a:latin typeface="Times New Roman" panose="02020603050405020304"/>
                          <a:cs typeface="Times New Roman" panose="02020603050405020304"/>
                        </a:rPr>
                        <a:t>M</a:t>
                      </a:r>
                      <a:r>
                        <a:rPr sz="450" b="1" spc="-5" dirty="0"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450" b="1" dirty="0">
                          <a:latin typeface="Times New Roman" panose="02020603050405020304"/>
                          <a:cs typeface="Times New Roman" panose="02020603050405020304"/>
                        </a:rPr>
                        <a:t>PP</a:t>
                      </a:r>
                      <a:r>
                        <a:rPr sz="450" b="1" spc="-5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450" b="1" dirty="0">
                          <a:latin typeface="Times New Roman" panose="02020603050405020304"/>
                          <a:cs typeface="Times New Roman" panose="02020603050405020304"/>
                        </a:rPr>
                        <a:t>G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50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45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Discuss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compare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the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layout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working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principles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500" spc="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steam,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9685">
                        <a:lnSpc>
                          <a:spcPts val="575"/>
                        </a:lnSpc>
                        <a:spcBef>
                          <a:spcPts val="120"/>
                        </a:spcBef>
                      </a:pP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hydro, nuclear,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gas turbine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diesel power</a:t>
                      </a:r>
                      <a:r>
                        <a:rPr sz="500" spc="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plants.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450" b="1" spc="5" dirty="0">
                          <a:latin typeface="Times New Roman" panose="02020603050405020304"/>
                          <a:cs typeface="Times New Roman" panose="02020603050405020304"/>
                        </a:rPr>
                        <a:t>PO1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50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45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65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500" b="1" spc="10" dirty="0">
                          <a:latin typeface="Times New Roman" panose="02020603050405020304"/>
                          <a:cs typeface="Times New Roman" panose="02020603050405020304"/>
                        </a:rPr>
                        <a:t>Describe </a:t>
                      </a:r>
                      <a:r>
                        <a:rPr sz="500" b="1" spc="5" dirty="0">
                          <a:latin typeface="Times New Roman" panose="02020603050405020304"/>
                          <a:cs typeface="Times New Roman" panose="02020603050405020304"/>
                        </a:rPr>
                        <a:t>the use </a:t>
                      </a:r>
                      <a:r>
                        <a:rPr sz="500" b="1" spc="10" dirty="0">
                          <a:latin typeface="Times New Roman" panose="02020603050405020304"/>
                          <a:cs typeface="Times New Roman" panose="02020603050405020304"/>
                        </a:rPr>
                        <a:t>of solar energy </a:t>
                      </a:r>
                      <a:r>
                        <a:rPr sz="500" b="1" spc="1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b="1" spc="10" dirty="0">
                          <a:latin typeface="Times New Roman" panose="02020603050405020304"/>
                          <a:cs typeface="Times New Roman" panose="02020603050405020304"/>
                        </a:rPr>
                        <a:t>the various components</a:t>
                      </a:r>
                      <a:r>
                        <a:rPr sz="500" b="1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b="1" spc="5" dirty="0">
                          <a:latin typeface="Times New Roman" panose="02020603050405020304"/>
                          <a:cs typeface="Times New Roman" panose="02020603050405020304"/>
                        </a:rPr>
                        <a:t>used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9685">
                        <a:lnSpc>
                          <a:spcPts val="575"/>
                        </a:lnSpc>
                        <a:spcBef>
                          <a:spcPts val="120"/>
                        </a:spcBef>
                      </a:pPr>
                      <a:r>
                        <a:rPr sz="500" b="1" spc="5" dirty="0">
                          <a:latin typeface="Times New Roman" panose="02020603050405020304"/>
                          <a:cs typeface="Times New Roman" panose="02020603050405020304"/>
                        </a:rPr>
                        <a:t>in the </a:t>
                      </a:r>
                      <a:r>
                        <a:rPr sz="500" b="1" spc="10" dirty="0">
                          <a:latin typeface="Times New Roman" panose="02020603050405020304"/>
                          <a:cs typeface="Times New Roman" panose="02020603050405020304"/>
                        </a:rPr>
                        <a:t>energy</a:t>
                      </a:r>
                      <a:r>
                        <a:rPr sz="500" b="1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b="1" spc="5" dirty="0">
                          <a:latin typeface="Times New Roman" panose="02020603050405020304"/>
                          <a:cs typeface="Times New Roman" panose="02020603050405020304"/>
                        </a:rPr>
                        <a:t>production.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450" b="1" spc="5" dirty="0">
                          <a:latin typeface="Times New Roman" panose="02020603050405020304"/>
                          <a:cs typeface="Times New Roman" panose="02020603050405020304"/>
                        </a:rPr>
                        <a:t>PO1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5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45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65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Appreciate the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need of Wind Energy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the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various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components</a:t>
                      </a:r>
                      <a:r>
                        <a:rPr sz="500" spc="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used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9685">
                        <a:lnSpc>
                          <a:spcPts val="575"/>
                        </a:lnSpc>
                        <a:spcBef>
                          <a:spcPts val="120"/>
                        </a:spcBef>
                      </a:pP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in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energy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generation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know the</a:t>
                      </a:r>
                      <a:r>
                        <a:rPr sz="500" spc="114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classifications.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450" b="1" spc="5" dirty="0">
                          <a:latin typeface="Times New Roman" panose="02020603050405020304"/>
                          <a:cs typeface="Times New Roman" panose="02020603050405020304"/>
                        </a:rPr>
                        <a:t>PO1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50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450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Acquire knowledge about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the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concept of power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generation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from</a:t>
                      </a:r>
                      <a:endParaRPr sz="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9685">
                        <a:lnSpc>
                          <a:spcPts val="575"/>
                        </a:lnSpc>
                        <a:spcBef>
                          <a:spcPts val="120"/>
                        </a:spcBef>
                      </a:pP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biomass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energy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resources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their future prospects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500" spc="114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economics.</a:t>
                      </a:r>
                      <a:endParaRPr sz="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450" b="1" spc="5" dirty="0">
                          <a:latin typeface="Times New Roman" panose="02020603050405020304"/>
                          <a:cs typeface="Times New Roman" panose="02020603050405020304"/>
                        </a:rPr>
                        <a:t>PO1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50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450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Describe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the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principles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applications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of power generation</a:t>
                      </a:r>
                      <a:r>
                        <a:rPr sz="500" spc="1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from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9685">
                        <a:lnSpc>
                          <a:spcPts val="575"/>
                        </a:lnSpc>
                        <a:spcBef>
                          <a:spcPts val="120"/>
                        </a:spcBef>
                      </a:pP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various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sources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Hydrogen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energy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conversion</a:t>
                      </a:r>
                      <a:r>
                        <a:rPr sz="500" spc="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systems.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450" b="1" spc="5" dirty="0">
                          <a:latin typeface="Times New Roman" panose="02020603050405020304"/>
                          <a:cs typeface="Times New Roman" panose="02020603050405020304"/>
                        </a:rPr>
                        <a:t>PO1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75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450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Understand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energy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scenario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the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environmental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effects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5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energy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9685" marR="12065">
                        <a:lnSpc>
                          <a:spcPts val="730"/>
                        </a:lnSpc>
                        <a:spcBef>
                          <a:spcPts val="35"/>
                        </a:spcBef>
                      </a:pP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conversion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become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aware of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different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renewable energy sources  and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choose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sustainable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energy for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future.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450" b="1" spc="5" dirty="0">
                          <a:latin typeface="Times New Roman" panose="02020603050405020304"/>
                          <a:cs typeface="Times New Roman" panose="02020603050405020304"/>
                        </a:rPr>
                        <a:t>PO1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5984" y="333946"/>
            <a:ext cx="2375535" cy="133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" b="0" spc="-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After </a:t>
            </a:r>
            <a:r>
              <a:rPr sz="700"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successful completion </a:t>
            </a:r>
            <a:r>
              <a:rPr sz="700" b="0" spc="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700"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this course, students </a:t>
            </a:r>
            <a:r>
              <a:rPr sz="700" b="0" spc="-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will </a:t>
            </a:r>
            <a:r>
              <a:rPr sz="700" b="0" spc="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700"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able</a:t>
            </a:r>
            <a:r>
              <a:rPr sz="700" b="0" spc="-9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1028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381" y="18074"/>
            <a:ext cx="1068070" cy="3810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300" spc="-10" dirty="0"/>
              <a:t>Solar</a:t>
            </a:r>
            <a:r>
              <a:rPr sz="1300" spc="-90" dirty="0"/>
              <a:t> </a:t>
            </a:r>
            <a:r>
              <a:rPr sz="1300" spc="-10" dirty="0"/>
              <a:t>Power</a:t>
            </a:r>
            <a:endParaRPr sz="1300"/>
          </a:p>
          <a:p>
            <a:pPr marL="149225">
              <a:lnSpc>
                <a:spcPct val="100000"/>
              </a:lnSpc>
              <a:spcBef>
                <a:spcPts val="170"/>
              </a:spcBef>
            </a:pPr>
            <a:r>
              <a:rPr sz="600" b="0" i="0" spc="-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Solar energy</a:t>
            </a:r>
            <a:r>
              <a:rPr sz="600" b="0" i="0" spc="-1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" b="0" i="0" spc="-3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utilisation</a:t>
            </a:r>
            <a:endParaRPr sz="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82876" y="429715"/>
            <a:ext cx="1271270" cy="164465"/>
          </a:xfrm>
          <a:custGeom>
            <a:avLst/>
            <a:gdLst/>
            <a:ahLst/>
            <a:cxnLst/>
            <a:rect l="l" t="t" r="r" b="b"/>
            <a:pathLst>
              <a:path w="1271270" h="164465">
                <a:moveTo>
                  <a:pt x="570" y="81969"/>
                </a:moveTo>
                <a:lnTo>
                  <a:pt x="1270933" y="81969"/>
                </a:lnTo>
              </a:path>
              <a:path w="1271270" h="164465">
                <a:moveTo>
                  <a:pt x="710095" y="81969"/>
                </a:moveTo>
                <a:lnTo>
                  <a:pt x="710095" y="0"/>
                </a:lnTo>
              </a:path>
              <a:path w="1271270" h="164465">
                <a:moveTo>
                  <a:pt x="0" y="163938"/>
                </a:moveTo>
                <a:lnTo>
                  <a:pt x="0" y="81969"/>
                </a:lnTo>
              </a:path>
            </a:pathLst>
          </a:custGeom>
          <a:ln w="106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2833" y="567961"/>
            <a:ext cx="400685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40" dirty="0">
                <a:latin typeface="Times New Roman" panose="02020603050405020304"/>
                <a:cs typeface="Times New Roman" panose="02020603050405020304"/>
              </a:rPr>
              <a:t>Direct</a:t>
            </a:r>
            <a:r>
              <a:rPr sz="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" spc="-45" dirty="0">
                <a:latin typeface="Times New Roman" panose="02020603050405020304"/>
                <a:cs typeface="Times New Roman" panose="02020603050405020304"/>
              </a:rPr>
              <a:t>method</a:t>
            </a:r>
            <a:endParaRPr sz="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1908" y="511684"/>
            <a:ext cx="1504315" cy="328295"/>
          </a:xfrm>
          <a:custGeom>
            <a:avLst/>
            <a:gdLst/>
            <a:ahLst/>
            <a:cxnLst/>
            <a:rect l="l" t="t" r="r" b="b"/>
            <a:pathLst>
              <a:path w="1504314" h="328294">
                <a:moveTo>
                  <a:pt x="1504019" y="81969"/>
                </a:moveTo>
                <a:lnTo>
                  <a:pt x="1504019" y="0"/>
                </a:lnTo>
              </a:path>
              <a:path w="1504314" h="328294">
                <a:moveTo>
                  <a:pt x="230967" y="245907"/>
                </a:moveTo>
                <a:lnTo>
                  <a:pt x="230967" y="163938"/>
                </a:lnTo>
              </a:path>
              <a:path w="1504314" h="328294">
                <a:moveTo>
                  <a:pt x="0" y="245907"/>
                </a:moveTo>
                <a:lnTo>
                  <a:pt x="461943" y="245907"/>
                </a:lnTo>
              </a:path>
              <a:path w="1504314" h="328294">
                <a:moveTo>
                  <a:pt x="0" y="327876"/>
                </a:moveTo>
                <a:lnTo>
                  <a:pt x="0" y="245907"/>
                </a:lnTo>
              </a:path>
              <a:path w="1504314" h="328294">
                <a:moveTo>
                  <a:pt x="461943" y="327876"/>
                </a:moveTo>
                <a:lnTo>
                  <a:pt x="461943" y="245907"/>
                </a:lnTo>
              </a:path>
            </a:pathLst>
          </a:custGeom>
          <a:ln w="106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38953" y="567961"/>
            <a:ext cx="440055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35" dirty="0">
                <a:latin typeface="Times New Roman" panose="02020603050405020304"/>
                <a:cs typeface="Times New Roman" panose="02020603050405020304"/>
              </a:rPr>
              <a:t>Indirect</a:t>
            </a:r>
            <a:r>
              <a:rPr sz="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" spc="-45" dirty="0">
                <a:latin typeface="Times New Roman" panose="02020603050405020304"/>
                <a:cs typeface="Times New Roman" panose="02020603050405020304"/>
              </a:rPr>
              <a:t>method</a:t>
            </a:r>
            <a:endParaRPr sz="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65942" y="675623"/>
            <a:ext cx="1386205" cy="164465"/>
          </a:xfrm>
          <a:custGeom>
            <a:avLst/>
            <a:gdLst/>
            <a:ahLst/>
            <a:cxnLst/>
            <a:rect l="l" t="t" r="r" b="b"/>
            <a:pathLst>
              <a:path w="1386205" h="164465">
                <a:moveTo>
                  <a:pt x="692919" y="81969"/>
                </a:moveTo>
                <a:lnTo>
                  <a:pt x="692919" y="0"/>
                </a:lnTo>
              </a:path>
              <a:path w="1386205" h="164465">
                <a:moveTo>
                  <a:pt x="0" y="81969"/>
                </a:moveTo>
                <a:lnTo>
                  <a:pt x="1385838" y="81969"/>
                </a:lnTo>
              </a:path>
              <a:path w="1386205" h="164465">
                <a:moveTo>
                  <a:pt x="0" y="163938"/>
                </a:moveTo>
                <a:lnTo>
                  <a:pt x="0" y="81969"/>
                </a:lnTo>
              </a:path>
              <a:path w="1386205" h="164465">
                <a:moveTo>
                  <a:pt x="346459" y="163938"/>
                </a:moveTo>
                <a:lnTo>
                  <a:pt x="346459" y="81969"/>
                </a:lnTo>
              </a:path>
              <a:path w="1386205" h="164465">
                <a:moveTo>
                  <a:pt x="692919" y="163938"/>
                </a:moveTo>
                <a:lnTo>
                  <a:pt x="692919" y="81969"/>
                </a:lnTo>
              </a:path>
              <a:path w="1386205" h="164465">
                <a:moveTo>
                  <a:pt x="1039378" y="163938"/>
                </a:moveTo>
                <a:lnTo>
                  <a:pt x="1039378" y="81969"/>
                </a:lnTo>
              </a:path>
              <a:path w="1386205" h="164465">
                <a:moveTo>
                  <a:pt x="1385838" y="163938"/>
                </a:moveTo>
                <a:lnTo>
                  <a:pt x="1385838" y="81969"/>
                </a:lnTo>
              </a:path>
            </a:pathLst>
          </a:custGeom>
          <a:ln w="106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9563" y="783440"/>
            <a:ext cx="2589530" cy="112776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455"/>
              </a:spcBef>
              <a:tabLst>
                <a:tab pos="488950" algn="l"/>
                <a:tab pos="1280160" algn="l"/>
              </a:tabLst>
            </a:pPr>
            <a:r>
              <a:rPr sz="600" spc="-45" dirty="0">
                <a:latin typeface="Times New Roman" panose="02020603050405020304"/>
                <a:cs typeface="Times New Roman" panose="02020603050405020304"/>
              </a:rPr>
              <a:t>Thermal	</a:t>
            </a:r>
            <a:r>
              <a:rPr sz="600" spc="-40" dirty="0">
                <a:latin typeface="Times New Roman" panose="02020603050405020304"/>
                <a:cs typeface="Times New Roman" panose="02020603050405020304"/>
              </a:rPr>
              <a:t>Photovoltaic    </a:t>
            </a:r>
            <a:r>
              <a:rPr sz="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" spc="-45" dirty="0">
                <a:latin typeface="Times New Roman" panose="02020603050405020304"/>
                <a:cs typeface="Times New Roman" panose="02020603050405020304"/>
              </a:rPr>
              <a:t>Biomass	</a:t>
            </a:r>
            <a:r>
              <a:rPr sz="600" spc="-50" dirty="0">
                <a:latin typeface="Times New Roman" panose="02020603050405020304"/>
                <a:cs typeface="Times New Roman" panose="02020603050405020304"/>
              </a:rPr>
              <a:t>Wind </a:t>
            </a:r>
            <a:r>
              <a:rPr sz="600" spc="-55" dirty="0">
                <a:latin typeface="Times New Roman" panose="02020603050405020304"/>
                <a:cs typeface="Times New Roman" panose="02020603050405020304"/>
              </a:rPr>
              <a:t>Wave </a:t>
            </a:r>
            <a:r>
              <a:rPr sz="600" spc="-40" dirty="0">
                <a:latin typeface="Times New Roman" panose="02020603050405020304"/>
                <a:cs typeface="Times New Roman" panose="02020603050405020304"/>
              </a:rPr>
              <a:t>energy </a:t>
            </a:r>
            <a:r>
              <a:rPr sz="600" spc="-60" dirty="0">
                <a:latin typeface="Times New Roman" panose="02020603050405020304"/>
                <a:cs typeface="Times New Roman" panose="02020603050405020304"/>
              </a:rPr>
              <a:t>OTEC </a:t>
            </a:r>
            <a:r>
              <a:rPr sz="600" spc="-45" dirty="0"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" spc="-45" dirty="0">
                <a:latin typeface="Times New Roman" panose="02020603050405020304"/>
                <a:cs typeface="Times New Roman" panose="02020603050405020304"/>
              </a:rPr>
              <a:t>power</a:t>
            </a:r>
            <a:endParaRPr sz="600">
              <a:latin typeface="Times New Roman" panose="02020603050405020304"/>
              <a:cs typeface="Times New Roman" panose="02020603050405020304"/>
            </a:endParaRPr>
          </a:p>
          <a:p>
            <a:pPr marL="808355">
              <a:lnSpc>
                <a:spcPct val="100000"/>
              </a:lnSpc>
              <a:spcBef>
                <a:spcPts val="355"/>
              </a:spcBef>
            </a:pPr>
            <a:r>
              <a:rPr sz="600" b="1" i="1" spc="-45" dirty="0">
                <a:latin typeface="Times New Roman" panose="02020603050405020304"/>
                <a:cs typeface="Times New Roman" panose="02020603050405020304"/>
              </a:rPr>
              <a:t>Methods </a:t>
            </a:r>
            <a:r>
              <a:rPr sz="600" b="1" i="1" spc="-40" dirty="0">
                <a:latin typeface="Times New Roman" panose="02020603050405020304"/>
                <a:cs typeface="Times New Roman" panose="02020603050405020304"/>
              </a:rPr>
              <a:t>of solar </a:t>
            </a:r>
            <a:r>
              <a:rPr sz="600" b="1" i="1" spc="-45" dirty="0">
                <a:latin typeface="Times New Roman" panose="02020603050405020304"/>
                <a:cs typeface="Times New Roman" panose="02020603050405020304"/>
              </a:rPr>
              <a:t>energy</a:t>
            </a:r>
            <a:r>
              <a:rPr sz="600" b="1" i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" b="1" i="1" spc="-35" dirty="0">
                <a:latin typeface="Times New Roman" panose="02020603050405020304"/>
                <a:cs typeface="Times New Roman" panose="02020603050405020304"/>
              </a:rPr>
              <a:t>utilisation</a:t>
            </a:r>
            <a:endParaRPr sz="600">
              <a:latin typeface="Times New Roman" panose="02020603050405020304"/>
              <a:cs typeface="Times New Roman" panose="02020603050405020304"/>
            </a:endParaRPr>
          </a:p>
          <a:p>
            <a:pPr marL="113030" marR="5715" indent="-100965" algn="just">
              <a:lnSpc>
                <a:spcPct val="100000"/>
              </a:lnSpc>
              <a:spcBef>
                <a:spcPts val="330"/>
              </a:spcBef>
              <a:buAutoNum type="arabicPeriod"/>
              <a:tabLst>
                <a:tab pos="113030" algn="l"/>
              </a:tabLst>
            </a:pPr>
            <a:r>
              <a:rPr sz="650" b="1" i="1" spc="-5" dirty="0">
                <a:latin typeface="TeX Gyre Bonum"/>
                <a:cs typeface="TeX Gyre Bonum"/>
              </a:rPr>
              <a:t>Direct method </a:t>
            </a:r>
            <a:r>
              <a:rPr sz="650" spc="-5" dirty="0">
                <a:latin typeface="DejaVu Serif"/>
                <a:cs typeface="DejaVu Serif"/>
              </a:rPr>
              <a:t>– </a:t>
            </a:r>
            <a:r>
              <a:rPr sz="650" spc="-30" dirty="0">
                <a:latin typeface="DejaVu Serif"/>
                <a:cs typeface="DejaVu Serif"/>
              </a:rPr>
              <a:t>The direct </a:t>
            </a:r>
            <a:r>
              <a:rPr sz="650" spc="-15" dirty="0">
                <a:latin typeface="DejaVu Serif"/>
                <a:cs typeface="DejaVu Serif"/>
              </a:rPr>
              <a:t>means include </a:t>
            </a:r>
            <a:r>
              <a:rPr sz="650" b="1" i="1" spc="-5" dirty="0">
                <a:latin typeface="TeX Gyre Bonum"/>
                <a:cs typeface="TeX Gyre Bonum"/>
              </a:rPr>
              <a:t>thermal </a:t>
            </a:r>
            <a:r>
              <a:rPr sz="650" spc="-45" dirty="0">
                <a:latin typeface="DejaVu Serif"/>
                <a:cs typeface="DejaVu Serif"/>
              </a:rPr>
              <a:t>(for  </a:t>
            </a:r>
            <a:r>
              <a:rPr sz="650" spc="-30" dirty="0">
                <a:latin typeface="DejaVu Serif"/>
                <a:cs typeface="DejaVu Serif"/>
              </a:rPr>
              <a:t>direct </a:t>
            </a:r>
            <a:r>
              <a:rPr sz="650" spc="-20" dirty="0">
                <a:latin typeface="DejaVu Serif"/>
                <a:cs typeface="DejaVu Serif"/>
              </a:rPr>
              <a:t>heating, </a:t>
            </a:r>
            <a:r>
              <a:rPr sz="650" spc="-25" dirty="0">
                <a:latin typeface="DejaVu Serif"/>
                <a:cs typeface="DejaVu Serif"/>
              </a:rPr>
              <a:t>cooking, drying </a:t>
            </a:r>
            <a:r>
              <a:rPr sz="650" spc="-10" dirty="0">
                <a:latin typeface="DejaVu Serif"/>
                <a:cs typeface="DejaVu Serif"/>
              </a:rPr>
              <a:t>and </a:t>
            </a:r>
            <a:r>
              <a:rPr sz="650" spc="-40" dirty="0">
                <a:latin typeface="DejaVu Serif"/>
                <a:cs typeface="DejaVu Serif"/>
              </a:rPr>
              <a:t>power </a:t>
            </a:r>
            <a:r>
              <a:rPr sz="650" spc="-25" dirty="0">
                <a:latin typeface="DejaVu Serif"/>
                <a:cs typeface="DejaVu Serif"/>
              </a:rPr>
              <a:t>generation, </a:t>
            </a:r>
            <a:r>
              <a:rPr sz="650" spc="-35" dirty="0">
                <a:latin typeface="DejaVu Serif"/>
                <a:cs typeface="DejaVu Serif"/>
              </a:rPr>
              <a:t>etc.)  </a:t>
            </a:r>
            <a:r>
              <a:rPr sz="650" spc="-10" dirty="0">
                <a:latin typeface="DejaVu Serif"/>
                <a:cs typeface="DejaVu Serif"/>
              </a:rPr>
              <a:t>and </a:t>
            </a:r>
            <a:r>
              <a:rPr sz="650" b="1" i="1" spc="-5" dirty="0">
                <a:latin typeface="TeX Gyre Bonum"/>
                <a:cs typeface="TeX Gyre Bonum"/>
              </a:rPr>
              <a:t>photovoltaic conversion </a:t>
            </a:r>
            <a:r>
              <a:rPr sz="650" spc="-45" dirty="0">
                <a:latin typeface="DejaVu Serif"/>
                <a:cs typeface="DejaVu Serif"/>
              </a:rPr>
              <a:t>(for </a:t>
            </a:r>
            <a:r>
              <a:rPr sz="650" spc="-30" dirty="0">
                <a:latin typeface="DejaVu Serif"/>
                <a:cs typeface="DejaVu Serif"/>
              </a:rPr>
              <a:t>direct </a:t>
            </a:r>
            <a:r>
              <a:rPr sz="650" spc="-25" dirty="0">
                <a:latin typeface="DejaVu Serif"/>
                <a:cs typeface="DejaVu Serif"/>
              </a:rPr>
              <a:t>electricity  </a:t>
            </a:r>
            <a:r>
              <a:rPr sz="650" spc="-30" dirty="0">
                <a:latin typeface="DejaVu Serif"/>
                <a:cs typeface="DejaVu Serif"/>
              </a:rPr>
              <a:t>generation)</a:t>
            </a:r>
            <a:endParaRPr sz="650">
              <a:latin typeface="DejaVu Serif"/>
              <a:cs typeface="DejaVu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eX Gyre Bonum"/>
              <a:buAutoNum type="arabicPeriod"/>
            </a:pPr>
            <a:endParaRPr sz="650">
              <a:latin typeface="DejaVu Serif"/>
              <a:cs typeface="DejaVu Serif"/>
            </a:endParaRPr>
          </a:p>
          <a:p>
            <a:pPr marL="113030" marR="5080" indent="-100965" algn="just">
              <a:lnSpc>
                <a:spcPct val="99000"/>
              </a:lnSpc>
              <a:buAutoNum type="arabicPeriod"/>
              <a:tabLst>
                <a:tab pos="113030" algn="l"/>
              </a:tabLst>
            </a:pPr>
            <a:r>
              <a:rPr sz="650" b="1" i="1" spc="-5" dirty="0">
                <a:latin typeface="TeX Gyre Bonum"/>
                <a:cs typeface="TeX Gyre Bonum"/>
              </a:rPr>
              <a:t>Indirect method </a:t>
            </a:r>
            <a:r>
              <a:rPr sz="650" spc="-5" dirty="0">
                <a:latin typeface="DejaVu Serif"/>
                <a:cs typeface="DejaVu Serif"/>
              </a:rPr>
              <a:t>– </a:t>
            </a:r>
            <a:r>
              <a:rPr sz="650" spc="-25" dirty="0">
                <a:latin typeface="DejaVu Serif"/>
                <a:cs typeface="DejaVu Serif"/>
              </a:rPr>
              <a:t>Indirect </a:t>
            </a:r>
            <a:r>
              <a:rPr sz="650" spc="-20" dirty="0">
                <a:latin typeface="DejaVu Serif"/>
                <a:cs typeface="DejaVu Serif"/>
              </a:rPr>
              <a:t>method </a:t>
            </a:r>
            <a:r>
              <a:rPr sz="650" spc="-15" dirty="0">
                <a:latin typeface="DejaVu Serif"/>
                <a:cs typeface="DejaVu Serif"/>
              </a:rPr>
              <a:t>means </a:t>
            </a:r>
            <a:r>
              <a:rPr sz="650" spc="-40" dirty="0">
                <a:latin typeface="DejaVu Serif"/>
                <a:cs typeface="DejaVu Serif"/>
              </a:rPr>
              <a:t>power </a:t>
            </a:r>
            <a:r>
              <a:rPr sz="650" spc="-30" dirty="0">
                <a:latin typeface="DejaVu Serif"/>
                <a:cs typeface="DejaVu Serif"/>
              </a:rPr>
              <a:t>generation  from </a:t>
            </a:r>
            <a:r>
              <a:rPr sz="650" b="1" i="1" spc="-5" dirty="0">
                <a:latin typeface="TeX Gyre Bonum"/>
                <a:cs typeface="TeX Gyre Bonum"/>
              </a:rPr>
              <a:t>biomass</a:t>
            </a:r>
            <a:r>
              <a:rPr sz="650" spc="-5" dirty="0">
                <a:latin typeface="DejaVu Serif"/>
                <a:cs typeface="DejaVu Serif"/>
              </a:rPr>
              <a:t>, </a:t>
            </a:r>
            <a:r>
              <a:rPr sz="650" b="1" i="1" spc="-10" dirty="0">
                <a:latin typeface="TeX Gyre Bonum"/>
                <a:cs typeface="TeX Gyre Bonum"/>
              </a:rPr>
              <a:t>wind</a:t>
            </a:r>
            <a:r>
              <a:rPr sz="650" spc="-10" dirty="0">
                <a:latin typeface="DejaVu Serif"/>
                <a:cs typeface="DejaVu Serif"/>
              </a:rPr>
              <a:t>,</a:t>
            </a:r>
            <a:r>
              <a:rPr sz="650" spc="185" dirty="0">
                <a:latin typeface="DejaVu Serif"/>
                <a:cs typeface="DejaVu Serif"/>
              </a:rPr>
              <a:t> </a:t>
            </a:r>
            <a:r>
              <a:rPr sz="650" b="1" i="1" spc="-5" dirty="0">
                <a:latin typeface="TeX Gyre Bonum"/>
                <a:cs typeface="TeX Gyre Bonum"/>
              </a:rPr>
              <a:t>wave energy</a:t>
            </a:r>
            <a:r>
              <a:rPr sz="650" spc="-5" dirty="0">
                <a:latin typeface="DejaVu Serif"/>
                <a:cs typeface="DejaVu Serif"/>
              </a:rPr>
              <a:t>, </a:t>
            </a:r>
            <a:r>
              <a:rPr sz="650" b="1" i="1" spc="-5" dirty="0">
                <a:latin typeface="TeX Gyre Bonum"/>
                <a:cs typeface="TeX Gyre Bonum"/>
              </a:rPr>
              <a:t>OTEC </a:t>
            </a:r>
            <a:r>
              <a:rPr sz="650" spc="-10" dirty="0">
                <a:latin typeface="DejaVu Serif"/>
                <a:cs typeface="DejaVu Serif"/>
              </a:rPr>
              <a:t>and  </a:t>
            </a:r>
            <a:r>
              <a:rPr sz="650" b="1" i="1" spc="-10" dirty="0">
                <a:latin typeface="TeX Gyre Bonum"/>
                <a:cs typeface="TeX Gyre Bonum"/>
              </a:rPr>
              <a:t>water  power</a:t>
            </a:r>
            <a:r>
              <a:rPr sz="650" spc="-10" dirty="0">
                <a:latin typeface="DejaVu Serif"/>
                <a:cs typeface="DejaVu Serif"/>
              </a:rPr>
              <a:t>.</a:t>
            </a:r>
            <a:endParaRPr sz="650">
              <a:latin typeface="DejaVu Serif"/>
              <a:cs typeface="DejaVu 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5" y="1028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019" y="84328"/>
            <a:ext cx="236791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" dirty="0"/>
              <a:t>Direct </a:t>
            </a:r>
            <a:r>
              <a:rPr spc="15" dirty="0"/>
              <a:t>and </a:t>
            </a:r>
            <a:r>
              <a:rPr spc="10" dirty="0"/>
              <a:t>Indirect</a:t>
            </a:r>
            <a:r>
              <a:rPr spc="-55" dirty="0"/>
              <a:t> </a:t>
            </a:r>
            <a:r>
              <a:rPr spc="10" dirty="0"/>
              <a:t>Radiation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733" y="309244"/>
            <a:ext cx="2499995" cy="1528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5080" indent="-102235" algn="just">
              <a:lnSpc>
                <a:spcPct val="101000"/>
              </a:lnSpc>
              <a:spcBef>
                <a:spcPts val="100"/>
              </a:spcBef>
              <a:buSzPct val="86000"/>
              <a:buAutoNum type="arabicPeriod"/>
              <a:tabLst>
                <a:tab pos="114935" algn="l"/>
              </a:tabLst>
            </a:pPr>
            <a:r>
              <a:rPr sz="700" b="1" i="1" dirty="0">
                <a:latin typeface="TeX Gyre Bonum"/>
                <a:cs typeface="TeX Gyre Bonum"/>
              </a:rPr>
              <a:t>Direct radiation </a:t>
            </a:r>
            <a:r>
              <a:rPr sz="700" spc="-15" dirty="0">
                <a:latin typeface="DejaVu Serif"/>
                <a:cs typeface="DejaVu Serif"/>
              </a:rPr>
              <a:t>(</a:t>
            </a:r>
            <a:r>
              <a:rPr sz="700" b="1" i="1" spc="-15" dirty="0">
                <a:latin typeface="TeX Gyre Bonum"/>
                <a:cs typeface="TeX Gyre Bonum"/>
              </a:rPr>
              <a:t>beam </a:t>
            </a:r>
            <a:r>
              <a:rPr sz="700" b="1" i="1" spc="-10" dirty="0">
                <a:latin typeface="TeX Gyre Bonum"/>
                <a:cs typeface="TeX Gyre Bonum"/>
              </a:rPr>
              <a:t>radiation</a:t>
            </a:r>
            <a:r>
              <a:rPr sz="700" spc="-10" dirty="0">
                <a:latin typeface="DejaVu Serif"/>
                <a:cs typeface="DejaVu Serif"/>
              </a:rPr>
              <a:t>) </a:t>
            </a:r>
            <a:r>
              <a:rPr sz="700" spc="-5" dirty="0">
                <a:latin typeface="DejaVu Serif"/>
                <a:cs typeface="DejaVu Serif"/>
              </a:rPr>
              <a:t>is </a:t>
            </a:r>
            <a:r>
              <a:rPr sz="700" spc="-10" dirty="0">
                <a:latin typeface="DejaVu Serif"/>
                <a:cs typeface="DejaVu Serif"/>
              </a:rPr>
              <a:t>that </a:t>
            </a:r>
            <a:r>
              <a:rPr sz="700" spc="-15" dirty="0">
                <a:latin typeface="DejaVu Serif"/>
                <a:cs typeface="DejaVu Serif"/>
              </a:rPr>
              <a:t>part </a:t>
            </a:r>
            <a:r>
              <a:rPr sz="700" spc="-45" dirty="0">
                <a:latin typeface="DejaVu Serif"/>
                <a:cs typeface="DejaVu Serif"/>
              </a:rPr>
              <a:t>of  </a:t>
            </a:r>
            <a:r>
              <a:rPr sz="700" spc="-25" dirty="0">
                <a:latin typeface="DejaVu Serif"/>
                <a:cs typeface="DejaVu Serif"/>
              </a:rPr>
              <a:t>terrestrial </a:t>
            </a:r>
            <a:r>
              <a:rPr sz="700" spc="-20" dirty="0">
                <a:latin typeface="DejaVu Serif"/>
                <a:cs typeface="DejaVu Serif"/>
              </a:rPr>
              <a:t>solar </a:t>
            </a:r>
            <a:r>
              <a:rPr sz="700" spc="-15" dirty="0">
                <a:latin typeface="DejaVu Serif"/>
                <a:cs typeface="DejaVu Serif"/>
              </a:rPr>
              <a:t>radiation </a:t>
            </a:r>
            <a:r>
              <a:rPr sz="700" spc="-25" dirty="0">
                <a:latin typeface="DejaVu Serif"/>
                <a:cs typeface="DejaVu Serif"/>
              </a:rPr>
              <a:t>reaching </a:t>
            </a:r>
            <a:r>
              <a:rPr sz="700" spc="-20" dirty="0">
                <a:latin typeface="DejaVu Serif"/>
                <a:cs typeface="DejaVu Serif"/>
              </a:rPr>
              <a:t>the earth's surface  </a:t>
            </a:r>
            <a:r>
              <a:rPr sz="700" spc="-15" dirty="0">
                <a:latin typeface="DejaVu Serif"/>
                <a:cs typeface="DejaVu Serif"/>
              </a:rPr>
              <a:t>without </a:t>
            </a:r>
            <a:r>
              <a:rPr sz="700" spc="-10" dirty="0">
                <a:latin typeface="DejaVu Serif"/>
                <a:cs typeface="DejaVu Serif"/>
              </a:rPr>
              <a:t>a </a:t>
            </a:r>
            <a:r>
              <a:rPr sz="700" spc="-25" dirty="0">
                <a:latin typeface="DejaVu Serif"/>
                <a:cs typeface="DejaVu Serif"/>
              </a:rPr>
              <a:t>change </a:t>
            </a:r>
            <a:r>
              <a:rPr sz="700" dirty="0">
                <a:latin typeface="DejaVu Serif"/>
                <a:cs typeface="DejaVu Serif"/>
              </a:rPr>
              <a:t>in </a:t>
            </a:r>
            <a:r>
              <a:rPr sz="700" spc="-20" dirty="0">
                <a:latin typeface="DejaVu Serif"/>
                <a:cs typeface="DejaVu Serif"/>
              </a:rPr>
              <a:t>the direction </a:t>
            </a:r>
            <a:r>
              <a:rPr sz="700" spc="-5" dirty="0">
                <a:latin typeface="DejaVu Serif"/>
                <a:cs typeface="DejaVu Serif"/>
              </a:rPr>
              <a:t>as </a:t>
            </a:r>
            <a:r>
              <a:rPr sz="700" spc="-25" dirty="0">
                <a:latin typeface="DejaVu Serif"/>
                <a:cs typeface="DejaVu Serif"/>
              </a:rPr>
              <a:t>originated from  </a:t>
            </a:r>
            <a:r>
              <a:rPr sz="700" spc="10" dirty="0">
                <a:latin typeface="DejaVu Serif"/>
                <a:cs typeface="DejaVu Serif"/>
              </a:rPr>
              <a:t>sun. </a:t>
            </a:r>
            <a:r>
              <a:rPr sz="700" spc="-10" dirty="0">
                <a:latin typeface="DejaVu Serif"/>
                <a:cs typeface="DejaVu Serif"/>
              </a:rPr>
              <a:t>This </a:t>
            </a:r>
            <a:r>
              <a:rPr sz="700" spc="-15" dirty="0">
                <a:latin typeface="DejaVu Serif"/>
                <a:cs typeface="DejaVu Serif"/>
              </a:rPr>
              <a:t>radiation </a:t>
            </a:r>
            <a:r>
              <a:rPr sz="700" spc="-25" dirty="0">
                <a:latin typeface="DejaVu Serif"/>
                <a:cs typeface="DejaVu Serif"/>
              </a:rPr>
              <a:t>travels </a:t>
            </a:r>
            <a:r>
              <a:rPr sz="700" dirty="0">
                <a:latin typeface="DejaVu Serif"/>
                <a:cs typeface="DejaVu Serif"/>
              </a:rPr>
              <a:t>in </a:t>
            </a:r>
            <a:r>
              <a:rPr sz="700" spc="-20" dirty="0">
                <a:latin typeface="DejaVu Serif"/>
                <a:cs typeface="DejaVu Serif"/>
              </a:rPr>
              <a:t>straight parallel </a:t>
            </a:r>
            <a:r>
              <a:rPr sz="700" spc="-15" dirty="0">
                <a:latin typeface="DejaVu Serif"/>
                <a:cs typeface="DejaVu Serif"/>
              </a:rPr>
              <a:t>lines  </a:t>
            </a:r>
            <a:r>
              <a:rPr sz="700" spc="-5" dirty="0">
                <a:latin typeface="DejaVu Serif"/>
                <a:cs typeface="DejaVu Serif"/>
              </a:rPr>
              <a:t>and </a:t>
            </a:r>
            <a:r>
              <a:rPr sz="700" spc="-10" dirty="0">
                <a:latin typeface="DejaVu Serif"/>
                <a:cs typeface="DejaVu Serif"/>
              </a:rPr>
              <a:t>as </a:t>
            </a:r>
            <a:r>
              <a:rPr sz="700" dirty="0">
                <a:latin typeface="DejaVu Serif"/>
                <a:cs typeface="DejaVu Serif"/>
              </a:rPr>
              <a:t>such, </a:t>
            </a:r>
            <a:r>
              <a:rPr sz="700" spc="-10" dirty="0">
                <a:latin typeface="DejaVu Serif"/>
                <a:cs typeface="DejaVu Serif"/>
              </a:rPr>
              <a:t>can </a:t>
            </a:r>
            <a:r>
              <a:rPr sz="700" spc="-30" dirty="0">
                <a:latin typeface="DejaVu Serif"/>
                <a:cs typeface="DejaVu Serif"/>
              </a:rPr>
              <a:t>be </a:t>
            </a:r>
            <a:r>
              <a:rPr sz="700" spc="-20" dirty="0">
                <a:latin typeface="DejaVu Serif"/>
                <a:cs typeface="DejaVu Serif"/>
              </a:rPr>
              <a:t>easily </a:t>
            </a:r>
            <a:r>
              <a:rPr sz="700" spc="-35" dirty="0">
                <a:latin typeface="DejaVu Serif"/>
                <a:cs typeface="DejaVu Serif"/>
              </a:rPr>
              <a:t>reflected </a:t>
            </a:r>
            <a:r>
              <a:rPr sz="700" spc="-30" dirty="0">
                <a:latin typeface="DejaVu Serif"/>
                <a:cs typeface="DejaVu Serif"/>
              </a:rPr>
              <a:t>or </a:t>
            </a:r>
            <a:r>
              <a:rPr sz="700" spc="-25" dirty="0">
                <a:latin typeface="DejaVu Serif"/>
                <a:cs typeface="DejaVu Serif"/>
              </a:rPr>
              <a:t>concentrated  </a:t>
            </a:r>
            <a:r>
              <a:rPr sz="700" spc="-15" dirty="0">
                <a:latin typeface="DejaVu Serif"/>
                <a:cs typeface="DejaVu Serif"/>
              </a:rPr>
              <a:t>onto </a:t>
            </a:r>
            <a:r>
              <a:rPr sz="700" spc="-10" dirty="0">
                <a:latin typeface="DejaVu Serif"/>
                <a:cs typeface="DejaVu Serif"/>
              </a:rPr>
              <a:t>a small </a:t>
            </a:r>
            <a:r>
              <a:rPr sz="700" spc="-35" dirty="0">
                <a:latin typeface="DejaVu Serif"/>
                <a:cs typeface="DejaVu Serif"/>
              </a:rPr>
              <a:t>target</a:t>
            </a:r>
            <a:r>
              <a:rPr sz="700" spc="5" dirty="0">
                <a:latin typeface="DejaVu Serif"/>
                <a:cs typeface="DejaVu Serif"/>
              </a:rPr>
              <a:t> </a:t>
            </a:r>
            <a:r>
              <a:rPr sz="700" spc="-20" dirty="0">
                <a:latin typeface="DejaVu Serif"/>
                <a:cs typeface="DejaVu Serif"/>
              </a:rPr>
              <a:t>area.</a:t>
            </a:r>
            <a:endParaRPr sz="700">
              <a:latin typeface="DejaVu Serif"/>
              <a:cs typeface="DejaVu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eX Gyre Bonum"/>
              <a:buAutoNum type="arabicPeriod"/>
            </a:pPr>
            <a:endParaRPr sz="700">
              <a:latin typeface="DejaVu Serif"/>
              <a:cs typeface="DejaVu Serif"/>
            </a:endParaRPr>
          </a:p>
          <a:p>
            <a:pPr marL="114300" marR="5080" indent="-102235" algn="just">
              <a:lnSpc>
                <a:spcPct val="100000"/>
              </a:lnSpc>
              <a:buSzPct val="86000"/>
              <a:buAutoNum type="arabicPeriod"/>
              <a:tabLst>
                <a:tab pos="114935" algn="l"/>
              </a:tabLst>
            </a:pPr>
            <a:r>
              <a:rPr sz="700" b="1" i="1" dirty="0">
                <a:latin typeface="TeX Gyre Bonum"/>
                <a:cs typeface="TeX Gyre Bonum"/>
              </a:rPr>
              <a:t>Diffuse radiation </a:t>
            </a:r>
            <a:r>
              <a:rPr sz="700" spc="-10" dirty="0">
                <a:latin typeface="DejaVu Serif"/>
                <a:cs typeface="DejaVu Serif"/>
              </a:rPr>
              <a:t>is that </a:t>
            </a:r>
            <a:r>
              <a:rPr sz="700" spc="-15" dirty="0">
                <a:latin typeface="DejaVu Serif"/>
                <a:cs typeface="DejaVu Serif"/>
              </a:rPr>
              <a:t>part </a:t>
            </a:r>
            <a:r>
              <a:rPr sz="700" spc="-40" dirty="0">
                <a:latin typeface="DejaVu Serif"/>
                <a:cs typeface="DejaVu Serif"/>
              </a:rPr>
              <a:t>of </a:t>
            </a:r>
            <a:r>
              <a:rPr sz="700" spc="-25" dirty="0">
                <a:latin typeface="DejaVu Serif"/>
                <a:cs typeface="DejaVu Serif"/>
              </a:rPr>
              <a:t>the terrestrial </a:t>
            </a:r>
            <a:r>
              <a:rPr sz="700" spc="-20" dirty="0">
                <a:latin typeface="DejaVu Serif"/>
                <a:cs typeface="DejaVu Serif"/>
              </a:rPr>
              <a:t>solar  </a:t>
            </a:r>
            <a:r>
              <a:rPr sz="700" spc="-15" dirty="0">
                <a:latin typeface="DejaVu Serif"/>
                <a:cs typeface="DejaVu Serif"/>
              </a:rPr>
              <a:t>radiation </a:t>
            </a:r>
            <a:r>
              <a:rPr sz="700" spc="-25" dirty="0">
                <a:latin typeface="DejaVu Serif"/>
                <a:cs typeface="DejaVu Serif"/>
              </a:rPr>
              <a:t>reaching </a:t>
            </a:r>
            <a:r>
              <a:rPr sz="700" spc="-20" dirty="0">
                <a:latin typeface="DejaVu Serif"/>
                <a:cs typeface="DejaVu Serif"/>
              </a:rPr>
              <a:t>the earth's surface </a:t>
            </a:r>
            <a:r>
              <a:rPr sz="700" dirty="0">
                <a:latin typeface="DejaVu Serif"/>
                <a:cs typeface="DejaVu Serif"/>
              </a:rPr>
              <a:t>in </a:t>
            </a:r>
            <a:r>
              <a:rPr sz="700" spc="-15" dirty="0">
                <a:latin typeface="DejaVu Serif"/>
                <a:cs typeface="DejaVu Serif"/>
              </a:rPr>
              <a:t>all possible  </a:t>
            </a:r>
            <a:r>
              <a:rPr sz="700" spc="-20" dirty="0">
                <a:latin typeface="DejaVu Serif"/>
                <a:cs typeface="DejaVu Serif"/>
              </a:rPr>
              <a:t>directions </a:t>
            </a:r>
            <a:r>
              <a:rPr sz="700" spc="-10" dirty="0">
                <a:latin typeface="DejaVu Serif"/>
                <a:cs typeface="DejaVu Serif"/>
              </a:rPr>
              <a:t>due </a:t>
            </a:r>
            <a:r>
              <a:rPr sz="700" spc="-25" dirty="0">
                <a:latin typeface="DejaVu Serif"/>
                <a:cs typeface="DejaVu Serif"/>
              </a:rPr>
              <a:t>to scattering </a:t>
            </a:r>
            <a:r>
              <a:rPr sz="700" spc="-10" dirty="0">
                <a:latin typeface="DejaVu Serif"/>
                <a:cs typeface="DejaVu Serif"/>
              </a:rPr>
              <a:t>by </a:t>
            </a:r>
            <a:r>
              <a:rPr sz="700" spc="-30" dirty="0">
                <a:latin typeface="DejaVu Serif"/>
                <a:cs typeface="DejaVu Serif"/>
              </a:rPr>
              <a:t>gases </a:t>
            </a:r>
            <a:r>
              <a:rPr sz="700" spc="-5" dirty="0">
                <a:latin typeface="DejaVu Serif"/>
                <a:cs typeface="DejaVu Serif"/>
              </a:rPr>
              <a:t>and </a:t>
            </a:r>
            <a:r>
              <a:rPr sz="700" dirty="0">
                <a:latin typeface="DejaVu Serif"/>
                <a:cs typeface="DejaVu Serif"/>
              </a:rPr>
              <a:t>dust in </a:t>
            </a:r>
            <a:r>
              <a:rPr sz="700" spc="-20" dirty="0">
                <a:latin typeface="DejaVu Serif"/>
                <a:cs typeface="DejaVu Serif"/>
              </a:rPr>
              <a:t>the  earth's atmosphere. </a:t>
            </a:r>
            <a:r>
              <a:rPr sz="700" spc="-15" dirty="0">
                <a:latin typeface="DejaVu Serif"/>
                <a:cs typeface="DejaVu Serif"/>
              </a:rPr>
              <a:t>Because it </a:t>
            </a:r>
            <a:r>
              <a:rPr sz="700" spc="-25" dirty="0">
                <a:latin typeface="DejaVu Serif"/>
                <a:cs typeface="DejaVu Serif"/>
              </a:rPr>
              <a:t>comes </a:t>
            </a:r>
            <a:r>
              <a:rPr sz="700" spc="-20" dirty="0">
                <a:latin typeface="DejaVu Serif"/>
                <a:cs typeface="DejaVu Serif"/>
              </a:rPr>
              <a:t>from </a:t>
            </a:r>
            <a:r>
              <a:rPr sz="700" spc="-15" dirty="0">
                <a:latin typeface="DejaVu Serif"/>
                <a:cs typeface="DejaVu Serif"/>
              </a:rPr>
              <a:t>all  </a:t>
            </a:r>
            <a:r>
              <a:rPr sz="700" spc="-20" dirty="0">
                <a:latin typeface="DejaVu Serif"/>
                <a:cs typeface="DejaVu Serif"/>
              </a:rPr>
              <a:t>directions </a:t>
            </a:r>
            <a:r>
              <a:rPr sz="700" spc="-35" dirty="0">
                <a:latin typeface="DejaVu Serif"/>
                <a:cs typeface="DejaVu Serif"/>
              </a:rPr>
              <a:t>of</a:t>
            </a:r>
            <a:r>
              <a:rPr sz="700" spc="150" dirty="0">
                <a:latin typeface="DejaVu Serif"/>
                <a:cs typeface="DejaVu Serif"/>
              </a:rPr>
              <a:t> </a:t>
            </a:r>
            <a:r>
              <a:rPr sz="700" spc="-20" dirty="0">
                <a:latin typeface="DejaVu Serif"/>
                <a:cs typeface="DejaVu Serif"/>
              </a:rPr>
              <a:t>the </a:t>
            </a:r>
            <a:r>
              <a:rPr sz="700" dirty="0">
                <a:latin typeface="DejaVu Serif"/>
                <a:cs typeface="DejaVu Serif"/>
              </a:rPr>
              <a:t>sky </a:t>
            </a:r>
            <a:r>
              <a:rPr sz="700" spc="-20" dirty="0">
                <a:latin typeface="DejaVu Serif"/>
                <a:cs typeface="DejaVu Serif"/>
              </a:rPr>
              <a:t>dome, diffuse </a:t>
            </a:r>
            <a:r>
              <a:rPr sz="700" spc="-15" dirty="0">
                <a:latin typeface="DejaVu Serif"/>
                <a:cs typeface="DejaVu Serif"/>
              </a:rPr>
              <a:t>solar radiation  </a:t>
            </a:r>
            <a:r>
              <a:rPr sz="700" spc="-10" dirty="0">
                <a:latin typeface="DejaVu Serif"/>
                <a:cs typeface="DejaVu Serif"/>
              </a:rPr>
              <a:t>cannot </a:t>
            </a:r>
            <a:r>
              <a:rPr sz="700" spc="-30" dirty="0">
                <a:latin typeface="DejaVu Serif"/>
                <a:cs typeface="DejaVu Serif"/>
              </a:rPr>
              <a:t>be </a:t>
            </a:r>
            <a:r>
              <a:rPr sz="700" spc="-25" dirty="0">
                <a:latin typeface="DejaVu Serif"/>
                <a:cs typeface="DejaVu Serif"/>
              </a:rPr>
              <a:t>efficiently </a:t>
            </a:r>
            <a:r>
              <a:rPr sz="700" spc="-35" dirty="0">
                <a:latin typeface="DejaVu Serif"/>
                <a:cs typeface="DejaVu Serif"/>
              </a:rPr>
              <a:t>reflected</a:t>
            </a:r>
            <a:r>
              <a:rPr sz="700" spc="150" dirty="0">
                <a:latin typeface="DejaVu Serif"/>
                <a:cs typeface="DejaVu Serif"/>
              </a:rPr>
              <a:t> </a:t>
            </a:r>
            <a:r>
              <a:rPr sz="700" spc="-15" dirty="0">
                <a:latin typeface="DejaVu Serif"/>
                <a:cs typeface="DejaVu Serif"/>
              </a:rPr>
              <a:t>onto </a:t>
            </a:r>
            <a:r>
              <a:rPr sz="700" spc="-10" dirty="0">
                <a:latin typeface="DejaVu Serif"/>
                <a:cs typeface="DejaVu Serif"/>
              </a:rPr>
              <a:t>a </a:t>
            </a:r>
            <a:r>
              <a:rPr sz="700" spc="-35" dirty="0">
                <a:latin typeface="DejaVu Serif"/>
                <a:cs typeface="DejaVu Serif"/>
              </a:rPr>
              <a:t>target </a:t>
            </a:r>
            <a:r>
              <a:rPr sz="700" spc="-30" dirty="0">
                <a:latin typeface="DejaVu Serif"/>
                <a:cs typeface="DejaVu Serif"/>
              </a:rPr>
              <a:t>or  </a:t>
            </a:r>
            <a:r>
              <a:rPr sz="700" spc="-20" dirty="0">
                <a:latin typeface="DejaVu Serif"/>
                <a:cs typeface="DejaVu Serif"/>
              </a:rPr>
              <a:t>concentrated.</a:t>
            </a:r>
            <a:endParaRPr sz="700">
              <a:latin typeface="DejaVu Serif"/>
              <a:cs typeface="DejaVu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7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394" y="288544"/>
            <a:ext cx="2477770" cy="1541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300" marR="5080" indent="-102235" algn="just">
              <a:lnSpc>
                <a:spcPct val="106000"/>
              </a:lnSpc>
              <a:spcBef>
                <a:spcPts val="95"/>
              </a:spcBef>
              <a:buAutoNum type="arabicPeriod"/>
              <a:tabLst>
                <a:tab pos="114935" algn="l"/>
              </a:tabLst>
            </a:pPr>
            <a:r>
              <a:rPr sz="550" b="1" i="1" spc="15" dirty="0">
                <a:latin typeface="TeX Gyre Bonum"/>
                <a:cs typeface="TeX Gyre Bonum"/>
              </a:rPr>
              <a:t>Active solar systems </a:t>
            </a:r>
            <a:r>
              <a:rPr sz="550" spc="15" dirty="0">
                <a:latin typeface="DejaVu Serif"/>
                <a:cs typeface="DejaVu Serif"/>
              </a:rPr>
              <a:t>– </a:t>
            </a:r>
            <a:r>
              <a:rPr sz="550" spc="-10" dirty="0">
                <a:latin typeface="DejaVu Serif"/>
                <a:cs typeface="DejaVu Serif"/>
              </a:rPr>
              <a:t>Active</a:t>
            </a:r>
            <a:r>
              <a:rPr sz="550" spc="150" dirty="0">
                <a:latin typeface="DejaVu Serif"/>
                <a:cs typeface="DejaVu Serif"/>
              </a:rPr>
              <a:t> </a:t>
            </a:r>
            <a:r>
              <a:rPr sz="550" dirty="0">
                <a:latin typeface="DejaVu Serif"/>
                <a:cs typeface="DejaVu Serif"/>
              </a:rPr>
              <a:t>solar </a:t>
            </a:r>
            <a:r>
              <a:rPr sz="550" spc="-10" dirty="0">
                <a:latin typeface="DejaVu Serif"/>
                <a:cs typeface="DejaVu Serif"/>
              </a:rPr>
              <a:t>power  </a:t>
            </a:r>
            <a:r>
              <a:rPr sz="550" spc="10" dirty="0">
                <a:latin typeface="DejaVu Serif"/>
                <a:cs typeface="DejaVu Serif"/>
              </a:rPr>
              <a:t>setups </a:t>
            </a:r>
            <a:r>
              <a:rPr sz="550" spc="-10" dirty="0">
                <a:latin typeface="DejaVu Serif"/>
                <a:cs typeface="DejaVu Serif"/>
              </a:rPr>
              <a:t>rely  </a:t>
            </a:r>
            <a:r>
              <a:rPr sz="550" spc="5" dirty="0">
                <a:latin typeface="DejaVu Serif"/>
                <a:cs typeface="DejaVu Serif"/>
              </a:rPr>
              <a:t>on  </a:t>
            </a:r>
            <a:r>
              <a:rPr sz="550" spc="-5" dirty="0">
                <a:latin typeface="DejaVu Serif"/>
                <a:cs typeface="DejaVu Serif"/>
              </a:rPr>
              <a:t>external </a:t>
            </a:r>
            <a:r>
              <a:rPr sz="550" spc="-10" dirty="0">
                <a:latin typeface="DejaVu Serif"/>
                <a:cs typeface="DejaVu Serif"/>
              </a:rPr>
              <a:t>energy </a:t>
            </a:r>
            <a:r>
              <a:rPr sz="550" spc="5" dirty="0">
                <a:latin typeface="DejaVu Serif"/>
                <a:cs typeface="DejaVu Serif"/>
              </a:rPr>
              <a:t>sources </a:t>
            </a:r>
            <a:r>
              <a:rPr sz="550" spc="-10" dirty="0">
                <a:latin typeface="DejaVu Serif"/>
                <a:cs typeface="DejaVu Serif"/>
              </a:rPr>
              <a:t>or </a:t>
            </a:r>
            <a:r>
              <a:rPr sz="550" spc="10" dirty="0">
                <a:latin typeface="DejaVu Serif"/>
                <a:cs typeface="DejaVu Serif"/>
              </a:rPr>
              <a:t>backup </a:t>
            </a:r>
            <a:r>
              <a:rPr sz="550" spc="5" dirty="0">
                <a:latin typeface="DejaVu Serif"/>
                <a:cs typeface="DejaVu Serif"/>
              </a:rPr>
              <a:t>systems, </a:t>
            </a:r>
            <a:r>
              <a:rPr sz="550" spc="15" dirty="0">
                <a:latin typeface="DejaVu Serif"/>
                <a:cs typeface="DejaVu Serif"/>
              </a:rPr>
              <a:t>such </a:t>
            </a:r>
            <a:r>
              <a:rPr sz="550" spc="10" dirty="0">
                <a:latin typeface="DejaVu Serif"/>
                <a:cs typeface="DejaVu Serif"/>
              </a:rPr>
              <a:t>as </a:t>
            </a:r>
            <a:r>
              <a:rPr sz="550" spc="20" dirty="0">
                <a:latin typeface="DejaVu Serif"/>
                <a:cs typeface="DejaVu Serif"/>
              </a:rPr>
              <a:t>pumps,  </a:t>
            </a:r>
            <a:r>
              <a:rPr sz="550" spc="-5" dirty="0">
                <a:latin typeface="DejaVu Serif"/>
                <a:cs typeface="DejaVu Serif"/>
              </a:rPr>
              <a:t>valves, controllers </a:t>
            </a:r>
            <a:r>
              <a:rPr sz="550" dirty="0">
                <a:latin typeface="DejaVu Serif"/>
                <a:cs typeface="DejaVu Serif"/>
              </a:rPr>
              <a:t>to capture </a:t>
            </a:r>
            <a:r>
              <a:rPr sz="550" spc="10" dirty="0">
                <a:latin typeface="DejaVu Serif"/>
                <a:cs typeface="DejaVu Serif"/>
              </a:rPr>
              <a:t>and </a:t>
            </a:r>
            <a:r>
              <a:rPr sz="550" spc="-5" dirty="0">
                <a:latin typeface="DejaVu Serif"/>
                <a:cs typeface="DejaVu Serif"/>
              </a:rPr>
              <a:t>circulate </a:t>
            </a:r>
            <a:r>
              <a:rPr sz="550" spc="-10" dirty="0">
                <a:latin typeface="DejaVu Serif"/>
                <a:cs typeface="DejaVu Serif"/>
              </a:rPr>
              <a:t>water or </a:t>
            </a:r>
            <a:r>
              <a:rPr sz="550" dirty="0">
                <a:latin typeface="DejaVu Serif"/>
                <a:cs typeface="DejaVu Serif"/>
              </a:rPr>
              <a:t>other </a:t>
            </a:r>
            <a:r>
              <a:rPr sz="550" spc="10" dirty="0">
                <a:latin typeface="DejaVu Serif"/>
                <a:cs typeface="DejaVu Serif"/>
              </a:rPr>
              <a:t>heat-  </a:t>
            </a:r>
            <a:r>
              <a:rPr sz="550" dirty="0">
                <a:latin typeface="DejaVu Serif"/>
                <a:cs typeface="DejaVu Serif"/>
              </a:rPr>
              <a:t>transfer </a:t>
            </a:r>
            <a:r>
              <a:rPr sz="550" spc="5" dirty="0">
                <a:latin typeface="DejaVu Serif"/>
                <a:cs typeface="DejaVu Serif"/>
              </a:rPr>
              <a:t>fluids </a:t>
            </a:r>
            <a:r>
              <a:rPr sz="550" dirty="0">
                <a:latin typeface="DejaVu Serif"/>
                <a:cs typeface="DejaVu Serif"/>
              </a:rPr>
              <a:t>through the </a:t>
            </a:r>
            <a:r>
              <a:rPr sz="550" spc="-5" dirty="0">
                <a:latin typeface="DejaVu Serif"/>
                <a:cs typeface="DejaVu Serif"/>
              </a:rPr>
              <a:t>collectors </a:t>
            </a:r>
            <a:r>
              <a:rPr sz="550" spc="10" dirty="0">
                <a:latin typeface="DejaVu Serif"/>
                <a:cs typeface="DejaVu Serif"/>
              </a:rPr>
              <a:t>and then </a:t>
            </a:r>
            <a:r>
              <a:rPr sz="550" spc="-5" dirty="0">
                <a:latin typeface="DejaVu Serif"/>
                <a:cs typeface="DejaVu Serif"/>
              </a:rPr>
              <a:t>convert </a:t>
            </a:r>
            <a:r>
              <a:rPr sz="550" dirty="0">
                <a:latin typeface="DejaVu Serif"/>
                <a:cs typeface="DejaVu Serif"/>
              </a:rPr>
              <a:t>solar  </a:t>
            </a:r>
            <a:r>
              <a:rPr sz="550" spc="-10" dirty="0">
                <a:latin typeface="DejaVu Serif"/>
                <a:cs typeface="DejaVu Serif"/>
              </a:rPr>
              <a:t>energy </a:t>
            </a:r>
            <a:r>
              <a:rPr sz="550" spc="5" dirty="0">
                <a:latin typeface="DejaVu Serif"/>
                <a:cs typeface="DejaVu Serif"/>
              </a:rPr>
              <a:t>into</a:t>
            </a:r>
            <a:r>
              <a:rPr sz="550" spc="-10" dirty="0">
                <a:latin typeface="DejaVu Serif"/>
                <a:cs typeface="DejaVu Serif"/>
              </a:rPr>
              <a:t> </a:t>
            </a:r>
            <a:r>
              <a:rPr sz="550" spc="-5" dirty="0">
                <a:latin typeface="DejaVu Serif"/>
                <a:cs typeface="DejaVu Serif"/>
              </a:rPr>
              <a:t>electricity.</a:t>
            </a:r>
            <a:endParaRPr sz="550">
              <a:latin typeface="DejaVu Serif"/>
              <a:cs typeface="DejaVu Serif"/>
            </a:endParaRPr>
          </a:p>
          <a:p>
            <a:pPr marL="215265" marR="8255" lvl="1" indent="-102235" algn="just">
              <a:lnSpc>
                <a:spcPct val="107000"/>
              </a:lnSpc>
              <a:spcBef>
                <a:spcPts val="345"/>
              </a:spcBef>
              <a:buAutoNum type="alphaLcParenR"/>
              <a:tabLst>
                <a:tab pos="215900" algn="l"/>
              </a:tabLst>
            </a:pP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5" dirty="0">
                <a:latin typeface="DejaVu Serif"/>
                <a:cs typeface="DejaVu Serif"/>
              </a:rPr>
              <a:t>components </a:t>
            </a:r>
            <a:r>
              <a:rPr sz="550" spc="15" dirty="0">
                <a:latin typeface="DejaVu Serif"/>
                <a:cs typeface="DejaVu Serif"/>
              </a:rPr>
              <a:t>in </a:t>
            </a:r>
            <a:r>
              <a:rPr sz="550" spc="-10" dirty="0">
                <a:latin typeface="DejaVu Serif"/>
                <a:cs typeface="DejaVu Serif"/>
              </a:rPr>
              <a:t>active  </a:t>
            </a:r>
            <a:r>
              <a:rPr sz="550" dirty="0">
                <a:latin typeface="DejaVu Serif"/>
                <a:cs typeface="DejaVu Serif"/>
              </a:rPr>
              <a:t>solar </a:t>
            </a:r>
            <a:r>
              <a:rPr sz="550" spc="5" dirty="0">
                <a:latin typeface="DejaVu Serif"/>
                <a:cs typeface="DejaVu Serif"/>
              </a:rPr>
              <a:t>systems </a:t>
            </a:r>
            <a:r>
              <a:rPr sz="550" spc="15" dirty="0">
                <a:latin typeface="DejaVu Serif"/>
                <a:cs typeface="DejaVu Serif"/>
              </a:rPr>
              <a:t>such </a:t>
            </a:r>
            <a:r>
              <a:rPr sz="550" spc="10" dirty="0">
                <a:latin typeface="DejaVu Serif"/>
                <a:cs typeface="DejaVu Serif"/>
              </a:rPr>
              <a:t>as </a:t>
            </a:r>
            <a:r>
              <a:rPr sz="550" spc="5" dirty="0">
                <a:latin typeface="DejaVu Serif"/>
                <a:cs typeface="DejaVu Serif"/>
              </a:rPr>
              <a:t>fans,  </a:t>
            </a:r>
            <a:r>
              <a:rPr sz="550" spc="15" dirty="0">
                <a:latin typeface="DejaVu Serif"/>
                <a:cs typeface="DejaVu Serif"/>
              </a:rPr>
              <a:t>pumps, </a:t>
            </a:r>
            <a:r>
              <a:rPr sz="550" dirty="0">
                <a:latin typeface="DejaVu Serif"/>
                <a:cs typeface="DejaVu Serif"/>
              </a:rPr>
              <a:t>photovoltaic </a:t>
            </a:r>
            <a:r>
              <a:rPr sz="550" spc="5" dirty="0">
                <a:latin typeface="DejaVu Serif"/>
                <a:cs typeface="DejaVu Serif"/>
              </a:rPr>
              <a:t>panels </a:t>
            </a:r>
            <a:r>
              <a:rPr sz="550" dirty="0">
                <a:latin typeface="DejaVu Serif"/>
                <a:cs typeface="DejaVu Serif"/>
              </a:rPr>
              <a:t>need some </a:t>
            </a:r>
            <a:r>
              <a:rPr sz="550" spc="-10" dirty="0">
                <a:latin typeface="DejaVu Serif"/>
                <a:cs typeface="DejaVu Serif"/>
              </a:rPr>
              <a:t>electrical </a:t>
            </a:r>
            <a:r>
              <a:rPr sz="550" spc="15" dirty="0">
                <a:latin typeface="DejaVu Serif"/>
                <a:cs typeface="DejaVu Serif"/>
              </a:rPr>
              <a:t>input </a:t>
            </a:r>
            <a:r>
              <a:rPr sz="550" spc="-15" dirty="0">
                <a:latin typeface="DejaVu Serif"/>
                <a:cs typeface="DejaVu Serif"/>
              </a:rPr>
              <a:t>or  </a:t>
            </a:r>
            <a:r>
              <a:rPr sz="550" dirty="0">
                <a:latin typeface="DejaVu Serif"/>
                <a:cs typeface="DejaVu Serif"/>
              </a:rPr>
              <a:t>conversion </a:t>
            </a:r>
            <a:r>
              <a:rPr sz="550" spc="-15" dirty="0">
                <a:latin typeface="DejaVu Serif"/>
                <a:cs typeface="DejaVu Serif"/>
              </a:rPr>
              <a:t>for </a:t>
            </a: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5" dirty="0">
                <a:latin typeface="DejaVu Serif"/>
                <a:cs typeface="DejaVu Serif"/>
              </a:rPr>
              <a:t>system </a:t>
            </a:r>
            <a:r>
              <a:rPr sz="550" dirty="0">
                <a:latin typeface="DejaVu Serif"/>
                <a:cs typeface="DejaVu Serif"/>
              </a:rPr>
              <a:t>to</a:t>
            </a:r>
            <a:r>
              <a:rPr sz="550" spc="55" dirty="0">
                <a:latin typeface="DejaVu Serif"/>
                <a:cs typeface="DejaVu Serif"/>
              </a:rPr>
              <a:t> </a:t>
            </a:r>
            <a:r>
              <a:rPr sz="550" spc="5" dirty="0">
                <a:latin typeface="DejaVu Serif"/>
                <a:cs typeface="DejaVu Serif"/>
              </a:rPr>
              <a:t>function.</a:t>
            </a:r>
            <a:endParaRPr sz="550">
              <a:latin typeface="DejaVu Serif"/>
              <a:cs typeface="DejaVu Serif"/>
            </a:endParaRPr>
          </a:p>
          <a:p>
            <a:pPr marL="215265" marR="8255" lvl="1" indent="-102235" algn="just">
              <a:lnSpc>
                <a:spcPts val="710"/>
              </a:lnSpc>
              <a:spcBef>
                <a:spcPts val="20"/>
              </a:spcBef>
              <a:buAutoNum type="alphaLcParenR"/>
              <a:tabLst>
                <a:tab pos="215900" algn="l"/>
              </a:tabLst>
            </a:pPr>
            <a:r>
              <a:rPr sz="550" spc="-10" dirty="0">
                <a:latin typeface="DejaVu Serif"/>
                <a:cs typeface="DejaVu Serif"/>
              </a:rPr>
              <a:t>Active</a:t>
            </a:r>
            <a:r>
              <a:rPr sz="550" spc="150" dirty="0">
                <a:latin typeface="DejaVu Serif"/>
                <a:cs typeface="DejaVu Serif"/>
              </a:rPr>
              <a:t> </a:t>
            </a:r>
            <a:r>
              <a:rPr sz="550" spc="5" dirty="0">
                <a:latin typeface="DejaVu Serif"/>
                <a:cs typeface="DejaVu Serif"/>
              </a:rPr>
              <a:t>systems </a:t>
            </a:r>
            <a:r>
              <a:rPr sz="550" spc="-15" dirty="0">
                <a:latin typeface="DejaVu Serif"/>
                <a:cs typeface="DejaVu Serif"/>
              </a:rPr>
              <a:t>are </a:t>
            </a:r>
            <a:r>
              <a:rPr sz="550" spc="15" dirty="0">
                <a:latin typeface="DejaVu Serif"/>
                <a:cs typeface="DejaVu Serif"/>
              </a:rPr>
              <a:t>usually </a:t>
            </a:r>
            <a:r>
              <a:rPr sz="550" spc="-5" dirty="0">
                <a:latin typeface="DejaVu Serif"/>
                <a:cs typeface="DejaVu Serif"/>
              </a:rPr>
              <a:t>more expensive </a:t>
            </a:r>
            <a:r>
              <a:rPr sz="550" spc="15" dirty="0">
                <a:latin typeface="DejaVu Serif"/>
                <a:cs typeface="DejaVu Serif"/>
              </a:rPr>
              <a:t>than </a:t>
            </a:r>
            <a:r>
              <a:rPr sz="550" dirty="0">
                <a:latin typeface="DejaVu Serif"/>
                <a:cs typeface="DejaVu Serif"/>
              </a:rPr>
              <a:t>passive  </a:t>
            </a:r>
            <a:r>
              <a:rPr sz="550" spc="5" dirty="0">
                <a:latin typeface="DejaVu Serif"/>
                <a:cs typeface="DejaVu Serif"/>
              </a:rPr>
              <a:t>systems, they </a:t>
            </a:r>
            <a:r>
              <a:rPr sz="550" spc="-10" dirty="0">
                <a:latin typeface="DejaVu Serif"/>
                <a:cs typeface="DejaVu Serif"/>
              </a:rPr>
              <a:t>are </a:t>
            </a:r>
            <a:r>
              <a:rPr sz="550" spc="-5" dirty="0">
                <a:latin typeface="DejaVu Serif"/>
                <a:cs typeface="DejaVu Serif"/>
              </a:rPr>
              <a:t>generally more</a:t>
            </a:r>
            <a:r>
              <a:rPr sz="550" spc="5" dirty="0">
                <a:latin typeface="DejaVu Serif"/>
                <a:cs typeface="DejaVu Serif"/>
              </a:rPr>
              <a:t> </a:t>
            </a:r>
            <a:r>
              <a:rPr sz="550" spc="-5" dirty="0">
                <a:latin typeface="DejaVu Serif"/>
                <a:cs typeface="DejaVu Serif"/>
              </a:rPr>
              <a:t>efficient.</a:t>
            </a:r>
            <a:endParaRPr sz="550">
              <a:latin typeface="DejaVu Serif"/>
              <a:cs typeface="DejaVu Serif"/>
            </a:endParaRPr>
          </a:p>
          <a:p>
            <a:pPr marL="114300" marR="5080" indent="-102235" algn="just">
              <a:lnSpc>
                <a:spcPct val="107000"/>
              </a:lnSpc>
              <a:spcBef>
                <a:spcPts val="320"/>
              </a:spcBef>
              <a:buAutoNum type="arabicPeriod"/>
              <a:tabLst>
                <a:tab pos="114935" algn="l"/>
              </a:tabLst>
            </a:pPr>
            <a:r>
              <a:rPr sz="550" b="1" i="1" spc="15" dirty="0">
                <a:latin typeface="TeX Gyre Bonum"/>
                <a:cs typeface="TeX Gyre Bonum"/>
              </a:rPr>
              <a:t>Passive solar systems </a:t>
            </a:r>
            <a:r>
              <a:rPr sz="550" spc="15" dirty="0">
                <a:latin typeface="DejaVu Serif"/>
                <a:cs typeface="DejaVu Serif"/>
              </a:rPr>
              <a:t>– </a:t>
            </a:r>
            <a:r>
              <a:rPr sz="550" spc="-5" dirty="0">
                <a:latin typeface="DejaVu Serif"/>
                <a:cs typeface="DejaVu Serif"/>
              </a:rPr>
              <a:t>Passive </a:t>
            </a:r>
            <a:r>
              <a:rPr sz="550" dirty="0">
                <a:latin typeface="DejaVu Serif"/>
                <a:cs typeface="DejaVu Serif"/>
              </a:rPr>
              <a:t>solar </a:t>
            </a:r>
            <a:r>
              <a:rPr sz="550" spc="-5" dirty="0">
                <a:latin typeface="DejaVu Serif"/>
                <a:cs typeface="DejaVu Serif"/>
              </a:rPr>
              <a:t>technologies </a:t>
            </a:r>
            <a:r>
              <a:rPr sz="550" spc="-10" dirty="0">
                <a:latin typeface="DejaVu Serif"/>
                <a:cs typeface="DejaVu Serif"/>
              </a:rPr>
              <a:t>are </a:t>
            </a:r>
            <a:r>
              <a:rPr sz="550" spc="10" dirty="0">
                <a:latin typeface="DejaVu Serif"/>
                <a:cs typeface="DejaVu Serif"/>
              </a:rPr>
              <a:t>means  </a:t>
            </a:r>
            <a:r>
              <a:rPr sz="550" spc="-15" dirty="0">
                <a:latin typeface="DejaVu Serif"/>
                <a:cs typeface="DejaVu Serif"/>
              </a:rPr>
              <a:t>of </a:t>
            </a:r>
            <a:r>
              <a:rPr sz="550" spc="5" dirty="0">
                <a:latin typeface="DejaVu Serif"/>
                <a:cs typeface="DejaVu Serif"/>
              </a:rPr>
              <a:t>using </a:t>
            </a:r>
            <a:r>
              <a:rPr sz="550" spc="10" dirty="0">
                <a:latin typeface="DejaVu Serif"/>
                <a:cs typeface="DejaVu Serif"/>
              </a:rPr>
              <a:t>sunlight </a:t>
            </a:r>
            <a:r>
              <a:rPr sz="550" spc="-15" dirty="0">
                <a:latin typeface="DejaVu Serif"/>
                <a:cs typeface="DejaVu Serif"/>
              </a:rPr>
              <a:t>for </a:t>
            </a:r>
            <a:r>
              <a:rPr sz="550" spc="10" dirty="0">
                <a:latin typeface="DejaVu Serif"/>
                <a:cs typeface="DejaVu Serif"/>
              </a:rPr>
              <a:t>useful </a:t>
            </a:r>
            <a:r>
              <a:rPr sz="550" spc="-10" dirty="0">
                <a:latin typeface="DejaVu Serif"/>
                <a:cs typeface="DejaVu Serif"/>
              </a:rPr>
              <a:t>energy  </a:t>
            </a:r>
            <a:r>
              <a:rPr sz="550" spc="5" dirty="0">
                <a:latin typeface="DejaVu Serif"/>
                <a:cs typeface="DejaVu Serif"/>
              </a:rPr>
              <a:t>without </a:t>
            </a:r>
            <a:r>
              <a:rPr sz="550" spc="10" dirty="0">
                <a:latin typeface="DejaVu Serif"/>
                <a:cs typeface="DejaVu Serif"/>
              </a:rPr>
              <a:t>use </a:t>
            </a:r>
            <a:r>
              <a:rPr sz="550" spc="-15" dirty="0">
                <a:latin typeface="DejaVu Serif"/>
                <a:cs typeface="DejaVu Serif"/>
              </a:rPr>
              <a:t>of </a:t>
            </a:r>
            <a:r>
              <a:rPr sz="550" spc="-10" dirty="0">
                <a:latin typeface="DejaVu Serif"/>
                <a:cs typeface="DejaVu Serif"/>
              </a:rPr>
              <a:t>active  </a:t>
            </a:r>
            <a:r>
              <a:rPr sz="550" spc="5" dirty="0">
                <a:latin typeface="DejaVu Serif"/>
                <a:cs typeface="DejaVu Serif"/>
              </a:rPr>
              <a:t>mechanical </a:t>
            </a:r>
            <a:r>
              <a:rPr sz="550" spc="10" dirty="0">
                <a:latin typeface="DejaVu Serif"/>
                <a:cs typeface="DejaVu Serif"/>
              </a:rPr>
              <a:t>systems </a:t>
            </a:r>
            <a:r>
              <a:rPr sz="550" spc="15" dirty="0">
                <a:latin typeface="DejaVu Serif"/>
                <a:cs typeface="DejaVu Serif"/>
              </a:rPr>
              <a:t>such </a:t>
            </a:r>
            <a:r>
              <a:rPr sz="550" spc="10" dirty="0">
                <a:latin typeface="DejaVu Serif"/>
                <a:cs typeface="DejaVu Serif"/>
              </a:rPr>
              <a:t>as </a:t>
            </a:r>
            <a:r>
              <a:rPr sz="550" spc="20" dirty="0">
                <a:latin typeface="DejaVu Serif"/>
                <a:cs typeface="DejaVu Serif"/>
              </a:rPr>
              <a:t>pumps </a:t>
            </a:r>
            <a:r>
              <a:rPr sz="550" dirty="0">
                <a:latin typeface="DejaVu Serif"/>
                <a:cs typeface="DejaVu Serif"/>
              </a:rPr>
              <a:t>to </a:t>
            </a:r>
            <a:r>
              <a:rPr sz="550" spc="-5" dirty="0">
                <a:latin typeface="DejaVu Serif"/>
                <a:cs typeface="DejaVu Serif"/>
              </a:rPr>
              <a:t>circulate </a:t>
            </a:r>
            <a:r>
              <a:rPr sz="550" spc="10" dirty="0">
                <a:latin typeface="DejaVu Serif"/>
                <a:cs typeface="DejaVu Serif"/>
              </a:rPr>
              <a:t>water/fluid  </a:t>
            </a:r>
            <a:r>
              <a:rPr sz="550" spc="-5" dirty="0">
                <a:latin typeface="DejaVu Serif"/>
                <a:cs typeface="DejaVu Serif"/>
              </a:rPr>
              <a:t>between </a:t>
            </a:r>
            <a:r>
              <a:rPr sz="550" spc="-10" dirty="0">
                <a:latin typeface="DejaVu Serif"/>
                <a:cs typeface="DejaVu Serif"/>
              </a:rPr>
              <a:t>collector</a:t>
            </a:r>
            <a:r>
              <a:rPr sz="550" spc="150" dirty="0">
                <a:latin typeface="DejaVu Serif"/>
                <a:cs typeface="DejaVu Serif"/>
              </a:rPr>
              <a:t> </a:t>
            </a:r>
            <a:r>
              <a:rPr sz="550" spc="10" dirty="0">
                <a:latin typeface="DejaVu Serif"/>
                <a:cs typeface="DejaVu Serif"/>
              </a:rPr>
              <a:t>and </a:t>
            </a:r>
            <a:r>
              <a:rPr sz="550" spc="-10" dirty="0">
                <a:latin typeface="DejaVu Serif"/>
                <a:cs typeface="DejaVu Serif"/>
              </a:rPr>
              <a:t>storage  </a:t>
            </a:r>
            <a:r>
              <a:rPr sz="550" spc="10" dirty="0">
                <a:latin typeface="DejaVu Serif"/>
                <a:cs typeface="DejaVu Serif"/>
              </a:rPr>
              <a:t>medium. </a:t>
            </a:r>
            <a:r>
              <a:rPr sz="550" dirty="0">
                <a:latin typeface="DejaVu Serif"/>
                <a:cs typeface="DejaVu Serif"/>
              </a:rPr>
              <a:t>In </a:t>
            </a:r>
            <a:r>
              <a:rPr sz="550" b="1" i="1" spc="15" dirty="0">
                <a:latin typeface="TeX Gyre Bonum"/>
                <a:cs typeface="TeX Gyre Bonum"/>
              </a:rPr>
              <a:t>passive </a:t>
            </a:r>
            <a:r>
              <a:rPr sz="550" b="1" i="1" spc="20" dirty="0">
                <a:latin typeface="TeX Gyre Bonum"/>
                <a:cs typeface="TeX Gyre Bonum"/>
              </a:rPr>
              <a:t>thermo  </a:t>
            </a:r>
            <a:r>
              <a:rPr sz="550" b="1" i="1" spc="15" dirty="0">
                <a:latin typeface="TeX Gyre Bonum"/>
                <a:cs typeface="TeX Gyre Bonum"/>
              </a:rPr>
              <a:t>siphon systems</a:t>
            </a:r>
            <a:r>
              <a:rPr sz="550" spc="-5" dirty="0">
                <a:latin typeface="DejaVu Serif"/>
                <a:cs typeface="DejaVu Serif"/>
              </a:rPr>
              <a:t> </a:t>
            </a: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-10" dirty="0">
                <a:latin typeface="DejaVu Serif"/>
                <a:cs typeface="DejaVu Serif"/>
              </a:rPr>
              <a:t>storage </a:t>
            </a:r>
            <a:r>
              <a:rPr sz="550" spc="10" dirty="0">
                <a:latin typeface="DejaVu Serif"/>
                <a:cs typeface="DejaVu Serif"/>
              </a:rPr>
              <a:t>medium is  mounted </a:t>
            </a:r>
            <a:r>
              <a:rPr sz="550" spc="-5" dirty="0">
                <a:latin typeface="DejaVu Serif"/>
                <a:cs typeface="DejaVu Serif"/>
              </a:rPr>
              <a:t>above </a:t>
            </a: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-10" dirty="0">
                <a:latin typeface="DejaVu Serif"/>
                <a:cs typeface="DejaVu Serif"/>
              </a:rPr>
              <a:t>collector. </a:t>
            </a:r>
            <a:r>
              <a:rPr sz="550" spc="5" dirty="0">
                <a:latin typeface="DejaVu Serif"/>
                <a:cs typeface="DejaVu Serif"/>
              </a:rPr>
              <a:t>This </a:t>
            </a:r>
            <a:r>
              <a:rPr sz="550" spc="15" dirty="0">
                <a:latin typeface="DejaVu Serif"/>
                <a:cs typeface="DejaVu Serif"/>
              </a:rPr>
              <a:t>set-up </a:t>
            </a:r>
            <a:r>
              <a:rPr sz="550" spc="10" dirty="0">
                <a:latin typeface="DejaVu Serif"/>
                <a:cs typeface="DejaVu Serif"/>
              </a:rPr>
              <a:t>makes </a:t>
            </a:r>
            <a:r>
              <a:rPr sz="550" dirty="0">
                <a:latin typeface="DejaVu Serif"/>
                <a:cs typeface="DejaVu Serif"/>
              </a:rPr>
              <a:t>it possible to  </a:t>
            </a:r>
            <a:r>
              <a:rPr sz="550" spc="10" dirty="0">
                <a:latin typeface="DejaVu Serif"/>
                <a:cs typeface="DejaVu Serif"/>
              </a:rPr>
              <a:t>use </a:t>
            </a:r>
            <a:r>
              <a:rPr sz="550" spc="-10" dirty="0">
                <a:latin typeface="DejaVu Serif"/>
                <a:cs typeface="DejaVu Serif"/>
              </a:rPr>
              <a:t>gravity </a:t>
            </a:r>
            <a:r>
              <a:rPr sz="550" spc="-15" dirty="0">
                <a:latin typeface="DejaVu Serif"/>
                <a:cs typeface="DejaVu Serif"/>
              </a:rPr>
              <a:t>for</a:t>
            </a:r>
            <a:r>
              <a:rPr sz="550" spc="15" dirty="0">
                <a:latin typeface="DejaVu Serif"/>
                <a:cs typeface="DejaVu Serif"/>
              </a:rPr>
              <a:t> </a:t>
            </a:r>
            <a:r>
              <a:rPr sz="550" dirty="0">
                <a:latin typeface="DejaVu Serif"/>
                <a:cs typeface="DejaVu Serif"/>
              </a:rPr>
              <a:t>circulation.</a:t>
            </a:r>
            <a:endParaRPr sz="550">
              <a:latin typeface="DejaVu Serif"/>
              <a:cs typeface="DejaVu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965" y="62103"/>
            <a:ext cx="250380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" dirty="0"/>
              <a:t>Passive </a:t>
            </a:r>
            <a:r>
              <a:rPr spc="25" dirty="0"/>
              <a:t>&amp; </a:t>
            </a:r>
            <a:r>
              <a:rPr spc="10" dirty="0"/>
              <a:t>Active Solar</a:t>
            </a:r>
            <a:r>
              <a:rPr spc="-125" dirty="0"/>
              <a:t> </a:t>
            </a:r>
            <a:r>
              <a:rPr spc="10" dirty="0"/>
              <a:t>Systems</a:t>
            </a:r>
          </a:p>
        </p:txBody>
      </p:sp>
      <p:sp>
        <p:nvSpPr>
          <p:cNvPr id="4" name="object 4"/>
          <p:cNvSpPr/>
          <p:nvPr/>
        </p:nvSpPr>
        <p:spPr>
          <a:xfrm>
            <a:off x="635" y="127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399478"/>
            <a:ext cx="2374265" cy="1403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960" marR="43180" indent="-137160" algn="just">
              <a:lnSpc>
                <a:spcPct val="102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87960" algn="l"/>
              </a:tabLst>
            </a:pPr>
            <a:r>
              <a:rPr sz="750" b="1" i="1" spc="5" dirty="0">
                <a:latin typeface="Times New Roman" panose="02020603050405020304"/>
                <a:cs typeface="Times New Roman" panose="02020603050405020304"/>
              </a:rPr>
              <a:t>Solar </a:t>
            </a:r>
            <a:r>
              <a:rPr sz="750" b="1" i="1" dirty="0">
                <a:latin typeface="Times New Roman" panose="02020603050405020304"/>
                <a:cs typeface="Times New Roman" panose="02020603050405020304"/>
              </a:rPr>
              <a:t>insolation (incident </a:t>
            </a:r>
            <a:r>
              <a:rPr sz="750" b="1" i="1" spc="5" dirty="0">
                <a:latin typeface="Times New Roman" panose="02020603050405020304"/>
                <a:cs typeface="Times New Roman" panose="02020603050405020304"/>
              </a:rPr>
              <a:t>solar </a:t>
            </a:r>
            <a:r>
              <a:rPr sz="750" b="1" i="1" dirty="0">
                <a:latin typeface="Times New Roman" panose="02020603050405020304"/>
                <a:cs typeface="Times New Roman" panose="02020603050405020304"/>
              </a:rPr>
              <a:t>radiation)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– </a:t>
            </a:r>
            <a:r>
              <a:rPr sz="750" i="1" dirty="0">
                <a:latin typeface="Times New Roman" panose="02020603050405020304"/>
                <a:cs typeface="Times New Roman" panose="02020603050405020304"/>
              </a:rPr>
              <a:t>Solar 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radiation </a:t>
            </a:r>
            <a:r>
              <a:rPr sz="750" i="1" spc="-5" dirty="0">
                <a:latin typeface="Times New Roman" panose="02020603050405020304"/>
                <a:cs typeface="Times New Roman" panose="02020603050405020304"/>
              </a:rPr>
              <a:t>received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on a </a:t>
            </a:r>
            <a:r>
              <a:rPr sz="750" i="1" dirty="0">
                <a:latin typeface="Times New Roman" panose="02020603050405020304"/>
                <a:cs typeface="Times New Roman" panose="02020603050405020304"/>
              </a:rPr>
              <a:t>flat horizontal surface </a:t>
            </a:r>
            <a:r>
              <a:rPr sz="750" i="1" spc="-10" dirty="0">
                <a:latin typeface="Times New Roman" panose="02020603050405020304"/>
                <a:cs typeface="Times New Roman" panose="02020603050405020304"/>
              </a:rPr>
              <a:t>on 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earth at a particular instant of</a:t>
            </a:r>
            <a:r>
              <a:rPr sz="750" i="1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time.</a:t>
            </a:r>
            <a:endParaRPr sz="7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 panose="05000000000000000000"/>
              <a:buChar char=""/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0" marR="43180" lvl="1" indent="-137160" algn="just">
              <a:lnSpc>
                <a:spcPct val="101000"/>
              </a:lnSpc>
              <a:buFont typeface="Wingdings" panose="05000000000000000000"/>
              <a:buChar char=""/>
              <a:tabLst>
                <a:tab pos="187960" algn="l"/>
              </a:tabLst>
            </a:pPr>
            <a:r>
              <a:rPr sz="750" b="1" i="1" dirty="0">
                <a:latin typeface="Times New Roman" panose="02020603050405020304"/>
                <a:cs typeface="Times New Roman" panose="02020603050405020304"/>
              </a:rPr>
              <a:t>Concentration ratio </a:t>
            </a:r>
            <a:r>
              <a:rPr sz="750" i="1" spc="5" dirty="0">
                <a:latin typeface="Times New Roman" panose="02020603050405020304"/>
                <a:cs typeface="Times New Roman" panose="02020603050405020304"/>
              </a:rPr>
              <a:t>– ratio of </a:t>
            </a:r>
            <a:r>
              <a:rPr sz="750" i="1" spc="-5" dirty="0">
                <a:latin typeface="Times New Roman" panose="02020603050405020304"/>
                <a:cs typeface="Times New Roman" panose="02020603050405020304"/>
                <a:sym typeface="+mn-ea"/>
              </a:rPr>
              <a:t>the aperture area divided by the receiver/absorber area of the collecto</a:t>
            </a:r>
            <a:r>
              <a:rPr lang="en-IN" sz="750" i="1" spc="-5" dirty="0">
                <a:latin typeface="Times New Roman" panose="02020603050405020304"/>
                <a:cs typeface="Times New Roman" panose="02020603050405020304"/>
                <a:sym typeface="+mn-ea"/>
              </a:rPr>
              <a:t>r</a:t>
            </a:r>
            <a:endParaRPr lang="en-IN" sz="750" i="1" spc="-5" dirty="0">
              <a:latin typeface="Times New Roman" panose="02020603050405020304"/>
              <a:cs typeface="Times New Roman" panose="02020603050405020304"/>
            </a:endParaRPr>
          </a:p>
          <a:p>
            <a:pPr marL="50800" marR="43180" indent="0" algn="just">
              <a:lnSpc>
                <a:spcPct val="101000"/>
              </a:lnSpc>
              <a:buFont typeface="Wingdings" panose="05000000000000000000"/>
              <a:buNone/>
              <a:tabLst>
                <a:tab pos="187960" algn="l"/>
              </a:tabLst>
            </a:pPr>
            <a:endParaRPr sz="750">
              <a:latin typeface="Times New Roman" panose="02020603050405020304"/>
              <a:cs typeface="Times New Roman" panose="02020603050405020304"/>
            </a:endParaRPr>
          </a:p>
          <a:p>
            <a:pPr marL="358140" lvl="1" indent="-123825">
              <a:lnSpc>
                <a:spcPct val="100000"/>
              </a:lnSpc>
              <a:spcBef>
                <a:spcPts val="185"/>
              </a:spcBef>
              <a:buFont typeface="Wingdings" panose="05000000000000000000"/>
              <a:buChar char=""/>
              <a:tabLst>
                <a:tab pos="358775" algn="l"/>
              </a:tabLst>
            </a:pPr>
            <a:r>
              <a:rPr sz="700" i="1" dirty="0">
                <a:latin typeface="Times New Roman" panose="02020603050405020304"/>
                <a:cs typeface="Times New Roman" panose="02020603050405020304"/>
              </a:rPr>
              <a:t>Flat plate collector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700" i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CR,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337185" lvl="1" indent="-102870">
              <a:lnSpc>
                <a:spcPct val="100000"/>
              </a:lnSpc>
              <a:spcBef>
                <a:spcPts val="180"/>
              </a:spcBef>
              <a:buFont typeface="Wingdings" panose="05000000000000000000"/>
              <a:buChar char=""/>
              <a:tabLst>
                <a:tab pos="337820" algn="l"/>
              </a:tabLst>
            </a:pP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parabolic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trough collector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= 100</a:t>
            </a:r>
            <a:r>
              <a:rPr sz="700" i="1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CR,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358140" lvl="1" indent="-123825">
              <a:lnSpc>
                <a:spcPct val="100000"/>
              </a:lnSpc>
              <a:spcBef>
                <a:spcPts val="165"/>
              </a:spcBef>
              <a:buFont typeface="Wingdings" panose="05000000000000000000"/>
              <a:buChar char=""/>
              <a:tabLst>
                <a:tab pos="358775" algn="l"/>
              </a:tabLst>
            </a:pPr>
            <a:r>
              <a:rPr sz="700" i="1" dirty="0">
                <a:latin typeface="Times New Roman" panose="02020603050405020304"/>
                <a:cs typeface="Times New Roman" panose="02020603050405020304"/>
              </a:rPr>
              <a:t>heliostats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2 planes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= 1000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CR can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700" i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achieved.</a:t>
            </a:r>
          </a:p>
          <a:p>
            <a:pPr marL="234315" lvl="1" indent="0" algn="l">
              <a:lnSpc>
                <a:spcPct val="100000"/>
              </a:lnSpc>
              <a:spcBef>
                <a:spcPts val="165"/>
              </a:spcBef>
              <a:buClrTx/>
              <a:buSzTx/>
              <a:buFont typeface="Wingdings" panose="05000000000000000000"/>
              <a:buNone/>
              <a:tabLst>
                <a:tab pos="358775" algn="l"/>
              </a:tabLst>
            </a:pPr>
            <a:endParaRPr lang="en-IN" sz="700" i="1" spc="-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0271" y="114109"/>
            <a:ext cx="21012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latin typeface="Times New Roman" panose="02020603050405020304"/>
                <a:cs typeface="Times New Roman" panose="02020603050405020304"/>
              </a:rPr>
              <a:t>Terms </a:t>
            </a:r>
            <a:r>
              <a:rPr sz="1300" spc="-5" dirty="0">
                <a:latin typeface="Times New Roman" panose="02020603050405020304"/>
                <a:cs typeface="Times New Roman" panose="02020603050405020304"/>
              </a:rPr>
              <a:t>and definitions</a:t>
            </a:r>
            <a:r>
              <a:rPr sz="13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-5" dirty="0">
                <a:latin typeface="Times New Roman" panose="02020603050405020304"/>
                <a:cs typeface="Times New Roman" panose="02020603050405020304"/>
              </a:rPr>
              <a:t>involved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028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8782" y="62674"/>
            <a:ext cx="14135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/>
              <a:t>Solar</a:t>
            </a:r>
            <a:r>
              <a:rPr sz="1300" spc="-70" dirty="0"/>
              <a:t> </a:t>
            </a:r>
            <a:r>
              <a:rPr sz="1300" spc="-10" dirty="0"/>
              <a:t>Collectors</a:t>
            </a:r>
            <a:endParaRPr sz="1300"/>
          </a:p>
        </p:txBody>
      </p:sp>
      <p:sp>
        <p:nvSpPr>
          <p:cNvPr id="3" name="object 3"/>
          <p:cNvSpPr txBox="1"/>
          <p:nvPr/>
        </p:nvSpPr>
        <p:spPr>
          <a:xfrm>
            <a:off x="1793490" y="957746"/>
            <a:ext cx="729615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i="1" spc="-35" dirty="0">
                <a:latin typeface="Times New Roman" panose="02020603050405020304"/>
                <a:cs typeface="Times New Roman" panose="02020603050405020304"/>
              </a:rPr>
              <a:t>Concentrating </a:t>
            </a:r>
            <a:r>
              <a:rPr sz="500" b="1" i="1" spc="-30" dirty="0">
                <a:latin typeface="Times New Roman" panose="02020603050405020304"/>
                <a:cs typeface="Times New Roman" panose="02020603050405020304"/>
              </a:rPr>
              <a:t>ratio </a:t>
            </a:r>
            <a:r>
              <a:rPr sz="500" b="1" i="1" spc="-3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500" b="1" i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b="1" i="1" spc="-30" dirty="0">
                <a:latin typeface="Times New Roman" panose="02020603050405020304"/>
                <a:cs typeface="Times New Roman" panose="02020603050405020304"/>
              </a:rPr>
              <a:t>collector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24733" y="538757"/>
            <a:ext cx="666115" cy="435609"/>
            <a:chOff x="1824733" y="538757"/>
            <a:chExt cx="666115" cy="435609"/>
          </a:xfrm>
        </p:grpSpPr>
        <p:sp>
          <p:nvSpPr>
            <p:cNvPr id="5" name="object 5"/>
            <p:cNvSpPr/>
            <p:nvPr/>
          </p:nvSpPr>
          <p:spPr>
            <a:xfrm>
              <a:off x="1979167" y="543837"/>
              <a:ext cx="38295" cy="42602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79167" y="543837"/>
              <a:ext cx="38735" cy="426084"/>
            </a:xfrm>
            <a:custGeom>
              <a:avLst/>
              <a:gdLst/>
              <a:ahLst/>
              <a:cxnLst/>
              <a:rect l="l" t="t" r="r" b="b"/>
              <a:pathLst>
                <a:path w="38735" h="426084">
                  <a:moveTo>
                    <a:pt x="0" y="426027"/>
                  </a:moveTo>
                  <a:lnTo>
                    <a:pt x="38295" y="426027"/>
                  </a:lnTo>
                  <a:lnTo>
                    <a:pt x="38295" y="0"/>
                  </a:lnTo>
                  <a:lnTo>
                    <a:pt x="0" y="0"/>
                  </a:lnTo>
                  <a:lnTo>
                    <a:pt x="0" y="426027"/>
                  </a:lnTo>
                  <a:close/>
                </a:path>
              </a:pathLst>
            </a:custGeom>
            <a:ln w="8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48292" y="644433"/>
              <a:ext cx="38295" cy="22484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17460" y="543837"/>
              <a:ext cx="469265" cy="325755"/>
            </a:xfrm>
            <a:custGeom>
              <a:avLst/>
              <a:gdLst/>
              <a:ahLst/>
              <a:cxnLst/>
              <a:rect l="l" t="t" r="r" b="b"/>
              <a:pathLst>
                <a:path w="469264" h="325755">
                  <a:moveTo>
                    <a:pt x="430832" y="325440"/>
                  </a:moveTo>
                  <a:lnTo>
                    <a:pt x="469127" y="325440"/>
                  </a:lnTo>
                  <a:lnTo>
                    <a:pt x="469127" y="100595"/>
                  </a:lnTo>
                  <a:lnTo>
                    <a:pt x="430832" y="100595"/>
                  </a:lnTo>
                  <a:lnTo>
                    <a:pt x="430832" y="325440"/>
                  </a:lnTo>
                  <a:close/>
                </a:path>
                <a:path w="469264" h="325755">
                  <a:moveTo>
                    <a:pt x="0" y="0"/>
                  </a:moveTo>
                  <a:lnTo>
                    <a:pt x="412972" y="96429"/>
                  </a:lnTo>
                </a:path>
              </a:pathLst>
            </a:custGeom>
            <a:ln w="90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23616" y="617781"/>
              <a:ext cx="20955" cy="43815"/>
            </a:xfrm>
            <a:custGeom>
              <a:avLst/>
              <a:gdLst/>
              <a:ahLst/>
              <a:cxnLst/>
              <a:rect l="l" t="t" r="r" b="b"/>
              <a:pathLst>
                <a:path w="20955" h="43815">
                  <a:moveTo>
                    <a:pt x="6619" y="0"/>
                  </a:moveTo>
                  <a:lnTo>
                    <a:pt x="0" y="43325"/>
                  </a:lnTo>
                  <a:lnTo>
                    <a:pt x="20825" y="25758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29813" y="614842"/>
              <a:ext cx="129539" cy="0"/>
            </a:xfrm>
            <a:custGeom>
              <a:avLst/>
              <a:gdLst/>
              <a:ahLst/>
              <a:cxnLst/>
              <a:rect l="l" t="t" r="r" b="b"/>
              <a:pathLst>
                <a:path w="129539">
                  <a:moveTo>
                    <a:pt x="0" y="0"/>
                  </a:moveTo>
                  <a:lnTo>
                    <a:pt x="129339" y="0"/>
                  </a:lnTo>
                </a:path>
              </a:pathLst>
            </a:custGeom>
            <a:ln w="100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55585" y="592799"/>
              <a:ext cx="18415" cy="44450"/>
            </a:xfrm>
            <a:custGeom>
              <a:avLst/>
              <a:gdLst/>
              <a:ahLst/>
              <a:cxnLst/>
              <a:rect l="l" t="t" r="r" b="b"/>
              <a:pathLst>
                <a:path w="18414" h="44450">
                  <a:moveTo>
                    <a:pt x="0" y="0"/>
                  </a:moveTo>
                  <a:lnTo>
                    <a:pt x="0" y="44085"/>
                  </a:lnTo>
                  <a:lnTo>
                    <a:pt x="17832" y="22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29813" y="685847"/>
              <a:ext cx="129539" cy="0"/>
            </a:xfrm>
            <a:custGeom>
              <a:avLst/>
              <a:gdLst/>
              <a:ahLst/>
              <a:cxnLst/>
              <a:rect l="l" t="t" r="r" b="b"/>
              <a:pathLst>
                <a:path w="129539">
                  <a:moveTo>
                    <a:pt x="0" y="0"/>
                  </a:moveTo>
                  <a:lnTo>
                    <a:pt x="129339" y="0"/>
                  </a:lnTo>
                </a:path>
              </a:pathLst>
            </a:custGeom>
            <a:ln w="100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55584" y="663816"/>
              <a:ext cx="18415" cy="186690"/>
            </a:xfrm>
            <a:custGeom>
              <a:avLst/>
              <a:gdLst/>
              <a:ahLst/>
              <a:cxnLst/>
              <a:rect l="l" t="t" r="r" b="b"/>
              <a:pathLst>
                <a:path w="18414" h="186690">
                  <a:moveTo>
                    <a:pt x="17830" y="164045"/>
                  </a:moveTo>
                  <a:lnTo>
                    <a:pt x="0" y="141998"/>
                  </a:lnTo>
                  <a:lnTo>
                    <a:pt x="0" y="186093"/>
                  </a:lnTo>
                  <a:lnTo>
                    <a:pt x="17830" y="164045"/>
                  </a:lnTo>
                  <a:close/>
                </a:path>
                <a:path w="18414" h="186690">
                  <a:moveTo>
                    <a:pt x="17830" y="93040"/>
                  </a:moveTo>
                  <a:lnTo>
                    <a:pt x="0" y="70993"/>
                  </a:lnTo>
                  <a:lnTo>
                    <a:pt x="0" y="115087"/>
                  </a:lnTo>
                  <a:lnTo>
                    <a:pt x="17830" y="93040"/>
                  </a:lnTo>
                  <a:close/>
                </a:path>
                <a:path w="18414" h="186690">
                  <a:moveTo>
                    <a:pt x="17830" y="22034"/>
                  </a:moveTo>
                  <a:lnTo>
                    <a:pt x="0" y="0"/>
                  </a:lnTo>
                  <a:lnTo>
                    <a:pt x="0" y="44081"/>
                  </a:lnTo>
                  <a:lnTo>
                    <a:pt x="17830" y="220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29813" y="898861"/>
              <a:ext cx="129539" cy="0"/>
            </a:xfrm>
            <a:custGeom>
              <a:avLst/>
              <a:gdLst/>
              <a:ahLst/>
              <a:cxnLst/>
              <a:rect l="l" t="t" r="r" b="b"/>
              <a:pathLst>
                <a:path w="129539">
                  <a:moveTo>
                    <a:pt x="0" y="0"/>
                  </a:moveTo>
                  <a:lnTo>
                    <a:pt x="129339" y="0"/>
                  </a:lnTo>
                </a:path>
              </a:pathLst>
            </a:custGeom>
            <a:ln w="100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55585" y="876818"/>
              <a:ext cx="18415" cy="44450"/>
            </a:xfrm>
            <a:custGeom>
              <a:avLst/>
              <a:gdLst/>
              <a:ahLst/>
              <a:cxnLst/>
              <a:rect l="l" t="t" r="r" b="b"/>
              <a:pathLst>
                <a:path w="18414" h="44450">
                  <a:moveTo>
                    <a:pt x="0" y="0"/>
                  </a:moveTo>
                  <a:lnTo>
                    <a:pt x="0" y="44085"/>
                  </a:lnTo>
                  <a:lnTo>
                    <a:pt x="17832" y="220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21290" y="872551"/>
              <a:ext cx="413384" cy="96520"/>
            </a:xfrm>
            <a:custGeom>
              <a:avLst/>
              <a:gdLst/>
              <a:ahLst/>
              <a:cxnLst/>
              <a:rect l="l" t="t" r="r" b="b"/>
              <a:pathLst>
                <a:path w="413385" h="96519">
                  <a:moveTo>
                    <a:pt x="0" y="96420"/>
                  </a:moveTo>
                  <a:lnTo>
                    <a:pt x="412972" y="0"/>
                  </a:lnTo>
                </a:path>
              </a:pathLst>
            </a:custGeom>
            <a:ln w="99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27446" y="851711"/>
              <a:ext cx="20955" cy="43815"/>
            </a:xfrm>
            <a:custGeom>
              <a:avLst/>
              <a:gdLst/>
              <a:ahLst/>
              <a:cxnLst/>
              <a:rect l="l" t="t" r="r" b="b"/>
              <a:pathLst>
                <a:path w="20955" h="43815">
                  <a:moveTo>
                    <a:pt x="0" y="0"/>
                  </a:moveTo>
                  <a:lnTo>
                    <a:pt x="6619" y="43317"/>
                  </a:lnTo>
                  <a:lnTo>
                    <a:pt x="20845" y="175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887198" y="437047"/>
            <a:ext cx="217804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-5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500" spc="-35" dirty="0">
                <a:latin typeface="Times New Roman" panose="02020603050405020304"/>
                <a:cs typeface="Times New Roman" panose="02020603050405020304"/>
              </a:rPr>
              <a:t>perture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68320" y="508052"/>
            <a:ext cx="193675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-35" dirty="0">
                <a:latin typeface="Times New Roman" panose="02020603050405020304"/>
                <a:cs typeface="Times New Roman" panose="02020603050405020304"/>
              </a:rPr>
              <a:t>Rceiver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788" y="289369"/>
            <a:ext cx="1693545" cy="203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marR="5080" indent="-68580">
              <a:lnSpc>
                <a:spcPct val="106000"/>
              </a:lnSpc>
              <a:spcBef>
                <a:spcPts val="100"/>
              </a:spcBef>
              <a:buSzPct val="82000"/>
              <a:buFont typeface="Wingdings" panose="05000000000000000000"/>
              <a:buChar char=""/>
              <a:tabLst>
                <a:tab pos="81280" algn="l"/>
              </a:tabLst>
            </a:pPr>
            <a:r>
              <a:rPr sz="550" b="1" spc="15" dirty="0">
                <a:latin typeface="Bookman Uralic"/>
                <a:cs typeface="Bookman Uralic"/>
              </a:rPr>
              <a:t>Solar collectors </a:t>
            </a:r>
            <a:r>
              <a:rPr sz="550" spc="-10" dirty="0">
                <a:latin typeface="DejaVu Serif"/>
                <a:cs typeface="DejaVu Serif"/>
              </a:rPr>
              <a:t>gather </a:t>
            </a: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15" dirty="0">
                <a:latin typeface="DejaVu Serif"/>
                <a:cs typeface="DejaVu Serif"/>
              </a:rPr>
              <a:t>sun's </a:t>
            </a:r>
            <a:r>
              <a:rPr sz="550" spc="-10" dirty="0">
                <a:latin typeface="DejaVu Serif"/>
                <a:cs typeface="DejaVu Serif"/>
              </a:rPr>
              <a:t>energy,  </a:t>
            </a:r>
            <a:r>
              <a:rPr sz="550" dirty="0">
                <a:latin typeface="DejaVu Serif"/>
                <a:cs typeface="DejaVu Serif"/>
              </a:rPr>
              <a:t>transform </a:t>
            </a:r>
            <a:r>
              <a:rPr sz="550" spc="5" dirty="0">
                <a:latin typeface="DejaVu Serif"/>
                <a:cs typeface="DejaVu Serif"/>
              </a:rPr>
              <a:t>its </a:t>
            </a:r>
            <a:r>
              <a:rPr sz="550" dirty="0">
                <a:latin typeface="DejaVu Serif"/>
                <a:cs typeface="DejaVu Serif"/>
              </a:rPr>
              <a:t>radiation </a:t>
            </a:r>
            <a:r>
              <a:rPr sz="550" spc="5" dirty="0">
                <a:latin typeface="DejaVu Serif"/>
                <a:cs typeface="DejaVu Serif"/>
              </a:rPr>
              <a:t>into heat,</a:t>
            </a:r>
            <a:r>
              <a:rPr sz="550" spc="110" dirty="0">
                <a:latin typeface="DejaVu Serif"/>
                <a:cs typeface="DejaVu Serif"/>
              </a:rPr>
              <a:t> </a:t>
            </a:r>
            <a:r>
              <a:rPr sz="550" spc="5" dirty="0">
                <a:latin typeface="DejaVu Serif"/>
                <a:cs typeface="DejaVu Serif"/>
              </a:rPr>
              <a:t>then</a:t>
            </a:r>
            <a:endParaRPr sz="550">
              <a:latin typeface="DejaVu Serif"/>
              <a:cs typeface="DejaVu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0368" y="467677"/>
            <a:ext cx="1625600" cy="2051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90"/>
              </a:spcBef>
            </a:pPr>
            <a:r>
              <a:rPr sz="550" dirty="0">
                <a:latin typeface="DejaVu Serif"/>
                <a:cs typeface="DejaVu Serif"/>
              </a:rPr>
              <a:t>transfer </a:t>
            </a:r>
            <a:r>
              <a:rPr sz="550" spc="5" dirty="0">
                <a:latin typeface="DejaVu Serif"/>
                <a:cs typeface="DejaVu Serif"/>
              </a:rPr>
              <a:t>that </a:t>
            </a:r>
            <a:r>
              <a:rPr sz="550" dirty="0">
                <a:latin typeface="DejaVu Serif"/>
                <a:cs typeface="DejaVu Serif"/>
              </a:rPr>
              <a:t>heat to </a:t>
            </a:r>
            <a:r>
              <a:rPr sz="550" spc="10" dirty="0">
                <a:latin typeface="DejaVu Serif"/>
                <a:cs typeface="DejaVu Serif"/>
              </a:rPr>
              <a:t>a </a:t>
            </a:r>
            <a:r>
              <a:rPr sz="550" spc="5" dirty="0">
                <a:latin typeface="DejaVu Serif"/>
                <a:cs typeface="DejaVu Serif"/>
              </a:rPr>
              <a:t>fluid. This </a:t>
            </a:r>
            <a:r>
              <a:rPr sz="550" dirty="0">
                <a:latin typeface="DejaVu Serif"/>
                <a:cs typeface="DejaVu Serif"/>
              </a:rPr>
              <a:t>heat </a:t>
            </a:r>
            <a:r>
              <a:rPr sz="550" spc="10" dirty="0">
                <a:latin typeface="DejaVu Serif"/>
                <a:cs typeface="DejaVu Serif"/>
              </a:rPr>
              <a:t>is  </a:t>
            </a:r>
            <a:r>
              <a:rPr sz="550" spc="-5" dirty="0">
                <a:latin typeface="DejaVu Serif"/>
                <a:cs typeface="DejaVu Serif"/>
              </a:rPr>
              <a:t>extracted </a:t>
            </a:r>
            <a:r>
              <a:rPr sz="550" spc="5" dirty="0">
                <a:latin typeface="DejaVu Serif"/>
                <a:cs typeface="DejaVu Serif"/>
              </a:rPr>
              <a:t>by </a:t>
            </a:r>
            <a:r>
              <a:rPr sz="550" spc="-10" dirty="0">
                <a:latin typeface="DejaVu Serif"/>
                <a:cs typeface="DejaVu Serif"/>
              </a:rPr>
              <a:t>flowing</a:t>
            </a:r>
            <a:r>
              <a:rPr sz="550" spc="150" dirty="0">
                <a:latin typeface="DejaVu Serif"/>
                <a:cs typeface="DejaVu Serif"/>
              </a:rPr>
              <a:t> </a:t>
            </a:r>
            <a:r>
              <a:rPr sz="550" spc="5" dirty="0">
                <a:latin typeface="DejaVu Serif"/>
                <a:cs typeface="DejaVu Serif"/>
              </a:rPr>
              <a:t>fluid (usually</a:t>
            </a:r>
            <a:r>
              <a:rPr sz="550" spc="45" dirty="0">
                <a:latin typeface="DejaVu Serif"/>
                <a:cs typeface="DejaVu Serif"/>
              </a:rPr>
              <a:t> </a:t>
            </a:r>
            <a:r>
              <a:rPr sz="550" dirty="0">
                <a:latin typeface="DejaVu Serif"/>
                <a:cs typeface="DejaVu Serif"/>
              </a:rPr>
              <a:t>air,</a:t>
            </a:r>
            <a:endParaRPr sz="550">
              <a:latin typeface="DejaVu Serif"/>
              <a:cs typeface="DejaVu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0368" y="645985"/>
            <a:ext cx="1841500" cy="2051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90"/>
              </a:spcBef>
            </a:pPr>
            <a:r>
              <a:rPr sz="550" spc="-10" dirty="0">
                <a:latin typeface="DejaVu Serif"/>
                <a:cs typeface="DejaVu Serif"/>
              </a:rPr>
              <a:t>water or </a:t>
            </a:r>
            <a:r>
              <a:rPr sz="550" spc="-15" dirty="0">
                <a:latin typeface="DejaVu Serif"/>
                <a:cs typeface="DejaVu Serif"/>
              </a:rPr>
              <a:t>oil) </a:t>
            </a:r>
            <a:r>
              <a:rPr sz="550" spc="15" dirty="0">
                <a:latin typeface="DejaVu Serif"/>
                <a:cs typeface="DejaVu Serif"/>
              </a:rPr>
              <a:t>in </a:t>
            </a:r>
            <a:r>
              <a:rPr sz="550" spc="-5" dirty="0">
                <a:latin typeface="DejaVu Serif"/>
                <a:cs typeface="DejaVu Serif"/>
              </a:rPr>
              <a:t>the </a:t>
            </a:r>
            <a:r>
              <a:rPr sz="550" spc="5" dirty="0">
                <a:latin typeface="DejaVu Serif"/>
                <a:cs typeface="DejaVu Serif"/>
              </a:rPr>
              <a:t>tube </a:t>
            </a:r>
            <a:r>
              <a:rPr sz="550" spc="-15" dirty="0">
                <a:latin typeface="DejaVu Serif"/>
                <a:cs typeface="DejaVu Serif"/>
              </a:rPr>
              <a:t>of </a:t>
            </a: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-10" dirty="0">
                <a:latin typeface="DejaVu Serif"/>
                <a:cs typeface="DejaVu Serif"/>
              </a:rPr>
              <a:t>collector </a:t>
            </a:r>
            <a:r>
              <a:rPr sz="550" spc="-15" dirty="0">
                <a:latin typeface="DejaVu Serif"/>
                <a:cs typeface="DejaVu Serif"/>
              </a:rPr>
              <a:t>for  </a:t>
            </a:r>
            <a:r>
              <a:rPr sz="550" dirty="0">
                <a:latin typeface="DejaVu Serif"/>
                <a:cs typeface="DejaVu Serif"/>
              </a:rPr>
              <a:t>further </a:t>
            </a:r>
            <a:r>
              <a:rPr sz="550" spc="5" dirty="0">
                <a:latin typeface="DejaVu Serif"/>
                <a:cs typeface="DejaVu Serif"/>
              </a:rPr>
              <a:t>utilization </a:t>
            </a:r>
            <a:r>
              <a:rPr sz="550" spc="15" dirty="0">
                <a:latin typeface="DejaVu Serif"/>
                <a:cs typeface="DejaVu Serif"/>
              </a:rPr>
              <a:t>in </a:t>
            </a:r>
            <a:r>
              <a:rPr sz="550" spc="-5" dirty="0">
                <a:latin typeface="DejaVu Serif"/>
                <a:cs typeface="DejaVu Serif"/>
              </a:rPr>
              <a:t>different</a:t>
            </a:r>
            <a:r>
              <a:rPr sz="550" spc="-40" dirty="0">
                <a:latin typeface="DejaVu Serif"/>
                <a:cs typeface="DejaVu Serif"/>
              </a:rPr>
              <a:t> </a:t>
            </a:r>
            <a:r>
              <a:rPr sz="550" dirty="0">
                <a:latin typeface="DejaVu Serif"/>
                <a:cs typeface="DejaVu Serif"/>
              </a:rPr>
              <a:t>applications.    </a:t>
            </a:r>
            <a:r>
              <a:rPr sz="550" spc="-15" dirty="0">
                <a:latin typeface="DejaVu Serif"/>
                <a:cs typeface="DejaVu Serif"/>
              </a:rPr>
              <a:t> </a:t>
            </a:r>
            <a:r>
              <a:rPr sz="550" u="sng" spc="10" dirty="0">
                <a:uFill>
                  <a:solidFill>
                    <a:srgbClr val="000000"/>
                  </a:solidFill>
                </a:uFill>
                <a:latin typeface="DejaVu Serif"/>
                <a:cs typeface="DejaVu Serif"/>
              </a:rPr>
              <a:t> </a:t>
            </a:r>
            <a:r>
              <a:rPr sz="550" u="sng" spc="-65" dirty="0">
                <a:uFill>
                  <a:solidFill>
                    <a:srgbClr val="000000"/>
                  </a:solidFill>
                </a:uFill>
                <a:latin typeface="DejaVu Serif"/>
                <a:cs typeface="DejaVu Serif"/>
              </a:rPr>
              <a:t> </a:t>
            </a:r>
            <a:endParaRPr sz="550">
              <a:latin typeface="DejaVu Serif"/>
              <a:cs typeface="DejaVu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788" y="823988"/>
            <a:ext cx="1659889" cy="36258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81280" indent="-68580">
              <a:lnSpc>
                <a:spcPct val="100000"/>
              </a:lnSpc>
              <a:spcBef>
                <a:spcPts val="320"/>
              </a:spcBef>
              <a:buSzPct val="82000"/>
              <a:buFont typeface="Wingdings" panose="05000000000000000000"/>
              <a:buChar char=""/>
              <a:tabLst>
                <a:tab pos="81280" algn="l"/>
              </a:tabLst>
            </a:pPr>
            <a:r>
              <a:rPr sz="550" spc="-5" dirty="0">
                <a:latin typeface="DejaVu Serif"/>
                <a:cs typeface="DejaVu Serif"/>
              </a:rPr>
              <a:t>Solar collectors </a:t>
            </a:r>
            <a:r>
              <a:rPr sz="550" spc="-10" dirty="0">
                <a:latin typeface="DejaVu Serif"/>
                <a:cs typeface="DejaVu Serif"/>
              </a:rPr>
              <a:t>are </a:t>
            </a:r>
            <a:r>
              <a:rPr sz="550" dirty="0">
                <a:latin typeface="DejaVu Serif"/>
                <a:cs typeface="DejaVu Serif"/>
              </a:rPr>
              <a:t>classified</a:t>
            </a:r>
            <a:r>
              <a:rPr sz="550" spc="30" dirty="0">
                <a:latin typeface="DejaVu Serif"/>
                <a:cs typeface="DejaVu Serif"/>
              </a:rPr>
              <a:t> </a:t>
            </a:r>
            <a:r>
              <a:rPr sz="550" spc="5" dirty="0">
                <a:latin typeface="DejaVu Serif"/>
                <a:cs typeface="DejaVu Serif"/>
              </a:rPr>
              <a:t>as</a:t>
            </a:r>
            <a:endParaRPr sz="550">
              <a:latin typeface="DejaVu Serif"/>
              <a:cs typeface="DejaVu Serif"/>
            </a:endParaRPr>
          </a:p>
          <a:p>
            <a:pPr marL="280670" lvl="1" indent="-184785">
              <a:lnSpc>
                <a:spcPct val="100000"/>
              </a:lnSpc>
              <a:spcBef>
                <a:spcPts val="225"/>
              </a:spcBef>
              <a:buAutoNum type="arabicPeriod"/>
              <a:tabLst>
                <a:tab pos="281305" algn="l"/>
              </a:tabLst>
            </a:pPr>
            <a:r>
              <a:rPr sz="550" b="1" i="1" spc="20" dirty="0">
                <a:latin typeface="TeX Gyre Bonum"/>
                <a:cs typeface="TeX Gyre Bonum"/>
              </a:rPr>
              <a:t>Non </a:t>
            </a:r>
            <a:r>
              <a:rPr sz="550" b="1" i="1" spc="15" dirty="0">
                <a:latin typeface="TeX Gyre Bonum"/>
                <a:cs typeface="TeX Gyre Bonum"/>
              </a:rPr>
              <a:t>concentrating</a:t>
            </a:r>
            <a:r>
              <a:rPr sz="550" b="1" i="1" spc="-45" dirty="0">
                <a:latin typeface="TeX Gyre Bonum"/>
                <a:cs typeface="TeX Gyre Bonum"/>
              </a:rPr>
              <a:t> </a:t>
            </a:r>
            <a:r>
              <a:rPr sz="550" b="1" i="1" spc="15" dirty="0">
                <a:latin typeface="TeX Gyre Bonum"/>
                <a:cs typeface="TeX Gyre Bonum"/>
              </a:rPr>
              <a:t>collectors</a:t>
            </a:r>
            <a:endParaRPr sz="550">
              <a:latin typeface="TeX Gyre Bonum"/>
              <a:cs typeface="TeX Gyre Bonum"/>
            </a:endParaRPr>
          </a:p>
          <a:p>
            <a:pPr marL="280670" lvl="1" indent="-184785">
              <a:lnSpc>
                <a:spcPct val="100000"/>
              </a:lnSpc>
              <a:spcBef>
                <a:spcPts val="220"/>
              </a:spcBef>
              <a:buAutoNum type="arabicPeriod"/>
              <a:tabLst>
                <a:tab pos="281305" algn="l"/>
              </a:tabLst>
            </a:pPr>
            <a:r>
              <a:rPr sz="550" b="1" i="1" spc="15" dirty="0">
                <a:latin typeface="TeX Gyre Bonum"/>
                <a:cs typeface="TeX Gyre Bonum"/>
              </a:rPr>
              <a:t>Concentrating </a:t>
            </a:r>
            <a:r>
              <a:rPr sz="550" spc="5" dirty="0">
                <a:latin typeface="DejaVu Serif"/>
                <a:cs typeface="DejaVu Serif"/>
              </a:rPr>
              <a:t>(</a:t>
            </a:r>
            <a:r>
              <a:rPr sz="550" b="1" i="1" spc="5" dirty="0">
                <a:latin typeface="TeX Gyre Bonum"/>
                <a:cs typeface="TeX Gyre Bonum"/>
              </a:rPr>
              <a:t>focusing</a:t>
            </a:r>
            <a:r>
              <a:rPr sz="550" spc="5" dirty="0">
                <a:latin typeface="DejaVu Serif"/>
                <a:cs typeface="DejaVu Serif"/>
              </a:rPr>
              <a:t>)</a:t>
            </a:r>
            <a:r>
              <a:rPr sz="550" spc="-50" dirty="0">
                <a:latin typeface="DejaVu Serif"/>
                <a:cs typeface="DejaVu Serif"/>
              </a:rPr>
              <a:t> </a:t>
            </a:r>
            <a:r>
              <a:rPr sz="550" b="1" i="1" spc="15" dirty="0">
                <a:latin typeface="TeX Gyre Bonum"/>
                <a:cs typeface="TeX Gyre Bonum"/>
              </a:rPr>
              <a:t>collectors</a:t>
            </a:r>
            <a:endParaRPr sz="550">
              <a:latin typeface="TeX Gyre Bonum"/>
              <a:cs typeface="TeX Gyre Bonum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563" y="1216977"/>
            <a:ext cx="25431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6520" marR="5080" indent="-83820" algn="just">
              <a:lnSpc>
                <a:spcPct val="106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96520" algn="l"/>
              </a:tabLst>
            </a:pP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15" dirty="0">
                <a:latin typeface="DejaVu Serif"/>
                <a:cs typeface="DejaVu Serif"/>
              </a:rPr>
              <a:t>main </a:t>
            </a:r>
            <a:r>
              <a:rPr sz="550" dirty="0">
                <a:latin typeface="DejaVu Serif"/>
                <a:cs typeface="DejaVu Serif"/>
              </a:rPr>
              <a:t>reason </a:t>
            </a:r>
            <a:r>
              <a:rPr sz="550" spc="-15" dirty="0">
                <a:latin typeface="DejaVu Serif"/>
                <a:cs typeface="DejaVu Serif"/>
              </a:rPr>
              <a:t>for </a:t>
            </a:r>
            <a:r>
              <a:rPr sz="550" spc="5" dirty="0">
                <a:latin typeface="DejaVu Serif"/>
                <a:cs typeface="DejaVu Serif"/>
              </a:rPr>
              <a:t>using </a:t>
            </a:r>
            <a:r>
              <a:rPr sz="550" dirty="0">
                <a:latin typeface="DejaVu Serif"/>
                <a:cs typeface="DejaVu Serif"/>
              </a:rPr>
              <a:t>concentrating </a:t>
            </a:r>
            <a:r>
              <a:rPr sz="550" spc="-5" dirty="0">
                <a:latin typeface="DejaVu Serif"/>
                <a:cs typeface="DejaVu Serif"/>
              </a:rPr>
              <a:t>collectors </a:t>
            </a:r>
            <a:r>
              <a:rPr sz="550" spc="10" dirty="0">
                <a:latin typeface="DejaVu Serif"/>
                <a:cs typeface="DejaVu Serif"/>
              </a:rPr>
              <a:t>is </a:t>
            </a:r>
            <a:r>
              <a:rPr sz="550" spc="5" dirty="0">
                <a:latin typeface="DejaVu Serif"/>
                <a:cs typeface="DejaVu Serif"/>
              </a:rPr>
              <a:t>that </a:t>
            </a:r>
            <a:r>
              <a:rPr sz="550" dirty="0">
                <a:latin typeface="DejaVu Serif"/>
                <a:cs typeface="DejaVu Serif"/>
              </a:rPr>
              <a:t>the  </a:t>
            </a:r>
            <a:r>
              <a:rPr sz="550" spc="5" dirty="0">
                <a:latin typeface="DejaVu Serif"/>
                <a:cs typeface="DejaVu Serif"/>
              </a:rPr>
              <a:t>thermal </a:t>
            </a:r>
            <a:r>
              <a:rPr sz="550" spc="-10" dirty="0">
                <a:latin typeface="DejaVu Serif"/>
                <a:cs typeface="DejaVu Serif"/>
              </a:rPr>
              <a:t>energy </a:t>
            </a:r>
            <a:r>
              <a:rPr sz="550" spc="10" dirty="0">
                <a:latin typeface="DejaVu Serif"/>
                <a:cs typeface="DejaVu Serif"/>
              </a:rPr>
              <a:t>is </a:t>
            </a:r>
            <a:r>
              <a:rPr sz="550" dirty="0">
                <a:latin typeface="DejaVu Serif"/>
                <a:cs typeface="DejaVu Serif"/>
              </a:rPr>
              <a:t>obtained at </a:t>
            </a:r>
            <a:r>
              <a:rPr sz="550" spc="-5" dirty="0">
                <a:latin typeface="DejaVu Serif"/>
                <a:cs typeface="DejaVu Serif"/>
              </a:rPr>
              <a:t>higher </a:t>
            </a:r>
            <a:r>
              <a:rPr sz="550" dirty="0">
                <a:latin typeface="DejaVu Serif"/>
                <a:cs typeface="DejaVu Serif"/>
              </a:rPr>
              <a:t>temperatures. </a:t>
            </a:r>
            <a:r>
              <a:rPr sz="550" spc="5" dirty="0">
                <a:latin typeface="DejaVu Serif"/>
                <a:cs typeface="DejaVu Serif"/>
              </a:rPr>
              <a:t>This </a:t>
            </a:r>
            <a:r>
              <a:rPr sz="550" spc="10" dirty="0">
                <a:latin typeface="DejaVu Serif"/>
                <a:cs typeface="DejaVu Serif"/>
              </a:rPr>
              <a:t>is </a:t>
            </a:r>
            <a:r>
              <a:rPr sz="550" dirty="0">
                <a:latin typeface="DejaVu Serif"/>
                <a:cs typeface="DejaVu Serif"/>
              </a:rPr>
              <a:t>done  </a:t>
            </a:r>
            <a:r>
              <a:rPr sz="550" spc="5" dirty="0">
                <a:latin typeface="DejaVu Serif"/>
                <a:cs typeface="DejaVu Serif"/>
              </a:rPr>
              <a:t>by </a:t>
            </a:r>
            <a:r>
              <a:rPr sz="550" spc="-5" dirty="0">
                <a:latin typeface="DejaVu Serif"/>
                <a:cs typeface="DejaVu Serif"/>
              </a:rPr>
              <a:t>decreasing </a:t>
            </a: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-5" dirty="0">
                <a:latin typeface="DejaVu Serif"/>
                <a:cs typeface="DejaVu Serif"/>
              </a:rPr>
              <a:t>area from </a:t>
            </a:r>
            <a:r>
              <a:rPr sz="550" spc="5" dirty="0">
                <a:latin typeface="DejaVu Serif"/>
                <a:cs typeface="DejaVu Serif"/>
              </a:rPr>
              <a:t>which </a:t>
            </a:r>
            <a:r>
              <a:rPr sz="550" dirty="0">
                <a:latin typeface="DejaVu Serif"/>
                <a:cs typeface="DejaVu Serif"/>
              </a:rPr>
              <a:t>heat losses occur </a:t>
            </a:r>
            <a:r>
              <a:rPr sz="550" spc="-10" dirty="0">
                <a:latin typeface="DejaVu Serif"/>
                <a:cs typeface="DejaVu Serif"/>
              </a:rPr>
              <a:t>(called </a:t>
            </a:r>
            <a:r>
              <a:rPr sz="550" dirty="0">
                <a:latin typeface="DejaVu Serif"/>
                <a:cs typeface="DejaVu Serif"/>
              </a:rPr>
              <a:t>the  </a:t>
            </a:r>
            <a:r>
              <a:rPr sz="550" b="1" i="1" spc="10" dirty="0">
                <a:latin typeface="TeX Gyre Bonum"/>
                <a:cs typeface="TeX Gyre Bonum"/>
              </a:rPr>
              <a:t>receiver </a:t>
            </a:r>
            <a:r>
              <a:rPr sz="550" b="1" i="1" spc="5" dirty="0">
                <a:latin typeface="TeX Gyre Bonum"/>
                <a:cs typeface="TeX Gyre Bonum"/>
              </a:rPr>
              <a:t>area</a:t>
            </a:r>
            <a:r>
              <a:rPr sz="550" spc="5" dirty="0">
                <a:latin typeface="DejaVu Serif"/>
                <a:cs typeface="DejaVu Serif"/>
              </a:rPr>
              <a:t>) </a:t>
            </a:r>
            <a:r>
              <a:rPr sz="550" dirty="0">
                <a:latin typeface="DejaVu Serif"/>
                <a:cs typeface="DejaVu Serif"/>
              </a:rPr>
              <a:t>with </a:t>
            </a:r>
            <a:r>
              <a:rPr sz="550" spc="-5" dirty="0">
                <a:latin typeface="DejaVu Serif"/>
                <a:cs typeface="DejaVu Serif"/>
              </a:rPr>
              <a:t>respect </a:t>
            </a:r>
            <a:r>
              <a:rPr sz="550" dirty="0">
                <a:latin typeface="DejaVu Serif"/>
                <a:cs typeface="DejaVu Serif"/>
              </a:rPr>
              <a:t>to the </a:t>
            </a:r>
            <a:r>
              <a:rPr sz="550" b="1" i="1" spc="15" dirty="0">
                <a:latin typeface="TeX Gyre Bonum"/>
                <a:cs typeface="TeX Gyre Bonum"/>
              </a:rPr>
              <a:t>aperture </a:t>
            </a:r>
            <a:r>
              <a:rPr sz="550" b="1" i="1" spc="20" dirty="0">
                <a:latin typeface="TeX Gyre Bonum"/>
                <a:cs typeface="TeX Gyre Bonum"/>
              </a:rPr>
              <a:t>area </a:t>
            </a:r>
            <a:r>
              <a:rPr sz="550" spc="-5" dirty="0">
                <a:latin typeface="DejaVu Serif"/>
                <a:cs typeface="DejaVu Serif"/>
              </a:rPr>
              <a:t>(i.e., </a:t>
            </a:r>
            <a:r>
              <a:rPr sz="550" i="1" spc="10" dirty="0">
                <a:latin typeface="Bookman Uralic"/>
                <a:cs typeface="Bookman Uralic"/>
              </a:rPr>
              <a:t>the </a:t>
            </a:r>
            <a:r>
              <a:rPr sz="550" i="1" spc="15" dirty="0">
                <a:latin typeface="Bookman Uralic"/>
                <a:cs typeface="Bookman Uralic"/>
              </a:rPr>
              <a:t>area  facing </a:t>
            </a:r>
            <a:r>
              <a:rPr sz="550" i="1" spc="10" dirty="0">
                <a:latin typeface="Bookman Uralic"/>
                <a:cs typeface="Bookman Uralic"/>
              </a:rPr>
              <a:t>or intercepts the solar</a:t>
            </a:r>
            <a:r>
              <a:rPr sz="550" i="1" spc="45" dirty="0">
                <a:latin typeface="Bookman Uralic"/>
                <a:cs typeface="Bookman Uralic"/>
              </a:rPr>
              <a:t> </a:t>
            </a:r>
            <a:r>
              <a:rPr sz="550" i="1" spc="5" dirty="0">
                <a:latin typeface="Bookman Uralic"/>
                <a:cs typeface="Bookman Uralic"/>
              </a:rPr>
              <a:t>radiation</a:t>
            </a:r>
            <a:r>
              <a:rPr sz="550" spc="5" dirty="0">
                <a:latin typeface="DejaVu Serif"/>
                <a:cs typeface="DejaVu Serif"/>
              </a:rPr>
              <a:t>).</a:t>
            </a:r>
            <a:endParaRPr sz="550">
              <a:latin typeface="DejaVu Serif"/>
              <a:cs typeface="DejaVu Serif"/>
            </a:endParaRPr>
          </a:p>
          <a:p>
            <a:pPr marL="96520" indent="-83820">
              <a:lnSpc>
                <a:spcPct val="100000"/>
              </a:lnSpc>
              <a:spcBef>
                <a:spcPts val="395"/>
              </a:spcBef>
              <a:buFont typeface="Wingdings" panose="05000000000000000000"/>
              <a:buChar char=""/>
              <a:tabLst>
                <a:tab pos="96520" algn="l"/>
              </a:tabLst>
            </a:pPr>
            <a:r>
              <a:rPr sz="550" i="1" spc="20" dirty="0">
                <a:latin typeface="Bookman Uralic"/>
                <a:cs typeface="Bookman Uralic"/>
              </a:rPr>
              <a:t>The </a:t>
            </a:r>
            <a:r>
              <a:rPr sz="550" i="1" spc="10" dirty="0">
                <a:latin typeface="Bookman Uralic"/>
                <a:cs typeface="Bookman Uralic"/>
              </a:rPr>
              <a:t>ratio </a:t>
            </a:r>
            <a:r>
              <a:rPr sz="550" i="1" spc="5" dirty="0">
                <a:latin typeface="Bookman Uralic"/>
                <a:cs typeface="Bookman Uralic"/>
              </a:rPr>
              <a:t>of </a:t>
            </a:r>
            <a:r>
              <a:rPr sz="550" i="1" spc="10" dirty="0">
                <a:latin typeface="Bookman Uralic"/>
                <a:cs typeface="Bookman Uralic"/>
              </a:rPr>
              <a:t>the </a:t>
            </a:r>
            <a:r>
              <a:rPr sz="550" i="1" spc="15" dirty="0">
                <a:latin typeface="Bookman Uralic"/>
                <a:cs typeface="Bookman Uralic"/>
              </a:rPr>
              <a:t>aperture </a:t>
            </a:r>
            <a:r>
              <a:rPr sz="550" i="1" spc="10" dirty="0">
                <a:latin typeface="Bookman Uralic"/>
                <a:cs typeface="Bookman Uralic"/>
              </a:rPr>
              <a:t>to receiver </a:t>
            </a:r>
            <a:r>
              <a:rPr sz="550" i="1" spc="15" dirty="0">
                <a:latin typeface="Bookman Uralic"/>
                <a:cs typeface="Bookman Uralic"/>
              </a:rPr>
              <a:t>area </a:t>
            </a:r>
            <a:r>
              <a:rPr sz="550" i="1" spc="10" dirty="0">
                <a:latin typeface="Bookman Uralic"/>
                <a:cs typeface="Bookman Uralic"/>
              </a:rPr>
              <a:t>is called</a:t>
            </a:r>
            <a:r>
              <a:rPr sz="550" i="1" spc="155" dirty="0">
                <a:latin typeface="Bookman Uralic"/>
                <a:cs typeface="Bookman Uralic"/>
              </a:rPr>
              <a:t> </a:t>
            </a:r>
            <a:r>
              <a:rPr sz="550" i="1" spc="10" dirty="0">
                <a:latin typeface="Bookman Uralic"/>
                <a:cs typeface="Bookman Uralic"/>
              </a:rPr>
              <a:t>the</a:t>
            </a:r>
            <a:endParaRPr sz="550">
              <a:latin typeface="Bookman Uralic"/>
              <a:cs typeface="Bookman Uralic"/>
            </a:endParaRPr>
          </a:p>
          <a:p>
            <a:pPr marL="96520">
              <a:lnSpc>
                <a:spcPct val="100000"/>
              </a:lnSpc>
              <a:spcBef>
                <a:spcPts val="50"/>
              </a:spcBef>
            </a:pPr>
            <a:r>
              <a:rPr sz="550" b="1" i="1" spc="15" dirty="0">
                <a:latin typeface="TeX Gyre Bonum"/>
                <a:cs typeface="TeX Gyre Bonum"/>
              </a:rPr>
              <a:t>concentration</a:t>
            </a:r>
            <a:r>
              <a:rPr sz="550" b="1" i="1" spc="10" dirty="0">
                <a:latin typeface="TeX Gyre Bonum"/>
                <a:cs typeface="TeX Gyre Bonum"/>
              </a:rPr>
              <a:t> </a:t>
            </a:r>
            <a:r>
              <a:rPr sz="550" b="1" i="1" spc="15" dirty="0">
                <a:latin typeface="TeX Gyre Bonum"/>
                <a:cs typeface="TeX Gyre Bonum"/>
              </a:rPr>
              <a:t>ratio</a:t>
            </a:r>
            <a:r>
              <a:rPr sz="550" spc="15" dirty="0">
                <a:latin typeface="DejaVu Serif"/>
                <a:cs typeface="DejaVu Serif"/>
              </a:rPr>
              <a:t>.</a:t>
            </a:r>
            <a:endParaRPr sz="550">
              <a:latin typeface="DejaVu Serif"/>
              <a:cs typeface="DejaVu Serif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5" y="1028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311" y="196215"/>
            <a:ext cx="229108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" dirty="0"/>
              <a:t>Non concentrating</a:t>
            </a:r>
            <a:r>
              <a:rPr spc="-75" dirty="0"/>
              <a:t> </a:t>
            </a:r>
            <a:r>
              <a:rPr spc="10" dirty="0"/>
              <a:t>collectors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8234" y="510413"/>
            <a:ext cx="2433955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 marR="5080" indent="-132715" algn="just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45415" algn="l"/>
              </a:tabLst>
            </a:pPr>
            <a:r>
              <a:rPr sz="700" spc="-15" dirty="0">
                <a:latin typeface="DejaVu Serif"/>
                <a:cs typeface="DejaVu Serif"/>
              </a:rPr>
              <a:t>In </a:t>
            </a:r>
            <a:r>
              <a:rPr sz="700" spc="-5" dirty="0">
                <a:latin typeface="DejaVu Serif"/>
                <a:cs typeface="DejaVu Serif"/>
              </a:rPr>
              <a:t>non </a:t>
            </a:r>
            <a:r>
              <a:rPr sz="700" spc="-20" dirty="0">
                <a:latin typeface="DejaVu Serif"/>
                <a:cs typeface="DejaVu Serif"/>
              </a:rPr>
              <a:t>concentrating </a:t>
            </a:r>
            <a:r>
              <a:rPr sz="700" spc="-25" dirty="0">
                <a:latin typeface="DejaVu Serif"/>
                <a:cs typeface="DejaVu Serif"/>
              </a:rPr>
              <a:t>collectors, the aperture area  to intercept </a:t>
            </a:r>
            <a:r>
              <a:rPr sz="700" spc="-20" dirty="0">
                <a:latin typeface="DejaVu Serif"/>
                <a:cs typeface="DejaVu Serif"/>
              </a:rPr>
              <a:t>the </a:t>
            </a:r>
            <a:r>
              <a:rPr sz="700" spc="-15" dirty="0">
                <a:latin typeface="DejaVu Serif"/>
                <a:cs typeface="DejaVu Serif"/>
              </a:rPr>
              <a:t>solar radiation </a:t>
            </a:r>
            <a:r>
              <a:rPr sz="700" spc="-5" dirty="0">
                <a:latin typeface="DejaVu Serif"/>
                <a:cs typeface="DejaVu Serif"/>
              </a:rPr>
              <a:t>is </a:t>
            </a:r>
            <a:r>
              <a:rPr sz="700" spc="-20" dirty="0">
                <a:latin typeface="DejaVu Serif"/>
                <a:cs typeface="DejaVu Serif"/>
              </a:rPr>
              <a:t>equal </a:t>
            </a:r>
            <a:r>
              <a:rPr sz="700" spc="-25" dirty="0">
                <a:latin typeface="DejaVu Serif"/>
                <a:cs typeface="DejaVu Serif"/>
              </a:rPr>
              <a:t>to </a:t>
            </a:r>
            <a:r>
              <a:rPr sz="700" spc="-20" dirty="0">
                <a:latin typeface="DejaVu Serif"/>
                <a:cs typeface="DejaVu Serif"/>
              </a:rPr>
              <a:t>the  </a:t>
            </a:r>
            <a:r>
              <a:rPr sz="700" spc="-25" dirty="0">
                <a:latin typeface="DejaVu Serif"/>
                <a:cs typeface="DejaVu Serif"/>
              </a:rPr>
              <a:t>absorber plate </a:t>
            </a:r>
            <a:r>
              <a:rPr sz="700" spc="-5" dirty="0">
                <a:latin typeface="DejaVu Serif"/>
                <a:cs typeface="DejaVu Serif"/>
              </a:rPr>
              <a:t>and </a:t>
            </a:r>
            <a:r>
              <a:rPr sz="700" spc="5" dirty="0">
                <a:latin typeface="DejaVu Serif"/>
                <a:cs typeface="DejaVu Serif"/>
              </a:rPr>
              <a:t>thus </a:t>
            </a:r>
            <a:r>
              <a:rPr sz="700" dirty="0">
                <a:latin typeface="DejaVu Serif"/>
                <a:cs typeface="DejaVu Serif"/>
              </a:rPr>
              <a:t>has </a:t>
            </a:r>
            <a:r>
              <a:rPr sz="700" spc="-20" dirty="0">
                <a:latin typeface="DejaVu Serif"/>
                <a:cs typeface="DejaVu Serif"/>
              </a:rPr>
              <a:t>the </a:t>
            </a:r>
            <a:r>
              <a:rPr sz="700" b="1" i="1" dirty="0">
                <a:latin typeface="TeX Gyre Bonum"/>
                <a:cs typeface="TeX Gyre Bonum"/>
              </a:rPr>
              <a:t>concentration  ratio equal to</a:t>
            </a:r>
            <a:r>
              <a:rPr sz="700" b="1" i="1" spc="-40" dirty="0">
                <a:latin typeface="TeX Gyre Bonum"/>
                <a:cs typeface="TeX Gyre Bonum"/>
              </a:rPr>
              <a:t> </a:t>
            </a:r>
            <a:r>
              <a:rPr sz="700" b="1" i="1" dirty="0">
                <a:latin typeface="TeX Gyre Bonum"/>
                <a:cs typeface="TeX Gyre Bonum"/>
              </a:rPr>
              <a:t>1</a:t>
            </a:r>
            <a:r>
              <a:rPr sz="700" dirty="0">
                <a:latin typeface="DejaVu Serif"/>
                <a:cs typeface="DejaVu Serif"/>
              </a:rPr>
              <a:t>.</a:t>
            </a:r>
            <a:endParaRPr sz="700">
              <a:latin typeface="DejaVu Serif"/>
              <a:cs typeface="DejaVu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 panose="05000000000000000000"/>
              <a:buChar char=""/>
            </a:pPr>
            <a:endParaRPr sz="700">
              <a:latin typeface="DejaVu Serif"/>
              <a:cs typeface="DejaVu Serif"/>
            </a:endParaRPr>
          </a:p>
          <a:p>
            <a:pPr marL="144780" marR="5080" indent="-132715" algn="just">
              <a:lnSpc>
                <a:spcPct val="101000"/>
              </a:lnSpc>
              <a:buFont typeface="Wingdings" panose="05000000000000000000"/>
              <a:buChar char=""/>
              <a:tabLst>
                <a:tab pos="145415" algn="l"/>
              </a:tabLst>
            </a:pPr>
            <a:r>
              <a:rPr sz="700" b="1" i="1" dirty="0">
                <a:latin typeface="TeX Gyre Bonum"/>
                <a:cs typeface="TeX Gyre Bonum"/>
              </a:rPr>
              <a:t>Flat plate collectors </a:t>
            </a:r>
            <a:r>
              <a:rPr sz="700" spc="-30" dirty="0">
                <a:latin typeface="DejaVu Serif"/>
                <a:cs typeface="DejaVu Serif"/>
              </a:rPr>
              <a:t>(</a:t>
            </a:r>
            <a:r>
              <a:rPr sz="700" b="1" i="1" spc="-30" dirty="0">
                <a:latin typeface="TeX Gyre Bonum"/>
                <a:cs typeface="TeX Gyre Bonum"/>
              </a:rPr>
              <a:t>FPC</a:t>
            </a:r>
            <a:r>
              <a:rPr sz="700" spc="-30" dirty="0">
                <a:latin typeface="DejaVu Serif"/>
                <a:cs typeface="DejaVu Serif"/>
              </a:rPr>
              <a:t>) </a:t>
            </a:r>
            <a:r>
              <a:rPr sz="700" spc="-10" dirty="0">
                <a:latin typeface="DejaVu Serif"/>
                <a:cs typeface="DejaVu Serif"/>
              </a:rPr>
              <a:t>and </a:t>
            </a:r>
            <a:r>
              <a:rPr sz="700" b="1" i="1" dirty="0">
                <a:latin typeface="TeX Gyre Bonum"/>
                <a:cs typeface="TeX Gyre Bonum"/>
              </a:rPr>
              <a:t>evacuated tube  collectors </a:t>
            </a:r>
            <a:r>
              <a:rPr sz="700" spc="-25" dirty="0">
                <a:latin typeface="DejaVu Serif"/>
                <a:cs typeface="DejaVu Serif"/>
              </a:rPr>
              <a:t>(</a:t>
            </a:r>
            <a:r>
              <a:rPr sz="700" b="1" i="1" spc="-25" dirty="0">
                <a:latin typeface="TeX Gyre Bonum"/>
                <a:cs typeface="TeX Gyre Bonum"/>
              </a:rPr>
              <a:t>ETC</a:t>
            </a:r>
            <a:r>
              <a:rPr sz="700" spc="-25" dirty="0">
                <a:latin typeface="DejaVu Serif"/>
                <a:cs typeface="DejaVu Serif"/>
              </a:rPr>
              <a:t>) </a:t>
            </a:r>
            <a:r>
              <a:rPr sz="700" spc="-35" dirty="0">
                <a:latin typeface="DejaVu Serif"/>
                <a:cs typeface="DejaVu Serif"/>
              </a:rPr>
              <a:t>are </a:t>
            </a:r>
            <a:r>
              <a:rPr sz="700" spc="-15" dirty="0">
                <a:latin typeface="DejaVu Serif"/>
                <a:cs typeface="DejaVu Serif"/>
              </a:rPr>
              <a:t>non-concentrating </a:t>
            </a:r>
            <a:r>
              <a:rPr sz="700" spc="-25" dirty="0">
                <a:latin typeface="DejaVu Serif"/>
                <a:cs typeface="DejaVu Serif"/>
              </a:rPr>
              <a:t>type  </a:t>
            </a:r>
            <a:r>
              <a:rPr sz="700" spc="-20" dirty="0">
                <a:latin typeface="DejaVu Serif"/>
                <a:cs typeface="DejaVu Serif"/>
              </a:rPr>
              <a:t>collectors.</a:t>
            </a:r>
            <a:endParaRPr sz="700">
              <a:latin typeface="DejaVu Serif"/>
              <a:cs typeface="DejaVu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7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619" y="238835"/>
            <a:ext cx="2470150" cy="165227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550" b="1" i="1" spc="15" dirty="0">
                <a:latin typeface="TeX Gyre Bonum"/>
                <a:cs typeface="TeX Gyre Bonum"/>
              </a:rPr>
              <a:t>Advantages of flat plate</a:t>
            </a:r>
            <a:r>
              <a:rPr sz="550" b="1" i="1" spc="-15" dirty="0">
                <a:latin typeface="TeX Gyre Bonum"/>
                <a:cs typeface="TeX Gyre Bonum"/>
              </a:rPr>
              <a:t> </a:t>
            </a:r>
            <a:r>
              <a:rPr sz="550" b="1" i="1" spc="15" dirty="0">
                <a:latin typeface="TeX Gyre Bonum"/>
                <a:cs typeface="TeX Gyre Bonum"/>
              </a:rPr>
              <a:t>collectors</a:t>
            </a:r>
            <a:endParaRPr sz="550">
              <a:latin typeface="TeX Gyre Bonum"/>
              <a:cs typeface="TeX Gyre Bonum"/>
            </a:endParaRPr>
          </a:p>
          <a:p>
            <a:pPr marL="113030" marR="197485" indent="-100965">
              <a:lnSpc>
                <a:spcPct val="106000"/>
              </a:lnSpc>
              <a:spcBef>
                <a:spcPts val="245"/>
              </a:spcBef>
              <a:buAutoNum type="arabicPeriod"/>
              <a:tabLst>
                <a:tab pos="113030" algn="l"/>
              </a:tabLst>
            </a:pPr>
            <a:r>
              <a:rPr sz="550" dirty="0">
                <a:latin typeface="DejaVu Serif"/>
                <a:cs typeface="DejaVu Serif"/>
              </a:rPr>
              <a:t>Since flat-plate </a:t>
            </a:r>
            <a:r>
              <a:rPr sz="550" spc="-5" dirty="0">
                <a:latin typeface="DejaVu Serif"/>
                <a:cs typeface="DejaVu Serif"/>
              </a:rPr>
              <a:t>collectors </a:t>
            </a:r>
            <a:r>
              <a:rPr sz="550" dirty="0">
                <a:latin typeface="DejaVu Serif"/>
                <a:cs typeface="DejaVu Serif"/>
              </a:rPr>
              <a:t>absorb </a:t>
            </a:r>
            <a:r>
              <a:rPr sz="550" spc="-10" dirty="0">
                <a:latin typeface="DejaVu Serif"/>
                <a:cs typeface="DejaVu Serif"/>
              </a:rPr>
              <a:t>energy </a:t>
            </a:r>
            <a:r>
              <a:rPr sz="550" dirty="0">
                <a:latin typeface="DejaVu Serif"/>
                <a:cs typeface="DejaVu Serif"/>
              </a:rPr>
              <a:t>coming </a:t>
            </a:r>
            <a:r>
              <a:rPr sz="550" spc="-5" dirty="0">
                <a:latin typeface="DejaVu Serif"/>
                <a:cs typeface="DejaVu Serif"/>
              </a:rPr>
              <a:t>from </a:t>
            </a:r>
            <a:r>
              <a:rPr sz="550" dirty="0">
                <a:latin typeface="DejaVu Serif"/>
                <a:cs typeface="DejaVu Serif"/>
              </a:rPr>
              <a:t>all  directions </a:t>
            </a:r>
            <a:r>
              <a:rPr sz="550" spc="-10" dirty="0">
                <a:latin typeface="DejaVu Serif"/>
                <a:cs typeface="DejaVu Serif"/>
              </a:rPr>
              <a:t>above </a:t>
            </a:r>
            <a:r>
              <a:rPr sz="550" dirty="0">
                <a:latin typeface="DejaVu Serif"/>
                <a:cs typeface="DejaVu Serif"/>
              </a:rPr>
              <a:t>the absorber, tracking </a:t>
            </a:r>
            <a:r>
              <a:rPr sz="550" spc="10" dirty="0">
                <a:latin typeface="DejaVu Serif"/>
                <a:cs typeface="DejaVu Serif"/>
              </a:rPr>
              <a:t>is </a:t>
            </a:r>
            <a:r>
              <a:rPr sz="550" spc="5" dirty="0">
                <a:latin typeface="DejaVu Serif"/>
                <a:cs typeface="DejaVu Serif"/>
              </a:rPr>
              <a:t>not </a:t>
            </a:r>
            <a:r>
              <a:rPr sz="550" spc="-5" dirty="0">
                <a:latin typeface="DejaVu Serif"/>
                <a:cs typeface="DejaVu Serif"/>
              </a:rPr>
              <a:t>required </a:t>
            </a:r>
            <a:r>
              <a:rPr sz="550" spc="10" dirty="0">
                <a:latin typeface="DejaVu Serif"/>
                <a:cs typeface="DejaVu Serif"/>
              </a:rPr>
              <a:t>and  </a:t>
            </a:r>
            <a:r>
              <a:rPr sz="550" dirty="0">
                <a:latin typeface="DejaVu Serif"/>
                <a:cs typeface="DejaVu Serif"/>
              </a:rPr>
              <a:t>hence it </a:t>
            </a:r>
            <a:r>
              <a:rPr sz="550" spc="10" dirty="0">
                <a:latin typeface="DejaVu Serif"/>
                <a:cs typeface="DejaVu Serif"/>
              </a:rPr>
              <a:t>is </a:t>
            </a:r>
            <a:r>
              <a:rPr sz="550" dirty="0">
                <a:latin typeface="DejaVu Serif"/>
                <a:cs typeface="DejaVu Serif"/>
              </a:rPr>
              <a:t>simple </a:t>
            </a:r>
            <a:r>
              <a:rPr sz="550" spc="15" dirty="0">
                <a:latin typeface="DejaVu Serif"/>
                <a:cs typeface="DejaVu Serif"/>
              </a:rPr>
              <a:t>in </a:t>
            </a:r>
            <a:r>
              <a:rPr sz="550" spc="-5" dirty="0">
                <a:latin typeface="DejaVu Serif"/>
                <a:cs typeface="DejaVu Serif"/>
              </a:rPr>
              <a:t>design </a:t>
            </a:r>
            <a:r>
              <a:rPr sz="550" spc="10" dirty="0">
                <a:latin typeface="DejaVu Serif"/>
                <a:cs typeface="DejaVu Serif"/>
              </a:rPr>
              <a:t>and </a:t>
            </a:r>
            <a:r>
              <a:rPr sz="550" dirty="0">
                <a:latin typeface="DejaVu Serif"/>
                <a:cs typeface="DejaVu Serif"/>
              </a:rPr>
              <a:t>requires </a:t>
            </a:r>
            <a:r>
              <a:rPr sz="550" spc="5" dirty="0">
                <a:latin typeface="DejaVu Serif"/>
                <a:cs typeface="DejaVu Serif"/>
              </a:rPr>
              <a:t>less</a:t>
            </a:r>
            <a:r>
              <a:rPr sz="550" spc="35" dirty="0">
                <a:latin typeface="DejaVu Serif"/>
                <a:cs typeface="DejaVu Serif"/>
              </a:rPr>
              <a:t> </a:t>
            </a:r>
            <a:r>
              <a:rPr sz="550" spc="5" dirty="0">
                <a:latin typeface="DejaVu Serif"/>
                <a:cs typeface="DejaVu Serif"/>
              </a:rPr>
              <a:t>maintenance.</a:t>
            </a:r>
            <a:endParaRPr sz="550">
              <a:latin typeface="DejaVu Serif"/>
              <a:cs typeface="DejaVu Serif"/>
            </a:endParaRPr>
          </a:p>
          <a:p>
            <a:pPr marL="113030" marR="203835" indent="-100965">
              <a:lnSpc>
                <a:spcPct val="106000"/>
              </a:lnSpc>
              <a:spcBef>
                <a:spcPts val="10"/>
              </a:spcBef>
              <a:buAutoNum type="arabicPeriod"/>
              <a:tabLst>
                <a:tab pos="113030" algn="l"/>
              </a:tabLst>
            </a:pPr>
            <a:r>
              <a:rPr sz="550" spc="-15" dirty="0">
                <a:latin typeface="DejaVu Serif"/>
                <a:cs typeface="DejaVu Serif"/>
              </a:rPr>
              <a:t>It </a:t>
            </a:r>
            <a:r>
              <a:rPr sz="550" spc="5" dirty="0">
                <a:latin typeface="DejaVu Serif"/>
                <a:cs typeface="DejaVu Serif"/>
              </a:rPr>
              <a:t>utilizes </a:t>
            </a: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5" dirty="0">
                <a:latin typeface="DejaVu Serif"/>
                <a:cs typeface="DejaVu Serif"/>
              </a:rPr>
              <a:t>both </a:t>
            </a: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5" dirty="0">
                <a:latin typeface="DejaVu Serif"/>
                <a:cs typeface="DejaVu Serif"/>
              </a:rPr>
              <a:t>beam </a:t>
            </a:r>
            <a:r>
              <a:rPr sz="550" spc="10" dirty="0">
                <a:latin typeface="DejaVu Serif"/>
                <a:cs typeface="DejaVu Serif"/>
              </a:rPr>
              <a:t>as </a:t>
            </a:r>
            <a:r>
              <a:rPr sz="550" spc="-10" dirty="0">
                <a:latin typeface="DejaVu Serif"/>
                <a:cs typeface="DejaVu Serif"/>
              </a:rPr>
              <a:t>well </a:t>
            </a:r>
            <a:r>
              <a:rPr sz="550" spc="10" dirty="0">
                <a:latin typeface="DejaVu Serif"/>
                <a:cs typeface="DejaVu Serif"/>
              </a:rPr>
              <a:t>as </a:t>
            </a:r>
            <a:r>
              <a:rPr sz="550" dirty="0">
                <a:latin typeface="DejaVu Serif"/>
                <a:cs typeface="DejaVu Serif"/>
              </a:rPr>
              <a:t>diffuse radiation </a:t>
            </a:r>
            <a:r>
              <a:rPr sz="550" spc="-15" dirty="0">
                <a:latin typeface="DejaVu Serif"/>
                <a:cs typeface="DejaVu Serif"/>
              </a:rPr>
              <a:t>for  </a:t>
            </a:r>
            <a:r>
              <a:rPr sz="550" dirty="0">
                <a:latin typeface="DejaVu Serif"/>
                <a:cs typeface="DejaVu Serif"/>
              </a:rPr>
              <a:t>heating.</a:t>
            </a:r>
            <a:endParaRPr sz="550">
              <a:latin typeface="DejaVu Serif"/>
              <a:cs typeface="DejaVu Serif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550" b="1" i="1" spc="15" dirty="0">
                <a:latin typeface="TeX Gyre Bonum"/>
                <a:cs typeface="TeX Gyre Bonum"/>
              </a:rPr>
              <a:t>Disadvantages of flat plate</a:t>
            </a:r>
            <a:r>
              <a:rPr sz="550" b="1" i="1" spc="-10" dirty="0">
                <a:latin typeface="TeX Gyre Bonum"/>
                <a:cs typeface="TeX Gyre Bonum"/>
              </a:rPr>
              <a:t> </a:t>
            </a:r>
            <a:r>
              <a:rPr sz="550" b="1" i="1" spc="15" dirty="0">
                <a:latin typeface="TeX Gyre Bonum"/>
                <a:cs typeface="TeX Gyre Bonum"/>
              </a:rPr>
              <a:t>collectors</a:t>
            </a:r>
            <a:endParaRPr sz="550">
              <a:latin typeface="TeX Gyre Bonum"/>
              <a:cs typeface="TeX Gyre Bonum"/>
            </a:endParaRPr>
          </a:p>
          <a:p>
            <a:pPr marL="113030" marR="5080" indent="-100965">
              <a:lnSpc>
                <a:spcPct val="107000"/>
              </a:lnSpc>
              <a:spcBef>
                <a:spcPts val="275"/>
              </a:spcBef>
              <a:buAutoNum type="arabicPeriod"/>
              <a:tabLst>
                <a:tab pos="113030" algn="l"/>
              </a:tabLst>
            </a:pPr>
            <a:r>
              <a:rPr sz="550" spc="10" dirty="0">
                <a:latin typeface="DejaVu Serif"/>
                <a:cs typeface="DejaVu Serif"/>
              </a:rPr>
              <a:t>As </a:t>
            </a:r>
            <a:r>
              <a:rPr sz="550" spc="-10" dirty="0">
                <a:latin typeface="DejaVu Serif"/>
                <a:cs typeface="DejaVu Serif"/>
              </a:rPr>
              <a:t>low </a:t>
            </a:r>
            <a:r>
              <a:rPr sz="550" dirty="0">
                <a:latin typeface="DejaVu Serif"/>
                <a:cs typeface="DejaVu Serif"/>
              </a:rPr>
              <a:t>temperature </a:t>
            </a:r>
            <a:r>
              <a:rPr sz="550" spc="10" dirty="0">
                <a:latin typeface="DejaVu Serif"/>
                <a:cs typeface="DejaVu Serif"/>
              </a:rPr>
              <a:t>is </a:t>
            </a:r>
            <a:r>
              <a:rPr sz="550" spc="-5" dirty="0">
                <a:latin typeface="DejaVu Serif"/>
                <a:cs typeface="DejaVu Serif"/>
              </a:rPr>
              <a:t>achieved, flat plate collectors </a:t>
            </a:r>
            <a:r>
              <a:rPr sz="550" spc="-10" dirty="0">
                <a:latin typeface="DejaVu Serif"/>
                <a:cs typeface="DejaVu Serif"/>
              </a:rPr>
              <a:t>are </a:t>
            </a:r>
            <a:r>
              <a:rPr sz="550" spc="5" dirty="0">
                <a:latin typeface="DejaVu Serif"/>
                <a:cs typeface="DejaVu Serif"/>
              </a:rPr>
              <a:t>not </a:t>
            </a:r>
            <a:r>
              <a:rPr sz="550" spc="10" dirty="0">
                <a:latin typeface="DejaVu Serif"/>
                <a:cs typeface="DejaVu Serif"/>
              </a:rPr>
              <a:t>used  </a:t>
            </a:r>
            <a:r>
              <a:rPr sz="550" spc="-15" dirty="0">
                <a:latin typeface="DejaVu Serif"/>
                <a:cs typeface="DejaVu Serif"/>
              </a:rPr>
              <a:t>for </a:t>
            </a:r>
            <a:r>
              <a:rPr sz="550" spc="-10" dirty="0">
                <a:latin typeface="DejaVu Serif"/>
                <a:cs typeface="DejaVu Serif"/>
              </a:rPr>
              <a:t>power</a:t>
            </a:r>
            <a:r>
              <a:rPr sz="550" spc="10" dirty="0">
                <a:latin typeface="DejaVu Serif"/>
                <a:cs typeface="DejaVu Serif"/>
              </a:rPr>
              <a:t> </a:t>
            </a:r>
            <a:r>
              <a:rPr sz="550" spc="-5" dirty="0">
                <a:latin typeface="DejaVu Serif"/>
                <a:cs typeface="DejaVu Serif"/>
              </a:rPr>
              <a:t>generation.</a:t>
            </a:r>
            <a:endParaRPr sz="550">
              <a:latin typeface="DejaVu Serif"/>
              <a:cs typeface="DejaVu Serif"/>
            </a:endParaRPr>
          </a:p>
          <a:p>
            <a:pPr marL="113030" marR="60325" indent="-100965">
              <a:lnSpc>
                <a:spcPts val="710"/>
              </a:lnSpc>
              <a:spcBef>
                <a:spcPts val="15"/>
              </a:spcBef>
              <a:buAutoNum type="arabicPeriod"/>
              <a:tabLst>
                <a:tab pos="113030" algn="l"/>
              </a:tabLst>
            </a:pPr>
            <a:r>
              <a:rPr sz="550" spc="-20" dirty="0">
                <a:latin typeface="DejaVu Serif"/>
                <a:cs typeface="DejaVu Serif"/>
              </a:rPr>
              <a:t>Large </a:t>
            </a:r>
            <a:r>
              <a:rPr sz="550" dirty="0">
                <a:latin typeface="DejaVu Serif"/>
                <a:cs typeface="DejaVu Serif"/>
              </a:rPr>
              <a:t>heat losses </a:t>
            </a:r>
            <a:r>
              <a:rPr sz="550" spc="5" dirty="0">
                <a:latin typeface="DejaVu Serif"/>
                <a:cs typeface="DejaVu Serif"/>
              </a:rPr>
              <a:t>by conduction </a:t>
            </a:r>
            <a:r>
              <a:rPr sz="550" spc="10" dirty="0">
                <a:latin typeface="DejaVu Serif"/>
                <a:cs typeface="DejaVu Serif"/>
              </a:rPr>
              <a:t>and </a:t>
            </a:r>
            <a:r>
              <a:rPr sz="550" dirty="0">
                <a:latin typeface="DejaVu Serif"/>
                <a:cs typeface="DejaVu Serif"/>
              </a:rPr>
              <a:t>radiation because </a:t>
            </a:r>
            <a:r>
              <a:rPr sz="550" spc="-15" dirty="0">
                <a:latin typeface="DejaVu Serif"/>
                <a:cs typeface="DejaVu Serif"/>
              </a:rPr>
              <a:t>of large  </a:t>
            </a:r>
            <a:r>
              <a:rPr sz="550" dirty="0">
                <a:latin typeface="DejaVu Serif"/>
                <a:cs typeface="DejaVu Serif"/>
              </a:rPr>
              <a:t>area.</a:t>
            </a:r>
            <a:endParaRPr sz="550">
              <a:latin typeface="DejaVu Serif"/>
              <a:cs typeface="DejaVu Serif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550" b="1" i="1" spc="15" dirty="0">
                <a:latin typeface="TeX Gyre Bonum"/>
                <a:cs typeface="TeX Gyre Bonum"/>
              </a:rPr>
              <a:t>Applications of flat plate</a:t>
            </a:r>
            <a:r>
              <a:rPr sz="550" b="1" i="1" spc="-20" dirty="0">
                <a:latin typeface="TeX Gyre Bonum"/>
                <a:cs typeface="TeX Gyre Bonum"/>
              </a:rPr>
              <a:t> </a:t>
            </a:r>
            <a:r>
              <a:rPr sz="550" b="1" i="1" spc="10" dirty="0">
                <a:latin typeface="TeX Gyre Bonum"/>
                <a:cs typeface="TeX Gyre Bonum"/>
              </a:rPr>
              <a:t>collector</a:t>
            </a:r>
            <a:endParaRPr sz="550">
              <a:latin typeface="TeX Gyre Bonum"/>
              <a:cs typeface="TeX Gyre Bonum"/>
            </a:endParaRPr>
          </a:p>
          <a:p>
            <a:pPr marL="113030" indent="-100965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113030" algn="l"/>
              </a:tabLst>
            </a:pPr>
            <a:r>
              <a:rPr sz="550" spc="-5" dirty="0">
                <a:latin typeface="DejaVu Serif"/>
                <a:cs typeface="DejaVu Serif"/>
              </a:rPr>
              <a:t>Solar </a:t>
            </a:r>
            <a:r>
              <a:rPr sz="550" spc="-10" dirty="0">
                <a:latin typeface="DejaVu Serif"/>
                <a:cs typeface="DejaVu Serif"/>
              </a:rPr>
              <a:t>water </a:t>
            </a:r>
            <a:r>
              <a:rPr sz="550" dirty="0">
                <a:latin typeface="DejaVu Serif"/>
                <a:cs typeface="DejaVu Serif"/>
              </a:rPr>
              <a:t>heating </a:t>
            </a:r>
            <a:r>
              <a:rPr sz="550" spc="5" dirty="0">
                <a:latin typeface="DejaVu Serif"/>
                <a:cs typeface="DejaVu Serif"/>
              </a:rPr>
              <a:t>systems </a:t>
            </a:r>
            <a:r>
              <a:rPr sz="550" spc="-15" dirty="0">
                <a:latin typeface="DejaVu Serif"/>
                <a:cs typeface="DejaVu Serif"/>
              </a:rPr>
              <a:t>for </a:t>
            </a:r>
            <a:r>
              <a:rPr sz="550" dirty="0">
                <a:latin typeface="DejaVu Serif"/>
                <a:cs typeface="DejaVu Serif"/>
              </a:rPr>
              <a:t>residence, hotels,</a:t>
            </a:r>
            <a:r>
              <a:rPr sz="550" spc="60" dirty="0">
                <a:latin typeface="DejaVu Serif"/>
                <a:cs typeface="DejaVu Serif"/>
              </a:rPr>
              <a:t> </a:t>
            </a:r>
            <a:r>
              <a:rPr sz="550" spc="10" dirty="0">
                <a:latin typeface="DejaVu Serif"/>
                <a:cs typeface="DejaVu Serif"/>
              </a:rPr>
              <a:t>industry.</a:t>
            </a:r>
            <a:endParaRPr sz="550">
              <a:latin typeface="DejaVu Serif"/>
              <a:cs typeface="DejaVu Serif"/>
            </a:endParaRPr>
          </a:p>
          <a:p>
            <a:pPr marL="113030" indent="-100965">
              <a:lnSpc>
                <a:spcPct val="100000"/>
              </a:lnSpc>
              <a:spcBef>
                <a:spcPts val="50"/>
              </a:spcBef>
              <a:buAutoNum type="arabicPeriod"/>
              <a:tabLst>
                <a:tab pos="113030" algn="l"/>
              </a:tabLst>
            </a:pPr>
            <a:r>
              <a:rPr sz="550" spc="-5" dirty="0">
                <a:latin typeface="DejaVu Serif"/>
                <a:cs typeface="DejaVu Serif"/>
              </a:rPr>
              <a:t>Solar cookers </a:t>
            </a:r>
            <a:r>
              <a:rPr sz="550" spc="-15" dirty="0">
                <a:latin typeface="DejaVu Serif"/>
                <a:cs typeface="DejaVu Serif"/>
              </a:rPr>
              <a:t>for </a:t>
            </a:r>
            <a:r>
              <a:rPr sz="550" dirty="0">
                <a:latin typeface="DejaVu Serif"/>
                <a:cs typeface="DejaVu Serif"/>
              </a:rPr>
              <a:t>domestic</a:t>
            </a:r>
            <a:r>
              <a:rPr sz="550" spc="55" dirty="0">
                <a:latin typeface="DejaVu Serif"/>
                <a:cs typeface="DejaVu Serif"/>
              </a:rPr>
              <a:t> </a:t>
            </a:r>
            <a:r>
              <a:rPr sz="550" spc="-5" dirty="0">
                <a:latin typeface="DejaVu Serif"/>
                <a:cs typeface="DejaVu Serif"/>
              </a:rPr>
              <a:t>cooking.</a:t>
            </a:r>
            <a:endParaRPr sz="550">
              <a:latin typeface="DejaVu Serif"/>
              <a:cs typeface="DejaVu Serif"/>
            </a:endParaRPr>
          </a:p>
          <a:p>
            <a:pPr marL="113030" indent="-100965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13030" algn="l"/>
              </a:tabLst>
            </a:pPr>
            <a:r>
              <a:rPr sz="550" dirty="0">
                <a:latin typeface="DejaVu Serif"/>
                <a:cs typeface="DejaVu Serif"/>
              </a:rPr>
              <a:t>Drying</a:t>
            </a:r>
            <a:r>
              <a:rPr sz="550" spc="-10" dirty="0">
                <a:latin typeface="DejaVu Serif"/>
                <a:cs typeface="DejaVu Serif"/>
              </a:rPr>
              <a:t> </a:t>
            </a:r>
            <a:r>
              <a:rPr sz="550" dirty="0">
                <a:latin typeface="DejaVu Serif"/>
                <a:cs typeface="DejaVu Serif"/>
              </a:rPr>
              <a:t>applications.</a:t>
            </a:r>
            <a:endParaRPr sz="550">
              <a:latin typeface="DejaVu Serif"/>
              <a:cs typeface="DejaVu Serif"/>
            </a:endParaRPr>
          </a:p>
          <a:p>
            <a:pPr marL="113030" indent="-100965">
              <a:lnSpc>
                <a:spcPct val="100000"/>
              </a:lnSpc>
              <a:spcBef>
                <a:spcPts val="50"/>
              </a:spcBef>
              <a:buAutoNum type="arabicPeriod"/>
              <a:tabLst>
                <a:tab pos="113030" algn="l"/>
              </a:tabLst>
            </a:pPr>
            <a:r>
              <a:rPr sz="550" spc="-5" dirty="0">
                <a:latin typeface="DejaVu Serif"/>
                <a:cs typeface="DejaVu Serif"/>
              </a:rPr>
              <a:t>Residence</a:t>
            </a:r>
            <a:r>
              <a:rPr sz="550" spc="-10" dirty="0">
                <a:latin typeface="DejaVu Serif"/>
                <a:cs typeface="DejaVu Serif"/>
              </a:rPr>
              <a:t> </a:t>
            </a:r>
            <a:r>
              <a:rPr sz="550" dirty="0">
                <a:latin typeface="DejaVu Serif"/>
                <a:cs typeface="DejaVu Serif"/>
              </a:rPr>
              <a:t>heating.</a:t>
            </a:r>
            <a:endParaRPr sz="550">
              <a:latin typeface="DejaVu Serif"/>
              <a:cs typeface="DejaVu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8729" y="62103"/>
            <a:ext cx="170878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/>
              <a:t>Flat Plate</a:t>
            </a:r>
            <a:r>
              <a:rPr sz="1300" spc="-65" dirty="0"/>
              <a:t> </a:t>
            </a:r>
            <a:r>
              <a:rPr sz="1300" spc="-10" dirty="0"/>
              <a:t>Collector</a:t>
            </a:r>
            <a:endParaRPr sz="1300"/>
          </a:p>
        </p:txBody>
      </p:sp>
      <p:sp>
        <p:nvSpPr>
          <p:cNvPr id="4" name="object 4"/>
          <p:cNvSpPr/>
          <p:nvPr/>
        </p:nvSpPr>
        <p:spPr>
          <a:xfrm>
            <a:off x="635" y="127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1336" y="464220"/>
            <a:ext cx="1542415" cy="551180"/>
            <a:chOff x="491336" y="464220"/>
            <a:chExt cx="1542415" cy="551180"/>
          </a:xfrm>
        </p:grpSpPr>
        <p:sp>
          <p:nvSpPr>
            <p:cNvPr id="3" name="object 3"/>
            <p:cNvSpPr/>
            <p:nvPr/>
          </p:nvSpPr>
          <p:spPr>
            <a:xfrm>
              <a:off x="496734" y="642587"/>
              <a:ext cx="1417056" cy="367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6734" y="642460"/>
              <a:ext cx="1417320" cy="367665"/>
            </a:xfrm>
            <a:custGeom>
              <a:avLst/>
              <a:gdLst/>
              <a:ahLst/>
              <a:cxnLst/>
              <a:rect l="l" t="t" r="r" b="b"/>
              <a:pathLst>
                <a:path w="1417320" h="367665">
                  <a:moveTo>
                    <a:pt x="1339798" y="122348"/>
                  </a:moveTo>
                  <a:lnTo>
                    <a:pt x="1339798" y="0"/>
                  </a:lnTo>
                  <a:lnTo>
                    <a:pt x="1417056" y="0"/>
                  </a:lnTo>
                  <a:lnTo>
                    <a:pt x="1417056" y="367053"/>
                  </a:lnTo>
                  <a:lnTo>
                    <a:pt x="0" y="367053"/>
                  </a:lnTo>
                  <a:lnTo>
                    <a:pt x="0" y="0"/>
                  </a:lnTo>
                  <a:lnTo>
                    <a:pt x="77294" y="0"/>
                  </a:lnTo>
                  <a:lnTo>
                    <a:pt x="77294" y="122348"/>
                  </a:lnTo>
                  <a:lnTo>
                    <a:pt x="1339798" y="122348"/>
                  </a:lnTo>
                  <a:close/>
                </a:path>
              </a:pathLst>
            </a:custGeom>
            <a:ln w="103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93213" y="467712"/>
              <a:ext cx="436880" cy="361950"/>
            </a:xfrm>
            <a:custGeom>
              <a:avLst/>
              <a:gdLst/>
              <a:ahLst/>
              <a:cxnLst/>
              <a:rect l="l" t="t" r="r" b="b"/>
              <a:pathLst>
                <a:path w="436880" h="361950">
                  <a:moveTo>
                    <a:pt x="11725" y="181783"/>
                  </a:moveTo>
                  <a:lnTo>
                    <a:pt x="81348" y="0"/>
                  </a:lnTo>
                  <a:lnTo>
                    <a:pt x="140519" y="0"/>
                  </a:lnTo>
                </a:path>
                <a:path w="436880" h="361950">
                  <a:moveTo>
                    <a:pt x="0" y="157879"/>
                  </a:moveTo>
                  <a:lnTo>
                    <a:pt x="11725" y="181783"/>
                  </a:lnTo>
                  <a:lnTo>
                    <a:pt x="36902" y="170638"/>
                  </a:lnTo>
                </a:path>
                <a:path w="436880" h="361950">
                  <a:moveTo>
                    <a:pt x="243591" y="343288"/>
                  </a:moveTo>
                  <a:lnTo>
                    <a:pt x="436828" y="343288"/>
                  </a:lnTo>
                </a:path>
                <a:path w="436880" h="361950">
                  <a:moveTo>
                    <a:pt x="263224" y="324642"/>
                  </a:moveTo>
                  <a:lnTo>
                    <a:pt x="243591" y="343288"/>
                  </a:lnTo>
                  <a:lnTo>
                    <a:pt x="263224" y="361934"/>
                  </a:lnTo>
                </a:path>
              </a:pathLst>
            </a:custGeom>
            <a:ln w="63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734212" y="407379"/>
            <a:ext cx="643255" cy="108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5" dirty="0">
                <a:latin typeface="Times New Roman" panose="02020603050405020304"/>
                <a:cs typeface="Times New Roman" panose="02020603050405020304"/>
              </a:rPr>
              <a:t>Direct solar</a:t>
            </a:r>
            <a:r>
              <a:rPr sz="5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5" dirty="0">
                <a:latin typeface="Times New Roman" panose="02020603050405020304"/>
                <a:cs typeface="Times New Roman" panose="02020603050405020304"/>
              </a:rPr>
              <a:t>radiation</a:t>
            </a:r>
            <a:endParaRPr sz="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07094" y="470155"/>
            <a:ext cx="320040" cy="182245"/>
          </a:xfrm>
          <a:custGeom>
            <a:avLst/>
            <a:gdLst/>
            <a:ahLst/>
            <a:cxnLst/>
            <a:rect l="l" t="t" r="r" b="b"/>
            <a:pathLst>
              <a:path w="320040" h="182245">
                <a:moveTo>
                  <a:pt x="249999" y="181783"/>
                </a:moveTo>
                <a:lnTo>
                  <a:pt x="319713" y="0"/>
                </a:lnTo>
              </a:path>
              <a:path w="320040" h="182245">
                <a:moveTo>
                  <a:pt x="238274" y="157888"/>
                </a:moveTo>
                <a:lnTo>
                  <a:pt x="249999" y="181783"/>
                </a:lnTo>
                <a:lnTo>
                  <a:pt x="275176" y="170638"/>
                </a:lnTo>
              </a:path>
              <a:path w="320040" h="182245">
                <a:moveTo>
                  <a:pt x="69668" y="181783"/>
                </a:moveTo>
                <a:lnTo>
                  <a:pt x="0" y="0"/>
                </a:lnTo>
              </a:path>
              <a:path w="320040" h="182245">
                <a:moveTo>
                  <a:pt x="81403" y="157888"/>
                </a:moveTo>
                <a:lnTo>
                  <a:pt x="69668" y="181783"/>
                </a:lnTo>
                <a:lnTo>
                  <a:pt x="44500" y="170638"/>
                </a:lnTo>
              </a:path>
            </a:pathLst>
          </a:custGeom>
          <a:ln w="6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65773" y="358432"/>
            <a:ext cx="680085" cy="108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5" dirty="0">
                <a:latin typeface="Times New Roman" panose="02020603050405020304"/>
                <a:cs typeface="Times New Roman" panose="02020603050405020304"/>
              </a:rPr>
              <a:t>Diffuse solar</a:t>
            </a:r>
            <a:r>
              <a:rPr sz="5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5" dirty="0">
                <a:latin typeface="Times New Roman" panose="02020603050405020304"/>
                <a:cs typeface="Times New Roman" panose="02020603050405020304"/>
              </a:rPr>
              <a:t>radiation</a:t>
            </a:r>
            <a:endParaRPr sz="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4521" y="346063"/>
            <a:ext cx="170180" cy="306070"/>
          </a:xfrm>
          <a:custGeom>
            <a:avLst/>
            <a:gdLst/>
            <a:ahLst/>
            <a:cxnLst/>
            <a:rect l="l" t="t" r="r" b="b"/>
            <a:pathLst>
              <a:path w="170180" h="306070">
                <a:moveTo>
                  <a:pt x="161033" y="305875"/>
                </a:moveTo>
                <a:lnTo>
                  <a:pt x="0" y="0"/>
                </a:lnTo>
              </a:path>
              <a:path w="170180" h="306070">
                <a:moveTo>
                  <a:pt x="169814" y="280867"/>
                </a:moveTo>
                <a:lnTo>
                  <a:pt x="161033" y="305875"/>
                </a:lnTo>
                <a:lnTo>
                  <a:pt x="134693" y="297536"/>
                </a:lnTo>
              </a:path>
            </a:pathLst>
          </a:custGeom>
          <a:ln w="6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25754" y="236084"/>
            <a:ext cx="581025" cy="108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5" dirty="0">
                <a:latin typeface="Times New Roman" panose="02020603050405020304"/>
                <a:cs typeface="Times New Roman" panose="02020603050405020304"/>
              </a:rPr>
              <a:t>Transparent</a:t>
            </a:r>
            <a:r>
              <a:rPr sz="5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5" dirty="0">
                <a:latin typeface="Times New Roman" panose="02020603050405020304"/>
                <a:cs typeface="Times New Roman" panose="02020603050405020304"/>
              </a:rPr>
              <a:t>covers</a:t>
            </a:r>
            <a:endParaRPr sz="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33770" y="771844"/>
            <a:ext cx="123189" cy="284480"/>
          </a:xfrm>
          <a:custGeom>
            <a:avLst/>
            <a:gdLst/>
            <a:ahLst/>
            <a:cxnLst/>
            <a:rect l="l" t="t" r="r" b="b"/>
            <a:pathLst>
              <a:path w="123189" h="284480">
                <a:moveTo>
                  <a:pt x="19632" y="0"/>
                </a:moveTo>
                <a:lnTo>
                  <a:pt x="19632" y="283853"/>
                </a:lnTo>
                <a:lnTo>
                  <a:pt x="122704" y="283853"/>
                </a:lnTo>
              </a:path>
              <a:path w="123189" h="284480">
                <a:moveTo>
                  <a:pt x="0" y="18646"/>
                </a:moveTo>
                <a:lnTo>
                  <a:pt x="19632" y="0"/>
                </a:lnTo>
                <a:lnTo>
                  <a:pt x="39265" y="18646"/>
                </a:lnTo>
              </a:path>
            </a:pathLst>
          </a:custGeom>
          <a:ln w="6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712125" y="994658"/>
            <a:ext cx="455930" cy="108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10" dirty="0">
                <a:latin typeface="Times New Roman" panose="02020603050405020304"/>
                <a:cs typeface="Times New Roman" panose="02020603050405020304"/>
              </a:rPr>
              <a:t>Absorber</a:t>
            </a:r>
            <a:r>
              <a:rPr sz="5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5" dirty="0">
                <a:latin typeface="Times New Roman" panose="02020603050405020304"/>
                <a:cs typeface="Times New Roman" panose="02020603050405020304"/>
              </a:rPr>
              <a:t>plate</a:t>
            </a:r>
            <a:endParaRPr sz="5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78210" y="768979"/>
            <a:ext cx="1355090" cy="180340"/>
            <a:chOff x="678210" y="768979"/>
            <a:chExt cx="1355090" cy="180340"/>
          </a:xfrm>
        </p:grpSpPr>
        <p:sp>
          <p:nvSpPr>
            <p:cNvPr id="14" name="object 14"/>
            <p:cNvSpPr/>
            <p:nvPr/>
          </p:nvSpPr>
          <p:spPr>
            <a:xfrm>
              <a:off x="678210" y="768979"/>
              <a:ext cx="87927" cy="840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41979" y="768979"/>
              <a:ext cx="87891" cy="840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0095" y="768979"/>
              <a:ext cx="87927" cy="840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73845" y="768979"/>
              <a:ext cx="87982" cy="8404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05712" y="768979"/>
              <a:ext cx="87982" cy="840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19299" y="855044"/>
              <a:ext cx="410845" cy="90805"/>
            </a:xfrm>
            <a:custGeom>
              <a:avLst/>
              <a:gdLst/>
              <a:ahLst/>
              <a:cxnLst/>
              <a:rect l="l" t="t" r="r" b="b"/>
              <a:pathLst>
                <a:path w="410844" h="90805">
                  <a:moveTo>
                    <a:pt x="29449" y="0"/>
                  </a:moveTo>
                  <a:lnTo>
                    <a:pt x="29449" y="90537"/>
                  </a:lnTo>
                  <a:lnTo>
                    <a:pt x="410742" y="90537"/>
                  </a:lnTo>
                </a:path>
                <a:path w="410844" h="90805">
                  <a:moveTo>
                    <a:pt x="0" y="27969"/>
                  </a:moveTo>
                  <a:lnTo>
                    <a:pt x="29449" y="0"/>
                  </a:lnTo>
                  <a:lnTo>
                    <a:pt x="58898" y="27969"/>
                  </a:lnTo>
                </a:path>
              </a:pathLst>
            </a:custGeom>
            <a:ln w="63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25998" y="1043598"/>
            <a:ext cx="758825" cy="108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b="1" i="1" spc="5" dirty="0">
                <a:latin typeface="Times New Roman" panose="02020603050405020304"/>
                <a:cs typeface="Times New Roman" panose="02020603050405020304"/>
              </a:rPr>
              <a:t>Flat plate solar</a:t>
            </a:r>
            <a:r>
              <a:rPr sz="550" b="1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5" dirty="0">
                <a:latin typeface="Times New Roman" panose="02020603050405020304"/>
                <a:cs typeface="Times New Roman" panose="02020603050405020304"/>
              </a:rPr>
              <a:t>collector</a:t>
            </a:r>
            <a:endParaRPr sz="5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68631" y="693430"/>
            <a:ext cx="1464945" cy="69215"/>
            <a:chOff x="568631" y="693430"/>
            <a:chExt cx="1464945" cy="69215"/>
          </a:xfrm>
        </p:grpSpPr>
        <p:sp>
          <p:nvSpPr>
            <p:cNvPr id="22" name="object 22"/>
            <p:cNvSpPr/>
            <p:nvPr/>
          </p:nvSpPr>
          <p:spPr>
            <a:xfrm>
              <a:off x="574029" y="757160"/>
              <a:ext cx="1263015" cy="0"/>
            </a:xfrm>
            <a:custGeom>
              <a:avLst/>
              <a:gdLst/>
              <a:ahLst/>
              <a:cxnLst/>
              <a:rect l="l" t="t" r="r" b="b"/>
              <a:pathLst>
                <a:path w="1263014">
                  <a:moveTo>
                    <a:pt x="0" y="0"/>
                  </a:moveTo>
                  <a:lnTo>
                    <a:pt x="1262503" y="0"/>
                  </a:lnTo>
                </a:path>
              </a:pathLst>
            </a:custGeom>
            <a:ln w="10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66000" y="696922"/>
              <a:ext cx="264160" cy="37465"/>
            </a:xfrm>
            <a:custGeom>
              <a:avLst/>
              <a:gdLst/>
              <a:ahLst/>
              <a:cxnLst/>
              <a:rect l="l" t="t" r="r" b="b"/>
              <a:pathLst>
                <a:path w="264160" h="37465">
                  <a:moveTo>
                    <a:pt x="0" y="18646"/>
                  </a:moveTo>
                  <a:lnTo>
                    <a:pt x="264042" y="18646"/>
                  </a:lnTo>
                </a:path>
                <a:path w="264160" h="37465">
                  <a:moveTo>
                    <a:pt x="19632" y="0"/>
                  </a:moveTo>
                  <a:lnTo>
                    <a:pt x="0" y="18646"/>
                  </a:lnTo>
                  <a:lnTo>
                    <a:pt x="19632" y="37292"/>
                  </a:lnTo>
                </a:path>
              </a:pathLst>
            </a:custGeom>
            <a:ln w="63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026522" y="641966"/>
            <a:ext cx="324485" cy="35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700" indent="6985">
              <a:lnSpc>
                <a:spcPct val="114000"/>
              </a:lnSpc>
              <a:spcBef>
                <a:spcPts val="100"/>
              </a:spcBef>
            </a:pPr>
            <a:r>
              <a:rPr sz="550" spc="10" dirty="0">
                <a:latin typeface="Times New Roman" panose="02020603050405020304"/>
                <a:cs typeface="Times New Roman" panose="02020603050405020304"/>
              </a:rPr>
              <a:t>Air</a:t>
            </a:r>
            <a:r>
              <a:rPr sz="5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10" dirty="0">
                <a:latin typeface="Times New Roman" panose="02020603050405020304"/>
                <a:cs typeface="Times New Roman" panose="02020603050405020304"/>
              </a:rPr>
              <a:t>space  </a:t>
            </a:r>
            <a:r>
              <a:rPr sz="550" spc="5" dirty="0">
                <a:latin typeface="Times New Roman" panose="02020603050405020304"/>
                <a:cs typeface="Times New Roman" panose="02020603050405020304"/>
              </a:rPr>
              <a:t>Insulation</a:t>
            </a: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14605">
              <a:lnSpc>
                <a:spcPct val="100000"/>
              </a:lnSpc>
              <a:spcBef>
                <a:spcPts val="400"/>
              </a:spcBef>
            </a:pPr>
            <a:r>
              <a:rPr sz="550" spc="5" dirty="0">
                <a:latin typeface="Times New Roman" panose="02020603050405020304"/>
                <a:cs typeface="Times New Roman" panose="02020603050405020304"/>
              </a:rPr>
              <a:t>Fluid</a:t>
            </a:r>
            <a:r>
              <a:rPr sz="5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spc="5" dirty="0">
                <a:latin typeface="Times New Roman" panose="02020603050405020304"/>
                <a:cs typeface="Times New Roman" panose="02020603050405020304"/>
              </a:rPr>
              <a:t>tube</a:t>
            </a:r>
            <a:endParaRPr sz="5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68631" y="653884"/>
            <a:ext cx="1273810" cy="27940"/>
            <a:chOff x="568631" y="653884"/>
            <a:chExt cx="1273810" cy="27940"/>
          </a:xfrm>
        </p:grpSpPr>
        <p:sp>
          <p:nvSpPr>
            <p:cNvPr id="26" name="object 26"/>
            <p:cNvSpPr/>
            <p:nvPr/>
          </p:nvSpPr>
          <p:spPr>
            <a:xfrm>
              <a:off x="574029" y="659282"/>
              <a:ext cx="1263015" cy="17145"/>
            </a:xfrm>
            <a:custGeom>
              <a:avLst/>
              <a:gdLst/>
              <a:ahLst/>
              <a:cxnLst/>
              <a:rect l="l" t="t" r="r" b="b"/>
              <a:pathLst>
                <a:path w="1263014" h="17145">
                  <a:moveTo>
                    <a:pt x="1262494" y="0"/>
                  </a:moveTo>
                  <a:lnTo>
                    <a:pt x="0" y="0"/>
                  </a:lnTo>
                  <a:lnTo>
                    <a:pt x="0" y="17129"/>
                  </a:lnTo>
                  <a:lnTo>
                    <a:pt x="1262494" y="17129"/>
                  </a:lnTo>
                  <a:lnTo>
                    <a:pt x="1262494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4029" y="659282"/>
              <a:ext cx="1263015" cy="17145"/>
            </a:xfrm>
            <a:custGeom>
              <a:avLst/>
              <a:gdLst/>
              <a:ahLst/>
              <a:cxnLst/>
              <a:rect l="l" t="t" r="r" b="b"/>
              <a:pathLst>
                <a:path w="1263014" h="17145">
                  <a:moveTo>
                    <a:pt x="0" y="17129"/>
                  </a:moveTo>
                  <a:lnTo>
                    <a:pt x="1262494" y="17129"/>
                  </a:lnTo>
                  <a:lnTo>
                    <a:pt x="1262494" y="0"/>
                  </a:lnTo>
                  <a:lnTo>
                    <a:pt x="0" y="0"/>
                  </a:lnTo>
                  <a:lnTo>
                    <a:pt x="0" y="17129"/>
                  </a:lnTo>
                  <a:close/>
                </a:path>
              </a:pathLst>
            </a:custGeom>
            <a:ln w="10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03733" y="1205674"/>
            <a:ext cx="2498725" cy="740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30" marR="5080" indent="-100965" algn="just">
              <a:lnSpc>
                <a:spcPct val="107000"/>
              </a:lnSpc>
              <a:spcBef>
                <a:spcPts val="95"/>
              </a:spcBef>
              <a:buAutoNum type="arabicPeriod" startAt="3"/>
              <a:tabLst>
                <a:tab pos="113030" algn="l"/>
              </a:tabLst>
            </a:pPr>
            <a:r>
              <a:rPr sz="550" b="1" i="1" spc="20" dirty="0">
                <a:latin typeface="TeX Gyre Bonum"/>
                <a:cs typeface="TeX Gyre Bonum"/>
              </a:rPr>
              <a:t>Tubes </a:t>
            </a:r>
            <a:r>
              <a:rPr sz="550" spc="15" dirty="0">
                <a:latin typeface="DejaVu Serif"/>
                <a:cs typeface="DejaVu Serif"/>
              </a:rPr>
              <a:t>– </a:t>
            </a: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-5" dirty="0">
                <a:latin typeface="DejaVu Serif"/>
                <a:cs typeface="DejaVu Serif"/>
              </a:rPr>
              <a:t>absorber plate </a:t>
            </a:r>
            <a:r>
              <a:rPr sz="550" spc="10" dirty="0">
                <a:latin typeface="DejaVu Serif"/>
                <a:cs typeface="DejaVu Serif"/>
              </a:rPr>
              <a:t>is </a:t>
            </a:r>
            <a:r>
              <a:rPr sz="550" dirty="0">
                <a:latin typeface="DejaVu Serif"/>
                <a:cs typeface="DejaVu Serif"/>
              </a:rPr>
              <a:t>attached to </a:t>
            </a:r>
            <a:r>
              <a:rPr sz="550" spc="10" dirty="0">
                <a:latin typeface="DejaVu Serif"/>
                <a:cs typeface="DejaVu Serif"/>
              </a:rPr>
              <a:t>a </a:t>
            </a:r>
            <a:r>
              <a:rPr sz="550" dirty="0">
                <a:latin typeface="DejaVu Serif"/>
                <a:cs typeface="DejaVu Serif"/>
              </a:rPr>
              <a:t>series </a:t>
            </a:r>
            <a:r>
              <a:rPr sz="550" spc="-15" dirty="0">
                <a:latin typeface="DejaVu Serif"/>
                <a:cs typeface="DejaVu Serif"/>
              </a:rPr>
              <a:t>of </a:t>
            </a:r>
            <a:r>
              <a:rPr sz="550" spc="-5" dirty="0">
                <a:latin typeface="DejaVu Serif"/>
                <a:cs typeface="DejaVu Serif"/>
              </a:rPr>
              <a:t>parallel  </a:t>
            </a:r>
            <a:r>
              <a:rPr sz="550" spc="10" dirty="0">
                <a:latin typeface="DejaVu Serif"/>
                <a:cs typeface="DejaVu Serif"/>
              </a:rPr>
              <a:t>tubes </a:t>
            </a:r>
            <a:r>
              <a:rPr sz="550" spc="5" dirty="0">
                <a:latin typeface="DejaVu Serif"/>
                <a:cs typeface="DejaVu Serif"/>
              </a:rPr>
              <a:t>through which </a:t>
            </a:r>
            <a:r>
              <a:rPr sz="550" spc="-10" dirty="0">
                <a:latin typeface="DejaVu Serif"/>
                <a:cs typeface="DejaVu Serif"/>
              </a:rPr>
              <a:t>water or </a:t>
            </a:r>
            <a:r>
              <a:rPr sz="550" spc="-5" dirty="0">
                <a:latin typeface="DejaVu Serif"/>
                <a:cs typeface="DejaVu Serif"/>
              </a:rPr>
              <a:t>other </a:t>
            </a:r>
            <a:r>
              <a:rPr sz="550" spc="5" dirty="0">
                <a:latin typeface="DejaVu Serif"/>
                <a:cs typeface="DejaVu Serif"/>
              </a:rPr>
              <a:t>liquid passes. </a:t>
            </a:r>
            <a:r>
              <a:rPr sz="550" spc="-5" dirty="0">
                <a:latin typeface="DejaVu Serif"/>
                <a:cs typeface="DejaVu Serif"/>
              </a:rPr>
              <a:t>The </a:t>
            </a:r>
            <a:r>
              <a:rPr sz="550" spc="10" dirty="0">
                <a:latin typeface="DejaVu Serif"/>
                <a:cs typeface="DejaVu Serif"/>
              </a:rPr>
              <a:t>tubes </a:t>
            </a:r>
            <a:r>
              <a:rPr sz="550" spc="-15" dirty="0">
                <a:latin typeface="DejaVu Serif"/>
                <a:cs typeface="DejaVu Serif"/>
              </a:rPr>
              <a:t>are  </a:t>
            </a:r>
            <a:r>
              <a:rPr sz="550" spc="15" dirty="0">
                <a:latin typeface="DejaVu Serif"/>
                <a:cs typeface="DejaVu Serif"/>
              </a:rPr>
              <a:t>usually </a:t>
            </a:r>
            <a:r>
              <a:rPr sz="550" spc="5" dirty="0">
                <a:latin typeface="DejaVu Serif"/>
                <a:cs typeface="DejaVu Serif"/>
              </a:rPr>
              <a:t>made </a:t>
            </a:r>
            <a:r>
              <a:rPr sz="550" spc="-15" dirty="0">
                <a:latin typeface="DejaVu Serif"/>
                <a:cs typeface="DejaVu Serif"/>
              </a:rPr>
              <a:t>of </a:t>
            </a:r>
            <a:r>
              <a:rPr sz="550" spc="-5" dirty="0">
                <a:latin typeface="DejaVu Serif"/>
                <a:cs typeface="DejaVu Serif"/>
              </a:rPr>
              <a:t>copper, </a:t>
            </a:r>
            <a:r>
              <a:rPr sz="550" spc="20" dirty="0">
                <a:latin typeface="DejaVu Serif"/>
                <a:cs typeface="DejaVu Serif"/>
              </a:rPr>
              <a:t>aluminum </a:t>
            </a:r>
            <a:r>
              <a:rPr sz="550" spc="-10" dirty="0">
                <a:latin typeface="DejaVu Serif"/>
                <a:cs typeface="DejaVu Serif"/>
              </a:rPr>
              <a:t>or</a:t>
            </a:r>
            <a:r>
              <a:rPr sz="550" spc="50" dirty="0">
                <a:latin typeface="DejaVu Serif"/>
                <a:cs typeface="DejaVu Serif"/>
              </a:rPr>
              <a:t> </a:t>
            </a:r>
            <a:r>
              <a:rPr sz="550" dirty="0">
                <a:latin typeface="DejaVu Serif"/>
                <a:cs typeface="DejaVu Serif"/>
              </a:rPr>
              <a:t>steel.</a:t>
            </a:r>
            <a:endParaRPr sz="550">
              <a:latin typeface="DejaVu Serif"/>
              <a:cs typeface="DejaVu Serif"/>
            </a:endParaRPr>
          </a:p>
          <a:p>
            <a:pPr marL="113030" marR="5715" indent="-100965" algn="just">
              <a:lnSpc>
                <a:spcPct val="107000"/>
              </a:lnSpc>
              <a:spcBef>
                <a:spcPts val="345"/>
              </a:spcBef>
              <a:buAutoNum type="arabicPeriod" startAt="3"/>
              <a:tabLst>
                <a:tab pos="113030" algn="l"/>
              </a:tabLst>
            </a:pPr>
            <a:r>
              <a:rPr sz="550" b="1" i="1" spc="15" dirty="0">
                <a:latin typeface="TeX Gyre Bonum"/>
                <a:cs typeface="TeX Gyre Bonum"/>
              </a:rPr>
              <a:t>Insulation beneath the absorber plate </a:t>
            </a:r>
            <a:r>
              <a:rPr sz="550" spc="15" dirty="0">
                <a:latin typeface="DejaVu Serif"/>
                <a:cs typeface="DejaVu Serif"/>
              </a:rPr>
              <a:t>– </a:t>
            </a:r>
            <a:r>
              <a:rPr sz="550" spc="-15" dirty="0">
                <a:latin typeface="DejaVu Serif"/>
                <a:cs typeface="DejaVu Serif"/>
              </a:rPr>
              <a:t>It </a:t>
            </a:r>
            <a:r>
              <a:rPr sz="550" spc="10" dirty="0">
                <a:latin typeface="DejaVu Serif"/>
                <a:cs typeface="DejaVu Serif"/>
              </a:rPr>
              <a:t>minimises </a:t>
            </a:r>
            <a:r>
              <a:rPr sz="550" spc="5" dirty="0">
                <a:latin typeface="DejaVu Serif"/>
                <a:cs typeface="DejaVu Serif"/>
              </a:rPr>
              <a:t>and  </a:t>
            </a:r>
            <a:r>
              <a:rPr sz="550" spc="-5" dirty="0">
                <a:latin typeface="DejaVu Serif"/>
                <a:cs typeface="DejaVu Serif"/>
              </a:rPr>
              <a:t>protects </a:t>
            </a:r>
            <a:r>
              <a:rPr sz="550" dirty="0">
                <a:latin typeface="DejaVu Serif"/>
                <a:cs typeface="DejaVu Serif"/>
              </a:rPr>
              <a:t>the absorbing surface </a:t>
            </a:r>
            <a:r>
              <a:rPr sz="550" spc="-5" dirty="0">
                <a:latin typeface="DejaVu Serif"/>
                <a:cs typeface="DejaVu Serif"/>
              </a:rPr>
              <a:t>from </a:t>
            </a:r>
            <a:r>
              <a:rPr sz="550" dirty="0">
                <a:latin typeface="DejaVu Serif"/>
                <a:cs typeface="DejaVu Serif"/>
              </a:rPr>
              <a:t>heat</a:t>
            </a:r>
            <a:r>
              <a:rPr sz="550" spc="75" dirty="0">
                <a:latin typeface="DejaVu Serif"/>
                <a:cs typeface="DejaVu Serif"/>
              </a:rPr>
              <a:t> </a:t>
            </a:r>
            <a:r>
              <a:rPr sz="550" dirty="0">
                <a:latin typeface="DejaVu Serif"/>
                <a:cs typeface="DejaVu Serif"/>
              </a:rPr>
              <a:t>losses.</a:t>
            </a:r>
            <a:endParaRPr sz="550">
              <a:latin typeface="DejaVu Serif"/>
              <a:cs typeface="DejaVu Serif"/>
            </a:endParaRPr>
          </a:p>
          <a:p>
            <a:pPr marL="113030" marR="5080" indent="-100965" algn="just">
              <a:lnSpc>
                <a:spcPct val="106000"/>
              </a:lnSpc>
              <a:spcBef>
                <a:spcPts val="360"/>
              </a:spcBef>
              <a:buAutoNum type="arabicPeriod" startAt="3"/>
              <a:tabLst>
                <a:tab pos="113030" algn="l"/>
              </a:tabLst>
            </a:pPr>
            <a:r>
              <a:rPr sz="550" b="1" i="1" spc="20" dirty="0">
                <a:latin typeface="TeX Gyre Bonum"/>
                <a:cs typeface="TeX Gyre Bonum"/>
              </a:rPr>
              <a:t>Box </a:t>
            </a:r>
            <a:r>
              <a:rPr sz="550" b="1" i="1" spc="15" dirty="0">
                <a:latin typeface="TeX Gyre Bonum"/>
                <a:cs typeface="TeX Gyre Bonum"/>
              </a:rPr>
              <a:t>structure </a:t>
            </a:r>
            <a:r>
              <a:rPr sz="550" spc="15" dirty="0">
                <a:latin typeface="DejaVu Serif"/>
                <a:cs typeface="DejaVu Serif"/>
              </a:rPr>
              <a:t>– </a:t>
            </a:r>
            <a:r>
              <a:rPr sz="550" spc="-15" dirty="0">
                <a:latin typeface="DejaVu Serif"/>
                <a:cs typeface="DejaVu Serif"/>
              </a:rPr>
              <a:t>It </a:t>
            </a:r>
            <a:r>
              <a:rPr sz="550" spc="5" dirty="0">
                <a:latin typeface="DejaVu Serif"/>
                <a:cs typeface="DejaVu Serif"/>
              </a:rPr>
              <a:t>contains </a:t>
            </a: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-10" dirty="0">
                <a:latin typeface="DejaVu Serif"/>
                <a:cs typeface="DejaVu Serif"/>
              </a:rPr>
              <a:t>above </a:t>
            </a:r>
            <a:r>
              <a:rPr sz="550" spc="5" dirty="0">
                <a:latin typeface="DejaVu Serif"/>
                <a:cs typeface="DejaVu Serif"/>
              </a:rPr>
              <a:t>components </a:t>
            </a:r>
            <a:r>
              <a:rPr sz="550" spc="10" dirty="0">
                <a:latin typeface="DejaVu Serif"/>
                <a:cs typeface="DejaVu Serif"/>
              </a:rPr>
              <a:t>and </a:t>
            </a:r>
            <a:r>
              <a:rPr sz="550" spc="5" dirty="0">
                <a:latin typeface="DejaVu Serif"/>
                <a:cs typeface="DejaVu Serif"/>
              </a:rPr>
              <a:t>keeps  </a:t>
            </a:r>
            <a:r>
              <a:rPr sz="550" spc="10" dirty="0">
                <a:latin typeface="DejaVu Serif"/>
                <a:cs typeface="DejaVu Serif"/>
              </a:rPr>
              <a:t>them </a:t>
            </a:r>
            <a:r>
              <a:rPr sz="550" spc="15" dirty="0">
                <a:latin typeface="DejaVu Serif"/>
                <a:cs typeface="DejaVu Serif"/>
              </a:rPr>
              <a:t>in</a:t>
            </a:r>
            <a:r>
              <a:rPr sz="550" spc="-25" dirty="0">
                <a:latin typeface="DejaVu Serif"/>
                <a:cs typeface="DejaVu Serif"/>
              </a:rPr>
              <a:t> </a:t>
            </a:r>
            <a:r>
              <a:rPr sz="550" dirty="0">
                <a:latin typeface="DejaVu Serif"/>
                <a:cs typeface="DejaVu Serif"/>
              </a:rPr>
              <a:t>position.</a:t>
            </a:r>
            <a:endParaRPr sz="550">
              <a:latin typeface="DejaVu Serif"/>
              <a:cs typeface="DejaVu Serif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542645" y="40449"/>
            <a:ext cx="170878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/>
              <a:t>Flat Plate</a:t>
            </a:r>
            <a:r>
              <a:rPr sz="1300" spc="-65" dirty="0"/>
              <a:t> </a:t>
            </a:r>
            <a:r>
              <a:rPr sz="1300" spc="-10" dirty="0"/>
              <a:t>Collector</a:t>
            </a:r>
            <a:endParaRPr sz="1300"/>
          </a:p>
        </p:txBody>
      </p:sp>
      <p:sp>
        <p:nvSpPr>
          <p:cNvPr id="30" name="object 30"/>
          <p:cNvSpPr/>
          <p:nvPr/>
        </p:nvSpPr>
        <p:spPr>
          <a:xfrm>
            <a:off x="0" y="1028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3253" y="91949"/>
            <a:ext cx="1912213" cy="353695"/>
          </a:xfrm>
        </p:spPr>
        <p:txBody>
          <a:bodyPr/>
          <a:lstStyle/>
          <a:p>
            <a:r>
              <a:rPr spc="-10" dirty="0">
                <a:sym typeface="+mn-ea"/>
              </a:rPr>
              <a:t>Flat Plate</a:t>
            </a:r>
            <a:r>
              <a:rPr spc="-65" dirty="0">
                <a:sym typeface="+mn-ea"/>
              </a:rPr>
              <a:t> </a:t>
            </a:r>
            <a:r>
              <a:rPr spc="-10" dirty="0">
                <a:sym typeface="+mn-ea"/>
              </a:rPr>
              <a:t>Collector</a:t>
            </a:r>
            <a:br>
              <a:rPr spc="-10" dirty="0">
                <a:sym typeface="+mn-ea"/>
              </a:rPr>
            </a:br>
            <a:endParaRPr lang="en-US"/>
          </a:p>
        </p:txBody>
      </p:sp>
      <p:pic>
        <p:nvPicPr>
          <p:cNvPr id="100" name="Content Placeholder 99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73050" y="473075"/>
            <a:ext cx="2165350" cy="13284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057" y="53530"/>
            <a:ext cx="257683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/>
              <a:t>Direct </a:t>
            </a:r>
            <a:r>
              <a:rPr sz="1050" spc="-5" dirty="0"/>
              <a:t>flow </a:t>
            </a:r>
            <a:r>
              <a:rPr sz="1050" dirty="0"/>
              <a:t>evacuated tube</a:t>
            </a:r>
            <a:r>
              <a:rPr sz="1050" spc="-45" dirty="0"/>
              <a:t> </a:t>
            </a:r>
            <a:r>
              <a:rPr sz="1050" spc="-5" dirty="0"/>
              <a:t>collector</a:t>
            </a:r>
            <a:endParaRPr sz="1050"/>
          </a:p>
        </p:txBody>
      </p:sp>
      <p:grpSp>
        <p:nvGrpSpPr>
          <p:cNvPr id="3" name="object 3"/>
          <p:cNvGrpSpPr/>
          <p:nvPr/>
        </p:nvGrpSpPr>
        <p:grpSpPr>
          <a:xfrm>
            <a:off x="965220" y="373462"/>
            <a:ext cx="1599565" cy="695960"/>
            <a:chOff x="965220" y="373462"/>
            <a:chExt cx="1599565" cy="695960"/>
          </a:xfrm>
        </p:grpSpPr>
        <p:sp>
          <p:nvSpPr>
            <p:cNvPr id="4" name="object 4"/>
            <p:cNvSpPr/>
            <p:nvPr/>
          </p:nvSpPr>
          <p:spPr>
            <a:xfrm>
              <a:off x="1180785" y="601915"/>
              <a:ext cx="1127760" cy="328295"/>
            </a:xfrm>
            <a:custGeom>
              <a:avLst/>
              <a:gdLst/>
              <a:ahLst/>
              <a:cxnLst/>
              <a:rect l="l" t="t" r="r" b="b"/>
              <a:pathLst>
                <a:path w="1127760" h="328294">
                  <a:moveTo>
                    <a:pt x="1127744" y="0"/>
                  </a:moveTo>
                  <a:lnTo>
                    <a:pt x="0" y="0"/>
                  </a:lnTo>
                  <a:lnTo>
                    <a:pt x="0" y="328014"/>
                  </a:lnTo>
                  <a:lnTo>
                    <a:pt x="1127744" y="328014"/>
                  </a:lnTo>
                  <a:lnTo>
                    <a:pt x="1127744" y="0"/>
                  </a:lnTo>
                  <a:close/>
                </a:path>
              </a:pathLst>
            </a:custGeom>
            <a:solidFill>
              <a:srgbClr val="AB60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80785" y="601915"/>
              <a:ext cx="1127760" cy="328295"/>
            </a:xfrm>
            <a:custGeom>
              <a:avLst/>
              <a:gdLst/>
              <a:ahLst/>
              <a:cxnLst/>
              <a:rect l="l" t="t" r="r" b="b"/>
              <a:pathLst>
                <a:path w="1127760" h="328294">
                  <a:moveTo>
                    <a:pt x="0" y="328014"/>
                  </a:moveTo>
                  <a:lnTo>
                    <a:pt x="1127744" y="328014"/>
                  </a:lnTo>
                  <a:lnTo>
                    <a:pt x="1127744" y="0"/>
                  </a:lnTo>
                  <a:lnTo>
                    <a:pt x="0" y="0"/>
                  </a:lnTo>
                  <a:lnTo>
                    <a:pt x="0" y="328014"/>
                  </a:lnTo>
                  <a:close/>
                </a:path>
              </a:pathLst>
            </a:custGeom>
            <a:ln w="59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5821" y="553645"/>
              <a:ext cx="63500" cy="429895"/>
            </a:xfrm>
            <a:custGeom>
              <a:avLst/>
              <a:gdLst/>
              <a:ahLst/>
              <a:cxnLst/>
              <a:rect l="l" t="t" r="r" b="b"/>
              <a:pathLst>
                <a:path w="63500" h="429894">
                  <a:moveTo>
                    <a:pt x="63181" y="0"/>
                  </a:moveTo>
                  <a:lnTo>
                    <a:pt x="0" y="0"/>
                  </a:lnTo>
                  <a:lnTo>
                    <a:pt x="0" y="429340"/>
                  </a:lnTo>
                  <a:lnTo>
                    <a:pt x="63181" y="429340"/>
                  </a:lnTo>
                  <a:lnTo>
                    <a:pt x="63181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15821" y="553645"/>
              <a:ext cx="63500" cy="429895"/>
            </a:xfrm>
            <a:custGeom>
              <a:avLst/>
              <a:gdLst/>
              <a:ahLst/>
              <a:cxnLst/>
              <a:rect l="l" t="t" r="r" b="b"/>
              <a:pathLst>
                <a:path w="63500" h="429894">
                  <a:moveTo>
                    <a:pt x="0" y="429340"/>
                  </a:moveTo>
                  <a:lnTo>
                    <a:pt x="63181" y="429340"/>
                  </a:lnTo>
                  <a:lnTo>
                    <a:pt x="63181" y="0"/>
                  </a:lnTo>
                  <a:lnTo>
                    <a:pt x="0" y="0"/>
                  </a:lnTo>
                  <a:lnTo>
                    <a:pt x="0" y="429340"/>
                  </a:lnTo>
                  <a:close/>
                </a:path>
              </a:pathLst>
            </a:custGeom>
            <a:ln w="6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68395" y="470709"/>
              <a:ext cx="1342640" cy="59521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68395" y="470709"/>
              <a:ext cx="1343025" cy="595630"/>
            </a:xfrm>
            <a:custGeom>
              <a:avLst/>
              <a:gdLst/>
              <a:ahLst/>
              <a:cxnLst/>
              <a:rect l="l" t="t" r="r" b="b"/>
              <a:pathLst>
                <a:path w="1343025" h="595630">
                  <a:moveTo>
                    <a:pt x="1221507" y="346396"/>
                  </a:moveTo>
                  <a:lnTo>
                    <a:pt x="50573" y="346396"/>
                  </a:lnTo>
                  <a:lnTo>
                    <a:pt x="30887" y="350078"/>
                  </a:lnTo>
                  <a:lnTo>
                    <a:pt x="14811" y="360121"/>
                  </a:lnTo>
                  <a:lnTo>
                    <a:pt x="3974" y="375017"/>
                  </a:lnTo>
                  <a:lnTo>
                    <a:pt x="0" y="393261"/>
                  </a:lnTo>
                  <a:lnTo>
                    <a:pt x="0" y="563504"/>
                  </a:lnTo>
                  <a:lnTo>
                    <a:pt x="2689" y="575849"/>
                  </a:lnTo>
                  <a:lnTo>
                    <a:pt x="10023" y="585930"/>
                  </a:lnTo>
                  <a:lnTo>
                    <a:pt x="20902" y="592727"/>
                  </a:lnTo>
                  <a:lnTo>
                    <a:pt x="34223" y="595219"/>
                  </a:lnTo>
                  <a:lnTo>
                    <a:pt x="47544" y="592727"/>
                  </a:lnTo>
                  <a:lnTo>
                    <a:pt x="58423" y="585930"/>
                  </a:lnTo>
                  <a:lnTo>
                    <a:pt x="65758" y="575849"/>
                  </a:lnTo>
                  <a:lnTo>
                    <a:pt x="68448" y="563504"/>
                  </a:lnTo>
                  <a:lnTo>
                    <a:pt x="68448" y="456682"/>
                  </a:lnTo>
                  <a:lnTo>
                    <a:pt x="72422" y="438443"/>
                  </a:lnTo>
                  <a:lnTo>
                    <a:pt x="83259" y="423549"/>
                  </a:lnTo>
                  <a:lnTo>
                    <a:pt x="99332" y="413507"/>
                  </a:lnTo>
                  <a:lnTo>
                    <a:pt x="119015" y="409825"/>
                  </a:lnTo>
                  <a:lnTo>
                    <a:pt x="1221507" y="409825"/>
                  </a:lnTo>
                  <a:lnTo>
                    <a:pt x="1268657" y="401006"/>
                  </a:lnTo>
                  <a:lnTo>
                    <a:pt x="1307161" y="376956"/>
                  </a:lnTo>
                  <a:lnTo>
                    <a:pt x="1333120" y="341288"/>
                  </a:lnTo>
                  <a:lnTo>
                    <a:pt x="1342640" y="297613"/>
                  </a:lnTo>
                  <a:lnTo>
                    <a:pt x="1333120" y="253934"/>
                  </a:lnTo>
                  <a:lnTo>
                    <a:pt x="1307161" y="218263"/>
                  </a:lnTo>
                  <a:lnTo>
                    <a:pt x="1268657" y="194213"/>
                  </a:lnTo>
                  <a:lnTo>
                    <a:pt x="1221507" y="185393"/>
                  </a:lnTo>
                  <a:lnTo>
                    <a:pt x="119015" y="185393"/>
                  </a:lnTo>
                  <a:lnTo>
                    <a:pt x="99332" y="181711"/>
                  </a:lnTo>
                  <a:lnTo>
                    <a:pt x="83259" y="171670"/>
                  </a:lnTo>
                  <a:lnTo>
                    <a:pt x="72422" y="156776"/>
                  </a:lnTo>
                  <a:lnTo>
                    <a:pt x="68448" y="138537"/>
                  </a:lnTo>
                  <a:lnTo>
                    <a:pt x="68448" y="31714"/>
                  </a:lnTo>
                  <a:lnTo>
                    <a:pt x="65758" y="19370"/>
                  </a:lnTo>
                  <a:lnTo>
                    <a:pt x="58423" y="9289"/>
                  </a:lnTo>
                  <a:lnTo>
                    <a:pt x="47544" y="2492"/>
                  </a:lnTo>
                  <a:lnTo>
                    <a:pt x="34223" y="0"/>
                  </a:lnTo>
                  <a:lnTo>
                    <a:pt x="20902" y="2492"/>
                  </a:lnTo>
                  <a:lnTo>
                    <a:pt x="10023" y="9289"/>
                  </a:lnTo>
                  <a:lnTo>
                    <a:pt x="2689" y="19370"/>
                  </a:lnTo>
                  <a:lnTo>
                    <a:pt x="0" y="31714"/>
                  </a:lnTo>
                  <a:lnTo>
                    <a:pt x="0" y="201966"/>
                  </a:lnTo>
                  <a:lnTo>
                    <a:pt x="3974" y="220205"/>
                  </a:lnTo>
                  <a:lnTo>
                    <a:pt x="14811" y="235099"/>
                  </a:lnTo>
                  <a:lnTo>
                    <a:pt x="30887" y="245140"/>
                  </a:lnTo>
                  <a:lnTo>
                    <a:pt x="50573" y="248822"/>
                  </a:lnTo>
                  <a:lnTo>
                    <a:pt x="1221507" y="248822"/>
                  </a:lnTo>
                  <a:lnTo>
                    <a:pt x="1241998" y="252657"/>
                  </a:lnTo>
                  <a:lnTo>
                    <a:pt x="1258726" y="263113"/>
                  </a:lnTo>
                  <a:lnTo>
                    <a:pt x="1270001" y="278622"/>
                  </a:lnTo>
                  <a:lnTo>
                    <a:pt x="1274135" y="297613"/>
                  </a:lnTo>
                  <a:lnTo>
                    <a:pt x="1270001" y="316603"/>
                  </a:lnTo>
                  <a:lnTo>
                    <a:pt x="1258726" y="332109"/>
                  </a:lnTo>
                  <a:lnTo>
                    <a:pt x="1241998" y="342563"/>
                  </a:lnTo>
                  <a:lnTo>
                    <a:pt x="1221507" y="346396"/>
                  </a:lnTo>
                  <a:close/>
                </a:path>
              </a:pathLst>
            </a:custGeom>
            <a:ln w="60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79001" y="553653"/>
              <a:ext cx="1382395" cy="429895"/>
            </a:xfrm>
            <a:custGeom>
              <a:avLst/>
              <a:gdLst/>
              <a:ahLst/>
              <a:cxnLst/>
              <a:rect l="l" t="t" r="r" b="b"/>
              <a:pathLst>
                <a:path w="1382395" h="429894">
                  <a:moveTo>
                    <a:pt x="1150677" y="0"/>
                  </a:moveTo>
                  <a:lnTo>
                    <a:pt x="0" y="0"/>
                  </a:lnTo>
                  <a:lnTo>
                    <a:pt x="0" y="49468"/>
                  </a:lnTo>
                  <a:lnTo>
                    <a:pt x="1107772" y="49468"/>
                  </a:lnTo>
                  <a:lnTo>
                    <a:pt x="1155173" y="55370"/>
                  </a:lnTo>
                  <a:lnTo>
                    <a:pt x="1197768" y="72024"/>
                  </a:lnTo>
                  <a:lnTo>
                    <a:pt x="1233855" y="97856"/>
                  </a:lnTo>
                  <a:lnTo>
                    <a:pt x="1261736" y="131291"/>
                  </a:lnTo>
                  <a:lnTo>
                    <a:pt x="1279712" y="170754"/>
                  </a:lnTo>
                  <a:lnTo>
                    <a:pt x="1286081" y="214670"/>
                  </a:lnTo>
                  <a:lnTo>
                    <a:pt x="1279712" y="258585"/>
                  </a:lnTo>
                  <a:lnTo>
                    <a:pt x="1261736" y="298046"/>
                  </a:lnTo>
                  <a:lnTo>
                    <a:pt x="1233855" y="331479"/>
                  </a:lnTo>
                  <a:lnTo>
                    <a:pt x="1197768" y="357309"/>
                  </a:lnTo>
                  <a:lnTo>
                    <a:pt x="1155173" y="373962"/>
                  </a:lnTo>
                  <a:lnTo>
                    <a:pt x="1107772" y="379863"/>
                  </a:lnTo>
                  <a:lnTo>
                    <a:pt x="0" y="379863"/>
                  </a:lnTo>
                  <a:lnTo>
                    <a:pt x="0" y="429331"/>
                  </a:lnTo>
                  <a:lnTo>
                    <a:pt x="1150677" y="429331"/>
                  </a:lnTo>
                  <a:lnTo>
                    <a:pt x="1197355" y="424970"/>
                  </a:lnTo>
                  <a:lnTo>
                    <a:pt x="1240835" y="412462"/>
                  </a:lnTo>
                  <a:lnTo>
                    <a:pt x="1280184" y="392670"/>
                  </a:lnTo>
                  <a:lnTo>
                    <a:pt x="1314469" y="366457"/>
                  </a:lnTo>
                  <a:lnTo>
                    <a:pt x="1342758" y="334688"/>
                  </a:lnTo>
                  <a:lnTo>
                    <a:pt x="1364119" y="298224"/>
                  </a:lnTo>
                  <a:lnTo>
                    <a:pt x="1377620" y="257931"/>
                  </a:lnTo>
                  <a:lnTo>
                    <a:pt x="1382327" y="214670"/>
                  </a:lnTo>
                  <a:lnTo>
                    <a:pt x="1377620" y="171406"/>
                  </a:lnTo>
                  <a:lnTo>
                    <a:pt x="1364119" y="131110"/>
                  </a:lnTo>
                  <a:lnTo>
                    <a:pt x="1342758" y="94645"/>
                  </a:lnTo>
                  <a:lnTo>
                    <a:pt x="1314469" y="62875"/>
                  </a:lnTo>
                  <a:lnTo>
                    <a:pt x="1280184" y="36662"/>
                  </a:lnTo>
                  <a:lnTo>
                    <a:pt x="1240835" y="16869"/>
                  </a:lnTo>
                  <a:lnTo>
                    <a:pt x="1197355" y="4361"/>
                  </a:lnTo>
                  <a:lnTo>
                    <a:pt x="115067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01265" y="376954"/>
              <a:ext cx="1560195" cy="606425"/>
            </a:xfrm>
            <a:custGeom>
              <a:avLst/>
              <a:gdLst/>
              <a:ahLst/>
              <a:cxnLst/>
              <a:rect l="l" t="t" r="r" b="b"/>
              <a:pathLst>
                <a:path w="1560195" h="606425">
                  <a:moveTo>
                    <a:pt x="1285508" y="556561"/>
                  </a:moveTo>
                  <a:lnTo>
                    <a:pt x="177735" y="556561"/>
                  </a:lnTo>
                  <a:lnTo>
                    <a:pt x="177735" y="606030"/>
                  </a:lnTo>
                  <a:lnTo>
                    <a:pt x="1328412" y="606030"/>
                  </a:lnTo>
                  <a:lnTo>
                    <a:pt x="1375091" y="601669"/>
                  </a:lnTo>
                  <a:lnTo>
                    <a:pt x="1418570" y="589161"/>
                  </a:lnTo>
                  <a:lnTo>
                    <a:pt x="1457919" y="569368"/>
                  </a:lnTo>
                  <a:lnTo>
                    <a:pt x="1492204" y="543156"/>
                  </a:lnTo>
                  <a:lnTo>
                    <a:pt x="1520494" y="511386"/>
                  </a:lnTo>
                  <a:lnTo>
                    <a:pt x="1541855" y="474923"/>
                  </a:lnTo>
                  <a:lnTo>
                    <a:pt x="1555355" y="434629"/>
                  </a:lnTo>
                  <a:lnTo>
                    <a:pt x="1560063" y="391368"/>
                  </a:lnTo>
                  <a:lnTo>
                    <a:pt x="1555355" y="348105"/>
                  </a:lnTo>
                  <a:lnTo>
                    <a:pt x="1541855" y="307809"/>
                  </a:lnTo>
                  <a:lnTo>
                    <a:pt x="1520494" y="271344"/>
                  </a:lnTo>
                  <a:lnTo>
                    <a:pt x="1492204" y="239573"/>
                  </a:lnTo>
                  <a:lnTo>
                    <a:pt x="1457919" y="213360"/>
                  </a:lnTo>
                  <a:lnTo>
                    <a:pt x="1418570" y="193568"/>
                  </a:lnTo>
                  <a:lnTo>
                    <a:pt x="1375091" y="181059"/>
                  </a:lnTo>
                  <a:lnTo>
                    <a:pt x="1328412" y="176698"/>
                  </a:lnTo>
                  <a:lnTo>
                    <a:pt x="177735" y="176698"/>
                  </a:lnTo>
                  <a:lnTo>
                    <a:pt x="177735" y="226167"/>
                  </a:lnTo>
                  <a:lnTo>
                    <a:pt x="1285508" y="226167"/>
                  </a:lnTo>
                  <a:lnTo>
                    <a:pt x="1332909" y="232068"/>
                  </a:lnTo>
                  <a:lnTo>
                    <a:pt x="1375503" y="248723"/>
                  </a:lnTo>
                  <a:lnTo>
                    <a:pt x="1411591" y="274555"/>
                  </a:lnTo>
                  <a:lnTo>
                    <a:pt x="1439472" y="307990"/>
                  </a:lnTo>
                  <a:lnTo>
                    <a:pt x="1457447" y="347453"/>
                  </a:lnTo>
                  <a:lnTo>
                    <a:pt x="1463817" y="391368"/>
                  </a:lnTo>
                  <a:lnTo>
                    <a:pt x="1457447" y="435283"/>
                  </a:lnTo>
                  <a:lnTo>
                    <a:pt x="1439472" y="474745"/>
                  </a:lnTo>
                  <a:lnTo>
                    <a:pt x="1411591" y="508178"/>
                  </a:lnTo>
                  <a:lnTo>
                    <a:pt x="1375503" y="534008"/>
                  </a:lnTo>
                  <a:lnTo>
                    <a:pt x="1332909" y="550661"/>
                  </a:lnTo>
                  <a:lnTo>
                    <a:pt x="1285508" y="556561"/>
                  </a:lnTo>
                  <a:close/>
                </a:path>
                <a:path w="1560195" h="606425">
                  <a:moveTo>
                    <a:pt x="0" y="0"/>
                  </a:moveTo>
                  <a:lnTo>
                    <a:pt x="0" y="70099"/>
                  </a:lnTo>
                </a:path>
              </a:pathLst>
            </a:custGeom>
            <a:ln w="6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81998" y="443483"/>
              <a:ext cx="38735" cy="18415"/>
            </a:xfrm>
            <a:custGeom>
              <a:avLst/>
              <a:gdLst/>
              <a:ahLst/>
              <a:cxnLst/>
              <a:rect l="l" t="t" r="r" b="b"/>
              <a:pathLst>
                <a:path w="38734" h="18415">
                  <a:moveTo>
                    <a:pt x="38531" y="0"/>
                  </a:moveTo>
                  <a:lnTo>
                    <a:pt x="0" y="0"/>
                  </a:lnTo>
                  <a:lnTo>
                    <a:pt x="19267" y="17853"/>
                  </a:lnTo>
                  <a:lnTo>
                    <a:pt x="385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70078" y="280526"/>
            <a:ext cx="414020" cy="104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30" dirty="0">
                <a:latin typeface="Times New Roman" panose="02020603050405020304"/>
                <a:cs typeface="Times New Roman" panose="02020603050405020304"/>
              </a:rPr>
              <a:t>Cold </a:t>
            </a:r>
            <a:r>
              <a:rPr sz="500" spc="25" dirty="0"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5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20" dirty="0">
                <a:latin typeface="Times New Roman" panose="02020603050405020304"/>
                <a:cs typeface="Times New Roman" panose="02020603050405020304"/>
              </a:rPr>
              <a:t>in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81998" y="475714"/>
            <a:ext cx="1349375" cy="688975"/>
            <a:chOff x="981998" y="475714"/>
            <a:chExt cx="1349375" cy="688975"/>
          </a:xfrm>
        </p:grpSpPr>
        <p:sp>
          <p:nvSpPr>
            <p:cNvPr id="15" name="object 15"/>
            <p:cNvSpPr/>
            <p:nvPr/>
          </p:nvSpPr>
          <p:spPr>
            <a:xfrm>
              <a:off x="1001265" y="1079881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4">
                  <a:moveTo>
                    <a:pt x="0" y="0"/>
                  </a:moveTo>
                  <a:lnTo>
                    <a:pt x="0" y="70066"/>
                  </a:lnTo>
                </a:path>
              </a:pathLst>
            </a:custGeom>
            <a:ln w="6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81998" y="1146376"/>
              <a:ext cx="38735" cy="18415"/>
            </a:xfrm>
            <a:custGeom>
              <a:avLst/>
              <a:gdLst/>
              <a:ahLst/>
              <a:cxnLst/>
              <a:rect l="l" t="t" r="r" b="b"/>
              <a:pathLst>
                <a:path w="38734" h="18415">
                  <a:moveTo>
                    <a:pt x="38531" y="0"/>
                  </a:moveTo>
                  <a:lnTo>
                    <a:pt x="0" y="0"/>
                  </a:lnTo>
                  <a:lnTo>
                    <a:pt x="19267" y="17853"/>
                  </a:lnTo>
                  <a:lnTo>
                    <a:pt x="385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89182" y="479206"/>
              <a:ext cx="38735" cy="106680"/>
            </a:xfrm>
            <a:custGeom>
              <a:avLst/>
              <a:gdLst/>
              <a:ahLst/>
              <a:cxnLst/>
              <a:rect l="l" t="t" r="r" b="b"/>
              <a:pathLst>
                <a:path w="38735" h="106679">
                  <a:moveTo>
                    <a:pt x="19267" y="0"/>
                  </a:moveTo>
                  <a:lnTo>
                    <a:pt x="19267" y="106310"/>
                  </a:lnTo>
                </a:path>
                <a:path w="38735" h="106679">
                  <a:moveTo>
                    <a:pt x="38534" y="88456"/>
                  </a:moveTo>
                  <a:lnTo>
                    <a:pt x="19267" y="106310"/>
                  </a:lnTo>
                  <a:lnTo>
                    <a:pt x="0" y="88456"/>
                  </a:lnTo>
                </a:path>
              </a:pathLst>
            </a:custGeom>
            <a:ln w="6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080065" y="382001"/>
            <a:ext cx="463550" cy="104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25" dirty="0">
                <a:latin typeface="Times New Roman" panose="02020603050405020304"/>
                <a:cs typeface="Times New Roman" panose="02020603050405020304"/>
              </a:rPr>
              <a:t>Evacuated</a:t>
            </a:r>
            <a:r>
              <a:rPr sz="5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25" dirty="0">
                <a:latin typeface="Times New Roman" panose="02020603050405020304"/>
                <a:cs typeface="Times New Roman" panose="02020603050405020304"/>
              </a:rPr>
              <a:t>tube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98983" y="395571"/>
            <a:ext cx="650240" cy="471805"/>
            <a:chOff x="1298983" y="395571"/>
            <a:chExt cx="650240" cy="471805"/>
          </a:xfrm>
        </p:grpSpPr>
        <p:sp>
          <p:nvSpPr>
            <p:cNvPr id="20" name="object 20"/>
            <p:cNvSpPr/>
            <p:nvPr/>
          </p:nvSpPr>
          <p:spPr>
            <a:xfrm>
              <a:off x="1302158" y="688603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5605" y="0"/>
                  </a:lnTo>
                </a:path>
              </a:pathLst>
            </a:custGeom>
            <a:ln w="59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73910" y="670749"/>
              <a:ext cx="19685" cy="36195"/>
            </a:xfrm>
            <a:custGeom>
              <a:avLst/>
              <a:gdLst/>
              <a:ahLst/>
              <a:cxnLst/>
              <a:rect l="l" t="t" r="r" b="b"/>
              <a:pathLst>
                <a:path w="19684" h="36195">
                  <a:moveTo>
                    <a:pt x="0" y="0"/>
                  </a:moveTo>
                  <a:lnTo>
                    <a:pt x="0" y="35706"/>
                  </a:lnTo>
                  <a:lnTo>
                    <a:pt x="19267" y="178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17571" y="849101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75605" y="0"/>
                  </a:moveTo>
                  <a:lnTo>
                    <a:pt x="0" y="0"/>
                  </a:lnTo>
                </a:path>
              </a:pathLst>
            </a:custGeom>
            <a:ln w="59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02158" y="831248"/>
              <a:ext cx="19685" cy="36195"/>
            </a:xfrm>
            <a:custGeom>
              <a:avLst/>
              <a:gdLst/>
              <a:ahLst/>
              <a:cxnLst/>
              <a:rect l="l" t="t" r="r" b="b"/>
              <a:pathLst>
                <a:path w="19684" h="36194">
                  <a:moveTo>
                    <a:pt x="19267" y="0"/>
                  </a:moveTo>
                  <a:lnTo>
                    <a:pt x="0" y="17853"/>
                  </a:lnTo>
                  <a:lnTo>
                    <a:pt x="19267" y="35706"/>
                  </a:lnTo>
                  <a:lnTo>
                    <a:pt x="192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28914" y="395571"/>
              <a:ext cx="119965" cy="1302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705474" y="300032"/>
            <a:ext cx="447675" cy="104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25" dirty="0">
                <a:latin typeface="Times New Roman" panose="02020603050405020304"/>
                <a:cs typeface="Times New Roman" panose="02020603050405020304"/>
              </a:rPr>
              <a:t>Solar</a:t>
            </a:r>
            <a:r>
              <a:rPr sz="5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20" dirty="0">
                <a:latin typeface="Times New Roman" panose="02020603050405020304"/>
                <a:cs typeface="Times New Roman" panose="02020603050405020304"/>
              </a:rPr>
              <a:t>radiation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1787" y="1008447"/>
            <a:ext cx="1425575" cy="23367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93040">
              <a:lnSpc>
                <a:spcPct val="100000"/>
              </a:lnSpc>
              <a:spcBef>
                <a:spcPts val="120"/>
              </a:spcBef>
            </a:pPr>
            <a:r>
              <a:rPr sz="500" b="1" i="1" spc="25" dirty="0">
                <a:latin typeface="Times New Roman" panose="02020603050405020304"/>
                <a:cs typeface="Times New Roman" panose="02020603050405020304"/>
              </a:rPr>
              <a:t>Direct flow evacuated tube solar</a:t>
            </a:r>
            <a:r>
              <a:rPr sz="500" b="1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b="1" i="1" spc="20" dirty="0">
                <a:latin typeface="Times New Roman" panose="02020603050405020304"/>
                <a:cs typeface="Times New Roman" panose="02020603050405020304"/>
              </a:rPr>
              <a:t>collector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500" spc="30" dirty="0">
                <a:latin typeface="Times New Roman" panose="02020603050405020304"/>
                <a:cs typeface="Times New Roman" panose="02020603050405020304"/>
              </a:rPr>
              <a:t>Hot </a:t>
            </a:r>
            <a:r>
              <a:rPr sz="500" spc="25" dirty="0"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5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25" dirty="0">
                <a:latin typeface="Times New Roman" panose="02020603050405020304"/>
                <a:cs typeface="Times New Roman" panose="02020603050405020304"/>
              </a:rPr>
              <a:t>out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131181" y="467048"/>
            <a:ext cx="425450" cy="170180"/>
          </a:xfrm>
          <a:custGeom>
            <a:avLst/>
            <a:gdLst/>
            <a:ahLst/>
            <a:cxnLst/>
            <a:rect l="l" t="t" r="r" b="b"/>
            <a:pathLst>
              <a:path w="425450" h="170179">
                <a:moveTo>
                  <a:pt x="19267" y="0"/>
                </a:moveTo>
                <a:lnTo>
                  <a:pt x="19267" y="80984"/>
                </a:lnTo>
              </a:path>
              <a:path w="425450" h="170179">
                <a:moveTo>
                  <a:pt x="38534" y="63131"/>
                </a:moveTo>
                <a:lnTo>
                  <a:pt x="19267" y="80984"/>
                </a:lnTo>
                <a:lnTo>
                  <a:pt x="0" y="63131"/>
                </a:lnTo>
              </a:path>
              <a:path w="425450" h="170179">
                <a:moveTo>
                  <a:pt x="406123" y="51692"/>
                </a:moveTo>
                <a:lnTo>
                  <a:pt x="406123" y="170011"/>
                </a:lnTo>
              </a:path>
              <a:path w="425450" h="170179">
                <a:moveTo>
                  <a:pt x="425390" y="152158"/>
                </a:moveTo>
                <a:lnTo>
                  <a:pt x="406123" y="170011"/>
                </a:lnTo>
                <a:lnTo>
                  <a:pt x="386856" y="152158"/>
                </a:lnTo>
              </a:path>
            </a:pathLst>
          </a:custGeom>
          <a:ln w="61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096435" y="422708"/>
            <a:ext cx="681355" cy="104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750" spc="37" baseline="39000" dirty="0">
                <a:latin typeface="Times New Roman" panose="02020603050405020304"/>
                <a:cs typeface="Times New Roman" panose="02020603050405020304"/>
              </a:rPr>
              <a:t>Seal </a:t>
            </a:r>
            <a:r>
              <a:rPr sz="500" spc="30" dirty="0">
                <a:latin typeface="Times New Roman" panose="02020603050405020304"/>
                <a:cs typeface="Times New Roman" panose="02020603050405020304"/>
              </a:rPr>
              <a:t>Aluminum</a:t>
            </a:r>
            <a:r>
              <a:rPr sz="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20" dirty="0">
                <a:latin typeface="Times New Roman" panose="02020603050405020304"/>
                <a:cs typeface="Times New Roman" panose="02020603050405020304"/>
              </a:rPr>
              <a:t>fin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563" y="284797"/>
            <a:ext cx="843915" cy="535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1280" marR="5080" indent="-68580" algn="just">
              <a:lnSpc>
                <a:spcPct val="101000"/>
              </a:lnSpc>
              <a:spcBef>
                <a:spcPts val="90"/>
              </a:spcBef>
              <a:buFont typeface="Wingdings" panose="05000000000000000000"/>
              <a:buChar char=""/>
              <a:tabLst>
                <a:tab pos="81280" algn="l"/>
              </a:tabLst>
            </a:pPr>
            <a:r>
              <a:rPr sz="550" spc="-10" dirty="0">
                <a:latin typeface="DejaVu Serif"/>
                <a:cs typeface="DejaVu Serif"/>
              </a:rPr>
              <a:t>This </a:t>
            </a:r>
            <a:r>
              <a:rPr sz="550" spc="-25" dirty="0">
                <a:latin typeface="DejaVu Serif"/>
                <a:cs typeface="DejaVu Serif"/>
              </a:rPr>
              <a:t>type </a:t>
            </a:r>
            <a:r>
              <a:rPr sz="550" spc="-10" dirty="0">
                <a:latin typeface="DejaVu Serif"/>
                <a:cs typeface="DejaVu Serif"/>
              </a:rPr>
              <a:t>consist </a:t>
            </a:r>
            <a:r>
              <a:rPr sz="550" spc="-25" dirty="0">
                <a:latin typeface="DejaVu Serif"/>
                <a:cs typeface="DejaVu Serif"/>
              </a:rPr>
              <a:t>of </a:t>
            </a:r>
            <a:r>
              <a:rPr sz="550" spc="-10" dirty="0">
                <a:latin typeface="DejaVu Serif"/>
                <a:cs typeface="DejaVu Serif"/>
              </a:rPr>
              <a:t>a  </a:t>
            </a:r>
            <a:r>
              <a:rPr sz="550" spc="-20" dirty="0">
                <a:latin typeface="DejaVu Serif"/>
                <a:cs typeface="DejaVu Serif"/>
              </a:rPr>
              <a:t>group </a:t>
            </a:r>
            <a:r>
              <a:rPr sz="550" spc="-25" dirty="0">
                <a:latin typeface="DejaVu Serif"/>
                <a:cs typeface="DejaVu Serif"/>
              </a:rPr>
              <a:t>of </a:t>
            </a:r>
            <a:r>
              <a:rPr sz="550" spc="-15" dirty="0">
                <a:latin typeface="DejaVu Serif"/>
                <a:cs typeface="DejaVu Serif"/>
              </a:rPr>
              <a:t>evacuated  glass </a:t>
            </a:r>
            <a:r>
              <a:rPr sz="550" spc="-10" dirty="0">
                <a:latin typeface="DejaVu Serif"/>
                <a:cs typeface="DejaVu Serif"/>
              </a:rPr>
              <a:t>tubes inside  </a:t>
            </a:r>
            <a:r>
              <a:rPr sz="550" spc="-15" dirty="0">
                <a:latin typeface="DejaVu Serif"/>
                <a:cs typeface="DejaVu Serif"/>
              </a:rPr>
              <a:t>each </a:t>
            </a:r>
            <a:r>
              <a:rPr sz="550" spc="-25" dirty="0">
                <a:latin typeface="DejaVu Serif"/>
                <a:cs typeface="DejaVu Serif"/>
              </a:rPr>
              <a:t>of </a:t>
            </a:r>
            <a:r>
              <a:rPr sz="550" spc="-10" dirty="0">
                <a:latin typeface="DejaVu Serif"/>
                <a:cs typeface="DejaVu Serif"/>
              </a:rPr>
              <a:t>which </a:t>
            </a:r>
            <a:r>
              <a:rPr sz="550" spc="-5" dirty="0">
                <a:latin typeface="DejaVu Serif"/>
                <a:cs typeface="DejaVu Serif"/>
              </a:rPr>
              <a:t>is </a:t>
            </a:r>
            <a:r>
              <a:rPr sz="550" spc="-10" dirty="0">
                <a:latin typeface="DejaVu Serif"/>
                <a:cs typeface="DejaVu Serif"/>
              </a:rPr>
              <a:t>a  </a:t>
            </a:r>
            <a:r>
              <a:rPr sz="550" spc="-15" dirty="0">
                <a:latin typeface="DejaVu Serif"/>
                <a:cs typeface="DejaVu Serif"/>
              </a:rPr>
              <a:t>flat </a:t>
            </a:r>
            <a:r>
              <a:rPr sz="550" spc="-25" dirty="0">
                <a:latin typeface="DejaVu Serif"/>
                <a:cs typeface="DejaVu Serif"/>
              </a:rPr>
              <a:t>or </a:t>
            </a:r>
            <a:r>
              <a:rPr sz="550" spc="-20" dirty="0">
                <a:latin typeface="DejaVu Serif"/>
                <a:cs typeface="DejaVu Serif"/>
              </a:rPr>
              <a:t>curved  </a:t>
            </a:r>
            <a:r>
              <a:rPr sz="550" spc="-15" dirty="0">
                <a:latin typeface="DejaVu Serif"/>
                <a:cs typeface="DejaVu Serif"/>
              </a:rPr>
              <a:t>thermal</a:t>
            </a:r>
            <a:r>
              <a:rPr sz="550" spc="50" dirty="0">
                <a:latin typeface="DejaVu Serif"/>
                <a:cs typeface="DejaVu Serif"/>
              </a:rPr>
              <a:t> </a:t>
            </a:r>
            <a:r>
              <a:rPr sz="550" spc="-15" dirty="0">
                <a:latin typeface="DejaVu Serif"/>
                <a:cs typeface="DejaVu Serif"/>
              </a:rPr>
              <a:t>conducting</a:t>
            </a:r>
            <a:endParaRPr sz="550">
              <a:latin typeface="DejaVu Serif"/>
              <a:cs typeface="DejaVu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8143" y="795337"/>
            <a:ext cx="775970" cy="364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  <a:spcBef>
                <a:spcPts val="90"/>
              </a:spcBef>
            </a:pPr>
            <a:r>
              <a:rPr sz="550" spc="-20" dirty="0">
                <a:latin typeface="DejaVu Serif"/>
                <a:cs typeface="DejaVu Serif"/>
              </a:rPr>
              <a:t>plate </a:t>
            </a:r>
            <a:r>
              <a:rPr sz="550" spc="-5" dirty="0">
                <a:latin typeface="DejaVu Serif"/>
                <a:cs typeface="DejaVu Serif"/>
              </a:rPr>
              <a:t>(aluminium </a:t>
            </a:r>
            <a:r>
              <a:rPr sz="550" spc="-20" dirty="0">
                <a:latin typeface="DejaVu Serif"/>
                <a:cs typeface="DejaVu Serif"/>
              </a:rPr>
              <a:t>fin)  </a:t>
            </a:r>
            <a:r>
              <a:rPr sz="550" spc="-15" dirty="0">
                <a:latin typeface="DejaVu Serif"/>
                <a:cs typeface="DejaVu Serif"/>
              </a:rPr>
              <a:t>attached </a:t>
            </a:r>
            <a:r>
              <a:rPr sz="550" spc="-25" dirty="0">
                <a:latin typeface="DejaVu Serif"/>
                <a:cs typeface="DejaVu Serif"/>
              </a:rPr>
              <a:t>to </a:t>
            </a:r>
            <a:r>
              <a:rPr sz="550" spc="-10" dirty="0">
                <a:latin typeface="DejaVu Serif"/>
                <a:cs typeface="DejaVu Serif"/>
              </a:rPr>
              <a:t>a </a:t>
            </a:r>
            <a:r>
              <a:rPr sz="550" spc="-20" dirty="0">
                <a:latin typeface="DejaVu Serif"/>
                <a:cs typeface="DejaVu Serif"/>
              </a:rPr>
              <a:t>metal  </a:t>
            </a:r>
            <a:r>
              <a:rPr sz="550" spc="-10" dirty="0">
                <a:latin typeface="DejaVu Serif"/>
                <a:cs typeface="DejaVu Serif"/>
              </a:rPr>
              <a:t>(usually</a:t>
            </a:r>
            <a:r>
              <a:rPr sz="550" spc="150" dirty="0">
                <a:latin typeface="DejaVu Serif"/>
                <a:cs typeface="DejaVu Serif"/>
              </a:rPr>
              <a:t> </a:t>
            </a:r>
            <a:r>
              <a:rPr sz="550" spc="-25" dirty="0">
                <a:latin typeface="DejaVu Serif"/>
                <a:cs typeface="DejaVu Serif"/>
              </a:rPr>
              <a:t>copper) </a:t>
            </a:r>
            <a:r>
              <a:rPr sz="550" spc="-15" dirty="0">
                <a:latin typeface="DejaVu Serif"/>
                <a:cs typeface="DejaVu Serif"/>
              </a:rPr>
              <a:t>or  glass</a:t>
            </a:r>
            <a:r>
              <a:rPr sz="550" spc="-10" dirty="0">
                <a:latin typeface="DejaVu Serif"/>
                <a:cs typeface="DejaVu Serif"/>
              </a:rPr>
              <a:t> </a:t>
            </a:r>
            <a:r>
              <a:rPr sz="550" spc="-15" dirty="0">
                <a:latin typeface="DejaVu Serif"/>
                <a:cs typeface="DejaVu Serif"/>
              </a:rPr>
              <a:t>pipe.</a:t>
            </a:r>
            <a:endParaRPr sz="550">
              <a:latin typeface="DejaVu Serif"/>
              <a:cs typeface="DejaVu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338" y="1250505"/>
            <a:ext cx="2566035" cy="6959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3030" marR="5080" indent="-100965" algn="just">
              <a:lnSpc>
                <a:spcPct val="107000"/>
              </a:lnSpc>
              <a:spcBef>
                <a:spcPts val="90"/>
              </a:spcBef>
              <a:buFont typeface="Wingdings" panose="05000000000000000000"/>
              <a:buChar char=""/>
              <a:tabLst>
                <a:tab pos="113030" algn="l"/>
              </a:tabLst>
            </a:pP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5" dirty="0">
                <a:latin typeface="DejaVu Serif"/>
                <a:cs typeface="DejaVu Serif"/>
              </a:rPr>
              <a:t>inner </a:t>
            </a:r>
            <a:r>
              <a:rPr sz="550" dirty="0">
                <a:latin typeface="DejaVu Serif"/>
                <a:cs typeface="DejaVu Serif"/>
              </a:rPr>
              <a:t>surface </a:t>
            </a:r>
            <a:r>
              <a:rPr sz="550" spc="-15" dirty="0">
                <a:latin typeface="DejaVu Serif"/>
                <a:cs typeface="DejaVu Serif"/>
              </a:rPr>
              <a:t>of </a:t>
            </a:r>
            <a:r>
              <a:rPr sz="550" dirty="0">
                <a:latin typeface="DejaVu Serif"/>
                <a:cs typeface="DejaVu Serif"/>
              </a:rPr>
              <a:t>the evacuated glass </a:t>
            </a:r>
            <a:r>
              <a:rPr sz="550" spc="5" dirty="0">
                <a:latin typeface="DejaVu Serif"/>
                <a:cs typeface="DejaVu Serif"/>
              </a:rPr>
              <a:t>tube </a:t>
            </a:r>
            <a:r>
              <a:rPr sz="550" spc="20" dirty="0">
                <a:latin typeface="DejaVu Serif"/>
                <a:cs typeface="DejaVu Serif"/>
              </a:rPr>
              <a:t>has </a:t>
            </a:r>
            <a:r>
              <a:rPr sz="550" spc="10" dirty="0">
                <a:latin typeface="DejaVu Serif"/>
                <a:cs typeface="DejaVu Serif"/>
              </a:rPr>
              <a:t>a </a:t>
            </a:r>
            <a:r>
              <a:rPr sz="550" spc="-10" dirty="0">
                <a:latin typeface="DejaVu Serif"/>
                <a:cs typeface="DejaVu Serif"/>
              </a:rPr>
              <a:t>selective  </a:t>
            </a:r>
            <a:r>
              <a:rPr sz="550" spc="-5" dirty="0">
                <a:latin typeface="DejaVu Serif"/>
                <a:cs typeface="DejaVu Serif"/>
              </a:rPr>
              <a:t>coating </a:t>
            </a:r>
            <a:r>
              <a:rPr sz="550" spc="5" dirty="0">
                <a:latin typeface="DejaVu Serif"/>
                <a:cs typeface="DejaVu Serif"/>
              </a:rPr>
              <a:t>that absorbs </a:t>
            </a:r>
            <a:r>
              <a:rPr sz="550" dirty="0">
                <a:latin typeface="DejaVu Serif"/>
                <a:cs typeface="DejaVu Serif"/>
              </a:rPr>
              <a:t>solar radiation </a:t>
            </a:r>
            <a:r>
              <a:rPr sz="550" spc="10" dirty="0">
                <a:latin typeface="DejaVu Serif"/>
                <a:cs typeface="DejaVu Serif"/>
              </a:rPr>
              <a:t>and </a:t>
            </a:r>
            <a:r>
              <a:rPr sz="550" dirty="0">
                <a:latin typeface="DejaVu Serif"/>
                <a:cs typeface="DejaVu Serif"/>
              </a:rPr>
              <a:t>prevents </a:t>
            </a:r>
            <a:r>
              <a:rPr sz="550" spc="-5" dirty="0">
                <a:latin typeface="DejaVu Serif"/>
                <a:cs typeface="DejaVu Serif"/>
              </a:rPr>
              <a:t>radiative </a:t>
            </a:r>
            <a:r>
              <a:rPr sz="550" spc="5" dirty="0">
                <a:latin typeface="DejaVu Serif"/>
                <a:cs typeface="DejaVu Serif"/>
              </a:rPr>
              <a:t>loss.  </a:t>
            </a:r>
            <a:r>
              <a:rPr sz="550" dirty="0">
                <a:latin typeface="DejaVu Serif"/>
                <a:cs typeface="DejaVu Serif"/>
              </a:rPr>
              <a:t>The heat </a:t>
            </a:r>
            <a:r>
              <a:rPr sz="550" spc="-5" dirty="0">
                <a:latin typeface="DejaVu Serif"/>
                <a:cs typeface="DejaVu Serif"/>
              </a:rPr>
              <a:t>transfer </a:t>
            </a:r>
            <a:r>
              <a:rPr sz="550" spc="5" dirty="0">
                <a:latin typeface="DejaVu Serif"/>
                <a:cs typeface="DejaVu Serif"/>
              </a:rPr>
              <a:t>fluid </a:t>
            </a:r>
            <a:r>
              <a:rPr sz="550" spc="10" dirty="0">
                <a:latin typeface="DejaVu Serif"/>
                <a:cs typeface="DejaVu Serif"/>
              </a:rPr>
              <a:t>is </a:t>
            </a:r>
            <a:r>
              <a:rPr sz="550" spc="-10" dirty="0">
                <a:latin typeface="DejaVu Serif"/>
                <a:cs typeface="DejaVu Serif"/>
              </a:rPr>
              <a:t>water </a:t>
            </a:r>
            <a:r>
              <a:rPr sz="550" spc="10" dirty="0">
                <a:latin typeface="DejaVu Serif"/>
                <a:cs typeface="DejaVu Serif"/>
              </a:rPr>
              <a:t>and </a:t>
            </a:r>
            <a:r>
              <a:rPr sz="550" dirty="0">
                <a:latin typeface="DejaVu Serif"/>
                <a:cs typeface="DejaVu Serif"/>
              </a:rPr>
              <a:t>circulates through the pipes,  </a:t>
            </a:r>
            <a:r>
              <a:rPr sz="550" spc="-5" dirty="0">
                <a:latin typeface="DejaVu Serif"/>
                <a:cs typeface="DejaVu Serif"/>
              </a:rPr>
              <a:t>one </a:t>
            </a:r>
            <a:r>
              <a:rPr sz="550" spc="-15" dirty="0">
                <a:latin typeface="DejaVu Serif"/>
                <a:cs typeface="DejaVu Serif"/>
              </a:rPr>
              <a:t>for </a:t>
            </a:r>
            <a:r>
              <a:rPr sz="550" dirty="0">
                <a:latin typeface="DejaVu Serif"/>
                <a:cs typeface="DejaVu Serif"/>
              </a:rPr>
              <a:t>inlet </a:t>
            </a:r>
            <a:r>
              <a:rPr sz="550" spc="5" dirty="0">
                <a:latin typeface="DejaVu Serif"/>
                <a:cs typeface="DejaVu Serif"/>
              </a:rPr>
              <a:t>fluid </a:t>
            </a:r>
            <a:r>
              <a:rPr sz="550" spc="10" dirty="0">
                <a:latin typeface="DejaVu Serif"/>
                <a:cs typeface="DejaVu Serif"/>
              </a:rPr>
              <a:t>and </a:t>
            </a:r>
            <a:r>
              <a:rPr sz="550" dirty="0">
                <a:latin typeface="DejaVu Serif"/>
                <a:cs typeface="DejaVu Serif"/>
              </a:rPr>
              <a:t>the other </a:t>
            </a:r>
            <a:r>
              <a:rPr sz="550" spc="-15" dirty="0">
                <a:latin typeface="DejaVu Serif"/>
                <a:cs typeface="DejaVu Serif"/>
              </a:rPr>
              <a:t>for </a:t>
            </a:r>
            <a:r>
              <a:rPr sz="550" dirty="0">
                <a:latin typeface="DejaVu Serif"/>
                <a:cs typeface="DejaVu Serif"/>
              </a:rPr>
              <a:t>outlet</a:t>
            </a:r>
            <a:r>
              <a:rPr sz="550" spc="90" dirty="0">
                <a:latin typeface="DejaVu Serif"/>
                <a:cs typeface="DejaVu Serif"/>
              </a:rPr>
              <a:t> </a:t>
            </a:r>
            <a:r>
              <a:rPr sz="550" spc="5" dirty="0">
                <a:latin typeface="DejaVu Serif"/>
                <a:cs typeface="DejaVu Serif"/>
              </a:rPr>
              <a:t>fluid.</a:t>
            </a:r>
            <a:endParaRPr sz="550">
              <a:latin typeface="DejaVu Serif"/>
              <a:cs typeface="DejaVu Serif"/>
            </a:endParaRPr>
          </a:p>
          <a:p>
            <a:pPr marL="113030" marR="5080" indent="-100965" algn="just">
              <a:lnSpc>
                <a:spcPct val="106000"/>
              </a:lnSpc>
              <a:spcBef>
                <a:spcPts val="355"/>
              </a:spcBef>
              <a:buFont typeface="Wingdings" panose="05000000000000000000"/>
              <a:buChar char=""/>
              <a:tabLst>
                <a:tab pos="113030" algn="l"/>
              </a:tabLst>
            </a:pPr>
            <a:r>
              <a:rPr sz="550" dirty="0">
                <a:latin typeface="DejaVu Serif"/>
                <a:cs typeface="DejaVu Serif"/>
              </a:rPr>
              <a:t>Since the heat </a:t>
            </a:r>
            <a:r>
              <a:rPr sz="550" spc="-5" dirty="0">
                <a:latin typeface="DejaVu Serif"/>
                <a:cs typeface="DejaVu Serif"/>
              </a:rPr>
              <a:t>transfer </a:t>
            </a:r>
            <a:r>
              <a:rPr sz="550" spc="5" dirty="0">
                <a:latin typeface="DejaVu Serif"/>
                <a:cs typeface="DejaVu Serif"/>
              </a:rPr>
              <a:t>fluid </a:t>
            </a:r>
            <a:r>
              <a:rPr sz="550" spc="-5" dirty="0">
                <a:latin typeface="DejaVu Serif"/>
                <a:cs typeface="DejaVu Serif"/>
              </a:rPr>
              <a:t>flows </a:t>
            </a:r>
            <a:r>
              <a:rPr sz="550" spc="5" dirty="0">
                <a:latin typeface="DejaVu Serif"/>
                <a:cs typeface="DejaVu Serif"/>
              </a:rPr>
              <a:t>into and </a:t>
            </a:r>
            <a:r>
              <a:rPr sz="550" spc="10" dirty="0">
                <a:latin typeface="DejaVu Serif"/>
                <a:cs typeface="DejaVu Serif"/>
              </a:rPr>
              <a:t>out </a:t>
            </a:r>
            <a:r>
              <a:rPr sz="550" spc="-15" dirty="0">
                <a:latin typeface="DejaVu Serif"/>
                <a:cs typeface="DejaVu Serif"/>
              </a:rPr>
              <a:t>of </a:t>
            </a:r>
            <a:r>
              <a:rPr sz="550" dirty="0">
                <a:latin typeface="DejaVu Serif"/>
                <a:cs typeface="DejaVu Serif"/>
              </a:rPr>
              <a:t>each </a:t>
            </a:r>
            <a:r>
              <a:rPr sz="550" spc="5" dirty="0">
                <a:latin typeface="DejaVu Serif"/>
                <a:cs typeface="DejaVu Serif"/>
              </a:rPr>
              <a:t>tube, </a:t>
            </a:r>
            <a:r>
              <a:rPr sz="550" spc="-10" dirty="0">
                <a:latin typeface="DejaVu Serif"/>
                <a:cs typeface="DejaVu Serif"/>
              </a:rPr>
              <a:t>direct  flow </a:t>
            </a:r>
            <a:r>
              <a:rPr sz="550" dirty="0">
                <a:latin typeface="DejaVu Serif"/>
                <a:cs typeface="DejaVu Serif"/>
              </a:rPr>
              <a:t>evacuated </a:t>
            </a:r>
            <a:r>
              <a:rPr sz="550" spc="5" dirty="0">
                <a:latin typeface="DejaVu Serif"/>
                <a:cs typeface="DejaVu Serif"/>
              </a:rPr>
              <a:t>tube </a:t>
            </a:r>
            <a:r>
              <a:rPr sz="550" spc="-5" dirty="0">
                <a:latin typeface="DejaVu Serif"/>
                <a:cs typeface="DejaVu Serif"/>
              </a:rPr>
              <a:t>collectors </a:t>
            </a:r>
            <a:r>
              <a:rPr sz="550" spc="-10" dirty="0">
                <a:latin typeface="DejaVu Serif"/>
                <a:cs typeface="DejaVu Serif"/>
              </a:rPr>
              <a:t>are </a:t>
            </a:r>
            <a:r>
              <a:rPr sz="550" spc="5" dirty="0">
                <a:latin typeface="DejaVu Serif"/>
                <a:cs typeface="DejaVu Serif"/>
              </a:rPr>
              <a:t>not </a:t>
            </a:r>
            <a:r>
              <a:rPr sz="550" spc="10" dirty="0">
                <a:latin typeface="DejaVu Serif"/>
                <a:cs typeface="DejaVu Serif"/>
              </a:rPr>
              <a:t>as </a:t>
            </a:r>
            <a:r>
              <a:rPr sz="550" spc="-10" dirty="0">
                <a:latin typeface="DejaVu Serif"/>
                <a:cs typeface="DejaVu Serif"/>
              </a:rPr>
              <a:t>flexible </a:t>
            </a:r>
            <a:r>
              <a:rPr sz="550" spc="10" dirty="0">
                <a:latin typeface="DejaVu Serif"/>
                <a:cs typeface="DejaVu Serif"/>
              </a:rPr>
              <a:t>as </a:t>
            </a:r>
            <a:r>
              <a:rPr sz="550" dirty="0">
                <a:latin typeface="DejaVu Serif"/>
                <a:cs typeface="DejaVu Serif"/>
              </a:rPr>
              <a:t>the heat </a:t>
            </a:r>
            <a:r>
              <a:rPr sz="550" spc="-5" dirty="0">
                <a:latin typeface="DejaVu Serif"/>
                <a:cs typeface="DejaVu Serif"/>
              </a:rPr>
              <a:t>pipe  </a:t>
            </a:r>
            <a:r>
              <a:rPr sz="550" dirty="0">
                <a:latin typeface="DejaVu Serif"/>
                <a:cs typeface="DejaVu Serif"/>
              </a:rPr>
              <a:t>types.</a:t>
            </a:r>
            <a:endParaRPr sz="550">
              <a:latin typeface="DejaVu Serif"/>
              <a:cs typeface="DejaVu Serif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35" y="1028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49250" y="92075"/>
            <a:ext cx="2195830" cy="391795"/>
          </a:xfrm>
        </p:spPr>
        <p:txBody>
          <a:bodyPr wrap="square"/>
          <a:lstStyle/>
          <a:p>
            <a:r>
              <a:rPr sz="1400" dirty="0">
                <a:sym typeface="+mn-ea"/>
              </a:rPr>
              <a:t>evacuated tube</a:t>
            </a:r>
            <a:r>
              <a:rPr sz="1400" spc="-45" dirty="0">
                <a:sym typeface="+mn-ea"/>
              </a:rPr>
              <a:t> </a:t>
            </a:r>
            <a:r>
              <a:rPr sz="1400" spc="-5" dirty="0">
                <a:sym typeface="+mn-ea"/>
              </a:rPr>
              <a:t>collector</a:t>
            </a:r>
            <a:br>
              <a:rPr sz="1400" spc="-5" dirty="0">
                <a:sym typeface="+mn-ea"/>
              </a:rPr>
            </a:br>
            <a:endParaRPr lang="en-US"/>
          </a:p>
        </p:txBody>
      </p:sp>
      <p:pic>
        <p:nvPicPr>
          <p:cNvPr id="101" name="Content Placeholder 100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3985" y="462915"/>
            <a:ext cx="2198370" cy="13284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984" y="85852"/>
            <a:ext cx="248221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/>
              <a:t>Heat pipe </a:t>
            </a:r>
            <a:r>
              <a:rPr sz="1050" dirty="0"/>
              <a:t>evacuated tube</a:t>
            </a:r>
            <a:r>
              <a:rPr sz="1050" spc="-20" dirty="0"/>
              <a:t> </a:t>
            </a:r>
            <a:r>
              <a:rPr sz="1050" spc="-5" dirty="0"/>
              <a:t>collector</a:t>
            </a:r>
            <a:endParaRPr sz="1050"/>
          </a:p>
        </p:txBody>
      </p:sp>
      <p:grpSp>
        <p:nvGrpSpPr>
          <p:cNvPr id="3" name="object 3"/>
          <p:cNvGrpSpPr/>
          <p:nvPr/>
        </p:nvGrpSpPr>
        <p:grpSpPr>
          <a:xfrm>
            <a:off x="896013" y="507157"/>
            <a:ext cx="1448435" cy="477520"/>
            <a:chOff x="896013" y="507157"/>
            <a:chExt cx="1448435" cy="477520"/>
          </a:xfrm>
        </p:grpSpPr>
        <p:sp>
          <p:nvSpPr>
            <p:cNvPr id="4" name="object 4"/>
            <p:cNvSpPr/>
            <p:nvPr/>
          </p:nvSpPr>
          <p:spPr>
            <a:xfrm>
              <a:off x="1239230" y="583978"/>
              <a:ext cx="941069" cy="323850"/>
            </a:xfrm>
            <a:custGeom>
              <a:avLst/>
              <a:gdLst/>
              <a:ahLst/>
              <a:cxnLst/>
              <a:rect l="l" t="t" r="r" b="b"/>
              <a:pathLst>
                <a:path w="941069" h="323850">
                  <a:moveTo>
                    <a:pt x="940528" y="0"/>
                  </a:moveTo>
                  <a:lnTo>
                    <a:pt x="0" y="0"/>
                  </a:lnTo>
                  <a:lnTo>
                    <a:pt x="0" y="323584"/>
                  </a:lnTo>
                  <a:lnTo>
                    <a:pt x="940528" y="323584"/>
                  </a:lnTo>
                  <a:lnTo>
                    <a:pt x="940528" y="0"/>
                  </a:lnTo>
                  <a:close/>
                </a:path>
              </a:pathLst>
            </a:custGeom>
            <a:solidFill>
              <a:srgbClr val="AB60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39230" y="583978"/>
              <a:ext cx="941069" cy="323850"/>
            </a:xfrm>
            <a:custGeom>
              <a:avLst/>
              <a:gdLst/>
              <a:ahLst/>
              <a:cxnLst/>
              <a:rect l="l" t="t" r="r" b="b"/>
              <a:pathLst>
                <a:path w="941069" h="323850">
                  <a:moveTo>
                    <a:pt x="0" y="323584"/>
                  </a:moveTo>
                  <a:lnTo>
                    <a:pt x="940528" y="323584"/>
                  </a:lnTo>
                  <a:lnTo>
                    <a:pt x="940528" y="0"/>
                  </a:lnTo>
                  <a:lnTo>
                    <a:pt x="0" y="0"/>
                  </a:lnTo>
                  <a:lnTo>
                    <a:pt x="0" y="323584"/>
                  </a:lnTo>
                  <a:close/>
                </a:path>
              </a:pathLst>
            </a:custGeom>
            <a:ln w="57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64708" y="510015"/>
              <a:ext cx="24167" cy="4715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64708" y="510015"/>
              <a:ext cx="24765" cy="471805"/>
            </a:xfrm>
            <a:custGeom>
              <a:avLst/>
              <a:gdLst/>
              <a:ahLst/>
              <a:cxnLst/>
              <a:rect l="l" t="t" r="r" b="b"/>
              <a:pathLst>
                <a:path w="24765" h="471805">
                  <a:moveTo>
                    <a:pt x="0" y="471511"/>
                  </a:moveTo>
                  <a:lnTo>
                    <a:pt x="24167" y="471511"/>
                  </a:lnTo>
                  <a:lnTo>
                    <a:pt x="24167" y="0"/>
                  </a:lnTo>
                  <a:lnTo>
                    <a:pt x="0" y="0"/>
                  </a:lnTo>
                  <a:lnTo>
                    <a:pt x="0" y="471511"/>
                  </a:lnTo>
                  <a:close/>
                </a:path>
              </a:pathLst>
            </a:custGeom>
            <a:ln w="5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88878" y="533995"/>
              <a:ext cx="50800" cy="423545"/>
            </a:xfrm>
            <a:custGeom>
              <a:avLst/>
              <a:gdLst/>
              <a:ahLst/>
              <a:cxnLst/>
              <a:rect l="l" t="t" r="r" b="b"/>
              <a:pathLst>
                <a:path w="50800" h="423544">
                  <a:moveTo>
                    <a:pt x="50324" y="0"/>
                  </a:moveTo>
                  <a:lnTo>
                    <a:pt x="0" y="0"/>
                  </a:lnTo>
                  <a:lnTo>
                    <a:pt x="0" y="423542"/>
                  </a:lnTo>
                  <a:lnTo>
                    <a:pt x="50324" y="423542"/>
                  </a:lnTo>
                  <a:lnTo>
                    <a:pt x="50324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88878" y="533995"/>
              <a:ext cx="50800" cy="423545"/>
            </a:xfrm>
            <a:custGeom>
              <a:avLst/>
              <a:gdLst/>
              <a:ahLst/>
              <a:cxnLst/>
              <a:rect l="l" t="t" r="r" b="b"/>
              <a:pathLst>
                <a:path w="50800" h="423544">
                  <a:moveTo>
                    <a:pt x="0" y="423542"/>
                  </a:moveTo>
                  <a:lnTo>
                    <a:pt x="50324" y="423542"/>
                  </a:lnTo>
                  <a:lnTo>
                    <a:pt x="50324" y="0"/>
                  </a:lnTo>
                  <a:lnTo>
                    <a:pt x="0" y="0"/>
                  </a:lnTo>
                  <a:lnTo>
                    <a:pt x="0" y="423542"/>
                  </a:lnTo>
                  <a:close/>
                </a:path>
              </a:pathLst>
            </a:custGeom>
            <a:ln w="5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39819" y="534052"/>
              <a:ext cx="1101090" cy="423545"/>
            </a:xfrm>
            <a:custGeom>
              <a:avLst/>
              <a:gdLst/>
              <a:ahLst/>
              <a:cxnLst/>
              <a:rect l="l" t="t" r="r" b="b"/>
              <a:pathLst>
                <a:path w="1101089" h="423544">
                  <a:moveTo>
                    <a:pt x="916506" y="0"/>
                  </a:moveTo>
                  <a:lnTo>
                    <a:pt x="0" y="0"/>
                  </a:lnTo>
                  <a:lnTo>
                    <a:pt x="0" y="48808"/>
                  </a:lnTo>
                  <a:lnTo>
                    <a:pt x="882404" y="48808"/>
                  </a:lnTo>
                  <a:lnTo>
                    <a:pt x="927259" y="57116"/>
                  </a:lnTo>
                  <a:lnTo>
                    <a:pt x="966225" y="80251"/>
                  </a:lnTo>
                  <a:lnTo>
                    <a:pt x="996958" y="115527"/>
                  </a:lnTo>
                  <a:lnTo>
                    <a:pt x="1017117" y="160262"/>
                  </a:lnTo>
                  <a:lnTo>
                    <a:pt x="1024357" y="211771"/>
                  </a:lnTo>
                  <a:lnTo>
                    <a:pt x="1017117" y="263280"/>
                  </a:lnTo>
                  <a:lnTo>
                    <a:pt x="996958" y="308014"/>
                  </a:lnTo>
                  <a:lnTo>
                    <a:pt x="966225" y="343291"/>
                  </a:lnTo>
                  <a:lnTo>
                    <a:pt x="927259" y="366425"/>
                  </a:lnTo>
                  <a:lnTo>
                    <a:pt x="882404" y="374733"/>
                  </a:lnTo>
                  <a:lnTo>
                    <a:pt x="0" y="374733"/>
                  </a:lnTo>
                  <a:lnTo>
                    <a:pt x="0" y="423534"/>
                  </a:lnTo>
                  <a:lnTo>
                    <a:pt x="916506" y="423534"/>
                  </a:lnTo>
                  <a:lnTo>
                    <a:pt x="958807" y="417941"/>
                  </a:lnTo>
                  <a:lnTo>
                    <a:pt x="997641" y="402009"/>
                  </a:lnTo>
                  <a:lnTo>
                    <a:pt x="1031900" y="377011"/>
                  </a:lnTo>
                  <a:lnTo>
                    <a:pt x="1060476" y="344216"/>
                  </a:lnTo>
                  <a:lnTo>
                    <a:pt x="1082260" y="304897"/>
                  </a:lnTo>
                  <a:lnTo>
                    <a:pt x="1096143" y="260325"/>
                  </a:lnTo>
                  <a:lnTo>
                    <a:pt x="1101017" y="211771"/>
                  </a:lnTo>
                  <a:lnTo>
                    <a:pt x="1096143" y="163213"/>
                  </a:lnTo>
                  <a:lnTo>
                    <a:pt x="1082260" y="118639"/>
                  </a:lnTo>
                  <a:lnTo>
                    <a:pt x="1060476" y="79318"/>
                  </a:lnTo>
                  <a:lnTo>
                    <a:pt x="1031900" y="46523"/>
                  </a:lnTo>
                  <a:lnTo>
                    <a:pt x="997641" y="21524"/>
                  </a:lnTo>
                  <a:lnTo>
                    <a:pt x="958807" y="5593"/>
                  </a:lnTo>
                  <a:lnTo>
                    <a:pt x="91650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39819" y="534052"/>
              <a:ext cx="1101090" cy="423545"/>
            </a:xfrm>
            <a:custGeom>
              <a:avLst/>
              <a:gdLst/>
              <a:ahLst/>
              <a:cxnLst/>
              <a:rect l="l" t="t" r="r" b="b"/>
              <a:pathLst>
                <a:path w="1101089" h="423544">
                  <a:moveTo>
                    <a:pt x="882404" y="374733"/>
                  </a:moveTo>
                  <a:lnTo>
                    <a:pt x="0" y="374733"/>
                  </a:lnTo>
                  <a:lnTo>
                    <a:pt x="0" y="423534"/>
                  </a:lnTo>
                  <a:lnTo>
                    <a:pt x="916506" y="423534"/>
                  </a:lnTo>
                  <a:lnTo>
                    <a:pt x="958807" y="417941"/>
                  </a:lnTo>
                  <a:lnTo>
                    <a:pt x="997641" y="402010"/>
                  </a:lnTo>
                  <a:lnTo>
                    <a:pt x="1031900" y="377011"/>
                  </a:lnTo>
                  <a:lnTo>
                    <a:pt x="1060476" y="344216"/>
                  </a:lnTo>
                  <a:lnTo>
                    <a:pt x="1082260" y="304897"/>
                  </a:lnTo>
                  <a:lnTo>
                    <a:pt x="1096143" y="260325"/>
                  </a:lnTo>
                  <a:lnTo>
                    <a:pt x="1101017" y="211771"/>
                  </a:lnTo>
                  <a:lnTo>
                    <a:pt x="1096143" y="163213"/>
                  </a:lnTo>
                  <a:lnTo>
                    <a:pt x="1082260" y="118639"/>
                  </a:lnTo>
                  <a:lnTo>
                    <a:pt x="1060476" y="79318"/>
                  </a:lnTo>
                  <a:lnTo>
                    <a:pt x="1031900" y="46523"/>
                  </a:lnTo>
                  <a:lnTo>
                    <a:pt x="997641" y="21524"/>
                  </a:lnTo>
                  <a:lnTo>
                    <a:pt x="958807" y="5593"/>
                  </a:lnTo>
                  <a:lnTo>
                    <a:pt x="916506" y="0"/>
                  </a:lnTo>
                  <a:lnTo>
                    <a:pt x="0" y="0"/>
                  </a:lnTo>
                  <a:lnTo>
                    <a:pt x="0" y="48808"/>
                  </a:lnTo>
                  <a:lnTo>
                    <a:pt x="882404" y="48808"/>
                  </a:lnTo>
                  <a:lnTo>
                    <a:pt x="927259" y="57116"/>
                  </a:lnTo>
                  <a:lnTo>
                    <a:pt x="966225" y="80251"/>
                  </a:lnTo>
                  <a:lnTo>
                    <a:pt x="996958" y="115527"/>
                  </a:lnTo>
                  <a:lnTo>
                    <a:pt x="1017117" y="160262"/>
                  </a:lnTo>
                  <a:lnTo>
                    <a:pt x="1024357" y="211771"/>
                  </a:lnTo>
                  <a:lnTo>
                    <a:pt x="1017117" y="263280"/>
                  </a:lnTo>
                  <a:lnTo>
                    <a:pt x="996958" y="308014"/>
                  </a:lnTo>
                  <a:lnTo>
                    <a:pt x="966225" y="343291"/>
                  </a:lnTo>
                  <a:lnTo>
                    <a:pt x="927259" y="366425"/>
                  </a:lnTo>
                  <a:lnTo>
                    <a:pt x="882404" y="374733"/>
                  </a:lnTo>
                  <a:close/>
                </a:path>
              </a:pathLst>
            </a:custGeom>
            <a:ln w="57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8870" y="510015"/>
              <a:ext cx="24167" cy="47151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8870" y="510015"/>
              <a:ext cx="24765" cy="471805"/>
            </a:xfrm>
            <a:custGeom>
              <a:avLst/>
              <a:gdLst/>
              <a:ahLst/>
              <a:cxnLst/>
              <a:rect l="l" t="t" r="r" b="b"/>
              <a:pathLst>
                <a:path w="24765" h="471805">
                  <a:moveTo>
                    <a:pt x="0" y="471511"/>
                  </a:moveTo>
                  <a:lnTo>
                    <a:pt x="24167" y="471511"/>
                  </a:lnTo>
                  <a:lnTo>
                    <a:pt x="24167" y="0"/>
                  </a:lnTo>
                  <a:lnTo>
                    <a:pt x="0" y="0"/>
                  </a:lnTo>
                  <a:lnTo>
                    <a:pt x="0" y="471511"/>
                  </a:lnTo>
                  <a:close/>
                </a:path>
              </a:pathLst>
            </a:custGeom>
            <a:ln w="5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354922" y="680629"/>
            <a:ext cx="208915" cy="182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65" marR="5080" indent="-25400">
              <a:lnSpc>
                <a:spcPct val="103000"/>
              </a:lnSpc>
              <a:spcBef>
                <a:spcPts val="95"/>
              </a:spcBef>
            </a:pPr>
            <a:r>
              <a:rPr sz="500" spc="-4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500" spc="-20" dirty="0">
                <a:latin typeface="Times New Roman" panose="02020603050405020304"/>
                <a:cs typeface="Times New Roman" panose="02020603050405020304"/>
              </a:rPr>
              <a:t>lcohol  </a:t>
            </a:r>
            <a:r>
              <a:rPr sz="500" spc="-25" dirty="0">
                <a:latin typeface="Times New Roman" panose="02020603050405020304"/>
                <a:cs typeface="Times New Roman" panose="02020603050405020304"/>
              </a:rPr>
              <a:t>liquid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26524" y="375696"/>
            <a:ext cx="95570" cy="1278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525661" y="280619"/>
            <a:ext cx="361950" cy="1041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00" spc="-25" dirty="0">
                <a:latin typeface="Times New Roman" panose="02020603050405020304"/>
                <a:cs typeface="Times New Roman" panose="02020603050405020304"/>
              </a:rPr>
              <a:t>Solar</a:t>
            </a:r>
            <a:r>
              <a:rPr sz="5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-25" dirty="0">
                <a:latin typeface="Times New Roman" panose="02020603050405020304"/>
                <a:cs typeface="Times New Roman" panose="02020603050405020304"/>
              </a:rPr>
              <a:t>radiation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35801" y="982535"/>
            <a:ext cx="962025" cy="1041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00" b="1" i="1" spc="-30" dirty="0">
                <a:latin typeface="Times New Roman" panose="02020603050405020304"/>
                <a:cs typeface="Times New Roman" panose="02020603050405020304"/>
              </a:rPr>
              <a:t>Heat </a:t>
            </a:r>
            <a:r>
              <a:rPr sz="500" b="1" i="1" spc="-25" dirty="0">
                <a:latin typeface="Times New Roman" panose="02020603050405020304"/>
                <a:cs typeface="Times New Roman" panose="02020603050405020304"/>
              </a:rPr>
              <a:t>pipe evacuated tube solar</a:t>
            </a:r>
            <a:r>
              <a:rPr sz="500" b="1" i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b="1" i="1" spc="-25" dirty="0">
                <a:latin typeface="Times New Roman" panose="02020603050405020304"/>
                <a:cs typeface="Times New Roman" panose="02020603050405020304"/>
              </a:rPr>
              <a:t>collector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03751" y="692388"/>
            <a:ext cx="1279525" cy="100965"/>
            <a:chOff x="903751" y="692388"/>
            <a:chExt cx="1279525" cy="100965"/>
          </a:xfrm>
        </p:grpSpPr>
        <p:sp>
          <p:nvSpPr>
            <p:cNvPr id="19" name="object 19"/>
            <p:cNvSpPr/>
            <p:nvPr/>
          </p:nvSpPr>
          <p:spPr>
            <a:xfrm>
              <a:off x="906926" y="695563"/>
              <a:ext cx="1272846" cy="9411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6926" y="695563"/>
              <a:ext cx="1273175" cy="94615"/>
            </a:xfrm>
            <a:custGeom>
              <a:avLst/>
              <a:gdLst/>
              <a:ahLst/>
              <a:cxnLst/>
              <a:rect l="l" t="t" r="r" b="b"/>
              <a:pathLst>
                <a:path w="1273175" h="94615">
                  <a:moveTo>
                    <a:pt x="360495" y="72642"/>
                  </a:moveTo>
                  <a:lnTo>
                    <a:pt x="1235261" y="72642"/>
                  </a:lnTo>
                  <a:lnTo>
                    <a:pt x="1249886" y="70631"/>
                  </a:lnTo>
                  <a:lnTo>
                    <a:pt x="1261833" y="65149"/>
                  </a:lnTo>
                  <a:lnTo>
                    <a:pt x="1269890" y="57018"/>
                  </a:lnTo>
                  <a:lnTo>
                    <a:pt x="1272846" y="47063"/>
                  </a:lnTo>
                  <a:lnTo>
                    <a:pt x="1269890" y="37105"/>
                  </a:lnTo>
                  <a:lnTo>
                    <a:pt x="1261833" y="28975"/>
                  </a:lnTo>
                  <a:lnTo>
                    <a:pt x="1249886" y="23494"/>
                  </a:lnTo>
                  <a:lnTo>
                    <a:pt x="1235261" y="21485"/>
                  </a:lnTo>
                  <a:lnTo>
                    <a:pt x="317511" y="21485"/>
                  </a:lnTo>
                  <a:lnTo>
                    <a:pt x="304847" y="20929"/>
                  </a:lnTo>
                  <a:lnTo>
                    <a:pt x="292785" y="19305"/>
                  </a:lnTo>
                  <a:lnTo>
                    <a:pt x="281663" y="16672"/>
                  </a:lnTo>
                  <a:lnTo>
                    <a:pt x="271820" y="13095"/>
                  </a:lnTo>
                  <a:lnTo>
                    <a:pt x="228180" y="556"/>
                  </a:lnTo>
                  <a:lnTo>
                    <a:pt x="215515" y="0"/>
                  </a:lnTo>
                  <a:lnTo>
                    <a:pt x="80731" y="0"/>
                  </a:lnTo>
                  <a:lnTo>
                    <a:pt x="55579" y="2251"/>
                  </a:lnTo>
                  <a:lnTo>
                    <a:pt x="35039" y="8390"/>
                  </a:lnTo>
                  <a:lnTo>
                    <a:pt x="21191" y="17495"/>
                  </a:lnTo>
                  <a:lnTo>
                    <a:pt x="16113" y="28644"/>
                  </a:lnTo>
                  <a:lnTo>
                    <a:pt x="16113" y="33235"/>
                  </a:lnTo>
                  <a:lnTo>
                    <a:pt x="16113" y="35762"/>
                  </a:lnTo>
                  <a:lnTo>
                    <a:pt x="14323" y="37817"/>
                  </a:lnTo>
                  <a:lnTo>
                    <a:pt x="12115" y="37817"/>
                  </a:lnTo>
                  <a:lnTo>
                    <a:pt x="8056" y="37817"/>
                  </a:lnTo>
                  <a:lnTo>
                    <a:pt x="3607" y="37817"/>
                  </a:lnTo>
                  <a:lnTo>
                    <a:pt x="0" y="41959"/>
                  </a:lnTo>
                  <a:lnTo>
                    <a:pt x="0" y="47063"/>
                  </a:lnTo>
                  <a:lnTo>
                    <a:pt x="0" y="52168"/>
                  </a:lnTo>
                  <a:lnTo>
                    <a:pt x="3607" y="56310"/>
                  </a:lnTo>
                  <a:lnTo>
                    <a:pt x="8056" y="56310"/>
                  </a:lnTo>
                  <a:lnTo>
                    <a:pt x="12533" y="56310"/>
                  </a:lnTo>
                  <a:lnTo>
                    <a:pt x="16113" y="60411"/>
                  </a:lnTo>
                  <a:lnTo>
                    <a:pt x="16113" y="65475"/>
                  </a:lnTo>
                  <a:lnTo>
                    <a:pt x="21191" y="76624"/>
                  </a:lnTo>
                  <a:lnTo>
                    <a:pt x="35039" y="85729"/>
                  </a:lnTo>
                  <a:lnTo>
                    <a:pt x="55579" y="91868"/>
                  </a:lnTo>
                  <a:lnTo>
                    <a:pt x="80731" y="94119"/>
                  </a:lnTo>
                  <a:lnTo>
                    <a:pt x="215515" y="94119"/>
                  </a:lnTo>
                  <a:lnTo>
                    <a:pt x="228181" y="93564"/>
                  </a:lnTo>
                  <a:lnTo>
                    <a:pt x="240244" y="91939"/>
                  </a:lnTo>
                  <a:lnTo>
                    <a:pt x="251366" y="89307"/>
                  </a:lnTo>
                  <a:lnTo>
                    <a:pt x="261206" y="85729"/>
                  </a:lnTo>
                  <a:lnTo>
                    <a:pt x="304850" y="73197"/>
                  </a:lnTo>
                  <a:lnTo>
                    <a:pt x="317518" y="72642"/>
                  </a:lnTo>
                  <a:lnTo>
                    <a:pt x="360495" y="72642"/>
                  </a:lnTo>
                  <a:close/>
                </a:path>
                <a:path w="1273175" h="94615">
                  <a:moveTo>
                    <a:pt x="531684" y="50203"/>
                  </a:moveTo>
                  <a:lnTo>
                    <a:pt x="450306" y="50203"/>
                  </a:lnTo>
                </a:path>
              </a:pathLst>
            </a:custGeom>
            <a:ln w="54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44956" y="728154"/>
              <a:ext cx="15875" cy="35560"/>
            </a:xfrm>
            <a:custGeom>
              <a:avLst/>
              <a:gdLst/>
              <a:ahLst/>
              <a:cxnLst/>
              <a:rect l="l" t="t" r="r" b="b"/>
              <a:pathLst>
                <a:path w="15875" h="35559">
                  <a:moveTo>
                    <a:pt x="15346" y="0"/>
                  </a:moveTo>
                  <a:lnTo>
                    <a:pt x="0" y="17612"/>
                  </a:lnTo>
                  <a:lnTo>
                    <a:pt x="15346" y="35224"/>
                  </a:lnTo>
                  <a:lnTo>
                    <a:pt x="153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48477" y="743459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>
                  <a:moveTo>
                    <a:pt x="0" y="0"/>
                  </a:moveTo>
                  <a:lnTo>
                    <a:pt x="81349" y="0"/>
                  </a:lnTo>
                </a:path>
              </a:pathLst>
            </a:custGeom>
            <a:ln w="58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26771" y="725847"/>
              <a:ext cx="15875" cy="35560"/>
            </a:xfrm>
            <a:custGeom>
              <a:avLst/>
              <a:gdLst/>
              <a:ahLst/>
              <a:cxnLst/>
              <a:rect l="l" t="t" r="r" b="b"/>
              <a:pathLst>
                <a:path w="15875" h="35559">
                  <a:moveTo>
                    <a:pt x="0" y="0"/>
                  </a:moveTo>
                  <a:lnTo>
                    <a:pt x="0" y="35224"/>
                  </a:lnTo>
                  <a:lnTo>
                    <a:pt x="15346" y="176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19056" y="315289"/>
            <a:ext cx="237490" cy="1041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00" spc="-5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500" spc="-25" dirty="0">
                <a:latin typeface="Times New Roman" panose="02020603050405020304"/>
                <a:cs typeface="Times New Roman" panose="02020603050405020304"/>
              </a:rPr>
              <a:t>anifold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267940" y="486899"/>
            <a:ext cx="139700" cy="263525"/>
          </a:xfrm>
          <a:custGeom>
            <a:avLst/>
            <a:gdLst/>
            <a:ahLst/>
            <a:cxnLst/>
            <a:rect l="l" t="t" r="r" b="b"/>
            <a:pathLst>
              <a:path w="139700" h="263525">
                <a:moveTo>
                  <a:pt x="139452" y="0"/>
                </a:moveTo>
                <a:lnTo>
                  <a:pt x="5527" y="263491"/>
                </a:lnTo>
              </a:path>
              <a:path w="139700" h="263525">
                <a:moveTo>
                  <a:pt x="26514" y="257155"/>
                </a:moveTo>
                <a:lnTo>
                  <a:pt x="5527" y="263491"/>
                </a:lnTo>
                <a:lnTo>
                  <a:pt x="0" y="239404"/>
                </a:lnTo>
              </a:path>
            </a:pathLst>
          </a:custGeom>
          <a:ln w="54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244327" y="812216"/>
            <a:ext cx="914400" cy="1041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00" spc="-30" dirty="0">
                <a:latin typeface="Times New Roman" panose="02020603050405020304"/>
                <a:cs typeface="Times New Roman" panose="02020603050405020304"/>
              </a:rPr>
              <a:t>Condensed </a:t>
            </a:r>
            <a:r>
              <a:rPr sz="500" spc="-25" dirty="0">
                <a:latin typeface="Times New Roman" panose="02020603050405020304"/>
                <a:cs typeface="Times New Roman" panose="02020603050405020304"/>
              </a:rPr>
              <a:t>liquid returns to the</a:t>
            </a:r>
            <a:r>
              <a:rPr sz="5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-25" dirty="0">
                <a:latin typeface="Times New Roman" panose="02020603050405020304"/>
                <a:cs typeface="Times New Roman" panose="02020603050405020304"/>
              </a:rPr>
              <a:t>bottom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70285" y="456310"/>
            <a:ext cx="1268095" cy="518795"/>
            <a:chOff x="970285" y="456310"/>
            <a:chExt cx="1268095" cy="518795"/>
          </a:xfrm>
        </p:grpSpPr>
        <p:sp>
          <p:nvSpPr>
            <p:cNvPr id="28" name="object 28"/>
            <p:cNvSpPr/>
            <p:nvPr/>
          </p:nvSpPr>
          <p:spPr>
            <a:xfrm>
              <a:off x="1776932" y="500768"/>
              <a:ext cx="458470" cy="340360"/>
            </a:xfrm>
            <a:custGeom>
              <a:avLst/>
              <a:gdLst/>
              <a:ahLst/>
              <a:cxnLst/>
              <a:rect l="l" t="t" r="r" b="b"/>
              <a:pathLst>
                <a:path w="458469" h="340359">
                  <a:moveTo>
                    <a:pt x="0" y="339761"/>
                  </a:moveTo>
                  <a:lnTo>
                    <a:pt x="74528" y="254244"/>
                  </a:lnTo>
                </a:path>
                <a:path w="458469" h="340359">
                  <a:moveTo>
                    <a:pt x="74528" y="279154"/>
                  </a:moveTo>
                  <a:lnTo>
                    <a:pt x="74528" y="254244"/>
                  </a:lnTo>
                  <a:lnTo>
                    <a:pt x="52859" y="254244"/>
                  </a:lnTo>
                </a:path>
                <a:path w="458469" h="340359">
                  <a:moveTo>
                    <a:pt x="443052" y="0"/>
                  </a:moveTo>
                  <a:lnTo>
                    <a:pt x="443052" y="93035"/>
                  </a:lnTo>
                </a:path>
                <a:path w="458469" h="340359">
                  <a:moveTo>
                    <a:pt x="458399" y="75422"/>
                  </a:moveTo>
                  <a:lnTo>
                    <a:pt x="443052" y="93035"/>
                  </a:lnTo>
                  <a:lnTo>
                    <a:pt x="427706" y="75422"/>
                  </a:lnTo>
                </a:path>
              </a:pathLst>
            </a:custGeom>
            <a:ln w="54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86236" y="801237"/>
              <a:ext cx="95097" cy="17335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73142" y="459167"/>
              <a:ext cx="40005" cy="231140"/>
            </a:xfrm>
            <a:custGeom>
              <a:avLst/>
              <a:gdLst/>
              <a:ahLst/>
              <a:cxnLst/>
              <a:rect l="l" t="t" r="r" b="b"/>
              <a:pathLst>
                <a:path w="40005" h="231140">
                  <a:moveTo>
                    <a:pt x="39516" y="0"/>
                  </a:moveTo>
                  <a:lnTo>
                    <a:pt x="15346" y="0"/>
                  </a:lnTo>
                  <a:lnTo>
                    <a:pt x="15346" y="231128"/>
                  </a:lnTo>
                </a:path>
                <a:path w="40005" h="231140">
                  <a:moveTo>
                    <a:pt x="0" y="213516"/>
                  </a:moveTo>
                  <a:lnTo>
                    <a:pt x="15346" y="231128"/>
                  </a:lnTo>
                  <a:lnTo>
                    <a:pt x="30692" y="213516"/>
                  </a:lnTo>
                </a:path>
              </a:pathLst>
            </a:custGeom>
            <a:ln w="54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20016" y="962456"/>
            <a:ext cx="264160" cy="1041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00" spc="-25" dirty="0">
                <a:latin typeface="Times New Roman" panose="02020603050405020304"/>
                <a:cs typeface="Times New Roman" panose="02020603050405020304"/>
              </a:rPr>
              <a:t>Fluid</a:t>
            </a:r>
            <a:r>
              <a:rPr sz="5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-25" dirty="0">
                <a:latin typeface="Times New Roman" panose="02020603050405020304"/>
                <a:cs typeface="Times New Roman" panose="02020603050405020304"/>
              </a:rPr>
              <a:t>flow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21796" y="373650"/>
            <a:ext cx="100330" cy="132080"/>
          </a:xfrm>
          <a:custGeom>
            <a:avLst/>
            <a:gdLst/>
            <a:ahLst/>
            <a:cxnLst/>
            <a:rect l="l" t="t" r="r" b="b"/>
            <a:pathLst>
              <a:path w="100330" h="132079">
                <a:moveTo>
                  <a:pt x="99928" y="0"/>
                </a:moveTo>
                <a:lnTo>
                  <a:pt x="74095" y="0"/>
                </a:lnTo>
                <a:lnTo>
                  <a:pt x="5271" y="131741"/>
                </a:lnTo>
              </a:path>
              <a:path w="100330" h="132079">
                <a:moveTo>
                  <a:pt x="26323" y="125691"/>
                </a:moveTo>
                <a:lnTo>
                  <a:pt x="5271" y="131741"/>
                </a:lnTo>
                <a:lnTo>
                  <a:pt x="0" y="107581"/>
                </a:lnTo>
              </a:path>
            </a:pathLst>
          </a:custGeom>
          <a:ln w="54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007234" y="399216"/>
            <a:ext cx="605155" cy="1041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00" spc="-25" dirty="0">
                <a:latin typeface="Times New Roman" panose="02020603050405020304"/>
                <a:cs typeface="Times New Roman" panose="02020603050405020304"/>
              </a:rPr>
              <a:t>Condenser </a:t>
            </a:r>
            <a:r>
              <a:rPr sz="500" spc="-30" dirty="0">
                <a:latin typeface="Times New Roman" panose="02020603050405020304"/>
                <a:cs typeface="Times New Roman" panose="02020603050405020304"/>
              </a:rPr>
              <a:t>Vapour</a:t>
            </a:r>
            <a:r>
              <a:rPr sz="5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-20" dirty="0">
                <a:latin typeface="Times New Roman" panose="02020603050405020304"/>
                <a:cs typeface="Times New Roman" panose="02020603050405020304"/>
              </a:rPr>
              <a:t>rises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58049" y="936308"/>
            <a:ext cx="245110" cy="1041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00" spc="-25" dirty="0">
                <a:latin typeface="Times New Roman" panose="02020603050405020304"/>
                <a:cs typeface="Times New Roman" panose="02020603050405020304"/>
              </a:rPr>
              <a:t>Heat</a:t>
            </a:r>
            <a:r>
              <a:rPr sz="5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-25" dirty="0">
                <a:latin typeface="Times New Roman" panose="02020603050405020304"/>
                <a:cs typeface="Times New Roman" panose="02020603050405020304"/>
              </a:rPr>
              <a:t>pipe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872349" y="477652"/>
            <a:ext cx="387985" cy="485775"/>
          </a:xfrm>
          <a:custGeom>
            <a:avLst/>
            <a:gdLst/>
            <a:ahLst/>
            <a:cxnLst/>
            <a:rect l="l" t="t" r="r" b="b"/>
            <a:pathLst>
              <a:path w="387985" h="485775">
                <a:moveTo>
                  <a:pt x="387919" y="485381"/>
                </a:moveTo>
                <a:lnTo>
                  <a:pt x="292289" y="293252"/>
                </a:lnTo>
              </a:path>
              <a:path w="387985" h="485775">
                <a:moveTo>
                  <a:pt x="286605" y="317281"/>
                </a:moveTo>
                <a:lnTo>
                  <a:pt x="292289" y="293252"/>
                </a:lnTo>
                <a:lnTo>
                  <a:pt x="313248" y="299808"/>
                </a:lnTo>
              </a:path>
              <a:path w="387985" h="485775">
                <a:moveTo>
                  <a:pt x="15346" y="0"/>
                </a:moveTo>
                <a:lnTo>
                  <a:pt x="15346" y="140490"/>
                </a:lnTo>
              </a:path>
              <a:path w="387985" h="485775">
                <a:moveTo>
                  <a:pt x="30692" y="122878"/>
                </a:moveTo>
                <a:lnTo>
                  <a:pt x="15346" y="140490"/>
                </a:lnTo>
                <a:lnTo>
                  <a:pt x="0" y="122878"/>
                </a:lnTo>
              </a:path>
            </a:pathLst>
          </a:custGeom>
          <a:ln w="54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698619" y="410771"/>
            <a:ext cx="734060" cy="1041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750" spc="-44" baseline="33000" dirty="0">
                <a:latin typeface="Times New Roman" panose="02020603050405020304"/>
                <a:cs typeface="Times New Roman" panose="02020603050405020304"/>
              </a:rPr>
              <a:t>Copper </a:t>
            </a:r>
            <a:r>
              <a:rPr sz="750" spc="-37" baseline="33000" dirty="0">
                <a:latin typeface="Times New Roman" panose="02020603050405020304"/>
                <a:cs typeface="Times New Roman" panose="02020603050405020304"/>
              </a:rPr>
              <a:t>plate </a:t>
            </a:r>
            <a:r>
              <a:rPr sz="500" spc="-25" dirty="0">
                <a:latin typeface="Times New Roman" panose="02020603050405020304"/>
                <a:cs typeface="Times New Roman" panose="02020603050405020304"/>
              </a:rPr>
              <a:t>Evacuated</a:t>
            </a:r>
            <a:r>
              <a:rPr sz="5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-25" dirty="0">
                <a:latin typeface="Times New Roman" panose="02020603050405020304"/>
                <a:cs typeface="Times New Roman" panose="02020603050405020304"/>
              </a:rPr>
              <a:t>tube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137712" y="725847"/>
            <a:ext cx="223520" cy="35560"/>
          </a:xfrm>
          <a:custGeom>
            <a:avLst/>
            <a:gdLst/>
            <a:ahLst/>
            <a:cxnLst/>
            <a:rect l="l" t="t" r="r" b="b"/>
            <a:pathLst>
              <a:path w="223519" h="35559">
                <a:moveTo>
                  <a:pt x="223302" y="17612"/>
                </a:moveTo>
                <a:lnTo>
                  <a:pt x="0" y="17612"/>
                </a:lnTo>
              </a:path>
              <a:path w="223519" h="35559">
                <a:moveTo>
                  <a:pt x="15346" y="35224"/>
                </a:moveTo>
                <a:lnTo>
                  <a:pt x="0" y="17612"/>
                </a:lnTo>
                <a:lnTo>
                  <a:pt x="15346" y="0"/>
                </a:lnTo>
              </a:path>
            </a:pathLst>
          </a:custGeom>
          <a:ln w="54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81178" y="1119758"/>
            <a:ext cx="2545080" cy="8299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9375" marR="5715" indent="-67310" algn="just">
              <a:lnSpc>
                <a:spcPct val="107000"/>
              </a:lnSpc>
              <a:spcBef>
                <a:spcPts val="90"/>
              </a:spcBef>
              <a:buSzPct val="82000"/>
              <a:buFont typeface="Wingdings" panose="05000000000000000000"/>
              <a:buChar char=""/>
              <a:tabLst>
                <a:tab pos="80010" algn="l"/>
              </a:tabLst>
            </a:pPr>
            <a:r>
              <a:rPr sz="550" dirty="0">
                <a:latin typeface="DejaVu Serif"/>
                <a:cs typeface="DejaVu Serif"/>
              </a:rPr>
              <a:t>The heat </a:t>
            </a:r>
            <a:r>
              <a:rPr sz="550" spc="-5" dirty="0">
                <a:latin typeface="DejaVu Serif"/>
                <a:cs typeface="DejaVu Serif"/>
              </a:rPr>
              <a:t>pipe </a:t>
            </a:r>
            <a:r>
              <a:rPr sz="550" spc="5" dirty="0">
                <a:latin typeface="DejaVu Serif"/>
                <a:cs typeface="DejaVu Serif"/>
              </a:rPr>
              <a:t>contains </a:t>
            </a:r>
            <a:r>
              <a:rPr sz="550" spc="10" dirty="0">
                <a:latin typeface="DejaVu Serif"/>
                <a:cs typeface="DejaVu Serif"/>
              </a:rPr>
              <a:t>a </a:t>
            </a:r>
            <a:r>
              <a:rPr sz="550" spc="-5" dirty="0">
                <a:latin typeface="DejaVu Serif"/>
                <a:cs typeface="DejaVu Serif"/>
              </a:rPr>
              <a:t>working </a:t>
            </a:r>
            <a:r>
              <a:rPr sz="550" spc="5" dirty="0">
                <a:latin typeface="DejaVu Serif"/>
                <a:cs typeface="DejaVu Serif"/>
              </a:rPr>
              <a:t>fluid </a:t>
            </a:r>
            <a:r>
              <a:rPr sz="550" spc="-10" dirty="0">
                <a:latin typeface="DejaVu Serif"/>
                <a:cs typeface="DejaVu Serif"/>
              </a:rPr>
              <a:t>(alcohol) </a:t>
            </a:r>
            <a:r>
              <a:rPr sz="550" dirty="0">
                <a:latin typeface="DejaVu Serif"/>
                <a:cs typeface="DejaVu Serif"/>
              </a:rPr>
              <a:t>at </a:t>
            </a:r>
            <a:r>
              <a:rPr sz="550" spc="-10" dirty="0">
                <a:latin typeface="DejaVu Serif"/>
                <a:cs typeface="DejaVu Serif"/>
              </a:rPr>
              <a:t>low </a:t>
            </a:r>
            <a:r>
              <a:rPr sz="550" dirty="0">
                <a:latin typeface="DejaVu Serif"/>
                <a:cs typeface="DejaVu Serif"/>
              </a:rPr>
              <a:t>pressure.  </a:t>
            </a:r>
            <a:r>
              <a:rPr sz="550" spc="10" dirty="0">
                <a:latin typeface="DejaVu Serif"/>
                <a:cs typeface="DejaVu Serif"/>
              </a:rPr>
              <a:t>When </a:t>
            </a:r>
            <a:r>
              <a:rPr sz="550" dirty="0">
                <a:latin typeface="DejaVu Serif"/>
                <a:cs typeface="DejaVu Serif"/>
              </a:rPr>
              <a:t>the heat </a:t>
            </a:r>
            <a:r>
              <a:rPr sz="550" spc="-5" dirty="0">
                <a:latin typeface="DejaVu Serif"/>
                <a:cs typeface="DejaVu Serif"/>
              </a:rPr>
              <a:t>pipe </a:t>
            </a:r>
            <a:r>
              <a:rPr sz="550" spc="10" dirty="0">
                <a:latin typeface="DejaVu Serif"/>
                <a:cs typeface="DejaVu Serif"/>
              </a:rPr>
              <a:t>is </a:t>
            </a:r>
            <a:r>
              <a:rPr sz="550" dirty="0">
                <a:latin typeface="DejaVu Serif"/>
                <a:cs typeface="DejaVu Serif"/>
              </a:rPr>
              <a:t>heated, the </a:t>
            </a:r>
            <a:r>
              <a:rPr sz="550" spc="5" dirty="0">
                <a:latin typeface="DejaVu Serif"/>
                <a:cs typeface="DejaVu Serif"/>
              </a:rPr>
              <a:t>liquid </a:t>
            </a:r>
            <a:r>
              <a:rPr sz="550" spc="15" dirty="0">
                <a:latin typeface="DejaVu Serif"/>
                <a:cs typeface="DejaVu Serif"/>
              </a:rPr>
              <a:t>turns </a:t>
            </a:r>
            <a:r>
              <a:rPr sz="550" spc="5" dirty="0">
                <a:latin typeface="DejaVu Serif"/>
                <a:cs typeface="DejaVu Serif"/>
              </a:rPr>
              <a:t>into </a:t>
            </a:r>
            <a:r>
              <a:rPr sz="550" spc="10" dirty="0">
                <a:latin typeface="DejaVu Serif"/>
                <a:cs typeface="DejaVu Serif"/>
              </a:rPr>
              <a:t>a </a:t>
            </a:r>
            <a:r>
              <a:rPr sz="550" spc="5" dirty="0">
                <a:latin typeface="DejaVu Serif"/>
                <a:cs typeface="DejaVu Serif"/>
              </a:rPr>
              <a:t>vapour, </a:t>
            </a:r>
            <a:r>
              <a:rPr sz="550" dirty="0">
                <a:latin typeface="DejaVu Serif"/>
                <a:cs typeface="DejaVu Serif"/>
              </a:rPr>
              <a:t>rises  </a:t>
            </a:r>
            <a:r>
              <a:rPr sz="550" spc="5" dirty="0">
                <a:latin typeface="DejaVu Serif"/>
                <a:cs typeface="DejaVu Serif"/>
              </a:rPr>
              <a:t>within </a:t>
            </a: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-5" dirty="0">
                <a:latin typeface="DejaVu Serif"/>
                <a:cs typeface="DejaVu Serif"/>
              </a:rPr>
              <a:t>pipe </a:t>
            </a:r>
            <a:r>
              <a:rPr sz="550" dirty="0">
                <a:latin typeface="DejaVu Serif"/>
                <a:cs typeface="DejaVu Serif"/>
              </a:rPr>
              <a:t>to </a:t>
            </a:r>
            <a:r>
              <a:rPr sz="550" spc="10" dirty="0">
                <a:latin typeface="DejaVu Serif"/>
                <a:cs typeface="DejaVu Serif"/>
              </a:rPr>
              <a:t>a </a:t>
            </a:r>
            <a:r>
              <a:rPr sz="550" dirty="0">
                <a:latin typeface="DejaVu Serif"/>
                <a:cs typeface="DejaVu Serif"/>
              </a:rPr>
              <a:t>condenser </a:t>
            </a:r>
            <a:r>
              <a:rPr sz="550" spc="5" dirty="0">
                <a:latin typeface="DejaVu Serif"/>
                <a:cs typeface="DejaVu Serif"/>
              </a:rPr>
              <a:t>that </a:t>
            </a:r>
            <a:r>
              <a:rPr sz="550" spc="10" dirty="0">
                <a:latin typeface="DejaVu Serif"/>
                <a:cs typeface="DejaVu Serif"/>
              </a:rPr>
              <a:t>is </a:t>
            </a:r>
            <a:r>
              <a:rPr sz="550" spc="15" dirty="0">
                <a:latin typeface="DejaVu Serif"/>
                <a:cs typeface="DejaVu Serif"/>
              </a:rPr>
              <a:t>in </a:t>
            </a:r>
            <a:r>
              <a:rPr sz="550" dirty="0">
                <a:latin typeface="DejaVu Serif"/>
                <a:cs typeface="DejaVu Serif"/>
              </a:rPr>
              <a:t>contact with the heat  transfer </a:t>
            </a:r>
            <a:r>
              <a:rPr sz="550" spc="5" dirty="0">
                <a:latin typeface="DejaVu Serif"/>
                <a:cs typeface="DejaVu Serif"/>
              </a:rPr>
              <a:t>fluid </a:t>
            </a:r>
            <a:r>
              <a:rPr sz="550" spc="15" dirty="0">
                <a:latin typeface="DejaVu Serif"/>
                <a:cs typeface="DejaVu Serif"/>
              </a:rPr>
              <a:t>in </a:t>
            </a:r>
            <a:r>
              <a:rPr sz="550" dirty="0">
                <a:latin typeface="DejaVu Serif"/>
                <a:cs typeface="DejaVu Serif"/>
              </a:rPr>
              <a:t>the</a:t>
            </a:r>
            <a:r>
              <a:rPr sz="550" spc="-15" dirty="0">
                <a:latin typeface="DejaVu Serif"/>
                <a:cs typeface="DejaVu Serif"/>
              </a:rPr>
              <a:t> </a:t>
            </a:r>
            <a:r>
              <a:rPr sz="550" spc="5" dirty="0">
                <a:latin typeface="DejaVu Serif"/>
                <a:cs typeface="DejaVu Serif"/>
              </a:rPr>
              <a:t>manifold.</a:t>
            </a:r>
            <a:endParaRPr sz="550">
              <a:latin typeface="DejaVu Serif"/>
              <a:cs typeface="DejaVu Serif"/>
            </a:endParaRPr>
          </a:p>
          <a:p>
            <a:pPr marL="79375" marR="6985" indent="-67310" algn="just">
              <a:lnSpc>
                <a:spcPct val="106000"/>
              </a:lnSpc>
              <a:spcBef>
                <a:spcPts val="360"/>
              </a:spcBef>
              <a:buSzPct val="82000"/>
              <a:buFont typeface="Wingdings" panose="05000000000000000000"/>
              <a:buChar char=""/>
              <a:tabLst>
                <a:tab pos="80010" algn="l"/>
              </a:tabLst>
            </a:pPr>
            <a:r>
              <a:rPr sz="550" dirty="0">
                <a:latin typeface="DejaVu Serif"/>
                <a:cs typeface="DejaVu Serif"/>
              </a:rPr>
              <a:t>At the condenser the vapour </a:t>
            </a:r>
            <a:r>
              <a:rPr sz="550" spc="5" dirty="0">
                <a:latin typeface="DejaVu Serif"/>
                <a:cs typeface="DejaVu Serif"/>
              </a:rPr>
              <a:t>condenses back into </a:t>
            </a:r>
            <a:r>
              <a:rPr sz="550" spc="10" dirty="0">
                <a:latin typeface="DejaVu Serif"/>
                <a:cs typeface="DejaVu Serif"/>
              </a:rPr>
              <a:t>a </a:t>
            </a:r>
            <a:r>
              <a:rPr sz="550" dirty="0">
                <a:latin typeface="DejaVu Serif"/>
                <a:cs typeface="DejaVu Serif"/>
              </a:rPr>
              <a:t>liquid,  </a:t>
            </a:r>
            <a:r>
              <a:rPr sz="550" spc="-5" dirty="0">
                <a:latin typeface="DejaVu Serif"/>
                <a:cs typeface="DejaVu Serif"/>
              </a:rPr>
              <a:t>releasing </a:t>
            </a:r>
            <a:r>
              <a:rPr sz="550" dirty="0">
                <a:latin typeface="DejaVu Serif"/>
                <a:cs typeface="DejaVu Serif"/>
              </a:rPr>
              <a:t>the latent </a:t>
            </a:r>
            <a:r>
              <a:rPr sz="550" spc="5" dirty="0">
                <a:latin typeface="DejaVu Serif"/>
                <a:cs typeface="DejaVu Serif"/>
              </a:rPr>
              <a:t>heat.</a:t>
            </a:r>
            <a:endParaRPr sz="550">
              <a:latin typeface="DejaVu Serif"/>
              <a:cs typeface="DejaVu Serif"/>
            </a:endParaRPr>
          </a:p>
          <a:p>
            <a:pPr marL="79375" marR="5080" indent="-67310" algn="just">
              <a:lnSpc>
                <a:spcPct val="107000"/>
              </a:lnSpc>
              <a:spcBef>
                <a:spcPts val="350"/>
              </a:spcBef>
              <a:buSzPct val="82000"/>
              <a:buFont typeface="Wingdings" panose="05000000000000000000"/>
              <a:buChar char=""/>
              <a:tabLst>
                <a:tab pos="80010" algn="l"/>
              </a:tabLst>
            </a:pP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5" dirty="0">
                <a:latin typeface="DejaVu Serif"/>
                <a:cs typeface="DejaVu Serif"/>
              </a:rPr>
              <a:t>liquid </a:t>
            </a:r>
            <a:r>
              <a:rPr sz="550" spc="10" dirty="0">
                <a:latin typeface="DejaVu Serif"/>
                <a:cs typeface="DejaVu Serif"/>
              </a:rPr>
              <a:t>then </a:t>
            </a:r>
            <a:r>
              <a:rPr sz="550" spc="5" dirty="0">
                <a:latin typeface="DejaVu Serif"/>
                <a:cs typeface="DejaVu Serif"/>
              </a:rPr>
              <a:t>returns back </a:t>
            </a:r>
            <a:r>
              <a:rPr sz="550" dirty="0">
                <a:latin typeface="DejaVu Serif"/>
                <a:cs typeface="DejaVu Serif"/>
              </a:rPr>
              <a:t>down </a:t>
            </a:r>
            <a:r>
              <a:rPr sz="550" spc="5" dirty="0">
                <a:latin typeface="DejaVu Serif"/>
                <a:cs typeface="DejaVu Serif"/>
              </a:rPr>
              <a:t>the </a:t>
            </a:r>
            <a:r>
              <a:rPr sz="550" dirty="0">
                <a:latin typeface="DejaVu Serif"/>
                <a:cs typeface="DejaVu Serif"/>
              </a:rPr>
              <a:t>heat </a:t>
            </a:r>
            <a:r>
              <a:rPr sz="550" spc="-5" dirty="0">
                <a:latin typeface="DejaVu Serif"/>
                <a:cs typeface="DejaVu Serif"/>
              </a:rPr>
              <a:t>pipe </a:t>
            </a:r>
            <a:r>
              <a:rPr sz="550" spc="-10" dirty="0">
                <a:latin typeface="DejaVu Serif"/>
                <a:cs typeface="DejaVu Serif"/>
              </a:rPr>
              <a:t>where</a:t>
            </a:r>
            <a:r>
              <a:rPr sz="550" spc="150" dirty="0">
                <a:latin typeface="DejaVu Serif"/>
                <a:cs typeface="DejaVu Serif"/>
              </a:rPr>
              <a:t> </a:t>
            </a:r>
            <a:r>
              <a:rPr sz="550" spc="-5" dirty="0">
                <a:latin typeface="DejaVu Serif"/>
                <a:cs typeface="DejaVu Serif"/>
              </a:rPr>
              <a:t>it </a:t>
            </a:r>
            <a:r>
              <a:rPr sz="550" spc="10" dirty="0">
                <a:latin typeface="DejaVu Serif"/>
                <a:cs typeface="DejaVu Serif"/>
              </a:rPr>
              <a:t>is  </a:t>
            </a:r>
            <a:r>
              <a:rPr sz="550" dirty="0">
                <a:latin typeface="DejaVu Serif"/>
                <a:cs typeface="DejaVu Serif"/>
              </a:rPr>
              <a:t>heated, </a:t>
            </a:r>
            <a:r>
              <a:rPr sz="550" spc="-5" dirty="0">
                <a:latin typeface="DejaVu Serif"/>
                <a:cs typeface="DejaVu Serif"/>
              </a:rPr>
              <a:t>evaporates </a:t>
            </a:r>
            <a:r>
              <a:rPr sz="550" spc="10" dirty="0">
                <a:latin typeface="DejaVu Serif"/>
                <a:cs typeface="DejaVu Serif"/>
              </a:rPr>
              <a:t>and </a:t>
            </a:r>
            <a:r>
              <a:rPr sz="550" spc="-5" dirty="0">
                <a:latin typeface="DejaVu Serif"/>
                <a:cs typeface="DejaVu Serif"/>
              </a:rPr>
              <a:t>once more </a:t>
            </a:r>
            <a:r>
              <a:rPr sz="550" dirty="0">
                <a:latin typeface="DejaVu Serif"/>
                <a:cs typeface="DejaVu Serif"/>
              </a:rPr>
              <a:t>repeats the</a:t>
            </a:r>
            <a:r>
              <a:rPr sz="550" spc="55" dirty="0">
                <a:latin typeface="DejaVu Serif"/>
                <a:cs typeface="DejaVu Serif"/>
              </a:rPr>
              <a:t> </a:t>
            </a:r>
            <a:r>
              <a:rPr sz="550" spc="-5" dirty="0">
                <a:latin typeface="DejaVu Serif"/>
                <a:cs typeface="DejaVu Serif"/>
              </a:rPr>
              <a:t>cycle.</a:t>
            </a:r>
            <a:endParaRPr sz="550">
              <a:latin typeface="DejaVu Serif"/>
              <a:cs typeface="DejaVu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677" y="400431"/>
            <a:ext cx="778510" cy="471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9375" marR="5080" indent="-67310" algn="just">
              <a:lnSpc>
                <a:spcPct val="106000"/>
              </a:lnSpc>
              <a:spcBef>
                <a:spcPts val="95"/>
              </a:spcBef>
              <a:buSzPct val="82000"/>
              <a:buFont typeface="Wingdings" panose="05000000000000000000"/>
              <a:buChar char=""/>
              <a:tabLst>
                <a:tab pos="80010" algn="l"/>
              </a:tabLst>
            </a:pPr>
            <a:r>
              <a:rPr sz="550" dirty="0">
                <a:latin typeface="DejaVu Serif"/>
                <a:cs typeface="DejaVu Serif"/>
              </a:rPr>
              <a:t>In </a:t>
            </a:r>
            <a:r>
              <a:rPr sz="550" spc="10" dirty="0">
                <a:latin typeface="DejaVu Serif"/>
                <a:cs typeface="DejaVu Serif"/>
              </a:rPr>
              <a:t>this </a:t>
            </a:r>
            <a:r>
              <a:rPr sz="550" dirty="0">
                <a:latin typeface="DejaVu Serif"/>
                <a:cs typeface="DejaVu Serif"/>
              </a:rPr>
              <a:t>type, </a:t>
            </a:r>
            <a:r>
              <a:rPr sz="550" spc="10" dirty="0">
                <a:latin typeface="DejaVu Serif"/>
                <a:cs typeface="DejaVu Serif"/>
              </a:rPr>
              <a:t>a  </a:t>
            </a:r>
            <a:r>
              <a:rPr sz="550" spc="-5" dirty="0">
                <a:latin typeface="DejaVu Serif"/>
                <a:cs typeface="DejaVu Serif"/>
              </a:rPr>
              <a:t>copper coated  </a:t>
            </a:r>
            <a:r>
              <a:rPr sz="550" dirty="0">
                <a:latin typeface="DejaVu Serif"/>
                <a:cs typeface="DejaVu Serif"/>
              </a:rPr>
              <a:t>absorber </a:t>
            </a:r>
            <a:r>
              <a:rPr sz="550" spc="-5" dirty="0">
                <a:latin typeface="DejaVu Serif"/>
                <a:cs typeface="DejaVu Serif"/>
              </a:rPr>
              <a:t>plate </a:t>
            </a:r>
            <a:r>
              <a:rPr sz="550" spc="10" dirty="0">
                <a:latin typeface="DejaVu Serif"/>
                <a:cs typeface="DejaVu Serif"/>
              </a:rPr>
              <a:t>is  </a:t>
            </a:r>
            <a:r>
              <a:rPr sz="550" spc="5" dirty="0">
                <a:latin typeface="DejaVu Serif"/>
                <a:cs typeface="DejaVu Serif"/>
              </a:rPr>
              <a:t>bonded </a:t>
            </a:r>
            <a:r>
              <a:rPr sz="550" dirty="0">
                <a:latin typeface="DejaVu Serif"/>
                <a:cs typeface="DejaVu Serif"/>
              </a:rPr>
              <a:t>to </a:t>
            </a:r>
            <a:r>
              <a:rPr sz="550" spc="10" dirty="0">
                <a:latin typeface="DejaVu Serif"/>
                <a:cs typeface="DejaVu Serif"/>
              </a:rPr>
              <a:t>a </a:t>
            </a:r>
            <a:r>
              <a:rPr sz="550" spc="-5" dirty="0">
                <a:latin typeface="DejaVu Serif"/>
                <a:cs typeface="DejaVu Serif"/>
              </a:rPr>
              <a:t>sealed  copper </a:t>
            </a:r>
            <a:r>
              <a:rPr sz="550" dirty="0">
                <a:latin typeface="DejaVu Serif"/>
                <a:cs typeface="DejaVu Serif"/>
              </a:rPr>
              <a:t>heat</a:t>
            </a:r>
            <a:r>
              <a:rPr sz="550" spc="-5" dirty="0">
                <a:latin typeface="DejaVu Serif"/>
                <a:cs typeface="DejaVu Serif"/>
              </a:rPr>
              <a:t> </a:t>
            </a:r>
            <a:r>
              <a:rPr sz="550" dirty="0">
                <a:latin typeface="DejaVu Serif"/>
                <a:cs typeface="DejaVu Serif"/>
              </a:rPr>
              <a:t>pipe.</a:t>
            </a:r>
            <a:endParaRPr sz="550">
              <a:latin typeface="DejaVu Serif"/>
              <a:cs typeface="DejaVu Serif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0" y="127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342" y="85852"/>
            <a:ext cx="254317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i="0" u="sng" spc="-5" dirty="0">
                <a:uFill>
                  <a:solidFill>
                    <a:srgbClr val="FF0000"/>
                  </a:solidFill>
                </a:uFill>
                <a:latin typeface="Bookman Uralic"/>
                <a:cs typeface="Bookman Uralic"/>
              </a:rPr>
              <a:t>Concentrating </a:t>
            </a:r>
            <a:r>
              <a:rPr sz="1050" i="0" u="sng" dirty="0">
                <a:uFill>
                  <a:solidFill>
                    <a:srgbClr val="FF0000"/>
                  </a:solidFill>
                </a:uFill>
                <a:latin typeface="Bookman Uralic"/>
                <a:cs typeface="Bookman Uralic"/>
              </a:rPr>
              <a:t>(focussing)</a:t>
            </a:r>
            <a:r>
              <a:rPr sz="1050" i="0" u="sng" spc="-35" dirty="0">
                <a:uFill>
                  <a:solidFill>
                    <a:srgbClr val="FF0000"/>
                  </a:solidFill>
                </a:uFill>
                <a:latin typeface="Bookman Uralic"/>
                <a:cs typeface="Bookman Uralic"/>
              </a:rPr>
              <a:t> </a:t>
            </a:r>
            <a:r>
              <a:rPr sz="1050" i="0" u="sng" dirty="0">
                <a:uFill>
                  <a:solidFill>
                    <a:srgbClr val="FF0000"/>
                  </a:solidFill>
                </a:uFill>
                <a:latin typeface="Bookman Uralic"/>
                <a:cs typeface="Bookman Uralic"/>
              </a:rPr>
              <a:t>collectors</a:t>
            </a:r>
            <a:endParaRPr sz="1050">
              <a:latin typeface="Bookman Uralic"/>
              <a:cs typeface="Bookman Ural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1308" y="364067"/>
            <a:ext cx="1671320" cy="650875"/>
            <a:chOff x="601308" y="364067"/>
            <a:chExt cx="1671320" cy="650875"/>
          </a:xfrm>
        </p:grpSpPr>
        <p:sp>
          <p:nvSpPr>
            <p:cNvPr id="4" name="object 4"/>
            <p:cNvSpPr/>
            <p:nvPr/>
          </p:nvSpPr>
          <p:spPr>
            <a:xfrm>
              <a:off x="1919563" y="429466"/>
              <a:ext cx="195734" cy="2159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22017" y="498053"/>
              <a:ext cx="389255" cy="373380"/>
            </a:xfrm>
            <a:custGeom>
              <a:avLst/>
              <a:gdLst/>
              <a:ahLst/>
              <a:cxnLst/>
              <a:rect l="l" t="t" r="r" b="b"/>
              <a:pathLst>
                <a:path w="389255" h="373380">
                  <a:moveTo>
                    <a:pt x="279314" y="114791"/>
                  </a:moveTo>
                  <a:lnTo>
                    <a:pt x="388751" y="373223"/>
                  </a:lnTo>
                </a:path>
                <a:path w="389255" h="373380">
                  <a:moveTo>
                    <a:pt x="0" y="0"/>
                  </a:moveTo>
                  <a:lnTo>
                    <a:pt x="68760" y="162724"/>
                  </a:lnTo>
                </a:path>
              </a:pathLst>
            </a:custGeom>
            <a:ln w="84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0095" y="651479"/>
              <a:ext cx="38100" cy="22860"/>
            </a:xfrm>
            <a:custGeom>
              <a:avLst/>
              <a:gdLst/>
              <a:ahLst/>
              <a:cxnLst/>
              <a:rect l="l" t="t" r="r" b="b"/>
              <a:pathLst>
                <a:path w="38100" h="22859">
                  <a:moveTo>
                    <a:pt x="37776" y="0"/>
                  </a:moveTo>
                  <a:lnTo>
                    <a:pt x="0" y="11546"/>
                  </a:lnTo>
                  <a:lnTo>
                    <a:pt x="26023" y="22284"/>
                  </a:lnTo>
                  <a:lnTo>
                    <a:pt x="377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9983" y="530116"/>
              <a:ext cx="309880" cy="459105"/>
            </a:xfrm>
            <a:custGeom>
              <a:avLst/>
              <a:gdLst/>
              <a:ahLst/>
              <a:cxnLst/>
              <a:rect l="l" t="t" r="r" b="b"/>
              <a:pathLst>
                <a:path w="309880" h="459105">
                  <a:moveTo>
                    <a:pt x="176136" y="143647"/>
                  </a:moveTo>
                  <a:lnTo>
                    <a:pt x="309459" y="458679"/>
                  </a:lnTo>
                </a:path>
                <a:path w="309880" h="459105">
                  <a:moveTo>
                    <a:pt x="0" y="0"/>
                  </a:moveTo>
                  <a:lnTo>
                    <a:pt x="67081" y="158557"/>
                  </a:lnTo>
                </a:path>
              </a:pathLst>
            </a:custGeom>
            <a:ln w="84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66535" y="679375"/>
              <a:ext cx="38100" cy="22860"/>
            </a:xfrm>
            <a:custGeom>
              <a:avLst/>
              <a:gdLst/>
              <a:ahLst/>
              <a:cxnLst/>
              <a:rect l="l" t="t" r="r" b="b"/>
              <a:pathLst>
                <a:path w="38100" h="22859">
                  <a:moveTo>
                    <a:pt x="37852" y="0"/>
                  </a:moveTo>
                  <a:lnTo>
                    <a:pt x="0" y="12025"/>
                  </a:lnTo>
                  <a:lnTo>
                    <a:pt x="25870" y="22284"/>
                  </a:lnTo>
                  <a:lnTo>
                    <a:pt x="378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18025" y="562178"/>
              <a:ext cx="304165" cy="447675"/>
            </a:xfrm>
            <a:custGeom>
              <a:avLst/>
              <a:gdLst/>
              <a:ahLst/>
              <a:cxnLst/>
              <a:rect l="l" t="t" r="r" b="b"/>
              <a:pathLst>
                <a:path w="304164" h="447675">
                  <a:moveTo>
                    <a:pt x="174380" y="139480"/>
                  </a:moveTo>
                  <a:lnTo>
                    <a:pt x="303964" y="447140"/>
                  </a:lnTo>
                </a:path>
                <a:path w="304164" h="447675">
                  <a:moveTo>
                    <a:pt x="0" y="0"/>
                  </a:moveTo>
                  <a:lnTo>
                    <a:pt x="65326" y="154713"/>
                  </a:lnTo>
                </a:path>
              </a:pathLst>
            </a:custGeom>
            <a:ln w="84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62899" y="707593"/>
              <a:ext cx="38100" cy="22860"/>
            </a:xfrm>
            <a:custGeom>
              <a:avLst/>
              <a:gdLst/>
              <a:ahLst/>
              <a:cxnLst/>
              <a:rect l="l" t="t" r="r" b="b"/>
              <a:pathLst>
                <a:path w="38100" h="22859">
                  <a:moveTo>
                    <a:pt x="37776" y="0"/>
                  </a:moveTo>
                  <a:lnTo>
                    <a:pt x="0" y="12183"/>
                  </a:lnTo>
                  <a:lnTo>
                    <a:pt x="25870" y="22441"/>
                  </a:lnTo>
                  <a:lnTo>
                    <a:pt x="377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88770" y="730035"/>
              <a:ext cx="115570" cy="272415"/>
            </a:xfrm>
            <a:custGeom>
              <a:avLst/>
              <a:gdLst/>
              <a:ahLst/>
              <a:cxnLst/>
              <a:rect l="l" t="t" r="r" b="b"/>
              <a:pathLst>
                <a:path w="115569" h="272415">
                  <a:moveTo>
                    <a:pt x="0" y="0"/>
                  </a:moveTo>
                  <a:lnTo>
                    <a:pt x="115007" y="272225"/>
                  </a:lnTo>
                </a:path>
              </a:pathLst>
            </a:custGeom>
            <a:ln w="8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99375" y="787204"/>
              <a:ext cx="152836" cy="2266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07696" y="645387"/>
              <a:ext cx="560705" cy="365125"/>
            </a:xfrm>
            <a:custGeom>
              <a:avLst/>
              <a:gdLst/>
              <a:ahLst/>
              <a:cxnLst/>
              <a:rect l="l" t="t" r="r" b="b"/>
              <a:pathLst>
                <a:path w="560705" h="365125">
                  <a:moveTo>
                    <a:pt x="291983" y="0"/>
                  </a:moveTo>
                  <a:lnTo>
                    <a:pt x="418361" y="298840"/>
                  </a:lnTo>
                </a:path>
                <a:path w="560705" h="365125">
                  <a:moveTo>
                    <a:pt x="560461" y="133868"/>
                  </a:moveTo>
                  <a:lnTo>
                    <a:pt x="543137" y="169138"/>
                  </a:lnTo>
                  <a:lnTo>
                    <a:pt x="510703" y="216591"/>
                  </a:lnTo>
                  <a:lnTo>
                    <a:pt x="485214" y="245453"/>
                  </a:lnTo>
                  <a:lnTo>
                    <a:pt x="442172" y="282648"/>
                  </a:lnTo>
                  <a:lnTo>
                    <a:pt x="409814" y="303966"/>
                  </a:lnTo>
                  <a:lnTo>
                    <a:pt x="375701" y="322563"/>
                  </a:lnTo>
                  <a:lnTo>
                    <a:pt x="339604" y="337474"/>
                  </a:lnTo>
                  <a:lnTo>
                    <a:pt x="301293" y="349500"/>
                  </a:lnTo>
                  <a:lnTo>
                    <a:pt x="262372" y="357839"/>
                  </a:lnTo>
                  <a:lnTo>
                    <a:pt x="221772" y="363445"/>
                  </a:lnTo>
                  <a:lnTo>
                    <a:pt x="180791" y="364890"/>
                  </a:lnTo>
                  <a:lnTo>
                    <a:pt x="160338" y="364411"/>
                  </a:lnTo>
                  <a:lnTo>
                    <a:pt x="118289" y="360724"/>
                  </a:lnTo>
                  <a:lnTo>
                    <a:pt x="76544" y="352707"/>
                  </a:lnTo>
                  <a:lnTo>
                    <a:pt x="35028" y="341647"/>
                  </a:lnTo>
                  <a:lnTo>
                    <a:pt x="13965" y="334109"/>
                  </a:lnTo>
                  <a:lnTo>
                    <a:pt x="0" y="328655"/>
                  </a:lnTo>
                </a:path>
              </a:pathLst>
            </a:custGeom>
            <a:ln w="84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40495" y="787524"/>
              <a:ext cx="274268" cy="16094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5753" y="398994"/>
              <a:ext cx="908685" cy="594360"/>
            </a:xfrm>
            <a:custGeom>
              <a:avLst/>
              <a:gdLst/>
              <a:ahLst/>
              <a:cxnLst/>
              <a:rect l="l" t="t" r="r" b="b"/>
              <a:pathLst>
                <a:path w="908685" h="594360">
                  <a:moveTo>
                    <a:pt x="36120" y="344992"/>
                  </a:moveTo>
                  <a:lnTo>
                    <a:pt x="729446" y="0"/>
                  </a:lnTo>
                </a:path>
                <a:path w="908685" h="594360">
                  <a:moveTo>
                    <a:pt x="36120" y="344992"/>
                  </a:moveTo>
                  <a:lnTo>
                    <a:pt x="14522" y="379302"/>
                  </a:lnTo>
                  <a:lnTo>
                    <a:pt x="2609" y="418738"/>
                  </a:lnTo>
                  <a:lnTo>
                    <a:pt x="0" y="446312"/>
                  </a:lnTo>
                  <a:lnTo>
                    <a:pt x="557" y="460263"/>
                  </a:lnTo>
                  <a:lnTo>
                    <a:pt x="8005" y="501145"/>
                  </a:lnTo>
                  <a:lnTo>
                    <a:pt x="24764" y="538339"/>
                  </a:lnTo>
                  <a:lnTo>
                    <a:pt x="51200" y="568477"/>
                  </a:lnTo>
                  <a:lnTo>
                    <a:pt x="92898" y="590761"/>
                  </a:lnTo>
                  <a:lnTo>
                    <a:pt x="115618" y="593968"/>
                  </a:lnTo>
                  <a:lnTo>
                    <a:pt x="126782" y="593645"/>
                  </a:lnTo>
                  <a:lnTo>
                    <a:pt x="169977" y="578741"/>
                  </a:lnTo>
                  <a:lnTo>
                    <a:pt x="199206" y="553566"/>
                  </a:lnTo>
                  <a:lnTo>
                    <a:pt x="207776" y="542026"/>
                  </a:lnTo>
                  <a:lnTo>
                    <a:pt x="215408" y="529363"/>
                  </a:lnTo>
                </a:path>
                <a:path w="908685" h="594360">
                  <a:moveTo>
                    <a:pt x="215408" y="529363"/>
                  </a:moveTo>
                  <a:lnTo>
                    <a:pt x="782867" y="247359"/>
                  </a:lnTo>
                </a:path>
                <a:path w="908685" h="594360">
                  <a:moveTo>
                    <a:pt x="785462" y="245913"/>
                  </a:moveTo>
                  <a:lnTo>
                    <a:pt x="908559" y="184508"/>
                  </a:lnTo>
                </a:path>
                <a:path w="908685" h="594360">
                  <a:moveTo>
                    <a:pt x="729446" y="0"/>
                  </a:moveTo>
                  <a:lnTo>
                    <a:pt x="707849" y="34434"/>
                  </a:lnTo>
                  <a:lnTo>
                    <a:pt x="695944" y="73890"/>
                  </a:lnTo>
                  <a:lnTo>
                    <a:pt x="693120" y="101306"/>
                  </a:lnTo>
                  <a:lnTo>
                    <a:pt x="693654" y="115251"/>
                  </a:lnTo>
                  <a:lnTo>
                    <a:pt x="700752" y="156133"/>
                  </a:lnTo>
                  <a:lnTo>
                    <a:pt x="718075" y="193327"/>
                  </a:lnTo>
                  <a:lnTo>
                    <a:pt x="746159" y="225068"/>
                  </a:lnTo>
                  <a:lnTo>
                    <a:pt x="769283" y="239341"/>
                  </a:lnTo>
                  <a:lnTo>
                    <a:pt x="777449" y="243186"/>
                  </a:lnTo>
                  <a:lnTo>
                    <a:pt x="785462" y="245913"/>
                  </a:lnTo>
                </a:path>
              </a:pathLst>
            </a:custGeom>
            <a:ln w="84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45042" y="579179"/>
              <a:ext cx="73594" cy="6757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78524" y="642660"/>
              <a:ext cx="671195" cy="333375"/>
            </a:xfrm>
            <a:custGeom>
              <a:avLst/>
              <a:gdLst/>
              <a:ahLst/>
              <a:cxnLst/>
              <a:rect l="l" t="t" r="r" b="b"/>
              <a:pathLst>
                <a:path w="671194" h="333375">
                  <a:moveTo>
                    <a:pt x="0" y="333150"/>
                  </a:moveTo>
                  <a:lnTo>
                    <a:pt x="670615" y="0"/>
                  </a:lnTo>
                </a:path>
              </a:pathLst>
            </a:custGeom>
            <a:ln w="81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4305" y="638574"/>
              <a:ext cx="381827" cy="1939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4548" y="538534"/>
              <a:ext cx="607695" cy="304800"/>
            </a:xfrm>
            <a:custGeom>
              <a:avLst/>
              <a:gdLst/>
              <a:ahLst/>
              <a:cxnLst/>
              <a:rect l="l" t="t" r="r" b="b"/>
              <a:pathLst>
                <a:path w="607694" h="304800">
                  <a:moveTo>
                    <a:pt x="36677" y="282963"/>
                  </a:moveTo>
                  <a:lnTo>
                    <a:pt x="34631" y="283449"/>
                  </a:lnTo>
                  <a:lnTo>
                    <a:pt x="1114" y="300279"/>
                  </a:lnTo>
                  <a:lnTo>
                    <a:pt x="0" y="301561"/>
                  </a:lnTo>
                  <a:lnTo>
                    <a:pt x="0" y="303486"/>
                  </a:lnTo>
                  <a:lnTo>
                    <a:pt x="2236" y="304452"/>
                  </a:lnTo>
                  <a:lnTo>
                    <a:pt x="3724" y="303966"/>
                  </a:lnTo>
                  <a:lnTo>
                    <a:pt x="37234" y="287616"/>
                  </a:lnTo>
                  <a:lnTo>
                    <a:pt x="38913" y="286334"/>
                  </a:lnTo>
                  <a:lnTo>
                    <a:pt x="38348" y="284409"/>
                  </a:lnTo>
                  <a:lnTo>
                    <a:pt x="36677" y="282963"/>
                  </a:lnTo>
                  <a:close/>
                </a:path>
                <a:path w="607694" h="304800">
                  <a:moveTo>
                    <a:pt x="60510" y="271424"/>
                  </a:moveTo>
                  <a:lnTo>
                    <a:pt x="58831" y="271424"/>
                  </a:lnTo>
                  <a:lnTo>
                    <a:pt x="57152" y="272863"/>
                  </a:lnTo>
                  <a:lnTo>
                    <a:pt x="57717" y="274630"/>
                  </a:lnTo>
                  <a:lnTo>
                    <a:pt x="59388" y="276070"/>
                  </a:lnTo>
                  <a:lnTo>
                    <a:pt x="61624" y="275590"/>
                  </a:lnTo>
                  <a:lnTo>
                    <a:pt x="62555" y="274151"/>
                  </a:lnTo>
                  <a:lnTo>
                    <a:pt x="62555" y="272383"/>
                  </a:lnTo>
                  <a:lnTo>
                    <a:pt x="60510" y="271424"/>
                  </a:lnTo>
                  <a:close/>
                </a:path>
                <a:path w="607694" h="304800">
                  <a:moveTo>
                    <a:pt x="118220" y="242568"/>
                  </a:moveTo>
                  <a:lnTo>
                    <a:pt x="115984" y="243048"/>
                  </a:lnTo>
                  <a:lnTo>
                    <a:pt x="82664" y="259720"/>
                  </a:lnTo>
                  <a:lnTo>
                    <a:pt x="80986" y="261165"/>
                  </a:lnTo>
                  <a:lnTo>
                    <a:pt x="81543" y="263084"/>
                  </a:lnTo>
                  <a:lnTo>
                    <a:pt x="83222" y="264050"/>
                  </a:lnTo>
                  <a:lnTo>
                    <a:pt x="85267" y="263564"/>
                  </a:lnTo>
                  <a:lnTo>
                    <a:pt x="118777" y="247214"/>
                  </a:lnTo>
                  <a:lnTo>
                    <a:pt x="119899" y="245768"/>
                  </a:lnTo>
                  <a:lnTo>
                    <a:pt x="119899" y="244007"/>
                  </a:lnTo>
                  <a:lnTo>
                    <a:pt x="118220" y="242568"/>
                  </a:lnTo>
                  <a:close/>
                </a:path>
                <a:path w="607694" h="304800">
                  <a:moveTo>
                    <a:pt x="142053" y="231022"/>
                  </a:moveTo>
                  <a:lnTo>
                    <a:pt x="139817" y="231022"/>
                  </a:lnTo>
                  <a:lnTo>
                    <a:pt x="138703" y="232303"/>
                  </a:lnTo>
                  <a:lnTo>
                    <a:pt x="138703" y="234229"/>
                  </a:lnTo>
                  <a:lnTo>
                    <a:pt x="140374" y="235674"/>
                  </a:lnTo>
                  <a:lnTo>
                    <a:pt x="142427" y="235188"/>
                  </a:lnTo>
                  <a:lnTo>
                    <a:pt x="144098" y="233749"/>
                  </a:lnTo>
                  <a:lnTo>
                    <a:pt x="143541" y="231823"/>
                  </a:lnTo>
                  <a:lnTo>
                    <a:pt x="142053" y="231022"/>
                  </a:lnTo>
                  <a:close/>
                </a:path>
                <a:path w="607694" h="304800">
                  <a:moveTo>
                    <a:pt x="199206" y="202166"/>
                  </a:moveTo>
                  <a:lnTo>
                    <a:pt x="196970" y="202646"/>
                  </a:lnTo>
                  <a:lnTo>
                    <a:pt x="163651" y="219318"/>
                  </a:lnTo>
                  <a:lnTo>
                    <a:pt x="162529" y="220764"/>
                  </a:lnTo>
                  <a:lnTo>
                    <a:pt x="162529" y="222525"/>
                  </a:lnTo>
                  <a:lnTo>
                    <a:pt x="164582" y="223484"/>
                  </a:lnTo>
                  <a:lnTo>
                    <a:pt x="166253" y="223484"/>
                  </a:lnTo>
                  <a:lnTo>
                    <a:pt x="199763" y="206812"/>
                  </a:lnTo>
                  <a:lnTo>
                    <a:pt x="201442" y="205373"/>
                  </a:lnTo>
                  <a:lnTo>
                    <a:pt x="200885" y="203605"/>
                  </a:lnTo>
                  <a:lnTo>
                    <a:pt x="199206" y="202166"/>
                  </a:lnTo>
                  <a:close/>
                </a:path>
                <a:path w="607694" h="304800">
                  <a:moveTo>
                    <a:pt x="223039" y="190462"/>
                  </a:moveTo>
                  <a:lnTo>
                    <a:pt x="221360" y="190462"/>
                  </a:lnTo>
                  <a:lnTo>
                    <a:pt x="219689" y="191901"/>
                  </a:lnTo>
                  <a:lnTo>
                    <a:pt x="220246" y="193827"/>
                  </a:lnTo>
                  <a:lnTo>
                    <a:pt x="221917" y="195108"/>
                  </a:lnTo>
                  <a:lnTo>
                    <a:pt x="223970" y="194786"/>
                  </a:lnTo>
                  <a:lnTo>
                    <a:pt x="225085" y="193347"/>
                  </a:lnTo>
                  <a:lnTo>
                    <a:pt x="225085" y="191422"/>
                  </a:lnTo>
                  <a:lnTo>
                    <a:pt x="223039" y="190462"/>
                  </a:lnTo>
                  <a:close/>
                </a:path>
                <a:path w="607694" h="304800">
                  <a:moveTo>
                    <a:pt x="280749" y="161764"/>
                  </a:moveTo>
                  <a:lnTo>
                    <a:pt x="278521" y="162244"/>
                  </a:lnTo>
                  <a:lnTo>
                    <a:pt x="245010" y="178916"/>
                  </a:lnTo>
                  <a:lnTo>
                    <a:pt x="243515" y="180362"/>
                  </a:lnTo>
                  <a:lnTo>
                    <a:pt x="244079" y="182123"/>
                  </a:lnTo>
                  <a:lnTo>
                    <a:pt x="245568" y="183089"/>
                  </a:lnTo>
                  <a:lnTo>
                    <a:pt x="247796" y="183089"/>
                  </a:lnTo>
                  <a:lnTo>
                    <a:pt x="281314" y="166410"/>
                  </a:lnTo>
                  <a:lnTo>
                    <a:pt x="282428" y="164971"/>
                  </a:lnTo>
                  <a:lnTo>
                    <a:pt x="282428" y="163046"/>
                  </a:lnTo>
                  <a:lnTo>
                    <a:pt x="280749" y="161764"/>
                  </a:lnTo>
                  <a:close/>
                </a:path>
                <a:path w="607694" h="304800">
                  <a:moveTo>
                    <a:pt x="304399" y="150060"/>
                  </a:moveTo>
                  <a:lnTo>
                    <a:pt x="302346" y="150060"/>
                  </a:lnTo>
                  <a:lnTo>
                    <a:pt x="301232" y="151500"/>
                  </a:lnTo>
                  <a:lnTo>
                    <a:pt x="301232" y="153425"/>
                  </a:lnTo>
                  <a:lnTo>
                    <a:pt x="302911" y="154707"/>
                  </a:lnTo>
                  <a:lnTo>
                    <a:pt x="304956" y="154227"/>
                  </a:lnTo>
                  <a:lnTo>
                    <a:pt x="306628" y="152945"/>
                  </a:lnTo>
                  <a:lnTo>
                    <a:pt x="306071" y="151020"/>
                  </a:lnTo>
                  <a:lnTo>
                    <a:pt x="304399" y="150060"/>
                  </a:lnTo>
                  <a:close/>
                </a:path>
                <a:path w="607694" h="304800">
                  <a:moveTo>
                    <a:pt x="361743" y="121205"/>
                  </a:moveTo>
                  <a:lnTo>
                    <a:pt x="359507" y="121685"/>
                  </a:lnTo>
                  <a:lnTo>
                    <a:pt x="325997" y="138514"/>
                  </a:lnTo>
                  <a:lnTo>
                    <a:pt x="325065" y="139802"/>
                  </a:lnTo>
                  <a:lnTo>
                    <a:pt x="325065" y="141721"/>
                  </a:lnTo>
                  <a:lnTo>
                    <a:pt x="327111" y="142687"/>
                  </a:lnTo>
                  <a:lnTo>
                    <a:pt x="328790" y="142687"/>
                  </a:lnTo>
                  <a:lnTo>
                    <a:pt x="362300" y="125851"/>
                  </a:lnTo>
                  <a:lnTo>
                    <a:pt x="363788" y="124569"/>
                  </a:lnTo>
                  <a:lnTo>
                    <a:pt x="363414" y="122644"/>
                  </a:lnTo>
                  <a:lnTo>
                    <a:pt x="361743" y="121205"/>
                  </a:lnTo>
                  <a:close/>
                </a:path>
                <a:path w="607694" h="304800">
                  <a:moveTo>
                    <a:pt x="385385" y="109659"/>
                  </a:moveTo>
                  <a:lnTo>
                    <a:pt x="383332" y="109659"/>
                  </a:lnTo>
                  <a:lnTo>
                    <a:pt x="382218" y="111104"/>
                  </a:lnTo>
                  <a:lnTo>
                    <a:pt x="382775" y="112866"/>
                  </a:lnTo>
                  <a:lnTo>
                    <a:pt x="384454" y="114311"/>
                  </a:lnTo>
                  <a:lnTo>
                    <a:pt x="386499" y="113825"/>
                  </a:lnTo>
                  <a:lnTo>
                    <a:pt x="387621" y="112386"/>
                  </a:lnTo>
                  <a:lnTo>
                    <a:pt x="387057" y="110618"/>
                  </a:lnTo>
                  <a:lnTo>
                    <a:pt x="385385" y="109659"/>
                  </a:lnTo>
                  <a:close/>
                </a:path>
                <a:path w="607694" h="304800">
                  <a:moveTo>
                    <a:pt x="443286" y="80803"/>
                  </a:moveTo>
                  <a:lnTo>
                    <a:pt x="441050" y="81283"/>
                  </a:lnTo>
                  <a:lnTo>
                    <a:pt x="407540" y="98119"/>
                  </a:lnTo>
                  <a:lnTo>
                    <a:pt x="406052" y="99401"/>
                  </a:lnTo>
                  <a:lnTo>
                    <a:pt x="406609" y="101319"/>
                  </a:lnTo>
                  <a:lnTo>
                    <a:pt x="408097" y="102285"/>
                  </a:lnTo>
                  <a:lnTo>
                    <a:pt x="410333" y="102285"/>
                  </a:lnTo>
                  <a:lnTo>
                    <a:pt x="443843" y="85449"/>
                  </a:lnTo>
                  <a:lnTo>
                    <a:pt x="444774" y="84168"/>
                  </a:lnTo>
                  <a:lnTo>
                    <a:pt x="444774" y="82242"/>
                  </a:lnTo>
                  <a:lnTo>
                    <a:pt x="443286" y="80803"/>
                  </a:lnTo>
                  <a:close/>
                </a:path>
                <a:path w="607694" h="304800">
                  <a:moveTo>
                    <a:pt x="466928" y="69257"/>
                  </a:moveTo>
                  <a:lnTo>
                    <a:pt x="464883" y="69257"/>
                  </a:lnTo>
                  <a:lnTo>
                    <a:pt x="463761" y="70538"/>
                  </a:lnTo>
                  <a:lnTo>
                    <a:pt x="463761" y="72464"/>
                  </a:lnTo>
                  <a:lnTo>
                    <a:pt x="465440" y="73910"/>
                  </a:lnTo>
                  <a:lnTo>
                    <a:pt x="467486" y="73430"/>
                  </a:lnTo>
                  <a:lnTo>
                    <a:pt x="469164" y="71984"/>
                  </a:lnTo>
                  <a:lnTo>
                    <a:pt x="468607" y="70223"/>
                  </a:lnTo>
                  <a:lnTo>
                    <a:pt x="466928" y="69257"/>
                  </a:lnTo>
                  <a:close/>
                </a:path>
                <a:path w="607694" h="304800">
                  <a:moveTo>
                    <a:pt x="524272" y="40401"/>
                  </a:moveTo>
                  <a:lnTo>
                    <a:pt x="522036" y="40881"/>
                  </a:lnTo>
                  <a:lnTo>
                    <a:pt x="488526" y="57553"/>
                  </a:lnTo>
                  <a:lnTo>
                    <a:pt x="487411" y="58999"/>
                  </a:lnTo>
                  <a:lnTo>
                    <a:pt x="487411" y="60924"/>
                  </a:lnTo>
                  <a:lnTo>
                    <a:pt x="489083" y="61726"/>
                  </a:lnTo>
                  <a:lnTo>
                    <a:pt x="491319" y="61726"/>
                  </a:lnTo>
                  <a:lnTo>
                    <a:pt x="524829" y="45047"/>
                  </a:lnTo>
                  <a:lnTo>
                    <a:pt x="526317" y="43608"/>
                  </a:lnTo>
                  <a:lnTo>
                    <a:pt x="525760" y="41840"/>
                  </a:lnTo>
                  <a:lnTo>
                    <a:pt x="524272" y="40401"/>
                  </a:lnTo>
                  <a:close/>
                </a:path>
                <a:path w="607694" h="304800">
                  <a:moveTo>
                    <a:pt x="547914" y="28855"/>
                  </a:moveTo>
                  <a:lnTo>
                    <a:pt x="545854" y="28855"/>
                  </a:lnTo>
                  <a:lnTo>
                    <a:pt x="544786" y="30143"/>
                  </a:lnTo>
                  <a:lnTo>
                    <a:pt x="545320" y="32062"/>
                  </a:lnTo>
                  <a:lnTo>
                    <a:pt x="546770" y="33508"/>
                  </a:lnTo>
                  <a:lnTo>
                    <a:pt x="549059" y="33028"/>
                  </a:lnTo>
                  <a:lnTo>
                    <a:pt x="550128" y="31582"/>
                  </a:lnTo>
                  <a:lnTo>
                    <a:pt x="549593" y="29657"/>
                  </a:lnTo>
                  <a:lnTo>
                    <a:pt x="547914" y="28855"/>
                  </a:lnTo>
                  <a:close/>
                </a:path>
                <a:path w="607694" h="304800">
                  <a:moveTo>
                    <a:pt x="605838" y="0"/>
                  </a:moveTo>
                  <a:lnTo>
                    <a:pt x="603548" y="479"/>
                  </a:lnTo>
                  <a:lnTo>
                    <a:pt x="570046" y="17151"/>
                  </a:lnTo>
                  <a:lnTo>
                    <a:pt x="568367" y="18597"/>
                  </a:lnTo>
                  <a:lnTo>
                    <a:pt x="568978" y="20358"/>
                  </a:lnTo>
                  <a:lnTo>
                    <a:pt x="570656" y="21324"/>
                  </a:lnTo>
                  <a:lnTo>
                    <a:pt x="572870" y="21324"/>
                  </a:lnTo>
                  <a:lnTo>
                    <a:pt x="606220" y="4652"/>
                  </a:lnTo>
                  <a:lnTo>
                    <a:pt x="607288" y="3206"/>
                  </a:lnTo>
                  <a:lnTo>
                    <a:pt x="607288" y="1281"/>
                  </a:lnTo>
                  <a:lnTo>
                    <a:pt x="6058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4548" y="538534"/>
              <a:ext cx="607695" cy="304800"/>
            </a:xfrm>
            <a:custGeom>
              <a:avLst/>
              <a:gdLst/>
              <a:ahLst/>
              <a:cxnLst/>
              <a:rect l="l" t="t" r="r" b="b"/>
              <a:pathLst>
                <a:path w="607694" h="304800">
                  <a:moveTo>
                    <a:pt x="1114" y="300279"/>
                  </a:moveTo>
                  <a:lnTo>
                    <a:pt x="34631" y="283449"/>
                  </a:lnTo>
                  <a:lnTo>
                    <a:pt x="36677" y="282963"/>
                  </a:lnTo>
                  <a:lnTo>
                    <a:pt x="38348" y="284409"/>
                  </a:lnTo>
                  <a:lnTo>
                    <a:pt x="38913" y="286334"/>
                  </a:lnTo>
                  <a:lnTo>
                    <a:pt x="37234" y="287616"/>
                  </a:lnTo>
                  <a:lnTo>
                    <a:pt x="3724" y="303966"/>
                  </a:lnTo>
                  <a:lnTo>
                    <a:pt x="2236" y="304452"/>
                  </a:lnTo>
                  <a:lnTo>
                    <a:pt x="0" y="303486"/>
                  </a:lnTo>
                  <a:lnTo>
                    <a:pt x="0" y="301561"/>
                  </a:lnTo>
                  <a:lnTo>
                    <a:pt x="1114" y="300279"/>
                  </a:lnTo>
                  <a:close/>
                </a:path>
                <a:path w="607694" h="304800">
                  <a:moveTo>
                    <a:pt x="58831" y="271424"/>
                  </a:moveTo>
                  <a:lnTo>
                    <a:pt x="60510" y="271424"/>
                  </a:lnTo>
                  <a:lnTo>
                    <a:pt x="62555" y="272383"/>
                  </a:lnTo>
                  <a:lnTo>
                    <a:pt x="62555" y="274151"/>
                  </a:lnTo>
                  <a:lnTo>
                    <a:pt x="61624" y="275590"/>
                  </a:lnTo>
                  <a:lnTo>
                    <a:pt x="59388" y="276070"/>
                  </a:lnTo>
                  <a:lnTo>
                    <a:pt x="57717" y="274630"/>
                  </a:lnTo>
                  <a:lnTo>
                    <a:pt x="57152" y="272863"/>
                  </a:lnTo>
                  <a:lnTo>
                    <a:pt x="58831" y="271424"/>
                  </a:lnTo>
                  <a:close/>
                </a:path>
                <a:path w="607694" h="304800">
                  <a:moveTo>
                    <a:pt x="82664" y="259720"/>
                  </a:moveTo>
                  <a:lnTo>
                    <a:pt x="115984" y="243048"/>
                  </a:lnTo>
                  <a:lnTo>
                    <a:pt x="118220" y="242568"/>
                  </a:lnTo>
                  <a:lnTo>
                    <a:pt x="119899" y="244007"/>
                  </a:lnTo>
                  <a:lnTo>
                    <a:pt x="119899" y="245768"/>
                  </a:lnTo>
                  <a:lnTo>
                    <a:pt x="118777" y="247214"/>
                  </a:lnTo>
                  <a:lnTo>
                    <a:pt x="85267" y="263564"/>
                  </a:lnTo>
                  <a:lnTo>
                    <a:pt x="83222" y="264050"/>
                  </a:lnTo>
                  <a:lnTo>
                    <a:pt x="81543" y="263084"/>
                  </a:lnTo>
                  <a:lnTo>
                    <a:pt x="80986" y="261165"/>
                  </a:lnTo>
                  <a:lnTo>
                    <a:pt x="82664" y="259720"/>
                  </a:lnTo>
                  <a:close/>
                </a:path>
                <a:path w="607694" h="304800">
                  <a:moveTo>
                    <a:pt x="139817" y="231022"/>
                  </a:moveTo>
                  <a:lnTo>
                    <a:pt x="142053" y="231022"/>
                  </a:lnTo>
                  <a:lnTo>
                    <a:pt x="143541" y="231823"/>
                  </a:lnTo>
                  <a:lnTo>
                    <a:pt x="144098" y="233749"/>
                  </a:lnTo>
                  <a:lnTo>
                    <a:pt x="142427" y="235188"/>
                  </a:lnTo>
                  <a:lnTo>
                    <a:pt x="140374" y="235674"/>
                  </a:lnTo>
                  <a:lnTo>
                    <a:pt x="138703" y="234229"/>
                  </a:lnTo>
                  <a:lnTo>
                    <a:pt x="138703" y="232303"/>
                  </a:lnTo>
                  <a:lnTo>
                    <a:pt x="139817" y="231022"/>
                  </a:lnTo>
                  <a:close/>
                </a:path>
                <a:path w="607694" h="304800">
                  <a:moveTo>
                    <a:pt x="163651" y="219318"/>
                  </a:moveTo>
                  <a:lnTo>
                    <a:pt x="196970" y="202646"/>
                  </a:lnTo>
                  <a:lnTo>
                    <a:pt x="199206" y="202166"/>
                  </a:lnTo>
                  <a:lnTo>
                    <a:pt x="200885" y="203605"/>
                  </a:lnTo>
                  <a:lnTo>
                    <a:pt x="201442" y="205373"/>
                  </a:lnTo>
                  <a:lnTo>
                    <a:pt x="199763" y="206812"/>
                  </a:lnTo>
                  <a:lnTo>
                    <a:pt x="166253" y="223484"/>
                  </a:lnTo>
                  <a:lnTo>
                    <a:pt x="164582" y="223484"/>
                  </a:lnTo>
                  <a:lnTo>
                    <a:pt x="162529" y="222525"/>
                  </a:lnTo>
                  <a:lnTo>
                    <a:pt x="162529" y="220764"/>
                  </a:lnTo>
                  <a:lnTo>
                    <a:pt x="163651" y="219318"/>
                  </a:lnTo>
                  <a:close/>
                </a:path>
                <a:path w="607694" h="304800">
                  <a:moveTo>
                    <a:pt x="221360" y="190462"/>
                  </a:moveTo>
                  <a:lnTo>
                    <a:pt x="223039" y="190462"/>
                  </a:lnTo>
                  <a:lnTo>
                    <a:pt x="225085" y="191422"/>
                  </a:lnTo>
                  <a:lnTo>
                    <a:pt x="225085" y="193347"/>
                  </a:lnTo>
                  <a:lnTo>
                    <a:pt x="223970" y="194786"/>
                  </a:lnTo>
                  <a:lnTo>
                    <a:pt x="221917" y="195108"/>
                  </a:lnTo>
                  <a:lnTo>
                    <a:pt x="220246" y="193827"/>
                  </a:lnTo>
                  <a:lnTo>
                    <a:pt x="219689" y="191901"/>
                  </a:lnTo>
                  <a:lnTo>
                    <a:pt x="221360" y="190462"/>
                  </a:lnTo>
                  <a:close/>
                </a:path>
                <a:path w="607694" h="304800">
                  <a:moveTo>
                    <a:pt x="245010" y="178916"/>
                  </a:moveTo>
                  <a:lnTo>
                    <a:pt x="278521" y="162244"/>
                  </a:lnTo>
                  <a:lnTo>
                    <a:pt x="280749" y="161764"/>
                  </a:lnTo>
                  <a:lnTo>
                    <a:pt x="282428" y="163046"/>
                  </a:lnTo>
                  <a:lnTo>
                    <a:pt x="282428" y="164971"/>
                  </a:lnTo>
                  <a:lnTo>
                    <a:pt x="281314" y="166410"/>
                  </a:lnTo>
                  <a:lnTo>
                    <a:pt x="247796" y="183089"/>
                  </a:lnTo>
                  <a:lnTo>
                    <a:pt x="245568" y="183089"/>
                  </a:lnTo>
                  <a:lnTo>
                    <a:pt x="244079" y="182123"/>
                  </a:lnTo>
                  <a:lnTo>
                    <a:pt x="243515" y="180362"/>
                  </a:lnTo>
                  <a:lnTo>
                    <a:pt x="245010" y="178916"/>
                  </a:lnTo>
                  <a:close/>
                </a:path>
                <a:path w="607694" h="304800">
                  <a:moveTo>
                    <a:pt x="302346" y="150060"/>
                  </a:moveTo>
                  <a:lnTo>
                    <a:pt x="304399" y="150060"/>
                  </a:lnTo>
                  <a:lnTo>
                    <a:pt x="306071" y="151020"/>
                  </a:lnTo>
                  <a:lnTo>
                    <a:pt x="306628" y="152945"/>
                  </a:lnTo>
                  <a:lnTo>
                    <a:pt x="304956" y="154227"/>
                  </a:lnTo>
                  <a:lnTo>
                    <a:pt x="302911" y="154707"/>
                  </a:lnTo>
                  <a:lnTo>
                    <a:pt x="301232" y="153425"/>
                  </a:lnTo>
                  <a:lnTo>
                    <a:pt x="301232" y="151500"/>
                  </a:lnTo>
                  <a:lnTo>
                    <a:pt x="302346" y="150060"/>
                  </a:lnTo>
                  <a:close/>
                </a:path>
                <a:path w="607694" h="304800">
                  <a:moveTo>
                    <a:pt x="325997" y="138514"/>
                  </a:moveTo>
                  <a:lnTo>
                    <a:pt x="359507" y="121685"/>
                  </a:lnTo>
                  <a:lnTo>
                    <a:pt x="361743" y="121205"/>
                  </a:lnTo>
                  <a:lnTo>
                    <a:pt x="363414" y="122644"/>
                  </a:lnTo>
                  <a:lnTo>
                    <a:pt x="363788" y="124569"/>
                  </a:lnTo>
                  <a:lnTo>
                    <a:pt x="362300" y="125851"/>
                  </a:lnTo>
                  <a:lnTo>
                    <a:pt x="328790" y="142687"/>
                  </a:lnTo>
                  <a:lnTo>
                    <a:pt x="327111" y="142687"/>
                  </a:lnTo>
                  <a:lnTo>
                    <a:pt x="325065" y="141721"/>
                  </a:lnTo>
                  <a:lnTo>
                    <a:pt x="325065" y="139802"/>
                  </a:lnTo>
                  <a:lnTo>
                    <a:pt x="325997" y="138514"/>
                  </a:lnTo>
                  <a:close/>
                </a:path>
                <a:path w="607694" h="304800">
                  <a:moveTo>
                    <a:pt x="383332" y="109659"/>
                  </a:moveTo>
                  <a:lnTo>
                    <a:pt x="385385" y="109659"/>
                  </a:lnTo>
                  <a:lnTo>
                    <a:pt x="387057" y="110618"/>
                  </a:lnTo>
                  <a:lnTo>
                    <a:pt x="387621" y="112386"/>
                  </a:lnTo>
                  <a:lnTo>
                    <a:pt x="386499" y="113825"/>
                  </a:lnTo>
                  <a:lnTo>
                    <a:pt x="384454" y="114311"/>
                  </a:lnTo>
                  <a:lnTo>
                    <a:pt x="382775" y="112866"/>
                  </a:lnTo>
                  <a:lnTo>
                    <a:pt x="382218" y="111104"/>
                  </a:lnTo>
                  <a:lnTo>
                    <a:pt x="383332" y="109659"/>
                  </a:lnTo>
                  <a:close/>
                </a:path>
                <a:path w="607694" h="304800">
                  <a:moveTo>
                    <a:pt x="407540" y="98119"/>
                  </a:moveTo>
                  <a:lnTo>
                    <a:pt x="441050" y="81283"/>
                  </a:lnTo>
                  <a:lnTo>
                    <a:pt x="443286" y="80803"/>
                  </a:lnTo>
                  <a:lnTo>
                    <a:pt x="444774" y="82242"/>
                  </a:lnTo>
                  <a:lnTo>
                    <a:pt x="444774" y="84168"/>
                  </a:lnTo>
                  <a:lnTo>
                    <a:pt x="443843" y="85449"/>
                  </a:lnTo>
                  <a:lnTo>
                    <a:pt x="410333" y="102285"/>
                  </a:lnTo>
                  <a:lnTo>
                    <a:pt x="408097" y="102285"/>
                  </a:lnTo>
                  <a:lnTo>
                    <a:pt x="406609" y="101319"/>
                  </a:lnTo>
                  <a:lnTo>
                    <a:pt x="406052" y="99401"/>
                  </a:lnTo>
                  <a:lnTo>
                    <a:pt x="407540" y="98119"/>
                  </a:lnTo>
                  <a:close/>
                </a:path>
                <a:path w="607694" h="304800">
                  <a:moveTo>
                    <a:pt x="464883" y="69257"/>
                  </a:moveTo>
                  <a:lnTo>
                    <a:pt x="466928" y="69257"/>
                  </a:lnTo>
                  <a:lnTo>
                    <a:pt x="468607" y="70223"/>
                  </a:lnTo>
                  <a:lnTo>
                    <a:pt x="469164" y="71984"/>
                  </a:lnTo>
                  <a:lnTo>
                    <a:pt x="467486" y="73430"/>
                  </a:lnTo>
                  <a:lnTo>
                    <a:pt x="465440" y="73910"/>
                  </a:lnTo>
                  <a:lnTo>
                    <a:pt x="463761" y="72464"/>
                  </a:lnTo>
                  <a:lnTo>
                    <a:pt x="463761" y="70538"/>
                  </a:lnTo>
                  <a:lnTo>
                    <a:pt x="464883" y="69257"/>
                  </a:lnTo>
                  <a:close/>
                </a:path>
                <a:path w="607694" h="304800">
                  <a:moveTo>
                    <a:pt x="488526" y="57553"/>
                  </a:moveTo>
                  <a:lnTo>
                    <a:pt x="522036" y="40881"/>
                  </a:lnTo>
                  <a:lnTo>
                    <a:pt x="524272" y="40401"/>
                  </a:lnTo>
                  <a:lnTo>
                    <a:pt x="525760" y="41840"/>
                  </a:lnTo>
                  <a:lnTo>
                    <a:pt x="526317" y="43608"/>
                  </a:lnTo>
                  <a:lnTo>
                    <a:pt x="524829" y="45047"/>
                  </a:lnTo>
                  <a:lnTo>
                    <a:pt x="491319" y="61726"/>
                  </a:lnTo>
                  <a:lnTo>
                    <a:pt x="489083" y="61726"/>
                  </a:lnTo>
                  <a:lnTo>
                    <a:pt x="487411" y="60924"/>
                  </a:lnTo>
                  <a:lnTo>
                    <a:pt x="487411" y="58999"/>
                  </a:lnTo>
                  <a:lnTo>
                    <a:pt x="488526" y="57553"/>
                  </a:lnTo>
                  <a:close/>
                </a:path>
                <a:path w="607694" h="304800">
                  <a:moveTo>
                    <a:pt x="545854" y="28855"/>
                  </a:moveTo>
                  <a:lnTo>
                    <a:pt x="547914" y="28855"/>
                  </a:lnTo>
                  <a:lnTo>
                    <a:pt x="549593" y="29657"/>
                  </a:lnTo>
                  <a:lnTo>
                    <a:pt x="550128" y="31582"/>
                  </a:lnTo>
                  <a:lnTo>
                    <a:pt x="549059" y="33028"/>
                  </a:lnTo>
                  <a:lnTo>
                    <a:pt x="546770" y="33508"/>
                  </a:lnTo>
                  <a:lnTo>
                    <a:pt x="545320" y="32062"/>
                  </a:lnTo>
                  <a:lnTo>
                    <a:pt x="544786" y="30143"/>
                  </a:lnTo>
                  <a:lnTo>
                    <a:pt x="545854" y="28855"/>
                  </a:lnTo>
                  <a:close/>
                </a:path>
                <a:path w="607694" h="304800">
                  <a:moveTo>
                    <a:pt x="570046" y="17151"/>
                  </a:moveTo>
                  <a:lnTo>
                    <a:pt x="603548" y="479"/>
                  </a:lnTo>
                  <a:lnTo>
                    <a:pt x="605838" y="0"/>
                  </a:lnTo>
                  <a:lnTo>
                    <a:pt x="607288" y="1281"/>
                  </a:lnTo>
                  <a:lnTo>
                    <a:pt x="607288" y="3206"/>
                  </a:lnTo>
                  <a:lnTo>
                    <a:pt x="606220" y="4652"/>
                  </a:lnTo>
                  <a:lnTo>
                    <a:pt x="572870" y="21324"/>
                  </a:lnTo>
                  <a:lnTo>
                    <a:pt x="570656" y="21324"/>
                  </a:lnTo>
                  <a:lnTo>
                    <a:pt x="568978" y="20358"/>
                  </a:lnTo>
                  <a:lnTo>
                    <a:pt x="568367" y="18597"/>
                  </a:lnTo>
                  <a:lnTo>
                    <a:pt x="570046" y="1715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1371" y="511518"/>
              <a:ext cx="655955" cy="347980"/>
            </a:xfrm>
            <a:custGeom>
              <a:avLst/>
              <a:gdLst/>
              <a:ahLst/>
              <a:cxnLst/>
              <a:rect l="l" t="t" r="r" b="b"/>
              <a:pathLst>
                <a:path w="655955" h="347980">
                  <a:moveTo>
                    <a:pt x="38165" y="317917"/>
                  </a:moveTo>
                  <a:lnTo>
                    <a:pt x="15637" y="304452"/>
                  </a:lnTo>
                  <a:lnTo>
                    <a:pt x="11729" y="304932"/>
                  </a:lnTo>
                  <a:lnTo>
                    <a:pt x="0" y="317917"/>
                  </a:lnTo>
                  <a:lnTo>
                    <a:pt x="0" y="322083"/>
                  </a:lnTo>
                  <a:lnTo>
                    <a:pt x="26992" y="347739"/>
                  </a:lnTo>
                  <a:lnTo>
                    <a:pt x="31274" y="347259"/>
                  </a:lnTo>
                  <a:lnTo>
                    <a:pt x="43186" y="334109"/>
                  </a:lnTo>
                  <a:lnTo>
                    <a:pt x="43186" y="330423"/>
                  </a:lnTo>
                  <a:lnTo>
                    <a:pt x="42072" y="326256"/>
                  </a:lnTo>
                  <a:lnTo>
                    <a:pt x="40958" y="322083"/>
                  </a:lnTo>
                  <a:lnTo>
                    <a:pt x="38165" y="317917"/>
                  </a:lnTo>
                </a:path>
                <a:path w="655955" h="347980">
                  <a:moveTo>
                    <a:pt x="36112" y="345813"/>
                  </a:moveTo>
                  <a:lnTo>
                    <a:pt x="647178" y="41361"/>
                  </a:lnTo>
                </a:path>
                <a:path w="655955" h="347980">
                  <a:moveTo>
                    <a:pt x="618636" y="2727"/>
                  </a:moveTo>
                  <a:lnTo>
                    <a:pt x="620697" y="1445"/>
                  </a:lnTo>
                </a:path>
                <a:path w="655955" h="347980">
                  <a:moveTo>
                    <a:pt x="9119" y="305891"/>
                  </a:moveTo>
                  <a:lnTo>
                    <a:pt x="618636" y="2727"/>
                  </a:lnTo>
                </a:path>
                <a:path w="655955" h="347980">
                  <a:moveTo>
                    <a:pt x="647178" y="41361"/>
                  </a:moveTo>
                  <a:lnTo>
                    <a:pt x="650460" y="38962"/>
                  </a:lnTo>
                  <a:lnTo>
                    <a:pt x="652520" y="36235"/>
                  </a:lnTo>
                  <a:lnTo>
                    <a:pt x="654199" y="33028"/>
                  </a:lnTo>
                  <a:lnTo>
                    <a:pt x="655344" y="29341"/>
                  </a:lnTo>
                  <a:lnTo>
                    <a:pt x="655344" y="25011"/>
                  </a:lnTo>
                  <a:lnTo>
                    <a:pt x="628328" y="0"/>
                  </a:lnTo>
                  <a:lnTo>
                    <a:pt x="624054" y="479"/>
                  </a:lnTo>
                  <a:lnTo>
                    <a:pt x="620697" y="1445"/>
                  </a:lnTo>
                </a:path>
                <a:path w="655955" h="347980">
                  <a:moveTo>
                    <a:pt x="620697" y="1445"/>
                  </a:moveTo>
                  <a:lnTo>
                    <a:pt x="618636" y="2727"/>
                  </a:lnTo>
                </a:path>
              </a:pathLst>
            </a:custGeom>
            <a:ln w="84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85370" y="366925"/>
              <a:ext cx="374650" cy="294640"/>
            </a:xfrm>
            <a:custGeom>
              <a:avLst/>
              <a:gdLst/>
              <a:ahLst/>
              <a:cxnLst/>
              <a:rect l="l" t="t" r="r" b="b"/>
              <a:pathLst>
                <a:path w="374650" h="294640">
                  <a:moveTo>
                    <a:pt x="100904" y="294174"/>
                  </a:moveTo>
                  <a:lnTo>
                    <a:pt x="0" y="172009"/>
                  </a:lnTo>
                </a:path>
                <a:path w="374650" h="294640">
                  <a:moveTo>
                    <a:pt x="77635" y="290967"/>
                  </a:moveTo>
                  <a:lnTo>
                    <a:pt x="100904" y="294174"/>
                  </a:lnTo>
                  <a:lnTo>
                    <a:pt x="104628" y="274295"/>
                  </a:lnTo>
                </a:path>
                <a:path w="374650" h="294640">
                  <a:moveTo>
                    <a:pt x="223406" y="86560"/>
                  </a:moveTo>
                  <a:lnTo>
                    <a:pt x="152104" y="0"/>
                  </a:lnTo>
                </a:path>
                <a:path w="374650" h="294640">
                  <a:moveTo>
                    <a:pt x="200137" y="83189"/>
                  </a:moveTo>
                  <a:lnTo>
                    <a:pt x="223406" y="86560"/>
                  </a:lnTo>
                  <a:lnTo>
                    <a:pt x="227130" y="66503"/>
                  </a:lnTo>
                </a:path>
                <a:path w="374650" h="294640">
                  <a:moveTo>
                    <a:pt x="356698" y="138981"/>
                  </a:moveTo>
                  <a:lnTo>
                    <a:pt x="363261" y="11237"/>
                  </a:lnTo>
                </a:path>
                <a:path w="374650" h="294640">
                  <a:moveTo>
                    <a:pt x="341054" y="124077"/>
                  </a:moveTo>
                  <a:lnTo>
                    <a:pt x="356698" y="138981"/>
                  </a:lnTo>
                  <a:lnTo>
                    <a:pt x="374022" y="125036"/>
                  </a:lnTo>
                </a:path>
              </a:pathLst>
            </a:custGeom>
            <a:ln w="50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24865" y="302080"/>
            <a:ext cx="854710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78435">
              <a:lnSpc>
                <a:spcPct val="100000"/>
              </a:lnSpc>
              <a:spcBef>
                <a:spcPts val="115"/>
              </a:spcBef>
              <a:tabLst>
                <a:tab pos="612775" algn="l"/>
              </a:tabLst>
            </a:pPr>
            <a:r>
              <a:rPr sz="400" spc="5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400" spc="3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400" spc="25" dirty="0">
                <a:latin typeface="Times New Roman" panose="02020603050405020304"/>
                <a:cs typeface="Times New Roman" panose="02020603050405020304"/>
              </a:rPr>
              <a:t>fl</a:t>
            </a:r>
            <a:r>
              <a:rPr sz="400" spc="30" dirty="0">
                <a:latin typeface="Times New Roman" panose="02020603050405020304"/>
                <a:cs typeface="Times New Roman" panose="02020603050405020304"/>
              </a:rPr>
              <a:t>ector</a:t>
            </a:r>
            <a:r>
              <a:rPr sz="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00" spc="6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400" spc="3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400" spc="3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00" spc="35" dirty="0">
                <a:latin typeface="Times New Roman" panose="02020603050405020304"/>
                <a:cs typeface="Times New Roman" panose="02020603050405020304"/>
              </a:rPr>
              <a:t>orb</a:t>
            </a:r>
            <a:r>
              <a:rPr sz="400" spc="3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400" spc="25" dirty="0">
                <a:latin typeface="Times New Roman" panose="02020603050405020304"/>
                <a:cs typeface="Times New Roman" panose="02020603050405020304"/>
              </a:rPr>
              <a:t>r</a:t>
            </a:r>
            <a:endParaRPr sz="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400" spc="30" dirty="0">
                <a:latin typeface="Times New Roman" panose="02020603050405020304"/>
                <a:cs typeface="Times New Roman" panose="02020603050405020304"/>
              </a:rPr>
              <a:t>Focal</a:t>
            </a:r>
            <a:r>
              <a:rPr sz="4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" spc="30" dirty="0">
                <a:latin typeface="Times New Roman" panose="02020603050405020304"/>
                <a:cs typeface="Times New Roman" panose="02020603050405020304"/>
              </a:rPr>
              <a:t>line</a:t>
            </a:r>
            <a:endParaRPr sz="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1788" y="980536"/>
            <a:ext cx="2543810" cy="95123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543560">
              <a:lnSpc>
                <a:spcPct val="100000"/>
              </a:lnSpc>
              <a:spcBef>
                <a:spcPts val="310"/>
              </a:spcBef>
              <a:tabLst>
                <a:tab pos="1532255" algn="l"/>
              </a:tabLst>
            </a:pPr>
            <a:r>
              <a:rPr sz="400" b="1" i="1" spc="35" dirty="0">
                <a:latin typeface="Times New Roman" panose="02020603050405020304"/>
                <a:cs typeface="Times New Roman" panose="02020603050405020304"/>
              </a:rPr>
              <a:t>Parabolic</a:t>
            </a:r>
            <a:r>
              <a:rPr sz="400" b="1" i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" b="1" i="1" spc="35" dirty="0">
                <a:latin typeface="Times New Roman" panose="02020603050405020304"/>
                <a:cs typeface="Times New Roman" panose="02020603050405020304"/>
              </a:rPr>
              <a:t>trough</a:t>
            </a:r>
            <a:r>
              <a:rPr sz="400" b="1" i="1" spc="30" dirty="0">
                <a:latin typeface="Times New Roman" panose="02020603050405020304"/>
                <a:cs typeface="Times New Roman" panose="02020603050405020304"/>
              </a:rPr>
              <a:t> collector	</a:t>
            </a:r>
            <a:r>
              <a:rPr sz="400" b="1" i="1" spc="35" dirty="0">
                <a:latin typeface="Times New Roman" panose="02020603050405020304"/>
                <a:cs typeface="Times New Roman" panose="02020603050405020304"/>
              </a:rPr>
              <a:t>Parabolic dish</a:t>
            </a:r>
            <a:r>
              <a:rPr sz="400" b="1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" b="1" i="1" spc="30" dirty="0">
                <a:latin typeface="Times New Roman" panose="02020603050405020304"/>
                <a:cs typeface="Times New Roman" panose="02020603050405020304"/>
              </a:rPr>
              <a:t>collector</a:t>
            </a:r>
            <a:endParaRPr sz="400">
              <a:latin typeface="Times New Roman" panose="02020603050405020304"/>
              <a:cs typeface="Times New Roman" panose="02020603050405020304"/>
            </a:endParaRPr>
          </a:p>
          <a:p>
            <a:pPr marL="79375" marR="5080" indent="-67310" algn="just">
              <a:lnSpc>
                <a:spcPct val="106000"/>
              </a:lnSpc>
              <a:spcBef>
                <a:spcPts val="275"/>
              </a:spcBef>
              <a:buSzPct val="82000"/>
              <a:buFont typeface="Wingdings" panose="05000000000000000000"/>
              <a:buChar char=""/>
              <a:tabLst>
                <a:tab pos="80010" algn="l"/>
              </a:tabLst>
            </a:pPr>
            <a:r>
              <a:rPr sz="550" dirty="0">
                <a:latin typeface="DejaVu Serif"/>
                <a:cs typeface="DejaVu Serif"/>
              </a:rPr>
              <a:t>Concentrating </a:t>
            </a:r>
            <a:r>
              <a:rPr sz="550" spc="-5" dirty="0">
                <a:latin typeface="DejaVu Serif"/>
                <a:cs typeface="DejaVu Serif"/>
              </a:rPr>
              <a:t>collectors intercept </a:t>
            </a:r>
            <a:r>
              <a:rPr sz="550" spc="-10" dirty="0">
                <a:latin typeface="DejaVu Serif"/>
                <a:cs typeface="DejaVu Serif"/>
              </a:rPr>
              <a:t>direct </a:t>
            </a:r>
            <a:r>
              <a:rPr sz="550" dirty="0">
                <a:latin typeface="DejaVu Serif"/>
                <a:cs typeface="DejaVu Serif"/>
              </a:rPr>
              <a:t>radiation </a:t>
            </a:r>
            <a:r>
              <a:rPr sz="550" spc="-15" dirty="0">
                <a:latin typeface="DejaVu Serif"/>
                <a:cs typeface="DejaVu Serif"/>
              </a:rPr>
              <a:t>over </a:t>
            </a:r>
            <a:r>
              <a:rPr sz="550" spc="10" dirty="0">
                <a:latin typeface="DejaVu Serif"/>
                <a:cs typeface="DejaVu Serif"/>
              </a:rPr>
              <a:t>a </a:t>
            </a:r>
            <a:r>
              <a:rPr sz="550" spc="-15" dirty="0">
                <a:latin typeface="DejaVu Serif"/>
                <a:cs typeface="DejaVu Serif"/>
              </a:rPr>
              <a:t>large </a:t>
            </a:r>
            <a:r>
              <a:rPr sz="550" spc="-5" dirty="0">
                <a:latin typeface="DejaVu Serif"/>
                <a:cs typeface="DejaVu Serif"/>
              </a:rPr>
              <a:t>area  </a:t>
            </a:r>
            <a:r>
              <a:rPr sz="550" spc="10" dirty="0">
                <a:latin typeface="DejaVu Serif"/>
                <a:cs typeface="DejaVu Serif"/>
              </a:rPr>
              <a:t>and </a:t>
            </a:r>
            <a:r>
              <a:rPr sz="550" dirty="0">
                <a:latin typeface="DejaVu Serif"/>
                <a:cs typeface="DejaVu Serif"/>
              </a:rPr>
              <a:t>focus it onto </a:t>
            </a:r>
            <a:r>
              <a:rPr sz="550" spc="10" dirty="0">
                <a:latin typeface="DejaVu Serif"/>
                <a:cs typeface="DejaVu Serif"/>
              </a:rPr>
              <a:t>a </a:t>
            </a:r>
            <a:r>
              <a:rPr sz="550" spc="5" dirty="0">
                <a:latin typeface="DejaVu Serif"/>
                <a:cs typeface="DejaVu Serif"/>
              </a:rPr>
              <a:t>small </a:t>
            </a:r>
            <a:r>
              <a:rPr sz="550" spc="-5" dirty="0">
                <a:latin typeface="DejaVu Serif"/>
                <a:cs typeface="DejaVu Serif"/>
              </a:rPr>
              <a:t>absorber</a:t>
            </a:r>
            <a:r>
              <a:rPr sz="550" spc="55" dirty="0">
                <a:latin typeface="DejaVu Serif"/>
                <a:cs typeface="DejaVu Serif"/>
              </a:rPr>
              <a:t> </a:t>
            </a:r>
            <a:r>
              <a:rPr sz="550" dirty="0">
                <a:latin typeface="DejaVu Serif"/>
                <a:cs typeface="DejaVu Serif"/>
              </a:rPr>
              <a:t>area.</a:t>
            </a:r>
            <a:endParaRPr sz="550">
              <a:latin typeface="DejaVu Serif"/>
              <a:cs typeface="DejaVu Serif"/>
            </a:endParaRPr>
          </a:p>
          <a:p>
            <a:pPr marL="79375" marR="5715" indent="-67310" algn="just">
              <a:lnSpc>
                <a:spcPct val="107000"/>
              </a:lnSpc>
              <a:spcBef>
                <a:spcPts val="345"/>
              </a:spcBef>
              <a:buSzPct val="82000"/>
              <a:buFont typeface="Wingdings" panose="05000000000000000000"/>
              <a:buChar char=""/>
              <a:tabLst>
                <a:tab pos="80010" algn="l"/>
              </a:tabLst>
            </a:pP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-10" dirty="0">
                <a:latin typeface="DejaVu Serif"/>
                <a:cs typeface="DejaVu Serif"/>
              </a:rPr>
              <a:t>collector </a:t>
            </a:r>
            <a:r>
              <a:rPr sz="550" spc="15" dirty="0">
                <a:latin typeface="DejaVu Serif"/>
                <a:cs typeface="DejaVu Serif"/>
              </a:rPr>
              <a:t>in </a:t>
            </a:r>
            <a:r>
              <a:rPr sz="550" dirty="0">
                <a:latin typeface="DejaVu Serif"/>
                <a:cs typeface="DejaVu Serif"/>
              </a:rPr>
              <a:t>concentrating </a:t>
            </a:r>
            <a:r>
              <a:rPr sz="550" spc="-5" dirty="0">
                <a:latin typeface="DejaVu Serif"/>
                <a:cs typeface="DejaVu Serif"/>
              </a:rPr>
              <a:t>type </a:t>
            </a:r>
            <a:r>
              <a:rPr sz="550" spc="5" dirty="0">
                <a:latin typeface="DejaVu Serif"/>
                <a:cs typeface="DejaVu Serif"/>
              </a:rPr>
              <a:t>consists </a:t>
            </a:r>
            <a:r>
              <a:rPr sz="550" spc="-15" dirty="0">
                <a:latin typeface="DejaVu Serif"/>
                <a:cs typeface="DejaVu Serif"/>
              </a:rPr>
              <a:t>of </a:t>
            </a:r>
            <a:r>
              <a:rPr sz="550" spc="10" dirty="0">
                <a:latin typeface="DejaVu Serif"/>
                <a:cs typeface="DejaVu Serif"/>
              </a:rPr>
              <a:t>a </a:t>
            </a:r>
            <a:r>
              <a:rPr sz="550" b="1" i="1" spc="15" dirty="0">
                <a:latin typeface="TeX Gyre Bonum"/>
                <a:cs typeface="TeX Gyre Bonum"/>
              </a:rPr>
              <a:t>concentrator </a:t>
            </a:r>
            <a:r>
              <a:rPr sz="550" spc="5" dirty="0">
                <a:latin typeface="DejaVu Serif"/>
                <a:cs typeface="DejaVu Serif"/>
              </a:rPr>
              <a:t>and  </a:t>
            </a:r>
            <a:r>
              <a:rPr sz="550" spc="10" dirty="0">
                <a:latin typeface="DejaVu Serif"/>
                <a:cs typeface="DejaVu Serif"/>
              </a:rPr>
              <a:t>a</a:t>
            </a:r>
            <a:r>
              <a:rPr sz="550" spc="-5" dirty="0">
                <a:latin typeface="DejaVu Serif"/>
                <a:cs typeface="DejaVu Serif"/>
              </a:rPr>
              <a:t> </a:t>
            </a:r>
            <a:r>
              <a:rPr sz="550" b="1" i="1" spc="10" dirty="0">
                <a:latin typeface="TeX Gyre Bonum"/>
                <a:cs typeface="TeX Gyre Bonum"/>
              </a:rPr>
              <a:t>receiver</a:t>
            </a:r>
            <a:r>
              <a:rPr sz="550" spc="10" dirty="0">
                <a:latin typeface="DejaVu Serif"/>
                <a:cs typeface="DejaVu Serif"/>
              </a:rPr>
              <a:t>.</a:t>
            </a:r>
            <a:endParaRPr sz="550">
              <a:latin typeface="DejaVu Serif"/>
              <a:cs typeface="DejaVu Serif"/>
            </a:endParaRPr>
          </a:p>
          <a:p>
            <a:pPr marL="79375" marR="5080" indent="-67310" algn="just">
              <a:lnSpc>
                <a:spcPct val="106000"/>
              </a:lnSpc>
              <a:spcBef>
                <a:spcPts val="360"/>
              </a:spcBef>
              <a:buSzPct val="82000"/>
              <a:buFont typeface="Wingdings" panose="05000000000000000000"/>
              <a:buChar char=""/>
              <a:tabLst>
                <a:tab pos="80010" algn="l"/>
              </a:tabLst>
            </a:pPr>
            <a:r>
              <a:rPr sz="550" spc="-15" dirty="0">
                <a:latin typeface="DejaVu Serif"/>
                <a:cs typeface="DejaVu Serif"/>
              </a:rPr>
              <a:t>Receiver </a:t>
            </a:r>
            <a:r>
              <a:rPr sz="550" spc="10" dirty="0">
                <a:latin typeface="DejaVu Serif"/>
                <a:cs typeface="DejaVu Serif"/>
              </a:rPr>
              <a:t>is a </a:t>
            </a:r>
            <a:r>
              <a:rPr sz="550" spc="-10" dirty="0">
                <a:latin typeface="DejaVu Serif"/>
                <a:cs typeface="DejaVu Serif"/>
              </a:rPr>
              <a:t>device </a:t>
            </a:r>
            <a:r>
              <a:rPr sz="550" spc="5" dirty="0">
                <a:latin typeface="DejaVu Serif"/>
                <a:cs typeface="DejaVu Serif"/>
              </a:rPr>
              <a:t>that </a:t>
            </a:r>
            <a:r>
              <a:rPr sz="550" spc="10" dirty="0">
                <a:latin typeface="DejaVu Serif"/>
                <a:cs typeface="DejaVu Serif"/>
              </a:rPr>
              <a:t>is </a:t>
            </a:r>
            <a:r>
              <a:rPr sz="550" spc="-5" dirty="0">
                <a:latin typeface="DejaVu Serif"/>
                <a:cs typeface="DejaVu Serif"/>
              </a:rPr>
              <a:t>able </a:t>
            </a:r>
            <a:r>
              <a:rPr sz="550" dirty="0">
                <a:latin typeface="DejaVu Serif"/>
                <a:cs typeface="DejaVu Serif"/>
              </a:rPr>
              <a:t>to </a:t>
            </a:r>
            <a:r>
              <a:rPr sz="550" spc="-5" dirty="0">
                <a:latin typeface="DejaVu Serif"/>
                <a:cs typeface="DejaVu Serif"/>
              </a:rPr>
              <a:t>convert </a:t>
            </a:r>
            <a:r>
              <a:rPr sz="550" dirty="0">
                <a:latin typeface="DejaVu Serif"/>
                <a:cs typeface="DejaVu Serif"/>
              </a:rPr>
              <a:t>the solar radiation </a:t>
            </a:r>
            <a:r>
              <a:rPr sz="550" spc="5" dirty="0">
                <a:latin typeface="DejaVu Serif"/>
                <a:cs typeface="DejaVu Serif"/>
              </a:rPr>
              <a:t>into </a:t>
            </a:r>
            <a:r>
              <a:rPr sz="550" spc="10" dirty="0">
                <a:latin typeface="DejaVu Serif"/>
                <a:cs typeface="DejaVu Serif"/>
              </a:rPr>
              <a:t>a  </a:t>
            </a:r>
            <a:r>
              <a:rPr sz="550" spc="-5" dirty="0">
                <a:latin typeface="DejaVu Serif"/>
                <a:cs typeface="DejaVu Serif"/>
              </a:rPr>
              <a:t>different </a:t>
            </a:r>
            <a:r>
              <a:rPr sz="550" spc="15" dirty="0">
                <a:latin typeface="DejaVu Serif"/>
                <a:cs typeface="DejaVu Serif"/>
              </a:rPr>
              <a:t>kind </a:t>
            </a:r>
            <a:r>
              <a:rPr sz="550" spc="-15" dirty="0">
                <a:latin typeface="DejaVu Serif"/>
                <a:cs typeface="DejaVu Serif"/>
              </a:rPr>
              <a:t>of </a:t>
            </a:r>
            <a:r>
              <a:rPr sz="550" spc="-10" dirty="0">
                <a:latin typeface="DejaVu Serif"/>
                <a:cs typeface="DejaVu Serif"/>
              </a:rPr>
              <a:t>energy. </a:t>
            </a:r>
            <a:r>
              <a:rPr sz="550" spc="5" dirty="0">
                <a:latin typeface="DejaVu Serif"/>
                <a:cs typeface="DejaVu Serif"/>
              </a:rPr>
              <a:t>This can </a:t>
            </a:r>
            <a:r>
              <a:rPr sz="550" spc="-10" dirty="0">
                <a:latin typeface="DejaVu Serif"/>
                <a:cs typeface="DejaVu Serif"/>
              </a:rPr>
              <a:t>be </a:t>
            </a:r>
            <a:r>
              <a:rPr sz="550" spc="-5" dirty="0">
                <a:latin typeface="DejaVu Serif"/>
                <a:cs typeface="DejaVu Serif"/>
              </a:rPr>
              <a:t>either </a:t>
            </a:r>
            <a:r>
              <a:rPr sz="550" spc="10" dirty="0">
                <a:latin typeface="DejaVu Serif"/>
                <a:cs typeface="DejaVu Serif"/>
              </a:rPr>
              <a:t>a </a:t>
            </a:r>
            <a:r>
              <a:rPr sz="550" b="1" i="1" spc="15" dirty="0">
                <a:latin typeface="TeX Gyre Bonum"/>
                <a:cs typeface="TeX Gyre Bonum"/>
              </a:rPr>
              <a:t>heat absorber </a:t>
            </a:r>
            <a:r>
              <a:rPr sz="550" spc="-15" dirty="0">
                <a:latin typeface="DejaVu Serif"/>
                <a:cs typeface="DejaVu Serif"/>
              </a:rPr>
              <a:t>(to  </a:t>
            </a:r>
            <a:r>
              <a:rPr sz="550" dirty="0">
                <a:latin typeface="DejaVu Serif"/>
                <a:cs typeface="DejaVu Serif"/>
              </a:rPr>
              <a:t>harvest thermal </a:t>
            </a:r>
            <a:r>
              <a:rPr sz="550" spc="-20" dirty="0">
                <a:latin typeface="DejaVu Serif"/>
                <a:cs typeface="DejaVu Serif"/>
              </a:rPr>
              <a:t>energy) </a:t>
            </a:r>
            <a:r>
              <a:rPr sz="550" spc="-10" dirty="0">
                <a:latin typeface="DejaVu Serif"/>
                <a:cs typeface="DejaVu Serif"/>
              </a:rPr>
              <a:t>or </a:t>
            </a:r>
            <a:r>
              <a:rPr sz="550" spc="10" dirty="0">
                <a:latin typeface="DejaVu Serif"/>
                <a:cs typeface="DejaVu Serif"/>
              </a:rPr>
              <a:t>a </a:t>
            </a:r>
            <a:r>
              <a:rPr sz="550" b="1" i="1" spc="15" dirty="0">
                <a:latin typeface="TeX Gyre Bonum"/>
                <a:cs typeface="TeX Gyre Bonum"/>
              </a:rPr>
              <a:t>photovoltaic </a:t>
            </a:r>
            <a:r>
              <a:rPr sz="550" b="1" i="1" spc="10" dirty="0">
                <a:latin typeface="TeX Gyre Bonum"/>
                <a:cs typeface="TeX Gyre Bonum"/>
              </a:rPr>
              <a:t>cell </a:t>
            </a:r>
            <a:r>
              <a:rPr sz="550" spc="-15" dirty="0">
                <a:latin typeface="DejaVu Serif"/>
                <a:cs typeface="DejaVu Serif"/>
              </a:rPr>
              <a:t>(to </a:t>
            </a:r>
            <a:r>
              <a:rPr sz="550" spc="-5" dirty="0">
                <a:latin typeface="DejaVu Serif"/>
                <a:cs typeface="DejaVu Serif"/>
              </a:rPr>
              <a:t>convert </a:t>
            </a:r>
            <a:r>
              <a:rPr sz="550" dirty="0">
                <a:latin typeface="DejaVu Serif"/>
                <a:cs typeface="DejaVu Serif"/>
              </a:rPr>
              <a:t>solar  radiation to </a:t>
            </a:r>
            <a:r>
              <a:rPr sz="550" spc="-10" dirty="0">
                <a:latin typeface="DejaVu Serif"/>
                <a:cs typeface="DejaVu Serif"/>
              </a:rPr>
              <a:t>electric</a:t>
            </a:r>
            <a:r>
              <a:rPr sz="550" spc="-15" dirty="0">
                <a:latin typeface="DejaVu Serif"/>
                <a:cs typeface="DejaVu Serif"/>
              </a:rPr>
              <a:t> </a:t>
            </a:r>
            <a:r>
              <a:rPr sz="550" spc="-10" dirty="0">
                <a:latin typeface="DejaVu Serif"/>
                <a:cs typeface="DejaVu Serif"/>
              </a:rPr>
              <a:t>energy).</a:t>
            </a:r>
            <a:endParaRPr sz="550">
              <a:latin typeface="DejaVu Serif"/>
              <a:cs typeface="DejaVu Serif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5" y="127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i="0" u="sng" spc="-5" dirty="0">
                <a:uFill>
                  <a:solidFill>
                    <a:srgbClr val="FF0000"/>
                  </a:solidFill>
                </a:uFill>
                <a:latin typeface="Bookman Uralic"/>
                <a:cs typeface="Bookman Uralic"/>
                <a:sym typeface="+mn-ea"/>
              </a:rPr>
              <a:t>Concentrating </a:t>
            </a:r>
            <a:r>
              <a:rPr i="0" u="sng" dirty="0">
                <a:uFill>
                  <a:solidFill>
                    <a:srgbClr val="FF0000"/>
                  </a:solidFill>
                </a:uFill>
                <a:latin typeface="Bookman Uralic"/>
                <a:cs typeface="Bookman Uralic"/>
                <a:sym typeface="+mn-ea"/>
              </a:rPr>
              <a:t>(focussing)</a:t>
            </a:r>
            <a:r>
              <a:rPr i="0" u="sng" spc="-35" dirty="0">
                <a:uFill>
                  <a:solidFill>
                    <a:srgbClr val="FF0000"/>
                  </a:solidFill>
                </a:uFill>
                <a:latin typeface="Bookman Uralic"/>
                <a:cs typeface="Bookman Uralic"/>
                <a:sym typeface="+mn-ea"/>
              </a:rPr>
              <a:t> </a:t>
            </a:r>
            <a:r>
              <a:rPr i="0" u="sng" dirty="0">
                <a:uFill>
                  <a:solidFill>
                    <a:srgbClr val="FF0000"/>
                  </a:solidFill>
                </a:uFill>
                <a:latin typeface="Bookman Uralic"/>
                <a:cs typeface="Bookman Uralic"/>
                <a:sym typeface="+mn-ea"/>
              </a:rPr>
              <a:t>collectors</a:t>
            </a:r>
            <a:r>
              <a:rPr>
                <a:latin typeface="Bookman Uralic"/>
                <a:cs typeface="Bookman Uralic"/>
              </a:rPr>
              <a:t/>
            </a:r>
            <a:br>
              <a:rPr>
                <a:latin typeface="Bookman Uralic"/>
                <a:cs typeface="Bookman Uralic"/>
              </a:rPr>
            </a:br>
            <a:endParaRPr lang="en-US"/>
          </a:p>
        </p:txBody>
      </p:sp>
      <p:pic>
        <p:nvPicPr>
          <p:cNvPr id="102" name="Content Placeholder 101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0650" y="462915"/>
            <a:ext cx="1169035" cy="12941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Content Placeholder 102"/>
          <p:cNvPicPr>
            <a:picLocks noGrp="1"/>
          </p:cNvPicPr>
          <p:nvPr>
            <p:ph sz="half" idx="3"/>
          </p:nvPr>
        </p:nvPicPr>
        <p:blipFill>
          <a:blip r:embed="rId3"/>
          <a:stretch>
            <a:fillRect/>
          </a:stretch>
        </p:blipFill>
        <p:spPr>
          <a:xfrm>
            <a:off x="1383030" y="462915"/>
            <a:ext cx="1168400" cy="13284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77" y="86677"/>
            <a:ext cx="258699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dirty="0"/>
              <a:t>Comparing </a:t>
            </a:r>
            <a:r>
              <a:rPr sz="1050" spc="-5" dirty="0"/>
              <a:t>flat plate collector </a:t>
            </a:r>
            <a:r>
              <a:rPr sz="1050" dirty="0"/>
              <a:t>(FPC)  </a:t>
            </a:r>
            <a:r>
              <a:rPr sz="1050" i="1" spc="5" dirty="0"/>
              <a:t>&amp; </a:t>
            </a:r>
            <a:r>
              <a:rPr sz="1050" i="1" dirty="0"/>
              <a:t>Evacuated tube </a:t>
            </a:r>
            <a:r>
              <a:rPr sz="1050" i="1" spc="-5" dirty="0"/>
              <a:t>collector</a:t>
            </a:r>
            <a:r>
              <a:rPr sz="1050" i="1" spc="-25" dirty="0"/>
              <a:t> </a:t>
            </a:r>
            <a:r>
              <a:rPr sz="1050" i="1" spc="-5" dirty="0"/>
              <a:t>(ETC)</a:t>
            </a:r>
            <a:endParaRPr sz="105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5168" y="445114"/>
          <a:ext cx="2546985" cy="14750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530"/>
                <a:gridCol w="1141730"/>
                <a:gridCol w="1228725"/>
              </a:tblGrid>
              <a:tr h="163830">
                <a:tc>
                  <a:txBody>
                    <a:bodyPr/>
                    <a:lstStyle/>
                    <a:p>
                      <a:pPr marL="5524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450" b="1" i="1" spc="5" dirty="0">
                          <a:latin typeface="Times New Roman" panose="02020603050405020304"/>
                          <a:cs typeface="Times New Roman" panose="02020603050405020304"/>
                        </a:rPr>
                        <a:t>Sl.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43180">
                        <a:lnSpc>
                          <a:spcPts val="530"/>
                        </a:lnSpc>
                        <a:spcBef>
                          <a:spcPts val="25"/>
                        </a:spcBef>
                      </a:pPr>
                      <a:r>
                        <a:rPr sz="450" b="1" i="1" spc="5" dirty="0">
                          <a:latin typeface="Times New Roman" panose="02020603050405020304"/>
                          <a:cs typeface="Times New Roman" panose="02020603050405020304"/>
                        </a:rPr>
                        <a:t>No.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550" b="1" i="1" spc="15" dirty="0">
                          <a:latin typeface="Times New Roman" panose="02020603050405020304"/>
                          <a:cs typeface="Times New Roman" panose="02020603050405020304"/>
                        </a:rPr>
                        <a:t>Flat</a:t>
                      </a:r>
                      <a:r>
                        <a:rPr sz="550" b="1" i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50" b="1" i="1" spc="15" dirty="0">
                          <a:latin typeface="Times New Roman" panose="02020603050405020304"/>
                          <a:cs typeface="Times New Roman" panose="02020603050405020304"/>
                        </a:rPr>
                        <a:t>plate</a:t>
                      </a:r>
                      <a:r>
                        <a:rPr sz="550" b="1" i="1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50" b="1" i="1" spc="15" dirty="0">
                          <a:latin typeface="Times New Roman" panose="02020603050405020304"/>
                          <a:cs typeface="Times New Roman" panose="02020603050405020304"/>
                        </a:rPr>
                        <a:t>collector</a:t>
                      </a:r>
                      <a:r>
                        <a:rPr sz="550" b="1" i="1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50" b="1" i="1" spc="20" dirty="0">
                          <a:latin typeface="Times New Roman" panose="02020603050405020304"/>
                          <a:cs typeface="Times New Roman" panose="02020603050405020304"/>
                        </a:rPr>
                        <a:t>(FPC)</a:t>
                      </a: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00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550" b="1" i="1" spc="15" dirty="0">
                          <a:latin typeface="Times New Roman" panose="02020603050405020304"/>
                          <a:cs typeface="Times New Roman" panose="02020603050405020304"/>
                        </a:rPr>
                        <a:t>Evacuated </a:t>
                      </a:r>
                      <a:r>
                        <a:rPr sz="550" b="1" i="1" spc="10" dirty="0">
                          <a:latin typeface="Times New Roman" panose="02020603050405020304"/>
                          <a:cs typeface="Times New Roman" panose="02020603050405020304"/>
                        </a:rPr>
                        <a:t>Tube </a:t>
                      </a:r>
                      <a:r>
                        <a:rPr sz="550" b="1" i="1" spc="15" dirty="0">
                          <a:latin typeface="Times New Roman" panose="02020603050405020304"/>
                          <a:cs typeface="Times New Roman" panose="02020603050405020304"/>
                        </a:rPr>
                        <a:t>Collector</a:t>
                      </a:r>
                      <a:r>
                        <a:rPr sz="550" b="1" i="1" spc="-1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50" b="1" i="1" spc="15" dirty="0">
                          <a:latin typeface="Times New Roman" panose="02020603050405020304"/>
                          <a:cs typeface="Times New Roman" panose="02020603050405020304"/>
                        </a:rPr>
                        <a:t>(ETC)</a:t>
                      </a: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00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026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450" spc="10" dirty="0">
                          <a:latin typeface="Times New Roman" panose="02020603050405020304"/>
                          <a:cs typeface="Times New Roman" panose="02020603050405020304"/>
                        </a:rPr>
                        <a:t>1.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marR="12065" algn="just">
                        <a:lnSpc>
                          <a:spcPct val="106000"/>
                        </a:lnSpc>
                        <a:spcBef>
                          <a:spcPts val="90"/>
                        </a:spcBef>
                      </a:pP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In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flat plate collector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absorber plate  with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sheet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of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copper, painted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or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coated  black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is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bonded to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pipes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of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transfer 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fluid.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marR="11430" algn="just">
                        <a:lnSpc>
                          <a:spcPct val="106000"/>
                        </a:lnSpc>
                        <a:spcBef>
                          <a:spcPts val="405"/>
                        </a:spcBef>
                      </a:pP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Evacuated tube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collector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glass tube with 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vacuum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inside it is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surrounding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absorber  plate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or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 area.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1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450" spc="10" dirty="0">
                          <a:latin typeface="Times New Roman" panose="02020603050405020304"/>
                          <a:cs typeface="Times New Roman" panose="02020603050405020304"/>
                        </a:rPr>
                        <a:t>2.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ts val="595"/>
                        </a:lnSpc>
                        <a:spcBef>
                          <a:spcPts val="85"/>
                        </a:spcBef>
                      </a:pP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FPC has low</a:t>
                      </a:r>
                      <a:r>
                        <a:rPr sz="500" spc="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cost.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ts val="595"/>
                        </a:lnSpc>
                        <a:spcBef>
                          <a:spcPts val="85"/>
                        </a:spcBef>
                      </a:pP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ETC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has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higher</a:t>
                      </a:r>
                      <a:r>
                        <a:rPr sz="500" spc="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cost.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873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450" spc="10" dirty="0">
                          <a:latin typeface="Times New Roman" panose="02020603050405020304"/>
                          <a:cs typeface="Times New Roman" panose="02020603050405020304"/>
                        </a:rPr>
                        <a:t>3.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marR="12065" algn="just">
                        <a:lnSpc>
                          <a:spcPct val="106000"/>
                        </a:lnSpc>
                        <a:spcBef>
                          <a:spcPts val="240"/>
                        </a:spcBef>
                      </a:pP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Flat plate collector is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more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efficient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than  evacuated tube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collector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at ambient 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temperature.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04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0320" marR="13335">
                        <a:lnSpc>
                          <a:spcPct val="106000"/>
                        </a:lnSpc>
                      </a:pP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ETC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is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more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efficient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than FPC at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lower 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working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temperatures</a:t>
                      </a:r>
                      <a:r>
                        <a:rPr sz="500" spc="8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(conditions).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450" spc="10" dirty="0">
                          <a:latin typeface="Times New Roman" panose="02020603050405020304"/>
                          <a:cs typeface="Times New Roman" panose="02020603050405020304"/>
                        </a:rPr>
                        <a:t>4.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The design of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FPC is</a:t>
                      </a:r>
                      <a:r>
                        <a:rPr sz="500" spc="8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easy.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28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marR="12065">
                        <a:lnSpc>
                          <a:spcPct val="106000"/>
                        </a:lnSpc>
                        <a:spcBef>
                          <a:spcPts val="145"/>
                        </a:spcBef>
                      </a:pP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The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design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of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ETC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is difficult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because of 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vacuum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inside the</a:t>
                      </a:r>
                      <a:r>
                        <a:rPr sz="500" spc="7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tube.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5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450" spc="10" dirty="0">
                          <a:latin typeface="Times New Roman" panose="02020603050405020304"/>
                          <a:cs typeface="Times New Roman" panose="02020603050405020304"/>
                        </a:rPr>
                        <a:t>5.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marR="11430">
                        <a:lnSpc>
                          <a:spcPct val="106000"/>
                        </a:lnSpc>
                        <a:spcBef>
                          <a:spcPts val="145"/>
                        </a:spcBef>
                      </a:pP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FPCs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are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sensitive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to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sun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angle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orientation.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marR="11430">
                        <a:lnSpc>
                          <a:spcPct val="106000"/>
                        </a:lnSpc>
                        <a:spcBef>
                          <a:spcPts val="145"/>
                        </a:spcBef>
                      </a:pP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ETCs are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less sensitive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to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sun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angle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orientation.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5694"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450" spc="10" dirty="0">
                          <a:latin typeface="Times New Roman" panose="02020603050405020304"/>
                          <a:cs typeface="Times New Roman" panose="02020603050405020304"/>
                        </a:rPr>
                        <a:t>6.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93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FPCs have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longer</a:t>
                      </a:r>
                      <a:r>
                        <a:rPr sz="500" spc="7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life.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ETCs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have less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life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than</a:t>
                      </a:r>
                      <a:r>
                        <a:rPr sz="500" spc="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FPCs.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0" y="1028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1485" y="85153"/>
            <a:ext cx="18034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" dirty="0">
                <a:latin typeface="Times New Roman" panose="02020603050405020304"/>
                <a:cs typeface="Times New Roman" panose="02020603050405020304"/>
              </a:rPr>
              <a:t>Parabolic trough</a:t>
            </a:r>
            <a:r>
              <a:rPr sz="13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-5" dirty="0">
                <a:latin typeface="Times New Roman" panose="02020603050405020304"/>
                <a:cs typeface="Times New Roman" panose="02020603050405020304"/>
              </a:rPr>
              <a:t>collector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788" y="377253"/>
            <a:ext cx="1515745" cy="9569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9375" indent="-80010">
              <a:lnSpc>
                <a:spcPct val="100000"/>
              </a:lnSpc>
              <a:spcBef>
                <a:spcPts val="95"/>
              </a:spcBef>
              <a:buSzPct val="85000"/>
              <a:buFont typeface="Wingdings" panose="05000000000000000000"/>
              <a:buChar char=""/>
              <a:tabLst>
                <a:tab pos="80010" algn="l"/>
              </a:tabLst>
            </a:pPr>
            <a:r>
              <a:rPr sz="650" spc="-25" dirty="0">
                <a:latin typeface="DejaVu Serif"/>
                <a:cs typeface="DejaVu Serif"/>
              </a:rPr>
              <a:t>The parabolic </a:t>
            </a:r>
            <a:r>
              <a:rPr sz="650" spc="-20" dirty="0">
                <a:latin typeface="DejaVu Serif"/>
                <a:cs typeface="DejaVu Serif"/>
              </a:rPr>
              <a:t>trough </a:t>
            </a:r>
            <a:r>
              <a:rPr sz="650" spc="-30" dirty="0">
                <a:latin typeface="DejaVu Serif"/>
                <a:cs typeface="DejaVu Serif"/>
              </a:rPr>
              <a:t>collector</a:t>
            </a:r>
            <a:r>
              <a:rPr sz="650" spc="-90" dirty="0">
                <a:latin typeface="DejaVu Serif"/>
                <a:cs typeface="DejaVu Serif"/>
              </a:rPr>
              <a:t> </a:t>
            </a:r>
            <a:r>
              <a:rPr sz="650" spc="-10" dirty="0">
                <a:latin typeface="DejaVu Serif"/>
                <a:cs typeface="DejaVu Serif"/>
              </a:rPr>
              <a:t>is </a:t>
            </a:r>
            <a:r>
              <a:rPr sz="650" spc="-40" dirty="0">
                <a:latin typeface="DejaVu Serif"/>
                <a:cs typeface="DejaVu Serif"/>
              </a:rPr>
              <a:t>of</a:t>
            </a:r>
            <a:endParaRPr sz="650">
              <a:latin typeface="DejaVu Serif"/>
              <a:cs typeface="DejaVu Serif"/>
            </a:endParaRPr>
          </a:p>
          <a:p>
            <a:pPr marL="53975" algn="ctr">
              <a:lnSpc>
                <a:spcPct val="100000"/>
              </a:lnSpc>
            </a:pPr>
            <a:r>
              <a:rPr sz="650" b="1" i="1" dirty="0">
                <a:latin typeface="TeX Gyre Bonum"/>
                <a:cs typeface="TeX Gyre Bonum"/>
              </a:rPr>
              <a:t>line </a:t>
            </a:r>
            <a:r>
              <a:rPr sz="650" b="1" i="1" spc="-5" dirty="0">
                <a:latin typeface="TeX Gyre Bonum"/>
                <a:cs typeface="TeX Gyre Bonum"/>
              </a:rPr>
              <a:t>focussing </a:t>
            </a:r>
            <a:r>
              <a:rPr sz="650" spc="-25" dirty="0">
                <a:latin typeface="DejaVu Serif"/>
                <a:cs typeface="DejaVu Serif"/>
              </a:rPr>
              <a:t>type </a:t>
            </a:r>
            <a:r>
              <a:rPr sz="650" spc="-20" dirty="0">
                <a:latin typeface="DejaVu Serif"/>
                <a:cs typeface="DejaVu Serif"/>
              </a:rPr>
              <a:t>solar</a:t>
            </a:r>
            <a:r>
              <a:rPr sz="650" spc="-70" dirty="0">
                <a:latin typeface="DejaVu Serif"/>
                <a:cs typeface="DejaVu Serif"/>
              </a:rPr>
              <a:t> </a:t>
            </a:r>
            <a:r>
              <a:rPr sz="650" spc="-25" dirty="0">
                <a:latin typeface="DejaVu Serif"/>
                <a:cs typeface="DejaVu Serif"/>
              </a:rPr>
              <a:t>collector.</a:t>
            </a:r>
            <a:endParaRPr sz="650">
              <a:latin typeface="DejaVu Serif"/>
              <a:cs typeface="DejaVu Serif"/>
            </a:endParaRPr>
          </a:p>
          <a:p>
            <a:pPr marL="79375" marR="6350" indent="-67310" algn="just">
              <a:lnSpc>
                <a:spcPct val="100000"/>
              </a:lnSpc>
              <a:spcBef>
                <a:spcPts val="170"/>
              </a:spcBef>
              <a:buSzPct val="85000"/>
              <a:buFont typeface="Wingdings" panose="05000000000000000000"/>
              <a:buChar char=""/>
              <a:tabLst>
                <a:tab pos="80010" algn="l"/>
              </a:tabLst>
            </a:pPr>
            <a:r>
              <a:rPr sz="650" spc="-25" dirty="0">
                <a:latin typeface="DejaVu Serif"/>
                <a:cs typeface="DejaVu Serif"/>
              </a:rPr>
              <a:t>It </a:t>
            </a:r>
            <a:r>
              <a:rPr sz="650" spc="-10" dirty="0">
                <a:latin typeface="DejaVu Serif"/>
                <a:cs typeface="DejaVu Serif"/>
              </a:rPr>
              <a:t>is</a:t>
            </a:r>
            <a:r>
              <a:rPr sz="650" spc="185" dirty="0">
                <a:latin typeface="DejaVu Serif"/>
                <a:cs typeface="DejaVu Serif"/>
              </a:rPr>
              <a:t> </a:t>
            </a:r>
            <a:r>
              <a:rPr sz="650" spc="-20" dirty="0">
                <a:latin typeface="DejaVu Serif"/>
                <a:cs typeface="DejaVu Serif"/>
              </a:rPr>
              <a:t>having </a:t>
            </a:r>
            <a:r>
              <a:rPr sz="650" spc="-25" dirty="0">
                <a:latin typeface="DejaVu Serif"/>
                <a:cs typeface="DejaVu Serif"/>
              </a:rPr>
              <a:t>the </a:t>
            </a:r>
            <a:r>
              <a:rPr sz="650" spc="-20" dirty="0">
                <a:latin typeface="DejaVu Serif"/>
                <a:cs typeface="DejaVu Serif"/>
              </a:rPr>
              <a:t>shape </a:t>
            </a:r>
            <a:r>
              <a:rPr sz="650" spc="-35" dirty="0">
                <a:latin typeface="DejaVu Serif"/>
                <a:cs typeface="DejaVu Serif"/>
              </a:rPr>
              <a:t>of </a:t>
            </a:r>
            <a:r>
              <a:rPr sz="650" spc="-15" dirty="0">
                <a:latin typeface="DejaVu Serif"/>
                <a:cs typeface="DejaVu Serif"/>
              </a:rPr>
              <a:t>a  </a:t>
            </a:r>
            <a:r>
              <a:rPr sz="650" spc="-20" dirty="0">
                <a:latin typeface="DejaVu Serif"/>
                <a:cs typeface="DejaVu Serif"/>
              </a:rPr>
              <a:t>cylindrical</a:t>
            </a:r>
            <a:r>
              <a:rPr sz="650" spc="-10" dirty="0">
                <a:latin typeface="DejaVu Serif"/>
                <a:cs typeface="DejaVu Serif"/>
              </a:rPr>
              <a:t> </a:t>
            </a:r>
            <a:r>
              <a:rPr sz="650" spc="-20" dirty="0">
                <a:latin typeface="DejaVu Serif"/>
                <a:cs typeface="DejaVu Serif"/>
              </a:rPr>
              <a:t>parabola.</a:t>
            </a:r>
            <a:endParaRPr sz="650">
              <a:latin typeface="DejaVu Serif"/>
              <a:cs typeface="DejaVu Serif"/>
            </a:endParaRPr>
          </a:p>
          <a:p>
            <a:pPr marL="79375" marR="5080" indent="-67310" algn="just">
              <a:lnSpc>
                <a:spcPct val="99000"/>
              </a:lnSpc>
              <a:spcBef>
                <a:spcPts val="175"/>
              </a:spcBef>
              <a:buSzPct val="85000"/>
              <a:buFont typeface="Wingdings" panose="05000000000000000000"/>
              <a:buChar char=""/>
              <a:tabLst>
                <a:tab pos="80010" algn="l"/>
              </a:tabLst>
            </a:pPr>
            <a:r>
              <a:rPr sz="650" spc="-25" dirty="0">
                <a:latin typeface="DejaVu Serif"/>
                <a:cs typeface="DejaVu Serif"/>
              </a:rPr>
              <a:t>It </a:t>
            </a:r>
            <a:r>
              <a:rPr sz="650" spc="-20" dirty="0">
                <a:latin typeface="DejaVu Serif"/>
                <a:cs typeface="DejaVu Serif"/>
              </a:rPr>
              <a:t>focuses </a:t>
            </a:r>
            <a:r>
              <a:rPr sz="650" spc="-25" dirty="0">
                <a:latin typeface="DejaVu Serif"/>
                <a:cs typeface="DejaVu Serif"/>
              </a:rPr>
              <a:t>the </a:t>
            </a:r>
            <a:r>
              <a:rPr sz="650" spc="-15" dirty="0">
                <a:latin typeface="DejaVu Serif"/>
                <a:cs typeface="DejaVu Serif"/>
              </a:rPr>
              <a:t>sunlight </a:t>
            </a:r>
            <a:r>
              <a:rPr sz="650" spc="-20" dirty="0">
                <a:latin typeface="DejaVu Serif"/>
                <a:cs typeface="DejaVu Serif"/>
              </a:rPr>
              <a:t>onto </a:t>
            </a:r>
            <a:r>
              <a:rPr sz="650" spc="-10" dirty="0">
                <a:latin typeface="DejaVu Serif"/>
                <a:cs typeface="DejaVu Serif"/>
              </a:rPr>
              <a:t>its </a:t>
            </a:r>
            <a:r>
              <a:rPr sz="650" spc="-15" dirty="0">
                <a:latin typeface="DejaVu Serif"/>
                <a:cs typeface="DejaVu Serif"/>
              </a:rPr>
              <a:t>axis  </a:t>
            </a:r>
            <a:r>
              <a:rPr sz="650" spc="-35" dirty="0">
                <a:latin typeface="DejaVu Serif"/>
                <a:cs typeface="DejaVu Serif"/>
              </a:rPr>
              <a:t>where </a:t>
            </a:r>
            <a:r>
              <a:rPr sz="650" spc="-20" dirty="0">
                <a:latin typeface="DejaVu Serif"/>
                <a:cs typeface="DejaVu Serif"/>
              </a:rPr>
              <a:t>it </a:t>
            </a:r>
            <a:r>
              <a:rPr sz="650" spc="-10" dirty="0">
                <a:latin typeface="DejaVu Serif"/>
                <a:cs typeface="DejaVu Serif"/>
              </a:rPr>
              <a:t>is </a:t>
            </a:r>
            <a:r>
              <a:rPr sz="650" spc="-25" dirty="0">
                <a:latin typeface="DejaVu Serif"/>
                <a:cs typeface="DejaVu Serif"/>
              </a:rPr>
              <a:t>absorbed </a:t>
            </a:r>
            <a:r>
              <a:rPr sz="650" spc="-15" dirty="0">
                <a:latin typeface="DejaVu Serif"/>
                <a:cs typeface="DejaVu Serif"/>
              </a:rPr>
              <a:t>on </a:t>
            </a:r>
            <a:r>
              <a:rPr sz="650" spc="-20" dirty="0">
                <a:latin typeface="DejaVu Serif"/>
                <a:cs typeface="DejaVu Serif"/>
              </a:rPr>
              <a:t>the surface  </a:t>
            </a:r>
            <a:r>
              <a:rPr sz="650" spc="-35" dirty="0">
                <a:latin typeface="DejaVu Serif"/>
                <a:cs typeface="DejaVu Serif"/>
              </a:rPr>
              <a:t>of</a:t>
            </a:r>
            <a:r>
              <a:rPr sz="650" spc="135" dirty="0">
                <a:latin typeface="DejaVu Serif"/>
                <a:cs typeface="DejaVu Serif"/>
              </a:rPr>
              <a:t> </a:t>
            </a:r>
            <a:r>
              <a:rPr sz="650" spc="-20" dirty="0">
                <a:latin typeface="DejaVu Serif"/>
                <a:cs typeface="DejaVu Serif"/>
              </a:rPr>
              <a:t>the </a:t>
            </a:r>
            <a:r>
              <a:rPr sz="650" spc="-25" dirty="0">
                <a:latin typeface="DejaVu Serif"/>
                <a:cs typeface="DejaVu Serif"/>
              </a:rPr>
              <a:t>absorber </a:t>
            </a:r>
            <a:r>
              <a:rPr sz="650" spc="-20" dirty="0">
                <a:latin typeface="DejaVu Serif"/>
                <a:cs typeface="DejaVu Serif"/>
              </a:rPr>
              <a:t>tube </a:t>
            </a:r>
            <a:r>
              <a:rPr sz="650" spc="-10" dirty="0">
                <a:latin typeface="DejaVu Serif"/>
                <a:cs typeface="DejaVu Serif"/>
              </a:rPr>
              <a:t>and  </a:t>
            </a:r>
            <a:r>
              <a:rPr sz="650" spc="-25" dirty="0">
                <a:latin typeface="DejaVu Serif"/>
                <a:cs typeface="DejaVu Serif"/>
              </a:rPr>
              <a:t>transferred </a:t>
            </a:r>
            <a:r>
              <a:rPr sz="650" spc="-20" dirty="0">
                <a:latin typeface="DejaVu Serif"/>
                <a:cs typeface="DejaVu Serif"/>
              </a:rPr>
              <a:t>to </a:t>
            </a:r>
            <a:r>
              <a:rPr sz="650" spc="-25" dirty="0">
                <a:latin typeface="DejaVu Serif"/>
                <a:cs typeface="DejaVu Serif"/>
              </a:rPr>
              <a:t>the </a:t>
            </a:r>
            <a:r>
              <a:rPr sz="650" spc="-15" dirty="0">
                <a:latin typeface="DejaVu Serif"/>
                <a:cs typeface="DejaVu Serif"/>
              </a:rPr>
              <a:t>fluid </a:t>
            </a:r>
            <a:r>
              <a:rPr sz="650" spc="-35" dirty="0">
                <a:latin typeface="DejaVu Serif"/>
                <a:cs typeface="DejaVu Serif"/>
              </a:rPr>
              <a:t>flowing  </a:t>
            </a:r>
            <a:r>
              <a:rPr sz="650" spc="-15" dirty="0">
                <a:latin typeface="DejaVu Serif"/>
                <a:cs typeface="DejaVu Serif"/>
              </a:rPr>
              <a:t>through</a:t>
            </a:r>
            <a:r>
              <a:rPr sz="650" spc="-40" dirty="0">
                <a:latin typeface="DejaVu Serif"/>
                <a:cs typeface="DejaVu Serif"/>
              </a:rPr>
              <a:t> </a:t>
            </a:r>
            <a:r>
              <a:rPr sz="650" spc="-10" dirty="0">
                <a:latin typeface="DejaVu Serif"/>
                <a:cs typeface="DejaVu Serif"/>
              </a:rPr>
              <a:t>it.</a:t>
            </a:r>
            <a:endParaRPr sz="650">
              <a:latin typeface="DejaVu Serif"/>
              <a:cs typeface="DejaVu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91938" y="517779"/>
            <a:ext cx="869315" cy="685165"/>
            <a:chOff x="1691938" y="517779"/>
            <a:chExt cx="869315" cy="685165"/>
          </a:xfrm>
        </p:grpSpPr>
        <p:sp>
          <p:nvSpPr>
            <p:cNvPr id="5" name="object 5"/>
            <p:cNvSpPr/>
            <p:nvPr/>
          </p:nvSpPr>
          <p:spPr>
            <a:xfrm>
              <a:off x="1696700" y="522541"/>
              <a:ext cx="859790" cy="675640"/>
            </a:xfrm>
            <a:custGeom>
              <a:avLst/>
              <a:gdLst/>
              <a:ahLst/>
              <a:cxnLst/>
              <a:rect l="l" t="t" r="r" b="b"/>
              <a:pathLst>
                <a:path w="859789" h="675640">
                  <a:moveTo>
                    <a:pt x="33293" y="392438"/>
                  </a:moveTo>
                  <a:lnTo>
                    <a:pt x="689738" y="0"/>
                  </a:lnTo>
                </a:path>
                <a:path w="859789" h="675640">
                  <a:moveTo>
                    <a:pt x="33293" y="392438"/>
                  </a:moveTo>
                  <a:lnTo>
                    <a:pt x="11817" y="434494"/>
                  </a:lnTo>
                  <a:lnTo>
                    <a:pt x="701" y="482613"/>
                  </a:lnTo>
                  <a:lnTo>
                    <a:pt x="0" y="532965"/>
                  </a:lnTo>
                  <a:lnTo>
                    <a:pt x="9766" y="581720"/>
                  </a:lnTo>
                  <a:lnTo>
                    <a:pt x="30054" y="625046"/>
                  </a:lnTo>
                  <a:lnTo>
                    <a:pt x="66404" y="662294"/>
                  </a:lnTo>
                  <a:lnTo>
                    <a:pt x="108156" y="675610"/>
                  </a:lnTo>
                  <a:lnTo>
                    <a:pt x="150243" y="664840"/>
                  </a:lnTo>
                  <a:lnTo>
                    <a:pt x="187597" y="629828"/>
                  </a:lnTo>
                  <a:lnTo>
                    <a:pt x="203210" y="602248"/>
                  </a:lnTo>
                  <a:lnTo>
                    <a:pt x="740207" y="281232"/>
                  </a:lnTo>
                </a:path>
                <a:path w="859789" h="675640">
                  <a:moveTo>
                    <a:pt x="743184" y="279435"/>
                  </a:moveTo>
                  <a:lnTo>
                    <a:pt x="859662" y="209809"/>
                  </a:lnTo>
                </a:path>
                <a:path w="859789" h="675640">
                  <a:moveTo>
                    <a:pt x="689738" y="0"/>
                  </a:moveTo>
                  <a:lnTo>
                    <a:pt x="668276" y="42055"/>
                  </a:lnTo>
                  <a:lnTo>
                    <a:pt x="657169" y="90174"/>
                  </a:lnTo>
                  <a:lnTo>
                    <a:pt x="656475" y="140525"/>
                  </a:lnTo>
                  <a:lnTo>
                    <a:pt x="666247" y="189277"/>
                  </a:lnTo>
                  <a:lnTo>
                    <a:pt x="686543" y="232600"/>
                  </a:lnTo>
                  <a:lnTo>
                    <a:pt x="698824" y="248888"/>
                  </a:lnTo>
                  <a:lnTo>
                    <a:pt x="712522" y="262254"/>
                  </a:lnTo>
                  <a:lnTo>
                    <a:pt x="727390" y="272502"/>
                  </a:lnTo>
                  <a:lnTo>
                    <a:pt x="743184" y="279435"/>
                  </a:lnTo>
                </a:path>
              </a:pathLst>
            </a:custGeom>
            <a:ln w="8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89947" y="727920"/>
              <a:ext cx="70846" cy="758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59499" y="799323"/>
              <a:ext cx="635000" cy="379730"/>
            </a:xfrm>
            <a:custGeom>
              <a:avLst/>
              <a:gdLst/>
              <a:ahLst/>
              <a:cxnLst/>
              <a:rect l="l" t="t" r="r" b="b"/>
              <a:pathLst>
                <a:path w="635000" h="379730">
                  <a:moveTo>
                    <a:pt x="0" y="379573"/>
                  </a:moveTo>
                  <a:lnTo>
                    <a:pt x="634921" y="0"/>
                  </a:lnTo>
                </a:path>
              </a:pathLst>
            </a:custGeom>
            <a:ln w="8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31693" y="795045"/>
              <a:ext cx="362881" cy="2205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25972" y="674951"/>
              <a:ext cx="579755" cy="346710"/>
            </a:xfrm>
            <a:custGeom>
              <a:avLst/>
              <a:gdLst/>
              <a:ahLst/>
              <a:cxnLst/>
              <a:rect l="l" t="t" r="r" b="b"/>
              <a:pathLst>
                <a:path w="579755" h="346709">
                  <a:moveTo>
                    <a:pt x="0" y="346242"/>
                  </a:moveTo>
                  <a:lnTo>
                    <a:pt x="579201" y="0"/>
                  </a:lnTo>
                </a:path>
              </a:pathLst>
            </a:custGeom>
            <a:ln w="5364">
              <a:solidFill>
                <a:srgbClr val="000000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05164" y="650317"/>
              <a:ext cx="621030" cy="396240"/>
            </a:xfrm>
            <a:custGeom>
              <a:avLst/>
              <a:gdLst/>
              <a:ahLst/>
              <a:cxnLst/>
              <a:rect l="l" t="t" r="r" b="b"/>
              <a:pathLst>
                <a:path w="621030" h="396240">
                  <a:moveTo>
                    <a:pt x="36325" y="361680"/>
                  </a:moveTo>
                  <a:lnTo>
                    <a:pt x="30145" y="353610"/>
                  </a:lnTo>
                  <a:lnTo>
                    <a:pt x="22689" y="348459"/>
                  </a:lnTo>
                  <a:lnTo>
                    <a:pt x="14880" y="346650"/>
                  </a:lnTo>
                  <a:lnTo>
                    <a:pt x="7642" y="348604"/>
                  </a:lnTo>
                  <a:lnTo>
                    <a:pt x="2391" y="354117"/>
                  </a:lnTo>
                  <a:lnTo>
                    <a:pt x="0" y="362024"/>
                  </a:lnTo>
                  <a:lnTo>
                    <a:pt x="578" y="371287"/>
                  </a:lnTo>
                  <a:lnTo>
                    <a:pt x="4236" y="380868"/>
                  </a:lnTo>
                  <a:lnTo>
                    <a:pt x="10419" y="388938"/>
                  </a:lnTo>
                  <a:lnTo>
                    <a:pt x="17875" y="394088"/>
                  </a:lnTo>
                  <a:lnTo>
                    <a:pt x="25683" y="395897"/>
                  </a:lnTo>
                  <a:lnTo>
                    <a:pt x="32920" y="393944"/>
                  </a:lnTo>
                  <a:lnTo>
                    <a:pt x="38174" y="388431"/>
                  </a:lnTo>
                  <a:lnTo>
                    <a:pt x="40564" y="380524"/>
                  </a:lnTo>
                  <a:lnTo>
                    <a:pt x="39984" y="371261"/>
                  </a:lnTo>
                  <a:lnTo>
                    <a:pt x="36325" y="361680"/>
                  </a:lnTo>
                  <a:close/>
                </a:path>
                <a:path w="621030" h="396240">
                  <a:moveTo>
                    <a:pt x="33922" y="393350"/>
                  </a:moveTo>
                  <a:lnTo>
                    <a:pt x="613080" y="47100"/>
                  </a:lnTo>
                </a:path>
                <a:path w="621030" h="396240">
                  <a:moveTo>
                    <a:pt x="585994" y="3024"/>
                  </a:moveTo>
                  <a:lnTo>
                    <a:pt x="587882" y="1896"/>
                  </a:lnTo>
                </a:path>
                <a:path w="621030" h="396240">
                  <a:moveTo>
                    <a:pt x="8665" y="348138"/>
                  </a:moveTo>
                  <a:lnTo>
                    <a:pt x="585994" y="3024"/>
                  </a:lnTo>
                </a:path>
                <a:path w="621030" h="396240">
                  <a:moveTo>
                    <a:pt x="613080" y="47100"/>
                  </a:moveTo>
                  <a:lnTo>
                    <a:pt x="618240" y="41424"/>
                  </a:lnTo>
                  <a:lnTo>
                    <a:pt x="620487" y="33415"/>
                  </a:lnTo>
                  <a:lnTo>
                    <a:pt x="619738" y="24118"/>
                  </a:lnTo>
                  <a:lnTo>
                    <a:pt x="615912" y="14580"/>
                  </a:lnTo>
                  <a:lnTo>
                    <a:pt x="609836" y="6789"/>
                  </a:lnTo>
                  <a:lnTo>
                    <a:pt x="602541" y="1798"/>
                  </a:lnTo>
                  <a:lnTo>
                    <a:pt x="594906" y="0"/>
                  </a:lnTo>
                  <a:lnTo>
                    <a:pt x="587809" y="1783"/>
                  </a:lnTo>
                  <a:lnTo>
                    <a:pt x="587156" y="2144"/>
                  </a:lnTo>
                  <a:lnTo>
                    <a:pt x="586575" y="2558"/>
                  </a:lnTo>
                  <a:lnTo>
                    <a:pt x="585994" y="3024"/>
                  </a:lnTo>
                </a:path>
              </a:pathLst>
            </a:custGeom>
            <a:ln w="8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55224" y="681771"/>
              <a:ext cx="99695" cy="139065"/>
            </a:xfrm>
            <a:custGeom>
              <a:avLst/>
              <a:gdLst/>
              <a:ahLst/>
              <a:cxnLst/>
              <a:rect l="l" t="t" r="r" b="b"/>
              <a:pathLst>
                <a:path w="99694" h="139065">
                  <a:moveTo>
                    <a:pt x="95629" y="139056"/>
                  </a:moveTo>
                  <a:lnTo>
                    <a:pt x="0" y="0"/>
                  </a:lnTo>
                </a:path>
                <a:path w="99694" h="139065">
                  <a:moveTo>
                    <a:pt x="73757" y="135251"/>
                  </a:moveTo>
                  <a:lnTo>
                    <a:pt x="95629" y="139056"/>
                  </a:lnTo>
                  <a:lnTo>
                    <a:pt x="99311" y="116409"/>
                  </a:lnTo>
                </a:path>
              </a:pathLst>
            </a:custGeom>
            <a:ln w="5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807789" y="595513"/>
            <a:ext cx="256540" cy="977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dirty="0">
                <a:latin typeface="Times New Roman" panose="02020603050405020304"/>
                <a:cs typeface="Times New Roman" panose="02020603050405020304"/>
              </a:rPr>
              <a:t>Focal</a:t>
            </a:r>
            <a:r>
              <a:rPr sz="4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dirty="0">
                <a:latin typeface="Times New Roman" panose="02020603050405020304"/>
                <a:cs typeface="Times New Roman" panose="02020603050405020304"/>
              </a:rPr>
              <a:t>line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65339" y="414351"/>
            <a:ext cx="241935" cy="977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dirty="0">
                <a:latin typeface="Times New Roman" panose="02020603050405020304"/>
                <a:cs typeface="Times New Roman" panose="02020603050405020304"/>
              </a:rPr>
              <a:t>Reflector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99319" y="485924"/>
            <a:ext cx="210820" cy="158115"/>
          </a:xfrm>
          <a:custGeom>
            <a:avLst/>
            <a:gdLst/>
            <a:ahLst/>
            <a:cxnLst/>
            <a:rect l="l" t="t" r="r" b="b"/>
            <a:pathLst>
              <a:path w="210819" h="158115">
                <a:moveTo>
                  <a:pt x="67613" y="98325"/>
                </a:moveTo>
                <a:lnTo>
                  <a:pt x="0" y="0"/>
                </a:lnTo>
              </a:path>
              <a:path w="210819" h="158115">
                <a:moveTo>
                  <a:pt x="45741" y="94513"/>
                </a:moveTo>
                <a:lnTo>
                  <a:pt x="67613" y="98325"/>
                </a:lnTo>
                <a:lnTo>
                  <a:pt x="71295" y="75641"/>
                </a:lnTo>
              </a:path>
              <a:path w="210819" h="158115">
                <a:moveTo>
                  <a:pt x="193945" y="158004"/>
                </a:moveTo>
                <a:lnTo>
                  <a:pt x="199973" y="12782"/>
                </a:lnTo>
              </a:path>
              <a:path w="210819" h="158115">
                <a:moveTo>
                  <a:pt x="178986" y="141086"/>
                </a:moveTo>
                <a:lnTo>
                  <a:pt x="193945" y="158004"/>
                </a:lnTo>
                <a:lnTo>
                  <a:pt x="210284" y="142469"/>
                </a:lnTo>
              </a:path>
            </a:pathLst>
          </a:custGeom>
          <a:ln w="53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377006" y="414351"/>
            <a:ext cx="241935" cy="977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spc="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450" dirty="0">
                <a:latin typeface="Times New Roman" panose="02020603050405020304"/>
                <a:cs typeface="Times New Roman" panose="02020603050405020304"/>
              </a:rPr>
              <a:t>bsorber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02015" y="1213613"/>
            <a:ext cx="655320" cy="977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" b="1" i="1" dirty="0">
                <a:latin typeface="Times New Roman" panose="02020603050405020304"/>
                <a:cs typeface="Times New Roman" panose="02020603050405020304"/>
              </a:rPr>
              <a:t>Parabolic trough</a:t>
            </a:r>
            <a:r>
              <a:rPr sz="450" b="1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b="1" i="1" dirty="0">
                <a:latin typeface="Times New Roman" panose="02020603050405020304"/>
                <a:cs typeface="Times New Roman" panose="02020603050405020304"/>
              </a:rPr>
              <a:t>collector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4394" y="1427797"/>
            <a:ext cx="2477135" cy="420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5080" indent="-67310" algn="just">
              <a:lnSpc>
                <a:spcPct val="100000"/>
              </a:lnSpc>
              <a:spcBef>
                <a:spcPts val="100"/>
              </a:spcBef>
              <a:buSzPct val="85000"/>
              <a:buFont typeface="Wingdings" panose="05000000000000000000"/>
              <a:buChar char=""/>
              <a:tabLst>
                <a:tab pos="80010" algn="l"/>
              </a:tabLst>
            </a:pPr>
            <a:r>
              <a:rPr sz="650" spc="-20" dirty="0">
                <a:latin typeface="DejaVu Serif"/>
                <a:cs typeface="DejaVu Serif"/>
              </a:rPr>
              <a:t>Cylindrical </a:t>
            </a:r>
            <a:r>
              <a:rPr sz="650" spc="-25" dirty="0">
                <a:latin typeface="DejaVu Serif"/>
                <a:cs typeface="DejaVu Serif"/>
              </a:rPr>
              <a:t>parabolic </a:t>
            </a:r>
            <a:r>
              <a:rPr sz="650" spc="-30" dirty="0">
                <a:latin typeface="DejaVu Serif"/>
                <a:cs typeface="DejaVu Serif"/>
              </a:rPr>
              <a:t>collector </a:t>
            </a:r>
            <a:r>
              <a:rPr sz="650" spc="-5" dirty="0">
                <a:latin typeface="DejaVu Serif"/>
                <a:cs typeface="DejaVu Serif"/>
              </a:rPr>
              <a:t>usually </a:t>
            </a:r>
            <a:r>
              <a:rPr sz="650" spc="-40" dirty="0">
                <a:latin typeface="DejaVu Serif"/>
                <a:cs typeface="DejaVu Serif"/>
              </a:rPr>
              <a:t>offer </a:t>
            </a:r>
            <a:r>
              <a:rPr sz="650" spc="-20" dirty="0">
                <a:latin typeface="DejaVu Serif"/>
                <a:cs typeface="DejaVu Serif"/>
              </a:rPr>
              <a:t>temperatures  </a:t>
            </a:r>
            <a:r>
              <a:rPr sz="650" spc="-35" dirty="0">
                <a:latin typeface="DejaVu Serif"/>
                <a:cs typeface="DejaVu Serif"/>
              </a:rPr>
              <a:t>between</a:t>
            </a:r>
            <a:r>
              <a:rPr sz="650" spc="135" dirty="0">
                <a:latin typeface="DejaVu Serif"/>
                <a:cs typeface="DejaVu Serif"/>
              </a:rPr>
              <a:t> </a:t>
            </a:r>
            <a:r>
              <a:rPr sz="650" spc="-30" dirty="0">
                <a:latin typeface="DejaVu Serif"/>
                <a:cs typeface="DejaVu Serif"/>
              </a:rPr>
              <a:t>150°</a:t>
            </a:r>
            <a:r>
              <a:rPr sz="650" i="1" spc="-30" dirty="0">
                <a:latin typeface="Bookman Uralic"/>
                <a:cs typeface="Bookman Uralic"/>
              </a:rPr>
              <a:t>C  </a:t>
            </a:r>
            <a:r>
              <a:rPr sz="650" spc="-10" dirty="0">
                <a:latin typeface="DejaVu Serif"/>
                <a:cs typeface="DejaVu Serif"/>
              </a:rPr>
              <a:t>and  </a:t>
            </a:r>
            <a:r>
              <a:rPr sz="650" spc="-30" dirty="0">
                <a:latin typeface="DejaVu Serif"/>
                <a:cs typeface="DejaVu Serif"/>
              </a:rPr>
              <a:t>400°</a:t>
            </a:r>
            <a:r>
              <a:rPr sz="650" i="1" spc="-30" dirty="0">
                <a:latin typeface="Bookman Uralic"/>
                <a:cs typeface="Bookman Uralic"/>
              </a:rPr>
              <a:t>C  </a:t>
            </a:r>
            <a:r>
              <a:rPr sz="650" spc="-20" dirty="0">
                <a:latin typeface="DejaVu Serif"/>
                <a:cs typeface="DejaVu Serif"/>
              </a:rPr>
              <a:t>with </a:t>
            </a:r>
            <a:r>
              <a:rPr sz="650" b="1" i="1" spc="-5" dirty="0">
                <a:latin typeface="TeX Gyre Bonum"/>
                <a:cs typeface="TeX Gyre Bonum"/>
              </a:rPr>
              <a:t>concentration ratio  </a:t>
            </a:r>
            <a:r>
              <a:rPr sz="650" spc="-35" dirty="0">
                <a:latin typeface="DejaVu Serif"/>
                <a:cs typeface="DejaVu Serif"/>
              </a:rPr>
              <a:t>between </a:t>
            </a:r>
            <a:r>
              <a:rPr sz="650" spc="-20" dirty="0">
                <a:latin typeface="DejaVu Serif"/>
                <a:cs typeface="DejaVu Serif"/>
              </a:rPr>
              <a:t>10 </a:t>
            </a:r>
            <a:r>
              <a:rPr sz="650" spc="-10" dirty="0">
                <a:latin typeface="DejaVu Serif"/>
                <a:cs typeface="DejaVu Serif"/>
              </a:rPr>
              <a:t>and </a:t>
            </a:r>
            <a:r>
              <a:rPr sz="650" spc="-15" dirty="0">
                <a:latin typeface="DejaVu Serif"/>
                <a:cs typeface="DejaVu Serif"/>
              </a:rPr>
              <a:t>80, </a:t>
            </a:r>
            <a:r>
              <a:rPr sz="650" spc="-10" dirty="0">
                <a:latin typeface="DejaVu Serif"/>
                <a:cs typeface="DejaVu Serif"/>
              </a:rPr>
              <a:t>and </a:t>
            </a:r>
            <a:r>
              <a:rPr sz="650" spc="-30" dirty="0">
                <a:latin typeface="DejaVu Serif"/>
                <a:cs typeface="DejaVu Serif"/>
              </a:rPr>
              <a:t>are generally </a:t>
            </a:r>
            <a:r>
              <a:rPr sz="650" spc="-10" dirty="0">
                <a:latin typeface="DejaVu Serif"/>
                <a:cs typeface="DejaVu Serif"/>
              </a:rPr>
              <a:t>used </a:t>
            </a:r>
            <a:r>
              <a:rPr sz="650" spc="-35" dirty="0">
                <a:latin typeface="DejaVu Serif"/>
                <a:cs typeface="DejaVu Serif"/>
              </a:rPr>
              <a:t>for </a:t>
            </a:r>
            <a:r>
              <a:rPr sz="650" spc="-30" dirty="0">
                <a:latin typeface="DejaVu Serif"/>
                <a:cs typeface="DejaVu Serif"/>
              </a:rPr>
              <a:t>generating  </a:t>
            </a:r>
            <a:r>
              <a:rPr sz="650" spc="-20" dirty="0">
                <a:latin typeface="DejaVu Serif"/>
                <a:cs typeface="DejaVu Serif"/>
              </a:rPr>
              <a:t>steam </a:t>
            </a:r>
            <a:r>
              <a:rPr sz="650" spc="-35" dirty="0">
                <a:latin typeface="DejaVu Serif"/>
                <a:cs typeface="DejaVu Serif"/>
              </a:rPr>
              <a:t>for </a:t>
            </a:r>
            <a:r>
              <a:rPr sz="650" spc="-25" dirty="0">
                <a:latin typeface="DejaVu Serif"/>
                <a:cs typeface="DejaVu Serif"/>
              </a:rPr>
              <a:t>electricity</a:t>
            </a:r>
            <a:r>
              <a:rPr sz="650" spc="20" dirty="0">
                <a:latin typeface="DejaVu Serif"/>
                <a:cs typeface="DejaVu Serif"/>
              </a:rPr>
              <a:t> </a:t>
            </a:r>
            <a:r>
              <a:rPr sz="650" spc="-25" dirty="0">
                <a:latin typeface="DejaVu Serif"/>
                <a:cs typeface="DejaVu Serif"/>
              </a:rPr>
              <a:t>generation.</a:t>
            </a:r>
            <a:endParaRPr sz="650">
              <a:latin typeface="DejaVu Serif"/>
              <a:cs typeface="DejaVu Serif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35" y="1028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168" y="84328"/>
            <a:ext cx="20872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/>
              <a:t>Parabolic dish</a:t>
            </a:r>
            <a:r>
              <a:rPr sz="1300" spc="-65" dirty="0"/>
              <a:t> </a:t>
            </a:r>
            <a:r>
              <a:rPr sz="1300" spc="-10" dirty="0"/>
              <a:t>collector</a:t>
            </a:r>
            <a:endParaRPr sz="1300"/>
          </a:p>
        </p:txBody>
      </p:sp>
      <p:sp>
        <p:nvSpPr>
          <p:cNvPr id="3" name="object 3"/>
          <p:cNvSpPr txBox="1"/>
          <p:nvPr/>
        </p:nvSpPr>
        <p:spPr>
          <a:xfrm>
            <a:off x="103733" y="331850"/>
            <a:ext cx="2499360" cy="157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1600" marR="967105" indent="-67310" algn="just">
              <a:lnSpc>
                <a:spcPct val="99000"/>
              </a:lnSpc>
              <a:spcBef>
                <a:spcPts val="105"/>
              </a:spcBef>
              <a:buSzPct val="85000"/>
              <a:buFont typeface="Wingdings" panose="05000000000000000000"/>
              <a:buChar char=""/>
              <a:tabLst>
                <a:tab pos="102235" algn="l"/>
              </a:tabLst>
            </a:pPr>
            <a:r>
              <a:rPr sz="650" spc="-25" dirty="0">
                <a:latin typeface="DejaVu Serif"/>
                <a:cs typeface="DejaVu Serif"/>
              </a:rPr>
              <a:t>The paraboloic </a:t>
            </a:r>
            <a:r>
              <a:rPr sz="650" spc="-10" dirty="0">
                <a:latin typeface="DejaVu Serif"/>
                <a:cs typeface="DejaVu Serif"/>
              </a:rPr>
              <a:t>dish </a:t>
            </a:r>
            <a:r>
              <a:rPr sz="650" spc="-30" dirty="0">
                <a:latin typeface="DejaVu Serif"/>
                <a:cs typeface="DejaVu Serif"/>
              </a:rPr>
              <a:t>collector </a:t>
            </a:r>
            <a:r>
              <a:rPr sz="650" spc="-10" dirty="0">
                <a:latin typeface="DejaVu Serif"/>
                <a:cs typeface="DejaVu Serif"/>
              </a:rPr>
              <a:t>is </a:t>
            </a:r>
            <a:r>
              <a:rPr sz="650" spc="-30" dirty="0">
                <a:latin typeface="DejaVu Serif"/>
                <a:cs typeface="DejaVu Serif"/>
              </a:rPr>
              <a:t>of  </a:t>
            </a:r>
            <a:r>
              <a:rPr sz="650" b="1" i="1" spc="-5" dirty="0">
                <a:latin typeface="TeX Gyre Bonum"/>
                <a:cs typeface="TeX Gyre Bonum"/>
              </a:rPr>
              <a:t>point focussing </a:t>
            </a:r>
            <a:r>
              <a:rPr sz="650" spc="-25" dirty="0">
                <a:latin typeface="DejaVu Serif"/>
                <a:cs typeface="DejaVu Serif"/>
              </a:rPr>
              <a:t>type </a:t>
            </a:r>
            <a:r>
              <a:rPr sz="650" spc="-20" dirty="0">
                <a:latin typeface="DejaVu Serif"/>
                <a:cs typeface="DejaVu Serif"/>
              </a:rPr>
              <a:t>solar  </a:t>
            </a:r>
            <a:r>
              <a:rPr sz="650" spc="-25" dirty="0">
                <a:latin typeface="DejaVu Serif"/>
                <a:cs typeface="DejaVu Serif"/>
              </a:rPr>
              <a:t>collector. </a:t>
            </a:r>
            <a:r>
              <a:rPr sz="650" spc="-35" dirty="0">
                <a:latin typeface="DejaVu Serif"/>
                <a:cs typeface="DejaVu Serif"/>
              </a:rPr>
              <a:t>For </a:t>
            </a:r>
            <a:r>
              <a:rPr sz="650" spc="-20" dirty="0">
                <a:latin typeface="DejaVu Serif"/>
                <a:cs typeface="DejaVu Serif"/>
              </a:rPr>
              <a:t>point focussing type,  the </a:t>
            </a:r>
            <a:r>
              <a:rPr sz="650" spc="-35" dirty="0">
                <a:latin typeface="DejaVu Serif"/>
                <a:cs typeface="DejaVu Serif"/>
              </a:rPr>
              <a:t>receiver </a:t>
            </a:r>
            <a:r>
              <a:rPr sz="650" spc="-10" dirty="0">
                <a:latin typeface="DejaVu Serif"/>
                <a:cs typeface="DejaVu Serif"/>
              </a:rPr>
              <a:t>is </a:t>
            </a:r>
            <a:r>
              <a:rPr sz="650" spc="-25" dirty="0">
                <a:latin typeface="DejaVu Serif"/>
                <a:cs typeface="DejaVu Serif"/>
              </a:rPr>
              <a:t>placed </a:t>
            </a:r>
            <a:r>
              <a:rPr sz="650" spc="-20" dirty="0">
                <a:latin typeface="DejaVu Serif"/>
                <a:cs typeface="DejaVu Serif"/>
              </a:rPr>
              <a:t>at the </a:t>
            </a:r>
            <a:r>
              <a:rPr sz="650" i="1" spc="-5" dirty="0">
                <a:latin typeface="Bookman Uralic"/>
                <a:cs typeface="Bookman Uralic"/>
              </a:rPr>
              <a:t>focus  </a:t>
            </a:r>
            <a:r>
              <a:rPr sz="650" i="1" spc="-10" dirty="0">
                <a:latin typeface="Bookman Uralic"/>
                <a:cs typeface="Bookman Uralic"/>
              </a:rPr>
              <a:t>point </a:t>
            </a:r>
            <a:r>
              <a:rPr sz="650" spc="-35" dirty="0">
                <a:latin typeface="DejaVu Serif"/>
                <a:cs typeface="DejaVu Serif"/>
              </a:rPr>
              <a:t>of </a:t>
            </a:r>
            <a:r>
              <a:rPr sz="650" spc="-20" dirty="0">
                <a:latin typeface="DejaVu Serif"/>
                <a:cs typeface="DejaVu Serif"/>
              </a:rPr>
              <a:t>the</a:t>
            </a:r>
            <a:r>
              <a:rPr sz="650" spc="40" dirty="0">
                <a:latin typeface="DejaVu Serif"/>
                <a:cs typeface="DejaVu Serif"/>
              </a:rPr>
              <a:t> </a:t>
            </a:r>
            <a:r>
              <a:rPr sz="650" spc="-20" dirty="0">
                <a:latin typeface="DejaVu Serif"/>
                <a:cs typeface="DejaVu Serif"/>
              </a:rPr>
              <a:t>concentrator.</a:t>
            </a:r>
            <a:endParaRPr sz="650">
              <a:latin typeface="DejaVu Serif"/>
              <a:cs typeface="DejaVu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 panose="05000000000000000000"/>
              <a:buChar char=""/>
            </a:pPr>
            <a:endParaRPr sz="650">
              <a:latin typeface="DejaVu Serif"/>
              <a:cs typeface="DejaVu Serif"/>
            </a:endParaRPr>
          </a:p>
          <a:p>
            <a:pPr marL="101600" marR="965835" indent="-67310" algn="just">
              <a:lnSpc>
                <a:spcPct val="100000"/>
              </a:lnSpc>
              <a:buSzPct val="85000"/>
              <a:buFont typeface="Wingdings" panose="05000000000000000000"/>
              <a:buChar char=""/>
              <a:tabLst>
                <a:tab pos="128270" algn="l"/>
              </a:tabLst>
            </a:pPr>
            <a:r>
              <a:rPr sz="650" spc="-15" dirty="0">
                <a:latin typeface="DejaVu Serif"/>
                <a:cs typeface="DejaVu Serif"/>
              </a:rPr>
              <a:t>In </a:t>
            </a:r>
            <a:r>
              <a:rPr sz="650" spc="-10" dirty="0">
                <a:latin typeface="DejaVu Serif"/>
                <a:cs typeface="DejaVu Serif"/>
              </a:rPr>
              <a:t>this </a:t>
            </a:r>
            <a:r>
              <a:rPr sz="650" spc="-20" dirty="0">
                <a:latin typeface="DejaVu Serif"/>
                <a:cs typeface="DejaVu Serif"/>
              </a:rPr>
              <a:t>case, the </a:t>
            </a:r>
            <a:r>
              <a:rPr sz="650" spc="-25" dirty="0">
                <a:latin typeface="DejaVu Serif"/>
                <a:cs typeface="DejaVu Serif"/>
              </a:rPr>
              <a:t>tracking </a:t>
            </a:r>
            <a:r>
              <a:rPr sz="650" spc="-15" dirty="0">
                <a:latin typeface="DejaVu Serif"/>
                <a:cs typeface="DejaVu Serif"/>
              </a:rPr>
              <a:t>system  </a:t>
            </a:r>
            <a:r>
              <a:rPr sz="650" spc="-10" dirty="0">
                <a:latin typeface="DejaVu Serif"/>
                <a:cs typeface="DejaVu Serif"/>
              </a:rPr>
              <a:t>is</a:t>
            </a:r>
            <a:r>
              <a:rPr sz="650" spc="185" dirty="0">
                <a:latin typeface="DejaVu Serif"/>
                <a:cs typeface="DejaVu Serif"/>
              </a:rPr>
              <a:t> </a:t>
            </a:r>
            <a:r>
              <a:rPr sz="650" spc="-30" dirty="0">
                <a:latin typeface="DejaVu Serif"/>
                <a:cs typeface="DejaVu Serif"/>
              </a:rPr>
              <a:t>provided </a:t>
            </a:r>
            <a:r>
              <a:rPr sz="650" spc="-20" dirty="0">
                <a:latin typeface="DejaVu Serif"/>
                <a:cs typeface="DejaVu Serif"/>
              </a:rPr>
              <a:t>to </a:t>
            </a:r>
            <a:r>
              <a:rPr sz="650" spc="-15" dirty="0">
                <a:latin typeface="DejaVu Serif"/>
                <a:cs typeface="DejaVu Serif"/>
              </a:rPr>
              <a:t>track </a:t>
            </a:r>
            <a:r>
              <a:rPr sz="650" spc="-20" dirty="0">
                <a:latin typeface="DejaVu Serif"/>
                <a:cs typeface="DejaVu Serif"/>
              </a:rPr>
              <a:t>the </a:t>
            </a:r>
            <a:r>
              <a:rPr sz="650" spc="10" dirty="0">
                <a:latin typeface="DejaVu Serif"/>
                <a:cs typeface="DejaVu Serif"/>
              </a:rPr>
              <a:t>sun  </a:t>
            </a:r>
            <a:r>
              <a:rPr sz="650" spc="-15" dirty="0">
                <a:latin typeface="DejaVu Serif"/>
                <a:cs typeface="DejaVu Serif"/>
              </a:rPr>
              <a:t>automatically </a:t>
            </a:r>
            <a:r>
              <a:rPr sz="650" spc="-35" dirty="0">
                <a:latin typeface="DejaVu Serif"/>
                <a:cs typeface="DejaVu Serif"/>
              </a:rPr>
              <a:t>for </a:t>
            </a:r>
            <a:r>
              <a:rPr sz="650" spc="-20" dirty="0">
                <a:latin typeface="DejaVu Serif"/>
                <a:cs typeface="DejaVu Serif"/>
              </a:rPr>
              <a:t>all</a:t>
            </a:r>
            <a:r>
              <a:rPr sz="650" spc="15" dirty="0">
                <a:latin typeface="DejaVu Serif"/>
                <a:cs typeface="DejaVu Serif"/>
              </a:rPr>
              <a:t> </a:t>
            </a:r>
            <a:r>
              <a:rPr sz="650" spc="-15" dirty="0">
                <a:latin typeface="DejaVu Serif"/>
                <a:cs typeface="DejaVu Serif"/>
              </a:rPr>
              <a:t>times.</a:t>
            </a:r>
            <a:endParaRPr sz="650">
              <a:latin typeface="DejaVu Serif"/>
              <a:cs typeface="DejaVu Serif"/>
            </a:endParaRPr>
          </a:p>
          <a:p>
            <a:pPr marL="79375" marR="5080" indent="-67310" algn="just">
              <a:lnSpc>
                <a:spcPct val="100000"/>
              </a:lnSpc>
              <a:spcBef>
                <a:spcPts val="580"/>
              </a:spcBef>
              <a:buSzPct val="85000"/>
              <a:buFont typeface="Wingdings" panose="05000000000000000000"/>
              <a:buChar char=""/>
              <a:tabLst>
                <a:tab pos="80010" algn="l"/>
              </a:tabLst>
            </a:pPr>
            <a:r>
              <a:rPr sz="650" spc="-25" dirty="0">
                <a:latin typeface="DejaVu Serif"/>
                <a:cs typeface="DejaVu Serif"/>
              </a:rPr>
              <a:t>These collectors </a:t>
            </a:r>
            <a:r>
              <a:rPr sz="650" spc="-15" dirty="0">
                <a:latin typeface="DejaVu Serif"/>
                <a:cs typeface="DejaVu Serif"/>
              </a:rPr>
              <a:t>can </a:t>
            </a:r>
            <a:r>
              <a:rPr sz="650" spc="-20" dirty="0">
                <a:latin typeface="DejaVu Serif"/>
                <a:cs typeface="DejaVu Serif"/>
              </a:rPr>
              <a:t>have </a:t>
            </a:r>
            <a:r>
              <a:rPr sz="650" b="1" i="1" spc="-5" dirty="0">
                <a:latin typeface="TeX Gyre Bonum"/>
                <a:cs typeface="TeX Gyre Bonum"/>
              </a:rPr>
              <a:t>concentration ratio </a:t>
            </a:r>
            <a:r>
              <a:rPr sz="650" spc="-30" dirty="0">
                <a:latin typeface="DejaVu Serif"/>
                <a:cs typeface="DejaVu Serif"/>
              </a:rPr>
              <a:t>ranging  from </a:t>
            </a:r>
            <a:r>
              <a:rPr sz="650" spc="-20" dirty="0">
                <a:latin typeface="DejaVu Serif"/>
                <a:cs typeface="DejaVu Serif"/>
              </a:rPr>
              <a:t>100 to </a:t>
            </a:r>
            <a:r>
              <a:rPr sz="650" spc="-15" dirty="0">
                <a:latin typeface="DejaVu Serif"/>
                <a:cs typeface="DejaVu Serif"/>
              </a:rPr>
              <a:t>a </a:t>
            </a:r>
            <a:r>
              <a:rPr sz="650" spc="-50" dirty="0">
                <a:latin typeface="DejaVu Serif"/>
                <a:cs typeface="DejaVu Serif"/>
              </a:rPr>
              <a:t>few</a:t>
            </a:r>
            <a:r>
              <a:rPr sz="650" spc="45" dirty="0">
                <a:latin typeface="DejaVu Serif"/>
                <a:cs typeface="DejaVu Serif"/>
              </a:rPr>
              <a:t> </a:t>
            </a:r>
            <a:r>
              <a:rPr sz="650" spc="-5" dirty="0">
                <a:latin typeface="DejaVu Serif"/>
                <a:cs typeface="DejaVu Serif"/>
              </a:rPr>
              <a:t>thousand.</a:t>
            </a:r>
            <a:endParaRPr sz="650">
              <a:latin typeface="DejaVu Serif"/>
              <a:cs typeface="DejaVu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 panose="05000000000000000000"/>
              <a:buChar char=""/>
            </a:pPr>
            <a:endParaRPr sz="650">
              <a:latin typeface="DejaVu Serif"/>
              <a:cs typeface="DejaVu Serif"/>
            </a:endParaRPr>
          </a:p>
          <a:p>
            <a:pPr marL="79375" marR="5080" indent="-67310" algn="just">
              <a:lnSpc>
                <a:spcPct val="99000"/>
              </a:lnSpc>
              <a:buSzPct val="85000"/>
              <a:buFont typeface="Wingdings" panose="05000000000000000000"/>
              <a:buChar char=""/>
              <a:tabLst>
                <a:tab pos="80010" algn="l"/>
              </a:tabLst>
            </a:pPr>
            <a:r>
              <a:rPr sz="650" spc="-15" dirty="0">
                <a:latin typeface="DejaVu Serif"/>
                <a:cs typeface="DejaVu Serif"/>
              </a:rPr>
              <a:t>Around </a:t>
            </a:r>
            <a:r>
              <a:rPr sz="650" spc="-30" dirty="0">
                <a:latin typeface="DejaVu Serif"/>
                <a:cs typeface="DejaVu Serif"/>
              </a:rPr>
              <a:t>2000°</a:t>
            </a:r>
            <a:r>
              <a:rPr sz="650" i="1" spc="-30" dirty="0">
                <a:latin typeface="Bookman Uralic"/>
                <a:cs typeface="Bookman Uralic"/>
              </a:rPr>
              <a:t>C  </a:t>
            </a:r>
            <a:r>
              <a:rPr sz="650" spc="-25" dirty="0">
                <a:latin typeface="DejaVu Serif"/>
                <a:cs typeface="DejaVu Serif"/>
              </a:rPr>
              <a:t>temperature </a:t>
            </a:r>
            <a:r>
              <a:rPr sz="650" spc="-15" dirty="0">
                <a:latin typeface="DejaVu Serif"/>
                <a:cs typeface="DejaVu Serif"/>
              </a:rPr>
              <a:t>can </a:t>
            </a:r>
            <a:r>
              <a:rPr sz="650" spc="-40" dirty="0">
                <a:latin typeface="DejaVu Serif"/>
                <a:cs typeface="DejaVu Serif"/>
              </a:rPr>
              <a:t>be </a:t>
            </a:r>
            <a:r>
              <a:rPr sz="650" spc="-25" dirty="0">
                <a:latin typeface="DejaVu Serif"/>
                <a:cs typeface="DejaVu Serif"/>
              </a:rPr>
              <a:t>achieved by </a:t>
            </a:r>
            <a:r>
              <a:rPr sz="650" spc="-5" dirty="0">
                <a:latin typeface="DejaVu Serif"/>
                <a:cs typeface="DejaVu Serif"/>
              </a:rPr>
              <a:t>this  </a:t>
            </a:r>
            <a:r>
              <a:rPr sz="650" spc="-30" dirty="0">
                <a:latin typeface="DejaVu Serif"/>
                <a:cs typeface="DejaVu Serif"/>
              </a:rPr>
              <a:t>collector </a:t>
            </a:r>
            <a:r>
              <a:rPr sz="650" spc="-10" dirty="0">
                <a:latin typeface="DejaVu Serif"/>
                <a:cs typeface="DejaVu Serif"/>
              </a:rPr>
              <a:t>and </a:t>
            </a:r>
            <a:r>
              <a:rPr sz="650" spc="-30" dirty="0">
                <a:latin typeface="DejaVu Serif"/>
                <a:cs typeface="DejaVu Serif"/>
              </a:rPr>
              <a:t>are </a:t>
            </a:r>
            <a:r>
              <a:rPr sz="650" spc="-10" dirty="0">
                <a:latin typeface="DejaVu Serif"/>
                <a:cs typeface="DejaVu Serif"/>
              </a:rPr>
              <a:t>used </a:t>
            </a:r>
            <a:r>
              <a:rPr sz="650" spc="-35" dirty="0">
                <a:latin typeface="DejaVu Serif"/>
                <a:cs typeface="DejaVu Serif"/>
              </a:rPr>
              <a:t>for </a:t>
            </a:r>
            <a:r>
              <a:rPr sz="650" spc="-30" dirty="0">
                <a:latin typeface="DejaVu Serif"/>
                <a:cs typeface="DejaVu Serif"/>
              </a:rPr>
              <a:t>generating </a:t>
            </a:r>
            <a:r>
              <a:rPr sz="650" spc="-20" dirty="0">
                <a:latin typeface="DejaVu Serif"/>
                <a:cs typeface="DejaVu Serif"/>
              </a:rPr>
              <a:t>steam </a:t>
            </a:r>
            <a:r>
              <a:rPr sz="650" spc="-35" dirty="0">
                <a:latin typeface="DejaVu Serif"/>
                <a:cs typeface="DejaVu Serif"/>
              </a:rPr>
              <a:t>for </a:t>
            </a:r>
            <a:r>
              <a:rPr sz="650" spc="-25" dirty="0">
                <a:latin typeface="DejaVu Serif"/>
                <a:cs typeface="DejaVu Serif"/>
              </a:rPr>
              <a:t>electricity  generation.</a:t>
            </a:r>
            <a:endParaRPr sz="650">
              <a:latin typeface="DejaVu Serif"/>
              <a:cs typeface="DejaVu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12192" y="0"/>
            <a:ext cx="2705735" cy="2035175"/>
            <a:chOff x="-12192" y="0"/>
            <a:chExt cx="2705735" cy="2035175"/>
          </a:xfrm>
        </p:grpSpPr>
        <p:sp>
          <p:nvSpPr>
            <p:cNvPr id="5" name="object 5"/>
            <p:cNvSpPr/>
            <p:nvPr/>
          </p:nvSpPr>
          <p:spPr>
            <a:xfrm>
              <a:off x="2124921" y="392809"/>
              <a:ext cx="221073" cy="2707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5036" y="478383"/>
              <a:ext cx="438784" cy="469265"/>
            </a:xfrm>
            <a:custGeom>
              <a:avLst/>
              <a:gdLst/>
              <a:ahLst/>
              <a:cxnLst/>
              <a:rect l="l" t="t" r="r" b="b"/>
              <a:pathLst>
                <a:path w="438785" h="469265">
                  <a:moveTo>
                    <a:pt x="315161" y="144021"/>
                  </a:moveTo>
                  <a:lnTo>
                    <a:pt x="438381" y="469184"/>
                  </a:lnTo>
                </a:path>
                <a:path w="438785" h="469265">
                  <a:moveTo>
                    <a:pt x="0" y="0"/>
                  </a:moveTo>
                  <a:lnTo>
                    <a:pt x="77333" y="204069"/>
                  </a:lnTo>
                </a:path>
              </a:pathLst>
            </a:custGeom>
            <a:ln w="101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69361" y="670835"/>
              <a:ext cx="43180" cy="28575"/>
            </a:xfrm>
            <a:custGeom>
              <a:avLst/>
              <a:gdLst/>
              <a:ahLst/>
              <a:cxnLst/>
              <a:rect l="l" t="t" r="r" b="b"/>
              <a:pathLst>
                <a:path w="43180" h="28575">
                  <a:moveTo>
                    <a:pt x="42894" y="0"/>
                  </a:moveTo>
                  <a:lnTo>
                    <a:pt x="0" y="14997"/>
                  </a:lnTo>
                  <a:lnTo>
                    <a:pt x="29259" y="28093"/>
                  </a:lnTo>
                  <a:lnTo>
                    <a:pt x="428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9986" y="518593"/>
              <a:ext cx="349250" cy="577215"/>
            </a:xfrm>
            <a:custGeom>
              <a:avLst/>
              <a:gdLst/>
              <a:ahLst/>
              <a:cxnLst/>
              <a:rect l="l" t="t" r="r" b="b"/>
              <a:pathLst>
                <a:path w="349250" h="577215">
                  <a:moveTo>
                    <a:pt x="198634" y="180336"/>
                  </a:moveTo>
                  <a:lnTo>
                    <a:pt x="348831" y="576683"/>
                  </a:lnTo>
                </a:path>
                <a:path w="349250" h="577215">
                  <a:moveTo>
                    <a:pt x="0" y="0"/>
                  </a:moveTo>
                  <a:lnTo>
                    <a:pt x="75517" y="199278"/>
                  </a:lnTo>
                </a:path>
              </a:pathLst>
            </a:custGeom>
            <a:ln w="101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52496" y="706253"/>
              <a:ext cx="43180" cy="28575"/>
            </a:xfrm>
            <a:custGeom>
              <a:avLst/>
              <a:gdLst/>
              <a:ahLst/>
              <a:cxnLst/>
              <a:rect l="l" t="t" r="r" b="b"/>
              <a:pathLst>
                <a:path w="43180" h="28575">
                  <a:moveTo>
                    <a:pt x="42894" y="0"/>
                  </a:moveTo>
                  <a:lnTo>
                    <a:pt x="0" y="14997"/>
                  </a:lnTo>
                  <a:lnTo>
                    <a:pt x="29250" y="28101"/>
                  </a:lnTo>
                  <a:lnTo>
                    <a:pt x="428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84829" y="558852"/>
              <a:ext cx="343535" cy="561975"/>
            </a:xfrm>
            <a:custGeom>
              <a:avLst/>
              <a:gdLst/>
              <a:ahLst/>
              <a:cxnLst/>
              <a:rect l="l" t="t" r="r" b="b"/>
              <a:pathLst>
                <a:path w="343535" h="561975">
                  <a:moveTo>
                    <a:pt x="196917" y="175502"/>
                  </a:moveTo>
                  <a:lnTo>
                    <a:pt x="343310" y="561785"/>
                  </a:lnTo>
                </a:path>
                <a:path w="343535" h="561975">
                  <a:moveTo>
                    <a:pt x="0" y="0"/>
                  </a:moveTo>
                  <a:lnTo>
                    <a:pt x="73801" y="194445"/>
                  </a:lnTo>
                </a:path>
              </a:pathLst>
            </a:custGeom>
            <a:ln w="101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35622" y="741671"/>
              <a:ext cx="43180" cy="28575"/>
            </a:xfrm>
            <a:custGeom>
              <a:avLst/>
              <a:gdLst/>
              <a:ahLst/>
              <a:cxnLst/>
              <a:rect l="l" t="t" r="r" b="b"/>
              <a:pathLst>
                <a:path w="43180" h="28575">
                  <a:moveTo>
                    <a:pt x="42886" y="0"/>
                  </a:moveTo>
                  <a:lnTo>
                    <a:pt x="0" y="15014"/>
                  </a:lnTo>
                  <a:lnTo>
                    <a:pt x="29259" y="28101"/>
                  </a:lnTo>
                  <a:lnTo>
                    <a:pt x="428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64882" y="769773"/>
              <a:ext cx="226695" cy="342265"/>
            </a:xfrm>
            <a:custGeom>
              <a:avLst/>
              <a:gdLst/>
              <a:ahLst/>
              <a:cxnLst/>
              <a:rect l="l" t="t" r="r" b="b"/>
              <a:pathLst>
                <a:path w="226694" h="342265">
                  <a:moveTo>
                    <a:pt x="0" y="0"/>
                  </a:moveTo>
                  <a:lnTo>
                    <a:pt x="129696" y="342236"/>
                  </a:lnTo>
                  <a:lnTo>
                    <a:pt x="226389" y="181374"/>
                  </a:lnTo>
                </a:path>
              </a:pathLst>
            </a:custGeom>
            <a:ln w="102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69223" y="842074"/>
              <a:ext cx="92983" cy="28374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86420" y="663511"/>
              <a:ext cx="631825" cy="459105"/>
            </a:xfrm>
            <a:custGeom>
              <a:avLst/>
              <a:gdLst/>
              <a:ahLst/>
              <a:cxnLst/>
              <a:rect l="l" t="t" r="r" b="b"/>
              <a:pathLst>
                <a:path w="631825" h="459105">
                  <a:moveTo>
                    <a:pt x="329065" y="0"/>
                  </a:moveTo>
                  <a:lnTo>
                    <a:pt x="471368" y="375503"/>
                  </a:lnTo>
                </a:path>
                <a:path w="631825" h="459105">
                  <a:moveTo>
                    <a:pt x="631620" y="168278"/>
                  </a:moveTo>
                  <a:lnTo>
                    <a:pt x="612325" y="212263"/>
                  </a:lnTo>
                  <a:lnTo>
                    <a:pt x="589024" y="253071"/>
                  </a:lnTo>
                  <a:lnTo>
                    <a:pt x="562028" y="290575"/>
                  </a:lnTo>
                  <a:lnTo>
                    <a:pt x="531646" y="324650"/>
                  </a:lnTo>
                  <a:lnTo>
                    <a:pt x="498188" y="355168"/>
                  </a:lnTo>
                  <a:lnTo>
                    <a:pt x="461963" y="382003"/>
                  </a:lnTo>
                  <a:lnTo>
                    <a:pt x="423280" y="405028"/>
                  </a:lnTo>
                  <a:lnTo>
                    <a:pt x="382451" y="424117"/>
                  </a:lnTo>
                  <a:lnTo>
                    <a:pt x="339784" y="439144"/>
                  </a:lnTo>
                  <a:lnTo>
                    <a:pt x="295589" y="449981"/>
                  </a:lnTo>
                  <a:lnTo>
                    <a:pt x="250175" y="456503"/>
                  </a:lnTo>
                  <a:lnTo>
                    <a:pt x="203852" y="458582"/>
                  </a:lnTo>
                  <a:lnTo>
                    <a:pt x="156931" y="456093"/>
                  </a:lnTo>
                  <a:lnTo>
                    <a:pt x="109719" y="448908"/>
                  </a:lnTo>
                  <a:lnTo>
                    <a:pt x="62528" y="436902"/>
                  </a:lnTo>
                  <a:lnTo>
                    <a:pt x="15667" y="419948"/>
                  </a:lnTo>
                  <a:lnTo>
                    <a:pt x="5187" y="415463"/>
                  </a:lnTo>
                  <a:lnTo>
                    <a:pt x="0" y="413088"/>
                  </a:lnTo>
                </a:path>
              </a:pathLst>
            </a:custGeom>
            <a:ln w="101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48650" y="842177"/>
              <a:ext cx="309772" cy="2019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127"/>
              <a:ext cx="2681605" cy="2011045"/>
            </a:xfrm>
            <a:custGeom>
              <a:avLst/>
              <a:gdLst/>
              <a:ahLst/>
              <a:cxnLst/>
              <a:rect l="l" t="t" r="r" b="b"/>
              <a:pathLst>
                <a:path w="2681605" h="2011045">
                  <a:moveTo>
                    <a:pt x="0" y="2010790"/>
                  </a:moveTo>
                  <a:lnTo>
                    <a:pt x="2681351" y="201079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79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8698" y="57530"/>
            <a:ext cx="13315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Solar </a:t>
            </a:r>
            <a:r>
              <a:rPr sz="1300" b="1" i="1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1300" b="1" i="1" spc="-1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Heater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1556" y="0"/>
            <a:ext cx="2705735" cy="2035175"/>
            <a:chOff x="-11556" y="0"/>
            <a:chExt cx="2705735" cy="2035175"/>
          </a:xfrm>
        </p:grpSpPr>
        <p:sp>
          <p:nvSpPr>
            <p:cNvPr id="4" name="object 4"/>
            <p:cNvSpPr/>
            <p:nvPr/>
          </p:nvSpPr>
          <p:spPr>
            <a:xfrm>
              <a:off x="379857" y="290703"/>
              <a:ext cx="1988566" cy="167614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5" y="127"/>
              <a:ext cx="2681605" cy="2011045"/>
            </a:xfrm>
            <a:custGeom>
              <a:avLst/>
              <a:gdLst/>
              <a:ahLst/>
              <a:cxnLst/>
              <a:rect l="l" t="t" r="r" b="b"/>
              <a:pathLst>
                <a:path w="2681605" h="2011045">
                  <a:moveTo>
                    <a:pt x="0" y="2010790"/>
                  </a:moveTo>
                  <a:lnTo>
                    <a:pt x="2681351" y="201079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79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039" y="311721"/>
            <a:ext cx="2342515" cy="145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700" i="1" dirty="0">
                <a:latin typeface="Times New Roman" panose="02020603050405020304"/>
                <a:cs typeface="Times New Roman" panose="02020603050405020304"/>
              </a:rPr>
              <a:t>Solar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direct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thermal applications involve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the direct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use of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heat  for various applications</a:t>
            </a:r>
            <a:r>
              <a:rPr sz="700" i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like,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381000" indent="-135890">
              <a:lnSpc>
                <a:spcPct val="100000"/>
              </a:lnSpc>
              <a:spcBef>
                <a:spcPts val="360"/>
              </a:spcBef>
              <a:buFont typeface="Wingdings" panose="05000000000000000000"/>
              <a:buChar char=""/>
              <a:tabLst>
                <a:tab pos="381635" algn="l"/>
              </a:tabLst>
            </a:pP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Solar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700" i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heater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381000" indent="-135890">
              <a:lnSpc>
                <a:spcPct val="100000"/>
              </a:lnSpc>
              <a:spcBef>
                <a:spcPts val="360"/>
              </a:spcBef>
              <a:buFont typeface="Wingdings" panose="05000000000000000000"/>
              <a:buChar char=""/>
              <a:tabLst>
                <a:tab pos="381635" algn="l"/>
              </a:tabLst>
            </a:pP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Solar</a:t>
            </a:r>
            <a:r>
              <a:rPr sz="700" i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Cooker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381000" indent="-135890">
              <a:lnSpc>
                <a:spcPct val="100000"/>
              </a:lnSpc>
              <a:spcBef>
                <a:spcPts val="350"/>
              </a:spcBef>
              <a:buFont typeface="Wingdings" panose="05000000000000000000"/>
              <a:buChar char=""/>
              <a:tabLst>
                <a:tab pos="381635" algn="l"/>
              </a:tabLst>
            </a:pP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Solar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Crop</a:t>
            </a:r>
            <a:r>
              <a:rPr sz="700" i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dryer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381000" indent="-135890">
              <a:lnSpc>
                <a:spcPct val="100000"/>
              </a:lnSpc>
              <a:spcBef>
                <a:spcPts val="360"/>
              </a:spcBef>
              <a:buFont typeface="Wingdings" panose="05000000000000000000"/>
              <a:buChar char=""/>
              <a:tabLst>
                <a:tab pos="381635" algn="l"/>
              </a:tabLst>
            </a:pP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Solar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Distillation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or Solar</a:t>
            </a:r>
            <a:r>
              <a:rPr sz="700" i="1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spc="-5" dirty="0">
                <a:latin typeface="Times New Roman" panose="02020603050405020304"/>
                <a:cs typeface="Times New Roman" panose="02020603050405020304"/>
              </a:rPr>
              <a:t>still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381000" indent="-135890">
              <a:lnSpc>
                <a:spcPct val="100000"/>
              </a:lnSpc>
              <a:spcBef>
                <a:spcPts val="360"/>
              </a:spcBef>
              <a:buFont typeface="Wingdings" panose="05000000000000000000"/>
              <a:buChar char=""/>
              <a:tabLst>
                <a:tab pos="381635" algn="l"/>
              </a:tabLst>
            </a:pP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Solar</a:t>
            </a:r>
            <a:r>
              <a:rPr sz="700" i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Pumping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381000" indent="-135890">
              <a:lnSpc>
                <a:spcPct val="100000"/>
              </a:lnSpc>
              <a:spcBef>
                <a:spcPts val="350"/>
              </a:spcBef>
              <a:buFont typeface="Wingdings" panose="05000000000000000000"/>
              <a:buChar char=""/>
              <a:tabLst>
                <a:tab pos="381635" algn="l"/>
              </a:tabLst>
            </a:pP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Solar</a:t>
            </a:r>
            <a:r>
              <a:rPr sz="700" i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Space</a:t>
            </a:r>
            <a:r>
              <a:rPr sz="700" i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heating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381000" indent="-135890">
              <a:lnSpc>
                <a:spcPct val="100000"/>
              </a:lnSpc>
              <a:spcBef>
                <a:spcPts val="360"/>
              </a:spcBef>
              <a:buFont typeface="Wingdings" panose="05000000000000000000"/>
              <a:buChar char=""/>
              <a:tabLst>
                <a:tab pos="381635" algn="l"/>
              </a:tabLst>
            </a:pP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Solar</a:t>
            </a:r>
            <a:r>
              <a:rPr sz="700" i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Space</a:t>
            </a:r>
            <a:r>
              <a:rPr sz="700" i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cooling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381000" indent="-135890">
              <a:lnSpc>
                <a:spcPct val="100000"/>
              </a:lnSpc>
              <a:spcBef>
                <a:spcPts val="360"/>
              </a:spcBef>
              <a:buFont typeface="Wingdings" panose="05000000000000000000"/>
              <a:buChar char=""/>
              <a:tabLst>
                <a:tab pos="381635" algn="l"/>
              </a:tabLst>
            </a:pPr>
            <a:r>
              <a:rPr sz="700" i="1" spc="5" dirty="0">
                <a:latin typeface="Times New Roman" panose="02020603050405020304"/>
                <a:cs typeface="Times New Roman" panose="02020603050405020304"/>
              </a:rPr>
              <a:t>Solar</a:t>
            </a:r>
            <a:r>
              <a:rPr sz="700" i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i="1" dirty="0">
                <a:latin typeface="Times New Roman" panose="02020603050405020304"/>
                <a:cs typeface="Times New Roman" panose="02020603050405020304"/>
              </a:rPr>
              <a:t>furnace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9583" y="77279"/>
            <a:ext cx="244348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" dirty="0"/>
              <a:t>Solar </a:t>
            </a:r>
            <a:r>
              <a:rPr spc="15" dirty="0"/>
              <a:t>thermal </a:t>
            </a:r>
            <a:r>
              <a:rPr spc="5" dirty="0"/>
              <a:t>electric</a:t>
            </a:r>
            <a:r>
              <a:rPr spc="-100" dirty="0"/>
              <a:t> </a:t>
            </a:r>
            <a:r>
              <a:rPr spc="15" dirty="0"/>
              <a:t>systems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028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9118" y="98615"/>
            <a:ext cx="206628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Solar Distillation or Solar</a:t>
            </a:r>
            <a:r>
              <a:rPr sz="1300" b="1" i="1" spc="-7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still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1556" y="0"/>
            <a:ext cx="2705735" cy="2035175"/>
            <a:chOff x="-11556" y="0"/>
            <a:chExt cx="2705735" cy="2035175"/>
          </a:xfrm>
        </p:grpSpPr>
        <p:sp>
          <p:nvSpPr>
            <p:cNvPr id="4" name="object 4"/>
            <p:cNvSpPr/>
            <p:nvPr/>
          </p:nvSpPr>
          <p:spPr>
            <a:xfrm>
              <a:off x="134112" y="402361"/>
              <a:ext cx="2480182" cy="142971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5" y="1028"/>
              <a:ext cx="2681605" cy="2010410"/>
            </a:xfrm>
            <a:custGeom>
              <a:avLst/>
              <a:gdLst/>
              <a:ahLst/>
              <a:cxnLst/>
              <a:rect l="l" t="t" r="r" b="b"/>
              <a:pathLst>
                <a:path w="2681605" h="2010410">
                  <a:moveTo>
                    <a:pt x="0" y="2010410"/>
                  </a:moveTo>
                  <a:lnTo>
                    <a:pt x="2681351" y="201041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41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935" y="97790"/>
            <a:ext cx="13836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Solar Space</a:t>
            </a:r>
            <a:r>
              <a:rPr sz="1300" b="1" i="1" spc="-8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heating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2192" y="0"/>
            <a:ext cx="2705735" cy="2035175"/>
            <a:chOff x="-12192" y="0"/>
            <a:chExt cx="2705735" cy="2035175"/>
          </a:xfrm>
        </p:grpSpPr>
        <p:sp>
          <p:nvSpPr>
            <p:cNvPr id="4" name="object 4"/>
            <p:cNvSpPr/>
            <p:nvPr/>
          </p:nvSpPr>
          <p:spPr>
            <a:xfrm>
              <a:off x="89369" y="491744"/>
              <a:ext cx="2488294" cy="13517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27"/>
              <a:ext cx="2681605" cy="2011045"/>
            </a:xfrm>
            <a:custGeom>
              <a:avLst/>
              <a:gdLst/>
              <a:ahLst/>
              <a:cxnLst/>
              <a:rect l="l" t="t" r="r" b="b"/>
              <a:pathLst>
                <a:path w="2681605" h="2011045">
                  <a:moveTo>
                    <a:pt x="0" y="2010790"/>
                  </a:moveTo>
                  <a:lnTo>
                    <a:pt x="2681351" y="201079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79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" y="39496"/>
            <a:ext cx="255651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" dirty="0"/>
              <a:t>Solar </a:t>
            </a:r>
            <a:r>
              <a:rPr spc="15" dirty="0"/>
              <a:t>thermal </a:t>
            </a:r>
            <a:r>
              <a:rPr spc="10" dirty="0"/>
              <a:t>power</a:t>
            </a:r>
            <a:r>
              <a:rPr spc="-105" dirty="0"/>
              <a:t> </a:t>
            </a:r>
            <a:r>
              <a:rPr spc="10" dirty="0"/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788" y="294386"/>
            <a:ext cx="2545715" cy="1574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030" marR="5080" indent="-100965" algn="just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13030" algn="l"/>
              </a:tabLst>
            </a:pPr>
            <a:r>
              <a:rPr sz="650" spc="-25" dirty="0">
                <a:latin typeface="DejaVu Serif"/>
                <a:cs typeface="DejaVu Serif"/>
              </a:rPr>
              <a:t>Solar </a:t>
            </a:r>
            <a:r>
              <a:rPr sz="650" spc="-20" dirty="0">
                <a:latin typeface="DejaVu Serif"/>
                <a:cs typeface="DejaVu Serif"/>
              </a:rPr>
              <a:t>thermal </a:t>
            </a:r>
            <a:r>
              <a:rPr sz="650" spc="-30" dirty="0">
                <a:latin typeface="DejaVu Serif"/>
                <a:cs typeface="DejaVu Serif"/>
              </a:rPr>
              <a:t>electric </a:t>
            </a:r>
            <a:r>
              <a:rPr sz="650" spc="-40" dirty="0">
                <a:latin typeface="DejaVu Serif"/>
                <a:cs typeface="DejaVu Serif"/>
              </a:rPr>
              <a:t>power </a:t>
            </a:r>
            <a:r>
              <a:rPr sz="650" spc="-10" dirty="0">
                <a:latin typeface="DejaVu Serif"/>
                <a:cs typeface="DejaVu Serif"/>
              </a:rPr>
              <a:t>plants </a:t>
            </a:r>
            <a:r>
              <a:rPr sz="650" spc="-30" dirty="0">
                <a:latin typeface="DejaVu Serif"/>
                <a:cs typeface="DejaVu Serif"/>
              </a:rPr>
              <a:t>generally </a:t>
            </a:r>
            <a:r>
              <a:rPr sz="650" spc="-10" dirty="0">
                <a:latin typeface="DejaVu Serif"/>
                <a:cs typeface="DejaVu Serif"/>
              </a:rPr>
              <a:t>use  </a:t>
            </a:r>
            <a:r>
              <a:rPr sz="650" spc="-25" dirty="0">
                <a:latin typeface="DejaVu Serif"/>
                <a:cs typeface="DejaVu Serif"/>
              </a:rPr>
              <a:t>concentrated </a:t>
            </a:r>
            <a:r>
              <a:rPr sz="650" spc="-15" dirty="0">
                <a:latin typeface="DejaVu Serif"/>
                <a:cs typeface="DejaVu Serif"/>
              </a:rPr>
              <a:t>sunlight </a:t>
            </a:r>
            <a:r>
              <a:rPr sz="650" spc="-20" dirty="0">
                <a:latin typeface="DejaVu Serif"/>
                <a:cs typeface="DejaVu Serif"/>
              </a:rPr>
              <a:t>obtained through </a:t>
            </a:r>
            <a:r>
              <a:rPr sz="650" spc="-15" dirty="0">
                <a:latin typeface="DejaVu Serif"/>
                <a:cs typeface="DejaVu Serif"/>
              </a:rPr>
              <a:t>various </a:t>
            </a:r>
            <a:r>
              <a:rPr sz="650" spc="-25" dirty="0">
                <a:latin typeface="DejaVu Serif"/>
                <a:cs typeface="DejaVu Serif"/>
              </a:rPr>
              <a:t>mirror  </a:t>
            </a:r>
            <a:r>
              <a:rPr sz="650" spc="-20" dirty="0">
                <a:latin typeface="DejaVu Serif"/>
                <a:cs typeface="DejaVu Serif"/>
              </a:rPr>
              <a:t>configurations to </a:t>
            </a:r>
            <a:r>
              <a:rPr sz="650" spc="-15" dirty="0">
                <a:latin typeface="DejaVu Serif"/>
                <a:cs typeface="DejaVu Serif"/>
              </a:rPr>
              <a:t>focus </a:t>
            </a:r>
            <a:r>
              <a:rPr sz="650" spc="-20" dirty="0">
                <a:latin typeface="DejaVu Serif"/>
                <a:cs typeface="DejaVu Serif"/>
              </a:rPr>
              <a:t>the </a:t>
            </a:r>
            <a:r>
              <a:rPr sz="650" spc="-35" dirty="0">
                <a:latin typeface="DejaVu Serif"/>
                <a:cs typeface="DejaVu Serif"/>
              </a:rPr>
              <a:t>sun‟s energy </a:t>
            </a:r>
            <a:r>
              <a:rPr sz="650" spc="-20" dirty="0">
                <a:latin typeface="DejaVu Serif"/>
                <a:cs typeface="DejaVu Serif"/>
              </a:rPr>
              <a:t>to </a:t>
            </a:r>
            <a:r>
              <a:rPr sz="650" spc="-25" dirty="0">
                <a:latin typeface="DejaVu Serif"/>
                <a:cs typeface="DejaVu Serif"/>
              </a:rPr>
              <a:t>produce high  temperature</a:t>
            </a:r>
            <a:r>
              <a:rPr sz="650" spc="-40" dirty="0">
                <a:latin typeface="DejaVu Serif"/>
                <a:cs typeface="DejaVu Serif"/>
              </a:rPr>
              <a:t> </a:t>
            </a:r>
            <a:r>
              <a:rPr sz="650" spc="-15" dirty="0">
                <a:latin typeface="DejaVu Serif"/>
                <a:cs typeface="DejaVu Serif"/>
              </a:rPr>
              <a:t>heat.</a:t>
            </a:r>
            <a:endParaRPr sz="650">
              <a:latin typeface="DejaVu Serif"/>
              <a:cs typeface="DejaVu Serif"/>
            </a:endParaRPr>
          </a:p>
          <a:p>
            <a:pPr marL="113030" marR="5715" indent="-100965" algn="just">
              <a:lnSpc>
                <a:spcPct val="100000"/>
              </a:lnSpc>
              <a:spcBef>
                <a:spcPts val="515"/>
              </a:spcBef>
              <a:buFont typeface="Wingdings" panose="05000000000000000000"/>
              <a:buChar char=""/>
              <a:tabLst>
                <a:tab pos="113030" algn="l"/>
              </a:tabLst>
            </a:pPr>
            <a:r>
              <a:rPr sz="650" spc="-25" dirty="0">
                <a:latin typeface="DejaVu Serif"/>
                <a:cs typeface="DejaVu Serif"/>
              </a:rPr>
              <a:t>The </a:t>
            </a:r>
            <a:r>
              <a:rPr sz="650" spc="-20" dirty="0">
                <a:latin typeface="DejaVu Serif"/>
                <a:cs typeface="DejaVu Serif"/>
              </a:rPr>
              <a:t>heat </a:t>
            </a:r>
            <a:r>
              <a:rPr sz="650" spc="-35" dirty="0">
                <a:latin typeface="DejaVu Serif"/>
                <a:cs typeface="DejaVu Serif"/>
              </a:rPr>
              <a:t>energy </a:t>
            </a:r>
            <a:r>
              <a:rPr sz="650" spc="-10" dirty="0">
                <a:latin typeface="DejaVu Serif"/>
                <a:cs typeface="DejaVu Serif"/>
              </a:rPr>
              <a:t>is </a:t>
            </a:r>
            <a:r>
              <a:rPr sz="650" spc="-15" dirty="0">
                <a:latin typeface="DejaVu Serif"/>
                <a:cs typeface="DejaVu Serif"/>
              </a:rPr>
              <a:t>then </a:t>
            </a:r>
            <a:r>
              <a:rPr sz="650" spc="-25" dirty="0">
                <a:latin typeface="DejaVu Serif"/>
                <a:cs typeface="DejaVu Serif"/>
              </a:rPr>
              <a:t>transferred </a:t>
            </a:r>
            <a:r>
              <a:rPr sz="650" spc="-20" dirty="0">
                <a:latin typeface="DejaVu Serif"/>
                <a:cs typeface="DejaVu Serif"/>
              </a:rPr>
              <a:t>to </a:t>
            </a:r>
            <a:r>
              <a:rPr sz="650" spc="-15" dirty="0">
                <a:latin typeface="DejaVu Serif"/>
                <a:cs typeface="DejaVu Serif"/>
              </a:rPr>
              <a:t>a fluid </a:t>
            </a:r>
            <a:r>
              <a:rPr sz="650" spc="-30" dirty="0">
                <a:latin typeface="DejaVu Serif"/>
                <a:cs typeface="DejaVu Serif"/>
              </a:rPr>
              <a:t>or </a:t>
            </a:r>
            <a:r>
              <a:rPr sz="650" spc="-25" dirty="0">
                <a:latin typeface="DejaVu Serif"/>
                <a:cs typeface="DejaVu Serif"/>
              </a:rPr>
              <a:t>gas, </a:t>
            </a:r>
            <a:r>
              <a:rPr sz="650" spc="-20" dirty="0">
                <a:latin typeface="DejaVu Serif"/>
                <a:cs typeface="DejaVu Serif"/>
              </a:rPr>
              <a:t>which  </a:t>
            </a:r>
            <a:r>
              <a:rPr sz="650" spc="-10" dirty="0">
                <a:latin typeface="DejaVu Serif"/>
                <a:cs typeface="DejaVu Serif"/>
              </a:rPr>
              <a:t>is used </a:t>
            </a:r>
            <a:r>
              <a:rPr sz="650" spc="-5" dirty="0">
                <a:latin typeface="DejaVu Serif"/>
                <a:cs typeface="DejaVu Serif"/>
              </a:rPr>
              <a:t>in </a:t>
            </a:r>
            <a:r>
              <a:rPr sz="650" spc="-15" dirty="0">
                <a:latin typeface="DejaVu Serif"/>
                <a:cs typeface="DejaVu Serif"/>
              </a:rPr>
              <a:t>a </a:t>
            </a:r>
            <a:r>
              <a:rPr sz="650" b="1" i="1" spc="-5" dirty="0">
                <a:latin typeface="TeX Gyre Bonum"/>
                <a:cs typeface="TeX Gyre Bonum"/>
              </a:rPr>
              <a:t>typical </a:t>
            </a:r>
            <a:r>
              <a:rPr sz="650" b="1" i="1" spc="-10" dirty="0">
                <a:latin typeface="TeX Gyre Bonum"/>
                <a:cs typeface="TeX Gyre Bonum"/>
              </a:rPr>
              <a:t>power </a:t>
            </a:r>
            <a:r>
              <a:rPr sz="650" b="1" i="1" spc="-5" dirty="0">
                <a:latin typeface="TeX Gyre Bonum"/>
                <a:cs typeface="TeX Gyre Bonum"/>
              </a:rPr>
              <a:t>plant cycle </a:t>
            </a:r>
            <a:r>
              <a:rPr sz="650" spc="-20" dirty="0">
                <a:latin typeface="DejaVu Serif"/>
                <a:cs typeface="DejaVu Serif"/>
              </a:rPr>
              <a:t>to </a:t>
            </a:r>
            <a:r>
              <a:rPr sz="650" spc="-25" dirty="0">
                <a:latin typeface="DejaVu Serif"/>
                <a:cs typeface="DejaVu Serif"/>
              </a:rPr>
              <a:t>convert the heat  </a:t>
            </a:r>
            <a:r>
              <a:rPr sz="650" spc="-35" dirty="0">
                <a:latin typeface="DejaVu Serif"/>
                <a:cs typeface="DejaVu Serif"/>
              </a:rPr>
              <a:t>energy </a:t>
            </a:r>
            <a:r>
              <a:rPr sz="650" spc="-20" dirty="0">
                <a:latin typeface="DejaVu Serif"/>
                <a:cs typeface="DejaVu Serif"/>
              </a:rPr>
              <a:t>to mechanical </a:t>
            </a:r>
            <a:r>
              <a:rPr sz="650" spc="-35" dirty="0">
                <a:latin typeface="DejaVu Serif"/>
                <a:cs typeface="DejaVu Serif"/>
              </a:rPr>
              <a:t>energy </a:t>
            </a:r>
            <a:r>
              <a:rPr sz="650" spc="-10" dirty="0">
                <a:latin typeface="DejaVu Serif"/>
                <a:cs typeface="DejaVu Serif"/>
              </a:rPr>
              <a:t>and then</a:t>
            </a:r>
            <a:r>
              <a:rPr sz="650" spc="30" dirty="0">
                <a:latin typeface="DejaVu Serif"/>
                <a:cs typeface="DejaVu Serif"/>
              </a:rPr>
              <a:t> </a:t>
            </a:r>
            <a:r>
              <a:rPr sz="650" spc="-25" dirty="0">
                <a:latin typeface="DejaVu Serif"/>
                <a:cs typeface="DejaVu Serif"/>
              </a:rPr>
              <a:t>electricity.</a:t>
            </a:r>
            <a:endParaRPr sz="650">
              <a:latin typeface="DejaVu Serif"/>
              <a:cs typeface="DejaVu Serif"/>
            </a:endParaRPr>
          </a:p>
          <a:p>
            <a:pPr marL="113030" marR="5715" indent="-100965" algn="just">
              <a:lnSpc>
                <a:spcPct val="100000"/>
              </a:lnSpc>
              <a:spcBef>
                <a:spcPts val="520"/>
              </a:spcBef>
              <a:buFont typeface="Wingdings" panose="05000000000000000000"/>
              <a:buChar char=""/>
              <a:tabLst>
                <a:tab pos="113030" algn="l"/>
              </a:tabLst>
            </a:pPr>
            <a:r>
              <a:rPr sz="650" spc="-25" dirty="0">
                <a:latin typeface="DejaVu Serif"/>
                <a:cs typeface="DejaVu Serif"/>
              </a:rPr>
              <a:t>Solar thermal </a:t>
            </a:r>
            <a:r>
              <a:rPr sz="650" spc="-40" dirty="0">
                <a:latin typeface="DejaVu Serif"/>
                <a:cs typeface="DejaVu Serif"/>
              </a:rPr>
              <a:t>power </a:t>
            </a:r>
            <a:r>
              <a:rPr sz="650" spc="-25" dirty="0">
                <a:latin typeface="DejaVu Serif"/>
                <a:cs typeface="DejaVu Serif"/>
              </a:rPr>
              <a:t>cycles </a:t>
            </a:r>
            <a:r>
              <a:rPr sz="650" spc="-15" dirty="0">
                <a:latin typeface="DejaVu Serif"/>
                <a:cs typeface="DejaVu Serif"/>
              </a:rPr>
              <a:t>can </a:t>
            </a:r>
            <a:r>
              <a:rPr sz="650" spc="-40" dirty="0">
                <a:latin typeface="DejaVu Serif"/>
                <a:cs typeface="DejaVu Serif"/>
              </a:rPr>
              <a:t>be </a:t>
            </a:r>
            <a:r>
              <a:rPr sz="650" spc="-25" dirty="0">
                <a:latin typeface="DejaVu Serif"/>
                <a:cs typeface="DejaVu Serif"/>
              </a:rPr>
              <a:t>broadly </a:t>
            </a:r>
            <a:r>
              <a:rPr sz="650" spc="-20" dirty="0">
                <a:latin typeface="DejaVu Serif"/>
                <a:cs typeface="DejaVu Serif"/>
              </a:rPr>
              <a:t>classified </a:t>
            </a:r>
            <a:r>
              <a:rPr sz="650" spc="-10" dirty="0">
                <a:latin typeface="DejaVu Serif"/>
                <a:cs typeface="DejaVu Serif"/>
              </a:rPr>
              <a:t>as </a:t>
            </a:r>
            <a:r>
              <a:rPr sz="650" b="1" i="1" spc="-5" dirty="0">
                <a:latin typeface="TeX Gyre Bonum"/>
                <a:cs typeface="TeX Gyre Bonum"/>
              </a:rPr>
              <a:t>low</a:t>
            </a:r>
            <a:r>
              <a:rPr sz="650" spc="-5" dirty="0">
                <a:latin typeface="DejaVu Serif"/>
                <a:cs typeface="DejaVu Serif"/>
              </a:rPr>
              <a:t>,  </a:t>
            </a:r>
            <a:r>
              <a:rPr sz="650" b="1" i="1" spc="-5" dirty="0">
                <a:latin typeface="TeX Gyre Bonum"/>
                <a:cs typeface="TeX Gyre Bonum"/>
              </a:rPr>
              <a:t>medium </a:t>
            </a:r>
            <a:r>
              <a:rPr sz="650" spc="-10" dirty="0">
                <a:latin typeface="DejaVu Serif"/>
                <a:cs typeface="DejaVu Serif"/>
              </a:rPr>
              <a:t>and </a:t>
            </a:r>
            <a:r>
              <a:rPr sz="650" b="1" i="1" spc="-5" dirty="0">
                <a:latin typeface="TeX Gyre Bonum"/>
                <a:cs typeface="TeX Gyre Bonum"/>
              </a:rPr>
              <a:t>high temperature</a:t>
            </a:r>
            <a:r>
              <a:rPr sz="650" b="1" i="1" spc="-90" dirty="0">
                <a:latin typeface="TeX Gyre Bonum"/>
                <a:cs typeface="TeX Gyre Bonum"/>
              </a:rPr>
              <a:t> </a:t>
            </a:r>
            <a:r>
              <a:rPr sz="650" b="1" i="1" spc="-5" dirty="0">
                <a:latin typeface="TeX Gyre Bonum"/>
                <a:cs typeface="TeX Gyre Bonum"/>
              </a:rPr>
              <a:t>cycles</a:t>
            </a:r>
            <a:r>
              <a:rPr sz="650" spc="-5" dirty="0">
                <a:latin typeface="DejaVu Serif"/>
                <a:cs typeface="DejaVu Serif"/>
              </a:rPr>
              <a:t>.</a:t>
            </a:r>
            <a:endParaRPr sz="650">
              <a:latin typeface="DejaVu Serif"/>
              <a:cs typeface="DejaVu Serif"/>
            </a:endParaRPr>
          </a:p>
          <a:p>
            <a:pPr marL="113030" indent="-100965">
              <a:lnSpc>
                <a:spcPct val="100000"/>
              </a:lnSpc>
              <a:spcBef>
                <a:spcPts val="515"/>
              </a:spcBef>
              <a:buFont typeface="Wingdings" panose="05000000000000000000"/>
              <a:buChar char=""/>
              <a:tabLst>
                <a:tab pos="113030" algn="l"/>
              </a:tabLst>
            </a:pPr>
            <a:r>
              <a:rPr sz="650" spc="-30" dirty="0">
                <a:latin typeface="DejaVu Serif"/>
                <a:cs typeface="DejaVu Serif"/>
              </a:rPr>
              <a:t>Most </a:t>
            </a:r>
            <a:r>
              <a:rPr sz="650" spc="-35" dirty="0">
                <a:latin typeface="DejaVu Serif"/>
                <a:cs typeface="DejaVu Serif"/>
              </a:rPr>
              <a:t>of </a:t>
            </a:r>
            <a:r>
              <a:rPr sz="650" spc="-20" dirty="0">
                <a:latin typeface="DejaVu Serif"/>
                <a:cs typeface="DejaVu Serif"/>
              </a:rPr>
              <a:t>the solar </a:t>
            </a:r>
            <a:r>
              <a:rPr sz="650" spc="-25" dirty="0">
                <a:latin typeface="DejaVu Serif"/>
                <a:cs typeface="DejaVu Serif"/>
              </a:rPr>
              <a:t>thermal </a:t>
            </a:r>
            <a:r>
              <a:rPr sz="650" spc="-40" dirty="0">
                <a:latin typeface="DejaVu Serif"/>
                <a:cs typeface="DejaVu Serif"/>
              </a:rPr>
              <a:t>power </a:t>
            </a:r>
            <a:r>
              <a:rPr sz="650" spc="-30" dirty="0">
                <a:latin typeface="DejaVu Serif"/>
                <a:cs typeface="DejaVu Serif"/>
              </a:rPr>
              <a:t>generation</a:t>
            </a:r>
            <a:r>
              <a:rPr sz="650" spc="15" dirty="0">
                <a:latin typeface="DejaVu Serif"/>
                <a:cs typeface="DejaVu Serif"/>
              </a:rPr>
              <a:t> </a:t>
            </a:r>
            <a:r>
              <a:rPr sz="650" spc="-25" dirty="0">
                <a:latin typeface="DejaVu Serif"/>
                <a:cs typeface="DejaVu Serif"/>
              </a:rPr>
              <a:t>works </a:t>
            </a:r>
            <a:r>
              <a:rPr sz="650" spc="-20" dirty="0">
                <a:latin typeface="DejaVu Serif"/>
                <a:cs typeface="DejaVu Serif"/>
              </a:rPr>
              <a:t>based </a:t>
            </a:r>
            <a:r>
              <a:rPr sz="650" spc="-15" dirty="0">
                <a:latin typeface="DejaVu Serif"/>
                <a:cs typeface="DejaVu Serif"/>
              </a:rPr>
              <a:t>on</a:t>
            </a:r>
            <a:endParaRPr sz="650">
              <a:latin typeface="DejaVu Serif"/>
              <a:cs typeface="DejaVu Serif"/>
            </a:endParaRPr>
          </a:p>
          <a:p>
            <a:pPr marL="113030">
              <a:lnSpc>
                <a:spcPct val="100000"/>
              </a:lnSpc>
            </a:pPr>
            <a:r>
              <a:rPr sz="650" b="1" i="1" spc="-5" dirty="0">
                <a:latin typeface="TeX Gyre Bonum"/>
                <a:cs typeface="TeX Gyre Bonum"/>
              </a:rPr>
              <a:t>Rankine</a:t>
            </a:r>
            <a:r>
              <a:rPr sz="650" b="1" i="1" spc="-45" dirty="0">
                <a:latin typeface="TeX Gyre Bonum"/>
                <a:cs typeface="TeX Gyre Bonum"/>
              </a:rPr>
              <a:t> </a:t>
            </a:r>
            <a:r>
              <a:rPr sz="650" b="1" i="1" spc="-5" dirty="0">
                <a:latin typeface="TeX Gyre Bonum"/>
                <a:cs typeface="TeX Gyre Bonum"/>
              </a:rPr>
              <a:t>cycle.</a:t>
            </a:r>
            <a:endParaRPr sz="650">
              <a:latin typeface="TeX Gyre Bonum"/>
              <a:cs typeface="TeX Gyre Bonum"/>
            </a:endParaRPr>
          </a:p>
          <a:p>
            <a:pPr marL="113030" marR="6350" indent="-100965" algn="just">
              <a:lnSpc>
                <a:spcPct val="100000"/>
              </a:lnSpc>
              <a:spcBef>
                <a:spcPts val="515"/>
              </a:spcBef>
              <a:buFont typeface="Wingdings" panose="05000000000000000000"/>
              <a:buChar char=""/>
              <a:tabLst>
                <a:tab pos="113030" algn="l"/>
              </a:tabLst>
            </a:pPr>
            <a:r>
              <a:rPr sz="650" spc="-25" dirty="0">
                <a:latin typeface="DejaVu Serif"/>
                <a:cs typeface="DejaVu Serif"/>
              </a:rPr>
              <a:t>The </a:t>
            </a:r>
            <a:r>
              <a:rPr sz="650" i="1" spc="-10" dirty="0">
                <a:latin typeface="Bookman Uralic"/>
                <a:cs typeface="Bookman Uralic"/>
              </a:rPr>
              <a:t>Rankine </a:t>
            </a:r>
            <a:r>
              <a:rPr sz="650" i="1" spc="-5" dirty="0">
                <a:latin typeface="Bookman Uralic"/>
                <a:cs typeface="Bookman Uralic"/>
              </a:rPr>
              <a:t>cycle  system </a:t>
            </a:r>
            <a:r>
              <a:rPr sz="650" spc="-10" dirty="0">
                <a:latin typeface="DejaVu Serif"/>
                <a:cs typeface="DejaVu Serif"/>
              </a:rPr>
              <a:t>consists </a:t>
            </a:r>
            <a:r>
              <a:rPr sz="650" spc="-35" dirty="0">
                <a:latin typeface="DejaVu Serif"/>
                <a:cs typeface="DejaVu Serif"/>
              </a:rPr>
              <a:t>of</a:t>
            </a:r>
            <a:r>
              <a:rPr sz="650" spc="135" dirty="0">
                <a:latin typeface="DejaVu Serif"/>
                <a:cs typeface="DejaVu Serif"/>
              </a:rPr>
              <a:t> </a:t>
            </a:r>
            <a:r>
              <a:rPr sz="650" spc="-15" dirty="0">
                <a:latin typeface="DejaVu Serif"/>
                <a:cs typeface="DejaVu Serif"/>
              </a:rPr>
              <a:t>a </a:t>
            </a:r>
            <a:r>
              <a:rPr sz="650" spc="-10" dirty="0">
                <a:latin typeface="DejaVu Serif"/>
                <a:cs typeface="DejaVu Serif"/>
              </a:rPr>
              <a:t>pump, </a:t>
            </a:r>
            <a:r>
              <a:rPr sz="650" spc="-25" dirty="0">
                <a:latin typeface="DejaVu Serif"/>
                <a:cs typeface="DejaVu Serif"/>
              </a:rPr>
              <a:t>boiler,  </a:t>
            </a:r>
            <a:r>
              <a:rPr sz="650" spc="-15" dirty="0">
                <a:latin typeface="DejaVu Serif"/>
                <a:cs typeface="DejaVu Serif"/>
              </a:rPr>
              <a:t>turbine, </a:t>
            </a:r>
            <a:r>
              <a:rPr sz="650" spc="-10" dirty="0">
                <a:latin typeface="DejaVu Serif"/>
                <a:cs typeface="DejaVu Serif"/>
              </a:rPr>
              <a:t>and</a:t>
            </a:r>
            <a:r>
              <a:rPr sz="650" spc="-30" dirty="0">
                <a:latin typeface="DejaVu Serif"/>
                <a:cs typeface="DejaVu Serif"/>
              </a:rPr>
              <a:t> </a:t>
            </a:r>
            <a:r>
              <a:rPr sz="650" spc="-20" dirty="0">
                <a:latin typeface="DejaVu Serif"/>
                <a:cs typeface="DejaVu Serif"/>
              </a:rPr>
              <a:t>condenser.</a:t>
            </a:r>
            <a:endParaRPr sz="650">
              <a:latin typeface="DejaVu Serif"/>
              <a:cs typeface="DejaVu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5" y="127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1822" y="127571"/>
            <a:ext cx="96011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Solar</a:t>
            </a:r>
            <a:r>
              <a:rPr sz="1300" b="1" i="1" spc="-8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furnace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2192" y="0"/>
            <a:ext cx="2705735" cy="2035175"/>
            <a:chOff x="-12192" y="0"/>
            <a:chExt cx="2705735" cy="2035175"/>
          </a:xfrm>
        </p:grpSpPr>
        <p:sp>
          <p:nvSpPr>
            <p:cNvPr id="4" name="object 4"/>
            <p:cNvSpPr/>
            <p:nvPr/>
          </p:nvSpPr>
          <p:spPr>
            <a:xfrm>
              <a:off x="246305" y="402361"/>
              <a:ext cx="2345561" cy="147497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028"/>
              <a:ext cx="2681605" cy="2010410"/>
            </a:xfrm>
            <a:custGeom>
              <a:avLst/>
              <a:gdLst/>
              <a:ahLst/>
              <a:cxnLst/>
              <a:rect l="l" t="t" r="r" b="b"/>
              <a:pathLst>
                <a:path w="2681605" h="2010410">
                  <a:moveTo>
                    <a:pt x="0" y="2010410"/>
                  </a:moveTo>
                  <a:lnTo>
                    <a:pt x="2681351" y="201041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41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03076" y="559122"/>
            <a:ext cx="177800" cy="92075"/>
            <a:chOff x="2203076" y="559122"/>
            <a:chExt cx="177800" cy="92075"/>
          </a:xfrm>
        </p:grpSpPr>
        <p:sp>
          <p:nvSpPr>
            <p:cNvPr id="3" name="object 3"/>
            <p:cNvSpPr/>
            <p:nvPr/>
          </p:nvSpPr>
          <p:spPr>
            <a:xfrm>
              <a:off x="2207480" y="563525"/>
              <a:ext cx="168910" cy="83185"/>
            </a:xfrm>
            <a:custGeom>
              <a:avLst/>
              <a:gdLst/>
              <a:ahLst/>
              <a:cxnLst/>
              <a:rect l="l" t="t" r="r" b="b"/>
              <a:pathLst>
                <a:path w="168910" h="83184">
                  <a:moveTo>
                    <a:pt x="168657" y="0"/>
                  </a:moveTo>
                  <a:lnTo>
                    <a:pt x="0" y="0"/>
                  </a:lnTo>
                  <a:lnTo>
                    <a:pt x="0" y="83072"/>
                  </a:lnTo>
                  <a:lnTo>
                    <a:pt x="168657" y="83072"/>
                  </a:lnTo>
                  <a:lnTo>
                    <a:pt x="16865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07480" y="563525"/>
              <a:ext cx="168910" cy="83185"/>
            </a:xfrm>
            <a:custGeom>
              <a:avLst/>
              <a:gdLst/>
              <a:ahLst/>
              <a:cxnLst/>
              <a:rect l="l" t="t" r="r" b="b"/>
              <a:pathLst>
                <a:path w="168910" h="83184">
                  <a:moveTo>
                    <a:pt x="0" y="83072"/>
                  </a:moveTo>
                  <a:lnTo>
                    <a:pt x="168657" y="83072"/>
                  </a:lnTo>
                  <a:lnTo>
                    <a:pt x="168657" y="0"/>
                  </a:lnTo>
                  <a:lnTo>
                    <a:pt x="0" y="0"/>
                  </a:lnTo>
                  <a:lnTo>
                    <a:pt x="0" y="83072"/>
                  </a:lnTo>
                  <a:close/>
                </a:path>
              </a:pathLst>
            </a:custGeom>
            <a:ln w="88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928342" y="517001"/>
            <a:ext cx="178698" cy="1761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3975" y="1064235"/>
            <a:ext cx="82550" cy="173355"/>
          </a:xfrm>
          <a:custGeom>
            <a:avLst/>
            <a:gdLst/>
            <a:ahLst/>
            <a:cxnLst/>
            <a:rect l="l" t="t" r="r" b="b"/>
            <a:pathLst>
              <a:path w="82550" h="173355">
                <a:moveTo>
                  <a:pt x="0" y="105985"/>
                </a:moveTo>
                <a:lnTo>
                  <a:pt x="81969" y="0"/>
                </a:lnTo>
              </a:path>
              <a:path w="82550" h="173355">
                <a:moveTo>
                  <a:pt x="0" y="172968"/>
                </a:moveTo>
                <a:lnTo>
                  <a:pt x="0" y="105985"/>
                </a:lnTo>
              </a:path>
            </a:pathLst>
          </a:custGeom>
          <a:ln w="8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44039" y="542259"/>
            <a:ext cx="71120" cy="102870"/>
          </a:xfrm>
          <a:custGeom>
            <a:avLst/>
            <a:gdLst/>
            <a:ahLst/>
            <a:cxnLst/>
            <a:rect l="l" t="t" r="r" b="b"/>
            <a:pathLst>
              <a:path w="71119" h="102870">
                <a:moveTo>
                  <a:pt x="0" y="102492"/>
                </a:moveTo>
                <a:lnTo>
                  <a:pt x="70746" y="0"/>
                </a:lnTo>
              </a:path>
            </a:pathLst>
          </a:custGeom>
          <a:ln w="8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42861" y="1249477"/>
            <a:ext cx="158750" cy="96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50" spc="-5" dirty="0">
                <a:latin typeface="Times New Roman" panose="02020603050405020304"/>
                <a:cs typeface="Times New Roman" panose="02020603050405020304"/>
              </a:rPr>
              <a:t>Pump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 rot="18420000">
            <a:off x="616695" y="871929"/>
            <a:ext cx="442656" cy="57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55"/>
              </a:lnSpc>
            </a:pPr>
            <a:r>
              <a:rPr sz="450" spc="-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450" spc="-10" dirty="0"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45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450" spc="-10" dirty="0">
                <a:latin typeface="Times New Roman" panose="02020603050405020304"/>
                <a:cs typeface="Times New Roman" panose="02020603050405020304"/>
              </a:rPr>
              <a:t> plat</a:t>
            </a:r>
            <a:r>
              <a:rPr sz="45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4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75" spc="-15" baseline="6000" dirty="0">
                <a:latin typeface="Times New Roman" panose="02020603050405020304"/>
                <a:cs typeface="Times New Roman" panose="02020603050405020304"/>
              </a:rPr>
              <a:t>collecto</a:t>
            </a:r>
            <a:r>
              <a:rPr sz="675" baseline="6000" dirty="0">
                <a:latin typeface="Times New Roman" panose="02020603050405020304"/>
                <a:cs typeface="Times New Roman" panose="02020603050405020304"/>
              </a:rPr>
              <a:t>r</a:t>
            </a:r>
            <a:endParaRPr sz="675" baseline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 rot="18420000">
            <a:off x="720397" y="914498"/>
            <a:ext cx="344711" cy="57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55"/>
              </a:lnSpc>
            </a:pPr>
            <a:r>
              <a:rPr sz="450" spc="-5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450" spc="-1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45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450" spc="-10" dirty="0">
                <a:latin typeface="Times New Roman" panose="02020603050405020304"/>
                <a:cs typeface="Times New Roman" panose="02020603050405020304"/>
              </a:rPr>
              <a:t> refl</a:t>
            </a:r>
            <a:r>
              <a:rPr sz="675" spc="-15" baseline="6000" dirty="0">
                <a:latin typeface="Times New Roman" panose="02020603050405020304"/>
                <a:cs typeface="Times New Roman" panose="02020603050405020304"/>
              </a:rPr>
              <a:t>ector</a:t>
            </a:r>
            <a:r>
              <a:rPr sz="675" baseline="6000" dirty="0">
                <a:latin typeface="Times New Roman" panose="02020603050405020304"/>
                <a:cs typeface="Times New Roman" panose="02020603050405020304"/>
              </a:rPr>
              <a:t>s</a:t>
            </a:r>
            <a:endParaRPr sz="675" baseline="60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5460" y="422694"/>
            <a:ext cx="1959610" cy="873760"/>
            <a:chOff x="365460" y="422694"/>
            <a:chExt cx="1959610" cy="873760"/>
          </a:xfrm>
        </p:grpSpPr>
        <p:sp>
          <p:nvSpPr>
            <p:cNvPr id="12" name="object 12"/>
            <p:cNvSpPr/>
            <p:nvPr/>
          </p:nvSpPr>
          <p:spPr>
            <a:xfrm>
              <a:off x="614870" y="625479"/>
              <a:ext cx="353060" cy="455930"/>
            </a:xfrm>
            <a:custGeom>
              <a:avLst/>
              <a:gdLst/>
              <a:ahLst/>
              <a:cxnLst/>
              <a:rect l="l" t="t" r="r" b="b"/>
              <a:pathLst>
                <a:path w="353059" h="455930">
                  <a:moveTo>
                    <a:pt x="304468" y="0"/>
                  </a:moveTo>
                  <a:lnTo>
                    <a:pt x="0" y="417902"/>
                  </a:lnTo>
                  <a:lnTo>
                    <a:pt x="48487" y="455695"/>
                  </a:lnTo>
                  <a:lnTo>
                    <a:pt x="352948" y="37807"/>
                  </a:lnTo>
                  <a:lnTo>
                    <a:pt x="304468" y="0"/>
                  </a:lnTo>
                  <a:close/>
                </a:path>
              </a:pathLst>
            </a:custGeom>
            <a:solidFill>
              <a:srgbClr val="AB60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4870" y="625479"/>
              <a:ext cx="353060" cy="455930"/>
            </a:xfrm>
            <a:custGeom>
              <a:avLst/>
              <a:gdLst/>
              <a:ahLst/>
              <a:cxnLst/>
              <a:rect l="l" t="t" r="r" b="b"/>
              <a:pathLst>
                <a:path w="353059" h="455930">
                  <a:moveTo>
                    <a:pt x="48487" y="455695"/>
                  </a:moveTo>
                  <a:lnTo>
                    <a:pt x="352948" y="37807"/>
                  </a:lnTo>
                  <a:lnTo>
                    <a:pt x="304468" y="0"/>
                  </a:lnTo>
                  <a:lnTo>
                    <a:pt x="0" y="417902"/>
                  </a:lnTo>
                  <a:lnTo>
                    <a:pt x="48487" y="455695"/>
                  </a:lnTo>
                  <a:close/>
                </a:path>
                <a:path w="353059" h="455930">
                  <a:moveTo>
                    <a:pt x="34923" y="117505"/>
                  </a:moveTo>
                  <a:lnTo>
                    <a:pt x="136731" y="196855"/>
                  </a:lnTo>
                </a:path>
              </a:pathLst>
            </a:custGeom>
            <a:ln w="87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7246" y="804421"/>
              <a:ext cx="26670" cy="31750"/>
            </a:xfrm>
            <a:custGeom>
              <a:avLst/>
              <a:gdLst/>
              <a:ahLst/>
              <a:cxnLst/>
              <a:rect l="l" t="t" r="r" b="b"/>
              <a:pathLst>
                <a:path w="26670" h="31750">
                  <a:moveTo>
                    <a:pt x="22687" y="0"/>
                  </a:moveTo>
                  <a:lnTo>
                    <a:pt x="0" y="31139"/>
                  </a:lnTo>
                  <a:lnTo>
                    <a:pt x="26392" y="27306"/>
                  </a:lnTo>
                  <a:lnTo>
                    <a:pt x="226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8510" y="676120"/>
              <a:ext cx="102235" cy="79375"/>
            </a:xfrm>
            <a:custGeom>
              <a:avLst/>
              <a:gdLst/>
              <a:ahLst/>
              <a:cxnLst/>
              <a:rect l="l" t="t" r="r" b="b"/>
              <a:pathLst>
                <a:path w="102234" h="79375">
                  <a:moveTo>
                    <a:pt x="0" y="0"/>
                  </a:moveTo>
                  <a:lnTo>
                    <a:pt x="101801" y="79350"/>
                  </a:lnTo>
                </a:path>
              </a:pathLst>
            </a:custGeom>
            <a:ln w="8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85962" y="737557"/>
              <a:ext cx="26670" cy="31750"/>
            </a:xfrm>
            <a:custGeom>
              <a:avLst/>
              <a:gdLst/>
              <a:ahLst/>
              <a:cxnLst/>
              <a:rect l="l" t="t" r="r" b="b"/>
              <a:pathLst>
                <a:path w="26670" h="31750">
                  <a:moveTo>
                    <a:pt x="22687" y="0"/>
                  </a:moveTo>
                  <a:lnTo>
                    <a:pt x="0" y="31139"/>
                  </a:lnTo>
                  <a:lnTo>
                    <a:pt x="26392" y="27299"/>
                  </a:lnTo>
                  <a:lnTo>
                    <a:pt x="226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7226" y="609234"/>
              <a:ext cx="102235" cy="79375"/>
            </a:xfrm>
            <a:custGeom>
              <a:avLst/>
              <a:gdLst/>
              <a:ahLst/>
              <a:cxnLst/>
              <a:rect l="l" t="t" r="r" b="b"/>
              <a:pathLst>
                <a:path w="102234" h="79375">
                  <a:moveTo>
                    <a:pt x="0" y="0"/>
                  </a:moveTo>
                  <a:lnTo>
                    <a:pt x="101801" y="79372"/>
                  </a:lnTo>
                </a:path>
              </a:pathLst>
            </a:custGeom>
            <a:ln w="8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34678" y="670693"/>
              <a:ext cx="26670" cy="31750"/>
            </a:xfrm>
            <a:custGeom>
              <a:avLst/>
              <a:gdLst/>
              <a:ahLst/>
              <a:cxnLst/>
              <a:rect l="l" t="t" r="r" b="b"/>
              <a:pathLst>
                <a:path w="26669" h="31750">
                  <a:moveTo>
                    <a:pt x="22680" y="0"/>
                  </a:moveTo>
                  <a:lnTo>
                    <a:pt x="0" y="31131"/>
                  </a:lnTo>
                  <a:lnTo>
                    <a:pt x="26392" y="27299"/>
                  </a:lnTo>
                  <a:lnTo>
                    <a:pt x="226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1078" y="809856"/>
              <a:ext cx="102235" cy="79375"/>
            </a:xfrm>
            <a:custGeom>
              <a:avLst/>
              <a:gdLst/>
              <a:ahLst/>
              <a:cxnLst/>
              <a:rect l="l" t="t" r="r" b="b"/>
              <a:pathLst>
                <a:path w="102234" h="79375">
                  <a:moveTo>
                    <a:pt x="0" y="0"/>
                  </a:moveTo>
                  <a:lnTo>
                    <a:pt x="101808" y="79350"/>
                  </a:lnTo>
                </a:path>
              </a:pathLst>
            </a:custGeom>
            <a:ln w="8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8530" y="871292"/>
              <a:ext cx="26670" cy="31750"/>
            </a:xfrm>
            <a:custGeom>
              <a:avLst/>
              <a:gdLst/>
              <a:ahLst/>
              <a:cxnLst/>
              <a:rect l="l" t="t" r="r" b="b"/>
              <a:pathLst>
                <a:path w="26670" h="31750">
                  <a:moveTo>
                    <a:pt x="22687" y="0"/>
                  </a:moveTo>
                  <a:lnTo>
                    <a:pt x="0" y="31139"/>
                  </a:lnTo>
                  <a:lnTo>
                    <a:pt x="26399" y="27299"/>
                  </a:lnTo>
                  <a:lnTo>
                    <a:pt x="226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2369" y="876720"/>
              <a:ext cx="102235" cy="79375"/>
            </a:xfrm>
            <a:custGeom>
              <a:avLst/>
              <a:gdLst/>
              <a:ahLst/>
              <a:cxnLst/>
              <a:rect l="l" t="t" r="r" b="b"/>
              <a:pathLst>
                <a:path w="102234" h="79375">
                  <a:moveTo>
                    <a:pt x="0" y="0"/>
                  </a:moveTo>
                  <a:lnTo>
                    <a:pt x="101801" y="79350"/>
                  </a:lnTo>
                </a:path>
              </a:pathLst>
            </a:custGeom>
            <a:ln w="8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9821" y="938156"/>
              <a:ext cx="26670" cy="31750"/>
            </a:xfrm>
            <a:custGeom>
              <a:avLst/>
              <a:gdLst/>
              <a:ahLst/>
              <a:cxnLst/>
              <a:rect l="l" t="t" r="r" b="b"/>
              <a:pathLst>
                <a:path w="26670" h="31750">
                  <a:moveTo>
                    <a:pt x="22680" y="0"/>
                  </a:moveTo>
                  <a:lnTo>
                    <a:pt x="0" y="31139"/>
                  </a:lnTo>
                  <a:lnTo>
                    <a:pt x="26392" y="27299"/>
                  </a:lnTo>
                  <a:lnTo>
                    <a:pt x="226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58093" y="432308"/>
              <a:ext cx="69850" cy="199390"/>
            </a:xfrm>
            <a:custGeom>
              <a:avLst/>
              <a:gdLst/>
              <a:ahLst/>
              <a:cxnLst/>
              <a:rect l="l" t="t" r="r" b="b"/>
              <a:pathLst>
                <a:path w="69850" h="199390">
                  <a:moveTo>
                    <a:pt x="19546" y="0"/>
                  </a:moveTo>
                  <a:lnTo>
                    <a:pt x="0" y="5390"/>
                  </a:lnTo>
                  <a:lnTo>
                    <a:pt x="50158" y="199004"/>
                  </a:lnTo>
                  <a:lnTo>
                    <a:pt x="69704" y="193614"/>
                  </a:lnTo>
                  <a:lnTo>
                    <a:pt x="19546" y="0"/>
                  </a:lnTo>
                  <a:close/>
                </a:path>
              </a:pathLst>
            </a:custGeom>
            <a:solidFill>
              <a:srgbClr val="AB60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58093" y="432308"/>
              <a:ext cx="69850" cy="199390"/>
            </a:xfrm>
            <a:custGeom>
              <a:avLst/>
              <a:gdLst/>
              <a:ahLst/>
              <a:cxnLst/>
              <a:rect l="l" t="t" r="r" b="b"/>
              <a:pathLst>
                <a:path w="69850" h="199390">
                  <a:moveTo>
                    <a:pt x="50158" y="199004"/>
                  </a:moveTo>
                  <a:lnTo>
                    <a:pt x="69704" y="193614"/>
                  </a:lnTo>
                  <a:lnTo>
                    <a:pt x="19546" y="0"/>
                  </a:lnTo>
                  <a:lnTo>
                    <a:pt x="0" y="5390"/>
                  </a:lnTo>
                  <a:lnTo>
                    <a:pt x="50158" y="199004"/>
                  </a:lnTo>
                  <a:close/>
                </a:path>
              </a:pathLst>
            </a:custGeom>
            <a:ln w="85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5460" y="960717"/>
              <a:ext cx="260740" cy="13396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6349" y="427139"/>
              <a:ext cx="102235" cy="79375"/>
            </a:xfrm>
            <a:custGeom>
              <a:avLst/>
              <a:gdLst/>
              <a:ahLst/>
              <a:cxnLst/>
              <a:rect l="l" t="t" r="r" b="b"/>
              <a:pathLst>
                <a:path w="102234" h="79375">
                  <a:moveTo>
                    <a:pt x="0" y="0"/>
                  </a:moveTo>
                  <a:lnTo>
                    <a:pt x="101808" y="79380"/>
                  </a:lnTo>
                </a:path>
              </a:pathLst>
            </a:custGeom>
            <a:ln w="8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43801" y="488575"/>
              <a:ext cx="26670" cy="31750"/>
            </a:xfrm>
            <a:custGeom>
              <a:avLst/>
              <a:gdLst/>
              <a:ahLst/>
              <a:cxnLst/>
              <a:rect l="l" t="t" r="r" b="b"/>
              <a:pathLst>
                <a:path w="26669" h="31750">
                  <a:moveTo>
                    <a:pt x="22687" y="0"/>
                  </a:moveTo>
                  <a:lnTo>
                    <a:pt x="0" y="31161"/>
                  </a:lnTo>
                  <a:lnTo>
                    <a:pt x="26399" y="27321"/>
                  </a:lnTo>
                  <a:lnTo>
                    <a:pt x="226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67652" y="517152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5">
                  <a:moveTo>
                    <a:pt x="0" y="0"/>
                  </a:moveTo>
                  <a:lnTo>
                    <a:pt x="0" y="119624"/>
                  </a:lnTo>
                </a:path>
              </a:pathLst>
            </a:custGeom>
            <a:ln w="85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48806" y="632863"/>
              <a:ext cx="38100" cy="19685"/>
            </a:xfrm>
            <a:custGeom>
              <a:avLst/>
              <a:gdLst/>
              <a:ahLst/>
              <a:cxnLst/>
              <a:rect l="l" t="t" r="r" b="b"/>
              <a:pathLst>
                <a:path w="38100" h="19684">
                  <a:moveTo>
                    <a:pt x="37693" y="0"/>
                  </a:moveTo>
                  <a:lnTo>
                    <a:pt x="0" y="0"/>
                  </a:lnTo>
                  <a:lnTo>
                    <a:pt x="18846" y="19494"/>
                  </a:lnTo>
                  <a:lnTo>
                    <a:pt x="37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55674" y="542259"/>
              <a:ext cx="703580" cy="732790"/>
            </a:xfrm>
            <a:custGeom>
              <a:avLst/>
              <a:gdLst/>
              <a:ahLst/>
              <a:cxnLst/>
              <a:rect l="l" t="t" r="r" b="b"/>
              <a:pathLst>
                <a:path w="703580" h="732790">
                  <a:moveTo>
                    <a:pt x="702756" y="106480"/>
                  </a:moveTo>
                  <a:lnTo>
                    <a:pt x="702756" y="0"/>
                  </a:lnTo>
                </a:path>
                <a:path w="703580" h="732790">
                  <a:moveTo>
                    <a:pt x="459689" y="0"/>
                  </a:moveTo>
                  <a:lnTo>
                    <a:pt x="702970" y="0"/>
                  </a:lnTo>
                </a:path>
                <a:path w="703580" h="732790">
                  <a:moveTo>
                    <a:pt x="435688" y="695239"/>
                  </a:moveTo>
                  <a:lnTo>
                    <a:pt x="0" y="695239"/>
                  </a:lnTo>
                </a:path>
                <a:path w="703580" h="732790">
                  <a:moveTo>
                    <a:pt x="702756" y="731577"/>
                  </a:moveTo>
                  <a:lnTo>
                    <a:pt x="702756" y="623095"/>
                  </a:lnTo>
                </a:path>
                <a:path w="703580" h="732790">
                  <a:moveTo>
                    <a:pt x="702684" y="732618"/>
                  </a:moveTo>
                  <a:lnTo>
                    <a:pt x="471826" y="732618"/>
                  </a:lnTo>
                </a:path>
              </a:pathLst>
            </a:custGeom>
            <a:ln w="87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67464" y="649300"/>
              <a:ext cx="381961" cy="5185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67464" y="649300"/>
              <a:ext cx="382270" cy="518795"/>
            </a:xfrm>
            <a:custGeom>
              <a:avLst/>
              <a:gdLst/>
              <a:ahLst/>
              <a:cxnLst/>
              <a:rect l="l" t="t" r="r" b="b"/>
              <a:pathLst>
                <a:path w="382269" h="518794">
                  <a:moveTo>
                    <a:pt x="0" y="518549"/>
                  </a:moveTo>
                  <a:lnTo>
                    <a:pt x="381961" y="518549"/>
                  </a:lnTo>
                  <a:lnTo>
                    <a:pt x="381961" y="0"/>
                  </a:lnTo>
                  <a:lnTo>
                    <a:pt x="0" y="0"/>
                  </a:lnTo>
                  <a:lnTo>
                    <a:pt x="0" y="518549"/>
                  </a:lnTo>
                  <a:close/>
                </a:path>
              </a:pathLst>
            </a:custGeom>
            <a:ln w="86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03301" y="685564"/>
              <a:ext cx="310515" cy="446405"/>
            </a:xfrm>
            <a:custGeom>
              <a:avLst/>
              <a:gdLst/>
              <a:ahLst/>
              <a:cxnLst/>
              <a:rect l="l" t="t" r="r" b="b"/>
              <a:pathLst>
                <a:path w="310515" h="446405">
                  <a:moveTo>
                    <a:pt x="310343" y="0"/>
                  </a:moveTo>
                  <a:lnTo>
                    <a:pt x="0" y="0"/>
                  </a:lnTo>
                  <a:lnTo>
                    <a:pt x="0" y="446014"/>
                  </a:lnTo>
                  <a:lnTo>
                    <a:pt x="310343" y="446014"/>
                  </a:lnTo>
                  <a:lnTo>
                    <a:pt x="3103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03301" y="685564"/>
              <a:ext cx="310515" cy="446405"/>
            </a:xfrm>
            <a:custGeom>
              <a:avLst/>
              <a:gdLst/>
              <a:ahLst/>
              <a:cxnLst/>
              <a:rect l="l" t="t" r="r" b="b"/>
              <a:pathLst>
                <a:path w="310515" h="446405">
                  <a:moveTo>
                    <a:pt x="0" y="446014"/>
                  </a:moveTo>
                  <a:lnTo>
                    <a:pt x="310343" y="446014"/>
                  </a:lnTo>
                  <a:lnTo>
                    <a:pt x="310343" y="0"/>
                  </a:lnTo>
                  <a:lnTo>
                    <a:pt x="0" y="0"/>
                  </a:lnTo>
                  <a:lnTo>
                    <a:pt x="0" y="446014"/>
                  </a:lnTo>
                  <a:close/>
                </a:path>
              </a:pathLst>
            </a:custGeom>
            <a:ln w="86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103301" y="730785"/>
              <a:ext cx="310515" cy="356235"/>
            </a:xfrm>
            <a:custGeom>
              <a:avLst/>
              <a:gdLst/>
              <a:ahLst/>
              <a:cxnLst/>
              <a:rect l="l" t="t" r="r" b="b"/>
              <a:pathLst>
                <a:path w="310515" h="356234">
                  <a:moveTo>
                    <a:pt x="0" y="316199"/>
                  </a:moveTo>
                  <a:lnTo>
                    <a:pt x="310329" y="316199"/>
                  </a:lnTo>
                </a:path>
                <a:path w="310515" h="356234">
                  <a:moveTo>
                    <a:pt x="0" y="355705"/>
                  </a:moveTo>
                  <a:lnTo>
                    <a:pt x="310329" y="355705"/>
                  </a:lnTo>
                </a:path>
                <a:path w="310515" h="356234">
                  <a:moveTo>
                    <a:pt x="0" y="276694"/>
                  </a:moveTo>
                  <a:lnTo>
                    <a:pt x="310329" y="276694"/>
                  </a:lnTo>
                </a:path>
                <a:path w="310515" h="356234">
                  <a:moveTo>
                    <a:pt x="0" y="237181"/>
                  </a:moveTo>
                  <a:lnTo>
                    <a:pt x="310329" y="237181"/>
                  </a:lnTo>
                </a:path>
                <a:path w="310515" h="356234">
                  <a:moveTo>
                    <a:pt x="0" y="160503"/>
                  </a:moveTo>
                  <a:lnTo>
                    <a:pt x="310329" y="160503"/>
                  </a:lnTo>
                </a:path>
                <a:path w="310515" h="356234">
                  <a:moveTo>
                    <a:pt x="0" y="200016"/>
                  </a:moveTo>
                  <a:lnTo>
                    <a:pt x="310329" y="200016"/>
                  </a:lnTo>
                </a:path>
                <a:path w="310515" h="356234">
                  <a:moveTo>
                    <a:pt x="0" y="120997"/>
                  </a:moveTo>
                  <a:lnTo>
                    <a:pt x="310329" y="120997"/>
                  </a:lnTo>
                </a:path>
                <a:path w="310515" h="356234">
                  <a:moveTo>
                    <a:pt x="0" y="81484"/>
                  </a:moveTo>
                  <a:lnTo>
                    <a:pt x="310329" y="81484"/>
                  </a:lnTo>
                </a:path>
                <a:path w="310515" h="356234">
                  <a:moveTo>
                    <a:pt x="0" y="0"/>
                  </a:moveTo>
                  <a:lnTo>
                    <a:pt x="310329" y="0"/>
                  </a:lnTo>
                </a:path>
                <a:path w="310515" h="356234">
                  <a:moveTo>
                    <a:pt x="0" y="39512"/>
                  </a:moveTo>
                  <a:lnTo>
                    <a:pt x="310329" y="39512"/>
                  </a:lnTo>
                </a:path>
              </a:pathLst>
            </a:custGeom>
            <a:ln w="5228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516217" y="772521"/>
              <a:ext cx="226695" cy="293370"/>
            </a:xfrm>
            <a:custGeom>
              <a:avLst/>
              <a:gdLst/>
              <a:ahLst/>
              <a:cxnLst/>
              <a:rect l="l" t="t" r="r" b="b"/>
              <a:pathLst>
                <a:path w="226694" h="293369">
                  <a:moveTo>
                    <a:pt x="226646" y="0"/>
                  </a:moveTo>
                  <a:lnTo>
                    <a:pt x="0" y="0"/>
                  </a:lnTo>
                  <a:lnTo>
                    <a:pt x="0" y="293042"/>
                  </a:lnTo>
                  <a:lnTo>
                    <a:pt x="226646" y="293042"/>
                  </a:lnTo>
                  <a:lnTo>
                    <a:pt x="22664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65252" y="525201"/>
              <a:ext cx="977900" cy="767080"/>
            </a:xfrm>
            <a:custGeom>
              <a:avLst/>
              <a:gdLst/>
              <a:ahLst/>
              <a:cxnLst/>
              <a:rect l="l" t="t" r="r" b="b"/>
              <a:pathLst>
                <a:path w="977900" h="767080">
                  <a:moveTo>
                    <a:pt x="750965" y="540362"/>
                  </a:moveTo>
                  <a:lnTo>
                    <a:pt x="977612" y="540362"/>
                  </a:lnTo>
                  <a:lnTo>
                    <a:pt x="977612" y="247319"/>
                  </a:lnTo>
                  <a:lnTo>
                    <a:pt x="750965" y="247319"/>
                  </a:lnTo>
                  <a:lnTo>
                    <a:pt x="750965" y="540362"/>
                  </a:lnTo>
                  <a:close/>
                </a:path>
                <a:path w="977900" h="767080">
                  <a:moveTo>
                    <a:pt x="648950" y="205584"/>
                  </a:moveTo>
                  <a:lnTo>
                    <a:pt x="810646" y="205584"/>
                  </a:lnTo>
                </a:path>
                <a:path w="977900" h="767080">
                  <a:moveTo>
                    <a:pt x="811860" y="205458"/>
                  </a:moveTo>
                  <a:lnTo>
                    <a:pt x="811860" y="243701"/>
                  </a:lnTo>
                </a:path>
                <a:path w="977900" h="767080">
                  <a:moveTo>
                    <a:pt x="808219" y="539941"/>
                  </a:moveTo>
                  <a:lnTo>
                    <a:pt x="808219" y="582223"/>
                  </a:lnTo>
                </a:path>
                <a:path w="977900" h="767080">
                  <a:moveTo>
                    <a:pt x="808219" y="582223"/>
                  </a:moveTo>
                  <a:lnTo>
                    <a:pt x="648378" y="582223"/>
                  </a:lnTo>
                </a:path>
                <a:path w="977900" h="767080">
                  <a:moveTo>
                    <a:pt x="924155" y="247733"/>
                  </a:moveTo>
                  <a:lnTo>
                    <a:pt x="924155" y="296808"/>
                  </a:lnTo>
                </a:path>
                <a:path w="977900" h="767080">
                  <a:moveTo>
                    <a:pt x="920586" y="490866"/>
                  </a:moveTo>
                  <a:lnTo>
                    <a:pt x="920586" y="539941"/>
                  </a:lnTo>
                </a:path>
                <a:path w="977900" h="767080">
                  <a:moveTo>
                    <a:pt x="906308" y="307442"/>
                  </a:moveTo>
                  <a:lnTo>
                    <a:pt x="941931" y="328708"/>
                  </a:lnTo>
                </a:path>
                <a:path w="977900" h="767080">
                  <a:moveTo>
                    <a:pt x="941931" y="328708"/>
                  </a:moveTo>
                  <a:lnTo>
                    <a:pt x="906308" y="349975"/>
                  </a:lnTo>
                </a:path>
                <a:path w="977900" h="767080">
                  <a:moveTo>
                    <a:pt x="906308" y="349975"/>
                  </a:moveTo>
                  <a:lnTo>
                    <a:pt x="941931" y="371241"/>
                  </a:lnTo>
                </a:path>
                <a:path w="977900" h="767080">
                  <a:moveTo>
                    <a:pt x="938362" y="373900"/>
                  </a:moveTo>
                  <a:lnTo>
                    <a:pt x="902739" y="395166"/>
                  </a:lnTo>
                </a:path>
                <a:path w="977900" h="767080">
                  <a:moveTo>
                    <a:pt x="902739" y="395166"/>
                  </a:moveTo>
                  <a:lnTo>
                    <a:pt x="938362" y="416433"/>
                  </a:lnTo>
                </a:path>
                <a:path w="977900" h="767080">
                  <a:moveTo>
                    <a:pt x="938362" y="416433"/>
                  </a:moveTo>
                  <a:lnTo>
                    <a:pt x="902739" y="437699"/>
                  </a:lnTo>
                </a:path>
                <a:path w="977900" h="767080">
                  <a:moveTo>
                    <a:pt x="902739" y="437699"/>
                  </a:moveTo>
                  <a:lnTo>
                    <a:pt x="938362" y="458966"/>
                  </a:lnTo>
                </a:path>
                <a:path w="977900" h="767080">
                  <a:moveTo>
                    <a:pt x="938362" y="458966"/>
                  </a:moveTo>
                  <a:lnTo>
                    <a:pt x="902739" y="480232"/>
                  </a:lnTo>
                </a:path>
                <a:path w="977900" h="767080">
                  <a:moveTo>
                    <a:pt x="902739" y="480232"/>
                  </a:moveTo>
                  <a:lnTo>
                    <a:pt x="920586" y="490866"/>
                  </a:lnTo>
                </a:path>
                <a:path w="977900" h="767080">
                  <a:moveTo>
                    <a:pt x="924155" y="296808"/>
                  </a:moveTo>
                  <a:lnTo>
                    <a:pt x="906308" y="307442"/>
                  </a:lnTo>
                </a:path>
                <a:path w="977900" h="767080">
                  <a:moveTo>
                    <a:pt x="812074" y="247733"/>
                  </a:moveTo>
                  <a:lnTo>
                    <a:pt x="812074" y="296808"/>
                  </a:lnTo>
                </a:path>
                <a:path w="977900" h="767080">
                  <a:moveTo>
                    <a:pt x="808505" y="490866"/>
                  </a:moveTo>
                  <a:lnTo>
                    <a:pt x="808505" y="539941"/>
                  </a:lnTo>
                </a:path>
                <a:path w="977900" h="767080">
                  <a:moveTo>
                    <a:pt x="826281" y="480232"/>
                  </a:moveTo>
                  <a:lnTo>
                    <a:pt x="790657" y="458966"/>
                  </a:lnTo>
                </a:path>
                <a:path w="977900" h="767080">
                  <a:moveTo>
                    <a:pt x="790657" y="458966"/>
                  </a:moveTo>
                  <a:lnTo>
                    <a:pt x="826281" y="437699"/>
                  </a:lnTo>
                </a:path>
                <a:path w="977900" h="767080">
                  <a:moveTo>
                    <a:pt x="826281" y="437699"/>
                  </a:moveTo>
                  <a:lnTo>
                    <a:pt x="790657" y="416433"/>
                  </a:lnTo>
                </a:path>
                <a:path w="977900" h="767080">
                  <a:moveTo>
                    <a:pt x="794298" y="413774"/>
                  </a:moveTo>
                  <a:lnTo>
                    <a:pt x="829921" y="392508"/>
                  </a:lnTo>
                </a:path>
                <a:path w="977900" h="767080">
                  <a:moveTo>
                    <a:pt x="829921" y="392508"/>
                  </a:moveTo>
                  <a:lnTo>
                    <a:pt x="794298" y="371241"/>
                  </a:lnTo>
                </a:path>
                <a:path w="977900" h="767080">
                  <a:moveTo>
                    <a:pt x="794298" y="371241"/>
                  </a:moveTo>
                  <a:lnTo>
                    <a:pt x="829921" y="349975"/>
                  </a:lnTo>
                </a:path>
                <a:path w="977900" h="767080">
                  <a:moveTo>
                    <a:pt x="829921" y="349975"/>
                  </a:moveTo>
                  <a:lnTo>
                    <a:pt x="794298" y="328708"/>
                  </a:lnTo>
                </a:path>
                <a:path w="977900" h="767080">
                  <a:moveTo>
                    <a:pt x="794298" y="328708"/>
                  </a:moveTo>
                  <a:lnTo>
                    <a:pt x="829921" y="307442"/>
                  </a:lnTo>
                </a:path>
                <a:path w="977900" h="767080">
                  <a:moveTo>
                    <a:pt x="829921" y="307442"/>
                  </a:moveTo>
                  <a:lnTo>
                    <a:pt x="812074" y="296808"/>
                  </a:lnTo>
                </a:path>
                <a:path w="977900" h="767080">
                  <a:moveTo>
                    <a:pt x="808505" y="490866"/>
                  </a:moveTo>
                  <a:lnTo>
                    <a:pt x="826281" y="480232"/>
                  </a:lnTo>
                </a:path>
                <a:path w="977900" h="767080">
                  <a:moveTo>
                    <a:pt x="721553" y="222685"/>
                  </a:moveTo>
                  <a:lnTo>
                    <a:pt x="738043" y="205584"/>
                  </a:lnTo>
                </a:path>
                <a:path w="977900" h="767080">
                  <a:moveTo>
                    <a:pt x="721553" y="188489"/>
                  </a:moveTo>
                  <a:lnTo>
                    <a:pt x="738043" y="205584"/>
                  </a:lnTo>
                </a:path>
                <a:path w="977900" h="767080">
                  <a:moveTo>
                    <a:pt x="363464" y="34188"/>
                  </a:moveTo>
                  <a:lnTo>
                    <a:pt x="380026" y="17057"/>
                  </a:lnTo>
                </a:path>
                <a:path w="977900" h="767080">
                  <a:moveTo>
                    <a:pt x="363464" y="0"/>
                  </a:moveTo>
                  <a:lnTo>
                    <a:pt x="380026" y="17057"/>
                  </a:lnTo>
                </a:path>
                <a:path w="977900" h="767080">
                  <a:moveTo>
                    <a:pt x="738043" y="599318"/>
                  </a:moveTo>
                  <a:lnTo>
                    <a:pt x="721553" y="582223"/>
                  </a:lnTo>
                </a:path>
                <a:path w="977900" h="767080">
                  <a:moveTo>
                    <a:pt x="738043" y="565129"/>
                  </a:moveTo>
                  <a:lnTo>
                    <a:pt x="721553" y="582223"/>
                  </a:lnTo>
                </a:path>
                <a:path w="977900" h="767080">
                  <a:moveTo>
                    <a:pt x="385951" y="766777"/>
                  </a:moveTo>
                  <a:lnTo>
                    <a:pt x="369389" y="749675"/>
                  </a:lnTo>
                </a:path>
                <a:path w="977900" h="767080">
                  <a:moveTo>
                    <a:pt x="385951" y="732581"/>
                  </a:moveTo>
                  <a:lnTo>
                    <a:pt x="369389" y="749675"/>
                  </a:lnTo>
                </a:path>
                <a:path w="977900" h="767080">
                  <a:moveTo>
                    <a:pt x="16533" y="729391"/>
                  </a:moveTo>
                  <a:lnTo>
                    <a:pt x="0" y="712296"/>
                  </a:lnTo>
                </a:path>
                <a:path w="977900" h="767080">
                  <a:moveTo>
                    <a:pt x="16533" y="695194"/>
                  </a:moveTo>
                  <a:lnTo>
                    <a:pt x="0" y="712296"/>
                  </a:lnTo>
                </a:path>
              </a:pathLst>
            </a:custGeom>
            <a:ln w="87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02762" y="1106923"/>
              <a:ext cx="3175" cy="24130"/>
            </a:xfrm>
            <a:custGeom>
              <a:avLst/>
              <a:gdLst/>
              <a:ahLst/>
              <a:cxnLst/>
              <a:rect l="l" t="t" r="r" b="b"/>
              <a:pathLst>
                <a:path w="3175" h="24130">
                  <a:moveTo>
                    <a:pt x="1292" y="-4285"/>
                  </a:moveTo>
                  <a:lnTo>
                    <a:pt x="1292" y="28313"/>
                  </a:lnTo>
                </a:path>
              </a:pathLst>
            </a:custGeom>
            <a:ln w="11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79532" y="1106923"/>
              <a:ext cx="23495" cy="3175"/>
            </a:xfrm>
            <a:custGeom>
              <a:avLst/>
              <a:gdLst/>
              <a:ahLst/>
              <a:cxnLst/>
              <a:rect l="l" t="t" r="r" b="b"/>
              <a:pathLst>
                <a:path w="23495" h="3175">
                  <a:moveTo>
                    <a:pt x="-4428" y="1336"/>
                  </a:moveTo>
                  <a:lnTo>
                    <a:pt x="27658" y="1336"/>
                  </a:lnTo>
                </a:path>
              </a:pathLst>
            </a:custGeom>
            <a:ln w="115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689407" y="458522"/>
              <a:ext cx="631190" cy="337185"/>
            </a:xfrm>
            <a:custGeom>
              <a:avLst/>
              <a:gdLst/>
              <a:ahLst/>
              <a:cxnLst/>
              <a:rect l="l" t="t" r="r" b="b"/>
              <a:pathLst>
                <a:path w="631189" h="337184">
                  <a:moveTo>
                    <a:pt x="0" y="0"/>
                  </a:moveTo>
                  <a:lnTo>
                    <a:pt x="0" y="314412"/>
                  </a:lnTo>
                </a:path>
                <a:path w="631189" h="337184">
                  <a:moveTo>
                    <a:pt x="0" y="0"/>
                  </a:moveTo>
                  <a:lnTo>
                    <a:pt x="243294" y="0"/>
                  </a:lnTo>
                </a:path>
                <a:path w="631189" h="337184">
                  <a:moveTo>
                    <a:pt x="243294" y="106480"/>
                  </a:moveTo>
                  <a:lnTo>
                    <a:pt x="243294" y="0"/>
                  </a:lnTo>
                </a:path>
                <a:path w="631189" h="337184">
                  <a:moveTo>
                    <a:pt x="413272" y="336720"/>
                  </a:moveTo>
                  <a:lnTo>
                    <a:pt x="413272" y="230269"/>
                  </a:lnTo>
                </a:path>
                <a:path w="631189" h="337184">
                  <a:moveTo>
                    <a:pt x="574041" y="146576"/>
                  </a:moveTo>
                  <a:lnTo>
                    <a:pt x="577896" y="153222"/>
                  </a:lnTo>
                  <a:lnTo>
                    <a:pt x="587319" y="156028"/>
                  </a:lnTo>
                  <a:lnTo>
                    <a:pt x="595172" y="152779"/>
                  </a:lnTo>
                  <a:lnTo>
                    <a:pt x="598313" y="151450"/>
                  </a:lnTo>
                  <a:lnTo>
                    <a:pt x="600883" y="149235"/>
                  </a:lnTo>
                  <a:lnTo>
                    <a:pt x="602382" y="146576"/>
                  </a:lnTo>
                  <a:lnTo>
                    <a:pt x="606237" y="139857"/>
                  </a:lnTo>
                  <a:lnTo>
                    <a:pt x="615661" y="137051"/>
                  </a:lnTo>
                  <a:lnTo>
                    <a:pt x="623514" y="140300"/>
                  </a:lnTo>
                  <a:lnTo>
                    <a:pt x="626655" y="141629"/>
                  </a:lnTo>
                  <a:lnTo>
                    <a:pt x="629225" y="143844"/>
                  </a:lnTo>
                  <a:lnTo>
                    <a:pt x="630724" y="146576"/>
                  </a:lnTo>
                </a:path>
                <a:path w="631189" h="337184">
                  <a:moveTo>
                    <a:pt x="413700" y="138232"/>
                  </a:moveTo>
                  <a:lnTo>
                    <a:pt x="518072" y="138232"/>
                  </a:lnTo>
                </a:path>
                <a:path w="631189" h="337184">
                  <a:moveTo>
                    <a:pt x="413700" y="154847"/>
                  </a:moveTo>
                  <a:lnTo>
                    <a:pt x="518072" y="154847"/>
                  </a:lnTo>
                </a:path>
              </a:pathLst>
            </a:custGeom>
            <a:ln w="87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890226" y="795870"/>
            <a:ext cx="425450" cy="104139"/>
          </a:xfrm>
          <a:prstGeom prst="rect">
            <a:avLst/>
          </a:prstGeom>
          <a:solidFill>
            <a:srgbClr val="92D050"/>
          </a:solidFill>
          <a:ln w="8845">
            <a:solidFill>
              <a:srgbClr val="00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00"/>
              </a:spcBef>
            </a:pPr>
            <a:r>
              <a:rPr sz="450" spc="-5" dirty="0">
                <a:latin typeface="Times New Roman" panose="02020603050405020304"/>
                <a:cs typeface="Times New Roman" panose="02020603050405020304"/>
              </a:rPr>
              <a:t>Condenser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87006" y="437019"/>
            <a:ext cx="1136650" cy="842644"/>
            <a:chOff x="987006" y="437019"/>
            <a:chExt cx="1136650" cy="842644"/>
          </a:xfrm>
        </p:grpSpPr>
        <p:sp>
          <p:nvSpPr>
            <p:cNvPr id="43" name="object 43"/>
            <p:cNvSpPr/>
            <p:nvPr/>
          </p:nvSpPr>
          <p:spPr>
            <a:xfrm>
              <a:off x="987006" y="1195755"/>
              <a:ext cx="80959" cy="8347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802774" y="441464"/>
              <a:ext cx="17145" cy="34290"/>
            </a:xfrm>
            <a:custGeom>
              <a:avLst/>
              <a:gdLst/>
              <a:ahLst/>
              <a:cxnLst/>
              <a:rect l="l" t="t" r="r" b="b"/>
              <a:pathLst>
                <a:path w="17144" h="34290">
                  <a:moveTo>
                    <a:pt x="0" y="34188"/>
                  </a:moveTo>
                  <a:lnTo>
                    <a:pt x="16562" y="17057"/>
                  </a:lnTo>
                </a:path>
                <a:path w="17144" h="34290">
                  <a:moveTo>
                    <a:pt x="0" y="0"/>
                  </a:moveTo>
                  <a:lnTo>
                    <a:pt x="16562" y="17057"/>
                  </a:lnTo>
                </a:path>
              </a:pathLst>
            </a:custGeom>
            <a:ln w="87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681481" y="1170346"/>
              <a:ext cx="80959" cy="8347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669276" y="733473"/>
              <a:ext cx="450215" cy="495934"/>
            </a:xfrm>
            <a:custGeom>
              <a:avLst/>
              <a:gdLst/>
              <a:ahLst/>
              <a:cxnLst/>
              <a:rect l="l" t="t" r="r" b="b"/>
              <a:pathLst>
                <a:path w="450214" h="495934">
                  <a:moveTo>
                    <a:pt x="16562" y="331669"/>
                  </a:moveTo>
                  <a:lnTo>
                    <a:pt x="16562" y="478608"/>
                  </a:lnTo>
                </a:path>
                <a:path w="450214" h="495934">
                  <a:moveTo>
                    <a:pt x="433404" y="477212"/>
                  </a:moveTo>
                  <a:lnTo>
                    <a:pt x="433404" y="166403"/>
                  </a:lnTo>
                </a:path>
                <a:path w="450214" h="495934">
                  <a:moveTo>
                    <a:pt x="433832" y="478608"/>
                  </a:moveTo>
                  <a:lnTo>
                    <a:pt x="52685" y="478608"/>
                  </a:lnTo>
                </a:path>
                <a:path w="450214" h="495934">
                  <a:moveTo>
                    <a:pt x="416842" y="0"/>
                  </a:moveTo>
                  <a:lnTo>
                    <a:pt x="433404" y="17094"/>
                  </a:lnTo>
                </a:path>
                <a:path w="450214" h="495934">
                  <a:moveTo>
                    <a:pt x="449895" y="0"/>
                  </a:moveTo>
                  <a:lnTo>
                    <a:pt x="433404" y="17094"/>
                  </a:lnTo>
                </a:path>
                <a:path w="450214" h="495934">
                  <a:moveTo>
                    <a:pt x="416842" y="296690"/>
                  </a:moveTo>
                  <a:lnTo>
                    <a:pt x="433404" y="313785"/>
                  </a:lnTo>
                </a:path>
                <a:path w="450214" h="495934">
                  <a:moveTo>
                    <a:pt x="449895" y="296690"/>
                  </a:moveTo>
                  <a:lnTo>
                    <a:pt x="433404" y="313785"/>
                  </a:lnTo>
                </a:path>
                <a:path w="450214" h="495934">
                  <a:moveTo>
                    <a:pt x="251504" y="495710"/>
                  </a:moveTo>
                  <a:lnTo>
                    <a:pt x="234942" y="478608"/>
                  </a:lnTo>
                </a:path>
                <a:path w="450214" h="495934">
                  <a:moveTo>
                    <a:pt x="251504" y="461513"/>
                  </a:moveTo>
                  <a:lnTo>
                    <a:pt x="234942" y="478608"/>
                  </a:lnTo>
                </a:path>
                <a:path w="450214" h="495934">
                  <a:moveTo>
                    <a:pt x="0" y="413686"/>
                  </a:moveTo>
                  <a:lnTo>
                    <a:pt x="16562" y="396591"/>
                  </a:lnTo>
                </a:path>
                <a:path w="450214" h="495934">
                  <a:moveTo>
                    <a:pt x="33053" y="413686"/>
                  </a:moveTo>
                  <a:lnTo>
                    <a:pt x="16562" y="396591"/>
                  </a:lnTo>
                </a:path>
              </a:pathLst>
            </a:custGeom>
            <a:ln w="87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738459" y="1102959"/>
            <a:ext cx="351155" cy="96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50" spc="-5" dirty="0">
                <a:latin typeface="Times New Roman" panose="02020603050405020304"/>
                <a:cs typeface="Times New Roman" panose="02020603050405020304"/>
              </a:rPr>
              <a:t>Working</a:t>
            </a:r>
            <a:r>
              <a:rPr sz="4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-5" dirty="0">
                <a:latin typeface="Times New Roman" panose="02020603050405020304"/>
                <a:cs typeface="Times New Roman" panose="02020603050405020304"/>
              </a:rPr>
              <a:t>fluid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651150" y="1228550"/>
            <a:ext cx="158750" cy="96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50" spc="-5" dirty="0">
                <a:latin typeface="Times New Roman" panose="02020603050405020304"/>
                <a:cs typeface="Times New Roman" panose="02020603050405020304"/>
              </a:rPr>
              <a:t>Pump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927141" y="333951"/>
            <a:ext cx="206375" cy="96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50" spc="-5" dirty="0">
                <a:latin typeface="Times New Roman" panose="02020603050405020304"/>
                <a:cs typeface="Times New Roman" panose="02020603050405020304"/>
              </a:rPr>
              <a:t>Turbine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367228" y="397823"/>
            <a:ext cx="278130" cy="368935"/>
          </a:xfrm>
          <a:custGeom>
            <a:avLst/>
            <a:gdLst/>
            <a:ahLst/>
            <a:cxnLst/>
            <a:rect l="l" t="t" r="r" b="b"/>
            <a:pathLst>
              <a:path w="278130" h="368934">
                <a:moveTo>
                  <a:pt x="15420" y="244934"/>
                </a:moveTo>
                <a:lnTo>
                  <a:pt x="15420" y="95994"/>
                </a:lnTo>
              </a:path>
              <a:path w="278130" h="368934">
                <a:moveTo>
                  <a:pt x="0" y="228984"/>
                </a:moveTo>
                <a:lnTo>
                  <a:pt x="15420" y="244934"/>
                </a:lnTo>
                <a:lnTo>
                  <a:pt x="30840" y="228984"/>
                </a:lnTo>
              </a:path>
              <a:path w="278130" h="368934">
                <a:moveTo>
                  <a:pt x="262355" y="368413"/>
                </a:moveTo>
                <a:lnTo>
                  <a:pt x="262355" y="0"/>
                </a:lnTo>
              </a:path>
              <a:path w="278130" h="368934">
                <a:moveTo>
                  <a:pt x="246935" y="352463"/>
                </a:moveTo>
                <a:lnTo>
                  <a:pt x="262355" y="368413"/>
                </a:lnTo>
                <a:lnTo>
                  <a:pt x="277775" y="352463"/>
                </a:lnTo>
              </a:path>
            </a:pathLst>
          </a:custGeom>
          <a:ln w="52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1416279" y="302568"/>
            <a:ext cx="426720" cy="96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50" spc="-5" dirty="0">
                <a:latin typeface="Times New Roman" panose="02020603050405020304"/>
                <a:cs typeface="Times New Roman" panose="02020603050405020304"/>
              </a:rPr>
              <a:t>Vapour</a:t>
            </a:r>
            <a:r>
              <a:rPr sz="45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-5" dirty="0">
                <a:latin typeface="Times New Roman" panose="02020603050405020304"/>
                <a:cs typeface="Times New Roman" panose="02020603050405020304"/>
              </a:rPr>
              <a:t>generator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892060" y="416653"/>
            <a:ext cx="1153160" cy="116205"/>
          </a:xfrm>
          <a:custGeom>
            <a:avLst/>
            <a:gdLst/>
            <a:ahLst/>
            <a:cxnLst/>
            <a:rect l="l" t="t" r="r" b="b"/>
            <a:pathLst>
              <a:path w="1153160" h="116204">
                <a:moveTo>
                  <a:pt x="1137445" y="115784"/>
                </a:moveTo>
                <a:lnTo>
                  <a:pt x="1137445" y="0"/>
                </a:lnTo>
              </a:path>
              <a:path w="1153160" h="116204">
                <a:moveTo>
                  <a:pt x="1122025" y="99834"/>
                </a:moveTo>
                <a:lnTo>
                  <a:pt x="1137445" y="115784"/>
                </a:lnTo>
                <a:lnTo>
                  <a:pt x="1152865" y="99834"/>
                </a:lnTo>
              </a:path>
              <a:path w="1153160" h="116204">
                <a:moveTo>
                  <a:pt x="0" y="41130"/>
                </a:moveTo>
                <a:lnTo>
                  <a:pt x="71710" y="10485"/>
                </a:lnTo>
              </a:path>
              <a:path w="1153160" h="116204">
                <a:moveTo>
                  <a:pt x="8366" y="20306"/>
                </a:moveTo>
                <a:lnTo>
                  <a:pt x="0" y="41130"/>
                </a:lnTo>
                <a:lnTo>
                  <a:pt x="20131" y="49769"/>
                </a:lnTo>
              </a:path>
            </a:pathLst>
          </a:custGeom>
          <a:ln w="52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929605" y="401738"/>
            <a:ext cx="631825" cy="96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675" spc="-7" baseline="31000" dirty="0">
                <a:latin typeface="Times New Roman" panose="02020603050405020304"/>
                <a:cs typeface="Times New Roman" panose="02020603050405020304"/>
              </a:rPr>
              <a:t>Reflector </a:t>
            </a:r>
            <a:r>
              <a:rPr sz="450" spc="-5" dirty="0">
                <a:latin typeface="Times New Roman" panose="02020603050405020304"/>
                <a:cs typeface="Times New Roman" panose="02020603050405020304"/>
              </a:rPr>
              <a:t>Storage</a:t>
            </a:r>
            <a:r>
              <a:rPr sz="4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-5" dirty="0">
                <a:latin typeface="Times New Roman" panose="02020603050405020304"/>
                <a:cs typeface="Times New Roman" panose="02020603050405020304"/>
              </a:rPr>
              <a:t>tank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672845" y="607166"/>
            <a:ext cx="33655" cy="17145"/>
          </a:xfrm>
          <a:custGeom>
            <a:avLst/>
            <a:gdLst/>
            <a:ahLst/>
            <a:cxnLst/>
            <a:rect l="l" t="t" r="r" b="b"/>
            <a:pathLst>
              <a:path w="33655" h="17145">
                <a:moveTo>
                  <a:pt x="0" y="17131"/>
                </a:moveTo>
                <a:lnTo>
                  <a:pt x="16562" y="0"/>
                </a:lnTo>
              </a:path>
              <a:path w="33655" h="17145">
                <a:moveTo>
                  <a:pt x="33053" y="17131"/>
                </a:moveTo>
                <a:lnTo>
                  <a:pt x="16562" y="0"/>
                </a:lnTo>
              </a:path>
            </a:pathLst>
          </a:custGeom>
          <a:ln w="8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104394" y="1304555"/>
            <a:ext cx="2476500" cy="6159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860425">
              <a:lnSpc>
                <a:spcPct val="100000"/>
              </a:lnSpc>
              <a:spcBef>
                <a:spcPts val="115"/>
              </a:spcBef>
            </a:pPr>
            <a:r>
              <a:rPr sz="450" b="1" i="1" spc="-5" dirty="0">
                <a:latin typeface="Times New Roman" panose="02020603050405020304"/>
                <a:cs typeface="Times New Roman" panose="02020603050405020304"/>
              </a:rPr>
              <a:t>Low temperature solar power</a:t>
            </a:r>
            <a:r>
              <a:rPr sz="450" b="1" i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b="1" i="1" spc="-5" dirty="0">
                <a:latin typeface="Times New Roman" panose="02020603050405020304"/>
                <a:cs typeface="Times New Roman" panose="02020603050405020304"/>
              </a:rPr>
              <a:t>generation</a:t>
            </a:r>
            <a:endParaRPr sz="4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79375" marR="5080" indent="-67310" algn="just">
              <a:lnSpc>
                <a:spcPct val="105000"/>
              </a:lnSpc>
              <a:buFont typeface="Wingdings" panose="05000000000000000000"/>
              <a:buChar char=""/>
              <a:tabLst>
                <a:tab pos="80010" algn="l"/>
              </a:tabLst>
            </a:pPr>
            <a:r>
              <a:rPr sz="500" spc="-5" dirty="0">
                <a:latin typeface="DejaVu Serif"/>
                <a:cs typeface="DejaVu Serif"/>
              </a:rPr>
              <a:t>The </a:t>
            </a:r>
            <a:r>
              <a:rPr sz="500" spc="5" dirty="0">
                <a:latin typeface="DejaVu Serif"/>
                <a:cs typeface="DejaVu Serif"/>
              </a:rPr>
              <a:t>hot </a:t>
            </a:r>
            <a:r>
              <a:rPr sz="500" spc="-10" dirty="0">
                <a:latin typeface="DejaVu Serif"/>
                <a:cs typeface="DejaVu Serif"/>
              </a:rPr>
              <a:t>water </a:t>
            </a:r>
            <a:r>
              <a:rPr sz="500" spc="5" dirty="0">
                <a:latin typeface="DejaVu Serif"/>
                <a:cs typeface="DejaVu Serif"/>
              </a:rPr>
              <a:t>at about </a:t>
            </a:r>
            <a:r>
              <a:rPr sz="500" spc="-5" dirty="0">
                <a:latin typeface="DejaVu Serif"/>
                <a:cs typeface="DejaVu Serif"/>
              </a:rPr>
              <a:t>100°</a:t>
            </a:r>
            <a:r>
              <a:rPr sz="500" i="1" spc="-5" dirty="0">
                <a:latin typeface="Bookman Uralic"/>
                <a:cs typeface="Bookman Uralic"/>
              </a:rPr>
              <a:t>C </a:t>
            </a:r>
            <a:r>
              <a:rPr sz="500" spc="5" dirty="0">
                <a:latin typeface="DejaVu Serif"/>
                <a:cs typeface="DejaVu Serif"/>
              </a:rPr>
              <a:t>is </a:t>
            </a:r>
            <a:r>
              <a:rPr sz="500" spc="-5" dirty="0">
                <a:latin typeface="DejaVu Serif"/>
                <a:cs typeface="DejaVu Serif"/>
              </a:rPr>
              <a:t>stored </a:t>
            </a:r>
            <a:r>
              <a:rPr sz="500" spc="10" dirty="0">
                <a:latin typeface="DejaVu Serif"/>
                <a:cs typeface="DejaVu Serif"/>
              </a:rPr>
              <a:t>in </a:t>
            </a:r>
            <a:r>
              <a:rPr sz="500" spc="5" dirty="0">
                <a:latin typeface="DejaVu Serif"/>
                <a:cs typeface="DejaVu Serif"/>
              </a:rPr>
              <a:t>a </a:t>
            </a:r>
            <a:r>
              <a:rPr sz="500" dirty="0">
                <a:latin typeface="DejaVu Serif"/>
                <a:cs typeface="DejaVu Serif"/>
              </a:rPr>
              <a:t>well-insulated thermal  </a:t>
            </a:r>
            <a:r>
              <a:rPr sz="500" spc="-10" dirty="0">
                <a:latin typeface="DejaVu Serif"/>
                <a:cs typeface="DejaVu Serif"/>
              </a:rPr>
              <a:t>storage</a:t>
            </a:r>
            <a:r>
              <a:rPr sz="500" spc="135" dirty="0">
                <a:latin typeface="DejaVu Serif"/>
                <a:cs typeface="DejaVu Serif"/>
              </a:rPr>
              <a:t> </a:t>
            </a:r>
            <a:r>
              <a:rPr sz="500" spc="10" dirty="0">
                <a:latin typeface="DejaVu Serif"/>
                <a:cs typeface="DejaVu Serif"/>
              </a:rPr>
              <a:t>tank. </a:t>
            </a:r>
            <a:r>
              <a:rPr sz="500" spc="-10" dirty="0">
                <a:latin typeface="DejaVu Serif"/>
                <a:cs typeface="DejaVu Serif"/>
              </a:rPr>
              <a:t>It </a:t>
            </a:r>
            <a:r>
              <a:rPr sz="500" spc="5" dirty="0">
                <a:latin typeface="DejaVu Serif"/>
                <a:cs typeface="DejaVu Serif"/>
              </a:rPr>
              <a:t>then </a:t>
            </a:r>
            <a:r>
              <a:rPr sz="500" spc="-10" dirty="0">
                <a:latin typeface="DejaVu Serif"/>
                <a:cs typeface="DejaVu Serif"/>
              </a:rPr>
              <a:t>flows </a:t>
            </a:r>
            <a:r>
              <a:rPr sz="500" dirty="0">
                <a:latin typeface="DejaVu Serif"/>
                <a:cs typeface="DejaVu Serif"/>
              </a:rPr>
              <a:t>through </a:t>
            </a:r>
            <a:r>
              <a:rPr sz="500" spc="5" dirty="0">
                <a:latin typeface="DejaVu Serif"/>
                <a:cs typeface="DejaVu Serif"/>
              </a:rPr>
              <a:t>a </a:t>
            </a:r>
            <a:r>
              <a:rPr sz="500" dirty="0">
                <a:latin typeface="DejaVu Serif"/>
                <a:cs typeface="DejaVu Serif"/>
              </a:rPr>
              <a:t>vapour generator/evaporator  </a:t>
            </a:r>
            <a:r>
              <a:rPr sz="500" spc="-10" dirty="0">
                <a:latin typeface="DejaVu Serif"/>
                <a:cs typeface="DejaVu Serif"/>
              </a:rPr>
              <a:t>where </a:t>
            </a:r>
            <a:r>
              <a:rPr sz="500" dirty="0">
                <a:latin typeface="DejaVu Serif"/>
                <a:cs typeface="DejaVu Serif"/>
              </a:rPr>
              <a:t>the </a:t>
            </a:r>
            <a:r>
              <a:rPr sz="500" spc="-5" dirty="0">
                <a:latin typeface="DejaVu Serif"/>
                <a:cs typeface="DejaVu Serif"/>
              </a:rPr>
              <a:t>organic </a:t>
            </a:r>
            <a:r>
              <a:rPr sz="500" spc="-10" dirty="0">
                <a:latin typeface="DejaVu Serif"/>
                <a:cs typeface="DejaVu Serif"/>
              </a:rPr>
              <a:t>working </a:t>
            </a:r>
            <a:r>
              <a:rPr sz="500" dirty="0">
                <a:latin typeface="DejaVu Serif"/>
                <a:cs typeface="DejaVu Serif"/>
              </a:rPr>
              <a:t>fluid </a:t>
            </a:r>
            <a:r>
              <a:rPr sz="500" spc="5" dirty="0">
                <a:latin typeface="DejaVu Serif"/>
                <a:cs typeface="DejaVu Serif"/>
              </a:rPr>
              <a:t>is </a:t>
            </a:r>
            <a:r>
              <a:rPr sz="500" dirty="0">
                <a:latin typeface="DejaVu Serif"/>
                <a:cs typeface="DejaVu Serif"/>
              </a:rPr>
              <a:t>vapourized </a:t>
            </a:r>
            <a:r>
              <a:rPr sz="500" spc="5" dirty="0">
                <a:latin typeface="DejaVu Serif"/>
                <a:cs typeface="DejaVu Serif"/>
              </a:rPr>
              <a:t>at about</a:t>
            </a:r>
            <a:r>
              <a:rPr sz="500" spc="50" dirty="0">
                <a:latin typeface="DejaVu Serif"/>
                <a:cs typeface="DejaVu Serif"/>
              </a:rPr>
              <a:t> </a:t>
            </a:r>
            <a:r>
              <a:rPr sz="500" spc="10" dirty="0">
                <a:latin typeface="DejaVu Serif"/>
                <a:cs typeface="DejaVu Serif"/>
              </a:rPr>
              <a:t>90</a:t>
            </a:r>
            <a:r>
              <a:rPr sz="500" i="1" spc="10" dirty="0">
                <a:latin typeface="Bookman Uralic"/>
                <a:cs typeface="Bookman Uralic"/>
              </a:rPr>
              <a:t>°C</a:t>
            </a:r>
            <a:r>
              <a:rPr sz="500" spc="10" dirty="0">
                <a:latin typeface="DejaVu Serif"/>
                <a:cs typeface="DejaVu Serif"/>
              </a:rPr>
              <a:t>.</a:t>
            </a:r>
            <a:endParaRPr sz="500">
              <a:latin typeface="DejaVu Serif"/>
              <a:cs typeface="DejaVu Serif"/>
            </a:endParaRPr>
          </a:p>
          <a:p>
            <a:pPr marL="79375" marR="5080" indent="-67310" algn="just">
              <a:lnSpc>
                <a:spcPct val="106000"/>
              </a:lnSpc>
              <a:spcBef>
                <a:spcPts val="325"/>
              </a:spcBef>
              <a:buFont typeface="Wingdings" panose="05000000000000000000"/>
              <a:buChar char=""/>
              <a:tabLst>
                <a:tab pos="80010" algn="l"/>
              </a:tabLst>
            </a:pPr>
            <a:r>
              <a:rPr sz="500" spc="-5" dirty="0">
                <a:latin typeface="DejaVu Serif"/>
                <a:cs typeface="DejaVu Serif"/>
              </a:rPr>
              <a:t>The </a:t>
            </a:r>
            <a:r>
              <a:rPr sz="500" dirty="0">
                <a:latin typeface="DejaVu Serif"/>
                <a:cs typeface="DejaVu Serif"/>
              </a:rPr>
              <a:t>vapour </a:t>
            </a:r>
            <a:r>
              <a:rPr sz="500" spc="5" dirty="0">
                <a:latin typeface="DejaVu Serif"/>
                <a:cs typeface="DejaVu Serif"/>
              </a:rPr>
              <a:t>then </a:t>
            </a:r>
            <a:r>
              <a:rPr sz="500" spc="-10" dirty="0">
                <a:latin typeface="DejaVu Serif"/>
                <a:cs typeface="DejaVu Serif"/>
              </a:rPr>
              <a:t>flows </a:t>
            </a:r>
            <a:r>
              <a:rPr sz="500" spc="5" dirty="0">
                <a:latin typeface="DejaVu Serif"/>
                <a:cs typeface="DejaVu Serif"/>
              </a:rPr>
              <a:t>under </a:t>
            </a:r>
            <a:r>
              <a:rPr sz="500" spc="-5" dirty="0">
                <a:latin typeface="DejaVu Serif"/>
                <a:cs typeface="DejaVu Serif"/>
              </a:rPr>
              <a:t>pressure to the </a:t>
            </a:r>
            <a:r>
              <a:rPr sz="500" dirty="0">
                <a:latin typeface="DejaVu Serif"/>
                <a:cs typeface="DejaVu Serif"/>
              </a:rPr>
              <a:t>turbine </a:t>
            </a:r>
            <a:r>
              <a:rPr sz="500" spc="-15" dirty="0">
                <a:latin typeface="DejaVu Serif"/>
                <a:cs typeface="DejaVu Serif"/>
              </a:rPr>
              <a:t>where </a:t>
            </a:r>
            <a:r>
              <a:rPr sz="500" spc="-5" dirty="0">
                <a:latin typeface="DejaVu Serif"/>
                <a:cs typeface="DejaVu Serif"/>
              </a:rPr>
              <a:t>it </a:t>
            </a:r>
            <a:r>
              <a:rPr sz="500" spc="5" dirty="0">
                <a:latin typeface="DejaVu Serif"/>
                <a:cs typeface="DejaVu Serif"/>
              </a:rPr>
              <a:t>expands  </a:t>
            </a:r>
            <a:r>
              <a:rPr sz="500" spc="10" dirty="0">
                <a:latin typeface="DejaVu Serif"/>
                <a:cs typeface="DejaVu Serif"/>
              </a:rPr>
              <a:t>and </a:t>
            </a:r>
            <a:r>
              <a:rPr sz="500" spc="-5" dirty="0">
                <a:latin typeface="DejaVu Serif"/>
                <a:cs typeface="DejaVu Serif"/>
              </a:rPr>
              <a:t>work </a:t>
            </a:r>
            <a:r>
              <a:rPr sz="500" spc="15" dirty="0">
                <a:latin typeface="DejaVu Serif"/>
                <a:cs typeface="DejaVu Serif"/>
              </a:rPr>
              <a:t>thus </a:t>
            </a:r>
            <a:r>
              <a:rPr sz="500" dirty="0">
                <a:latin typeface="DejaVu Serif"/>
                <a:cs typeface="DejaVu Serif"/>
              </a:rPr>
              <a:t>obtained </a:t>
            </a:r>
            <a:r>
              <a:rPr sz="500" spc="15" dirty="0">
                <a:latin typeface="DejaVu Serif"/>
                <a:cs typeface="DejaVu Serif"/>
              </a:rPr>
              <a:t>runs an </a:t>
            </a:r>
            <a:r>
              <a:rPr sz="500" spc="-10" dirty="0">
                <a:latin typeface="DejaVu Serif"/>
                <a:cs typeface="DejaVu Serif"/>
              </a:rPr>
              <a:t>electric generator </a:t>
            </a:r>
            <a:r>
              <a:rPr sz="500" spc="-5" dirty="0">
                <a:latin typeface="DejaVu Serif"/>
                <a:cs typeface="DejaVu Serif"/>
              </a:rPr>
              <a:t>producing</a:t>
            </a:r>
            <a:r>
              <a:rPr sz="500" spc="30" dirty="0">
                <a:latin typeface="DejaVu Serif"/>
                <a:cs typeface="DejaVu Serif"/>
              </a:rPr>
              <a:t> </a:t>
            </a:r>
            <a:r>
              <a:rPr sz="500" spc="-5" dirty="0">
                <a:latin typeface="DejaVu Serif"/>
                <a:cs typeface="DejaVu Serif"/>
              </a:rPr>
              <a:t>electricity.</a:t>
            </a:r>
            <a:endParaRPr sz="500">
              <a:latin typeface="DejaVu Serif"/>
              <a:cs typeface="DejaVu Serif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87045" marR="5080" indent="-407035">
              <a:lnSpc>
                <a:spcPct val="102000"/>
              </a:lnSpc>
              <a:spcBef>
                <a:spcPts val="90"/>
              </a:spcBef>
            </a:pPr>
            <a:r>
              <a:rPr sz="800" spc="5" dirty="0"/>
              <a:t>Low temperature thermoelectric  </a:t>
            </a:r>
            <a:r>
              <a:rPr sz="800" i="1" spc="5" dirty="0"/>
              <a:t>power</a:t>
            </a:r>
            <a:r>
              <a:rPr sz="800" i="1" dirty="0"/>
              <a:t> </a:t>
            </a:r>
            <a:r>
              <a:rPr sz="800" i="1" spc="5" dirty="0"/>
              <a:t>generation</a:t>
            </a:r>
            <a:endParaRPr sz="800"/>
          </a:p>
        </p:txBody>
      </p:sp>
      <p:sp>
        <p:nvSpPr>
          <p:cNvPr id="57" name="object 57"/>
          <p:cNvSpPr/>
          <p:nvPr/>
        </p:nvSpPr>
        <p:spPr>
          <a:xfrm>
            <a:off x="635" y="1028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067" y="85851"/>
            <a:ext cx="2292350" cy="3117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599440" marR="5080" indent="-587375">
              <a:lnSpc>
                <a:spcPct val="104000"/>
              </a:lnSpc>
              <a:spcBef>
                <a:spcPts val="85"/>
              </a:spcBef>
            </a:pPr>
            <a:r>
              <a:rPr sz="900" spc="20" dirty="0"/>
              <a:t>Medium </a:t>
            </a:r>
            <a:r>
              <a:rPr sz="900" spc="15" dirty="0"/>
              <a:t>temperature thermoelectric  </a:t>
            </a:r>
            <a:r>
              <a:rPr sz="900" i="1" spc="15" dirty="0"/>
              <a:t>power</a:t>
            </a:r>
            <a:r>
              <a:rPr sz="900" i="1" dirty="0"/>
              <a:t> </a:t>
            </a:r>
            <a:r>
              <a:rPr sz="900" i="1" spc="15" dirty="0"/>
              <a:t>generation</a:t>
            </a:r>
            <a:endParaRPr sz="900"/>
          </a:p>
        </p:txBody>
      </p:sp>
      <p:grpSp>
        <p:nvGrpSpPr>
          <p:cNvPr id="3" name="object 3"/>
          <p:cNvGrpSpPr/>
          <p:nvPr/>
        </p:nvGrpSpPr>
        <p:grpSpPr>
          <a:xfrm>
            <a:off x="1623654" y="547114"/>
            <a:ext cx="889635" cy="684530"/>
            <a:chOff x="1623654" y="547114"/>
            <a:chExt cx="889635" cy="684530"/>
          </a:xfrm>
        </p:grpSpPr>
        <p:sp>
          <p:nvSpPr>
            <p:cNvPr id="4" name="object 4"/>
            <p:cNvSpPr/>
            <p:nvPr/>
          </p:nvSpPr>
          <p:spPr>
            <a:xfrm>
              <a:off x="1628099" y="584758"/>
              <a:ext cx="880744" cy="641985"/>
            </a:xfrm>
            <a:custGeom>
              <a:avLst/>
              <a:gdLst/>
              <a:ahLst/>
              <a:cxnLst/>
              <a:rect l="l" t="t" r="r" b="b"/>
              <a:pathLst>
                <a:path w="880744" h="641985">
                  <a:moveTo>
                    <a:pt x="34102" y="372817"/>
                  </a:moveTo>
                  <a:lnTo>
                    <a:pt x="706498" y="0"/>
                  </a:lnTo>
                </a:path>
                <a:path w="880744" h="641985">
                  <a:moveTo>
                    <a:pt x="34102" y="372817"/>
                  </a:moveTo>
                  <a:lnTo>
                    <a:pt x="12104" y="412770"/>
                  </a:lnTo>
                  <a:lnTo>
                    <a:pt x="718" y="458483"/>
                  </a:lnTo>
                  <a:lnTo>
                    <a:pt x="0" y="506318"/>
                  </a:lnTo>
                  <a:lnTo>
                    <a:pt x="10003" y="552634"/>
                  </a:lnTo>
                  <a:lnTo>
                    <a:pt x="30785" y="593794"/>
                  </a:lnTo>
                  <a:lnTo>
                    <a:pt x="68017" y="629180"/>
                  </a:lnTo>
                  <a:lnTo>
                    <a:pt x="110784" y="641830"/>
                  </a:lnTo>
                  <a:lnTo>
                    <a:pt x="153894" y="631598"/>
                  </a:lnTo>
                  <a:lnTo>
                    <a:pt x="192156" y="598337"/>
                  </a:lnTo>
                  <a:lnTo>
                    <a:pt x="208148" y="572136"/>
                  </a:lnTo>
                  <a:lnTo>
                    <a:pt x="758193" y="267171"/>
                  </a:lnTo>
                </a:path>
                <a:path w="880744" h="641985">
                  <a:moveTo>
                    <a:pt x="761243" y="265464"/>
                  </a:moveTo>
                  <a:lnTo>
                    <a:pt x="880551" y="199319"/>
                  </a:lnTo>
                </a:path>
                <a:path w="880744" h="641985">
                  <a:moveTo>
                    <a:pt x="706498" y="0"/>
                  </a:moveTo>
                  <a:lnTo>
                    <a:pt x="684514" y="39952"/>
                  </a:lnTo>
                  <a:lnTo>
                    <a:pt x="673138" y="85665"/>
                  </a:lnTo>
                  <a:lnTo>
                    <a:pt x="672426" y="133499"/>
                  </a:lnTo>
                  <a:lnTo>
                    <a:pt x="682436" y="179814"/>
                  </a:lnTo>
                  <a:lnTo>
                    <a:pt x="703225" y="220970"/>
                  </a:lnTo>
                  <a:lnTo>
                    <a:pt x="715805" y="236444"/>
                  </a:lnTo>
                  <a:lnTo>
                    <a:pt x="729835" y="249142"/>
                  </a:lnTo>
                  <a:lnTo>
                    <a:pt x="745065" y="258877"/>
                  </a:lnTo>
                  <a:lnTo>
                    <a:pt x="761243" y="265464"/>
                  </a:lnTo>
                </a:path>
              </a:pathLst>
            </a:custGeom>
            <a:ln w="8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40825" y="779699"/>
              <a:ext cx="72203" cy="723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94854" y="847701"/>
              <a:ext cx="650875" cy="360680"/>
            </a:xfrm>
            <a:custGeom>
              <a:avLst/>
              <a:gdLst/>
              <a:ahLst/>
              <a:cxnLst/>
              <a:rect l="l" t="t" r="r" b="b"/>
              <a:pathLst>
                <a:path w="650875" h="360680">
                  <a:moveTo>
                    <a:pt x="0" y="360595"/>
                  </a:moveTo>
                  <a:lnTo>
                    <a:pt x="650348" y="0"/>
                  </a:lnTo>
                </a:path>
              </a:pathLst>
            </a:custGeom>
            <a:ln w="86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64194" y="843556"/>
              <a:ext cx="371196" cy="20966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60512" y="729547"/>
              <a:ext cx="593725" cy="328930"/>
            </a:xfrm>
            <a:custGeom>
              <a:avLst/>
              <a:gdLst/>
              <a:ahLst/>
              <a:cxnLst/>
              <a:rect l="l" t="t" r="r" b="b"/>
              <a:pathLst>
                <a:path w="593725" h="328930">
                  <a:moveTo>
                    <a:pt x="0" y="328930"/>
                  </a:moveTo>
                  <a:lnTo>
                    <a:pt x="593275" y="0"/>
                  </a:lnTo>
                </a:path>
              </a:pathLst>
            </a:custGeom>
            <a:ln w="5192">
              <a:solidFill>
                <a:srgbClr val="000000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39199" y="706145"/>
              <a:ext cx="635635" cy="376555"/>
            </a:xfrm>
            <a:custGeom>
              <a:avLst/>
              <a:gdLst/>
              <a:ahLst/>
              <a:cxnLst/>
              <a:rect l="l" t="t" r="r" b="b"/>
              <a:pathLst>
                <a:path w="635635" h="376555">
                  <a:moveTo>
                    <a:pt x="37208" y="343596"/>
                  </a:moveTo>
                  <a:lnTo>
                    <a:pt x="30878" y="335930"/>
                  </a:lnTo>
                  <a:lnTo>
                    <a:pt x="23240" y="331037"/>
                  </a:lnTo>
                  <a:lnTo>
                    <a:pt x="15241" y="329318"/>
                  </a:lnTo>
                  <a:lnTo>
                    <a:pt x="7827" y="331174"/>
                  </a:lnTo>
                  <a:lnTo>
                    <a:pt x="2449" y="336412"/>
                  </a:lnTo>
                  <a:lnTo>
                    <a:pt x="0" y="343923"/>
                  </a:lnTo>
                  <a:lnTo>
                    <a:pt x="592" y="352723"/>
                  </a:lnTo>
                  <a:lnTo>
                    <a:pt x="4339" y="361825"/>
                  </a:lnTo>
                  <a:lnTo>
                    <a:pt x="10672" y="369492"/>
                  </a:lnTo>
                  <a:lnTo>
                    <a:pt x="18309" y="374384"/>
                  </a:lnTo>
                  <a:lnTo>
                    <a:pt x="26307" y="376103"/>
                  </a:lnTo>
                  <a:lnTo>
                    <a:pt x="33720" y="374247"/>
                  </a:lnTo>
                  <a:lnTo>
                    <a:pt x="39101" y="369010"/>
                  </a:lnTo>
                  <a:lnTo>
                    <a:pt x="41550" y="361498"/>
                  </a:lnTo>
                  <a:lnTo>
                    <a:pt x="40956" y="352699"/>
                  </a:lnTo>
                  <a:lnTo>
                    <a:pt x="37208" y="343596"/>
                  </a:lnTo>
                  <a:close/>
                </a:path>
                <a:path w="635635" h="376555">
                  <a:moveTo>
                    <a:pt x="34746" y="373683"/>
                  </a:moveTo>
                  <a:lnTo>
                    <a:pt x="627977" y="44745"/>
                  </a:lnTo>
                </a:path>
                <a:path w="635635" h="376555">
                  <a:moveTo>
                    <a:pt x="600233" y="2873"/>
                  </a:moveTo>
                  <a:lnTo>
                    <a:pt x="602167" y="1801"/>
                  </a:lnTo>
                </a:path>
                <a:path w="635635" h="376555">
                  <a:moveTo>
                    <a:pt x="8876" y="330731"/>
                  </a:moveTo>
                  <a:lnTo>
                    <a:pt x="600233" y="2873"/>
                  </a:lnTo>
                </a:path>
                <a:path w="635635" h="376555">
                  <a:moveTo>
                    <a:pt x="627977" y="44745"/>
                  </a:moveTo>
                  <a:lnTo>
                    <a:pt x="633263" y="39352"/>
                  </a:lnTo>
                  <a:lnTo>
                    <a:pt x="635564" y="31744"/>
                  </a:lnTo>
                  <a:lnTo>
                    <a:pt x="634797" y="22913"/>
                  </a:lnTo>
                  <a:lnTo>
                    <a:pt x="630878" y="13851"/>
                  </a:lnTo>
                  <a:lnTo>
                    <a:pt x="624654" y="6449"/>
                  </a:lnTo>
                  <a:lnTo>
                    <a:pt x="617182" y="1708"/>
                  </a:lnTo>
                  <a:lnTo>
                    <a:pt x="609362" y="0"/>
                  </a:lnTo>
                  <a:lnTo>
                    <a:pt x="602092" y="1694"/>
                  </a:lnTo>
                  <a:lnTo>
                    <a:pt x="601423" y="2037"/>
                  </a:lnTo>
                  <a:lnTo>
                    <a:pt x="600828" y="2430"/>
                  </a:lnTo>
                  <a:lnTo>
                    <a:pt x="600233" y="2873"/>
                  </a:lnTo>
                </a:path>
              </a:pathLst>
            </a:custGeom>
            <a:ln w="87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95335" y="549971"/>
              <a:ext cx="363220" cy="318770"/>
            </a:xfrm>
            <a:custGeom>
              <a:avLst/>
              <a:gdLst/>
              <a:ahLst/>
              <a:cxnLst/>
              <a:rect l="l" t="t" r="r" b="b"/>
              <a:pathLst>
                <a:path w="363219" h="318769">
                  <a:moveTo>
                    <a:pt x="97953" y="318158"/>
                  </a:moveTo>
                  <a:lnTo>
                    <a:pt x="0" y="186055"/>
                  </a:lnTo>
                </a:path>
                <a:path w="363219" h="318769">
                  <a:moveTo>
                    <a:pt x="75549" y="314544"/>
                  </a:moveTo>
                  <a:lnTo>
                    <a:pt x="97953" y="318158"/>
                  </a:lnTo>
                  <a:lnTo>
                    <a:pt x="101724" y="296643"/>
                  </a:lnTo>
                </a:path>
                <a:path w="363219" h="318769">
                  <a:moveTo>
                    <a:pt x="216852" y="93409"/>
                  </a:moveTo>
                  <a:lnTo>
                    <a:pt x="147595" y="0"/>
                  </a:lnTo>
                </a:path>
                <a:path w="363219" h="318769">
                  <a:moveTo>
                    <a:pt x="194448" y="89788"/>
                  </a:moveTo>
                  <a:lnTo>
                    <a:pt x="216852" y="93409"/>
                  </a:lnTo>
                  <a:lnTo>
                    <a:pt x="220623" y="71859"/>
                  </a:lnTo>
                </a:path>
                <a:path w="363219" h="318769">
                  <a:moveTo>
                    <a:pt x="346254" y="150104"/>
                  </a:moveTo>
                  <a:lnTo>
                    <a:pt x="352427" y="12143"/>
                  </a:lnTo>
                </a:path>
                <a:path w="363219" h="318769">
                  <a:moveTo>
                    <a:pt x="330931" y="134032"/>
                  </a:moveTo>
                  <a:lnTo>
                    <a:pt x="346254" y="150104"/>
                  </a:lnTo>
                  <a:lnTo>
                    <a:pt x="362990" y="135346"/>
                  </a:lnTo>
                </a:path>
              </a:pathLst>
            </a:custGeom>
            <a:ln w="52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42196" y="481341"/>
            <a:ext cx="829944" cy="266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595630" algn="l"/>
              </a:tabLst>
            </a:pPr>
            <a:r>
              <a:rPr sz="450" spc="5" dirty="0">
                <a:latin typeface="Times New Roman" panose="02020603050405020304"/>
                <a:cs typeface="Times New Roman" panose="02020603050405020304"/>
              </a:rPr>
              <a:t>Reflector	</a:t>
            </a:r>
            <a:r>
              <a:rPr sz="450" spc="1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450" spc="5" dirty="0">
                <a:latin typeface="Times New Roman" panose="02020603050405020304"/>
                <a:cs typeface="Times New Roman" panose="02020603050405020304"/>
              </a:rPr>
              <a:t>bsorber</a:t>
            </a:r>
            <a:endParaRPr sz="4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450" spc="5" dirty="0">
                <a:latin typeface="Times New Roman" panose="02020603050405020304"/>
                <a:cs typeface="Times New Roman" panose="02020603050405020304"/>
              </a:rPr>
              <a:t>Focal</a:t>
            </a:r>
            <a:r>
              <a:rPr sz="4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5" dirty="0">
                <a:latin typeface="Times New Roman" panose="02020603050405020304"/>
                <a:cs typeface="Times New Roman" panose="02020603050405020304"/>
              </a:rPr>
              <a:t>line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733" y="1240642"/>
            <a:ext cx="2477770" cy="526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2415">
              <a:lnSpc>
                <a:spcPct val="100000"/>
              </a:lnSpc>
              <a:spcBef>
                <a:spcPts val="100"/>
              </a:spcBef>
            </a:pPr>
            <a:r>
              <a:rPr sz="450" b="1" i="1" spc="5" dirty="0">
                <a:latin typeface="Times New Roman" panose="02020603050405020304"/>
                <a:cs typeface="Times New Roman" panose="02020603050405020304"/>
              </a:rPr>
              <a:t>Parabolic trough</a:t>
            </a:r>
            <a:r>
              <a:rPr sz="450" b="1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b="1" i="1" spc="5" dirty="0">
                <a:latin typeface="Times New Roman" panose="02020603050405020304"/>
                <a:cs typeface="Times New Roman" panose="02020603050405020304"/>
              </a:rPr>
              <a:t>collector</a:t>
            </a:r>
            <a:endParaRPr sz="4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79375" marR="5080" indent="-67310" algn="just">
              <a:lnSpc>
                <a:spcPct val="107000"/>
              </a:lnSpc>
              <a:buSzPct val="82000"/>
              <a:buFont typeface="Wingdings" panose="05000000000000000000"/>
              <a:buChar char=""/>
              <a:tabLst>
                <a:tab pos="80010" algn="l"/>
              </a:tabLst>
            </a:pP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5" dirty="0">
                <a:latin typeface="DejaVu Serif"/>
                <a:cs typeface="DejaVu Serif"/>
              </a:rPr>
              <a:t>fluid </a:t>
            </a:r>
            <a:r>
              <a:rPr sz="550" spc="-10" dirty="0">
                <a:latin typeface="DejaVu Serif"/>
                <a:cs typeface="DejaVu Serif"/>
              </a:rPr>
              <a:t>flowing </a:t>
            </a:r>
            <a:r>
              <a:rPr sz="550" spc="5" dirty="0">
                <a:latin typeface="DejaVu Serif"/>
                <a:cs typeface="DejaVu Serif"/>
              </a:rPr>
              <a:t>through </a:t>
            </a: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-5" dirty="0">
                <a:latin typeface="DejaVu Serif"/>
                <a:cs typeface="DejaVu Serif"/>
              </a:rPr>
              <a:t>absorber </a:t>
            </a:r>
            <a:r>
              <a:rPr sz="550" spc="5" dirty="0">
                <a:latin typeface="DejaVu Serif"/>
                <a:cs typeface="DejaVu Serif"/>
              </a:rPr>
              <a:t>tube absorbs </a:t>
            </a:r>
            <a:r>
              <a:rPr sz="550" dirty="0">
                <a:latin typeface="DejaVu Serif"/>
                <a:cs typeface="DejaVu Serif"/>
              </a:rPr>
              <a:t>the heat  </a:t>
            </a:r>
            <a:r>
              <a:rPr sz="550" spc="10" dirty="0">
                <a:latin typeface="DejaVu Serif"/>
                <a:cs typeface="DejaVu Serif"/>
              </a:rPr>
              <a:t>and is then </a:t>
            </a:r>
            <a:r>
              <a:rPr sz="550" spc="5" dirty="0">
                <a:latin typeface="DejaVu Serif"/>
                <a:cs typeface="DejaVu Serif"/>
              </a:rPr>
              <a:t>drawn through </a:t>
            </a:r>
            <a:r>
              <a:rPr sz="550" spc="10" dirty="0">
                <a:latin typeface="DejaVu Serif"/>
                <a:cs typeface="DejaVu Serif"/>
              </a:rPr>
              <a:t>a </a:t>
            </a:r>
            <a:r>
              <a:rPr sz="550" dirty="0">
                <a:latin typeface="DejaVu Serif"/>
                <a:cs typeface="DejaVu Serif"/>
              </a:rPr>
              <a:t>heat-exchanger </a:t>
            </a:r>
            <a:r>
              <a:rPr sz="550" spc="15" dirty="0">
                <a:latin typeface="DejaVu Serif"/>
                <a:cs typeface="DejaVu Serif"/>
              </a:rPr>
              <a:t>in </a:t>
            </a:r>
            <a:r>
              <a:rPr sz="550" spc="5" dirty="0">
                <a:latin typeface="DejaVu Serif"/>
                <a:cs typeface="DejaVu Serif"/>
              </a:rPr>
              <a:t>which </a:t>
            </a:r>
            <a:r>
              <a:rPr sz="550" dirty="0">
                <a:latin typeface="DejaVu Serif"/>
                <a:cs typeface="DejaVu Serif"/>
              </a:rPr>
              <a:t>it  transfers heat to high pressure </a:t>
            </a:r>
            <a:r>
              <a:rPr sz="550" spc="-10" dirty="0">
                <a:latin typeface="DejaVu Serif"/>
                <a:cs typeface="DejaVu Serif"/>
              </a:rPr>
              <a:t>water </a:t>
            </a:r>
            <a:r>
              <a:rPr sz="550" spc="5" dirty="0">
                <a:latin typeface="DejaVu Serif"/>
                <a:cs typeface="DejaVu Serif"/>
              </a:rPr>
              <a:t>which </a:t>
            </a:r>
            <a:r>
              <a:rPr sz="550" spc="10" dirty="0">
                <a:latin typeface="DejaVu Serif"/>
                <a:cs typeface="DejaVu Serif"/>
              </a:rPr>
              <a:t>is </a:t>
            </a:r>
            <a:r>
              <a:rPr sz="550" spc="-5" dirty="0">
                <a:latin typeface="DejaVu Serif"/>
                <a:cs typeface="DejaVu Serif"/>
              </a:rPr>
              <a:t>converted </a:t>
            </a:r>
            <a:r>
              <a:rPr sz="550" dirty="0">
                <a:latin typeface="DejaVu Serif"/>
                <a:cs typeface="DejaVu Serif"/>
              </a:rPr>
              <a:t>to  </a:t>
            </a:r>
            <a:r>
              <a:rPr sz="550" spc="5" dirty="0">
                <a:latin typeface="DejaVu Serif"/>
                <a:cs typeface="DejaVu Serif"/>
              </a:rPr>
              <a:t>steam which </a:t>
            </a:r>
            <a:r>
              <a:rPr sz="550" dirty="0">
                <a:latin typeface="DejaVu Serif"/>
                <a:cs typeface="DejaVu Serif"/>
              </a:rPr>
              <a:t>executes </a:t>
            </a:r>
            <a:r>
              <a:rPr sz="550" spc="10" dirty="0">
                <a:latin typeface="DejaVu Serif"/>
                <a:cs typeface="DejaVu Serif"/>
              </a:rPr>
              <a:t>a </a:t>
            </a:r>
            <a:r>
              <a:rPr sz="550" b="1" i="1" spc="20" dirty="0">
                <a:latin typeface="TeX Gyre Bonum"/>
                <a:cs typeface="TeX Gyre Bonum"/>
              </a:rPr>
              <a:t>Rankine</a:t>
            </a:r>
            <a:r>
              <a:rPr sz="550" b="1" i="1" spc="10" dirty="0">
                <a:latin typeface="TeX Gyre Bonum"/>
                <a:cs typeface="TeX Gyre Bonum"/>
              </a:rPr>
              <a:t> cycle</a:t>
            </a:r>
            <a:r>
              <a:rPr sz="550" spc="10" dirty="0">
                <a:latin typeface="DejaVu Serif"/>
                <a:cs typeface="DejaVu Serif"/>
              </a:rPr>
              <a:t>.</a:t>
            </a:r>
            <a:endParaRPr sz="550">
              <a:latin typeface="DejaVu Serif"/>
              <a:cs typeface="DejaVu Serif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9375" marR="5080" indent="-67310" algn="just">
              <a:lnSpc>
                <a:spcPct val="107000"/>
              </a:lnSpc>
              <a:spcBef>
                <a:spcPts val="90"/>
              </a:spcBef>
              <a:buSzPct val="82000"/>
              <a:buFont typeface="Wingdings" panose="05000000000000000000"/>
              <a:buChar char=""/>
              <a:tabLst>
                <a:tab pos="80010" algn="l"/>
              </a:tabLst>
            </a:pPr>
            <a:r>
              <a:rPr dirty="0"/>
              <a:t>Temperatures </a:t>
            </a:r>
            <a:r>
              <a:rPr spc="5" dirty="0"/>
              <a:t>around </a:t>
            </a:r>
            <a:r>
              <a:rPr spc="10" dirty="0"/>
              <a:t>150</a:t>
            </a:r>
            <a:r>
              <a:rPr i="1" spc="10" dirty="0">
                <a:latin typeface="Bookman Uralic"/>
                <a:cs typeface="Bookman Uralic"/>
              </a:rPr>
              <a:t>°C </a:t>
            </a:r>
            <a:r>
              <a:rPr dirty="0"/>
              <a:t>to  </a:t>
            </a:r>
            <a:r>
              <a:rPr spc="10" dirty="0"/>
              <a:t>300</a:t>
            </a:r>
            <a:r>
              <a:rPr i="1" spc="10" dirty="0">
                <a:latin typeface="Bookman Uralic"/>
                <a:cs typeface="Bookman Uralic"/>
              </a:rPr>
              <a:t>°C </a:t>
            </a:r>
            <a:r>
              <a:rPr spc="5" dirty="0"/>
              <a:t>can </a:t>
            </a:r>
            <a:r>
              <a:rPr spc="-10" dirty="0"/>
              <a:t>be</a:t>
            </a:r>
            <a:r>
              <a:rPr spc="150" dirty="0"/>
              <a:t> </a:t>
            </a:r>
            <a:r>
              <a:rPr dirty="0"/>
              <a:t>attained </a:t>
            </a:r>
            <a:r>
              <a:rPr spc="5" dirty="0"/>
              <a:t>by using  </a:t>
            </a:r>
            <a:r>
              <a:rPr dirty="0"/>
              <a:t>array </a:t>
            </a:r>
            <a:r>
              <a:rPr spc="-15" dirty="0"/>
              <a:t>of </a:t>
            </a:r>
            <a:r>
              <a:rPr b="1" i="1" spc="15" dirty="0">
                <a:latin typeface="TeX Gyre Bonum"/>
                <a:cs typeface="TeX Gyre Bonum"/>
              </a:rPr>
              <a:t>parabolic </a:t>
            </a:r>
            <a:r>
              <a:rPr b="1" i="1" spc="20" dirty="0">
                <a:latin typeface="TeX Gyre Bonum"/>
                <a:cs typeface="TeX Gyre Bonum"/>
              </a:rPr>
              <a:t>trough  </a:t>
            </a:r>
            <a:r>
              <a:rPr b="1" i="1" spc="15" dirty="0">
                <a:latin typeface="TeX Gyre Bonum"/>
                <a:cs typeface="TeX Gyre Bonum"/>
              </a:rPr>
              <a:t>collectors </a:t>
            </a:r>
            <a:r>
              <a:rPr spc="5" dirty="0"/>
              <a:t>(</a:t>
            </a:r>
            <a:r>
              <a:rPr b="1" i="1" spc="5" dirty="0">
                <a:latin typeface="TeX Gyre Bonum"/>
                <a:cs typeface="TeX Gyre Bonum"/>
              </a:rPr>
              <a:t>line</a:t>
            </a:r>
            <a:r>
              <a:rPr b="1" i="1" spc="-40" dirty="0">
                <a:latin typeface="TeX Gyre Bonum"/>
                <a:cs typeface="TeX Gyre Bonum"/>
              </a:rPr>
              <a:t> </a:t>
            </a:r>
            <a:r>
              <a:rPr b="1" i="1" spc="10" dirty="0">
                <a:latin typeface="TeX Gyre Bonum"/>
                <a:cs typeface="TeX Gyre Bonum"/>
              </a:rPr>
              <a:t>focusing</a:t>
            </a:r>
            <a:r>
              <a:rPr spc="10" dirty="0"/>
              <a:t>).</a:t>
            </a:r>
          </a:p>
          <a:p>
            <a:pPr marL="79375" marR="5080" indent="-67310" algn="just">
              <a:lnSpc>
                <a:spcPct val="107000"/>
              </a:lnSpc>
              <a:spcBef>
                <a:spcPts val="335"/>
              </a:spcBef>
              <a:buSzPct val="82000"/>
              <a:buFont typeface="Wingdings" panose="05000000000000000000"/>
              <a:buChar char=""/>
              <a:tabLst>
                <a:tab pos="80010" algn="l"/>
              </a:tabLst>
            </a:pPr>
            <a:r>
              <a:rPr i="1" spc="10" dirty="0">
                <a:latin typeface="Bookman Uralic"/>
                <a:cs typeface="Bookman Uralic"/>
              </a:rPr>
              <a:t>Parabolic trough collectors  </a:t>
            </a:r>
            <a:r>
              <a:rPr dirty="0"/>
              <a:t>concentrate </a:t>
            </a:r>
            <a:r>
              <a:rPr spc="5" dirty="0"/>
              <a:t>sunlight </a:t>
            </a:r>
            <a:r>
              <a:rPr dirty="0"/>
              <a:t>onto </a:t>
            </a:r>
            <a:r>
              <a:rPr spc="10" dirty="0"/>
              <a:t>a  </a:t>
            </a:r>
            <a:r>
              <a:rPr spc="-15" dirty="0"/>
              <a:t>receiver </a:t>
            </a:r>
            <a:r>
              <a:rPr spc="5" dirty="0"/>
              <a:t>tube, </a:t>
            </a:r>
            <a:r>
              <a:rPr spc="-5" dirty="0"/>
              <a:t>placed along </a:t>
            </a:r>
            <a:r>
              <a:rPr dirty="0"/>
              <a:t>the  </a:t>
            </a:r>
            <a:r>
              <a:rPr spc="-10" dirty="0"/>
              <a:t>focal</a:t>
            </a:r>
            <a:r>
              <a:rPr dirty="0"/>
              <a:t> </a:t>
            </a:r>
            <a:r>
              <a:rPr spc="5" dirty="0"/>
              <a:t>line.</a:t>
            </a:r>
          </a:p>
        </p:txBody>
      </p:sp>
      <p:sp>
        <p:nvSpPr>
          <p:cNvPr id="14" name="object 14"/>
          <p:cNvSpPr/>
          <p:nvPr/>
        </p:nvSpPr>
        <p:spPr>
          <a:xfrm>
            <a:off x="0" y="127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1556" y="0"/>
            <a:ext cx="2705735" cy="2035175"/>
            <a:chOff x="-11556" y="0"/>
            <a:chExt cx="2705735" cy="2035175"/>
          </a:xfrm>
        </p:grpSpPr>
        <p:sp>
          <p:nvSpPr>
            <p:cNvPr id="3" name="object 3"/>
            <p:cNvSpPr/>
            <p:nvPr/>
          </p:nvSpPr>
          <p:spPr>
            <a:xfrm>
              <a:off x="89408" y="111887"/>
              <a:ext cx="2524887" cy="17879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35" y="127"/>
              <a:ext cx="2681605" cy="2011045"/>
            </a:xfrm>
            <a:custGeom>
              <a:avLst/>
              <a:gdLst/>
              <a:ahLst/>
              <a:cxnLst/>
              <a:rect l="l" t="t" r="r" b="b"/>
              <a:pathLst>
                <a:path w="2681605" h="2011045">
                  <a:moveTo>
                    <a:pt x="0" y="2010790"/>
                  </a:moveTo>
                  <a:lnTo>
                    <a:pt x="2681351" y="201079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79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116" y="85153"/>
            <a:ext cx="215646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" dirty="0"/>
              <a:t>Solar photovoltaic</a:t>
            </a:r>
            <a:r>
              <a:rPr spc="-110" dirty="0"/>
              <a:t> </a:t>
            </a:r>
            <a:r>
              <a:rPr spc="15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8234" y="332422"/>
            <a:ext cx="2456180" cy="1313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 marR="5080" indent="-68580" algn="just">
              <a:lnSpc>
                <a:spcPct val="101000"/>
              </a:lnSpc>
              <a:spcBef>
                <a:spcPts val="100"/>
              </a:spcBef>
              <a:buSzPct val="86000"/>
              <a:buFont typeface="Wingdings" panose="05000000000000000000"/>
              <a:buChar char=""/>
              <a:tabLst>
                <a:tab pos="85090" algn="l"/>
              </a:tabLst>
            </a:pPr>
            <a:r>
              <a:rPr sz="700" b="1" i="1" dirty="0">
                <a:latin typeface="TeX Gyre Bonum"/>
                <a:cs typeface="TeX Gyre Bonum"/>
              </a:rPr>
              <a:t>Photovoltaic energy conversion (PV) </a:t>
            </a:r>
            <a:r>
              <a:rPr sz="700" spc="-10" dirty="0">
                <a:latin typeface="DejaVu Serif"/>
                <a:cs typeface="DejaVu Serif"/>
              </a:rPr>
              <a:t>is a </a:t>
            </a:r>
            <a:r>
              <a:rPr sz="700" spc="-25" dirty="0">
                <a:latin typeface="DejaVu Serif"/>
                <a:cs typeface="DejaVu Serif"/>
              </a:rPr>
              <a:t>direct  </a:t>
            </a:r>
            <a:r>
              <a:rPr sz="700" spc="-20" dirty="0">
                <a:latin typeface="DejaVu Serif"/>
                <a:cs typeface="DejaVu Serif"/>
              </a:rPr>
              <a:t>conversion </a:t>
            </a:r>
            <a:r>
              <a:rPr sz="700" spc="-25" dirty="0">
                <a:latin typeface="DejaVu Serif"/>
                <a:cs typeface="DejaVu Serif"/>
              </a:rPr>
              <a:t>technology </a:t>
            </a:r>
            <a:r>
              <a:rPr sz="700" spc="-10" dirty="0">
                <a:latin typeface="DejaVu Serif"/>
                <a:cs typeface="DejaVu Serif"/>
              </a:rPr>
              <a:t>that </a:t>
            </a:r>
            <a:r>
              <a:rPr sz="700" spc="-20" dirty="0">
                <a:latin typeface="DejaVu Serif"/>
                <a:cs typeface="DejaVu Serif"/>
              </a:rPr>
              <a:t>produces </a:t>
            </a:r>
            <a:r>
              <a:rPr sz="700" spc="-30" dirty="0">
                <a:latin typeface="DejaVu Serif"/>
                <a:cs typeface="DejaVu Serif"/>
              </a:rPr>
              <a:t>electricity  </a:t>
            </a:r>
            <a:r>
              <a:rPr sz="700" spc="-15" dirty="0">
                <a:latin typeface="DejaVu Serif"/>
                <a:cs typeface="DejaVu Serif"/>
              </a:rPr>
              <a:t>without </a:t>
            </a:r>
            <a:r>
              <a:rPr sz="700" spc="-20" dirty="0">
                <a:latin typeface="DejaVu Serif"/>
                <a:cs typeface="DejaVu Serif"/>
              </a:rPr>
              <a:t>the </a:t>
            </a:r>
            <a:r>
              <a:rPr sz="700" spc="-5" dirty="0">
                <a:latin typeface="DejaVu Serif"/>
                <a:cs typeface="DejaVu Serif"/>
              </a:rPr>
              <a:t>use </a:t>
            </a:r>
            <a:r>
              <a:rPr sz="700" spc="-35" dirty="0">
                <a:latin typeface="DejaVu Serif"/>
                <a:cs typeface="DejaVu Serif"/>
              </a:rPr>
              <a:t>of  </a:t>
            </a:r>
            <a:r>
              <a:rPr sz="700" spc="-10" dirty="0">
                <a:latin typeface="DejaVu Serif"/>
                <a:cs typeface="DejaVu Serif"/>
              </a:rPr>
              <a:t>a </a:t>
            </a:r>
            <a:r>
              <a:rPr sz="700" spc="-15" dirty="0">
                <a:latin typeface="DejaVu Serif"/>
                <a:cs typeface="DejaVu Serif"/>
              </a:rPr>
              <a:t>thermodynamic </a:t>
            </a:r>
            <a:r>
              <a:rPr sz="700" spc="-30" dirty="0">
                <a:latin typeface="DejaVu Serif"/>
                <a:cs typeface="DejaVu Serif"/>
              </a:rPr>
              <a:t>cycle or </a:t>
            </a:r>
            <a:r>
              <a:rPr sz="700" spc="-10" dirty="0">
                <a:latin typeface="DejaVu Serif"/>
                <a:cs typeface="DejaVu Serif"/>
              </a:rPr>
              <a:t>a  </a:t>
            </a:r>
            <a:r>
              <a:rPr sz="700" spc="-25" dirty="0">
                <a:latin typeface="DejaVu Serif"/>
                <a:cs typeface="DejaVu Serif"/>
              </a:rPr>
              <a:t>working</a:t>
            </a:r>
            <a:r>
              <a:rPr sz="700" spc="-30" dirty="0">
                <a:latin typeface="DejaVu Serif"/>
                <a:cs typeface="DejaVu Serif"/>
              </a:rPr>
              <a:t> </a:t>
            </a:r>
            <a:r>
              <a:rPr sz="700" spc="-5" dirty="0">
                <a:latin typeface="DejaVu Serif"/>
                <a:cs typeface="DejaVu Serif"/>
              </a:rPr>
              <a:t>fluid.</a:t>
            </a:r>
            <a:endParaRPr sz="700">
              <a:latin typeface="DejaVu Serif"/>
              <a:cs typeface="DejaVu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 panose="05000000000000000000"/>
              <a:buChar char=""/>
            </a:pPr>
            <a:endParaRPr sz="700">
              <a:latin typeface="DejaVu Serif"/>
              <a:cs typeface="DejaVu Serif"/>
            </a:endParaRPr>
          </a:p>
          <a:p>
            <a:pPr marL="80645" marR="5080" indent="-68580" algn="just">
              <a:lnSpc>
                <a:spcPct val="100000"/>
              </a:lnSpc>
              <a:buSzPct val="86000"/>
              <a:buFont typeface="Wingdings" panose="05000000000000000000"/>
              <a:buChar char=""/>
              <a:tabLst>
                <a:tab pos="85090" algn="l"/>
              </a:tabLst>
            </a:pPr>
            <a:r>
              <a:rPr sz="700" spc="-25" dirty="0">
                <a:latin typeface="DejaVu Serif"/>
                <a:cs typeface="DejaVu Serif"/>
              </a:rPr>
              <a:t>The </a:t>
            </a:r>
            <a:r>
              <a:rPr sz="700" spc="-10" dirty="0">
                <a:latin typeface="DejaVu Serif"/>
                <a:cs typeface="DejaVu Serif"/>
              </a:rPr>
              <a:t>basic </a:t>
            </a:r>
            <a:r>
              <a:rPr sz="700" dirty="0">
                <a:latin typeface="DejaVu Serif"/>
                <a:cs typeface="DejaVu Serif"/>
              </a:rPr>
              <a:t>unit </a:t>
            </a:r>
            <a:r>
              <a:rPr sz="700" spc="-40" dirty="0">
                <a:latin typeface="DejaVu Serif"/>
                <a:cs typeface="DejaVu Serif"/>
              </a:rPr>
              <a:t>of </a:t>
            </a:r>
            <a:r>
              <a:rPr sz="700" spc="-10" dirty="0">
                <a:latin typeface="DejaVu Serif"/>
                <a:cs typeface="DejaVu Serif"/>
              </a:rPr>
              <a:t>a </a:t>
            </a:r>
            <a:r>
              <a:rPr sz="700" b="1" i="1" dirty="0">
                <a:latin typeface="TeX Gyre Bonum"/>
                <a:cs typeface="TeX Gyre Bonum"/>
              </a:rPr>
              <a:t>photovoltaic system is the  photovoltaic </a:t>
            </a:r>
            <a:r>
              <a:rPr sz="700" b="1" i="1" spc="-5" dirty="0">
                <a:latin typeface="TeX Gyre Bonum"/>
                <a:cs typeface="TeX Gyre Bonum"/>
              </a:rPr>
              <a:t>cell</a:t>
            </a:r>
            <a:r>
              <a:rPr sz="700" spc="-5" dirty="0">
                <a:latin typeface="DejaVu Serif"/>
                <a:cs typeface="DejaVu Serif"/>
              </a:rPr>
              <a:t>, </a:t>
            </a:r>
            <a:r>
              <a:rPr sz="700" spc="-10" dirty="0">
                <a:latin typeface="DejaVu Serif"/>
                <a:cs typeface="DejaVu Serif"/>
              </a:rPr>
              <a:t>also </a:t>
            </a:r>
            <a:r>
              <a:rPr sz="700" spc="-25" dirty="0">
                <a:latin typeface="DejaVu Serif"/>
                <a:cs typeface="DejaVu Serif"/>
              </a:rPr>
              <a:t>called </a:t>
            </a:r>
            <a:r>
              <a:rPr sz="700" b="1" i="1" dirty="0">
                <a:latin typeface="TeX Gyre Bonum"/>
                <a:cs typeface="TeX Gyre Bonum"/>
              </a:rPr>
              <a:t>solar cell </a:t>
            </a:r>
            <a:r>
              <a:rPr sz="700" spc="-10" dirty="0">
                <a:latin typeface="DejaVu Serif"/>
                <a:cs typeface="DejaVu Serif"/>
              </a:rPr>
              <a:t>that </a:t>
            </a:r>
            <a:r>
              <a:rPr sz="700" spc="-25" dirty="0">
                <a:latin typeface="DejaVu Serif"/>
                <a:cs typeface="DejaVu Serif"/>
              </a:rPr>
              <a:t>directly  </a:t>
            </a:r>
            <a:r>
              <a:rPr sz="700" spc="-20" dirty="0">
                <a:latin typeface="DejaVu Serif"/>
                <a:cs typeface="DejaVu Serif"/>
              </a:rPr>
              <a:t>converts </a:t>
            </a:r>
            <a:r>
              <a:rPr sz="700" spc="-15" dirty="0">
                <a:latin typeface="DejaVu Serif"/>
                <a:cs typeface="DejaVu Serif"/>
              </a:rPr>
              <a:t>solar radiation into </a:t>
            </a:r>
            <a:r>
              <a:rPr sz="700" spc="-25" dirty="0">
                <a:latin typeface="DejaVu Serif"/>
                <a:cs typeface="DejaVu Serif"/>
              </a:rPr>
              <a:t>electricity. </a:t>
            </a:r>
            <a:r>
              <a:rPr sz="700" spc="-30" dirty="0">
                <a:latin typeface="DejaVu Serif"/>
                <a:cs typeface="DejaVu Serif"/>
              </a:rPr>
              <a:t>It </a:t>
            </a:r>
            <a:r>
              <a:rPr sz="700" spc="-10" dirty="0">
                <a:latin typeface="DejaVu Serif"/>
                <a:cs typeface="DejaVu Serif"/>
              </a:rPr>
              <a:t>is </a:t>
            </a:r>
            <a:r>
              <a:rPr sz="700" spc="-20" dirty="0">
                <a:latin typeface="DejaVu Serif"/>
                <a:cs typeface="DejaVu Serif"/>
              </a:rPr>
              <a:t>based </a:t>
            </a:r>
            <a:r>
              <a:rPr sz="700" spc="-10" dirty="0">
                <a:latin typeface="DejaVu Serif"/>
                <a:cs typeface="DejaVu Serif"/>
              </a:rPr>
              <a:t>on  </a:t>
            </a:r>
            <a:r>
              <a:rPr sz="700" spc="-20" dirty="0">
                <a:latin typeface="DejaVu Serif"/>
                <a:cs typeface="DejaVu Serif"/>
              </a:rPr>
              <a:t>the </a:t>
            </a:r>
            <a:r>
              <a:rPr sz="700" b="1" i="1" dirty="0">
                <a:latin typeface="TeX Gyre Bonum"/>
                <a:cs typeface="TeX Gyre Bonum"/>
              </a:rPr>
              <a:t>photoelectric </a:t>
            </a:r>
            <a:r>
              <a:rPr sz="700" spc="-40" dirty="0">
                <a:latin typeface="DejaVu Serif"/>
                <a:cs typeface="DejaVu Serif"/>
              </a:rPr>
              <a:t>(or </a:t>
            </a:r>
            <a:r>
              <a:rPr sz="700" b="1" i="1" spc="-5" dirty="0">
                <a:latin typeface="TeX Gyre Bonum"/>
                <a:cs typeface="TeX Gyre Bonum"/>
              </a:rPr>
              <a:t>photovoltaic</a:t>
            </a:r>
            <a:r>
              <a:rPr sz="700" spc="-5" dirty="0">
                <a:latin typeface="DejaVu Serif"/>
                <a:cs typeface="DejaVu Serif"/>
              </a:rPr>
              <a:t>)</a:t>
            </a:r>
            <a:r>
              <a:rPr sz="700" spc="15" dirty="0">
                <a:latin typeface="DejaVu Serif"/>
                <a:cs typeface="DejaVu Serif"/>
              </a:rPr>
              <a:t> </a:t>
            </a:r>
            <a:r>
              <a:rPr sz="700" b="1" i="1" dirty="0">
                <a:latin typeface="TeX Gyre Bonum"/>
                <a:cs typeface="TeX Gyre Bonum"/>
              </a:rPr>
              <a:t>effect</a:t>
            </a:r>
            <a:r>
              <a:rPr sz="700" dirty="0">
                <a:latin typeface="DejaVu Serif"/>
                <a:cs typeface="DejaVu Serif"/>
              </a:rPr>
              <a:t>.</a:t>
            </a:r>
            <a:endParaRPr sz="700">
              <a:latin typeface="DejaVu Serif"/>
              <a:cs typeface="DejaVu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 panose="05000000000000000000"/>
              <a:buChar char=""/>
            </a:pPr>
            <a:endParaRPr sz="700">
              <a:latin typeface="DejaVu Serif"/>
              <a:cs typeface="DejaVu Serif"/>
            </a:endParaRPr>
          </a:p>
          <a:p>
            <a:pPr marL="84455" indent="-72390">
              <a:lnSpc>
                <a:spcPct val="100000"/>
              </a:lnSpc>
              <a:buSzPct val="86000"/>
              <a:buFont typeface="Wingdings" panose="05000000000000000000"/>
              <a:buChar char=""/>
              <a:tabLst>
                <a:tab pos="85090" algn="l"/>
              </a:tabLst>
            </a:pPr>
            <a:r>
              <a:rPr sz="700" spc="-10" dirty="0">
                <a:latin typeface="DejaVu Serif"/>
                <a:cs typeface="DejaVu Serif"/>
              </a:rPr>
              <a:t>This </a:t>
            </a:r>
            <a:r>
              <a:rPr sz="700" spc="-40" dirty="0">
                <a:latin typeface="DejaVu Serif"/>
                <a:cs typeface="DejaVu Serif"/>
              </a:rPr>
              <a:t>effect </a:t>
            </a:r>
            <a:r>
              <a:rPr sz="700" spc="-10" dirty="0">
                <a:latin typeface="DejaVu Serif"/>
                <a:cs typeface="DejaVu Serif"/>
              </a:rPr>
              <a:t>is </a:t>
            </a:r>
            <a:r>
              <a:rPr sz="700" spc="-20" dirty="0">
                <a:latin typeface="DejaVu Serif"/>
                <a:cs typeface="DejaVu Serif"/>
              </a:rPr>
              <a:t>exhibited </a:t>
            </a:r>
            <a:r>
              <a:rPr sz="700" spc="-10" dirty="0">
                <a:latin typeface="DejaVu Serif"/>
                <a:cs typeface="DejaVu Serif"/>
              </a:rPr>
              <a:t>by </a:t>
            </a:r>
            <a:r>
              <a:rPr sz="700" spc="-20" dirty="0">
                <a:latin typeface="DejaVu Serif"/>
                <a:cs typeface="DejaVu Serif"/>
              </a:rPr>
              <a:t>materials</a:t>
            </a:r>
            <a:r>
              <a:rPr sz="700" spc="175" dirty="0">
                <a:latin typeface="DejaVu Serif"/>
                <a:cs typeface="DejaVu Serif"/>
              </a:rPr>
              <a:t> </a:t>
            </a:r>
            <a:r>
              <a:rPr sz="700" spc="-25" dirty="0">
                <a:latin typeface="DejaVu Serif"/>
                <a:cs typeface="DejaVu Serif"/>
              </a:rPr>
              <a:t>called</a:t>
            </a:r>
            <a:endParaRPr sz="700">
              <a:latin typeface="DejaVu Serif"/>
              <a:cs typeface="DejaVu Serif"/>
            </a:endParaRPr>
          </a:p>
          <a:p>
            <a:pPr marL="80645">
              <a:lnSpc>
                <a:spcPct val="100000"/>
              </a:lnSpc>
            </a:pPr>
            <a:r>
              <a:rPr sz="700" b="1" i="1" dirty="0">
                <a:latin typeface="TeX Gyre Bonum"/>
                <a:cs typeface="TeX Gyre Bonum"/>
              </a:rPr>
              <a:t>semiconductors </a:t>
            </a:r>
            <a:r>
              <a:rPr sz="700" spc="-10" dirty="0">
                <a:latin typeface="DejaVu Serif"/>
                <a:cs typeface="DejaVu Serif"/>
              </a:rPr>
              <a:t>(such </a:t>
            </a:r>
            <a:r>
              <a:rPr sz="700" spc="-5" dirty="0">
                <a:latin typeface="DejaVu Serif"/>
                <a:cs typeface="DejaVu Serif"/>
              </a:rPr>
              <a:t>as</a:t>
            </a:r>
            <a:r>
              <a:rPr sz="700" spc="-45" dirty="0">
                <a:latin typeface="DejaVu Serif"/>
                <a:cs typeface="DejaVu Serif"/>
              </a:rPr>
              <a:t> </a:t>
            </a:r>
            <a:r>
              <a:rPr sz="700" spc="-15" dirty="0">
                <a:latin typeface="DejaVu Serif"/>
                <a:cs typeface="DejaVu Serif"/>
              </a:rPr>
              <a:t>silicon).</a:t>
            </a:r>
            <a:endParaRPr sz="700">
              <a:latin typeface="DejaVu Serif"/>
              <a:cs typeface="DejaVu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028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589" y="132143"/>
            <a:ext cx="237998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Basic structure of a SOLAR</a:t>
            </a:r>
            <a:r>
              <a:rPr sz="1300" b="1" i="1" spc="-10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CELL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1556" y="0"/>
            <a:ext cx="2705735" cy="2035175"/>
            <a:chOff x="-11556" y="0"/>
            <a:chExt cx="2705735" cy="2035175"/>
          </a:xfrm>
        </p:grpSpPr>
        <p:sp>
          <p:nvSpPr>
            <p:cNvPr id="4" name="object 4"/>
            <p:cNvSpPr/>
            <p:nvPr/>
          </p:nvSpPr>
          <p:spPr>
            <a:xfrm>
              <a:off x="280639" y="639849"/>
              <a:ext cx="2129229" cy="104153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5" y="1028"/>
              <a:ext cx="2681605" cy="2010410"/>
            </a:xfrm>
            <a:custGeom>
              <a:avLst/>
              <a:gdLst/>
              <a:ahLst/>
              <a:cxnLst/>
              <a:rect l="l" t="t" r="r" b="b"/>
              <a:pathLst>
                <a:path w="2681605" h="2010410">
                  <a:moveTo>
                    <a:pt x="0" y="2010410"/>
                  </a:moveTo>
                  <a:lnTo>
                    <a:pt x="2681351" y="201041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41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2192" y="0"/>
            <a:ext cx="2705735" cy="2035175"/>
            <a:chOff x="-12192" y="0"/>
            <a:chExt cx="2705735" cy="2035175"/>
          </a:xfrm>
        </p:grpSpPr>
        <p:sp>
          <p:nvSpPr>
            <p:cNvPr id="3" name="object 3"/>
            <p:cNvSpPr/>
            <p:nvPr/>
          </p:nvSpPr>
          <p:spPr>
            <a:xfrm>
              <a:off x="44691" y="67183"/>
              <a:ext cx="2591943" cy="185496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27"/>
              <a:ext cx="2681605" cy="2011045"/>
            </a:xfrm>
            <a:custGeom>
              <a:avLst/>
              <a:gdLst/>
              <a:ahLst/>
              <a:cxnLst/>
              <a:rect l="l" t="t" r="r" b="b"/>
              <a:pathLst>
                <a:path w="2681605" h="2011045">
                  <a:moveTo>
                    <a:pt x="0" y="2010790"/>
                  </a:moveTo>
                  <a:lnTo>
                    <a:pt x="2681351" y="201079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79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241" y="62103"/>
            <a:ext cx="189547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" dirty="0"/>
              <a:t>Photovoltaic</a:t>
            </a:r>
            <a:r>
              <a:rPr spc="-70" dirty="0"/>
              <a:t> </a:t>
            </a:r>
            <a:r>
              <a:rPr spc="10" dirty="0"/>
              <a:t>conversion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4617" y="277378"/>
            <a:ext cx="1730375" cy="689610"/>
            <a:chOff x="384617" y="277378"/>
            <a:chExt cx="1730375" cy="689610"/>
          </a:xfrm>
        </p:grpSpPr>
        <p:sp>
          <p:nvSpPr>
            <p:cNvPr id="4" name="object 4"/>
            <p:cNvSpPr/>
            <p:nvPr/>
          </p:nvSpPr>
          <p:spPr>
            <a:xfrm>
              <a:off x="387157" y="279918"/>
              <a:ext cx="336550" cy="318135"/>
            </a:xfrm>
            <a:custGeom>
              <a:avLst/>
              <a:gdLst/>
              <a:ahLst/>
              <a:cxnLst/>
              <a:rect l="l" t="t" r="r" b="b"/>
              <a:pathLst>
                <a:path w="336550" h="318134">
                  <a:moveTo>
                    <a:pt x="168206" y="0"/>
                  </a:moveTo>
                  <a:lnTo>
                    <a:pt x="168206" y="133590"/>
                  </a:lnTo>
                </a:path>
                <a:path w="336550" h="318134">
                  <a:moveTo>
                    <a:pt x="336415" y="158768"/>
                  </a:moveTo>
                  <a:lnTo>
                    <a:pt x="194893" y="158768"/>
                  </a:lnTo>
                </a:path>
                <a:path w="336550" h="318134">
                  <a:moveTo>
                    <a:pt x="156883" y="158768"/>
                  </a:moveTo>
                  <a:lnTo>
                    <a:pt x="156883" y="152868"/>
                  </a:lnTo>
                  <a:lnTo>
                    <a:pt x="161956" y="148080"/>
                  </a:lnTo>
                  <a:lnTo>
                    <a:pt x="168206" y="148080"/>
                  </a:lnTo>
                  <a:lnTo>
                    <a:pt x="174457" y="148080"/>
                  </a:lnTo>
                  <a:lnTo>
                    <a:pt x="179529" y="152868"/>
                  </a:lnTo>
                  <a:lnTo>
                    <a:pt x="179529" y="158768"/>
                  </a:lnTo>
                  <a:lnTo>
                    <a:pt x="179529" y="164669"/>
                  </a:lnTo>
                  <a:lnTo>
                    <a:pt x="174457" y="169457"/>
                  </a:lnTo>
                  <a:lnTo>
                    <a:pt x="168206" y="169457"/>
                  </a:lnTo>
                  <a:lnTo>
                    <a:pt x="161956" y="169457"/>
                  </a:lnTo>
                  <a:lnTo>
                    <a:pt x="156883" y="164669"/>
                  </a:lnTo>
                  <a:lnTo>
                    <a:pt x="156883" y="158768"/>
                  </a:lnTo>
                  <a:close/>
                </a:path>
                <a:path w="336550" h="318134">
                  <a:moveTo>
                    <a:pt x="168206" y="183959"/>
                  </a:moveTo>
                  <a:lnTo>
                    <a:pt x="168206" y="317550"/>
                  </a:lnTo>
                </a:path>
                <a:path w="336550" h="318134">
                  <a:moveTo>
                    <a:pt x="141520" y="158768"/>
                  </a:moveTo>
                  <a:lnTo>
                    <a:pt x="0" y="158768"/>
                  </a:lnTo>
                </a:path>
              </a:pathLst>
            </a:custGeom>
            <a:ln w="4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8483" y="412000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14644" y="0"/>
                  </a:moveTo>
                  <a:lnTo>
                    <a:pt x="4220" y="0"/>
                  </a:lnTo>
                  <a:lnTo>
                    <a:pt x="0" y="3958"/>
                  </a:lnTo>
                  <a:lnTo>
                    <a:pt x="0" y="13792"/>
                  </a:lnTo>
                  <a:lnTo>
                    <a:pt x="4220" y="17782"/>
                  </a:lnTo>
                  <a:lnTo>
                    <a:pt x="14644" y="17782"/>
                  </a:lnTo>
                  <a:lnTo>
                    <a:pt x="18871" y="13792"/>
                  </a:lnTo>
                  <a:lnTo>
                    <a:pt x="18871" y="39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8483" y="412000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0" y="8859"/>
                  </a:moveTo>
                  <a:lnTo>
                    <a:pt x="0" y="3958"/>
                  </a:lnTo>
                  <a:lnTo>
                    <a:pt x="4220" y="0"/>
                  </a:lnTo>
                  <a:lnTo>
                    <a:pt x="9432" y="0"/>
                  </a:lnTo>
                  <a:lnTo>
                    <a:pt x="14644" y="0"/>
                  </a:lnTo>
                  <a:lnTo>
                    <a:pt x="18871" y="3958"/>
                  </a:lnTo>
                  <a:lnTo>
                    <a:pt x="18871" y="8859"/>
                  </a:lnTo>
                  <a:lnTo>
                    <a:pt x="18871" y="13792"/>
                  </a:lnTo>
                  <a:lnTo>
                    <a:pt x="14644" y="17782"/>
                  </a:lnTo>
                  <a:lnTo>
                    <a:pt x="9432" y="17782"/>
                  </a:lnTo>
                  <a:lnTo>
                    <a:pt x="4220" y="17782"/>
                  </a:lnTo>
                  <a:lnTo>
                    <a:pt x="0" y="13792"/>
                  </a:lnTo>
                  <a:lnTo>
                    <a:pt x="0" y="8859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8483" y="447590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20" y="17814"/>
                  </a:lnTo>
                  <a:lnTo>
                    <a:pt x="14644" y="17814"/>
                  </a:lnTo>
                  <a:lnTo>
                    <a:pt x="18871" y="13824"/>
                  </a:lnTo>
                  <a:lnTo>
                    <a:pt x="18871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483" y="447590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10"/>
                  </a:moveTo>
                  <a:lnTo>
                    <a:pt x="0" y="3990"/>
                  </a:lnTo>
                  <a:lnTo>
                    <a:pt x="4220" y="0"/>
                  </a:lnTo>
                  <a:lnTo>
                    <a:pt x="9432" y="0"/>
                  </a:lnTo>
                  <a:lnTo>
                    <a:pt x="14644" y="0"/>
                  </a:lnTo>
                  <a:lnTo>
                    <a:pt x="18871" y="3990"/>
                  </a:lnTo>
                  <a:lnTo>
                    <a:pt x="18871" y="8910"/>
                  </a:lnTo>
                  <a:lnTo>
                    <a:pt x="18871" y="13824"/>
                  </a:lnTo>
                  <a:lnTo>
                    <a:pt x="14644" y="17814"/>
                  </a:lnTo>
                  <a:lnTo>
                    <a:pt x="9432" y="17814"/>
                  </a:lnTo>
                  <a:lnTo>
                    <a:pt x="4220" y="17814"/>
                  </a:lnTo>
                  <a:lnTo>
                    <a:pt x="0" y="13824"/>
                  </a:lnTo>
                  <a:lnTo>
                    <a:pt x="0" y="891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8659" y="412000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14644" y="0"/>
                  </a:moveTo>
                  <a:lnTo>
                    <a:pt x="4220" y="0"/>
                  </a:lnTo>
                  <a:lnTo>
                    <a:pt x="0" y="3958"/>
                  </a:lnTo>
                  <a:lnTo>
                    <a:pt x="0" y="13792"/>
                  </a:lnTo>
                  <a:lnTo>
                    <a:pt x="4220" y="17782"/>
                  </a:lnTo>
                  <a:lnTo>
                    <a:pt x="14644" y="17782"/>
                  </a:lnTo>
                  <a:lnTo>
                    <a:pt x="18865" y="13792"/>
                  </a:lnTo>
                  <a:lnTo>
                    <a:pt x="18865" y="39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8659" y="412000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0" y="8859"/>
                  </a:moveTo>
                  <a:lnTo>
                    <a:pt x="0" y="3958"/>
                  </a:lnTo>
                  <a:lnTo>
                    <a:pt x="4220" y="0"/>
                  </a:lnTo>
                  <a:lnTo>
                    <a:pt x="9432" y="0"/>
                  </a:lnTo>
                  <a:lnTo>
                    <a:pt x="14644" y="0"/>
                  </a:lnTo>
                  <a:lnTo>
                    <a:pt x="18865" y="3958"/>
                  </a:lnTo>
                  <a:lnTo>
                    <a:pt x="18865" y="8859"/>
                  </a:lnTo>
                  <a:lnTo>
                    <a:pt x="18865" y="13792"/>
                  </a:lnTo>
                  <a:lnTo>
                    <a:pt x="14644" y="17782"/>
                  </a:lnTo>
                  <a:lnTo>
                    <a:pt x="9432" y="17782"/>
                  </a:lnTo>
                  <a:lnTo>
                    <a:pt x="4220" y="17782"/>
                  </a:lnTo>
                  <a:lnTo>
                    <a:pt x="0" y="13792"/>
                  </a:lnTo>
                  <a:lnTo>
                    <a:pt x="0" y="8859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8659" y="447590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20" y="17814"/>
                  </a:lnTo>
                  <a:lnTo>
                    <a:pt x="14644" y="17814"/>
                  </a:lnTo>
                  <a:lnTo>
                    <a:pt x="18865" y="13824"/>
                  </a:lnTo>
                  <a:lnTo>
                    <a:pt x="18865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8659" y="447590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10"/>
                  </a:moveTo>
                  <a:lnTo>
                    <a:pt x="0" y="3990"/>
                  </a:lnTo>
                  <a:lnTo>
                    <a:pt x="4220" y="0"/>
                  </a:lnTo>
                  <a:lnTo>
                    <a:pt x="9432" y="0"/>
                  </a:lnTo>
                  <a:lnTo>
                    <a:pt x="14644" y="0"/>
                  </a:lnTo>
                  <a:lnTo>
                    <a:pt x="18865" y="3990"/>
                  </a:lnTo>
                  <a:lnTo>
                    <a:pt x="18865" y="8910"/>
                  </a:lnTo>
                  <a:lnTo>
                    <a:pt x="18865" y="13824"/>
                  </a:lnTo>
                  <a:lnTo>
                    <a:pt x="14644" y="17814"/>
                  </a:lnTo>
                  <a:lnTo>
                    <a:pt x="9432" y="17814"/>
                  </a:lnTo>
                  <a:lnTo>
                    <a:pt x="4220" y="17814"/>
                  </a:lnTo>
                  <a:lnTo>
                    <a:pt x="0" y="13824"/>
                  </a:lnTo>
                  <a:lnTo>
                    <a:pt x="0" y="891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4796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14644" y="0"/>
                  </a:moveTo>
                  <a:lnTo>
                    <a:pt x="4227" y="0"/>
                  </a:lnTo>
                  <a:lnTo>
                    <a:pt x="0" y="4021"/>
                  </a:lnTo>
                  <a:lnTo>
                    <a:pt x="0" y="13824"/>
                  </a:lnTo>
                  <a:lnTo>
                    <a:pt x="4227" y="17845"/>
                  </a:lnTo>
                  <a:lnTo>
                    <a:pt x="14644" y="17845"/>
                  </a:lnTo>
                  <a:lnTo>
                    <a:pt x="18871" y="13824"/>
                  </a:lnTo>
                  <a:lnTo>
                    <a:pt x="18871" y="40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4796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9439" y="0"/>
                  </a:moveTo>
                  <a:lnTo>
                    <a:pt x="14644" y="0"/>
                  </a:lnTo>
                  <a:lnTo>
                    <a:pt x="18871" y="4021"/>
                  </a:lnTo>
                  <a:lnTo>
                    <a:pt x="18871" y="8922"/>
                  </a:lnTo>
                  <a:lnTo>
                    <a:pt x="18871" y="13824"/>
                  </a:lnTo>
                  <a:lnTo>
                    <a:pt x="14644" y="17845"/>
                  </a:lnTo>
                  <a:lnTo>
                    <a:pt x="9439" y="17845"/>
                  </a:lnTo>
                  <a:lnTo>
                    <a:pt x="4227" y="17845"/>
                  </a:lnTo>
                  <a:lnTo>
                    <a:pt x="0" y="13824"/>
                  </a:lnTo>
                  <a:lnTo>
                    <a:pt x="0" y="8922"/>
                  </a:lnTo>
                  <a:lnTo>
                    <a:pt x="0" y="4021"/>
                  </a:lnTo>
                  <a:lnTo>
                    <a:pt x="4227" y="0"/>
                  </a:lnTo>
                  <a:lnTo>
                    <a:pt x="9439" y="0"/>
                  </a:lnTo>
                  <a:close/>
                </a:path>
              </a:pathLst>
            </a:custGeom>
            <a:ln w="4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7059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14644" y="0"/>
                  </a:moveTo>
                  <a:lnTo>
                    <a:pt x="4220" y="0"/>
                  </a:lnTo>
                  <a:lnTo>
                    <a:pt x="0" y="4021"/>
                  </a:lnTo>
                  <a:lnTo>
                    <a:pt x="0" y="13824"/>
                  </a:lnTo>
                  <a:lnTo>
                    <a:pt x="4220" y="17845"/>
                  </a:lnTo>
                  <a:lnTo>
                    <a:pt x="14644" y="17845"/>
                  </a:lnTo>
                  <a:lnTo>
                    <a:pt x="18871" y="13824"/>
                  </a:lnTo>
                  <a:lnTo>
                    <a:pt x="18871" y="40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7059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9432" y="0"/>
                  </a:moveTo>
                  <a:lnTo>
                    <a:pt x="14644" y="0"/>
                  </a:lnTo>
                  <a:lnTo>
                    <a:pt x="18871" y="4021"/>
                  </a:lnTo>
                  <a:lnTo>
                    <a:pt x="18871" y="8922"/>
                  </a:lnTo>
                  <a:lnTo>
                    <a:pt x="18871" y="13824"/>
                  </a:lnTo>
                  <a:lnTo>
                    <a:pt x="14644" y="17845"/>
                  </a:lnTo>
                  <a:lnTo>
                    <a:pt x="9432" y="17845"/>
                  </a:lnTo>
                  <a:lnTo>
                    <a:pt x="4220" y="17845"/>
                  </a:lnTo>
                  <a:lnTo>
                    <a:pt x="0" y="13824"/>
                  </a:lnTo>
                  <a:lnTo>
                    <a:pt x="0" y="8922"/>
                  </a:lnTo>
                  <a:lnTo>
                    <a:pt x="0" y="4021"/>
                  </a:lnTo>
                  <a:lnTo>
                    <a:pt x="4220" y="0"/>
                  </a:lnTo>
                  <a:lnTo>
                    <a:pt x="9432" y="0"/>
                  </a:lnTo>
                  <a:close/>
                </a:path>
              </a:pathLst>
            </a:custGeom>
            <a:ln w="4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4796" y="517314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7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27" y="17807"/>
                  </a:lnTo>
                  <a:lnTo>
                    <a:pt x="14644" y="17807"/>
                  </a:lnTo>
                  <a:lnTo>
                    <a:pt x="18871" y="13824"/>
                  </a:lnTo>
                  <a:lnTo>
                    <a:pt x="18871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4796" y="517314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9439" y="0"/>
                  </a:moveTo>
                  <a:lnTo>
                    <a:pt x="14644" y="0"/>
                  </a:lnTo>
                  <a:lnTo>
                    <a:pt x="18871" y="3983"/>
                  </a:lnTo>
                  <a:lnTo>
                    <a:pt x="18871" y="8903"/>
                  </a:lnTo>
                  <a:lnTo>
                    <a:pt x="18871" y="13824"/>
                  </a:lnTo>
                  <a:lnTo>
                    <a:pt x="14644" y="17807"/>
                  </a:lnTo>
                  <a:lnTo>
                    <a:pt x="9439" y="17807"/>
                  </a:lnTo>
                  <a:lnTo>
                    <a:pt x="4227" y="17807"/>
                  </a:lnTo>
                  <a:lnTo>
                    <a:pt x="0" y="13824"/>
                  </a:lnTo>
                  <a:lnTo>
                    <a:pt x="0" y="8903"/>
                  </a:lnTo>
                  <a:lnTo>
                    <a:pt x="0" y="3983"/>
                  </a:lnTo>
                  <a:lnTo>
                    <a:pt x="4227" y="0"/>
                  </a:lnTo>
                  <a:lnTo>
                    <a:pt x="9439" y="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7059" y="517314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20" y="17807"/>
                  </a:lnTo>
                  <a:lnTo>
                    <a:pt x="14644" y="17807"/>
                  </a:lnTo>
                  <a:lnTo>
                    <a:pt x="18871" y="13824"/>
                  </a:lnTo>
                  <a:lnTo>
                    <a:pt x="18871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7059" y="279918"/>
              <a:ext cx="387350" cy="318135"/>
            </a:xfrm>
            <a:custGeom>
              <a:avLst/>
              <a:gdLst/>
              <a:ahLst/>
              <a:cxnLst/>
              <a:rect l="l" t="t" r="r" b="b"/>
              <a:pathLst>
                <a:path w="387350" h="318134">
                  <a:moveTo>
                    <a:pt x="9432" y="237395"/>
                  </a:moveTo>
                  <a:lnTo>
                    <a:pt x="14644" y="237395"/>
                  </a:lnTo>
                  <a:lnTo>
                    <a:pt x="18871" y="241379"/>
                  </a:lnTo>
                  <a:lnTo>
                    <a:pt x="18871" y="246299"/>
                  </a:lnTo>
                  <a:lnTo>
                    <a:pt x="18871" y="251219"/>
                  </a:lnTo>
                  <a:lnTo>
                    <a:pt x="14644" y="255203"/>
                  </a:lnTo>
                  <a:lnTo>
                    <a:pt x="9432" y="255203"/>
                  </a:lnTo>
                  <a:lnTo>
                    <a:pt x="4220" y="255203"/>
                  </a:lnTo>
                  <a:lnTo>
                    <a:pt x="0" y="251219"/>
                  </a:lnTo>
                  <a:lnTo>
                    <a:pt x="0" y="246299"/>
                  </a:lnTo>
                  <a:lnTo>
                    <a:pt x="0" y="241379"/>
                  </a:lnTo>
                  <a:lnTo>
                    <a:pt x="4220" y="237395"/>
                  </a:lnTo>
                  <a:lnTo>
                    <a:pt x="9432" y="237395"/>
                  </a:lnTo>
                  <a:close/>
                </a:path>
                <a:path w="387350" h="318134">
                  <a:moveTo>
                    <a:pt x="218620" y="0"/>
                  </a:moveTo>
                  <a:lnTo>
                    <a:pt x="218620" y="133590"/>
                  </a:lnTo>
                </a:path>
                <a:path w="387350" h="318134">
                  <a:moveTo>
                    <a:pt x="386822" y="158768"/>
                  </a:moveTo>
                  <a:lnTo>
                    <a:pt x="245300" y="158768"/>
                  </a:lnTo>
                </a:path>
                <a:path w="387350" h="318134">
                  <a:moveTo>
                    <a:pt x="207297" y="158768"/>
                  </a:moveTo>
                  <a:lnTo>
                    <a:pt x="207297" y="152868"/>
                  </a:lnTo>
                  <a:lnTo>
                    <a:pt x="212362" y="148080"/>
                  </a:lnTo>
                  <a:lnTo>
                    <a:pt x="218620" y="148080"/>
                  </a:lnTo>
                  <a:lnTo>
                    <a:pt x="224870" y="148080"/>
                  </a:lnTo>
                  <a:lnTo>
                    <a:pt x="229936" y="152868"/>
                  </a:lnTo>
                  <a:lnTo>
                    <a:pt x="229936" y="158768"/>
                  </a:lnTo>
                  <a:lnTo>
                    <a:pt x="229936" y="164669"/>
                  </a:lnTo>
                  <a:lnTo>
                    <a:pt x="224870" y="169457"/>
                  </a:lnTo>
                  <a:lnTo>
                    <a:pt x="218620" y="169457"/>
                  </a:lnTo>
                  <a:lnTo>
                    <a:pt x="212362" y="169457"/>
                  </a:lnTo>
                  <a:lnTo>
                    <a:pt x="207297" y="164669"/>
                  </a:lnTo>
                  <a:lnTo>
                    <a:pt x="207297" y="158768"/>
                  </a:lnTo>
                  <a:close/>
                </a:path>
                <a:path w="387350" h="318134">
                  <a:moveTo>
                    <a:pt x="218620" y="183959"/>
                  </a:moveTo>
                  <a:lnTo>
                    <a:pt x="218620" y="317550"/>
                  </a:lnTo>
                </a:path>
                <a:path w="387350" h="318134">
                  <a:moveTo>
                    <a:pt x="191933" y="158768"/>
                  </a:moveTo>
                  <a:lnTo>
                    <a:pt x="50411" y="158768"/>
                  </a:lnTo>
                </a:path>
              </a:pathLst>
            </a:custGeom>
            <a:ln w="4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8969" y="412000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14644" y="0"/>
                  </a:moveTo>
                  <a:lnTo>
                    <a:pt x="4227" y="0"/>
                  </a:lnTo>
                  <a:lnTo>
                    <a:pt x="0" y="3958"/>
                  </a:lnTo>
                  <a:lnTo>
                    <a:pt x="0" y="13792"/>
                  </a:lnTo>
                  <a:lnTo>
                    <a:pt x="4227" y="17782"/>
                  </a:lnTo>
                  <a:lnTo>
                    <a:pt x="14644" y="17782"/>
                  </a:lnTo>
                  <a:lnTo>
                    <a:pt x="18871" y="13792"/>
                  </a:lnTo>
                  <a:lnTo>
                    <a:pt x="18871" y="39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28969" y="412000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0" y="8859"/>
                  </a:moveTo>
                  <a:lnTo>
                    <a:pt x="0" y="3958"/>
                  </a:lnTo>
                  <a:lnTo>
                    <a:pt x="4227" y="0"/>
                  </a:lnTo>
                  <a:lnTo>
                    <a:pt x="9439" y="0"/>
                  </a:lnTo>
                  <a:lnTo>
                    <a:pt x="14644" y="0"/>
                  </a:lnTo>
                  <a:lnTo>
                    <a:pt x="18871" y="3958"/>
                  </a:lnTo>
                  <a:lnTo>
                    <a:pt x="18871" y="8859"/>
                  </a:lnTo>
                  <a:lnTo>
                    <a:pt x="18871" y="13792"/>
                  </a:lnTo>
                  <a:lnTo>
                    <a:pt x="14644" y="17782"/>
                  </a:lnTo>
                  <a:lnTo>
                    <a:pt x="9439" y="17782"/>
                  </a:lnTo>
                  <a:lnTo>
                    <a:pt x="4227" y="17782"/>
                  </a:lnTo>
                  <a:lnTo>
                    <a:pt x="0" y="13792"/>
                  </a:lnTo>
                  <a:lnTo>
                    <a:pt x="0" y="8859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28969" y="447590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7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27" y="17814"/>
                  </a:lnTo>
                  <a:lnTo>
                    <a:pt x="14644" y="17814"/>
                  </a:lnTo>
                  <a:lnTo>
                    <a:pt x="18871" y="13824"/>
                  </a:lnTo>
                  <a:lnTo>
                    <a:pt x="18871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28969" y="447590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10"/>
                  </a:moveTo>
                  <a:lnTo>
                    <a:pt x="0" y="3990"/>
                  </a:lnTo>
                  <a:lnTo>
                    <a:pt x="4227" y="0"/>
                  </a:lnTo>
                  <a:lnTo>
                    <a:pt x="9439" y="0"/>
                  </a:lnTo>
                  <a:lnTo>
                    <a:pt x="14644" y="0"/>
                  </a:lnTo>
                  <a:lnTo>
                    <a:pt x="18871" y="3990"/>
                  </a:lnTo>
                  <a:lnTo>
                    <a:pt x="18871" y="8910"/>
                  </a:lnTo>
                  <a:lnTo>
                    <a:pt x="18871" y="13824"/>
                  </a:lnTo>
                  <a:lnTo>
                    <a:pt x="14644" y="17814"/>
                  </a:lnTo>
                  <a:lnTo>
                    <a:pt x="9439" y="17814"/>
                  </a:lnTo>
                  <a:lnTo>
                    <a:pt x="4227" y="17814"/>
                  </a:lnTo>
                  <a:lnTo>
                    <a:pt x="0" y="13824"/>
                  </a:lnTo>
                  <a:lnTo>
                    <a:pt x="0" y="891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5112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14644" y="0"/>
                  </a:moveTo>
                  <a:lnTo>
                    <a:pt x="4220" y="0"/>
                  </a:lnTo>
                  <a:lnTo>
                    <a:pt x="0" y="4021"/>
                  </a:lnTo>
                  <a:lnTo>
                    <a:pt x="0" y="13824"/>
                  </a:lnTo>
                  <a:lnTo>
                    <a:pt x="4220" y="17845"/>
                  </a:lnTo>
                  <a:lnTo>
                    <a:pt x="14644" y="17845"/>
                  </a:lnTo>
                  <a:lnTo>
                    <a:pt x="18871" y="13824"/>
                  </a:lnTo>
                  <a:lnTo>
                    <a:pt x="18871" y="40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5112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9432" y="0"/>
                  </a:moveTo>
                  <a:lnTo>
                    <a:pt x="14644" y="0"/>
                  </a:lnTo>
                  <a:lnTo>
                    <a:pt x="18871" y="4021"/>
                  </a:lnTo>
                  <a:lnTo>
                    <a:pt x="18871" y="8922"/>
                  </a:lnTo>
                  <a:lnTo>
                    <a:pt x="18871" y="13824"/>
                  </a:lnTo>
                  <a:lnTo>
                    <a:pt x="14644" y="17845"/>
                  </a:lnTo>
                  <a:lnTo>
                    <a:pt x="9432" y="17845"/>
                  </a:lnTo>
                  <a:lnTo>
                    <a:pt x="4220" y="17845"/>
                  </a:lnTo>
                  <a:lnTo>
                    <a:pt x="0" y="13824"/>
                  </a:lnTo>
                  <a:lnTo>
                    <a:pt x="0" y="8922"/>
                  </a:lnTo>
                  <a:lnTo>
                    <a:pt x="0" y="4021"/>
                  </a:lnTo>
                  <a:lnTo>
                    <a:pt x="4220" y="0"/>
                  </a:lnTo>
                  <a:lnTo>
                    <a:pt x="9432" y="0"/>
                  </a:lnTo>
                  <a:close/>
                </a:path>
              </a:pathLst>
            </a:custGeom>
            <a:ln w="4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7375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14644" y="0"/>
                  </a:moveTo>
                  <a:lnTo>
                    <a:pt x="4220" y="0"/>
                  </a:lnTo>
                  <a:lnTo>
                    <a:pt x="0" y="4021"/>
                  </a:lnTo>
                  <a:lnTo>
                    <a:pt x="0" y="13824"/>
                  </a:lnTo>
                  <a:lnTo>
                    <a:pt x="4220" y="17845"/>
                  </a:lnTo>
                  <a:lnTo>
                    <a:pt x="14644" y="17845"/>
                  </a:lnTo>
                  <a:lnTo>
                    <a:pt x="18865" y="13824"/>
                  </a:lnTo>
                  <a:lnTo>
                    <a:pt x="18865" y="40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7375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9432" y="0"/>
                  </a:moveTo>
                  <a:lnTo>
                    <a:pt x="14644" y="0"/>
                  </a:lnTo>
                  <a:lnTo>
                    <a:pt x="18865" y="4021"/>
                  </a:lnTo>
                  <a:lnTo>
                    <a:pt x="18865" y="8922"/>
                  </a:lnTo>
                  <a:lnTo>
                    <a:pt x="18865" y="13824"/>
                  </a:lnTo>
                  <a:lnTo>
                    <a:pt x="14644" y="17845"/>
                  </a:lnTo>
                  <a:lnTo>
                    <a:pt x="9432" y="17845"/>
                  </a:lnTo>
                  <a:lnTo>
                    <a:pt x="4220" y="17845"/>
                  </a:lnTo>
                  <a:lnTo>
                    <a:pt x="0" y="13824"/>
                  </a:lnTo>
                  <a:lnTo>
                    <a:pt x="0" y="8922"/>
                  </a:lnTo>
                  <a:lnTo>
                    <a:pt x="0" y="4021"/>
                  </a:lnTo>
                  <a:lnTo>
                    <a:pt x="4220" y="0"/>
                  </a:lnTo>
                  <a:lnTo>
                    <a:pt x="9432" y="0"/>
                  </a:lnTo>
                  <a:close/>
                </a:path>
              </a:pathLst>
            </a:custGeom>
            <a:ln w="4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5112" y="517314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20" y="17807"/>
                  </a:lnTo>
                  <a:lnTo>
                    <a:pt x="14644" y="17807"/>
                  </a:lnTo>
                  <a:lnTo>
                    <a:pt x="18871" y="13824"/>
                  </a:lnTo>
                  <a:lnTo>
                    <a:pt x="18871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5112" y="517314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9432" y="0"/>
                  </a:moveTo>
                  <a:lnTo>
                    <a:pt x="14644" y="0"/>
                  </a:lnTo>
                  <a:lnTo>
                    <a:pt x="18871" y="3983"/>
                  </a:lnTo>
                  <a:lnTo>
                    <a:pt x="18871" y="8903"/>
                  </a:lnTo>
                  <a:lnTo>
                    <a:pt x="18871" y="13824"/>
                  </a:lnTo>
                  <a:lnTo>
                    <a:pt x="14644" y="17807"/>
                  </a:lnTo>
                  <a:lnTo>
                    <a:pt x="9432" y="17807"/>
                  </a:lnTo>
                  <a:lnTo>
                    <a:pt x="4220" y="17807"/>
                  </a:lnTo>
                  <a:lnTo>
                    <a:pt x="0" y="13824"/>
                  </a:lnTo>
                  <a:lnTo>
                    <a:pt x="0" y="8903"/>
                  </a:lnTo>
                  <a:lnTo>
                    <a:pt x="0" y="3983"/>
                  </a:lnTo>
                  <a:lnTo>
                    <a:pt x="4220" y="0"/>
                  </a:lnTo>
                  <a:lnTo>
                    <a:pt x="9432" y="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7375" y="517314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20" y="17807"/>
                  </a:lnTo>
                  <a:lnTo>
                    <a:pt x="14644" y="17807"/>
                  </a:lnTo>
                  <a:lnTo>
                    <a:pt x="18865" y="13824"/>
                  </a:lnTo>
                  <a:lnTo>
                    <a:pt x="18865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7375" y="279918"/>
              <a:ext cx="387350" cy="318135"/>
            </a:xfrm>
            <a:custGeom>
              <a:avLst/>
              <a:gdLst/>
              <a:ahLst/>
              <a:cxnLst/>
              <a:rect l="l" t="t" r="r" b="b"/>
              <a:pathLst>
                <a:path w="387350" h="318134">
                  <a:moveTo>
                    <a:pt x="9432" y="237395"/>
                  </a:moveTo>
                  <a:lnTo>
                    <a:pt x="14644" y="237395"/>
                  </a:lnTo>
                  <a:lnTo>
                    <a:pt x="18865" y="241379"/>
                  </a:lnTo>
                  <a:lnTo>
                    <a:pt x="18865" y="246299"/>
                  </a:lnTo>
                  <a:lnTo>
                    <a:pt x="18865" y="251219"/>
                  </a:lnTo>
                  <a:lnTo>
                    <a:pt x="14644" y="255203"/>
                  </a:lnTo>
                  <a:lnTo>
                    <a:pt x="9432" y="255203"/>
                  </a:lnTo>
                  <a:lnTo>
                    <a:pt x="4220" y="255203"/>
                  </a:lnTo>
                  <a:lnTo>
                    <a:pt x="0" y="251219"/>
                  </a:lnTo>
                  <a:lnTo>
                    <a:pt x="0" y="246299"/>
                  </a:lnTo>
                  <a:lnTo>
                    <a:pt x="0" y="241379"/>
                  </a:lnTo>
                  <a:lnTo>
                    <a:pt x="4220" y="237395"/>
                  </a:lnTo>
                  <a:lnTo>
                    <a:pt x="9432" y="237395"/>
                  </a:lnTo>
                  <a:close/>
                </a:path>
                <a:path w="387350" h="318134">
                  <a:moveTo>
                    <a:pt x="218879" y="0"/>
                  </a:moveTo>
                  <a:lnTo>
                    <a:pt x="218879" y="133590"/>
                  </a:lnTo>
                </a:path>
                <a:path w="387350" h="318134">
                  <a:moveTo>
                    <a:pt x="387095" y="158768"/>
                  </a:moveTo>
                  <a:lnTo>
                    <a:pt x="245566" y="158768"/>
                  </a:lnTo>
                </a:path>
                <a:path w="387350" h="318134">
                  <a:moveTo>
                    <a:pt x="207563" y="158768"/>
                  </a:moveTo>
                  <a:lnTo>
                    <a:pt x="207563" y="152868"/>
                  </a:lnTo>
                  <a:lnTo>
                    <a:pt x="212629" y="148080"/>
                  </a:lnTo>
                  <a:lnTo>
                    <a:pt x="218879" y="148080"/>
                  </a:lnTo>
                  <a:lnTo>
                    <a:pt x="225137" y="148080"/>
                  </a:lnTo>
                  <a:lnTo>
                    <a:pt x="230202" y="152868"/>
                  </a:lnTo>
                  <a:lnTo>
                    <a:pt x="230202" y="158768"/>
                  </a:lnTo>
                  <a:lnTo>
                    <a:pt x="230202" y="164669"/>
                  </a:lnTo>
                  <a:lnTo>
                    <a:pt x="225137" y="169457"/>
                  </a:lnTo>
                  <a:lnTo>
                    <a:pt x="218879" y="169457"/>
                  </a:lnTo>
                  <a:lnTo>
                    <a:pt x="212629" y="169457"/>
                  </a:lnTo>
                  <a:lnTo>
                    <a:pt x="207563" y="164669"/>
                  </a:lnTo>
                  <a:lnTo>
                    <a:pt x="207563" y="158768"/>
                  </a:lnTo>
                  <a:close/>
                </a:path>
                <a:path w="387350" h="318134">
                  <a:moveTo>
                    <a:pt x="218879" y="183959"/>
                  </a:moveTo>
                  <a:lnTo>
                    <a:pt x="218879" y="317550"/>
                  </a:lnTo>
                </a:path>
                <a:path w="387350" h="318134">
                  <a:moveTo>
                    <a:pt x="192199" y="158768"/>
                  </a:moveTo>
                  <a:lnTo>
                    <a:pt x="50677" y="158768"/>
                  </a:lnTo>
                </a:path>
              </a:pathLst>
            </a:custGeom>
            <a:ln w="4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19531" y="412000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14644" y="0"/>
                  </a:moveTo>
                  <a:lnTo>
                    <a:pt x="4260" y="0"/>
                  </a:lnTo>
                  <a:lnTo>
                    <a:pt x="0" y="3958"/>
                  </a:lnTo>
                  <a:lnTo>
                    <a:pt x="0" y="13792"/>
                  </a:lnTo>
                  <a:lnTo>
                    <a:pt x="4260" y="17782"/>
                  </a:lnTo>
                  <a:lnTo>
                    <a:pt x="14644" y="17782"/>
                  </a:lnTo>
                  <a:lnTo>
                    <a:pt x="18905" y="13792"/>
                  </a:lnTo>
                  <a:lnTo>
                    <a:pt x="18905" y="39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19531" y="412000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0" y="8859"/>
                  </a:moveTo>
                  <a:lnTo>
                    <a:pt x="0" y="3958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58"/>
                  </a:lnTo>
                  <a:lnTo>
                    <a:pt x="18905" y="8859"/>
                  </a:lnTo>
                  <a:lnTo>
                    <a:pt x="18905" y="13792"/>
                  </a:lnTo>
                  <a:lnTo>
                    <a:pt x="14644" y="17782"/>
                  </a:lnTo>
                  <a:lnTo>
                    <a:pt x="9452" y="17782"/>
                  </a:lnTo>
                  <a:lnTo>
                    <a:pt x="4260" y="17782"/>
                  </a:lnTo>
                  <a:lnTo>
                    <a:pt x="0" y="13792"/>
                  </a:lnTo>
                  <a:lnTo>
                    <a:pt x="0" y="8859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19531" y="447590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6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60" y="17814"/>
                  </a:lnTo>
                  <a:lnTo>
                    <a:pt x="14644" y="17814"/>
                  </a:lnTo>
                  <a:lnTo>
                    <a:pt x="18905" y="13824"/>
                  </a:lnTo>
                  <a:lnTo>
                    <a:pt x="18905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19531" y="447590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10"/>
                  </a:moveTo>
                  <a:lnTo>
                    <a:pt x="0" y="3990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90"/>
                  </a:lnTo>
                  <a:lnTo>
                    <a:pt x="18905" y="8910"/>
                  </a:lnTo>
                  <a:lnTo>
                    <a:pt x="18905" y="13824"/>
                  </a:lnTo>
                  <a:lnTo>
                    <a:pt x="14644" y="17814"/>
                  </a:lnTo>
                  <a:lnTo>
                    <a:pt x="9452" y="17814"/>
                  </a:lnTo>
                  <a:lnTo>
                    <a:pt x="4260" y="17814"/>
                  </a:lnTo>
                  <a:lnTo>
                    <a:pt x="0" y="13824"/>
                  </a:lnTo>
                  <a:lnTo>
                    <a:pt x="0" y="891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45694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14644" y="0"/>
                  </a:moveTo>
                  <a:lnTo>
                    <a:pt x="4220" y="0"/>
                  </a:lnTo>
                  <a:lnTo>
                    <a:pt x="0" y="4021"/>
                  </a:lnTo>
                  <a:lnTo>
                    <a:pt x="0" y="13824"/>
                  </a:lnTo>
                  <a:lnTo>
                    <a:pt x="4220" y="17845"/>
                  </a:lnTo>
                  <a:lnTo>
                    <a:pt x="14644" y="17845"/>
                  </a:lnTo>
                  <a:lnTo>
                    <a:pt x="18865" y="13824"/>
                  </a:lnTo>
                  <a:lnTo>
                    <a:pt x="18865" y="40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45694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9432" y="0"/>
                  </a:moveTo>
                  <a:lnTo>
                    <a:pt x="14644" y="0"/>
                  </a:lnTo>
                  <a:lnTo>
                    <a:pt x="18865" y="4021"/>
                  </a:lnTo>
                  <a:lnTo>
                    <a:pt x="18865" y="8922"/>
                  </a:lnTo>
                  <a:lnTo>
                    <a:pt x="18865" y="13824"/>
                  </a:lnTo>
                  <a:lnTo>
                    <a:pt x="14644" y="17845"/>
                  </a:lnTo>
                  <a:lnTo>
                    <a:pt x="9432" y="17845"/>
                  </a:lnTo>
                  <a:lnTo>
                    <a:pt x="4220" y="17845"/>
                  </a:lnTo>
                  <a:lnTo>
                    <a:pt x="0" y="13824"/>
                  </a:lnTo>
                  <a:lnTo>
                    <a:pt x="0" y="8922"/>
                  </a:lnTo>
                  <a:lnTo>
                    <a:pt x="0" y="4021"/>
                  </a:lnTo>
                  <a:lnTo>
                    <a:pt x="4220" y="0"/>
                  </a:lnTo>
                  <a:lnTo>
                    <a:pt x="9432" y="0"/>
                  </a:lnTo>
                  <a:close/>
                </a:path>
              </a:pathLst>
            </a:custGeom>
            <a:ln w="4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07951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14651" y="0"/>
                  </a:moveTo>
                  <a:lnTo>
                    <a:pt x="4227" y="0"/>
                  </a:lnTo>
                  <a:lnTo>
                    <a:pt x="0" y="4021"/>
                  </a:lnTo>
                  <a:lnTo>
                    <a:pt x="0" y="13824"/>
                  </a:lnTo>
                  <a:lnTo>
                    <a:pt x="4227" y="17845"/>
                  </a:lnTo>
                  <a:lnTo>
                    <a:pt x="14651" y="17845"/>
                  </a:lnTo>
                  <a:lnTo>
                    <a:pt x="18871" y="13824"/>
                  </a:lnTo>
                  <a:lnTo>
                    <a:pt x="18871" y="40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07951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9439" y="0"/>
                  </a:moveTo>
                  <a:lnTo>
                    <a:pt x="14651" y="0"/>
                  </a:lnTo>
                  <a:lnTo>
                    <a:pt x="18871" y="4021"/>
                  </a:lnTo>
                  <a:lnTo>
                    <a:pt x="18871" y="8922"/>
                  </a:lnTo>
                  <a:lnTo>
                    <a:pt x="18871" y="13824"/>
                  </a:lnTo>
                  <a:lnTo>
                    <a:pt x="14651" y="17845"/>
                  </a:lnTo>
                  <a:lnTo>
                    <a:pt x="9439" y="17845"/>
                  </a:lnTo>
                  <a:lnTo>
                    <a:pt x="4227" y="17845"/>
                  </a:lnTo>
                  <a:lnTo>
                    <a:pt x="0" y="13824"/>
                  </a:lnTo>
                  <a:lnTo>
                    <a:pt x="0" y="8922"/>
                  </a:lnTo>
                  <a:lnTo>
                    <a:pt x="0" y="4021"/>
                  </a:lnTo>
                  <a:lnTo>
                    <a:pt x="4227" y="0"/>
                  </a:lnTo>
                  <a:lnTo>
                    <a:pt x="9439" y="0"/>
                  </a:lnTo>
                  <a:close/>
                </a:path>
              </a:pathLst>
            </a:custGeom>
            <a:ln w="4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45694" y="517314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20" y="17807"/>
                  </a:lnTo>
                  <a:lnTo>
                    <a:pt x="14644" y="17807"/>
                  </a:lnTo>
                  <a:lnTo>
                    <a:pt x="18865" y="13824"/>
                  </a:lnTo>
                  <a:lnTo>
                    <a:pt x="18865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45694" y="517314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9432" y="0"/>
                  </a:moveTo>
                  <a:lnTo>
                    <a:pt x="14644" y="0"/>
                  </a:lnTo>
                  <a:lnTo>
                    <a:pt x="18865" y="3983"/>
                  </a:lnTo>
                  <a:lnTo>
                    <a:pt x="18865" y="8903"/>
                  </a:lnTo>
                  <a:lnTo>
                    <a:pt x="18865" y="13824"/>
                  </a:lnTo>
                  <a:lnTo>
                    <a:pt x="14644" y="17807"/>
                  </a:lnTo>
                  <a:lnTo>
                    <a:pt x="9432" y="17807"/>
                  </a:lnTo>
                  <a:lnTo>
                    <a:pt x="4220" y="17807"/>
                  </a:lnTo>
                  <a:lnTo>
                    <a:pt x="0" y="13824"/>
                  </a:lnTo>
                  <a:lnTo>
                    <a:pt x="0" y="8903"/>
                  </a:lnTo>
                  <a:lnTo>
                    <a:pt x="0" y="3983"/>
                  </a:lnTo>
                  <a:lnTo>
                    <a:pt x="4220" y="0"/>
                  </a:lnTo>
                  <a:lnTo>
                    <a:pt x="9432" y="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07951" y="517314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51" y="0"/>
                  </a:moveTo>
                  <a:lnTo>
                    <a:pt x="4227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27" y="17807"/>
                  </a:lnTo>
                  <a:lnTo>
                    <a:pt x="14651" y="17807"/>
                  </a:lnTo>
                  <a:lnTo>
                    <a:pt x="18871" y="13824"/>
                  </a:lnTo>
                  <a:lnTo>
                    <a:pt x="18871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87157" y="463626"/>
              <a:ext cx="539750" cy="318135"/>
            </a:xfrm>
            <a:custGeom>
              <a:avLst/>
              <a:gdLst/>
              <a:ahLst/>
              <a:cxnLst/>
              <a:rect l="l" t="t" r="r" b="b"/>
              <a:pathLst>
                <a:path w="539750" h="318134">
                  <a:moveTo>
                    <a:pt x="530232" y="53687"/>
                  </a:moveTo>
                  <a:lnTo>
                    <a:pt x="535445" y="53687"/>
                  </a:lnTo>
                  <a:lnTo>
                    <a:pt x="539665" y="57671"/>
                  </a:lnTo>
                  <a:lnTo>
                    <a:pt x="539665" y="62591"/>
                  </a:lnTo>
                  <a:lnTo>
                    <a:pt x="539665" y="67511"/>
                  </a:lnTo>
                  <a:lnTo>
                    <a:pt x="535445" y="71495"/>
                  </a:lnTo>
                  <a:lnTo>
                    <a:pt x="530232" y="71495"/>
                  </a:lnTo>
                  <a:lnTo>
                    <a:pt x="525020" y="71495"/>
                  </a:lnTo>
                  <a:lnTo>
                    <a:pt x="520793" y="67511"/>
                  </a:lnTo>
                  <a:lnTo>
                    <a:pt x="520793" y="62591"/>
                  </a:lnTo>
                  <a:lnTo>
                    <a:pt x="520793" y="57671"/>
                  </a:lnTo>
                  <a:lnTo>
                    <a:pt x="525020" y="53687"/>
                  </a:lnTo>
                  <a:lnTo>
                    <a:pt x="530232" y="53687"/>
                  </a:lnTo>
                  <a:close/>
                </a:path>
                <a:path w="539750" h="318134">
                  <a:moveTo>
                    <a:pt x="168206" y="0"/>
                  </a:moveTo>
                  <a:lnTo>
                    <a:pt x="168206" y="133583"/>
                  </a:lnTo>
                </a:path>
                <a:path w="539750" h="318134">
                  <a:moveTo>
                    <a:pt x="336415" y="158775"/>
                  </a:moveTo>
                  <a:lnTo>
                    <a:pt x="194893" y="158775"/>
                  </a:lnTo>
                </a:path>
                <a:path w="539750" h="318134">
                  <a:moveTo>
                    <a:pt x="156883" y="158775"/>
                  </a:moveTo>
                  <a:lnTo>
                    <a:pt x="156883" y="152874"/>
                  </a:lnTo>
                  <a:lnTo>
                    <a:pt x="161956" y="148086"/>
                  </a:lnTo>
                  <a:lnTo>
                    <a:pt x="168206" y="148086"/>
                  </a:lnTo>
                  <a:lnTo>
                    <a:pt x="174457" y="148086"/>
                  </a:lnTo>
                  <a:lnTo>
                    <a:pt x="179529" y="152874"/>
                  </a:lnTo>
                  <a:lnTo>
                    <a:pt x="179529" y="158775"/>
                  </a:lnTo>
                  <a:lnTo>
                    <a:pt x="179529" y="164681"/>
                  </a:lnTo>
                  <a:lnTo>
                    <a:pt x="174457" y="169463"/>
                  </a:lnTo>
                  <a:lnTo>
                    <a:pt x="168206" y="169463"/>
                  </a:lnTo>
                  <a:lnTo>
                    <a:pt x="161956" y="169463"/>
                  </a:lnTo>
                  <a:lnTo>
                    <a:pt x="156883" y="164681"/>
                  </a:lnTo>
                  <a:lnTo>
                    <a:pt x="156883" y="158775"/>
                  </a:lnTo>
                  <a:close/>
                </a:path>
                <a:path w="539750" h="318134">
                  <a:moveTo>
                    <a:pt x="168206" y="183966"/>
                  </a:moveTo>
                  <a:lnTo>
                    <a:pt x="168206" y="317556"/>
                  </a:lnTo>
                </a:path>
                <a:path w="539750" h="318134">
                  <a:moveTo>
                    <a:pt x="141520" y="158775"/>
                  </a:moveTo>
                  <a:lnTo>
                    <a:pt x="0" y="158775"/>
                  </a:lnTo>
                </a:path>
              </a:pathLst>
            </a:custGeom>
            <a:ln w="4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48483" y="595683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20" y="17814"/>
                  </a:lnTo>
                  <a:lnTo>
                    <a:pt x="14644" y="17814"/>
                  </a:lnTo>
                  <a:lnTo>
                    <a:pt x="18871" y="13824"/>
                  </a:lnTo>
                  <a:lnTo>
                    <a:pt x="18871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8483" y="595683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10"/>
                  </a:moveTo>
                  <a:lnTo>
                    <a:pt x="0" y="3990"/>
                  </a:lnTo>
                  <a:lnTo>
                    <a:pt x="4220" y="0"/>
                  </a:lnTo>
                  <a:lnTo>
                    <a:pt x="9432" y="0"/>
                  </a:lnTo>
                  <a:lnTo>
                    <a:pt x="14644" y="0"/>
                  </a:lnTo>
                  <a:lnTo>
                    <a:pt x="18871" y="3990"/>
                  </a:lnTo>
                  <a:lnTo>
                    <a:pt x="18871" y="8910"/>
                  </a:lnTo>
                  <a:lnTo>
                    <a:pt x="18871" y="13824"/>
                  </a:lnTo>
                  <a:lnTo>
                    <a:pt x="14644" y="17814"/>
                  </a:lnTo>
                  <a:lnTo>
                    <a:pt x="9432" y="17814"/>
                  </a:lnTo>
                  <a:lnTo>
                    <a:pt x="4220" y="17814"/>
                  </a:lnTo>
                  <a:lnTo>
                    <a:pt x="0" y="13824"/>
                  </a:lnTo>
                  <a:lnTo>
                    <a:pt x="0" y="891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48483" y="631312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20" y="17807"/>
                  </a:lnTo>
                  <a:lnTo>
                    <a:pt x="14644" y="17807"/>
                  </a:lnTo>
                  <a:lnTo>
                    <a:pt x="18871" y="13824"/>
                  </a:lnTo>
                  <a:lnTo>
                    <a:pt x="18871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48483" y="631312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83"/>
                  </a:lnTo>
                  <a:lnTo>
                    <a:pt x="4220" y="0"/>
                  </a:lnTo>
                  <a:lnTo>
                    <a:pt x="9432" y="0"/>
                  </a:lnTo>
                  <a:lnTo>
                    <a:pt x="14644" y="0"/>
                  </a:lnTo>
                  <a:lnTo>
                    <a:pt x="18871" y="3983"/>
                  </a:lnTo>
                  <a:lnTo>
                    <a:pt x="18871" y="8903"/>
                  </a:lnTo>
                  <a:lnTo>
                    <a:pt x="18871" y="13824"/>
                  </a:lnTo>
                  <a:lnTo>
                    <a:pt x="14644" y="17807"/>
                  </a:lnTo>
                  <a:lnTo>
                    <a:pt x="9432" y="17807"/>
                  </a:lnTo>
                  <a:lnTo>
                    <a:pt x="4220" y="17807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38659" y="595683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20" y="17814"/>
                  </a:lnTo>
                  <a:lnTo>
                    <a:pt x="14644" y="17814"/>
                  </a:lnTo>
                  <a:lnTo>
                    <a:pt x="18865" y="13824"/>
                  </a:lnTo>
                  <a:lnTo>
                    <a:pt x="18865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8659" y="595683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10"/>
                  </a:moveTo>
                  <a:lnTo>
                    <a:pt x="0" y="3990"/>
                  </a:lnTo>
                  <a:lnTo>
                    <a:pt x="4220" y="0"/>
                  </a:lnTo>
                  <a:lnTo>
                    <a:pt x="9432" y="0"/>
                  </a:lnTo>
                  <a:lnTo>
                    <a:pt x="14644" y="0"/>
                  </a:lnTo>
                  <a:lnTo>
                    <a:pt x="18865" y="3990"/>
                  </a:lnTo>
                  <a:lnTo>
                    <a:pt x="18865" y="8910"/>
                  </a:lnTo>
                  <a:lnTo>
                    <a:pt x="18865" y="13824"/>
                  </a:lnTo>
                  <a:lnTo>
                    <a:pt x="14644" y="17814"/>
                  </a:lnTo>
                  <a:lnTo>
                    <a:pt x="9432" y="17814"/>
                  </a:lnTo>
                  <a:lnTo>
                    <a:pt x="4220" y="17814"/>
                  </a:lnTo>
                  <a:lnTo>
                    <a:pt x="0" y="13824"/>
                  </a:lnTo>
                  <a:lnTo>
                    <a:pt x="0" y="891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38659" y="631312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20" y="17807"/>
                  </a:lnTo>
                  <a:lnTo>
                    <a:pt x="14644" y="17807"/>
                  </a:lnTo>
                  <a:lnTo>
                    <a:pt x="18865" y="13824"/>
                  </a:lnTo>
                  <a:lnTo>
                    <a:pt x="18865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8659" y="631312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83"/>
                  </a:lnTo>
                  <a:lnTo>
                    <a:pt x="4220" y="0"/>
                  </a:lnTo>
                  <a:lnTo>
                    <a:pt x="9432" y="0"/>
                  </a:lnTo>
                  <a:lnTo>
                    <a:pt x="14644" y="0"/>
                  </a:lnTo>
                  <a:lnTo>
                    <a:pt x="18865" y="3983"/>
                  </a:lnTo>
                  <a:lnTo>
                    <a:pt x="18865" y="8903"/>
                  </a:lnTo>
                  <a:lnTo>
                    <a:pt x="18865" y="13824"/>
                  </a:lnTo>
                  <a:lnTo>
                    <a:pt x="14644" y="17807"/>
                  </a:lnTo>
                  <a:lnTo>
                    <a:pt x="9432" y="17807"/>
                  </a:lnTo>
                  <a:lnTo>
                    <a:pt x="4220" y="17807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64796" y="7010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7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27" y="17814"/>
                  </a:lnTo>
                  <a:lnTo>
                    <a:pt x="14644" y="17814"/>
                  </a:lnTo>
                  <a:lnTo>
                    <a:pt x="18871" y="13824"/>
                  </a:lnTo>
                  <a:lnTo>
                    <a:pt x="18871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64796" y="7010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9439" y="0"/>
                  </a:moveTo>
                  <a:lnTo>
                    <a:pt x="14644" y="0"/>
                  </a:lnTo>
                  <a:lnTo>
                    <a:pt x="18871" y="3990"/>
                  </a:lnTo>
                  <a:lnTo>
                    <a:pt x="18871" y="8903"/>
                  </a:lnTo>
                  <a:lnTo>
                    <a:pt x="18871" y="13824"/>
                  </a:lnTo>
                  <a:lnTo>
                    <a:pt x="14644" y="17814"/>
                  </a:lnTo>
                  <a:lnTo>
                    <a:pt x="9439" y="17814"/>
                  </a:lnTo>
                  <a:lnTo>
                    <a:pt x="4227" y="17814"/>
                  </a:lnTo>
                  <a:lnTo>
                    <a:pt x="0" y="13824"/>
                  </a:lnTo>
                  <a:lnTo>
                    <a:pt x="0" y="8903"/>
                  </a:lnTo>
                  <a:lnTo>
                    <a:pt x="0" y="3990"/>
                  </a:lnTo>
                  <a:lnTo>
                    <a:pt x="4227" y="0"/>
                  </a:lnTo>
                  <a:lnTo>
                    <a:pt x="9439" y="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27059" y="7010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20" y="17814"/>
                  </a:lnTo>
                  <a:lnTo>
                    <a:pt x="14644" y="17814"/>
                  </a:lnTo>
                  <a:lnTo>
                    <a:pt x="18871" y="13824"/>
                  </a:lnTo>
                  <a:lnTo>
                    <a:pt x="18871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27059" y="463626"/>
              <a:ext cx="387350" cy="255270"/>
            </a:xfrm>
            <a:custGeom>
              <a:avLst/>
              <a:gdLst/>
              <a:ahLst/>
              <a:cxnLst/>
              <a:rect l="l" t="t" r="r" b="b"/>
              <a:pathLst>
                <a:path w="387350" h="255270">
                  <a:moveTo>
                    <a:pt x="9432" y="237402"/>
                  </a:moveTo>
                  <a:lnTo>
                    <a:pt x="14644" y="237402"/>
                  </a:lnTo>
                  <a:lnTo>
                    <a:pt x="18871" y="241392"/>
                  </a:lnTo>
                  <a:lnTo>
                    <a:pt x="18871" y="246306"/>
                  </a:lnTo>
                  <a:lnTo>
                    <a:pt x="18871" y="251226"/>
                  </a:lnTo>
                  <a:lnTo>
                    <a:pt x="14644" y="255216"/>
                  </a:lnTo>
                  <a:lnTo>
                    <a:pt x="9432" y="255216"/>
                  </a:lnTo>
                  <a:lnTo>
                    <a:pt x="4220" y="255216"/>
                  </a:lnTo>
                  <a:lnTo>
                    <a:pt x="0" y="251226"/>
                  </a:lnTo>
                  <a:lnTo>
                    <a:pt x="0" y="246306"/>
                  </a:lnTo>
                  <a:lnTo>
                    <a:pt x="0" y="241392"/>
                  </a:lnTo>
                  <a:lnTo>
                    <a:pt x="4220" y="237402"/>
                  </a:lnTo>
                  <a:lnTo>
                    <a:pt x="9432" y="237402"/>
                  </a:lnTo>
                  <a:close/>
                </a:path>
                <a:path w="387350" h="255270">
                  <a:moveTo>
                    <a:pt x="218620" y="0"/>
                  </a:moveTo>
                  <a:lnTo>
                    <a:pt x="218620" y="133583"/>
                  </a:lnTo>
                </a:path>
                <a:path w="387350" h="255270">
                  <a:moveTo>
                    <a:pt x="386822" y="158775"/>
                  </a:moveTo>
                  <a:lnTo>
                    <a:pt x="245300" y="158775"/>
                  </a:lnTo>
                </a:path>
              </a:pathLst>
            </a:custGeom>
            <a:ln w="4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34356" y="611713"/>
              <a:ext cx="22860" cy="21590"/>
            </a:xfrm>
            <a:custGeom>
              <a:avLst/>
              <a:gdLst/>
              <a:ahLst/>
              <a:cxnLst/>
              <a:rect l="l" t="t" r="r" b="b"/>
              <a:pathLst>
                <a:path w="22859" h="21590">
                  <a:moveTo>
                    <a:pt x="17573" y="0"/>
                  </a:moveTo>
                  <a:lnTo>
                    <a:pt x="5065" y="0"/>
                  </a:lnTo>
                  <a:lnTo>
                    <a:pt x="0" y="4788"/>
                  </a:lnTo>
                  <a:lnTo>
                    <a:pt x="0" y="16595"/>
                  </a:lnTo>
                  <a:lnTo>
                    <a:pt x="5065" y="21376"/>
                  </a:lnTo>
                  <a:lnTo>
                    <a:pt x="17573" y="21376"/>
                  </a:lnTo>
                  <a:lnTo>
                    <a:pt x="22639" y="16595"/>
                  </a:lnTo>
                  <a:lnTo>
                    <a:pt x="22639" y="478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77471" y="611713"/>
              <a:ext cx="179705" cy="169545"/>
            </a:xfrm>
            <a:custGeom>
              <a:avLst/>
              <a:gdLst/>
              <a:ahLst/>
              <a:cxnLst/>
              <a:rect l="l" t="t" r="r" b="b"/>
              <a:pathLst>
                <a:path w="179704" h="169545">
                  <a:moveTo>
                    <a:pt x="156885" y="10688"/>
                  </a:moveTo>
                  <a:lnTo>
                    <a:pt x="156885" y="4788"/>
                  </a:lnTo>
                  <a:lnTo>
                    <a:pt x="161951" y="0"/>
                  </a:lnTo>
                  <a:lnTo>
                    <a:pt x="168208" y="0"/>
                  </a:lnTo>
                  <a:lnTo>
                    <a:pt x="174459" y="0"/>
                  </a:lnTo>
                  <a:lnTo>
                    <a:pt x="179525" y="4788"/>
                  </a:lnTo>
                  <a:lnTo>
                    <a:pt x="179525" y="10688"/>
                  </a:lnTo>
                  <a:lnTo>
                    <a:pt x="179525" y="16595"/>
                  </a:lnTo>
                  <a:lnTo>
                    <a:pt x="174459" y="21376"/>
                  </a:lnTo>
                  <a:lnTo>
                    <a:pt x="168208" y="21376"/>
                  </a:lnTo>
                  <a:lnTo>
                    <a:pt x="161951" y="21376"/>
                  </a:lnTo>
                  <a:lnTo>
                    <a:pt x="156885" y="16595"/>
                  </a:lnTo>
                  <a:lnTo>
                    <a:pt x="156885" y="10688"/>
                  </a:lnTo>
                  <a:close/>
                </a:path>
                <a:path w="179704" h="169545">
                  <a:moveTo>
                    <a:pt x="168208" y="35879"/>
                  </a:moveTo>
                  <a:lnTo>
                    <a:pt x="168208" y="169469"/>
                  </a:lnTo>
                </a:path>
                <a:path w="179704" h="169545">
                  <a:moveTo>
                    <a:pt x="141522" y="10688"/>
                  </a:moveTo>
                  <a:lnTo>
                    <a:pt x="0" y="10688"/>
                  </a:lnTo>
                </a:path>
              </a:pathLst>
            </a:custGeom>
            <a:ln w="4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28969" y="595683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7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27" y="17814"/>
                  </a:lnTo>
                  <a:lnTo>
                    <a:pt x="14644" y="17814"/>
                  </a:lnTo>
                  <a:lnTo>
                    <a:pt x="18871" y="13824"/>
                  </a:lnTo>
                  <a:lnTo>
                    <a:pt x="18871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28969" y="595683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10"/>
                  </a:moveTo>
                  <a:lnTo>
                    <a:pt x="0" y="3990"/>
                  </a:lnTo>
                  <a:lnTo>
                    <a:pt x="4227" y="0"/>
                  </a:lnTo>
                  <a:lnTo>
                    <a:pt x="9439" y="0"/>
                  </a:lnTo>
                  <a:lnTo>
                    <a:pt x="14644" y="0"/>
                  </a:lnTo>
                  <a:lnTo>
                    <a:pt x="18871" y="3990"/>
                  </a:lnTo>
                  <a:lnTo>
                    <a:pt x="18871" y="8910"/>
                  </a:lnTo>
                  <a:lnTo>
                    <a:pt x="18871" y="13824"/>
                  </a:lnTo>
                  <a:lnTo>
                    <a:pt x="14644" y="17814"/>
                  </a:lnTo>
                  <a:lnTo>
                    <a:pt x="9439" y="17814"/>
                  </a:lnTo>
                  <a:lnTo>
                    <a:pt x="4227" y="17814"/>
                  </a:lnTo>
                  <a:lnTo>
                    <a:pt x="0" y="13824"/>
                  </a:lnTo>
                  <a:lnTo>
                    <a:pt x="0" y="891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28969" y="631312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7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27" y="17807"/>
                  </a:lnTo>
                  <a:lnTo>
                    <a:pt x="14644" y="17807"/>
                  </a:lnTo>
                  <a:lnTo>
                    <a:pt x="18871" y="13824"/>
                  </a:lnTo>
                  <a:lnTo>
                    <a:pt x="18871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28969" y="631312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83"/>
                  </a:lnTo>
                  <a:lnTo>
                    <a:pt x="4227" y="0"/>
                  </a:lnTo>
                  <a:lnTo>
                    <a:pt x="9439" y="0"/>
                  </a:lnTo>
                  <a:lnTo>
                    <a:pt x="14644" y="0"/>
                  </a:lnTo>
                  <a:lnTo>
                    <a:pt x="18871" y="3983"/>
                  </a:lnTo>
                  <a:lnTo>
                    <a:pt x="18871" y="8903"/>
                  </a:lnTo>
                  <a:lnTo>
                    <a:pt x="18871" y="13824"/>
                  </a:lnTo>
                  <a:lnTo>
                    <a:pt x="14644" y="17807"/>
                  </a:lnTo>
                  <a:lnTo>
                    <a:pt x="9439" y="17807"/>
                  </a:lnTo>
                  <a:lnTo>
                    <a:pt x="4227" y="17807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55112" y="7010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20" y="17814"/>
                  </a:lnTo>
                  <a:lnTo>
                    <a:pt x="14644" y="17814"/>
                  </a:lnTo>
                  <a:lnTo>
                    <a:pt x="18871" y="13824"/>
                  </a:lnTo>
                  <a:lnTo>
                    <a:pt x="18871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55112" y="7010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9432" y="0"/>
                  </a:moveTo>
                  <a:lnTo>
                    <a:pt x="14644" y="0"/>
                  </a:lnTo>
                  <a:lnTo>
                    <a:pt x="18871" y="3990"/>
                  </a:lnTo>
                  <a:lnTo>
                    <a:pt x="18871" y="8903"/>
                  </a:lnTo>
                  <a:lnTo>
                    <a:pt x="18871" y="13824"/>
                  </a:lnTo>
                  <a:lnTo>
                    <a:pt x="14644" y="17814"/>
                  </a:lnTo>
                  <a:lnTo>
                    <a:pt x="9432" y="17814"/>
                  </a:lnTo>
                  <a:lnTo>
                    <a:pt x="4220" y="17814"/>
                  </a:lnTo>
                  <a:lnTo>
                    <a:pt x="0" y="13824"/>
                  </a:lnTo>
                  <a:lnTo>
                    <a:pt x="0" y="8903"/>
                  </a:lnTo>
                  <a:lnTo>
                    <a:pt x="0" y="3990"/>
                  </a:lnTo>
                  <a:lnTo>
                    <a:pt x="4220" y="0"/>
                  </a:lnTo>
                  <a:lnTo>
                    <a:pt x="9432" y="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17375" y="7010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20" y="17814"/>
                  </a:lnTo>
                  <a:lnTo>
                    <a:pt x="14644" y="17814"/>
                  </a:lnTo>
                  <a:lnTo>
                    <a:pt x="18865" y="13824"/>
                  </a:lnTo>
                  <a:lnTo>
                    <a:pt x="18865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17375" y="463626"/>
              <a:ext cx="387350" cy="318135"/>
            </a:xfrm>
            <a:custGeom>
              <a:avLst/>
              <a:gdLst/>
              <a:ahLst/>
              <a:cxnLst/>
              <a:rect l="l" t="t" r="r" b="b"/>
              <a:pathLst>
                <a:path w="387350" h="318134">
                  <a:moveTo>
                    <a:pt x="9432" y="237402"/>
                  </a:moveTo>
                  <a:lnTo>
                    <a:pt x="14644" y="237402"/>
                  </a:lnTo>
                  <a:lnTo>
                    <a:pt x="18865" y="241392"/>
                  </a:lnTo>
                  <a:lnTo>
                    <a:pt x="18865" y="246306"/>
                  </a:lnTo>
                  <a:lnTo>
                    <a:pt x="18865" y="251226"/>
                  </a:lnTo>
                  <a:lnTo>
                    <a:pt x="14644" y="255216"/>
                  </a:lnTo>
                  <a:lnTo>
                    <a:pt x="9432" y="255216"/>
                  </a:lnTo>
                  <a:lnTo>
                    <a:pt x="4220" y="255216"/>
                  </a:lnTo>
                  <a:lnTo>
                    <a:pt x="0" y="251226"/>
                  </a:lnTo>
                  <a:lnTo>
                    <a:pt x="0" y="246306"/>
                  </a:lnTo>
                  <a:lnTo>
                    <a:pt x="0" y="241392"/>
                  </a:lnTo>
                  <a:lnTo>
                    <a:pt x="4220" y="237402"/>
                  </a:lnTo>
                  <a:lnTo>
                    <a:pt x="9432" y="237402"/>
                  </a:lnTo>
                  <a:close/>
                </a:path>
                <a:path w="387350" h="318134">
                  <a:moveTo>
                    <a:pt x="218879" y="0"/>
                  </a:moveTo>
                  <a:lnTo>
                    <a:pt x="218879" y="133583"/>
                  </a:lnTo>
                </a:path>
                <a:path w="387350" h="318134">
                  <a:moveTo>
                    <a:pt x="387095" y="158775"/>
                  </a:moveTo>
                  <a:lnTo>
                    <a:pt x="245566" y="158775"/>
                  </a:lnTo>
                </a:path>
                <a:path w="387350" h="318134">
                  <a:moveTo>
                    <a:pt x="207563" y="158775"/>
                  </a:moveTo>
                  <a:lnTo>
                    <a:pt x="207563" y="152874"/>
                  </a:lnTo>
                  <a:lnTo>
                    <a:pt x="212629" y="148086"/>
                  </a:lnTo>
                  <a:lnTo>
                    <a:pt x="218879" y="148086"/>
                  </a:lnTo>
                  <a:lnTo>
                    <a:pt x="225137" y="148086"/>
                  </a:lnTo>
                  <a:lnTo>
                    <a:pt x="230202" y="152874"/>
                  </a:lnTo>
                  <a:lnTo>
                    <a:pt x="230202" y="158775"/>
                  </a:lnTo>
                  <a:lnTo>
                    <a:pt x="230202" y="164681"/>
                  </a:lnTo>
                  <a:lnTo>
                    <a:pt x="225137" y="169463"/>
                  </a:lnTo>
                  <a:lnTo>
                    <a:pt x="218879" y="169463"/>
                  </a:lnTo>
                  <a:lnTo>
                    <a:pt x="212629" y="169463"/>
                  </a:lnTo>
                  <a:lnTo>
                    <a:pt x="207563" y="164681"/>
                  </a:lnTo>
                  <a:lnTo>
                    <a:pt x="207563" y="158775"/>
                  </a:lnTo>
                  <a:close/>
                </a:path>
                <a:path w="387350" h="318134">
                  <a:moveTo>
                    <a:pt x="218879" y="183966"/>
                  </a:moveTo>
                  <a:lnTo>
                    <a:pt x="218879" y="317556"/>
                  </a:lnTo>
                </a:path>
                <a:path w="387350" h="318134">
                  <a:moveTo>
                    <a:pt x="192199" y="158775"/>
                  </a:moveTo>
                  <a:lnTo>
                    <a:pt x="50677" y="158775"/>
                  </a:lnTo>
                </a:path>
              </a:pathLst>
            </a:custGeom>
            <a:ln w="4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019531" y="595683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6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60" y="17814"/>
                  </a:lnTo>
                  <a:lnTo>
                    <a:pt x="14644" y="17814"/>
                  </a:lnTo>
                  <a:lnTo>
                    <a:pt x="18905" y="13824"/>
                  </a:lnTo>
                  <a:lnTo>
                    <a:pt x="18905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19531" y="595683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10"/>
                  </a:moveTo>
                  <a:lnTo>
                    <a:pt x="0" y="3990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90"/>
                  </a:lnTo>
                  <a:lnTo>
                    <a:pt x="18905" y="8910"/>
                  </a:lnTo>
                  <a:lnTo>
                    <a:pt x="18905" y="13824"/>
                  </a:lnTo>
                  <a:lnTo>
                    <a:pt x="14644" y="17814"/>
                  </a:lnTo>
                  <a:lnTo>
                    <a:pt x="9452" y="17814"/>
                  </a:lnTo>
                  <a:lnTo>
                    <a:pt x="4260" y="17814"/>
                  </a:lnTo>
                  <a:lnTo>
                    <a:pt x="0" y="13824"/>
                  </a:lnTo>
                  <a:lnTo>
                    <a:pt x="0" y="891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019531" y="631312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60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60" y="17807"/>
                  </a:lnTo>
                  <a:lnTo>
                    <a:pt x="14644" y="17807"/>
                  </a:lnTo>
                  <a:lnTo>
                    <a:pt x="18905" y="13824"/>
                  </a:lnTo>
                  <a:lnTo>
                    <a:pt x="18905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019531" y="631312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83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83"/>
                  </a:lnTo>
                  <a:lnTo>
                    <a:pt x="18905" y="8903"/>
                  </a:lnTo>
                  <a:lnTo>
                    <a:pt x="18905" y="13824"/>
                  </a:lnTo>
                  <a:lnTo>
                    <a:pt x="14644" y="17807"/>
                  </a:lnTo>
                  <a:lnTo>
                    <a:pt x="9452" y="17807"/>
                  </a:lnTo>
                  <a:lnTo>
                    <a:pt x="4260" y="17807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945694" y="7010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20" y="17814"/>
                  </a:lnTo>
                  <a:lnTo>
                    <a:pt x="14644" y="17814"/>
                  </a:lnTo>
                  <a:lnTo>
                    <a:pt x="18865" y="13824"/>
                  </a:lnTo>
                  <a:lnTo>
                    <a:pt x="18865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945694" y="7010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9432" y="0"/>
                  </a:moveTo>
                  <a:lnTo>
                    <a:pt x="14644" y="0"/>
                  </a:lnTo>
                  <a:lnTo>
                    <a:pt x="18865" y="3990"/>
                  </a:lnTo>
                  <a:lnTo>
                    <a:pt x="18865" y="8903"/>
                  </a:lnTo>
                  <a:lnTo>
                    <a:pt x="18865" y="13824"/>
                  </a:lnTo>
                  <a:lnTo>
                    <a:pt x="14644" y="17814"/>
                  </a:lnTo>
                  <a:lnTo>
                    <a:pt x="9432" y="17814"/>
                  </a:lnTo>
                  <a:lnTo>
                    <a:pt x="4220" y="17814"/>
                  </a:lnTo>
                  <a:lnTo>
                    <a:pt x="0" y="13824"/>
                  </a:lnTo>
                  <a:lnTo>
                    <a:pt x="0" y="8903"/>
                  </a:lnTo>
                  <a:lnTo>
                    <a:pt x="0" y="3990"/>
                  </a:lnTo>
                  <a:lnTo>
                    <a:pt x="4220" y="0"/>
                  </a:lnTo>
                  <a:lnTo>
                    <a:pt x="9432" y="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907951" y="7010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51" y="0"/>
                  </a:moveTo>
                  <a:lnTo>
                    <a:pt x="4227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27" y="17814"/>
                  </a:lnTo>
                  <a:lnTo>
                    <a:pt x="14651" y="17814"/>
                  </a:lnTo>
                  <a:lnTo>
                    <a:pt x="18871" y="13824"/>
                  </a:lnTo>
                  <a:lnTo>
                    <a:pt x="18871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87157" y="646832"/>
              <a:ext cx="539750" cy="318135"/>
            </a:xfrm>
            <a:custGeom>
              <a:avLst/>
              <a:gdLst/>
              <a:ahLst/>
              <a:cxnLst/>
              <a:rect l="l" t="t" r="r" b="b"/>
              <a:pathLst>
                <a:path w="539750" h="318134">
                  <a:moveTo>
                    <a:pt x="530232" y="54196"/>
                  </a:moveTo>
                  <a:lnTo>
                    <a:pt x="535445" y="54196"/>
                  </a:lnTo>
                  <a:lnTo>
                    <a:pt x="539665" y="58186"/>
                  </a:lnTo>
                  <a:lnTo>
                    <a:pt x="539665" y="63100"/>
                  </a:lnTo>
                  <a:lnTo>
                    <a:pt x="539665" y="68020"/>
                  </a:lnTo>
                  <a:lnTo>
                    <a:pt x="535445" y="72010"/>
                  </a:lnTo>
                  <a:lnTo>
                    <a:pt x="530232" y="72010"/>
                  </a:lnTo>
                  <a:lnTo>
                    <a:pt x="525020" y="72010"/>
                  </a:lnTo>
                  <a:lnTo>
                    <a:pt x="520793" y="68020"/>
                  </a:lnTo>
                  <a:lnTo>
                    <a:pt x="520793" y="63100"/>
                  </a:lnTo>
                  <a:lnTo>
                    <a:pt x="520793" y="58186"/>
                  </a:lnTo>
                  <a:lnTo>
                    <a:pt x="525020" y="54196"/>
                  </a:lnTo>
                  <a:lnTo>
                    <a:pt x="530232" y="54196"/>
                  </a:lnTo>
                  <a:close/>
                </a:path>
                <a:path w="539750" h="318134">
                  <a:moveTo>
                    <a:pt x="168206" y="0"/>
                  </a:moveTo>
                  <a:lnTo>
                    <a:pt x="168206" y="133590"/>
                  </a:lnTo>
                </a:path>
                <a:path w="539750" h="318134">
                  <a:moveTo>
                    <a:pt x="336415" y="158781"/>
                  </a:moveTo>
                  <a:lnTo>
                    <a:pt x="194893" y="158781"/>
                  </a:lnTo>
                </a:path>
                <a:path w="539750" h="318134">
                  <a:moveTo>
                    <a:pt x="156883" y="158781"/>
                  </a:moveTo>
                  <a:lnTo>
                    <a:pt x="156883" y="152874"/>
                  </a:lnTo>
                  <a:lnTo>
                    <a:pt x="161956" y="148092"/>
                  </a:lnTo>
                  <a:lnTo>
                    <a:pt x="168206" y="148092"/>
                  </a:lnTo>
                  <a:lnTo>
                    <a:pt x="174457" y="148092"/>
                  </a:lnTo>
                  <a:lnTo>
                    <a:pt x="179529" y="152874"/>
                  </a:lnTo>
                  <a:lnTo>
                    <a:pt x="179529" y="158781"/>
                  </a:lnTo>
                  <a:lnTo>
                    <a:pt x="179529" y="164681"/>
                  </a:lnTo>
                  <a:lnTo>
                    <a:pt x="174457" y="169469"/>
                  </a:lnTo>
                  <a:lnTo>
                    <a:pt x="168206" y="169469"/>
                  </a:lnTo>
                  <a:lnTo>
                    <a:pt x="161956" y="169469"/>
                  </a:lnTo>
                  <a:lnTo>
                    <a:pt x="156883" y="164681"/>
                  </a:lnTo>
                  <a:lnTo>
                    <a:pt x="156883" y="158781"/>
                  </a:lnTo>
                  <a:close/>
                </a:path>
                <a:path w="539750" h="318134">
                  <a:moveTo>
                    <a:pt x="168206" y="183972"/>
                  </a:moveTo>
                  <a:lnTo>
                    <a:pt x="168206" y="317556"/>
                  </a:lnTo>
                </a:path>
                <a:path w="539750" h="318134">
                  <a:moveTo>
                    <a:pt x="141520" y="158781"/>
                  </a:moveTo>
                  <a:lnTo>
                    <a:pt x="0" y="158781"/>
                  </a:lnTo>
                </a:path>
              </a:pathLst>
            </a:custGeom>
            <a:ln w="4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48483" y="778895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20" y="17807"/>
                  </a:lnTo>
                  <a:lnTo>
                    <a:pt x="14644" y="17807"/>
                  </a:lnTo>
                  <a:lnTo>
                    <a:pt x="18871" y="13824"/>
                  </a:lnTo>
                  <a:lnTo>
                    <a:pt x="18871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48483" y="778895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83"/>
                  </a:lnTo>
                  <a:lnTo>
                    <a:pt x="4220" y="0"/>
                  </a:lnTo>
                  <a:lnTo>
                    <a:pt x="9432" y="0"/>
                  </a:lnTo>
                  <a:lnTo>
                    <a:pt x="14644" y="0"/>
                  </a:lnTo>
                  <a:lnTo>
                    <a:pt x="18871" y="3983"/>
                  </a:lnTo>
                  <a:lnTo>
                    <a:pt x="18871" y="8903"/>
                  </a:lnTo>
                  <a:lnTo>
                    <a:pt x="18871" y="13824"/>
                  </a:lnTo>
                  <a:lnTo>
                    <a:pt x="14644" y="17807"/>
                  </a:lnTo>
                  <a:lnTo>
                    <a:pt x="9432" y="17807"/>
                  </a:lnTo>
                  <a:lnTo>
                    <a:pt x="4220" y="17807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48483" y="814517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20" y="17814"/>
                  </a:lnTo>
                  <a:lnTo>
                    <a:pt x="14644" y="17814"/>
                  </a:lnTo>
                  <a:lnTo>
                    <a:pt x="18871" y="13824"/>
                  </a:lnTo>
                  <a:lnTo>
                    <a:pt x="18871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48483" y="814517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90"/>
                  </a:lnTo>
                  <a:lnTo>
                    <a:pt x="4220" y="0"/>
                  </a:lnTo>
                  <a:lnTo>
                    <a:pt x="9432" y="0"/>
                  </a:lnTo>
                  <a:lnTo>
                    <a:pt x="14644" y="0"/>
                  </a:lnTo>
                  <a:lnTo>
                    <a:pt x="18871" y="3990"/>
                  </a:lnTo>
                  <a:lnTo>
                    <a:pt x="18871" y="8903"/>
                  </a:lnTo>
                  <a:lnTo>
                    <a:pt x="18871" y="13824"/>
                  </a:lnTo>
                  <a:lnTo>
                    <a:pt x="14644" y="17814"/>
                  </a:lnTo>
                  <a:lnTo>
                    <a:pt x="9432" y="17814"/>
                  </a:lnTo>
                  <a:lnTo>
                    <a:pt x="4220" y="17814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38659" y="778895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20" y="17807"/>
                  </a:lnTo>
                  <a:lnTo>
                    <a:pt x="14644" y="17807"/>
                  </a:lnTo>
                  <a:lnTo>
                    <a:pt x="18865" y="13824"/>
                  </a:lnTo>
                  <a:lnTo>
                    <a:pt x="18865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8659" y="778895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83"/>
                  </a:lnTo>
                  <a:lnTo>
                    <a:pt x="4220" y="0"/>
                  </a:lnTo>
                  <a:lnTo>
                    <a:pt x="9432" y="0"/>
                  </a:lnTo>
                  <a:lnTo>
                    <a:pt x="14644" y="0"/>
                  </a:lnTo>
                  <a:lnTo>
                    <a:pt x="18865" y="3983"/>
                  </a:lnTo>
                  <a:lnTo>
                    <a:pt x="18865" y="8903"/>
                  </a:lnTo>
                  <a:lnTo>
                    <a:pt x="18865" y="13824"/>
                  </a:lnTo>
                  <a:lnTo>
                    <a:pt x="14644" y="17807"/>
                  </a:lnTo>
                  <a:lnTo>
                    <a:pt x="9432" y="17807"/>
                  </a:lnTo>
                  <a:lnTo>
                    <a:pt x="4220" y="17807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38659" y="814517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20" y="17814"/>
                  </a:lnTo>
                  <a:lnTo>
                    <a:pt x="14644" y="17814"/>
                  </a:lnTo>
                  <a:lnTo>
                    <a:pt x="18865" y="13824"/>
                  </a:lnTo>
                  <a:lnTo>
                    <a:pt x="18865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38659" y="814517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90"/>
                  </a:lnTo>
                  <a:lnTo>
                    <a:pt x="4220" y="0"/>
                  </a:lnTo>
                  <a:lnTo>
                    <a:pt x="9432" y="0"/>
                  </a:lnTo>
                  <a:lnTo>
                    <a:pt x="14644" y="0"/>
                  </a:lnTo>
                  <a:lnTo>
                    <a:pt x="18865" y="3990"/>
                  </a:lnTo>
                  <a:lnTo>
                    <a:pt x="18865" y="8903"/>
                  </a:lnTo>
                  <a:lnTo>
                    <a:pt x="18865" y="13824"/>
                  </a:lnTo>
                  <a:lnTo>
                    <a:pt x="14644" y="17814"/>
                  </a:lnTo>
                  <a:lnTo>
                    <a:pt x="9432" y="17814"/>
                  </a:lnTo>
                  <a:lnTo>
                    <a:pt x="4220" y="17814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64796" y="88424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7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27" y="17807"/>
                  </a:lnTo>
                  <a:lnTo>
                    <a:pt x="14644" y="17807"/>
                  </a:lnTo>
                  <a:lnTo>
                    <a:pt x="18871" y="13824"/>
                  </a:lnTo>
                  <a:lnTo>
                    <a:pt x="18871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64796" y="88424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9439" y="0"/>
                  </a:moveTo>
                  <a:lnTo>
                    <a:pt x="14644" y="0"/>
                  </a:lnTo>
                  <a:lnTo>
                    <a:pt x="18871" y="3983"/>
                  </a:lnTo>
                  <a:lnTo>
                    <a:pt x="18871" y="8903"/>
                  </a:lnTo>
                  <a:lnTo>
                    <a:pt x="18871" y="13824"/>
                  </a:lnTo>
                  <a:lnTo>
                    <a:pt x="14644" y="17807"/>
                  </a:lnTo>
                  <a:lnTo>
                    <a:pt x="9439" y="17807"/>
                  </a:lnTo>
                  <a:lnTo>
                    <a:pt x="4227" y="17807"/>
                  </a:lnTo>
                  <a:lnTo>
                    <a:pt x="0" y="13824"/>
                  </a:lnTo>
                  <a:lnTo>
                    <a:pt x="0" y="8903"/>
                  </a:lnTo>
                  <a:lnTo>
                    <a:pt x="0" y="3983"/>
                  </a:lnTo>
                  <a:lnTo>
                    <a:pt x="4227" y="0"/>
                  </a:lnTo>
                  <a:lnTo>
                    <a:pt x="9439" y="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27059" y="88424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20" y="17807"/>
                  </a:lnTo>
                  <a:lnTo>
                    <a:pt x="14644" y="17807"/>
                  </a:lnTo>
                  <a:lnTo>
                    <a:pt x="18871" y="13824"/>
                  </a:lnTo>
                  <a:lnTo>
                    <a:pt x="18871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27059" y="646832"/>
              <a:ext cx="387350" cy="318135"/>
            </a:xfrm>
            <a:custGeom>
              <a:avLst/>
              <a:gdLst/>
              <a:ahLst/>
              <a:cxnLst/>
              <a:rect l="l" t="t" r="r" b="b"/>
              <a:pathLst>
                <a:path w="387350" h="318134">
                  <a:moveTo>
                    <a:pt x="9432" y="237408"/>
                  </a:moveTo>
                  <a:lnTo>
                    <a:pt x="14644" y="237408"/>
                  </a:lnTo>
                  <a:lnTo>
                    <a:pt x="18871" y="241392"/>
                  </a:lnTo>
                  <a:lnTo>
                    <a:pt x="18871" y="246312"/>
                  </a:lnTo>
                  <a:lnTo>
                    <a:pt x="18871" y="251232"/>
                  </a:lnTo>
                  <a:lnTo>
                    <a:pt x="14644" y="255216"/>
                  </a:lnTo>
                  <a:lnTo>
                    <a:pt x="9432" y="255216"/>
                  </a:lnTo>
                  <a:lnTo>
                    <a:pt x="4220" y="255216"/>
                  </a:lnTo>
                  <a:lnTo>
                    <a:pt x="0" y="251232"/>
                  </a:lnTo>
                  <a:lnTo>
                    <a:pt x="0" y="246312"/>
                  </a:lnTo>
                  <a:lnTo>
                    <a:pt x="0" y="241392"/>
                  </a:lnTo>
                  <a:lnTo>
                    <a:pt x="4220" y="237408"/>
                  </a:lnTo>
                  <a:lnTo>
                    <a:pt x="9432" y="237408"/>
                  </a:lnTo>
                  <a:close/>
                </a:path>
                <a:path w="387350" h="318134">
                  <a:moveTo>
                    <a:pt x="218620" y="0"/>
                  </a:moveTo>
                  <a:lnTo>
                    <a:pt x="218620" y="133590"/>
                  </a:lnTo>
                </a:path>
                <a:path w="387350" h="318134">
                  <a:moveTo>
                    <a:pt x="386822" y="158781"/>
                  </a:moveTo>
                  <a:lnTo>
                    <a:pt x="245300" y="158781"/>
                  </a:lnTo>
                </a:path>
                <a:path w="387350" h="318134">
                  <a:moveTo>
                    <a:pt x="207297" y="158781"/>
                  </a:moveTo>
                  <a:lnTo>
                    <a:pt x="207297" y="152874"/>
                  </a:lnTo>
                  <a:lnTo>
                    <a:pt x="212362" y="148092"/>
                  </a:lnTo>
                  <a:lnTo>
                    <a:pt x="218620" y="148092"/>
                  </a:lnTo>
                  <a:lnTo>
                    <a:pt x="224870" y="148092"/>
                  </a:lnTo>
                  <a:lnTo>
                    <a:pt x="229936" y="152874"/>
                  </a:lnTo>
                  <a:lnTo>
                    <a:pt x="229936" y="158781"/>
                  </a:lnTo>
                  <a:lnTo>
                    <a:pt x="229936" y="164681"/>
                  </a:lnTo>
                  <a:lnTo>
                    <a:pt x="224870" y="169469"/>
                  </a:lnTo>
                  <a:lnTo>
                    <a:pt x="218620" y="169469"/>
                  </a:lnTo>
                  <a:lnTo>
                    <a:pt x="212362" y="169469"/>
                  </a:lnTo>
                  <a:lnTo>
                    <a:pt x="207297" y="164681"/>
                  </a:lnTo>
                  <a:lnTo>
                    <a:pt x="207297" y="158781"/>
                  </a:lnTo>
                  <a:close/>
                </a:path>
                <a:path w="387350" h="318134">
                  <a:moveTo>
                    <a:pt x="218620" y="183972"/>
                  </a:moveTo>
                  <a:lnTo>
                    <a:pt x="218620" y="317556"/>
                  </a:lnTo>
                </a:path>
                <a:path w="387350" h="318134">
                  <a:moveTo>
                    <a:pt x="191933" y="158781"/>
                  </a:moveTo>
                  <a:lnTo>
                    <a:pt x="50411" y="158781"/>
                  </a:lnTo>
                </a:path>
              </a:pathLst>
            </a:custGeom>
            <a:ln w="4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28969" y="778895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7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27" y="17807"/>
                  </a:lnTo>
                  <a:lnTo>
                    <a:pt x="14644" y="17807"/>
                  </a:lnTo>
                  <a:lnTo>
                    <a:pt x="18871" y="13824"/>
                  </a:lnTo>
                  <a:lnTo>
                    <a:pt x="18871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28969" y="778895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83"/>
                  </a:lnTo>
                  <a:lnTo>
                    <a:pt x="4227" y="0"/>
                  </a:lnTo>
                  <a:lnTo>
                    <a:pt x="9439" y="0"/>
                  </a:lnTo>
                  <a:lnTo>
                    <a:pt x="14644" y="0"/>
                  </a:lnTo>
                  <a:lnTo>
                    <a:pt x="18871" y="3983"/>
                  </a:lnTo>
                  <a:lnTo>
                    <a:pt x="18871" y="8903"/>
                  </a:lnTo>
                  <a:lnTo>
                    <a:pt x="18871" y="13824"/>
                  </a:lnTo>
                  <a:lnTo>
                    <a:pt x="14644" y="17807"/>
                  </a:lnTo>
                  <a:lnTo>
                    <a:pt x="9439" y="17807"/>
                  </a:lnTo>
                  <a:lnTo>
                    <a:pt x="4227" y="17807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28969" y="814517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7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27" y="17814"/>
                  </a:lnTo>
                  <a:lnTo>
                    <a:pt x="14644" y="17814"/>
                  </a:lnTo>
                  <a:lnTo>
                    <a:pt x="18871" y="13824"/>
                  </a:lnTo>
                  <a:lnTo>
                    <a:pt x="18871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828969" y="814517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90"/>
                  </a:lnTo>
                  <a:lnTo>
                    <a:pt x="4227" y="0"/>
                  </a:lnTo>
                  <a:lnTo>
                    <a:pt x="9439" y="0"/>
                  </a:lnTo>
                  <a:lnTo>
                    <a:pt x="14644" y="0"/>
                  </a:lnTo>
                  <a:lnTo>
                    <a:pt x="18871" y="3990"/>
                  </a:lnTo>
                  <a:lnTo>
                    <a:pt x="18871" y="8903"/>
                  </a:lnTo>
                  <a:lnTo>
                    <a:pt x="18871" y="13824"/>
                  </a:lnTo>
                  <a:lnTo>
                    <a:pt x="14644" y="17814"/>
                  </a:lnTo>
                  <a:lnTo>
                    <a:pt x="9439" y="17814"/>
                  </a:lnTo>
                  <a:lnTo>
                    <a:pt x="4227" y="17814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55112" y="88424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20" y="17807"/>
                  </a:lnTo>
                  <a:lnTo>
                    <a:pt x="14644" y="17807"/>
                  </a:lnTo>
                  <a:lnTo>
                    <a:pt x="18871" y="13824"/>
                  </a:lnTo>
                  <a:lnTo>
                    <a:pt x="18871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55112" y="88424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9432" y="0"/>
                  </a:moveTo>
                  <a:lnTo>
                    <a:pt x="14644" y="0"/>
                  </a:lnTo>
                  <a:lnTo>
                    <a:pt x="18871" y="3983"/>
                  </a:lnTo>
                  <a:lnTo>
                    <a:pt x="18871" y="8903"/>
                  </a:lnTo>
                  <a:lnTo>
                    <a:pt x="18871" y="13824"/>
                  </a:lnTo>
                  <a:lnTo>
                    <a:pt x="14644" y="17807"/>
                  </a:lnTo>
                  <a:lnTo>
                    <a:pt x="9432" y="17807"/>
                  </a:lnTo>
                  <a:lnTo>
                    <a:pt x="4220" y="17807"/>
                  </a:lnTo>
                  <a:lnTo>
                    <a:pt x="0" y="13824"/>
                  </a:lnTo>
                  <a:lnTo>
                    <a:pt x="0" y="8903"/>
                  </a:lnTo>
                  <a:lnTo>
                    <a:pt x="0" y="3983"/>
                  </a:lnTo>
                  <a:lnTo>
                    <a:pt x="4220" y="0"/>
                  </a:lnTo>
                  <a:lnTo>
                    <a:pt x="9432" y="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17375" y="88424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20" y="17807"/>
                  </a:lnTo>
                  <a:lnTo>
                    <a:pt x="14644" y="17807"/>
                  </a:lnTo>
                  <a:lnTo>
                    <a:pt x="18865" y="13824"/>
                  </a:lnTo>
                  <a:lnTo>
                    <a:pt x="18865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17375" y="646832"/>
              <a:ext cx="387350" cy="318135"/>
            </a:xfrm>
            <a:custGeom>
              <a:avLst/>
              <a:gdLst/>
              <a:ahLst/>
              <a:cxnLst/>
              <a:rect l="l" t="t" r="r" b="b"/>
              <a:pathLst>
                <a:path w="387350" h="318134">
                  <a:moveTo>
                    <a:pt x="9432" y="237408"/>
                  </a:moveTo>
                  <a:lnTo>
                    <a:pt x="14644" y="237408"/>
                  </a:lnTo>
                  <a:lnTo>
                    <a:pt x="18865" y="241392"/>
                  </a:lnTo>
                  <a:lnTo>
                    <a:pt x="18865" y="246312"/>
                  </a:lnTo>
                  <a:lnTo>
                    <a:pt x="18865" y="251232"/>
                  </a:lnTo>
                  <a:lnTo>
                    <a:pt x="14644" y="255216"/>
                  </a:lnTo>
                  <a:lnTo>
                    <a:pt x="9432" y="255216"/>
                  </a:lnTo>
                  <a:lnTo>
                    <a:pt x="4220" y="255216"/>
                  </a:lnTo>
                  <a:lnTo>
                    <a:pt x="0" y="251232"/>
                  </a:lnTo>
                  <a:lnTo>
                    <a:pt x="0" y="246312"/>
                  </a:lnTo>
                  <a:lnTo>
                    <a:pt x="0" y="241392"/>
                  </a:lnTo>
                  <a:lnTo>
                    <a:pt x="4220" y="237408"/>
                  </a:lnTo>
                  <a:lnTo>
                    <a:pt x="9432" y="237408"/>
                  </a:lnTo>
                  <a:close/>
                </a:path>
                <a:path w="387350" h="318134">
                  <a:moveTo>
                    <a:pt x="218879" y="0"/>
                  </a:moveTo>
                  <a:lnTo>
                    <a:pt x="218879" y="133590"/>
                  </a:lnTo>
                </a:path>
                <a:path w="387350" h="318134">
                  <a:moveTo>
                    <a:pt x="387095" y="158781"/>
                  </a:moveTo>
                  <a:lnTo>
                    <a:pt x="245566" y="158781"/>
                  </a:lnTo>
                </a:path>
                <a:path w="387350" h="318134">
                  <a:moveTo>
                    <a:pt x="207563" y="158781"/>
                  </a:moveTo>
                  <a:lnTo>
                    <a:pt x="207563" y="152874"/>
                  </a:lnTo>
                  <a:lnTo>
                    <a:pt x="212629" y="148092"/>
                  </a:lnTo>
                  <a:lnTo>
                    <a:pt x="218879" y="148092"/>
                  </a:lnTo>
                  <a:lnTo>
                    <a:pt x="225137" y="148092"/>
                  </a:lnTo>
                  <a:lnTo>
                    <a:pt x="230202" y="152874"/>
                  </a:lnTo>
                  <a:lnTo>
                    <a:pt x="230202" y="158781"/>
                  </a:lnTo>
                  <a:lnTo>
                    <a:pt x="230202" y="164681"/>
                  </a:lnTo>
                  <a:lnTo>
                    <a:pt x="225137" y="169469"/>
                  </a:lnTo>
                  <a:lnTo>
                    <a:pt x="218879" y="169469"/>
                  </a:lnTo>
                  <a:lnTo>
                    <a:pt x="212629" y="169469"/>
                  </a:lnTo>
                  <a:lnTo>
                    <a:pt x="207563" y="164681"/>
                  </a:lnTo>
                  <a:lnTo>
                    <a:pt x="207563" y="158781"/>
                  </a:lnTo>
                  <a:close/>
                </a:path>
                <a:path w="387350" h="318134">
                  <a:moveTo>
                    <a:pt x="218879" y="183972"/>
                  </a:moveTo>
                  <a:lnTo>
                    <a:pt x="218879" y="317556"/>
                  </a:lnTo>
                </a:path>
                <a:path w="387350" h="318134">
                  <a:moveTo>
                    <a:pt x="192199" y="158781"/>
                  </a:moveTo>
                  <a:lnTo>
                    <a:pt x="50677" y="158781"/>
                  </a:lnTo>
                </a:path>
              </a:pathLst>
            </a:custGeom>
            <a:ln w="4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019531" y="778895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60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60" y="17807"/>
                  </a:lnTo>
                  <a:lnTo>
                    <a:pt x="14644" y="17807"/>
                  </a:lnTo>
                  <a:lnTo>
                    <a:pt x="18905" y="13824"/>
                  </a:lnTo>
                  <a:lnTo>
                    <a:pt x="18905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019531" y="778895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83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83"/>
                  </a:lnTo>
                  <a:lnTo>
                    <a:pt x="18905" y="8903"/>
                  </a:lnTo>
                  <a:lnTo>
                    <a:pt x="18905" y="13824"/>
                  </a:lnTo>
                  <a:lnTo>
                    <a:pt x="14644" y="17807"/>
                  </a:lnTo>
                  <a:lnTo>
                    <a:pt x="9452" y="17807"/>
                  </a:lnTo>
                  <a:lnTo>
                    <a:pt x="4260" y="17807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019531" y="814517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6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60" y="17814"/>
                  </a:lnTo>
                  <a:lnTo>
                    <a:pt x="14644" y="17814"/>
                  </a:lnTo>
                  <a:lnTo>
                    <a:pt x="18905" y="13824"/>
                  </a:lnTo>
                  <a:lnTo>
                    <a:pt x="18905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019531" y="814517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90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90"/>
                  </a:lnTo>
                  <a:lnTo>
                    <a:pt x="18905" y="8903"/>
                  </a:lnTo>
                  <a:lnTo>
                    <a:pt x="18905" y="13824"/>
                  </a:lnTo>
                  <a:lnTo>
                    <a:pt x="14644" y="17814"/>
                  </a:lnTo>
                  <a:lnTo>
                    <a:pt x="9452" y="17814"/>
                  </a:lnTo>
                  <a:lnTo>
                    <a:pt x="4260" y="17814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945694" y="88424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0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20" y="17807"/>
                  </a:lnTo>
                  <a:lnTo>
                    <a:pt x="14644" y="17807"/>
                  </a:lnTo>
                  <a:lnTo>
                    <a:pt x="18865" y="13824"/>
                  </a:lnTo>
                  <a:lnTo>
                    <a:pt x="18865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945694" y="88424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9432" y="0"/>
                  </a:moveTo>
                  <a:lnTo>
                    <a:pt x="14644" y="0"/>
                  </a:lnTo>
                  <a:lnTo>
                    <a:pt x="18865" y="3983"/>
                  </a:lnTo>
                  <a:lnTo>
                    <a:pt x="18865" y="8903"/>
                  </a:lnTo>
                  <a:lnTo>
                    <a:pt x="18865" y="13824"/>
                  </a:lnTo>
                  <a:lnTo>
                    <a:pt x="14644" y="17807"/>
                  </a:lnTo>
                  <a:lnTo>
                    <a:pt x="9432" y="17807"/>
                  </a:lnTo>
                  <a:lnTo>
                    <a:pt x="4220" y="17807"/>
                  </a:lnTo>
                  <a:lnTo>
                    <a:pt x="0" y="13824"/>
                  </a:lnTo>
                  <a:lnTo>
                    <a:pt x="0" y="8903"/>
                  </a:lnTo>
                  <a:lnTo>
                    <a:pt x="0" y="3983"/>
                  </a:lnTo>
                  <a:lnTo>
                    <a:pt x="4220" y="0"/>
                  </a:lnTo>
                  <a:lnTo>
                    <a:pt x="9432" y="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907951" y="88424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51" y="0"/>
                  </a:moveTo>
                  <a:lnTo>
                    <a:pt x="4227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27" y="17807"/>
                  </a:lnTo>
                  <a:lnTo>
                    <a:pt x="14651" y="17807"/>
                  </a:lnTo>
                  <a:lnTo>
                    <a:pt x="18871" y="13824"/>
                  </a:lnTo>
                  <a:lnTo>
                    <a:pt x="18871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907951" y="88424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9439" y="0"/>
                  </a:moveTo>
                  <a:lnTo>
                    <a:pt x="14651" y="0"/>
                  </a:lnTo>
                  <a:lnTo>
                    <a:pt x="18871" y="3983"/>
                  </a:lnTo>
                  <a:lnTo>
                    <a:pt x="18871" y="8903"/>
                  </a:lnTo>
                  <a:lnTo>
                    <a:pt x="18871" y="13824"/>
                  </a:lnTo>
                  <a:lnTo>
                    <a:pt x="14651" y="17807"/>
                  </a:lnTo>
                  <a:lnTo>
                    <a:pt x="9439" y="17807"/>
                  </a:lnTo>
                  <a:lnTo>
                    <a:pt x="4227" y="17807"/>
                  </a:lnTo>
                  <a:lnTo>
                    <a:pt x="0" y="13824"/>
                  </a:lnTo>
                  <a:lnTo>
                    <a:pt x="0" y="8903"/>
                  </a:lnTo>
                  <a:lnTo>
                    <a:pt x="0" y="3983"/>
                  </a:lnTo>
                  <a:lnTo>
                    <a:pt x="4227" y="0"/>
                  </a:lnTo>
                  <a:lnTo>
                    <a:pt x="9439" y="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800664" y="550900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27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27" y="17814"/>
                  </a:lnTo>
                  <a:lnTo>
                    <a:pt x="14644" y="17814"/>
                  </a:lnTo>
                  <a:lnTo>
                    <a:pt x="18871" y="13824"/>
                  </a:lnTo>
                  <a:lnTo>
                    <a:pt x="18871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800664" y="279918"/>
              <a:ext cx="930910" cy="318135"/>
            </a:xfrm>
            <a:custGeom>
              <a:avLst/>
              <a:gdLst/>
              <a:ahLst/>
              <a:cxnLst/>
              <a:rect l="l" t="t" r="r" b="b"/>
              <a:pathLst>
                <a:path w="930910" h="318134">
                  <a:moveTo>
                    <a:pt x="0" y="279892"/>
                  </a:moveTo>
                  <a:lnTo>
                    <a:pt x="0" y="274972"/>
                  </a:lnTo>
                  <a:lnTo>
                    <a:pt x="4227" y="270982"/>
                  </a:lnTo>
                  <a:lnTo>
                    <a:pt x="9439" y="270982"/>
                  </a:lnTo>
                  <a:lnTo>
                    <a:pt x="14644" y="270982"/>
                  </a:lnTo>
                  <a:lnTo>
                    <a:pt x="18871" y="274972"/>
                  </a:lnTo>
                  <a:lnTo>
                    <a:pt x="18871" y="279892"/>
                  </a:lnTo>
                  <a:lnTo>
                    <a:pt x="18871" y="284806"/>
                  </a:lnTo>
                  <a:lnTo>
                    <a:pt x="14644" y="288796"/>
                  </a:lnTo>
                  <a:lnTo>
                    <a:pt x="9439" y="288796"/>
                  </a:lnTo>
                  <a:lnTo>
                    <a:pt x="4227" y="288796"/>
                  </a:lnTo>
                  <a:lnTo>
                    <a:pt x="0" y="284806"/>
                  </a:lnTo>
                  <a:lnTo>
                    <a:pt x="0" y="279892"/>
                  </a:lnTo>
                  <a:close/>
                </a:path>
                <a:path w="930910" h="318134">
                  <a:moveTo>
                    <a:pt x="358524" y="279892"/>
                  </a:moveTo>
                  <a:lnTo>
                    <a:pt x="28304" y="279892"/>
                  </a:lnTo>
                </a:path>
                <a:path w="930910" h="318134">
                  <a:moveTo>
                    <a:pt x="42682" y="266319"/>
                  </a:moveTo>
                  <a:lnTo>
                    <a:pt x="28304" y="279892"/>
                  </a:lnTo>
                  <a:lnTo>
                    <a:pt x="42682" y="293464"/>
                  </a:lnTo>
                </a:path>
                <a:path w="930910" h="318134">
                  <a:moveTo>
                    <a:pt x="762588" y="0"/>
                  </a:moveTo>
                  <a:lnTo>
                    <a:pt x="762588" y="133590"/>
                  </a:lnTo>
                </a:path>
                <a:path w="930910" h="318134">
                  <a:moveTo>
                    <a:pt x="930803" y="158768"/>
                  </a:moveTo>
                  <a:lnTo>
                    <a:pt x="789281" y="158768"/>
                  </a:lnTo>
                </a:path>
                <a:path w="930910" h="318134">
                  <a:moveTo>
                    <a:pt x="751271" y="158768"/>
                  </a:moveTo>
                  <a:lnTo>
                    <a:pt x="751271" y="152868"/>
                  </a:lnTo>
                  <a:lnTo>
                    <a:pt x="756330" y="148080"/>
                  </a:lnTo>
                  <a:lnTo>
                    <a:pt x="762588" y="148080"/>
                  </a:lnTo>
                  <a:lnTo>
                    <a:pt x="768845" y="148080"/>
                  </a:lnTo>
                  <a:lnTo>
                    <a:pt x="773904" y="152868"/>
                  </a:lnTo>
                  <a:lnTo>
                    <a:pt x="773904" y="158768"/>
                  </a:lnTo>
                  <a:lnTo>
                    <a:pt x="773904" y="164669"/>
                  </a:lnTo>
                  <a:lnTo>
                    <a:pt x="768845" y="169457"/>
                  </a:lnTo>
                  <a:lnTo>
                    <a:pt x="762588" y="169457"/>
                  </a:lnTo>
                  <a:lnTo>
                    <a:pt x="756330" y="169457"/>
                  </a:lnTo>
                  <a:lnTo>
                    <a:pt x="751271" y="164669"/>
                  </a:lnTo>
                  <a:lnTo>
                    <a:pt x="751271" y="158768"/>
                  </a:lnTo>
                  <a:close/>
                </a:path>
                <a:path w="930910" h="318134">
                  <a:moveTo>
                    <a:pt x="762588" y="183959"/>
                  </a:moveTo>
                  <a:lnTo>
                    <a:pt x="762588" y="317550"/>
                  </a:lnTo>
                </a:path>
                <a:path w="930910" h="318134">
                  <a:moveTo>
                    <a:pt x="735894" y="158768"/>
                  </a:moveTo>
                  <a:lnTo>
                    <a:pt x="594372" y="158768"/>
                  </a:lnTo>
                </a:path>
              </a:pathLst>
            </a:custGeom>
            <a:ln w="4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456412" y="412000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14644" y="0"/>
                  </a:moveTo>
                  <a:lnTo>
                    <a:pt x="4193" y="0"/>
                  </a:lnTo>
                  <a:lnTo>
                    <a:pt x="0" y="3958"/>
                  </a:lnTo>
                  <a:lnTo>
                    <a:pt x="0" y="13792"/>
                  </a:lnTo>
                  <a:lnTo>
                    <a:pt x="4193" y="17782"/>
                  </a:lnTo>
                  <a:lnTo>
                    <a:pt x="14644" y="17782"/>
                  </a:lnTo>
                  <a:lnTo>
                    <a:pt x="18838" y="13792"/>
                  </a:lnTo>
                  <a:lnTo>
                    <a:pt x="18838" y="39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456412" y="412000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0" y="8859"/>
                  </a:moveTo>
                  <a:lnTo>
                    <a:pt x="0" y="3958"/>
                  </a:lnTo>
                  <a:lnTo>
                    <a:pt x="4193" y="0"/>
                  </a:lnTo>
                  <a:lnTo>
                    <a:pt x="9385" y="0"/>
                  </a:lnTo>
                  <a:lnTo>
                    <a:pt x="14644" y="0"/>
                  </a:lnTo>
                  <a:lnTo>
                    <a:pt x="18838" y="3958"/>
                  </a:lnTo>
                  <a:lnTo>
                    <a:pt x="18838" y="8859"/>
                  </a:lnTo>
                  <a:lnTo>
                    <a:pt x="18838" y="13792"/>
                  </a:lnTo>
                  <a:lnTo>
                    <a:pt x="14644" y="17782"/>
                  </a:lnTo>
                  <a:lnTo>
                    <a:pt x="9385" y="17782"/>
                  </a:lnTo>
                  <a:lnTo>
                    <a:pt x="4193" y="17782"/>
                  </a:lnTo>
                  <a:lnTo>
                    <a:pt x="0" y="13792"/>
                  </a:lnTo>
                  <a:lnTo>
                    <a:pt x="0" y="8859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456412" y="447590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193" y="17814"/>
                  </a:lnTo>
                  <a:lnTo>
                    <a:pt x="14644" y="17814"/>
                  </a:lnTo>
                  <a:lnTo>
                    <a:pt x="18838" y="13824"/>
                  </a:lnTo>
                  <a:lnTo>
                    <a:pt x="18838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456412" y="447590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10"/>
                  </a:moveTo>
                  <a:lnTo>
                    <a:pt x="0" y="3990"/>
                  </a:lnTo>
                  <a:lnTo>
                    <a:pt x="4193" y="0"/>
                  </a:lnTo>
                  <a:lnTo>
                    <a:pt x="9385" y="0"/>
                  </a:lnTo>
                  <a:lnTo>
                    <a:pt x="14644" y="0"/>
                  </a:lnTo>
                  <a:lnTo>
                    <a:pt x="18838" y="3990"/>
                  </a:lnTo>
                  <a:lnTo>
                    <a:pt x="18838" y="8910"/>
                  </a:lnTo>
                  <a:lnTo>
                    <a:pt x="18838" y="13824"/>
                  </a:lnTo>
                  <a:lnTo>
                    <a:pt x="14644" y="17814"/>
                  </a:lnTo>
                  <a:lnTo>
                    <a:pt x="9385" y="17814"/>
                  </a:lnTo>
                  <a:lnTo>
                    <a:pt x="4193" y="17814"/>
                  </a:lnTo>
                  <a:lnTo>
                    <a:pt x="0" y="13824"/>
                  </a:lnTo>
                  <a:lnTo>
                    <a:pt x="0" y="8910"/>
                  </a:lnTo>
                  <a:close/>
                </a:path>
              </a:pathLst>
            </a:custGeom>
            <a:ln w="4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646528" y="412000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14644" y="0"/>
                  </a:moveTo>
                  <a:lnTo>
                    <a:pt x="4260" y="0"/>
                  </a:lnTo>
                  <a:lnTo>
                    <a:pt x="0" y="3958"/>
                  </a:lnTo>
                  <a:lnTo>
                    <a:pt x="0" y="13792"/>
                  </a:lnTo>
                  <a:lnTo>
                    <a:pt x="4260" y="17782"/>
                  </a:lnTo>
                  <a:lnTo>
                    <a:pt x="14644" y="17782"/>
                  </a:lnTo>
                  <a:lnTo>
                    <a:pt x="18905" y="13792"/>
                  </a:lnTo>
                  <a:lnTo>
                    <a:pt x="18905" y="39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646528" y="412000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0" y="8859"/>
                  </a:moveTo>
                  <a:lnTo>
                    <a:pt x="0" y="3958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58"/>
                  </a:lnTo>
                  <a:lnTo>
                    <a:pt x="18905" y="8859"/>
                  </a:lnTo>
                  <a:lnTo>
                    <a:pt x="18905" y="13792"/>
                  </a:lnTo>
                  <a:lnTo>
                    <a:pt x="14644" y="17782"/>
                  </a:lnTo>
                  <a:lnTo>
                    <a:pt x="9452" y="17782"/>
                  </a:lnTo>
                  <a:lnTo>
                    <a:pt x="4260" y="17782"/>
                  </a:lnTo>
                  <a:lnTo>
                    <a:pt x="0" y="13792"/>
                  </a:lnTo>
                  <a:lnTo>
                    <a:pt x="0" y="8859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646528" y="447590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6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60" y="17814"/>
                  </a:lnTo>
                  <a:lnTo>
                    <a:pt x="14644" y="17814"/>
                  </a:lnTo>
                  <a:lnTo>
                    <a:pt x="18905" y="13824"/>
                  </a:lnTo>
                  <a:lnTo>
                    <a:pt x="18905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646528" y="447590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10"/>
                  </a:moveTo>
                  <a:lnTo>
                    <a:pt x="0" y="3990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90"/>
                  </a:lnTo>
                  <a:lnTo>
                    <a:pt x="18905" y="8910"/>
                  </a:lnTo>
                  <a:lnTo>
                    <a:pt x="18905" y="13824"/>
                  </a:lnTo>
                  <a:lnTo>
                    <a:pt x="14644" y="17814"/>
                  </a:lnTo>
                  <a:lnTo>
                    <a:pt x="9452" y="17814"/>
                  </a:lnTo>
                  <a:lnTo>
                    <a:pt x="4260" y="17814"/>
                  </a:lnTo>
                  <a:lnTo>
                    <a:pt x="0" y="13824"/>
                  </a:lnTo>
                  <a:lnTo>
                    <a:pt x="0" y="891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572705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14644" y="0"/>
                  </a:moveTo>
                  <a:lnTo>
                    <a:pt x="4193" y="0"/>
                  </a:lnTo>
                  <a:lnTo>
                    <a:pt x="0" y="4021"/>
                  </a:lnTo>
                  <a:lnTo>
                    <a:pt x="0" y="13824"/>
                  </a:lnTo>
                  <a:lnTo>
                    <a:pt x="4193" y="17845"/>
                  </a:lnTo>
                  <a:lnTo>
                    <a:pt x="14644" y="17845"/>
                  </a:lnTo>
                  <a:lnTo>
                    <a:pt x="18838" y="13824"/>
                  </a:lnTo>
                  <a:lnTo>
                    <a:pt x="18838" y="40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572705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9452" y="0"/>
                  </a:moveTo>
                  <a:lnTo>
                    <a:pt x="14644" y="0"/>
                  </a:lnTo>
                  <a:lnTo>
                    <a:pt x="18838" y="4021"/>
                  </a:lnTo>
                  <a:lnTo>
                    <a:pt x="18838" y="8922"/>
                  </a:lnTo>
                  <a:lnTo>
                    <a:pt x="18838" y="13824"/>
                  </a:lnTo>
                  <a:lnTo>
                    <a:pt x="14644" y="17845"/>
                  </a:lnTo>
                  <a:lnTo>
                    <a:pt x="9452" y="17845"/>
                  </a:lnTo>
                  <a:lnTo>
                    <a:pt x="4193" y="17845"/>
                  </a:lnTo>
                  <a:lnTo>
                    <a:pt x="0" y="13824"/>
                  </a:lnTo>
                  <a:lnTo>
                    <a:pt x="0" y="8922"/>
                  </a:lnTo>
                  <a:lnTo>
                    <a:pt x="0" y="4021"/>
                  </a:lnTo>
                  <a:lnTo>
                    <a:pt x="4193" y="0"/>
                  </a:lnTo>
                  <a:lnTo>
                    <a:pt x="9452" y="0"/>
                  </a:lnTo>
                  <a:close/>
                </a:path>
              </a:pathLst>
            </a:custGeom>
            <a:ln w="4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534961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14644" y="0"/>
                  </a:moveTo>
                  <a:lnTo>
                    <a:pt x="4193" y="0"/>
                  </a:lnTo>
                  <a:lnTo>
                    <a:pt x="0" y="4021"/>
                  </a:lnTo>
                  <a:lnTo>
                    <a:pt x="0" y="13824"/>
                  </a:lnTo>
                  <a:lnTo>
                    <a:pt x="4193" y="17845"/>
                  </a:lnTo>
                  <a:lnTo>
                    <a:pt x="14644" y="17845"/>
                  </a:lnTo>
                  <a:lnTo>
                    <a:pt x="18838" y="13824"/>
                  </a:lnTo>
                  <a:lnTo>
                    <a:pt x="18838" y="40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534961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9452" y="0"/>
                  </a:moveTo>
                  <a:lnTo>
                    <a:pt x="14644" y="0"/>
                  </a:lnTo>
                  <a:lnTo>
                    <a:pt x="18838" y="4021"/>
                  </a:lnTo>
                  <a:lnTo>
                    <a:pt x="18838" y="8922"/>
                  </a:lnTo>
                  <a:lnTo>
                    <a:pt x="18838" y="13824"/>
                  </a:lnTo>
                  <a:lnTo>
                    <a:pt x="14644" y="17845"/>
                  </a:lnTo>
                  <a:lnTo>
                    <a:pt x="9452" y="17845"/>
                  </a:lnTo>
                  <a:lnTo>
                    <a:pt x="4193" y="17845"/>
                  </a:lnTo>
                  <a:lnTo>
                    <a:pt x="0" y="13824"/>
                  </a:lnTo>
                  <a:lnTo>
                    <a:pt x="0" y="8922"/>
                  </a:lnTo>
                  <a:lnTo>
                    <a:pt x="0" y="4021"/>
                  </a:lnTo>
                  <a:lnTo>
                    <a:pt x="4193" y="0"/>
                  </a:lnTo>
                  <a:lnTo>
                    <a:pt x="9452" y="0"/>
                  </a:lnTo>
                  <a:close/>
                </a:path>
              </a:pathLst>
            </a:custGeom>
            <a:ln w="4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572705" y="517314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193" y="17807"/>
                  </a:lnTo>
                  <a:lnTo>
                    <a:pt x="14644" y="17807"/>
                  </a:lnTo>
                  <a:lnTo>
                    <a:pt x="18838" y="13824"/>
                  </a:lnTo>
                  <a:lnTo>
                    <a:pt x="18838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572705" y="517314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9452" y="0"/>
                  </a:moveTo>
                  <a:lnTo>
                    <a:pt x="14644" y="0"/>
                  </a:lnTo>
                  <a:lnTo>
                    <a:pt x="18838" y="3983"/>
                  </a:lnTo>
                  <a:lnTo>
                    <a:pt x="18838" y="8903"/>
                  </a:lnTo>
                  <a:lnTo>
                    <a:pt x="18838" y="13824"/>
                  </a:lnTo>
                  <a:lnTo>
                    <a:pt x="14644" y="17807"/>
                  </a:lnTo>
                  <a:lnTo>
                    <a:pt x="9452" y="17807"/>
                  </a:lnTo>
                  <a:lnTo>
                    <a:pt x="4193" y="17807"/>
                  </a:lnTo>
                  <a:lnTo>
                    <a:pt x="0" y="13824"/>
                  </a:lnTo>
                  <a:lnTo>
                    <a:pt x="0" y="8903"/>
                  </a:lnTo>
                  <a:lnTo>
                    <a:pt x="0" y="3983"/>
                  </a:lnTo>
                  <a:lnTo>
                    <a:pt x="4193" y="0"/>
                  </a:lnTo>
                  <a:lnTo>
                    <a:pt x="9452" y="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534961" y="517314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193" y="17807"/>
                  </a:lnTo>
                  <a:lnTo>
                    <a:pt x="14644" y="17807"/>
                  </a:lnTo>
                  <a:lnTo>
                    <a:pt x="18838" y="13824"/>
                  </a:lnTo>
                  <a:lnTo>
                    <a:pt x="18838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534961" y="279918"/>
              <a:ext cx="387350" cy="318135"/>
            </a:xfrm>
            <a:custGeom>
              <a:avLst/>
              <a:gdLst/>
              <a:ahLst/>
              <a:cxnLst/>
              <a:rect l="l" t="t" r="r" b="b"/>
              <a:pathLst>
                <a:path w="387350" h="318134">
                  <a:moveTo>
                    <a:pt x="9452" y="237395"/>
                  </a:moveTo>
                  <a:lnTo>
                    <a:pt x="14644" y="237395"/>
                  </a:lnTo>
                  <a:lnTo>
                    <a:pt x="18838" y="241379"/>
                  </a:lnTo>
                  <a:lnTo>
                    <a:pt x="18838" y="246299"/>
                  </a:lnTo>
                  <a:lnTo>
                    <a:pt x="18838" y="251219"/>
                  </a:lnTo>
                  <a:lnTo>
                    <a:pt x="14644" y="255203"/>
                  </a:lnTo>
                  <a:lnTo>
                    <a:pt x="9452" y="255203"/>
                  </a:lnTo>
                  <a:lnTo>
                    <a:pt x="4193" y="255203"/>
                  </a:lnTo>
                  <a:lnTo>
                    <a:pt x="0" y="251219"/>
                  </a:lnTo>
                  <a:lnTo>
                    <a:pt x="0" y="246299"/>
                  </a:lnTo>
                  <a:lnTo>
                    <a:pt x="0" y="241379"/>
                  </a:lnTo>
                  <a:lnTo>
                    <a:pt x="4193" y="237395"/>
                  </a:lnTo>
                  <a:lnTo>
                    <a:pt x="9452" y="237395"/>
                  </a:lnTo>
                  <a:close/>
                </a:path>
                <a:path w="387350" h="318134">
                  <a:moveTo>
                    <a:pt x="218606" y="0"/>
                  </a:moveTo>
                  <a:lnTo>
                    <a:pt x="218606" y="133590"/>
                  </a:lnTo>
                </a:path>
                <a:path w="387350" h="318134">
                  <a:moveTo>
                    <a:pt x="386822" y="158768"/>
                  </a:moveTo>
                  <a:lnTo>
                    <a:pt x="245300" y="158768"/>
                  </a:lnTo>
                </a:path>
                <a:path w="387350" h="318134">
                  <a:moveTo>
                    <a:pt x="207290" y="158768"/>
                  </a:moveTo>
                  <a:lnTo>
                    <a:pt x="207290" y="152868"/>
                  </a:lnTo>
                  <a:lnTo>
                    <a:pt x="212349" y="148080"/>
                  </a:lnTo>
                  <a:lnTo>
                    <a:pt x="218606" y="148080"/>
                  </a:lnTo>
                  <a:lnTo>
                    <a:pt x="224864" y="148080"/>
                  </a:lnTo>
                  <a:lnTo>
                    <a:pt x="229923" y="152868"/>
                  </a:lnTo>
                  <a:lnTo>
                    <a:pt x="229923" y="158768"/>
                  </a:lnTo>
                  <a:lnTo>
                    <a:pt x="229923" y="164669"/>
                  </a:lnTo>
                  <a:lnTo>
                    <a:pt x="224864" y="169457"/>
                  </a:lnTo>
                  <a:lnTo>
                    <a:pt x="218606" y="169457"/>
                  </a:lnTo>
                  <a:lnTo>
                    <a:pt x="212349" y="169457"/>
                  </a:lnTo>
                  <a:lnTo>
                    <a:pt x="207290" y="164669"/>
                  </a:lnTo>
                  <a:lnTo>
                    <a:pt x="207290" y="158768"/>
                  </a:lnTo>
                  <a:close/>
                </a:path>
                <a:path w="387350" h="318134">
                  <a:moveTo>
                    <a:pt x="218606" y="183959"/>
                  </a:moveTo>
                  <a:lnTo>
                    <a:pt x="218606" y="317550"/>
                  </a:lnTo>
                </a:path>
                <a:path w="387350" h="318134">
                  <a:moveTo>
                    <a:pt x="191913" y="158768"/>
                  </a:moveTo>
                  <a:lnTo>
                    <a:pt x="50391" y="158768"/>
                  </a:lnTo>
                </a:path>
              </a:pathLst>
            </a:custGeom>
            <a:ln w="4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1836844" y="412000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14644" y="0"/>
                  </a:moveTo>
                  <a:lnTo>
                    <a:pt x="4260" y="0"/>
                  </a:lnTo>
                  <a:lnTo>
                    <a:pt x="0" y="3958"/>
                  </a:lnTo>
                  <a:lnTo>
                    <a:pt x="0" y="13792"/>
                  </a:lnTo>
                  <a:lnTo>
                    <a:pt x="4260" y="17782"/>
                  </a:lnTo>
                  <a:lnTo>
                    <a:pt x="14644" y="17782"/>
                  </a:lnTo>
                  <a:lnTo>
                    <a:pt x="18905" y="13792"/>
                  </a:lnTo>
                  <a:lnTo>
                    <a:pt x="18905" y="39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1836844" y="412000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0" y="8859"/>
                  </a:moveTo>
                  <a:lnTo>
                    <a:pt x="0" y="3958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58"/>
                  </a:lnTo>
                  <a:lnTo>
                    <a:pt x="18905" y="8859"/>
                  </a:lnTo>
                  <a:lnTo>
                    <a:pt x="18905" y="13792"/>
                  </a:lnTo>
                  <a:lnTo>
                    <a:pt x="14644" y="17782"/>
                  </a:lnTo>
                  <a:lnTo>
                    <a:pt x="9452" y="17782"/>
                  </a:lnTo>
                  <a:lnTo>
                    <a:pt x="4260" y="17782"/>
                  </a:lnTo>
                  <a:lnTo>
                    <a:pt x="0" y="13792"/>
                  </a:lnTo>
                  <a:lnTo>
                    <a:pt x="0" y="8859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1836844" y="447590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6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60" y="17814"/>
                  </a:lnTo>
                  <a:lnTo>
                    <a:pt x="14644" y="17814"/>
                  </a:lnTo>
                  <a:lnTo>
                    <a:pt x="18905" y="13824"/>
                  </a:lnTo>
                  <a:lnTo>
                    <a:pt x="18905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836844" y="447590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10"/>
                  </a:moveTo>
                  <a:lnTo>
                    <a:pt x="0" y="3990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90"/>
                  </a:lnTo>
                  <a:lnTo>
                    <a:pt x="18905" y="8910"/>
                  </a:lnTo>
                  <a:lnTo>
                    <a:pt x="18905" y="13824"/>
                  </a:lnTo>
                  <a:lnTo>
                    <a:pt x="14644" y="17814"/>
                  </a:lnTo>
                  <a:lnTo>
                    <a:pt x="9452" y="17814"/>
                  </a:lnTo>
                  <a:lnTo>
                    <a:pt x="4260" y="17814"/>
                  </a:lnTo>
                  <a:lnTo>
                    <a:pt x="0" y="13824"/>
                  </a:lnTo>
                  <a:lnTo>
                    <a:pt x="0" y="891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763021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14644" y="0"/>
                  </a:moveTo>
                  <a:lnTo>
                    <a:pt x="4193" y="0"/>
                  </a:lnTo>
                  <a:lnTo>
                    <a:pt x="0" y="4021"/>
                  </a:lnTo>
                  <a:lnTo>
                    <a:pt x="0" y="13824"/>
                  </a:lnTo>
                  <a:lnTo>
                    <a:pt x="4193" y="17845"/>
                  </a:lnTo>
                  <a:lnTo>
                    <a:pt x="14644" y="17845"/>
                  </a:lnTo>
                  <a:lnTo>
                    <a:pt x="18838" y="13824"/>
                  </a:lnTo>
                  <a:lnTo>
                    <a:pt x="18838" y="40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1763021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9452" y="0"/>
                  </a:moveTo>
                  <a:lnTo>
                    <a:pt x="14644" y="0"/>
                  </a:lnTo>
                  <a:lnTo>
                    <a:pt x="18838" y="4021"/>
                  </a:lnTo>
                  <a:lnTo>
                    <a:pt x="18838" y="8922"/>
                  </a:lnTo>
                  <a:lnTo>
                    <a:pt x="18838" y="13824"/>
                  </a:lnTo>
                  <a:lnTo>
                    <a:pt x="14644" y="17845"/>
                  </a:lnTo>
                  <a:lnTo>
                    <a:pt x="9452" y="17845"/>
                  </a:lnTo>
                  <a:lnTo>
                    <a:pt x="4193" y="17845"/>
                  </a:lnTo>
                  <a:lnTo>
                    <a:pt x="0" y="13824"/>
                  </a:lnTo>
                  <a:lnTo>
                    <a:pt x="0" y="8922"/>
                  </a:lnTo>
                  <a:lnTo>
                    <a:pt x="0" y="4021"/>
                  </a:lnTo>
                  <a:lnTo>
                    <a:pt x="4193" y="0"/>
                  </a:lnTo>
                  <a:lnTo>
                    <a:pt x="9452" y="0"/>
                  </a:lnTo>
                  <a:close/>
                </a:path>
              </a:pathLst>
            </a:custGeom>
            <a:ln w="4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725277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14644" y="0"/>
                  </a:moveTo>
                  <a:lnTo>
                    <a:pt x="4193" y="0"/>
                  </a:lnTo>
                  <a:lnTo>
                    <a:pt x="0" y="4021"/>
                  </a:lnTo>
                  <a:lnTo>
                    <a:pt x="0" y="13824"/>
                  </a:lnTo>
                  <a:lnTo>
                    <a:pt x="4193" y="17845"/>
                  </a:lnTo>
                  <a:lnTo>
                    <a:pt x="14644" y="17845"/>
                  </a:lnTo>
                  <a:lnTo>
                    <a:pt x="18838" y="13824"/>
                  </a:lnTo>
                  <a:lnTo>
                    <a:pt x="18838" y="40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725277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9452" y="0"/>
                  </a:moveTo>
                  <a:lnTo>
                    <a:pt x="14644" y="0"/>
                  </a:lnTo>
                  <a:lnTo>
                    <a:pt x="18838" y="4021"/>
                  </a:lnTo>
                  <a:lnTo>
                    <a:pt x="18838" y="8922"/>
                  </a:lnTo>
                  <a:lnTo>
                    <a:pt x="18838" y="13824"/>
                  </a:lnTo>
                  <a:lnTo>
                    <a:pt x="14644" y="17845"/>
                  </a:lnTo>
                  <a:lnTo>
                    <a:pt x="9452" y="17845"/>
                  </a:lnTo>
                  <a:lnTo>
                    <a:pt x="4193" y="17845"/>
                  </a:lnTo>
                  <a:lnTo>
                    <a:pt x="0" y="13824"/>
                  </a:lnTo>
                  <a:lnTo>
                    <a:pt x="0" y="8922"/>
                  </a:lnTo>
                  <a:lnTo>
                    <a:pt x="0" y="4021"/>
                  </a:lnTo>
                  <a:lnTo>
                    <a:pt x="4193" y="0"/>
                  </a:lnTo>
                  <a:lnTo>
                    <a:pt x="9452" y="0"/>
                  </a:lnTo>
                  <a:close/>
                </a:path>
              </a:pathLst>
            </a:custGeom>
            <a:ln w="4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763021" y="517314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193" y="17807"/>
                  </a:lnTo>
                  <a:lnTo>
                    <a:pt x="14644" y="17807"/>
                  </a:lnTo>
                  <a:lnTo>
                    <a:pt x="18838" y="13824"/>
                  </a:lnTo>
                  <a:lnTo>
                    <a:pt x="18838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763021" y="517314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9452" y="0"/>
                  </a:moveTo>
                  <a:lnTo>
                    <a:pt x="14644" y="0"/>
                  </a:lnTo>
                  <a:lnTo>
                    <a:pt x="18838" y="3983"/>
                  </a:lnTo>
                  <a:lnTo>
                    <a:pt x="18838" y="8903"/>
                  </a:lnTo>
                  <a:lnTo>
                    <a:pt x="18838" y="13824"/>
                  </a:lnTo>
                  <a:lnTo>
                    <a:pt x="14644" y="17807"/>
                  </a:lnTo>
                  <a:lnTo>
                    <a:pt x="9452" y="17807"/>
                  </a:lnTo>
                  <a:lnTo>
                    <a:pt x="4193" y="17807"/>
                  </a:lnTo>
                  <a:lnTo>
                    <a:pt x="0" y="13824"/>
                  </a:lnTo>
                  <a:lnTo>
                    <a:pt x="0" y="8903"/>
                  </a:lnTo>
                  <a:lnTo>
                    <a:pt x="0" y="3983"/>
                  </a:lnTo>
                  <a:lnTo>
                    <a:pt x="4193" y="0"/>
                  </a:lnTo>
                  <a:lnTo>
                    <a:pt x="9452" y="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1725277" y="517314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193" y="17807"/>
                  </a:lnTo>
                  <a:lnTo>
                    <a:pt x="14644" y="17807"/>
                  </a:lnTo>
                  <a:lnTo>
                    <a:pt x="18838" y="13824"/>
                  </a:lnTo>
                  <a:lnTo>
                    <a:pt x="18838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1725277" y="279918"/>
              <a:ext cx="387350" cy="318135"/>
            </a:xfrm>
            <a:custGeom>
              <a:avLst/>
              <a:gdLst/>
              <a:ahLst/>
              <a:cxnLst/>
              <a:rect l="l" t="t" r="r" b="b"/>
              <a:pathLst>
                <a:path w="387350" h="318134">
                  <a:moveTo>
                    <a:pt x="9452" y="237395"/>
                  </a:moveTo>
                  <a:lnTo>
                    <a:pt x="14644" y="237395"/>
                  </a:lnTo>
                  <a:lnTo>
                    <a:pt x="18838" y="241379"/>
                  </a:lnTo>
                  <a:lnTo>
                    <a:pt x="18838" y="246299"/>
                  </a:lnTo>
                  <a:lnTo>
                    <a:pt x="18838" y="251219"/>
                  </a:lnTo>
                  <a:lnTo>
                    <a:pt x="14644" y="255203"/>
                  </a:lnTo>
                  <a:lnTo>
                    <a:pt x="9452" y="255203"/>
                  </a:lnTo>
                  <a:lnTo>
                    <a:pt x="4193" y="255203"/>
                  </a:lnTo>
                  <a:lnTo>
                    <a:pt x="0" y="251219"/>
                  </a:lnTo>
                  <a:lnTo>
                    <a:pt x="0" y="246299"/>
                  </a:lnTo>
                  <a:lnTo>
                    <a:pt x="0" y="241379"/>
                  </a:lnTo>
                  <a:lnTo>
                    <a:pt x="4193" y="237395"/>
                  </a:lnTo>
                  <a:lnTo>
                    <a:pt x="9452" y="237395"/>
                  </a:lnTo>
                  <a:close/>
                </a:path>
                <a:path w="387350" h="318134">
                  <a:moveTo>
                    <a:pt x="218873" y="0"/>
                  </a:moveTo>
                  <a:lnTo>
                    <a:pt x="218873" y="133590"/>
                  </a:lnTo>
                </a:path>
                <a:path w="387350" h="318134">
                  <a:moveTo>
                    <a:pt x="387088" y="158768"/>
                  </a:moveTo>
                  <a:lnTo>
                    <a:pt x="245566" y="158768"/>
                  </a:lnTo>
                </a:path>
                <a:path w="387350" h="318134">
                  <a:moveTo>
                    <a:pt x="207556" y="158768"/>
                  </a:moveTo>
                  <a:lnTo>
                    <a:pt x="207556" y="152868"/>
                  </a:lnTo>
                  <a:lnTo>
                    <a:pt x="212615" y="148080"/>
                  </a:lnTo>
                  <a:lnTo>
                    <a:pt x="218873" y="148080"/>
                  </a:lnTo>
                  <a:lnTo>
                    <a:pt x="225130" y="148080"/>
                  </a:lnTo>
                  <a:lnTo>
                    <a:pt x="230189" y="152868"/>
                  </a:lnTo>
                  <a:lnTo>
                    <a:pt x="230189" y="158768"/>
                  </a:lnTo>
                  <a:lnTo>
                    <a:pt x="230189" y="164669"/>
                  </a:lnTo>
                  <a:lnTo>
                    <a:pt x="225130" y="169457"/>
                  </a:lnTo>
                  <a:lnTo>
                    <a:pt x="218873" y="169457"/>
                  </a:lnTo>
                  <a:lnTo>
                    <a:pt x="212615" y="169457"/>
                  </a:lnTo>
                  <a:lnTo>
                    <a:pt x="207556" y="164669"/>
                  </a:lnTo>
                  <a:lnTo>
                    <a:pt x="207556" y="158768"/>
                  </a:lnTo>
                  <a:close/>
                </a:path>
                <a:path w="387350" h="318134">
                  <a:moveTo>
                    <a:pt x="218873" y="183959"/>
                  </a:moveTo>
                  <a:lnTo>
                    <a:pt x="218873" y="317550"/>
                  </a:lnTo>
                </a:path>
                <a:path w="387350" h="318134">
                  <a:moveTo>
                    <a:pt x="192179" y="158768"/>
                  </a:moveTo>
                  <a:lnTo>
                    <a:pt x="50657" y="158768"/>
                  </a:lnTo>
                </a:path>
              </a:pathLst>
            </a:custGeom>
            <a:ln w="4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2027426" y="412000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14644" y="0"/>
                  </a:moveTo>
                  <a:lnTo>
                    <a:pt x="4260" y="0"/>
                  </a:lnTo>
                  <a:lnTo>
                    <a:pt x="0" y="3958"/>
                  </a:lnTo>
                  <a:lnTo>
                    <a:pt x="0" y="13792"/>
                  </a:lnTo>
                  <a:lnTo>
                    <a:pt x="4260" y="17782"/>
                  </a:lnTo>
                  <a:lnTo>
                    <a:pt x="14644" y="17782"/>
                  </a:lnTo>
                  <a:lnTo>
                    <a:pt x="18905" y="13792"/>
                  </a:lnTo>
                  <a:lnTo>
                    <a:pt x="18905" y="39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2027426" y="412000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0" y="8859"/>
                  </a:moveTo>
                  <a:lnTo>
                    <a:pt x="0" y="3958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58"/>
                  </a:lnTo>
                  <a:lnTo>
                    <a:pt x="18905" y="8859"/>
                  </a:lnTo>
                  <a:lnTo>
                    <a:pt x="18905" y="13792"/>
                  </a:lnTo>
                  <a:lnTo>
                    <a:pt x="14644" y="17782"/>
                  </a:lnTo>
                  <a:lnTo>
                    <a:pt x="9452" y="17782"/>
                  </a:lnTo>
                  <a:lnTo>
                    <a:pt x="4260" y="17782"/>
                  </a:lnTo>
                  <a:lnTo>
                    <a:pt x="0" y="13792"/>
                  </a:lnTo>
                  <a:lnTo>
                    <a:pt x="0" y="8859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2027426" y="447590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6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60" y="17814"/>
                  </a:lnTo>
                  <a:lnTo>
                    <a:pt x="14644" y="17814"/>
                  </a:lnTo>
                  <a:lnTo>
                    <a:pt x="18905" y="13824"/>
                  </a:lnTo>
                  <a:lnTo>
                    <a:pt x="18905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2027426" y="447590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10"/>
                  </a:moveTo>
                  <a:lnTo>
                    <a:pt x="0" y="3990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90"/>
                  </a:lnTo>
                  <a:lnTo>
                    <a:pt x="18905" y="8910"/>
                  </a:lnTo>
                  <a:lnTo>
                    <a:pt x="18905" y="13824"/>
                  </a:lnTo>
                  <a:lnTo>
                    <a:pt x="14644" y="17814"/>
                  </a:lnTo>
                  <a:lnTo>
                    <a:pt x="9452" y="17814"/>
                  </a:lnTo>
                  <a:lnTo>
                    <a:pt x="4260" y="17814"/>
                  </a:lnTo>
                  <a:lnTo>
                    <a:pt x="0" y="13824"/>
                  </a:lnTo>
                  <a:lnTo>
                    <a:pt x="0" y="891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1953603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14644" y="0"/>
                  </a:moveTo>
                  <a:lnTo>
                    <a:pt x="4193" y="0"/>
                  </a:lnTo>
                  <a:lnTo>
                    <a:pt x="0" y="4021"/>
                  </a:lnTo>
                  <a:lnTo>
                    <a:pt x="0" y="13824"/>
                  </a:lnTo>
                  <a:lnTo>
                    <a:pt x="4193" y="17845"/>
                  </a:lnTo>
                  <a:lnTo>
                    <a:pt x="14644" y="17845"/>
                  </a:lnTo>
                  <a:lnTo>
                    <a:pt x="18838" y="13824"/>
                  </a:lnTo>
                  <a:lnTo>
                    <a:pt x="18838" y="40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1953603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9452" y="0"/>
                  </a:moveTo>
                  <a:lnTo>
                    <a:pt x="14644" y="0"/>
                  </a:lnTo>
                  <a:lnTo>
                    <a:pt x="18838" y="4021"/>
                  </a:lnTo>
                  <a:lnTo>
                    <a:pt x="18838" y="8922"/>
                  </a:lnTo>
                  <a:lnTo>
                    <a:pt x="18838" y="13824"/>
                  </a:lnTo>
                  <a:lnTo>
                    <a:pt x="14644" y="17845"/>
                  </a:lnTo>
                  <a:lnTo>
                    <a:pt x="9452" y="17845"/>
                  </a:lnTo>
                  <a:lnTo>
                    <a:pt x="4193" y="17845"/>
                  </a:lnTo>
                  <a:lnTo>
                    <a:pt x="0" y="13824"/>
                  </a:lnTo>
                  <a:lnTo>
                    <a:pt x="0" y="8922"/>
                  </a:lnTo>
                  <a:lnTo>
                    <a:pt x="0" y="4021"/>
                  </a:lnTo>
                  <a:lnTo>
                    <a:pt x="4193" y="0"/>
                  </a:lnTo>
                  <a:lnTo>
                    <a:pt x="9452" y="0"/>
                  </a:lnTo>
                  <a:close/>
                </a:path>
              </a:pathLst>
            </a:custGeom>
            <a:ln w="4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915859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14644" y="0"/>
                  </a:moveTo>
                  <a:lnTo>
                    <a:pt x="4193" y="0"/>
                  </a:lnTo>
                  <a:lnTo>
                    <a:pt x="0" y="4021"/>
                  </a:lnTo>
                  <a:lnTo>
                    <a:pt x="0" y="13824"/>
                  </a:lnTo>
                  <a:lnTo>
                    <a:pt x="4193" y="17845"/>
                  </a:lnTo>
                  <a:lnTo>
                    <a:pt x="14644" y="17845"/>
                  </a:lnTo>
                  <a:lnTo>
                    <a:pt x="18838" y="13824"/>
                  </a:lnTo>
                  <a:lnTo>
                    <a:pt x="18838" y="40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915859" y="3333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4">
                  <a:moveTo>
                    <a:pt x="9452" y="0"/>
                  </a:moveTo>
                  <a:lnTo>
                    <a:pt x="14644" y="0"/>
                  </a:lnTo>
                  <a:lnTo>
                    <a:pt x="18838" y="4021"/>
                  </a:lnTo>
                  <a:lnTo>
                    <a:pt x="18838" y="8922"/>
                  </a:lnTo>
                  <a:lnTo>
                    <a:pt x="18838" y="13824"/>
                  </a:lnTo>
                  <a:lnTo>
                    <a:pt x="14644" y="17845"/>
                  </a:lnTo>
                  <a:lnTo>
                    <a:pt x="9452" y="17845"/>
                  </a:lnTo>
                  <a:lnTo>
                    <a:pt x="4193" y="17845"/>
                  </a:lnTo>
                  <a:lnTo>
                    <a:pt x="0" y="13824"/>
                  </a:lnTo>
                  <a:lnTo>
                    <a:pt x="0" y="8922"/>
                  </a:lnTo>
                  <a:lnTo>
                    <a:pt x="0" y="4021"/>
                  </a:lnTo>
                  <a:lnTo>
                    <a:pt x="4193" y="0"/>
                  </a:lnTo>
                  <a:lnTo>
                    <a:pt x="9452" y="0"/>
                  </a:lnTo>
                  <a:close/>
                </a:path>
              </a:pathLst>
            </a:custGeom>
            <a:ln w="4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953603" y="517314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193" y="17807"/>
                  </a:lnTo>
                  <a:lnTo>
                    <a:pt x="14644" y="17807"/>
                  </a:lnTo>
                  <a:lnTo>
                    <a:pt x="18838" y="13824"/>
                  </a:lnTo>
                  <a:lnTo>
                    <a:pt x="18838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1953603" y="517314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9452" y="0"/>
                  </a:moveTo>
                  <a:lnTo>
                    <a:pt x="14644" y="0"/>
                  </a:lnTo>
                  <a:lnTo>
                    <a:pt x="18838" y="3983"/>
                  </a:lnTo>
                  <a:lnTo>
                    <a:pt x="18838" y="8903"/>
                  </a:lnTo>
                  <a:lnTo>
                    <a:pt x="18838" y="13824"/>
                  </a:lnTo>
                  <a:lnTo>
                    <a:pt x="14644" y="17807"/>
                  </a:lnTo>
                  <a:lnTo>
                    <a:pt x="9452" y="17807"/>
                  </a:lnTo>
                  <a:lnTo>
                    <a:pt x="4193" y="17807"/>
                  </a:lnTo>
                  <a:lnTo>
                    <a:pt x="0" y="13824"/>
                  </a:lnTo>
                  <a:lnTo>
                    <a:pt x="0" y="8903"/>
                  </a:lnTo>
                  <a:lnTo>
                    <a:pt x="0" y="3983"/>
                  </a:lnTo>
                  <a:lnTo>
                    <a:pt x="4193" y="0"/>
                  </a:lnTo>
                  <a:lnTo>
                    <a:pt x="9452" y="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1915859" y="517314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193" y="17807"/>
                  </a:lnTo>
                  <a:lnTo>
                    <a:pt x="14644" y="17807"/>
                  </a:lnTo>
                  <a:lnTo>
                    <a:pt x="18838" y="13824"/>
                  </a:lnTo>
                  <a:lnTo>
                    <a:pt x="18838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1395037" y="463626"/>
              <a:ext cx="539750" cy="318135"/>
            </a:xfrm>
            <a:custGeom>
              <a:avLst/>
              <a:gdLst/>
              <a:ahLst/>
              <a:cxnLst/>
              <a:rect l="l" t="t" r="r" b="b"/>
              <a:pathLst>
                <a:path w="539750" h="318134">
                  <a:moveTo>
                    <a:pt x="530274" y="53687"/>
                  </a:moveTo>
                  <a:lnTo>
                    <a:pt x="535467" y="53687"/>
                  </a:lnTo>
                  <a:lnTo>
                    <a:pt x="539660" y="57671"/>
                  </a:lnTo>
                  <a:lnTo>
                    <a:pt x="539660" y="62591"/>
                  </a:lnTo>
                  <a:lnTo>
                    <a:pt x="539660" y="67511"/>
                  </a:lnTo>
                  <a:lnTo>
                    <a:pt x="535467" y="71495"/>
                  </a:lnTo>
                  <a:lnTo>
                    <a:pt x="530274" y="71495"/>
                  </a:lnTo>
                  <a:lnTo>
                    <a:pt x="525016" y="71495"/>
                  </a:lnTo>
                  <a:lnTo>
                    <a:pt x="520822" y="67511"/>
                  </a:lnTo>
                  <a:lnTo>
                    <a:pt x="520822" y="62591"/>
                  </a:lnTo>
                  <a:lnTo>
                    <a:pt x="520822" y="57671"/>
                  </a:lnTo>
                  <a:lnTo>
                    <a:pt x="525016" y="53687"/>
                  </a:lnTo>
                  <a:lnTo>
                    <a:pt x="530274" y="53687"/>
                  </a:lnTo>
                  <a:close/>
                </a:path>
                <a:path w="539750" h="318134">
                  <a:moveTo>
                    <a:pt x="168215" y="0"/>
                  </a:moveTo>
                  <a:lnTo>
                    <a:pt x="168215" y="133583"/>
                  </a:lnTo>
                </a:path>
                <a:path w="539750" h="318134">
                  <a:moveTo>
                    <a:pt x="336430" y="158775"/>
                  </a:moveTo>
                  <a:lnTo>
                    <a:pt x="194908" y="158775"/>
                  </a:lnTo>
                </a:path>
                <a:path w="539750" h="318134">
                  <a:moveTo>
                    <a:pt x="156899" y="158775"/>
                  </a:moveTo>
                  <a:lnTo>
                    <a:pt x="156899" y="152874"/>
                  </a:lnTo>
                  <a:lnTo>
                    <a:pt x="161958" y="148086"/>
                  </a:lnTo>
                  <a:lnTo>
                    <a:pt x="168215" y="148086"/>
                  </a:lnTo>
                  <a:lnTo>
                    <a:pt x="174472" y="148086"/>
                  </a:lnTo>
                  <a:lnTo>
                    <a:pt x="179531" y="152874"/>
                  </a:lnTo>
                  <a:lnTo>
                    <a:pt x="179531" y="158775"/>
                  </a:lnTo>
                  <a:lnTo>
                    <a:pt x="179531" y="164681"/>
                  </a:lnTo>
                  <a:lnTo>
                    <a:pt x="174472" y="169463"/>
                  </a:lnTo>
                  <a:lnTo>
                    <a:pt x="168215" y="169463"/>
                  </a:lnTo>
                  <a:lnTo>
                    <a:pt x="161958" y="169463"/>
                  </a:lnTo>
                  <a:lnTo>
                    <a:pt x="156899" y="164681"/>
                  </a:lnTo>
                  <a:lnTo>
                    <a:pt x="156899" y="158775"/>
                  </a:lnTo>
                  <a:close/>
                </a:path>
                <a:path w="539750" h="318134">
                  <a:moveTo>
                    <a:pt x="168215" y="183966"/>
                  </a:moveTo>
                  <a:lnTo>
                    <a:pt x="168215" y="317556"/>
                  </a:lnTo>
                </a:path>
                <a:path w="539750" h="318134">
                  <a:moveTo>
                    <a:pt x="141522" y="158775"/>
                  </a:moveTo>
                  <a:lnTo>
                    <a:pt x="0" y="158775"/>
                  </a:lnTo>
                </a:path>
              </a:pathLst>
            </a:custGeom>
            <a:ln w="4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1456412" y="595683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193" y="17814"/>
                  </a:lnTo>
                  <a:lnTo>
                    <a:pt x="14644" y="17814"/>
                  </a:lnTo>
                  <a:lnTo>
                    <a:pt x="18838" y="13824"/>
                  </a:lnTo>
                  <a:lnTo>
                    <a:pt x="18838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1456412" y="595683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10"/>
                  </a:moveTo>
                  <a:lnTo>
                    <a:pt x="0" y="3990"/>
                  </a:lnTo>
                  <a:lnTo>
                    <a:pt x="4193" y="0"/>
                  </a:lnTo>
                  <a:lnTo>
                    <a:pt x="9385" y="0"/>
                  </a:lnTo>
                  <a:lnTo>
                    <a:pt x="14644" y="0"/>
                  </a:lnTo>
                  <a:lnTo>
                    <a:pt x="18838" y="3990"/>
                  </a:lnTo>
                  <a:lnTo>
                    <a:pt x="18838" y="8910"/>
                  </a:lnTo>
                  <a:lnTo>
                    <a:pt x="18838" y="13824"/>
                  </a:lnTo>
                  <a:lnTo>
                    <a:pt x="14644" y="17814"/>
                  </a:lnTo>
                  <a:lnTo>
                    <a:pt x="9385" y="17814"/>
                  </a:lnTo>
                  <a:lnTo>
                    <a:pt x="4193" y="17814"/>
                  </a:lnTo>
                  <a:lnTo>
                    <a:pt x="0" y="13824"/>
                  </a:lnTo>
                  <a:lnTo>
                    <a:pt x="0" y="8910"/>
                  </a:lnTo>
                  <a:close/>
                </a:path>
              </a:pathLst>
            </a:custGeom>
            <a:ln w="4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456412" y="631312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193" y="17807"/>
                  </a:lnTo>
                  <a:lnTo>
                    <a:pt x="14644" y="17807"/>
                  </a:lnTo>
                  <a:lnTo>
                    <a:pt x="18838" y="13824"/>
                  </a:lnTo>
                  <a:lnTo>
                    <a:pt x="18838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1456412" y="631312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83"/>
                  </a:lnTo>
                  <a:lnTo>
                    <a:pt x="4193" y="0"/>
                  </a:lnTo>
                  <a:lnTo>
                    <a:pt x="9385" y="0"/>
                  </a:lnTo>
                  <a:lnTo>
                    <a:pt x="14644" y="0"/>
                  </a:lnTo>
                  <a:lnTo>
                    <a:pt x="18838" y="3983"/>
                  </a:lnTo>
                  <a:lnTo>
                    <a:pt x="18838" y="8903"/>
                  </a:lnTo>
                  <a:lnTo>
                    <a:pt x="18838" y="13824"/>
                  </a:lnTo>
                  <a:lnTo>
                    <a:pt x="14644" y="17807"/>
                  </a:lnTo>
                  <a:lnTo>
                    <a:pt x="9385" y="17807"/>
                  </a:lnTo>
                  <a:lnTo>
                    <a:pt x="4193" y="17807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1646528" y="595683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6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60" y="17814"/>
                  </a:lnTo>
                  <a:lnTo>
                    <a:pt x="14644" y="17814"/>
                  </a:lnTo>
                  <a:lnTo>
                    <a:pt x="18905" y="13824"/>
                  </a:lnTo>
                  <a:lnTo>
                    <a:pt x="18905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1646528" y="595683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10"/>
                  </a:moveTo>
                  <a:lnTo>
                    <a:pt x="0" y="3990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90"/>
                  </a:lnTo>
                  <a:lnTo>
                    <a:pt x="18905" y="8910"/>
                  </a:lnTo>
                  <a:lnTo>
                    <a:pt x="18905" y="13824"/>
                  </a:lnTo>
                  <a:lnTo>
                    <a:pt x="14644" y="17814"/>
                  </a:lnTo>
                  <a:lnTo>
                    <a:pt x="9452" y="17814"/>
                  </a:lnTo>
                  <a:lnTo>
                    <a:pt x="4260" y="17814"/>
                  </a:lnTo>
                  <a:lnTo>
                    <a:pt x="0" y="13824"/>
                  </a:lnTo>
                  <a:lnTo>
                    <a:pt x="0" y="891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1646528" y="631312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60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60" y="17807"/>
                  </a:lnTo>
                  <a:lnTo>
                    <a:pt x="14644" y="17807"/>
                  </a:lnTo>
                  <a:lnTo>
                    <a:pt x="18905" y="13824"/>
                  </a:lnTo>
                  <a:lnTo>
                    <a:pt x="18905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1646528" y="631312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83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83"/>
                  </a:lnTo>
                  <a:lnTo>
                    <a:pt x="18905" y="8903"/>
                  </a:lnTo>
                  <a:lnTo>
                    <a:pt x="18905" y="13824"/>
                  </a:lnTo>
                  <a:lnTo>
                    <a:pt x="14644" y="17807"/>
                  </a:lnTo>
                  <a:lnTo>
                    <a:pt x="9452" y="17807"/>
                  </a:lnTo>
                  <a:lnTo>
                    <a:pt x="4260" y="17807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1572705" y="7010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193" y="17814"/>
                  </a:lnTo>
                  <a:lnTo>
                    <a:pt x="14644" y="17814"/>
                  </a:lnTo>
                  <a:lnTo>
                    <a:pt x="18838" y="13824"/>
                  </a:lnTo>
                  <a:lnTo>
                    <a:pt x="18838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572705" y="7010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9452" y="0"/>
                  </a:moveTo>
                  <a:lnTo>
                    <a:pt x="14644" y="0"/>
                  </a:lnTo>
                  <a:lnTo>
                    <a:pt x="18838" y="3990"/>
                  </a:lnTo>
                  <a:lnTo>
                    <a:pt x="18838" y="8903"/>
                  </a:lnTo>
                  <a:lnTo>
                    <a:pt x="18838" y="13824"/>
                  </a:lnTo>
                  <a:lnTo>
                    <a:pt x="14644" y="17814"/>
                  </a:lnTo>
                  <a:lnTo>
                    <a:pt x="9452" y="17814"/>
                  </a:lnTo>
                  <a:lnTo>
                    <a:pt x="4193" y="17814"/>
                  </a:lnTo>
                  <a:lnTo>
                    <a:pt x="0" y="13824"/>
                  </a:lnTo>
                  <a:lnTo>
                    <a:pt x="0" y="8903"/>
                  </a:lnTo>
                  <a:lnTo>
                    <a:pt x="0" y="3990"/>
                  </a:lnTo>
                  <a:lnTo>
                    <a:pt x="4193" y="0"/>
                  </a:lnTo>
                  <a:lnTo>
                    <a:pt x="9452" y="0"/>
                  </a:lnTo>
                  <a:close/>
                </a:path>
              </a:pathLst>
            </a:custGeom>
            <a:ln w="4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1534961" y="7010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193" y="17814"/>
                  </a:lnTo>
                  <a:lnTo>
                    <a:pt x="14644" y="17814"/>
                  </a:lnTo>
                  <a:lnTo>
                    <a:pt x="18838" y="13824"/>
                  </a:lnTo>
                  <a:lnTo>
                    <a:pt x="18838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1534961" y="463626"/>
              <a:ext cx="321310" cy="318135"/>
            </a:xfrm>
            <a:custGeom>
              <a:avLst/>
              <a:gdLst/>
              <a:ahLst/>
              <a:cxnLst/>
              <a:rect l="l" t="t" r="r" b="b"/>
              <a:pathLst>
                <a:path w="321310" h="318134">
                  <a:moveTo>
                    <a:pt x="9452" y="237402"/>
                  </a:moveTo>
                  <a:lnTo>
                    <a:pt x="14644" y="237402"/>
                  </a:lnTo>
                  <a:lnTo>
                    <a:pt x="18838" y="241392"/>
                  </a:lnTo>
                  <a:lnTo>
                    <a:pt x="18838" y="246306"/>
                  </a:lnTo>
                  <a:lnTo>
                    <a:pt x="18838" y="251226"/>
                  </a:lnTo>
                  <a:lnTo>
                    <a:pt x="14644" y="255216"/>
                  </a:lnTo>
                  <a:lnTo>
                    <a:pt x="9452" y="255216"/>
                  </a:lnTo>
                  <a:lnTo>
                    <a:pt x="4193" y="255216"/>
                  </a:lnTo>
                  <a:lnTo>
                    <a:pt x="0" y="251226"/>
                  </a:lnTo>
                  <a:lnTo>
                    <a:pt x="0" y="246306"/>
                  </a:lnTo>
                  <a:lnTo>
                    <a:pt x="0" y="241392"/>
                  </a:lnTo>
                  <a:lnTo>
                    <a:pt x="4193" y="237402"/>
                  </a:lnTo>
                  <a:lnTo>
                    <a:pt x="9452" y="237402"/>
                  </a:lnTo>
                  <a:close/>
                </a:path>
                <a:path w="321310" h="318134">
                  <a:moveTo>
                    <a:pt x="218606" y="0"/>
                  </a:moveTo>
                  <a:lnTo>
                    <a:pt x="218606" y="133583"/>
                  </a:lnTo>
                </a:path>
                <a:path w="321310" h="318134">
                  <a:moveTo>
                    <a:pt x="207290" y="158775"/>
                  </a:moveTo>
                  <a:lnTo>
                    <a:pt x="207290" y="152874"/>
                  </a:lnTo>
                  <a:lnTo>
                    <a:pt x="212349" y="148086"/>
                  </a:lnTo>
                  <a:lnTo>
                    <a:pt x="218606" y="148086"/>
                  </a:lnTo>
                  <a:lnTo>
                    <a:pt x="224864" y="148086"/>
                  </a:lnTo>
                  <a:lnTo>
                    <a:pt x="229923" y="152874"/>
                  </a:lnTo>
                  <a:lnTo>
                    <a:pt x="229923" y="158775"/>
                  </a:lnTo>
                  <a:lnTo>
                    <a:pt x="229923" y="164681"/>
                  </a:lnTo>
                  <a:lnTo>
                    <a:pt x="224864" y="169463"/>
                  </a:lnTo>
                  <a:lnTo>
                    <a:pt x="218606" y="169463"/>
                  </a:lnTo>
                  <a:lnTo>
                    <a:pt x="212349" y="169463"/>
                  </a:lnTo>
                  <a:lnTo>
                    <a:pt x="207290" y="164681"/>
                  </a:lnTo>
                  <a:lnTo>
                    <a:pt x="207290" y="158775"/>
                  </a:lnTo>
                  <a:close/>
                </a:path>
                <a:path w="321310" h="318134">
                  <a:moveTo>
                    <a:pt x="218606" y="183966"/>
                  </a:moveTo>
                  <a:lnTo>
                    <a:pt x="218606" y="317556"/>
                  </a:lnTo>
                </a:path>
                <a:path w="321310" h="318134">
                  <a:moveTo>
                    <a:pt x="191913" y="158775"/>
                  </a:moveTo>
                  <a:lnTo>
                    <a:pt x="50391" y="158775"/>
                  </a:lnTo>
                </a:path>
                <a:path w="321310" h="318134">
                  <a:moveTo>
                    <a:pt x="301882" y="140967"/>
                  </a:moveTo>
                  <a:lnTo>
                    <a:pt x="301882" y="136047"/>
                  </a:lnTo>
                  <a:lnTo>
                    <a:pt x="306142" y="132057"/>
                  </a:lnTo>
                  <a:lnTo>
                    <a:pt x="311335" y="132057"/>
                  </a:lnTo>
                  <a:lnTo>
                    <a:pt x="316527" y="132057"/>
                  </a:lnTo>
                  <a:lnTo>
                    <a:pt x="320787" y="136047"/>
                  </a:lnTo>
                  <a:lnTo>
                    <a:pt x="320787" y="140967"/>
                  </a:lnTo>
                  <a:lnTo>
                    <a:pt x="320787" y="145881"/>
                  </a:lnTo>
                  <a:lnTo>
                    <a:pt x="316527" y="149871"/>
                  </a:lnTo>
                  <a:lnTo>
                    <a:pt x="311335" y="149871"/>
                  </a:lnTo>
                  <a:lnTo>
                    <a:pt x="306142" y="149871"/>
                  </a:lnTo>
                  <a:lnTo>
                    <a:pt x="301882" y="145881"/>
                  </a:lnTo>
                  <a:lnTo>
                    <a:pt x="301882" y="140967"/>
                  </a:lnTo>
                  <a:close/>
                </a:path>
              </a:pathLst>
            </a:custGeom>
            <a:ln w="4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1836844" y="631312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60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60" y="17807"/>
                  </a:lnTo>
                  <a:lnTo>
                    <a:pt x="14644" y="17807"/>
                  </a:lnTo>
                  <a:lnTo>
                    <a:pt x="18905" y="13824"/>
                  </a:lnTo>
                  <a:lnTo>
                    <a:pt x="18905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1836844" y="631312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83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83"/>
                  </a:lnTo>
                  <a:lnTo>
                    <a:pt x="18905" y="8903"/>
                  </a:lnTo>
                  <a:lnTo>
                    <a:pt x="18905" y="13824"/>
                  </a:lnTo>
                  <a:lnTo>
                    <a:pt x="14644" y="17807"/>
                  </a:lnTo>
                  <a:lnTo>
                    <a:pt x="9452" y="17807"/>
                  </a:lnTo>
                  <a:lnTo>
                    <a:pt x="4260" y="17807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1763021" y="7010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193" y="17814"/>
                  </a:lnTo>
                  <a:lnTo>
                    <a:pt x="14644" y="17814"/>
                  </a:lnTo>
                  <a:lnTo>
                    <a:pt x="18838" y="13824"/>
                  </a:lnTo>
                  <a:lnTo>
                    <a:pt x="18838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1763021" y="7010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9452" y="0"/>
                  </a:moveTo>
                  <a:lnTo>
                    <a:pt x="14644" y="0"/>
                  </a:lnTo>
                  <a:lnTo>
                    <a:pt x="18838" y="3990"/>
                  </a:lnTo>
                  <a:lnTo>
                    <a:pt x="18838" y="8903"/>
                  </a:lnTo>
                  <a:lnTo>
                    <a:pt x="18838" y="13824"/>
                  </a:lnTo>
                  <a:lnTo>
                    <a:pt x="14644" y="17814"/>
                  </a:lnTo>
                  <a:lnTo>
                    <a:pt x="9452" y="17814"/>
                  </a:lnTo>
                  <a:lnTo>
                    <a:pt x="4193" y="17814"/>
                  </a:lnTo>
                  <a:lnTo>
                    <a:pt x="0" y="13824"/>
                  </a:lnTo>
                  <a:lnTo>
                    <a:pt x="0" y="8903"/>
                  </a:lnTo>
                  <a:lnTo>
                    <a:pt x="0" y="3990"/>
                  </a:lnTo>
                  <a:lnTo>
                    <a:pt x="4193" y="0"/>
                  </a:lnTo>
                  <a:lnTo>
                    <a:pt x="9452" y="0"/>
                  </a:lnTo>
                  <a:close/>
                </a:path>
              </a:pathLst>
            </a:custGeom>
            <a:ln w="4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1725277" y="7010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193" y="17814"/>
                  </a:lnTo>
                  <a:lnTo>
                    <a:pt x="14644" y="17814"/>
                  </a:lnTo>
                  <a:lnTo>
                    <a:pt x="18838" y="13824"/>
                  </a:lnTo>
                  <a:lnTo>
                    <a:pt x="18838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1725277" y="463626"/>
              <a:ext cx="230504" cy="318135"/>
            </a:xfrm>
            <a:custGeom>
              <a:avLst/>
              <a:gdLst/>
              <a:ahLst/>
              <a:cxnLst/>
              <a:rect l="l" t="t" r="r" b="b"/>
              <a:pathLst>
                <a:path w="230505" h="318134">
                  <a:moveTo>
                    <a:pt x="9452" y="237402"/>
                  </a:moveTo>
                  <a:lnTo>
                    <a:pt x="14644" y="237402"/>
                  </a:lnTo>
                  <a:lnTo>
                    <a:pt x="18838" y="241392"/>
                  </a:lnTo>
                  <a:lnTo>
                    <a:pt x="18838" y="246306"/>
                  </a:lnTo>
                  <a:lnTo>
                    <a:pt x="18838" y="251226"/>
                  </a:lnTo>
                  <a:lnTo>
                    <a:pt x="14644" y="255216"/>
                  </a:lnTo>
                  <a:lnTo>
                    <a:pt x="9452" y="255216"/>
                  </a:lnTo>
                  <a:lnTo>
                    <a:pt x="4193" y="255216"/>
                  </a:lnTo>
                  <a:lnTo>
                    <a:pt x="0" y="251226"/>
                  </a:lnTo>
                  <a:lnTo>
                    <a:pt x="0" y="246306"/>
                  </a:lnTo>
                  <a:lnTo>
                    <a:pt x="0" y="241392"/>
                  </a:lnTo>
                  <a:lnTo>
                    <a:pt x="4193" y="237402"/>
                  </a:lnTo>
                  <a:lnTo>
                    <a:pt x="9452" y="237402"/>
                  </a:lnTo>
                  <a:close/>
                </a:path>
                <a:path w="230505" h="318134">
                  <a:moveTo>
                    <a:pt x="218873" y="0"/>
                  </a:moveTo>
                  <a:lnTo>
                    <a:pt x="218873" y="133583"/>
                  </a:lnTo>
                </a:path>
                <a:path w="230505" h="318134">
                  <a:moveTo>
                    <a:pt x="207556" y="158775"/>
                  </a:moveTo>
                  <a:lnTo>
                    <a:pt x="207556" y="152874"/>
                  </a:lnTo>
                  <a:lnTo>
                    <a:pt x="212615" y="148086"/>
                  </a:lnTo>
                  <a:lnTo>
                    <a:pt x="218873" y="148086"/>
                  </a:lnTo>
                  <a:lnTo>
                    <a:pt x="225130" y="148086"/>
                  </a:lnTo>
                  <a:lnTo>
                    <a:pt x="230189" y="152874"/>
                  </a:lnTo>
                  <a:lnTo>
                    <a:pt x="230189" y="158775"/>
                  </a:lnTo>
                  <a:lnTo>
                    <a:pt x="230189" y="164681"/>
                  </a:lnTo>
                  <a:lnTo>
                    <a:pt x="225130" y="169463"/>
                  </a:lnTo>
                  <a:lnTo>
                    <a:pt x="218873" y="169463"/>
                  </a:lnTo>
                  <a:lnTo>
                    <a:pt x="212615" y="169463"/>
                  </a:lnTo>
                  <a:lnTo>
                    <a:pt x="207556" y="164681"/>
                  </a:lnTo>
                  <a:lnTo>
                    <a:pt x="207556" y="158775"/>
                  </a:lnTo>
                  <a:close/>
                </a:path>
                <a:path w="230505" h="318134">
                  <a:moveTo>
                    <a:pt x="218873" y="183966"/>
                  </a:moveTo>
                  <a:lnTo>
                    <a:pt x="218873" y="317556"/>
                  </a:lnTo>
                </a:path>
              </a:pathLst>
            </a:custGeom>
            <a:ln w="4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2027426" y="595683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6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60" y="17814"/>
                  </a:lnTo>
                  <a:lnTo>
                    <a:pt x="14644" y="17814"/>
                  </a:lnTo>
                  <a:lnTo>
                    <a:pt x="18905" y="13824"/>
                  </a:lnTo>
                  <a:lnTo>
                    <a:pt x="18905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2027426" y="595683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10"/>
                  </a:moveTo>
                  <a:lnTo>
                    <a:pt x="0" y="3990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90"/>
                  </a:lnTo>
                  <a:lnTo>
                    <a:pt x="18905" y="8910"/>
                  </a:lnTo>
                  <a:lnTo>
                    <a:pt x="18905" y="13824"/>
                  </a:lnTo>
                  <a:lnTo>
                    <a:pt x="14644" y="17814"/>
                  </a:lnTo>
                  <a:lnTo>
                    <a:pt x="9452" y="17814"/>
                  </a:lnTo>
                  <a:lnTo>
                    <a:pt x="4260" y="17814"/>
                  </a:lnTo>
                  <a:lnTo>
                    <a:pt x="0" y="13824"/>
                  </a:lnTo>
                  <a:lnTo>
                    <a:pt x="0" y="891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2027426" y="631312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60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60" y="17807"/>
                  </a:lnTo>
                  <a:lnTo>
                    <a:pt x="14644" y="17807"/>
                  </a:lnTo>
                  <a:lnTo>
                    <a:pt x="18905" y="13824"/>
                  </a:lnTo>
                  <a:lnTo>
                    <a:pt x="18905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2027426" y="631312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83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83"/>
                  </a:lnTo>
                  <a:lnTo>
                    <a:pt x="18905" y="8903"/>
                  </a:lnTo>
                  <a:lnTo>
                    <a:pt x="18905" y="13824"/>
                  </a:lnTo>
                  <a:lnTo>
                    <a:pt x="14644" y="17807"/>
                  </a:lnTo>
                  <a:lnTo>
                    <a:pt x="9452" y="17807"/>
                  </a:lnTo>
                  <a:lnTo>
                    <a:pt x="4260" y="17807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1953603" y="7010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193" y="17814"/>
                  </a:lnTo>
                  <a:lnTo>
                    <a:pt x="14644" y="17814"/>
                  </a:lnTo>
                  <a:lnTo>
                    <a:pt x="18838" y="13824"/>
                  </a:lnTo>
                  <a:lnTo>
                    <a:pt x="18838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1953603" y="7010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9452" y="0"/>
                  </a:moveTo>
                  <a:lnTo>
                    <a:pt x="14644" y="0"/>
                  </a:lnTo>
                  <a:lnTo>
                    <a:pt x="18838" y="3990"/>
                  </a:lnTo>
                  <a:lnTo>
                    <a:pt x="18838" y="8903"/>
                  </a:lnTo>
                  <a:lnTo>
                    <a:pt x="18838" y="13824"/>
                  </a:lnTo>
                  <a:lnTo>
                    <a:pt x="14644" y="17814"/>
                  </a:lnTo>
                  <a:lnTo>
                    <a:pt x="9452" y="17814"/>
                  </a:lnTo>
                  <a:lnTo>
                    <a:pt x="4193" y="17814"/>
                  </a:lnTo>
                  <a:lnTo>
                    <a:pt x="0" y="13824"/>
                  </a:lnTo>
                  <a:lnTo>
                    <a:pt x="0" y="8903"/>
                  </a:lnTo>
                  <a:lnTo>
                    <a:pt x="0" y="3990"/>
                  </a:lnTo>
                  <a:lnTo>
                    <a:pt x="4193" y="0"/>
                  </a:lnTo>
                  <a:lnTo>
                    <a:pt x="9452" y="0"/>
                  </a:lnTo>
                  <a:close/>
                </a:path>
              </a:pathLst>
            </a:custGeom>
            <a:ln w="4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1915859" y="701029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193" y="17814"/>
                  </a:lnTo>
                  <a:lnTo>
                    <a:pt x="14644" y="17814"/>
                  </a:lnTo>
                  <a:lnTo>
                    <a:pt x="18838" y="13824"/>
                  </a:lnTo>
                  <a:lnTo>
                    <a:pt x="18838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1395037" y="646832"/>
              <a:ext cx="539750" cy="318135"/>
            </a:xfrm>
            <a:custGeom>
              <a:avLst/>
              <a:gdLst/>
              <a:ahLst/>
              <a:cxnLst/>
              <a:rect l="l" t="t" r="r" b="b"/>
              <a:pathLst>
                <a:path w="539750" h="318134">
                  <a:moveTo>
                    <a:pt x="530274" y="54196"/>
                  </a:moveTo>
                  <a:lnTo>
                    <a:pt x="535467" y="54196"/>
                  </a:lnTo>
                  <a:lnTo>
                    <a:pt x="539660" y="58186"/>
                  </a:lnTo>
                  <a:lnTo>
                    <a:pt x="539660" y="63100"/>
                  </a:lnTo>
                  <a:lnTo>
                    <a:pt x="539660" y="68020"/>
                  </a:lnTo>
                  <a:lnTo>
                    <a:pt x="535467" y="72010"/>
                  </a:lnTo>
                  <a:lnTo>
                    <a:pt x="530274" y="72010"/>
                  </a:lnTo>
                  <a:lnTo>
                    <a:pt x="525016" y="72010"/>
                  </a:lnTo>
                  <a:lnTo>
                    <a:pt x="520822" y="68020"/>
                  </a:lnTo>
                  <a:lnTo>
                    <a:pt x="520822" y="63100"/>
                  </a:lnTo>
                  <a:lnTo>
                    <a:pt x="520822" y="58186"/>
                  </a:lnTo>
                  <a:lnTo>
                    <a:pt x="525016" y="54196"/>
                  </a:lnTo>
                  <a:lnTo>
                    <a:pt x="530274" y="54196"/>
                  </a:lnTo>
                  <a:close/>
                </a:path>
                <a:path w="539750" h="318134">
                  <a:moveTo>
                    <a:pt x="168215" y="0"/>
                  </a:moveTo>
                  <a:lnTo>
                    <a:pt x="168215" y="133590"/>
                  </a:lnTo>
                </a:path>
                <a:path w="539750" h="318134">
                  <a:moveTo>
                    <a:pt x="336430" y="158781"/>
                  </a:moveTo>
                  <a:lnTo>
                    <a:pt x="194908" y="158781"/>
                  </a:lnTo>
                </a:path>
                <a:path w="539750" h="318134">
                  <a:moveTo>
                    <a:pt x="156899" y="158781"/>
                  </a:moveTo>
                  <a:lnTo>
                    <a:pt x="156899" y="152874"/>
                  </a:lnTo>
                  <a:lnTo>
                    <a:pt x="161958" y="148092"/>
                  </a:lnTo>
                  <a:lnTo>
                    <a:pt x="168215" y="148092"/>
                  </a:lnTo>
                  <a:lnTo>
                    <a:pt x="174472" y="148092"/>
                  </a:lnTo>
                  <a:lnTo>
                    <a:pt x="179531" y="152874"/>
                  </a:lnTo>
                  <a:lnTo>
                    <a:pt x="179531" y="158781"/>
                  </a:lnTo>
                  <a:lnTo>
                    <a:pt x="179531" y="164681"/>
                  </a:lnTo>
                  <a:lnTo>
                    <a:pt x="174472" y="169469"/>
                  </a:lnTo>
                  <a:lnTo>
                    <a:pt x="168215" y="169469"/>
                  </a:lnTo>
                  <a:lnTo>
                    <a:pt x="161958" y="169469"/>
                  </a:lnTo>
                  <a:lnTo>
                    <a:pt x="156899" y="164681"/>
                  </a:lnTo>
                  <a:lnTo>
                    <a:pt x="156899" y="158781"/>
                  </a:lnTo>
                  <a:close/>
                </a:path>
                <a:path w="539750" h="318134">
                  <a:moveTo>
                    <a:pt x="168215" y="183972"/>
                  </a:moveTo>
                  <a:lnTo>
                    <a:pt x="168215" y="317556"/>
                  </a:lnTo>
                </a:path>
                <a:path w="539750" h="318134">
                  <a:moveTo>
                    <a:pt x="141522" y="158781"/>
                  </a:moveTo>
                  <a:lnTo>
                    <a:pt x="0" y="158781"/>
                  </a:lnTo>
                </a:path>
              </a:pathLst>
            </a:custGeom>
            <a:ln w="4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1456412" y="778895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193" y="17807"/>
                  </a:lnTo>
                  <a:lnTo>
                    <a:pt x="14644" y="17807"/>
                  </a:lnTo>
                  <a:lnTo>
                    <a:pt x="18838" y="13824"/>
                  </a:lnTo>
                  <a:lnTo>
                    <a:pt x="18838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1456412" y="778895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83"/>
                  </a:lnTo>
                  <a:lnTo>
                    <a:pt x="4193" y="0"/>
                  </a:lnTo>
                  <a:lnTo>
                    <a:pt x="9385" y="0"/>
                  </a:lnTo>
                  <a:lnTo>
                    <a:pt x="14644" y="0"/>
                  </a:lnTo>
                  <a:lnTo>
                    <a:pt x="18838" y="3983"/>
                  </a:lnTo>
                  <a:lnTo>
                    <a:pt x="18838" y="8903"/>
                  </a:lnTo>
                  <a:lnTo>
                    <a:pt x="18838" y="13824"/>
                  </a:lnTo>
                  <a:lnTo>
                    <a:pt x="14644" y="17807"/>
                  </a:lnTo>
                  <a:lnTo>
                    <a:pt x="9385" y="17807"/>
                  </a:lnTo>
                  <a:lnTo>
                    <a:pt x="4193" y="17807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1456412" y="814517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193" y="17814"/>
                  </a:lnTo>
                  <a:lnTo>
                    <a:pt x="14644" y="17814"/>
                  </a:lnTo>
                  <a:lnTo>
                    <a:pt x="18838" y="13824"/>
                  </a:lnTo>
                  <a:lnTo>
                    <a:pt x="18838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1456412" y="814517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90"/>
                  </a:lnTo>
                  <a:lnTo>
                    <a:pt x="4193" y="0"/>
                  </a:lnTo>
                  <a:lnTo>
                    <a:pt x="9385" y="0"/>
                  </a:lnTo>
                  <a:lnTo>
                    <a:pt x="14644" y="0"/>
                  </a:lnTo>
                  <a:lnTo>
                    <a:pt x="18838" y="3990"/>
                  </a:lnTo>
                  <a:lnTo>
                    <a:pt x="18838" y="8903"/>
                  </a:lnTo>
                  <a:lnTo>
                    <a:pt x="18838" y="13824"/>
                  </a:lnTo>
                  <a:lnTo>
                    <a:pt x="14644" y="17814"/>
                  </a:lnTo>
                  <a:lnTo>
                    <a:pt x="9385" y="17814"/>
                  </a:lnTo>
                  <a:lnTo>
                    <a:pt x="4193" y="17814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1646528" y="778895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60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60" y="17807"/>
                  </a:lnTo>
                  <a:lnTo>
                    <a:pt x="14644" y="17807"/>
                  </a:lnTo>
                  <a:lnTo>
                    <a:pt x="18905" y="13824"/>
                  </a:lnTo>
                  <a:lnTo>
                    <a:pt x="18905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1646528" y="778895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83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83"/>
                  </a:lnTo>
                  <a:lnTo>
                    <a:pt x="18905" y="8903"/>
                  </a:lnTo>
                  <a:lnTo>
                    <a:pt x="18905" y="13824"/>
                  </a:lnTo>
                  <a:lnTo>
                    <a:pt x="14644" y="17807"/>
                  </a:lnTo>
                  <a:lnTo>
                    <a:pt x="9452" y="17807"/>
                  </a:lnTo>
                  <a:lnTo>
                    <a:pt x="4260" y="17807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1646528" y="814517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6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60" y="17814"/>
                  </a:lnTo>
                  <a:lnTo>
                    <a:pt x="14644" y="17814"/>
                  </a:lnTo>
                  <a:lnTo>
                    <a:pt x="18905" y="13824"/>
                  </a:lnTo>
                  <a:lnTo>
                    <a:pt x="18905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1646528" y="814517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90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90"/>
                  </a:lnTo>
                  <a:lnTo>
                    <a:pt x="18905" y="8903"/>
                  </a:lnTo>
                  <a:lnTo>
                    <a:pt x="18905" y="13824"/>
                  </a:lnTo>
                  <a:lnTo>
                    <a:pt x="14644" y="17814"/>
                  </a:lnTo>
                  <a:lnTo>
                    <a:pt x="9452" y="17814"/>
                  </a:lnTo>
                  <a:lnTo>
                    <a:pt x="4260" y="17814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1572705" y="88424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193" y="17807"/>
                  </a:lnTo>
                  <a:lnTo>
                    <a:pt x="14644" y="17807"/>
                  </a:lnTo>
                  <a:lnTo>
                    <a:pt x="18838" y="13824"/>
                  </a:lnTo>
                  <a:lnTo>
                    <a:pt x="18838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1572705" y="88424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9452" y="0"/>
                  </a:moveTo>
                  <a:lnTo>
                    <a:pt x="14644" y="0"/>
                  </a:lnTo>
                  <a:lnTo>
                    <a:pt x="18838" y="3983"/>
                  </a:lnTo>
                  <a:lnTo>
                    <a:pt x="18838" y="8903"/>
                  </a:lnTo>
                  <a:lnTo>
                    <a:pt x="18838" y="13824"/>
                  </a:lnTo>
                  <a:lnTo>
                    <a:pt x="14644" y="17807"/>
                  </a:lnTo>
                  <a:lnTo>
                    <a:pt x="9452" y="17807"/>
                  </a:lnTo>
                  <a:lnTo>
                    <a:pt x="4193" y="17807"/>
                  </a:lnTo>
                  <a:lnTo>
                    <a:pt x="0" y="13824"/>
                  </a:lnTo>
                  <a:lnTo>
                    <a:pt x="0" y="8903"/>
                  </a:lnTo>
                  <a:lnTo>
                    <a:pt x="0" y="3983"/>
                  </a:lnTo>
                  <a:lnTo>
                    <a:pt x="4193" y="0"/>
                  </a:lnTo>
                  <a:lnTo>
                    <a:pt x="9452" y="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1534961" y="88424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193" y="17807"/>
                  </a:lnTo>
                  <a:lnTo>
                    <a:pt x="14644" y="17807"/>
                  </a:lnTo>
                  <a:lnTo>
                    <a:pt x="18838" y="13824"/>
                  </a:lnTo>
                  <a:lnTo>
                    <a:pt x="18838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1534961" y="646832"/>
              <a:ext cx="387350" cy="318135"/>
            </a:xfrm>
            <a:custGeom>
              <a:avLst/>
              <a:gdLst/>
              <a:ahLst/>
              <a:cxnLst/>
              <a:rect l="l" t="t" r="r" b="b"/>
              <a:pathLst>
                <a:path w="387350" h="318134">
                  <a:moveTo>
                    <a:pt x="9452" y="237408"/>
                  </a:moveTo>
                  <a:lnTo>
                    <a:pt x="14644" y="237408"/>
                  </a:lnTo>
                  <a:lnTo>
                    <a:pt x="18838" y="241392"/>
                  </a:lnTo>
                  <a:lnTo>
                    <a:pt x="18838" y="246312"/>
                  </a:lnTo>
                  <a:lnTo>
                    <a:pt x="18838" y="251232"/>
                  </a:lnTo>
                  <a:lnTo>
                    <a:pt x="14644" y="255216"/>
                  </a:lnTo>
                  <a:lnTo>
                    <a:pt x="9452" y="255216"/>
                  </a:lnTo>
                  <a:lnTo>
                    <a:pt x="4193" y="255216"/>
                  </a:lnTo>
                  <a:lnTo>
                    <a:pt x="0" y="251232"/>
                  </a:lnTo>
                  <a:lnTo>
                    <a:pt x="0" y="246312"/>
                  </a:lnTo>
                  <a:lnTo>
                    <a:pt x="0" y="241392"/>
                  </a:lnTo>
                  <a:lnTo>
                    <a:pt x="4193" y="237408"/>
                  </a:lnTo>
                  <a:lnTo>
                    <a:pt x="9452" y="237408"/>
                  </a:lnTo>
                  <a:close/>
                </a:path>
                <a:path w="387350" h="318134">
                  <a:moveTo>
                    <a:pt x="218606" y="0"/>
                  </a:moveTo>
                  <a:lnTo>
                    <a:pt x="218606" y="133590"/>
                  </a:lnTo>
                </a:path>
                <a:path w="387350" h="318134">
                  <a:moveTo>
                    <a:pt x="386822" y="158781"/>
                  </a:moveTo>
                  <a:lnTo>
                    <a:pt x="245300" y="158781"/>
                  </a:lnTo>
                </a:path>
                <a:path w="387350" h="318134">
                  <a:moveTo>
                    <a:pt x="207290" y="158781"/>
                  </a:moveTo>
                  <a:lnTo>
                    <a:pt x="207290" y="152874"/>
                  </a:lnTo>
                  <a:lnTo>
                    <a:pt x="212349" y="148092"/>
                  </a:lnTo>
                  <a:lnTo>
                    <a:pt x="218606" y="148092"/>
                  </a:lnTo>
                  <a:lnTo>
                    <a:pt x="224864" y="148092"/>
                  </a:lnTo>
                  <a:lnTo>
                    <a:pt x="229923" y="152874"/>
                  </a:lnTo>
                  <a:lnTo>
                    <a:pt x="229923" y="158781"/>
                  </a:lnTo>
                  <a:lnTo>
                    <a:pt x="229923" y="164681"/>
                  </a:lnTo>
                  <a:lnTo>
                    <a:pt x="224864" y="169469"/>
                  </a:lnTo>
                  <a:lnTo>
                    <a:pt x="218606" y="169469"/>
                  </a:lnTo>
                  <a:lnTo>
                    <a:pt x="212349" y="169469"/>
                  </a:lnTo>
                  <a:lnTo>
                    <a:pt x="207290" y="164681"/>
                  </a:lnTo>
                  <a:lnTo>
                    <a:pt x="207290" y="158781"/>
                  </a:lnTo>
                  <a:close/>
                </a:path>
                <a:path w="387350" h="318134">
                  <a:moveTo>
                    <a:pt x="218606" y="183972"/>
                  </a:moveTo>
                  <a:lnTo>
                    <a:pt x="218606" y="317556"/>
                  </a:lnTo>
                </a:path>
                <a:path w="387350" h="318134">
                  <a:moveTo>
                    <a:pt x="191913" y="158781"/>
                  </a:moveTo>
                  <a:lnTo>
                    <a:pt x="50391" y="158781"/>
                  </a:lnTo>
                </a:path>
              </a:pathLst>
            </a:custGeom>
            <a:ln w="4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1836844" y="778895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60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60" y="17807"/>
                  </a:lnTo>
                  <a:lnTo>
                    <a:pt x="14644" y="17807"/>
                  </a:lnTo>
                  <a:lnTo>
                    <a:pt x="18905" y="13824"/>
                  </a:lnTo>
                  <a:lnTo>
                    <a:pt x="18905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1836844" y="778895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83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83"/>
                  </a:lnTo>
                  <a:lnTo>
                    <a:pt x="18905" y="8903"/>
                  </a:lnTo>
                  <a:lnTo>
                    <a:pt x="18905" y="13824"/>
                  </a:lnTo>
                  <a:lnTo>
                    <a:pt x="14644" y="17807"/>
                  </a:lnTo>
                  <a:lnTo>
                    <a:pt x="9452" y="17807"/>
                  </a:lnTo>
                  <a:lnTo>
                    <a:pt x="4260" y="17807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1836844" y="814517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6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60" y="17814"/>
                  </a:lnTo>
                  <a:lnTo>
                    <a:pt x="14644" y="17814"/>
                  </a:lnTo>
                  <a:lnTo>
                    <a:pt x="18905" y="13824"/>
                  </a:lnTo>
                  <a:lnTo>
                    <a:pt x="18905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1836844" y="814517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90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90"/>
                  </a:lnTo>
                  <a:lnTo>
                    <a:pt x="18905" y="8903"/>
                  </a:lnTo>
                  <a:lnTo>
                    <a:pt x="18905" y="13824"/>
                  </a:lnTo>
                  <a:lnTo>
                    <a:pt x="14644" y="17814"/>
                  </a:lnTo>
                  <a:lnTo>
                    <a:pt x="9452" y="17814"/>
                  </a:lnTo>
                  <a:lnTo>
                    <a:pt x="4260" y="17814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1763021" y="88424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193" y="17807"/>
                  </a:lnTo>
                  <a:lnTo>
                    <a:pt x="14644" y="17807"/>
                  </a:lnTo>
                  <a:lnTo>
                    <a:pt x="18838" y="13824"/>
                  </a:lnTo>
                  <a:lnTo>
                    <a:pt x="18838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1763021" y="88424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9452" y="0"/>
                  </a:moveTo>
                  <a:lnTo>
                    <a:pt x="14644" y="0"/>
                  </a:lnTo>
                  <a:lnTo>
                    <a:pt x="18838" y="3983"/>
                  </a:lnTo>
                  <a:lnTo>
                    <a:pt x="18838" y="8903"/>
                  </a:lnTo>
                  <a:lnTo>
                    <a:pt x="18838" y="13824"/>
                  </a:lnTo>
                  <a:lnTo>
                    <a:pt x="14644" y="17807"/>
                  </a:lnTo>
                  <a:lnTo>
                    <a:pt x="9452" y="17807"/>
                  </a:lnTo>
                  <a:lnTo>
                    <a:pt x="4193" y="17807"/>
                  </a:lnTo>
                  <a:lnTo>
                    <a:pt x="0" y="13824"/>
                  </a:lnTo>
                  <a:lnTo>
                    <a:pt x="0" y="8903"/>
                  </a:lnTo>
                  <a:lnTo>
                    <a:pt x="0" y="3983"/>
                  </a:lnTo>
                  <a:lnTo>
                    <a:pt x="4193" y="0"/>
                  </a:lnTo>
                  <a:lnTo>
                    <a:pt x="9452" y="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1725277" y="88424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193" y="17807"/>
                  </a:lnTo>
                  <a:lnTo>
                    <a:pt x="14644" y="17807"/>
                  </a:lnTo>
                  <a:lnTo>
                    <a:pt x="18838" y="13824"/>
                  </a:lnTo>
                  <a:lnTo>
                    <a:pt x="18838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1725277" y="646832"/>
              <a:ext cx="387350" cy="318135"/>
            </a:xfrm>
            <a:custGeom>
              <a:avLst/>
              <a:gdLst/>
              <a:ahLst/>
              <a:cxnLst/>
              <a:rect l="l" t="t" r="r" b="b"/>
              <a:pathLst>
                <a:path w="387350" h="318134">
                  <a:moveTo>
                    <a:pt x="9452" y="237408"/>
                  </a:moveTo>
                  <a:lnTo>
                    <a:pt x="14644" y="237408"/>
                  </a:lnTo>
                  <a:lnTo>
                    <a:pt x="18838" y="241392"/>
                  </a:lnTo>
                  <a:lnTo>
                    <a:pt x="18838" y="246312"/>
                  </a:lnTo>
                  <a:lnTo>
                    <a:pt x="18838" y="251232"/>
                  </a:lnTo>
                  <a:lnTo>
                    <a:pt x="14644" y="255216"/>
                  </a:lnTo>
                  <a:lnTo>
                    <a:pt x="9452" y="255216"/>
                  </a:lnTo>
                  <a:lnTo>
                    <a:pt x="4193" y="255216"/>
                  </a:lnTo>
                  <a:lnTo>
                    <a:pt x="0" y="251232"/>
                  </a:lnTo>
                  <a:lnTo>
                    <a:pt x="0" y="246312"/>
                  </a:lnTo>
                  <a:lnTo>
                    <a:pt x="0" y="241392"/>
                  </a:lnTo>
                  <a:lnTo>
                    <a:pt x="4193" y="237408"/>
                  </a:lnTo>
                  <a:lnTo>
                    <a:pt x="9452" y="237408"/>
                  </a:lnTo>
                  <a:close/>
                </a:path>
                <a:path w="387350" h="318134">
                  <a:moveTo>
                    <a:pt x="218873" y="0"/>
                  </a:moveTo>
                  <a:lnTo>
                    <a:pt x="218873" y="133590"/>
                  </a:lnTo>
                </a:path>
                <a:path w="387350" h="318134">
                  <a:moveTo>
                    <a:pt x="387088" y="158781"/>
                  </a:moveTo>
                  <a:lnTo>
                    <a:pt x="245566" y="158781"/>
                  </a:lnTo>
                </a:path>
                <a:path w="387350" h="318134">
                  <a:moveTo>
                    <a:pt x="207556" y="158781"/>
                  </a:moveTo>
                  <a:lnTo>
                    <a:pt x="207556" y="152874"/>
                  </a:lnTo>
                  <a:lnTo>
                    <a:pt x="212615" y="148092"/>
                  </a:lnTo>
                  <a:lnTo>
                    <a:pt x="218873" y="148092"/>
                  </a:lnTo>
                  <a:lnTo>
                    <a:pt x="225130" y="148092"/>
                  </a:lnTo>
                  <a:lnTo>
                    <a:pt x="230189" y="152874"/>
                  </a:lnTo>
                  <a:lnTo>
                    <a:pt x="230189" y="158781"/>
                  </a:lnTo>
                  <a:lnTo>
                    <a:pt x="230189" y="164681"/>
                  </a:lnTo>
                  <a:lnTo>
                    <a:pt x="225130" y="169469"/>
                  </a:lnTo>
                  <a:lnTo>
                    <a:pt x="218873" y="169469"/>
                  </a:lnTo>
                  <a:lnTo>
                    <a:pt x="212615" y="169469"/>
                  </a:lnTo>
                  <a:lnTo>
                    <a:pt x="207556" y="164681"/>
                  </a:lnTo>
                  <a:lnTo>
                    <a:pt x="207556" y="158781"/>
                  </a:lnTo>
                  <a:close/>
                </a:path>
                <a:path w="387350" h="318134">
                  <a:moveTo>
                    <a:pt x="218873" y="183972"/>
                  </a:moveTo>
                  <a:lnTo>
                    <a:pt x="218873" y="317556"/>
                  </a:lnTo>
                </a:path>
                <a:path w="387350" h="318134">
                  <a:moveTo>
                    <a:pt x="192179" y="158781"/>
                  </a:moveTo>
                  <a:lnTo>
                    <a:pt x="50657" y="158781"/>
                  </a:lnTo>
                </a:path>
              </a:pathLst>
            </a:custGeom>
            <a:ln w="46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2027426" y="778895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60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260" y="17807"/>
                  </a:lnTo>
                  <a:lnTo>
                    <a:pt x="14644" y="17807"/>
                  </a:lnTo>
                  <a:lnTo>
                    <a:pt x="18905" y="13824"/>
                  </a:lnTo>
                  <a:lnTo>
                    <a:pt x="18905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2027426" y="778895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83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83"/>
                  </a:lnTo>
                  <a:lnTo>
                    <a:pt x="18905" y="8903"/>
                  </a:lnTo>
                  <a:lnTo>
                    <a:pt x="18905" y="13824"/>
                  </a:lnTo>
                  <a:lnTo>
                    <a:pt x="14644" y="17807"/>
                  </a:lnTo>
                  <a:lnTo>
                    <a:pt x="9452" y="17807"/>
                  </a:lnTo>
                  <a:lnTo>
                    <a:pt x="4260" y="17807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2027426" y="814517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260" y="0"/>
                  </a:lnTo>
                  <a:lnTo>
                    <a:pt x="0" y="3990"/>
                  </a:lnTo>
                  <a:lnTo>
                    <a:pt x="0" y="13824"/>
                  </a:lnTo>
                  <a:lnTo>
                    <a:pt x="4260" y="17814"/>
                  </a:lnTo>
                  <a:lnTo>
                    <a:pt x="14644" y="17814"/>
                  </a:lnTo>
                  <a:lnTo>
                    <a:pt x="18905" y="13824"/>
                  </a:lnTo>
                  <a:lnTo>
                    <a:pt x="18905" y="3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2027426" y="814517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0" y="8903"/>
                  </a:moveTo>
                  <a:lnTo>
                    <a:pt x="0" y="3990"/>
                  </a:lnTo>
                  <a:lnTo>
                    <a:pt x="4260" y="0"/>
                  </a:lnTo>
                  <a:lnTo>
                    <a:pt x="9452" y="0"/>
                  </a:lnTo>
                  <a:lnTo>
                    <a:pt x="14644" y="0"/>
                  </a:lnTo>
                  <a:lnTo>
                    <a:pt x="18905" y="3990"/>
                  </a:lnTo>
                  <a:lnTo>
                    <a:pt x="18905" y="8903"/>
                  </a:lnTo>
                  <a:lnTo>
                    <a:pt x="18905" y="13824"/>
                  </a:lnTo>
                  <a:lnTo>
                    <a:pt x="14644" y="17814"/>
                  </a:lnTo>
                  <a:lnTo>
                    <a:pt x="9452" y="17814"/>
                  </a:lnTo>
                  <a:lnTo>
                    <a:pt x="4260" y="17814"/>
                  </a:lnTo>
                  <a:lnTo>
                    <a:pt x="0" y="13824"/>
                  </a:lnTo>
                  <a:lnTo>
                    <a:pt x="0" y="8903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1953603" y="88424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193" y="17807"/>
                  </a:lnTo>
                  <a:lnTo>
                    <a:pt x="14644" y="17807"/>
                  </a:lnTo>
                  <a:lnTo>
                    <a:pt x="18838" y="13824"/>
                  </a:lnTo>
                  <a:lnTo>
                    <a:pt x="18838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1953603" y="88424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9452" y="0"/>
                  </a:moveTo>
                  <a:lnTo>
                    <a:pt x="14644" y="0"/>
                  </a:lnTo>
                  <a:lnTo>
                    <a:pt x="18838" y="3983"/>
                  </a:lnTo>
                  <a:lnTo>
                    <a:pt x="18838" y="8903"/>
                  </a:lnTo>
                  <a:lnTo>
                    <a:pt x="18838" y="13824"/>
                  </a:lnTo>
                  <a:lnTo>
                    <a:pt x="14644" y="17807"/>
                  </a:lnTo>
                  <a:lnTo>
                    <a:pt x="9452" y="17807"/>
                  </a:lnTo>
                  <a:lnTo>
                    <a:pt x="4193" y="17807"/>
                  </a:lnTo>
                  <a:lnTo>
                    <a:pt x="0" y="13824"/>
                  </a:lnTo>
                  <a:lnTo>
                    <a:pt x="0" y="8903"/>
                  </a:lnTo>
                  <a:lnTo>
                    <a:pt x="0" y="3983"/>
                  </a:lnTo>
                  <a:lnTo>
                    <a:pt x="4193" y="0"/>
                  </a:lnTo>
                  <a:lnTo>
                    <a:pt x="9452" y="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1915859" y="88424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4644" y="0"/>
                  </a:moveTo>
                  <a:lnTo>
                    <a:pt x="4193" y="0"/>
                  </a:lnTo>
                  <a:lnTo>
                    <a:pt x="0" y="3983"/>
                  </a:lnTo>
                  <a:lnTo>
                    <a:pt x="0" y="13824"/>
                  </a:lnTo>
                  <a:lnTo>
                    <a:pt x="4193" y="17807"/>
                  </a:lnTo>
                  <a:lnTo>
                    <a:pt x="14644" y="17807"/>
                  </a:lnTo>
                  <a:lnTo>
                    <a:pt x="18838" y="13824"/>
                  </a:lnTo>
                  <a:lnTo>
                    <a:pt x="18838" y="3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1915859" y="88424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9452" y="0"/>
                  </a:moveTo>
                  <a:lnTo>
                    <a:pt x="14644" y="0"/>
                  </a:lnTo>
                  <a:lnTo>
                    <a:pt x="18838" y="3983"/>
                  </a:lnTo>
                  <a:lnTo>
                    <a:pt x="18838" y="8903"/>
                  </a:lnTo>
                  <a:lnTo>
                    <a:pt x="18838" y="13824"/>
                  </a:lnTo>
                  <a:lnTo>
                    <a:pt x="14644" y="17807"/>
                  </a:lnTo>
                  <a:lnTo>
                    <a:pt x="9452" y="17807"/>
                  </a:lnTo>
                  <a:lnTo>
                    <a:pt x="4193" y="17807"/>
                  </a:lnTo>
                  <a:lnTo>
                    <a:pt x="0" y="13824"/>
                  </a:lnTo>
                  <a:lnTo>
                    <a:pt x="0" y="8903"/>
                  </a:lnTo>
                  <a:lnTo>
                    <a:pt x="0" y="3983"/>
                  </a:lnTo>
                  <a:lnTo>
                    <a:pt x="4193" y="0"/>
                  </a:lnTo>
                  <a:lnTo>
                    <a:pt x="9452" y="0"/>
                  </a:lnTo>
                  <a:close/>
                </a:path>
              </a:pathLst>
            </a:custGeom>
            <a:ln w="4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9" name="object 199"/>
          <p:cNvSpPr txBox="1"/>
          <p:nvPr/>
        </p:nvSpPr>
        <p:spPr>
          <a:xfrm>
            <a:off x="1154876" y="517414"/>
            <a:ext cx="14097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5" dirty="0">
                <a:latin typeface="Times New Roman" panose="02020603050405020304"/>
                <a:cs typeface="Times New Roman" panose="02020603050405020304"/>
              </a:rPr>
              <a:t>Extra</a:t>
            </a:r>
            <a:endParaRPr sz="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1126785" y="577731"/>
            <a:ext cx="19748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5" dirty="0">
                <a:latin typeface="Times New Roman" panose="02020603050405020304"/>
                <a:cs typeface="Times New Roman" panose="02020603050405020304"/>
              </a:rPr>
              <a:t>electron</a:t>
            </a:r>
            <a:endParaRPr sz="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1" name="object 201"/>
          <p:cNvSpPr/>
          <p:nvPr/>
        </p:nvSpPr>
        <p:spPr>
          <a:xfrm>
            <a:off x="754673" y="632097"/>
            <a:ext cx="405130" cy="109855"/>
          </a:xfrm>
          <a:custGeom>
            <a:avLst/>
            <a:gdLst/>
            <a:ahLst/>
            <a:cxnLst/>
            <a:rect l="l" t="t" r="r" b="b"/>
            <a:pathLst>
              <a:path w="405130" h="109854">
                <a:moveTo>
                  <a:pt x="83382" y="109391"/>
                </a:moveTo>
                <a:lnTo>
                  <a:pt x="3701" y="0"/>
                </a:lnTo>
              </a:path>
              <a:path w="405130" h="109854">
                <a:moveTo>
                  <a:pt x="23691" y="3493"/>
                </a:moveTo>
                <a:lnTo>
                  <a:pt x="3701" y="0"/>
                </a:lnTo>
                <a:lnTo>
                  <a:pt x="0" y="18876"/>
                </a:lnTo>
              </a:path>
              <a:path w="405130" h="109854">
                <a:moveTo>
                  <a:pt x="404515" y="109391"/>
                </a:moveTo>
                <a:lnTo>
                  <a:pt x="83382" y="109391"/>
                </a:lnTo>
              </a:path>
            </a:pathLst>
          </a:custGeom>
          <a:ln w="46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 txBox="1"/>
          <p:nvPr/>
        </p:nvSpPr>
        <p:spPr>
          <a:xfrm>
            <a:off x="1154277" y="697133"/>
            <a:ext cx="27432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5" dirty="0">
                <a:latin typeface="Times New Roman" panose="02020603050405020304"/>
                <a:cs typeface="Times New Roman" panose="02020603050405020304"/>
              </a:rPr>
              <a:t>Phosphorus</a:t>
            </a:r>
            <a:endParaRPr sz="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3" name="object 203"/>
          <p:cNvSpPr/>
          <p:nvPr/>
        </p:nvSpPr>
        <p:spPr>
          <a:xfrm>
            <a:off x="1764219" y="634617"/>
            <a:ext cx="404495" cy="109855"/>
          </a:xfrm>
          <a:custGeom>
            <a:avLst/>
            <a:gdLst/>
            <a:ahLst/>
            <a:cxnLst/>
            <a:rect l="l" t="t" r="r" b="b"/>
            <a:pathLst>
              <a:path w="404494" h="109854">
                <a:moveTo>
                  <a:pt x="83342" y="109391"/>
                </a:moveTo>
                <a:lnTo>
                  <a:pt x="3661" y="0"/>
                </a:lnTo>
              </a:path>
              <a:path w="404494" h="109854">
                <a:moveTo>
                  <a:pt x="23631" y="3493"/>
                </a:moveTo>
                <a:lnTo>
                  <a:pt x="3661" y="0"/>
                </a:lnTo>
                <a:lnTo>
                  <a:pt x="0" y="18876"/>
                </a:lnTo>
              </a:path>
              <a:path w="404494" h="109854">
                <a:moveTo>
                  <a:pt x="404462" y="109391"/>
                </a:moveTo>
                <a:lnTo>
                  <a:pt x="83342" y="109391"/>
                </a:lnTo>
              </a:path>
            </a:pathLst>
          </a:custGeom>
          <a:ln w="46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 txBox="1"/>
          <p:nvPr/>
        </p:nvSpPr>
        <p:spPr>
          <a:xfrm>
            <a:off x="2164901" y="697133"/>
            <a:ext cx="15875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5" dirty="0">
                <a:latin typeface="Times New Roman" panose="02020603050405020304"/>
                <a:cs typeface="Times New Roman" panose="02020603050405020304"/>
              </a:rPr>
              <a:t>Boron</a:t>
            </a:r>
            <a:endParaRPr sz="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5" name="object 205"/>
          <p:cNvSpPr/>
          <p:nvPr/>
        </p:nvSpPr>
        <p:spPr>
          <a:xfrm>
            <a:off x="1861141" y="535624"/>
            <a:ext cx="307340" cy="74295"/>
          </a:xfrm>
          <a:custGeom>
            <a:avLst/>
            <a:gdLst/>
            <a:ahLst/>
            <a:cxnLst/>
            <a:rect l="l" t="t" r="r" b="b"/>
            <a:pathLst>
              <a:path w="307339" h="74295">
                <a:moveTo>
                  <a:pt x="158496" y="0"/>
                </a:moveTo>
                <a:lnTo>
                  <a:pt x="0" y="66933"/>
                </a:lnTo>
              </a:path>
              <a:path w="307339" h="74295">
                <a:moveTo>
                  <a:pt x="7255" y="48999"/>
                </a:moveTo>
                <a:lnTo>
                  <a:pt x="0" y="66933"/>
                </a:lnTo>
                <a:lnTo>
                  <a:pt x="18971" y="73776"/>
                </a:lnTo>
              </a:path>
              <a:path w="307339" h="74295">
                <a:moveTo>
                  <a:pt x="306741" y="0"/>
                </a:moveTo>
                <a:lnTo>
                  <a:pt x="158496" y="0"/>
                </a:lnTo>
              </a:path>
            </a:pathLst>
          </a:custGeom>
          <a:ln w="46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 txBox="1"/>
          <p:nvPr/>
        </p:nvSpPr>
        <p:spPr>
          <a:xfrm>
            <a:off x="1763235" y="490696"/>
            <a:ext cx="779145" cy="146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8940">
              <a:lnSpc>
                <a:spcPts val="475"/>
              </a:lnSpc>
              <a:spcBef>
                <a:spcPts val="95"/>
              </a:spcBef>
            </a:pPr>
            <a:r>
              <a:rPr sz="400" spc="5" dirty="0">
                <a:latin typeface="Times New Roman" panose="02020603050405020304"/>
                <a:cs typeface="Times New Roman" panose="02020603050405020304"/>
              </a:rPr>
              <a:t>Missing</a:t>
            </a:r>
            <a:r>
              <a:rPr sz="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" spc="5" dirty="0">
                <a:latin typeface="Times New Roman" panose="02020603050405020304"/>
                <a:cs typeface="Times New Roman" panose="02020603050405020304"/>
              </a:rPr>
              <a:t>electron</a:t>
            </a:r>
            <a:endParaRPr sz="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475"/>
              </a:lnSpc>
              <a:tabLst>
                <a:tab pos="207010" algn="l"/>
                <a:tab pos="408940" algn="l"/>
              </a:tabLst>
            </a:pPr>
            <a:r>
              <a:rPr sz="400" u="sng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00" u="sng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400" u="sng" spc="-3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00" spc="5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" spc="5" dirty="0">
                <a:latin typeface="Times New Roman" panose="02020603050405020304"/>
                <a:cs typeface="Times New Roman" panose="02020603050405020304"/>
              </a:rPr>
              <a:t>hole</a:t>
            </a:r>
            <a:endParaRPr sz="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81788" y="960780"/>
            <a:ext cx="2522220" cy="978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95"/>
              </a:spcBef>
              <a:tabLst>
                <a:tab pos="1398270" algn="l"/>
              </a:tabLst>
            </a:pPr>
            <a:r>
              <a:rPr sz="400" b="1" i="1" spc="5" dirty="0">
                <a:latin typeface="Times New Roman" panose="02020603050405020304"/>
                <a:cs typeface="Times New Roman" panose="02020603050405020304"/>
              </a:rPr>
              <a:t>Silicon doped</a:t>
            </a:r>
            <a:r>
              <a:rPr sz="400" b="1" i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" b="1" i="1" spc="5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400" b="1" i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" b="1" i="1" spc="5" dirty="0">
                <a:latin typeface="Times New Roman" panose="02020603050405020304"/>
                <a:cs typeface="Times New Roman" panose="02020603050405020304"/>
              </a:rPr>
              <a:t>phosphorus	Silicon doped with</a:t>
            </a:r>
            <a:r>
              <a:rPr sz="400" b="1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" b="1" i="1" spc="5" dirty="0">
                <a:latin typeface="Times New Roman" panose="02020603050405020304"/>
                <a:cs typeface="Times New Roman" panose="02020603050405020304"/>
              </a:rPr>
              <a:t>boron</a:t>
            </a:r>
            <a:endParaRPr sz="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00">
              <a:latin typeface="Times New Roman" panose="02020603050405020304"/>
              <a:cs typeface="Times New Roman" panose="02020603050405020304"/>
            </a:endParaRPr>
          </a:p>
          <a:p>
            <a:pPr marL="81280" marR="5080" indent="-68580" algn="just">
              <a:lnSpc>
                <a:spcPct val="106000"/>
              </a:lnSpc>
              <a:buFont typeface="Wingdings" panose="05000000000000000000"/>
              <a:buChar char=""/>
              <a:tabLst>
                <a:tab pos="81280" algn="l"/>
              </a:tabLst>
            </a:pPr>
            <a:r>
              <a:rPr sz="500" spc="-20" dirty="0">
                <a:latin typeface="DejaVu Serif"/>
                <a:cs typeface="DejaVu Serif"/>
              </a:rPr>
              <a:t>If </a:t>
            </a:r>
            <a:r>
              <a:rPr sz="500" dirty="0">
                <a:latin typeface="DejaVu Serif"/>
                <a:cs typeface="DejaVu Serif"/>
              </a:rPr>
              <a:t>the silicon </a:t>
            </a:r>
            <a:r>
              <a:rPr sz="500" spc="5" dirty="0">
                <a:latin typeface="DejaVu Serif"/>
                <a:cs typeface="DejaVu Serif"/>
              </a:rPr>
              <a:t>is </a:t>
            </a:r>
            <a:r>
              <a:rPr sz="500" b="1" i="1" spc="10" dirty="0">
                <a:latin typeface="TeX Gyre Bonum"/>
                <a:cs typeface="TeX Gyre Bonum"/>
              </a:rPr>
              <a:t>doped  </a:t>
            </a:r>
            <a:r>
              <a:rPr sz="500" spc="10" dirty="0">
                <a:latin typeface="DejaVu Serif"/>
                <a:cs typeface="DejaVu Serif"/>
              </a:rPr>
              <a:t>(</a:t>
            </a:r>
            <a:r>
              <a:rPr sz="500" b="1" i="1" spc="10" dirty="0">
                <a:latin typeface="TeX Gyre Bonum"/>
                <a:cs typeface="TeX Gyre Bonum"/>
              </a:rPr>
              <a:t>doping</a:t>
            </a:r>
            <a:r>
              <a:rPr sz="500" spc="10" dirty="0">
                <a:latin typeface="DejaVu Serif"/>
                <a:cs typeface="DejaVu Serif"/>
              </a:rPr>
              <a:t>-</a:t>
            </a:r>
            <a:r>
              <a:rPr sz="500" i="1" spc="10" dirty="0">
                <a:latin typeface="Bookman Uralic"/>
                <a:cs typeface="Bookman Uralic"/>
              </a:rPr>
              <a:t>introduction of </a:t>
            </a:r>
            <a:r>
              <a:rPr sz="500" i="1" spc="5" dirty="0">
                <a:latin typeface="Bookman Uralic"/>
                <a:cs typeface="Bookman Uralic"/>
              </a:rPr>
              <a:t>impurities into </a:t>
            </a:r>
            <a:r>
              <a:rPr sz="500" i="1" spc="10" dirty="0">
                <a:latin typeface="Bookman Uralic"/>
                <a:cs typeface="Bookman Uralic"/>
              </a:rPr>
              <a:t>the  semiconductor crystal </a:t>
            </a:r>
            <a:r>
              <a:rPr sz="500" i="1" dirty="0">
                <a:latin typeface="Bookman Uralic"/>
                <a:cs typeface="Bookman Uralic"/>
              </a:rPr>
              <a:t>to </a:t>
            </a:r>
            <a:r>
              <a:rPr sz="500" i="1" spc="10" dirty="0">
                <a:latin typeface="Bookman Uralic"/>
                <a:cs typeface="Bookman Uralic"/>
              </a:rPr>
              <a:t>change its </a:t>
            </a:r>
            <a:r>
              <a:rPr sz="500" i="1" spc="5" dirty="0">
                <a:latin typeface="Bookman Uralic"/>
                <a:cs typeface="Bookman Uralic"/>
              </a:rPr>
              <a:t>conductivity</a:t>
            </a:r>
            <a:r>
              <a:rPr sz="500" spc="5" dirty="0">
                <a:latin typeface="DejaVu Serif"/>
                <a:cs typeface="DejaVu Serif"/>
              </a:rPr>
              <a:t>) </a:t>
            </a:r>
            <a:r>
              <a:rPr sz="500" spc="-5" dirty="0">
                <a:latin typeface="DejaVu Serif"/>
                <a:cs typeface="DejaVu Serif"/>
              </a:rPr>
              <a:t>with </a:t>
            </a:r>
            <a:r>
              <a:rPr sz="500" spc="5" dirty="0">
                <a:latin typeface="DejaVu Serif"/>
                <a:cs typeface="DejaVu Serif"/>
              </a:rPr>
              <a:t>a small quantity </a:t>
            </a:r>
            <a:r>
              <a:rPr sz="500" spc="-15" dirty="0">
                <a:latin typeface="DejaVu Serif"/>
                <a:cs typeface="DejaVu Serif"/>
              </a:rPr>
              <a:t>of  </a:t>
            </a:r>
            <a:r>
              <a:rPr sz="500" spc="15" dirty="0">
                <a:latin typeface="DejaVu Serif"/>
                <a:cs typeface="DejaVu Serif"/>
              </a:rPr>
              <a:t>an </a:t>
            </a:r>
            <a:r>
              <a:rPr sz="500" spc="-5" dirty="0">
                <a:latin typeface="DejaVu Serif"/>
                <a:cs typeface="DejaVu Serif"/>
              </a:rPr>
              <a:t>element </a:t>
            </a:r>
            <a:r>
              <a:rPr sz="500" spc="5" dirty="0">
                <a:latin typeface="DejaVu Serif"/>
                <a:cs typeface="DejaVu Serif"/>
              </a:rPr>
              <a:t>that </a:t>
            </a:r>
            <a:r>
              <a:rPr sz="500" spc="15" dirty="0">
                <a:latin typeface="DejaVu Serif"/>
                <a:cs typeface="DejaVu Serif"/>
              </a:rPr>
              <a:t>has </a:t>
            </a:r>
            <a:r>
              <a:rPr sz="500" i="1" spc="10" dirty="0">
                <a:latin typeface="Bookman Uralic"/>
                <a:cs typeface="Bookman Uralic"/>
              </a:rPr>
              <a:t>five valence electrons </a:t>
            </a:r>
            <a:r>
              <a:rPr sz="500" spc="10" dirty="0">
                <a:latin typeface="DejaVu Serif"/>
                <a:cs typeface="DejaVu Serif"/>
              </a:rPr>
              <a:t>in </a:t>
            </a:r>
            <a:r>
              <a:rPr sz="500" spc="15" dirty="0">
                <a:latin typeface="DejaVu Serif"/>
                <a:cs typeface="DejaVu Serif"/>
              </a:rPr>
              <a:t>an </a:t>
            </a:r>
            <a:r>
              <a:rPr sz="500" spc="5" dirty="0">
                <a:latin typeface="DejaVu Serif"/>
                <a:cs typeface="DejaVu Serif"/>
              </a:rPr>
              <a:t>atom </a:t>
            </a:r>
            <a:r>
              <a:rPr sz="500" spc="10" dirty="0">
                <a:latin typeface="DejaVu Serif"/>
                <a:cs typeface="DejaVu Serif"/>
              </a:rPr>
              <a:t>and </a:t>
            </a:r>
            <a:r>
              <a:rPr sz="500" spc="-5" dirty="0">
                <a:latin typeface="DejaVu Serif"/>
                <a:cs typeface="DejaVu Serif"/>
              </a:rPr>
              <a:t>it </a:t>
            </a:r>
            <a:r>
              <a:rPr sz="500" spc="10" dirty="0">
                <a:latin typeface="DejaVu Serif"/>
                <a:cs typeface="DejaVu Serif"/>
              </a:rPr>
              <a:t>can </a:t>
            </a:r>
            <a:r>
              <a:rPr sz="500" spc="-10" dirty="0">
                <a:latin typeface="DejaVu Serif"/>
                <a:cs typeface="DejaVu Serif"/>
              </a:rPr>
              <a:t>fit </a:t>
            </a:r>
            <a:r>
              <a:rPr sz="500" dirty="0">
                <a:latin typeface="DejaVu Serif"/>
                <a:cs typeface="DejaVu Serif"/>
              </a:rPr>
              <a:t>into  the silicon crystal structure </a:t>
            </a:r>
            <a:r>
              <a:rPr sz="500" spc="5" dirty="0">
                <a:latin typeface="DejaVu Serif"/>
                <a:cs typeface="DejaVu Serif"/>
              </a:rPr>
              <a:t>(such </a:t>
            </a:r>
            <a:r>
              <a:rPr sz="500" spc="15" dirty="0">
                <a:latin typeface="DejaVu Serif"/>
                <a:cs typeface="DejaVu Serif"/>
              </a:rPr>
              <a:t>as </a:t>
            </a:r>
            <a:r>
              <a:rPr sz="500" spc="10" dirty="0">
                <a:latin typeface="DejaVu Serif"/>
                <a:cs typeface="DejaVu Serif"/>
              </a:rPr>
              <a:t>phosphorus/arsenic), </a:t>
            </a:r>
            <a:r>
              <a:rPr sz="500" spc="-5" dirty="0">
                <a:latin typeface="DejaVu Serif"/>
                <a:cs typeface="DejaVu Serif"/>
              </a:rPr>
              <a:t>some extra  electrons </a:t>
            </a:r>
            <a:r>
              <a:rPr sz="500" spc="-10" dirty="0">
                <a:latin typeface="DejaVu Serif"/>
                <a:cs typeface="DejaVu Serif"/>
              </a:rPr>
              <a:t>are created </a:t>
            </a:r>
            <a:r>
              <a:rPr sz="500" spc="-5" dirty="0">
                <a:latin typeface="DejaVu Serif"/>
                <a:cs typeface="DejaVu Serif"/>
              </a:rPr>
              <a:t>(as the fifth </a:t>
            </a:r>
            <a:r>
              <a:rPr sz="500" spc="-10" dirty="0">
                <a:latin typeface="DejaVu Serif"/>
                <a:cs typeface="DejaVu Serif"/>
              </a:rPr>
              <a:t>valence </a:t>
            </a:r>
            <a:r>
              <a:rPr sz="500" spc="-5" dirty="0">
                <a:latin typeface="DejaVu Serif"/>
                <a:cs typeface="DejaVu Serif"/>
              </a:rPr>
              <a:t>electron does </a:t>
            </a:r>
            <a:r>
              <a:rPr sz="500" dirty="0">
                <a:latin typeface="DejaVu Serif"/>
                <a:cs typeface="DejaVu Serif"/>
              </a:rPr>
              <a:t>not </a:t>
            </a:r>
            <a:r>
              <a:rPr sz="500" spc="-10" dirty="0">
                <a:latin typeface="DejaVu Serif"/>
                <a:cs typeface="DejaVu Serif"/>
              </a:rPr>
              <a:t>create </a:t>
            </a:r>
            <a:r>
              <a:rPr sz="500" spc="5" dirty="0">
                <a:latin typeface="DejaVu Serif"/>
                <a:cs typeface="DejaVu Serif"/>
              </a:rPr>
              <a:t>a  </a:t>
            </a:r>
            <a:r>
              <a:rPr sz="500" spc="-5" dirty="0">
                <a:latin typeface="DejaVu Serif"/>
                <a:cs typeface="DejaVu Serif"/>
              </a:rPr>
              <a:t>covalent bond). </a:t>
            </a:r>
            <a:r>
              <a:rPr sz="500" spc="10" dirty="0">
                <a:latin typeface="DejaVu Serif"/>
                <a:cs typeface="DejaVu Serif"/>
              </a:rPr>
              <a:t>Such </a:t>
            </a:r>
            <a:r>
              <a:rPr sz="500" spc="5" dirty="0">
                <a:latin typeface="DejaVu Serif"/>
                <a:cs typeface="DejaVu Serif"/>
              </a:rPr>
              <a:t>a </a:t>
            </a:r>
            <a:r>
              <a:rPr sz="500" spc="-5" dirty="0">
                <a:latin typeface="DejaVu Serif"/>
                <a:cs typeface="DejaVu Serif"/>
              </a:rPr>
              <a:t>doped </a:t>
            </a:r>
            <a:r>
              <a:rPr sz="500" dirty="0">
                <a:latin typeface="DejaVu Serif"/>
                <a:cs typeface="DejaVu Serif"/>
              </a:rPr>
              <a:t>material </a:t>
            </a:r>
            <a:r>
              <a:rPr sz="500" spc="5" dirty="0">
                <a:latin typeface="DejaVu Serif"/>
                <a:cs typeface="DejaVu Serif"/>
              </a:rPr>
              <a:t>is </a:t>
            </a:r>
            <a:r>
              <a:rPr sz="500" spc="-5" dirty="0">
                <a:latin typeface="DejaVu Serif"/>
                <a:cs typeface="DejaVu Serif"/>
              </a:rPr>
              <a:t>called </a:t>
            </a:r>
            <a:r>
              <a:rPr sz="500" spc="15" dirty="0">
                <a:latin typeface="DejaVu Serif"/>
                <a:cs typeface="DejaVu Serif"/>
              </a:rPr>
              <a:t>an </a:t>
            </a:r>
            <a:r>
              <a:rPr sz="500" b="1" i="1" spc="10" dirty="0">
                <a:latin typeface="TeX Gyre Bonum"/>
                <a:cs typeface="TeX Gyre Bonum"/>
              </a:rPr>
              <a:t>n-type  semiconductor</a:t>
            </a:r>
            <a:r>
              <a:rPr sz="500" spc="10" dirty="0">
                <a:latin typeface="DejaVu Serif"/>
                <a:cs typeface="DejaVu Serif"/>
              </a:rPr>
              <a:t>, </a:t>
            </a:r>
            <a:r>
              <a:rPr sz="500" dirty="0">
                <a:latin typeface="DejaVu Serif"/>
                <a:cs typeface="DejaVu Serif"/>
              </a:rPr>
              <a:t>because the </a:t>
            </a:r>
            <a:r>
              <a:rPr sz="500" spc="-5" dirty="0">
                <a:latin typeface="DejaVu Serif"/>
                <a:cs typeface="DejaVu Serif"/>
              </a:rPr>
              <a:t>extra electrons carry </a:t>
            </a:r>
            <a:r>
              <a:rPr sz="500" spc="5" dirty="0">
                <a:latin typeface="DejaVu Serif"/>
                <a:cs typeface="DejaVu Serif"/>
              </a:rPr>
              <a:t>a </a:t>
            </a:r>
            <a:r>
              <a:rPr sz="500" spc="-10" dirty="0">
                <a:latin typeface="DejaVu Serif"/>
                <a:cs typeface="DejaVu Serif"/>
              </a:rPr>
              <a:t>negative</a:t>
            </a:r>
            <a:r>
              <a:rPr sz="500" spc="25" dirty="0">
                <a:latin typeface="DejaVu Serif"/>
                <a:cs typeface="DejaVu Serif"/>
              </a:rPr>
              <a:t> </a:t>
            </a:r>
            <a:r>
              <a:rPr sz="500" spc="-5" dirty="0">
                <a:latin typeface="DejaVu Serif"/>
                <a:cs typeface="DejaVu Serif"/>
              </a:rPr>
              <a:t>charge.</a:t>
            </a:r>
            <a:endParaRPr sz="500">
              <a:latin typeface="DejaVu Serif"/>
              <a:cs typeface="DejaVu Serif"/>
            </a:endParaRPr>
          </a:p>
          <a:p>
            <a:pPr marL="81280" marR="5080" indent="-68580" algn="just">
              <a:lnSpc>
                <a:spcPct val="106000"/>
              </a:lnSpc>
              <a:spcBef>
                <a:spcPts val="170"/>
              </a:spcBef>
              <a:buFont typeface="Wingdings" panose="05000000000000000000"/>
              <a:buChar char=""/>
              <a:tabLst>
                <a:tab pos="81280" algn="l"/>
              </a:tabLst>
            </a:pPr>
            <a:r>
              <a:rPr sz="500" spc="-5" dirty="0">
                <a:latin typeface="DejaVu Serif"/>
                <a:cs typeface="DejaVu Serif"/>
              </a:rPr>
              <a:t>Alternatively, </a:t>
            </a:r>
            <a:r>
              <a:rPr sz="500" spc="-15" dirty="0">
                <a:latin typeface="DejaVu Serif"/>
                <a:cs typeface="DejaVu Serif"/>
              </a:rPr>
              <a:t>if </a:t>
            </a:r>
            <a:r>
              <a:rPr sz="500" spc="-5" dirty="0">
                <a:latin typeface="DejaVu Serif"/>
                <a:cs typeface="DejaVu Serif"/>
              </a:rPr>
              <a:t>the </a:t>
            </a:r>
            <a:r>
              <a:rPr sz="500" dirty="0">
                <a:latin typeface="DejaVu Serif"/>
                <a:cs typeface="DejaVu Serif"/>
              </a:rPr>
              <a:t>semiconductor </a:t>
            </a:r>
            <a:r>
              <a:rPr sz="500" spc="5" dirty="0">
                <a:latin typeface="DejaVu Serif"/>
                <a:cs typeface="DejaVu Serif"/>
              </a:rPr>
              <a:t>is </a:t>
            </a:r>
            <a:r>
              <a:rPr sz="500" spc="-5" dirty="0">
                <a:latin typeface="DejaVu Serif"/>
                <a:cs typeface="DejaVu Serif"/>
              </a:rPr>
              <a:t>doped with </a:t>
            </a:r>
            <a:r>
              <a:rPr sz="500" spc="15" dirty="0">
                <a:latin typeface="DejaVu Serif"/>
                <a:cs typeface="DejaVu Serif"/>
              </a:rPr>
              <a:t>an </a:t>
            </a:r>
            <a:r>
              <a:rPr sz="500" spc="-5" dirty="0">
                <a:latin typeface="DejaVu Serif"/>
                <a:cs typeface="DejaVu Serif"/>
              </a:rPr>
              <a:t>element </a:t>
            </a:r>
            <a:r>
              <a:rPr sz="500" dirty="0">
                <a:latin typeface="DejaVu Serif"/>
                <a:cs typeface="DejaVu Serif"/>
              </a:rPr>
              <a:t>that </a:t>
            </a:r>
            <a:r>
              <a:rPr sz="500" spc="15" dirty="0">
                <a:latin typeface="DejaVu Serif"/>
                <a:cs typeface="DejaVu Serif"/>
              </a:rPr>
              <a:t>has </a:t>
            </a:r>
            <a:r>
              <a:rPr sz="500" dirty="0">
                <a:latin typeface="DejaVu Serif"/>
                <a:cs typeface="DejaVu Serif"/>
              </a:rPr>
              <a:t>only  </a:t>
            </a:r>
            <a:r>
              <a:rPr sz="500" i="1" spc="5" dirty="0">
                <a:latin typeface="Bookman Uralic"/>
                <a:cs typeface="Bookman Uralic"/>
              </a:rPr>
              <a:t>three </a:t>
            </a:r>
            <a:r>
              <a:rPr sz="500" i="1" spc="10" dirty="0">
                <a:latin typeface="Bookman Uralic"/>
                <a:cs typeface="Bookman Uralic"/>
              </a:rPr>
              <a:t>valence electrons </a:t>
            </a:r>
            <a:r>
              <a:rPr sz="500" spc="5" dirty="0">
                <a:latin typeface="DejaVu Serif"/>
                <a:cs typeface="DejaVu Serif"/>
              </a:rPr>
              <a:t>(such </a:t>
            </a:r>
            <a:r>
              <a:rPr sz="500" spc="15" dirty="0">
                <a:latin typeface="DejaVu Serif"/>
                <a:cs typeface="DejaVu Serif"/>
              </a:rPr>
              <a:t>as </a:t>
            </a:r>
            <a:r>
              <a:rPr sz="500" spc="5" dirty="0">
                <a:latin typeface="DejaVu Serif"/>
                <a:cs typeface="DejaVu Serif"/>
              </a:rPr>
              <a:t>boron/gallium) </a:t>
            </a:r>
            <a:r>
              <a:rPr sz="500" dirty="0">
                <a:latin typeface="DejaVu Serif"/>
                <a:cs typeface="DejaVu Serif"/>
              </a:rPr>
              <a:t>absence </a:t>
            </a:r>
            <a:r>
              <a:rPr sz="500" spc="-15" dirty="0">
                <a:latin typeface="DejaVu Serif"/>
                <a:cs typeface="DejaVu Serif"/>
              </a:rPr>
              <a:t>of </a:t>
            </a:r>
            <a:r>
              <a:rPr sz="500" spc="15" dirty="0">
                <a:latin typeface="DejaVu Serif"/>
                <a:cs typeface="DejaVu Serif"/>
              </a:rPr>
              <a:t>an </a:t>
            </a:r>
            <a:r>
              <a:rPr sz="500" spc="-5" dirty="0">
                <a:latin typeface="DejaVu Serif"/>
                <a:cs typeface="DejaVu Serif"/>
              </a:rPr>
              <a:t>electron </a:t>
            </a:r>
            <a:r>
              <a:rPr sz="500" spc="5" dirty="0">
                <a:latin typeface="DejaVu Serif"/>
                <a:cs typeface="DejaVu Serif"/>
              </a:rPr>
              <a:t>in  a </a:t>
            </a:r>
            <a:r>
              <a:rPr sz="500" dirty="0">
                <a:latin typeface="DejaVu Serif"/>
                <a:cs typeface="DejaVu Serif"/>
              </a:rPr>
              <a:t>covalent </a:t>
            </a:r>
            <a:r>
              <a:rPr sz="500" spc="5" dirty="0">
                <a:latin typeface="DejaVu Serif"/>
                <a:cs typeface="DejaVu Serif"/>
              </a:rPr>
              <a:t>bond </a:t>
            </a:r>
            <a:r>
              <a:rPr sz="500" spc="-10" dirty="0">
                <a:latin typeface="DejaVu Serif"/>
                <a:cs typeface="DejaVu Serif"/>
              </a:rPr>
              <a:t>or </a:t>
            </a:r>
            <a:r>
              <a:rPr sz="500" b="1" i="1" spc="10" dirty="0">
                <a:latin typeface="TeX Gyre Bonum"/>
                <a:cs typeface="TeX Gyre Bonum"/>
              </a:rPr>
              <a:t>holes</a:t>
            </a:r>
            <a:r>
              <a:rPr sz="500" spc="10" dirty="0">
                <a:latin typeface="DejaVu Serif"/>
                <a:cs typeface="DejaVu Serif"/>
              </a:rPr>
              <a:t>, </a:t>
            </a:r>
            <a:r>
              <a:rPr sz="500" spc="-10" dirty="0">
                <a:latin typeface="DejaVu Serif"/>
                <a:cs typeface="DejaVu Serif"/>
              </a:rPr>
              <a:t>are </a:t>
            </a:r>
            <a:r>
              <a:rPr sz="500" spc="-5" dirty="0">
                <a:latin typeface="DejaVu Serif"/>
                <a:cs typeface="DejaVu Serif"/>
              </a:rPr>
              <a:t>created. </a:t>
            </a:r>
            <a:r>
              <a:rPr sz="500" spc="5" dirty="0">
                <a:latin typeface="DejaVu Serif"/>
                <a:cs typeface="DejaVu Serif"/>
              </a:rPr>
              <a:t>This is a </a:t>
            </a:r>
            <a:r>
              <a:rPr sz="500" b="1" i="1" spc="10" dirty="0">
                <a:latin typeface="TeX Gyre Bonum"/>
                <a:cs typeface="TeX Gyre Bonum"/>
              </a:rPr>
              <a:t>p-type</a:t>
            </a:r>
            <a:r>
              <a:rPr sz="500" b="1" i="1" spc="55" dirty="0">
                <a:latin typeface="TeX Gyre Bonum"/>
                <a:cs typeface="TeX Gyre Bonum"/>
              </a:rPr>
              <a:t> </a:t>
            </a:r>
            <a:r>
              <a:rPr sz="500" b="1" i="1" spc="10" dirty="0">
                <a:latin typeface="TeX Gyre Bonum"/>
                <a:cs typeface="TeX Gyre Bonum"/>
              </a:rPr>
              <a:t>semiconductor</a:t>
            </a:r>
            <a:r>
              <a:rPr sz="500" spc="10" dirty="0">
                <a:latin typeface="DejaVu Serif"/>
                <a:cs typeface="DejaVu Serif"/>
              </a:rPr>
              <a:t>.</a:t>
            </a:r>
            <a:endParaRPr sz="500">
              <a:latin typeface="DejaVu Serif"/>
              <a:cs typeface="DejaVu Serif"/>
            </a:endParaRPr>
          </a:p>
        </p:txBody>
      </p:sp>
      <p:sp>
        <p:nvSpPr>
          <p:cNvPr id="208" name="object 208"/>
          <p:cNvSpPr/>
          <p:nvPr/>
        </p:nvSpPr>
        <p:spPr>
          <a:xfrm>
            <a:off x="635" y="127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" rIns="0" bIns="0" rtlCol="0">
            <a:spAutoFit/>
          </a:bodyPr>
          <a:lstStyle/>
          <a:p>
            <a:pPr marL="29210">
              <a:lnSpc>
                <a:spcPct val="100000"/>
              </a:lnSpc>
              <a:spcBef>
                <a:spcPts val="125"/>
              </a:spcBef>
            </a:pPr>
            <a:r>
              <a:rPr spc="10" dirty="0"/>
              <a:t>Photovoltaic</a:t>
            </a:r>
            <a:r>
              <a:rPr spc="-70" dirty="0"/>
              <a:t> </a:t>
            </a:r>
            <a:r>
              <a:rPr spc="10" dirty="0"/>
              <a:t>conversion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478" y="256857"/>
            <a:ext cx="2570480" cy="159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075" marR="19050" indent="-67310" algn="just">
              <a:lnSpc>
                <a:spcPct val="100000"/>
              </a:lnSpc>
              <a:spcBef>
                <a:spcPts val="95"/>
              </a:spcBef>
              <a:buSzPct val="85000"/>
              <a:buFont typeface="Wingdings" panose="05000000000000000000"/>
              <a:buChar char=""/>
              <a:tabLst>
                <a:tab pos="92710" algn="l"/>
              </a:tabLst>
            </a:pPr>
            <a:r>
              <a:rPr sz="650" dirty="0">
                <a:latin typeface="DejaVu Serif"/>
                <a:cs typeface="DejaVu Serif"/>
              </a:rPr>
              <a:t>But </a:t>
            </a:r>
            <a:r>
              <a:rPr sz="650" spc="-35" dirty="0">
                <a:latin typeface="DejaVu Serif"/>
                <a:cs typeface="DejaVu Serif"/>
              </a:rPr>
              <a:t>for </a:t>
            </a:r>
            <a:r>
              <a:rPr sz="650" spc="-20" dirty="0">
                <a:latin typeface="DejaVu Serif"/>
                <a:cs typeface="DejaVu Serif"/>
              </a:rPr>
              <a:t>the production </a:t>
            </a:r>
            <a:r>
              <a:rPr sz="650" spc="-35" dirty="0">
                <a:latin typeface="DejaVu Serif"/>
                <a:cs typeface="DejaVu Serif"/>
              </a:rPr>
              <a:t>of </a:t>
            </a:r>
            <a:r>
              <a:rPr sz="650" spc="-25" dirty="0">
                <a:latin typeface="DejaVu Serif"/>
                <a:cs typeface="DejaVu Serif"/>
              </a:rPr>
              <a:t>electricity, </a:t>
            </a:r>
            <a:r>
              <a:rPr sz="650" spc="-20" dirty="0">
                <a:latin typeface="DejaVu Serif"/>
                <a:cs typeface="DejaVu Serif"/>
              </a:rPr>
              <a:t>the </a:t>
            </a:r>
            <a:r>
              <a:rPr sz="650" spc="-15" dirty="0">
                <a:latin typeface="DejaVu Serif"/>
                <a:cs typeface="DejaVu Serif"/>
              </a:rPr>
              <a:t>actual </a:t>
            </a:r>
            <a:r>
              <a:rPr sz="650" spc="-20" dirty="0">
                <a:latin typeface="DejaVu Serif"/>
                <a:cs typeface="DejaVu Serif"/>
              </a:rPr>
              <a:t>solar </a:t>
            </a:r>
            <a:r>
              <a:rPr sz="650" spc="-25" dirty="0">
                <a:latin typeface="DejaVu Serif"/>
                <a:cs typeface="DejaVu Serif"/>
              </a:rPr>
              <a:t>cell  </a:t>
            </a:r>
            <a:r>
              <a:rPr sz="650" spc="-35" dirty="0">
                <a:latin typeface="DejaVu Serif"/>
                <a:cs typeface="DejaVu Serif"/>
              </a:rPr>
              <a:t>device </a:t>
            </a:r>
            <a:r>
              <a:rPr sz="650" dirty="0">
                <a:latin typeface="DejaVu Serif"/>
                <a:cs typeface="DejaVu Serif"/>
              </a:rPr>
              <a:t>must </a:t>
            </a:r>
            <a:r>
              <a:rPr sz="650" spc="-40" dirty="0">
                <a:latin typeface="DejaVu Serif"/>
                <a:cs typeface="DejaVu Serif"/>
              </a:rPr>
              <a:t>be </a:t>
            </a:r>
            <a:r>
              <a:rPr sz="650" spc="-25" dirty="0">
                <a:latin typeface="DejaVu Serif"/>
                <a:cs typeface="DejaVu Serif"/>
              </a:rPr>
              <a:t>made </a:t>
            </a:r>
            <a:r>
              <a:rPr sz="650" spc="-30" dirty="0">
                <a:latin typeface="DejaVu Serif"/>
                <a:cs typeface="DejaVu Serif"/>
              </a:rPr>
              <a:t>from two different </a:t>
            </a:r>
            <a:r>
              <a:rPr sz="650" spc="-20" dirty="0">
                <a:latin typeface="DejaVu Serif"/>
                <a:cs typeface="DejaVu Serif"/>
              </a:rPr>
              <a:t>types </a:t>
            </a:r>
            <a:r>
              <a:rPr sz="650" spc="-35" dirty="0">
                <a:latin typeface="DejaVu Serif"/>
                <a:cs typeface="DejaVu Serif"/>
              </a:rPr>
              <a:t>of</a:t>
            </a:r>
            <a:r>
              <a:rPr sz="650" spc="-85" dirty="0">
                <a:latin typeface="DejaVu Serif"/>
                <a:cs typeface="DejaVu Serif"/>
              </a:rPr>
              <a:t> </a:t>
            </a:r>
            <a:r>
              <a:rPr sz="650" spc="-20" dirty="0">
                <a:latin typeface="DejaVu Serif"/>
                <a:cs typeface="DejaVu Serif"/>
              </a:rPr>
              <a:t>so-called</a:t>
            </a:r>
            <a:endParaRPr sz="650">
              <a:latin typeface="DejaVu Serif"/>
              <a:cs typeface="DejaVu Serif"/>
            </a:endParaRPr>
          </a:p>
          <a:p>
            <a:pPr marL="92075">
              <a:lnSpc>
                <a:spcPts val="770"/>
              </a:lnSpc>
            </a:pPr>
            <a:r>
              <a:rPr sz="650" spc="-60" dirty="0">
                <a:latin typeface="DejaVu Serif"/>
                <a:cs typeface="DejaVu Serif"/>
              </a:rPr>
              <a:t>„</a:t>
            </a:r>
            <a:r>
              <a:rPr sz="650" b="1" i="1" spc="-60" dirty="0">
                <a:latin typeface="TeX Gyre Bonum"/>
                <a:cs typeface="TeX Gyre Bonum"/>
              </a:rPr>
              <a:t>doped</a:t>
            </a:r>
            <a:r>
              <a:rPr sz="650" spc="-60" dirty="0">
                <a:latin typeface="DejaVu Serif"/>
                <a:cs typeface="DejaVu Serif"/>
              </a:rPr>
              <a:t>‟</a:t>
            </a:r>
            <a:r>
              <a:rPr sz="650" spc="-35" dirty="0">
                <a:latin typeface="DejaVu Serif"/>
                <a:cs typeface="DejaVu Serif"/>
              </a:rPr>
              <a:t> </a:t>
            </a:r>
            <a:r>
              <a:rPr sz="650" b="1" i="1" spc="-5" dirty="0">
                <a:latin typeface="TeX Gyre Bonum"/>
                <a:cs typeface="TeX Gyre Bonum"/>
              </a:rPr>
              <a:t>semiconductors</a:t>
            </a:r>
            <a:r>
              <a:rPr sz="650" spc="-5" dirty="0">
                <a:latin typeface="DejaVu Serif"/>
                <a:cs typeface="DejaVu Serif"/>
              </a:rPr>
              <a:t>.</a:t>
            </a:r>
            <a:endParaRPr sz="650">
              <a:latin typeface="DejaVu Serif"/>
              <a:cs typeface="DejaVu Serif"/>
            </a:endParaRPr>
          </a:p>
          <a:p>
            <a:pPr marL="92075" marR="18415" indent="-67310" algn="just">
              <a:lnSpc>
                <a:spcPct val="99000"/>
              </a:lnSpc>
              <a:spcBef>
                <a:spcPts val="390"/>
              </a:spcBef>
              <a:buSzPct val="85000"/>
              <a:buFont typeface="Wingdings" panose="05000000000000000000"/>
              <a:buChar char=""/>
              <a:tabLst>
                <a:tab pos="92710" algn="l"/>
              </a:tabLst>
            </a:pPr>
            <a:r>
              <a:rPr sz="650" spc="-15" dirty="0">
                <a:latin typeface="DejaVu Serif"/>
                <a:cs typeface="DejaVu Serif"/>
              </a:rPr>
              <a:t>In a normal silicon crystal, </a:t>
            </a:r>
            <a:r>
              <a:rPr sz="650" spc="-25" dirty="0">
                <a:latin typeface="DejaVu Serif"/>
                <a:cs typeface="DejaVu Serif"/>
              </a:rPr>
              <a:t>there </a:t>
            </a:r>
            <a:r>
              <a:rPr sz="650" spc="-30" dirty="0">
                <a:latin typeface="DejaVu Serif"/>
                <a:cs typeface="DejaVu Serif"/>
              </a:rPr>
              <a:t>are </a:t>
            </a:r>
            <a:r>
              <a:rPr sz="650" i="1" spc="-5" dirty="0">
                <a:latin typeface="Bookman Uralic"/>
                <a:cs typeface="Bookman Uralic"/>
              </a:rPr>
              <a:t>four </a:t>
            </a:r>
            <a:r>
              <a:rPr sz="650" i="1" spc="-10" dirty="0">
                <a:latin typeface="Bookman Uralic"/>
                <a:cs typeface="Bookman Uralic"/>
              </a:rPr>
              <a:t>valence </a:t>
            </a:r>
            <a:r>
              <a:rPr sz="650" i="1" spc="-5" dirty="0">
                <a:latin typeface="Bookman Uralic"/>
                <a:cs typeface="Bookman Uralic"/>
              </a:rPr>
              <a:t>electrons </a:t>
            </a:r>
            <a:r>
              <a:rPr sz="650" spc="-10" dirty="0">
                <a:latin typeface="DejaVu Serif"/>
                <a:cs typeface="DejaVu Serif"/>
              </a:rPr>
              <a:t>in  </a:t>
            </a:r>
            <a:r>
              <a:rPr sz="650" spc="-35" dirty="0">
                <a:latin typeface="DejaVu Serif"/>
                <a:cs typeface="DejaVu Serif"/>
              </a:rPr>
              <a:t>every </a:t>
            </a:r>
            <a:r>
              <a:rPr sz="650" spc="-20" dirty="0">
                <a:latin typeface="DejaVu Serif"/>
                <a:cs typeface="DejaVu Serif"/>
              </a:rPr>
              <a:t>atom. </a:t>
            </a:r>
            <a:r>
              <a:rPr sz="650" spc="-25" dirty="0">
                <a:latin typeface="DejaVu Serif"/>
                <a:cs typeface="DejaVu Serif"/>
              </a:rPr>
              <a:t>They </a:t>
            </a:r>
            <a:r>
              <a:rPr sz="650" spc="-35" dirty="0">
                <a:latin typeface="DejaVu Serif"/>
                <a:cs typeface="DejaVu Serif"/>
              </a:rPr>
              <a:t>are </a:t>
            </a:r>
            <a:r>
              <a:rPr sz="650" spc="-20" dirty="0">
                <a:latin typeface="DejaVu Serif"/>
                <a:cs typeface="DejaVu Serif"/>
              </a:rPr>
              <a:t>held </a:t>
            </a:r>
            <a:r>
              <a:rPr sz="650" spc="-5" dirty="0">
                <a:latin typeface="DejaVu Serif"/>
                <a:cs typeface="DejaVu Serif"/>
              </a:rPr>
              <a:t>in </a:t>
            </a:r>
            <a:r>
              <a:rPr sz="650" spc="-30" dirty="0">
                <a:latin typeface="DejaVu Serif"/>
                <a:cs typeface="DejaVu Serif"/>
              </a:rPr>
              <a:t>place </a:t>
            </a:r>
            <a:r>
              <a:rPr sz="650" spc="-25" dirty="0">
                <a:latin typeface="DejaVu Serif"/>
                <a:cs typeface="DejaVu Serif"/>
              </a:rPr>
              <a:t>by </a:t>
            </a:r>
            <a:r>
              <a:rPr sz="650" spc="-20" dirty="0">
                <a:latin typeface="DejaVu Serif"/>
                <a:cs typeface="DejaVu Serif"/>
              </a:rPr>
              <a:t>the </a:t>
            </a:r>
            <a:r>
              <a:rPr sz="650" spc="-25" dirty="0">
                <a:latin typeface="DejaVu Serif"/>
                <a:cs typeface="DejaVu Serif"/>
              </a:rPr>
              <a:t>positive </a:t>
            </a:r>
            <a:r>
              <a:rPr sz="650" spc="-35" dirty="0">
                <a:latin typeface="DejaVu Serif"/>
                <a:cs typeface="DejaVu Serif"/>
              </a:rPr>
              <a:t>charge  </a:t>
            </a:r>
            <a:r>
              <a:rPr sz="650" spc="-30" dirty="0">
                <a:latin typeface="DejaVu Serif"/>
                <a:cs typeface="DejaVu Serif"/>
              </a:rPr>
              <a:t>from </a:t>
            </a:r>
            <a:r>
              <a:rPr sz="650" spc="-25" dirty="0">
                <a:latin typeface="DejaVu Serif"/>
                <a:cs typeface="DejaVu Serif"/>
              </a:rPr>
              <a:t>the </a:t>
            </a:r>
            <a:r>
              <a:rPr sz="650" spc="-15" dirty="0">
                <a:latin typeface="DejaVu Serif"/>
                <a:cs typeface="DejaVu Serif"/>
              </a:rPr>
              <a:t>nuclei </a:t>
            </a:r>
            <a:r>
              <a:rPr sz="650" spc="-35" dirty="0">
                <a:latin typeface="DejaVu Serif"/>
                <a:cs typeface="DejaVu Serif"/>
              </a:rPr>
              <a:t>of</a:t>
            </a:r>
            <a:r>
              <a:rPr sz="650" spc="135" dirty="0">
                <a:latin typeface="DejaVu Serif"/>
                <a:cs typeface="DejaVu Serif"/>
              </a:rPr>
              <a:t> </a:t>
            </a:r>
            <a:r>
              <a:rPr sz="650" spc="-20" dirty="0">
                <a:latin typeface="DejaVu Serif"/>
                <a:cs typeface="DejaVu Serif"/>
              </a:rPr>
              <a:t>the </a:t>
            </a:r>
            <a:r>
              <a:rPr sz="650" spc="-15" dirty="0">
                <a:latin typeface="DejaVu Serif"/>
                <a:cs typeface="DejaVu Serif"/>
              </a:rPr>
              <a:t>silicon atoms. Each silicon </a:t>
            </a:r>
            <a:r>
              <a:rPr sz="650" spc="-20" dirty="0">
                <a:latin typeface="DejaVu Serif"/>
                <a:cs typeface="DejaVu Serif"/>
              </a:rPr>
              <a:t>atom  </a:t>
            </a:r>
            <a:r>
              <a:rPr sz="650" spc="-15" dirty="0">
                <a:latin typeface="DejaVu Serif"/>
                <a:cs typeface="DejaVu Serif"/>
              </a:rPr>
              <a:t>shares </a:t>
            </a:r>
            <a:r>
              <a:rPr sz="650" spc="-25" dirty="0">
                <a:latin typeface="DejaVu Serif"/>
                <a:cs typeface="DejaVu Serif"/>
              </a:rPr>
              <a:t>each </a:t>
            </a:r>
            <a:r>
              <a:rPr sz="650" spc="-35" dirty="0">
                <a:latin typeface="DejaVu Serif"/>
                <a:cs typeface="DejaVu Serif"/>
              </a:rPr>
              <a:t>of</a:t>
            </a:r>
            <a:r>
              <a:rPr sz="650" spc="135" dirty="0">
                <a:latin typeface="DejaVu Serif"/>
                <a:cs typeface="DejaVu Serif"/>
              </a:rPr>
              <a:t> </a:t>
            </a:r>
            <a:r>
              <a:rPr sz="650" spc="-10" dirty="0">
                <a:latin typeface="DejaVu Serif"/>
                <a:cs typeface="DejaVu Serif"/>
              </a:rPr>
              <a:t>its </a:t>
            </a:r>
            <a:r>
              <a:rPr sz="650" spc="-20" dirty="0">
                <a:latin typeface="DejaVu Serif"/>
                <a:cs typeface="DejaVu Serif"/>
              </a:rPr>
              <a:t>four </a:t>
            </a:r>
            <a:r>
              <a:rPr sz="650" spc="-25" dirty="0">
                <a:latin typeface="DejaVu Serif"/>
                <a:cs typeface="DejaVu Serif"/>
              </a:rPr>
              <a:t>valence electrons with </a:t>
            </a:r>
            <a:r>
              <a:rPr sz="650" spc="-20" dirty="0">
                <a:latin typeface="DejaVu Serif"/>
                <a:cs typeface="DejaVu Serif"/>
              </a:rPr>
              <a:t>another  nearest </a:t>
            </a:r>
            <a:r>
              <a:rPr sz="650" spc="-15" dirty="0">
                <a:latin typeface="DejaVu Serif"/>
                <a:cs typeface="DejaVu Serif"/>
              </a:rPr>
              <a:t>silicon </a:t>
            </a:r>
            <a:r>
              <a:rPr sz="650" spc="-20" dirty="0">
                <a:latin typeface="DejaVu Serif"/>
                <a:cs typeface="DejaVu Serif"/>
              </a:rPr>
              <a:t>atom </a:t>
            </a:r>
            <a:r>
              <a:rPr sz="650" spc="-25" dirty="0">
                <a:latin typeface="DejaVu Serif"/>
                <a:cs typeface="DejaVu Serif"/>
              </a:rPr>
              <a:t>hence </a:t>
            </a:r>
            <a:r>
              <a:rPr sz="650" spc="-30" dirty="0">
                <a:latin typeface="DejaVu Serif"/>
                <a:cs typeface="DejaVu Serif"/>
              </a:rPr>
              <a:t>creating </a:t>
            </a:r>
            <a:r>
              <a:rPr sz="650" b="1" i="1" spc="-5" dirty="0">
                <a:latin typeface="TeX Gyre Bonum"/>
                <a:cs typeface="TeX Gyre Bonum"/>
              </a:rPr>
              <a:t>covalent bonds  </a:t>
            </a:r>
            <a:r>
              <a:rPr sz="650" spc="-35" dirty="0">
                <a:latin typeface="DejaVu Serif"/>
                <a:cs typeface="DejaVu Serif"/>
              </a:rPr>
              <a:t>between</a:t>
            </a:r>
            <a:r>
              <a:rPr sz="650" spc="-15" dirty="0">
                <a:latin typeface="DejaVu Serif"/>
                <a:cs typeface="DejaVu Serif"/>
              </a:rPr>
              <a:t> them.</a:t>
            </a:r>
            <a:endParaRPr sz="650">
              <a:latin typeface="DejaVu Serif"/>
              <a:cs typeface="DejaVu Serif"/>
            </a:endParaRPr>
          </a:p>
          <a:p>
            <a:pPr marL="92075" marR="17780" indent="-67310" algn="just">
              <a:lnSpc>
                <a:spcPct val="99000"/>
              </a:lnSpc>
              <a:spcBef>
                <a:spcPts val="390"/>
              </a:spcBef>
              <a:buSzPct val="85000"/>
              <a:buFont typeface="Wingdings" panose="05000000000000000000"/>
              <a:buChar char=""/>
              <a:tabLst>
                <a:tab pos="92710" algn="l"/>
              </a:tabLst>
            </a:pPr>
            <a:r>
              <a:rPr sz="650" spc="-20" dirty="0">
                <a:latin typeface="DejaVu Serif"/>
                <a:cs typeface="DejaVu Serif"/>
              </a:rPr>
              <a:t>When </a:t>
            </a:r>
            <a:r>
              <a:rPr sz="650" spc="-15" dirty="0">
                <a:latin typeface="DejaVu Serif"/>
                <a:cs typeface="DejaVu Serif"/>
              </a:rPr>
              <a:t>a </a:t>
            </a:r>
            <a:r>
              <a:rPr sz="650" spc="-20" dirty="0">
                <a:latin typeface="DejaVu Serif"/>
                <a:cs typeface="DejaVu Serif"/>
              </a:rPr>
              <a:t>pentavalent </a:t>
            </a:r>
            <a:r>
              <a:rPr sz="650" spc="-15" dirty="0">
                <a:latin typeface="DejaVu Serif"/>
                <a:cs typeface="DejaVu Serif"/>
              </a:rPr>
              <a:t>impurity </a:t>
            </a:r>
            <a:r>
              <a:rPr sz="650" spc="-25" dirty="0">
                <a:latin typeface="DejaVu Serif"/>
                <a:cs typeface="DejaVu Serif"/>
              </a:rPr>
              <a:t>like </a:t>
            </a:r>
            <a:r>
              <a:rPr sz="650" spc="-15" dirty="0">
                <a:latin typeface="DejaVu Serif"/>
                <a:cs typeface="DejaVu Serif"/>
              </a:rPr>
              <a:t>phosphorus </a:t>
            </a:r>
            <a:r>
              <a:rPr sz="650" spc="-10" dirty="0">
                <a:latin typeface="DejaVu Serif"/>
                <a:cs typeface="DejaVu Serif"/>
              </a:rPr>
              <a:t>is </a:t>
            </a:r>
            <a:r>
              <a:rPr sz="650" spc="-30" dirty="0">
                <a:latin typeface="DejaVu Serif"/>
                <a:cs typeface="DejaVu Serif"/>
              </a:rPr>
              <a:t>added </a:t>
            </a:r>
            <a:r>
              <a:rPr sz="650" spc="-20" dirty="0">
                <a:latin typeface="DejaVu Serif"/>
                <a:cs typeface="DejaVu Serif"/>
              </a:rPr>
              <a:t>to  </a:t>
            </a:r>
            <a:r>
              <a:rPr sz="650" spc="-15" dirty="0">
                <a:latin typeface="DejaVu Serif"/>
                <a:cs typeface="DejaVu Serif"/>
              </a:rPr>
              <a:t>silicon, </a:t>
            </a:r>
            <a:r>
              <a:rPr sz="650" spc="-20" dirty="0">
                <a:latin typeface="DejaVu Serif"/>
                <a:cs typeface="DejaVu Serif"/>
              </a:rPr>
              <a:t>the </a:t>
            </a:r>
            <a:r>
              <a:rPr sz="650" spc="-15" dirty="0">
                <a:latin typeface="DejaVu Serif"/>
                <a:cs typeface="DejaVu Serif"/>
              </a:rPr>
              <a:t>4 </a:t>
            </a:r>
            <a:r>
              <a:rPr sz="650" spc="-25" dirty="0">
                <a:latin typeface="DejaVu Serif"/>
                <a:cs typeface="DejaVu Serif"/>
              </a:rPr>
              <a:t>valence electrons </a:t>
            </a:r>
            <a:r>
              <a:rPr sz="650" spc="-35" dirty="0">
                <a:latin typeface="DejaVu Serif"/>
                <a:cs typeface="DejaVu Serif"/>
              </a:rPr>
              <a:t>of </a:t>
            </a:r>
            <a:r>
              <a:rPr sz="650" spc="-25" dirty="0">
                <a:latin typeface="DejaVu Serif"/>
                <a:cs typeface="DejaVu Serif"/>
              </a:rPr>
              <a:t>each </a:t>
            </a:r>
            <a:r>
              <a:rPr sz="650" spc="-15" dirty="0">
                <a:latin typeface="DejaVu Serif"/>
                <a:cs typeface="DejaVu Serif"/>
              </a:rPr>
              <a:t>phosphorous </a:t>
            </a:r>
            <a:r>
              <a:rPr sz="650" spc="-20" dirty="0">
                <a:latin typeface="DejaVu Serif"/>
                <a:cs typeface="DejaVu Serif"/>
              </a:rPr>
              <a:t>atom </a:t>
            </a:r>
            <a:r>
              <a:rPr sz="650" spc="-15" dirty="0">
                <a:latin typeface="DejaVu Serif"/>
                <a:cs typeface="DejaVu Serif"/>
              </a:rPr>
              <a:t>is  </a:t>
            </a:r>
            <a:r>
              <a:rPr sz="650" spc="-20" dirty="0">
                <a:latin typeface="DejaVu Serif"/>
                <a:cs typeface="DejaVu Serif"/>
              </a:rPr>
              <a:t>shared through </a:t>
            </a:r>
            <a:r>
              <a:rPr sz="650" spc="-25" dirty="0">
                <a:latin typeface="DejaVu Serif"/>
                <a:cs typeface="DejaVu Serif"/>
              </a:rPr>
              <a:t>covalent </a:t>
            </a:r>
            <a:r>
              <a:rPr sz="650" spc="-15" dirty="0">
                <a:latin typeface="DejaVu Serif"/>
                <a:cs typeface="DejaVu Serif"/>
              </a:rPr>
              <a:t>bonds </a:t>
            </a:r>
            <a:r>
              <a:rPr sz="650" spc="-25" dirty="0">
                <a:latin typeface="DejaVu Serif"/>
                <a:cs typeface="DejaVu Serif"/>
              </a:rPr>
              <a:t>with </a:t>
            </a:r>
            <a:r>
              <a:rPr sz="650" spc="-15" dirty="0">
                <a:latin typeface="DejaVu Serif"/>
                <a:cs typeface="DejaVu Serif"/>
              </a:rPr>
              <a:t>4 </a:t>
            </a:r>
            <a:r>
              <a:rPr sz="650" spc="-25" dirty="0">
                <a:latin typeface="DejaVu Serif"/>
                <a:cs typeface="DejaVu Serif"/>
              </a:rPr>
              <a:t>neighboring </a:t>
            </a:r>
            <a:r>
              <a:rPr sz="650" spc="-15" dirty="0">
                <a:latin typeface="DejaVu Serif"/>
                <a:cs typeface="DejaVu Serif"/>
              </a:rPr>
              <a:t>silicon  atoms, </a:t>
            </a:r>
            <a:r>
              <a:rPr sz="650" spc="-10" dirty="0">
                <a:latin typeface="DejaVu Serif"/>
                <a:cs typeface="DejaVu Serif"/>
              </a:rPr>
              <a:t>and </a:t>
            </a:r>
            <a:r>
              <a:rPr sz="650" dirty="0">
                <a:latin typeface="DejaVu Serif"/>
                <a:cs typeface="DejaVu Serif"/>
              </a:rPr>
              <a:t>5</a:t>
            </a:r>
            <a:r>
              <a:rPr sz="600" baseline="28000" dirty="0">
                <a:latin typeface="DejaVu Serif"/>
                <a:cs typeface="DejaVu Serif"/>
              </a:rPr>
              <a:t>th </a:t>
            </a:r>
            <a:r>
              <a:rPr sz="650" spc="-25" dirty="0">
                <a:latin typeface="DejaVu Serif"/>
                <a:cs typeface="DejaVu Serif"/>
              </a:rPr>
              <a:t>valence </a:t>
            </a:r>
            <a:r>
              <a:rPr sz="650" spc="-30" dirty="0">
                <a:latin typeface="DejaVu Serif"/>
                <a:cs typeface="DejaVu Serif"/>
              </a:rPr>
              <a:t>electron does </a:t>
            </a:r>
            <a:r>
              <a:rPr sz="650" spc="-15" dirty="0">
                <a:latin typeface="DejaVu Serif"/>
                <a:cs typeface="DejaVu Serif"/>
              </a:rPr>
              <a:t>not </a:t>
            </a:r>
            <a:r>
              <a:rPr sz="650" spc="-50" dirty="0">
                <a:latin typeface="DejaVu Serif"/>
                <a:cs typeface="DejaVu Serif"/>
              </a:rPr>
              <a:t>get </a:t>
            </a:r>
            <a:r>
              <a:rPr sz="650" spc="-10" dirty="0">
                <a:latin typeface="DejaVu Serif"/>
                <a:cs typeface="DejaVu Serif"/>
              </a:rPr>
              <a:t>any </a:t>
            </a:r>
            <a:r>
              <a:rPr sz="650" spc="-20" dirty="0">
                <a:latin typeface="DejaVu Serif"/>
                <a:cs typeface="DejaVu Serif"/>
              </a:rPr>
              <a:t>chance to  </a:t>
            </a:r>
            <a:r>
              <a:rPr sz="650" spc="-30" dirty="0">
                <a:latin typeface="DejaVu Serif"/>
                <a:cs typeface="DejaVu Serif"/>
              </a:rPr>
              <a:t>create </a:t>
            </a:r>
            <a:r>
              <a:rPr sz="650" spc="-15" dirty="0">
                <a:latin typeface="DejaVu Serif"/>
                <a:cs typeface="DejaVu Serif"/>
              </a:rPr>
              <a:t>a </a:t>
            </a:r>
            <a:r>
              <a:rPr sz="650" spc="-25" dirty="0">
                <a:latin typeface="DejaVu Serif"/>
                <a:cs typeface="DejaVu Serif"/>
              </a:rPr>
              <a:t>covalent </a:t>
            </a:r>
            <a:r>
              <a:rPr sz="650" spc="-15" dirty="0">
                <a:latin typeface="DejaVu Serif"/>
                <a:cs typeface="DejaVu Serif"/>
              </a:rPr>
              <a:t>bond. </a:t>
            </a:r>
            <a:r>
              <a:rPr sz="650" spc="-10" dirty="0">
                <a:latin typeface="DejaVu Serif"/>
                <a:cs typeface="DejaVu Serif"/>
              </a:rPr>
              <a:t>This </a:t>
            </a:r>
            <a:r>
              <a:rPr sz="650" dirty="0">
                <a:latin typeface="DejaVu Serif"/>
                <a:cs typeface="DejaVu Serif"/>
              </a:rPr>
              <a:t>5</a:t>
            </a:r>
            <a:r>
              <a:rPr sz="600" baseline="28000" dirty="0">
                <a:latin typeface="DejaVu Serif"/>
                <a:cs typeface="DejaVu Serif"/>
              </a:rPr>
              <a:t>th </a:t>
            </a:r>
            <a:r>
              <a:rPr sz="650" spc="-30" dirty="0">
                <a:latin typeface="DejaVu Serif"/>
                <a:cs typeface="DejaVu Serif"/>
              </a:rPr>
              <a:t>electron </a:t>
            </a:r>
            <a:r>
              <a:rPr sz="650" spc="-10" dirty="0">
                <a:latin typeface="DejaVu Serif"/>
                <a:cs typeface="DejaVu Serif"/>
              </a:rPr>
              <a:t>is </a:t>
            </a:r>
            <a:r>
              <a:rPr sz="650" spc="-15" dirty="0">
                <a:latin typeface="DejaVu Serif"/>
                <a:cs typeface="DejaVu Serif"/>
              </a:rPr>
              <a:t>then </a:t>
            </a:r>
            <a:r>
              <a:rPr sz="650" spc="-30" dirty="0">
                <a:latin typeface="DejaVu Serif"/>
                <a:cs typeface="DejaVu Serif"/>
              </a:rPr>
              <a:t>relatively  </a:t>
            </a:r>
            <a:r>
              <a:rPr sz="650" spc="-25" dirty="0">
                <a:latin typeface="DejaVu Serif"/>
                <a:cs typeface="DejaVu Serif"/>
              </a:rPr>
              <a:t>loosely </a:t>
            </a:r>
            <a:r>
              <a:rPr sz="650" spc="-20" dirty="0">
                <a:latin typeface="DejaVu Serif"/>
                <a:cs typeface="DejaVu Serif"/>
              </a:rPr>
              <a:t>bounded with </a:t>
            </a:r>
            <a:r>
              <a:rPr sz="650" spc="-10" dirty="0">
                <a:latin typeface="DejaVu Serif"/>
                <a:cs typeface="DejaVu Serif"/>
              </a:rPr>
              <a:t>its </a:t>
            </a:r>
            <a:r>
              <a:rPr sz="650" spc="-20" dirty="0">
                <a:latin typeface="DejaVu Serif"/>
                <a:cs typeface="DejaVu Serif"/>
              </a:rPr>
              <a:t>parent</a:t>
            </a:r>
            <a:r>
              <a:rPr sz="650" spc="40" dirty="0">
                <a:latin typeface="DejaVu Serif"/>
                <a:cs typeface="DejaVu Serif"/>
              </a:rPr>
              <a:t> </a:t>
            </a:r>
            <a:r>
              <a:rPr sz="650" spc="-15" dirty="0">
                <a:latin typeface="DejaVu Serif"/>
                <a:cs typeface="DejaVu Serif"/>
              </a:rPr>
              <a:t>atom.</a:t>
            </a:r>
            <a:endParaRPr sz="650">
              <a:latin typeface="DejaVu Serif"/>
              <a:cs typeface="DejaVu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028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241" y="40449"/>
            <a:ext cx="189547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" dirty="0"/>
              <a:t>Photovoltaic</a:t>
            </a:r>
            <a:r>
              <a:rPr spc="-70" dirty="0"/>
              <a:t> </a:t>
            </a:r>
            <a:r>
              <a:rPr spc="10" dirty="0"/>
              <a:t>conversion</a:t>
            </a:r>
          </a:p>
        </p:txBody>
      </p:sp>
      <p:sp>
        <p:nvSpPr>
          <p:cNvPr id="3" name="object 3"/>
          <p:cNvSpPr/>
          <p:nvPr/>
        </p:nvSpPr>
        <p:spPr>
          <a:xfrm>
            <a:off x="1291760" y="371292"/>
            <a:ext cx="250789" cy="1278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81580" y="280462"/>
            <a:ext cx="460375" cy="1003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50" spc="40" dirty="0">
                <a:latin typeface="Times New Roman" panose="02020603050405020304"/>
                <a:cs typeface="Times New Roman" panose="02020603050405020304"/>
              </a:rPr>
              <a:t>Depletion</a:t>
            </a:r>
            <a:r>
              <a:rPr sz="4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40" dirty="0">
                <a:latin typeface="Times New Roman" panose="02020603050405020304"/>
                <a:cs typeface="Times New Roman" panose="02020603050405020304"/>
              </a:rPr>
              <a:t>layer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62613" y="728030"/>
            <a:ext cx="238502" cy="843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4394" y="746748"/>
            <a:ext cx="2499360" cy="1156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860425" algn="ctr">
              <a:lnSpc>
                <a:spcPts val="515"/>
              </a:lnSpc>
              <a:spcBef>
                <a:spcPts val="135"/>
              </a:spcBef>
            </a:pPr>
            <a:r>
              <a:rPr sz="450" spc="45" dirty="0">
                <a:latin typeface="Times New Roman" panose="02020603050405020304"/>
                <a:cs typeface="Times New Roman" panose="02020603050405020304"/>
              </a:rPr>
              <a:t>Fixed </a:t>
            </a:r>
            <a:r>
              <a:rPr sz="450" spc="40" dirty="0">
                <a:latin typeface="Times New Roman" panose="02020603050405020304"/>
                <a:cs typeface="Times New Roman" panose="02020603050405020304"/>
              </a:rPr>
              <a:t>impurity</a:t>
            </a:r>
            <a:r>
              <a:rPr sz="4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40" dirty="0">
                <a:latin typeface="Times New Roman" panose="02020603050405020304"/>
                <a:cs typeface="Times New Roman" panose="02020603050405020304"/>
              </a:rPr>
              <a:t>charges</a:t>
            </a:r>
            <a:endParaRPr sz="450">
              <a:latin typeface="Times New Roman" panose="02020603050405020304"/>
              <a:cs typeface="Times New Roman" panose="02020603050405020304"/>
            </a:endParaRPr>
          </a:p>
          <a:p>
            <a:pPr marL="128905" algn="ctr">
              <a:lnSpc>
                <a:spcPts val="515"/>
              </a:lnSpc>
            </a:pPr>
            <a:r>
              <a:rPr sz="450" b="1" i="1" spc="45" dirty="0">
                <a:latin typeface="Times New Roman" panose="02020603050405020304"/>
                <a:cs typeface="Times New Roman" panose="02020603050405020304"/>
              </a:rPr>
              <a:t>p-n</a:t>
            </a:r>
            <a:r>
              <a:rPr sz="450" b="1" i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b="1" i="1" spc="40" dirty="0">
                <a:latin typeface="Times New Roman" panose="02020603050405020304"/>
                <a:cs typeface="Times New Roman" panose="02020603050405020304"/>
              </a:rPr>
              <a:t>junction</a:t>
            </a:r>
            <a:endParaRPr sz="4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50">
              <a:latin typeface="Times New Roman" panose="02020603050405020304"/>
              <a:cs typeface="Times New Roman" panose="02020603050405020304"/>
            </a:endParaRPr>
          </a:p>
          <a:p>
            <a:pPr marL="80645" marR="6985" indent="-68580" algn="just">
              <a:lnSpc>
                <a:spcPct val="106000"/>
              </a:lnSpc>
              <a:buSzPct val="82000"/>
              <a:buFont typeface="Wingdings" panose="05000000000000000000"/>
              <a:buChar char=""/>
              <a:tabLst>
                <a:tab pos="81280" algn="l"/>
              </a:tabLst>
            </a:pPr>
            <a:r>
              <a:rPr sz="550" i="1" spc="20" dirty="0">
                <a:latin typeface="Bookman Uralic"/>
                <a:cs typeface="Bookman Uralic"/>
              </a:rPr>
              <a:t>An </a:t>
            </a:r>
            <a:r>
              <a:rPr sz="550" i="1" spc="10" dirty="0">
                <a:latin typeface="Bookman Uralic"/>
                <a:cs typeface="Bookman Uralic"/>
              </a:rPr>
              <a:t>electric </a:t>
            </a:r>
            <a:r>
              <a:rPr sz="550" i="1" spc="15" dirty="0">
                <a:latin typeface="Bookman Uralic"/>
                <a:cs typeface="Bookman Uralic"/>
              </a:rPr>
              <a:t>field </a:t>
            </a:r>
            <a:r>
              <a:rPr sz="550" i="1" spc="10" dirty="0">
                <a:latin typeface="Bookman Uralic"/>
                <a:cs typeface="Bookman Uralic"/>
              </a:rPr>
              <a:t>is thus </a:t>
            </a:r>
            <a:r>
              <a:rPr sz="550" i="1" spc="15" dirty="0">
                <a:latin typeface="Bookman Uralic"/>
                <a:cs typeface="Bookman Uralic"/>
              </a:rPr>
              <a:t>created with </a:t>
            </a:r>
            <a:r>
              <a:rPr sz="550" b="1" i="1" spc="15" dirty="0">
                <a:latin typeface="TeX Gyre Bonum"/>
                <a:cs typeface="TeX Gyre Bonum"/>
              </a:rPr>
              <a:t>ions</a:t>
            </a:r>
            <a:r>
              <a:rPr sz="550" i="1" spc="15" dirty="0">
                <a:latin typeface="Bookman Uralic"/>
                <a:cs typeface="Bookman Uralic"/>
              </a:rPr>
              <a:t>, </a:t>
            </a:r>
            <a:r>
              <a:rPr sz="550" i="1" spc="10" dirty="0">
                <a:latin typeface="Bookman Uralic"/>
                <a:cs typeface="Bookman Uralic"/>
              </a:rPr>
              <a:t>across the junction.  </a:t>
            </a:r>
            <a:r>
              <a:rPr sz="550" i="1" spc="15" dirty="0">
                <a:latin typeface="Bookman Uralic"/>
                <a:cs typeface="Bookman Uralic"/>
              </a:rPr>
              <a:t>Normally, however, </a:t>
            </a:r>
            <a:r>
              <a:rPr sz="550" i="1" spc="10" dirty="0">
                <a:latin typeface="Bookman Uralic"/>
                <a:cs typeface="Bookman Uralic"/>
              </a:rPr>
              <a:t>there is equal </a:t>
            </a:r>
            <a:r>
              <a:rPr sz="550" i="1" spc="20" dirty="0">
                <a:latin typeface="Bookman Uralic"/>
                <a:cs typeface="Bookman Uralic"/>
              </a:rPr>
              <a:t>flow </a:t>
            </a:r>
            <a:r>
              <a:rPr sz="550" i="1" spc="10" dirty="0">
                <a:latin typeface="Bookman Uralic"/>
                <a:cs typeface="Bookman Uralic"/>
              </a:rPr>
              <a:t>of carriers(electrons </a:t>
            </a:r>
            <a:r>
              <a:rPr sz="550" i="1" spc="20" dirty="0">
                <a:latin typeface="Bookman Uralic"/>
                <a:cs typeface="Bookman Uralic"/>
              </a:rPr>
              <a:t>from n  </a:t>
            </a:r>
            <a:r>
              <a:rPr sz="550" i="1" spc="10" dirty="0">
                <a:latin typeface="Bookman Uralic"/>
                <a:cs typeface="Bookman Uralic"/>
              </a:rPr>
              <a:t>region </a:t>
            </a:r>
            <a:r>
              <a:rPr sz="550" i="1" spc="5" dirty="0">
                <a:latin typeface="Bookman Uralic"/>
                <a:cs typeface="Bookman Uralic"/>
              </a:rPr>
              <a:t>to </a:t>
            </a:r>
            <a:r>
              <a:rPr sz="550" i="1" spc="20" dirty="0">
                <a:latin typeface="Bookman Uralic"/>
                <a:cs typeface="Bookman Uralic"/>
              </a:rPr>
              <a:t>p </a:t>
            </a:r>
            <a:r>
              <a:rPr sz="550" i="1" spc="15" dirty="0">
                <a:latin typeface="Bookman Uralic"/>
                <a:cs typeface="Bookman Uralic"/>
              </a:rPr>
              <a:t>region and </a:t>
            </a:r>
            <a:r>
              <a:rPr sz="550" i="1" spc="10" dirty="0">
                <a:latin typeface="Bookman Uralic"/>
                <a:cs typeface="Bookman Uralic"/>
              </a:rPr>
              <a:t>holes </a:t>
            </a:r>
            <a:r>
              <a:rPr sz="550" i="1" spc="20" dirty="0">
                <a:latin typeface="Bookman Uralic"/>
                <a:cs typeface="Bookman Uralic"/>
              </a:rPr>
              <a:t>from p </a:t>
            </a:r>
            <a:r>
              <a:rPr sz="550" i="1" spc="15" dirty="0">
                <a:latin typeface="Bookman Uralic"/>
                <a:cs typeface="Bookman Uralic"/>
              </a:rPr>
              <a:t>region </a:t>
            </a:r>
            <a:r>
              <a:rPr sz="550" i="1" spc="5" dirty="0">
                <a:latin typeface="Bookman Uralic"/>
                <a:cs typeface="Bookman Uralic"/>
              </a:rPr>
              <a:t>to </a:t>
            </a:r>
            <a:r>
              <a:rPr sz="550" i="1" spc="20" dirty="0">
                <a:latin typeface="Bookman Uralic"/>
                <a:cs typeface="Bookman Uralic"/>
              </a:rPr>
              <a:t>n </a:t>
            </a:r>
            <a:r>
              <a:rPr sz="550" i="1" spc="10" dirty="0">
                <a:latin typeface="Bookman Uralic"/>
                <a:cs typeface="Bookman Uralic"/>
              </a:rPr>
              <a:t>region) in </a:t>
            </a:r>
            <a:r>
              <a:rPr sz="550" i="1" spc="15" dirty="0">
                <a:latin typeface="Bookman Uralic"/>
                <a:cs typeface="Bookman Uralic"/>
              </a:rPr>
              <a:t>both  </a:t>
            </a:r>
            <a:r>
              <a:rPr sz="550" i="1" spc="10" dirty="0">
                <a:latin typeface="Bookman Uralic"/>
                <a:cs typeface="Bookman Uralic"/>
              </a:rPr>
              <a:t>directions </a:t>
            </a:r>
            <a:r>
              <a:rPr sz="550" i="1" spc="15" dirty="0">
                <a:latin typeface="Bookman Uralic"/>
                <a:cs typeface="Bookman Uralic"/>
              </a:rPr>
              <a:t>across </a:t>
            </a:r>
            <a:r>
              <a:rPr sz="550" i="1" spc="10" dirty="0">
                <a:latin typeface="Bookman Uralic"/>
                <a:cs typeface="Bookman Uralic"/>
              </a:rPr>
              <a:t>the junction </a:t>
            </a:r>
            <a:r>
              <a:rPr sz="550" i="1" spc="15" dirty="0">
                <a:latin typeface="Bookman Uralic"/>
                <a:cs typeface="Bookman Uralic"/>
              </a:rPr>
              <a:t>and no </a:t>
            </a:r>
            <a:r>
              <a:rPr sz="550" i="1" spc="5" dirty="0">
                <a:latin typeface="Bookman Uralic"/>
                <a:cs typeface="Bookman Uralic"/>
              </a:rPr>
              <a:t>electricity </a:t>
            </a:r>
            <a:r>
              <a:rPr sz="550" i="1" spc="15" dirty="0">
                <a:latin typeface="Bookman Uralic"/>
                <a:cs typeface="Bookman Uralic"/>
              </a:rPr>
              <a:t>can be</a:t>
            </a:r>
            <a:r>
              <a:rPr sz="550" i="1" spc="145" dirty="0">
                <a:latin typeface="Bookman Uralic"/>
                <a:cs typeface="Bookman Uralic"/>
              </a:rPr>
              <a:t> </a:t>
            </a:r>
            <a:r>
              <a:rPr sz="550" i="1" spc="15" dirty="0">
                <a:latin typeface="Bookman Uralic"/>
                <a:cs typeface="Bookman Uralic"/>
              </a:rPr>
              <a:t>produced.</a:t>
            </a:r>
            <a:endParaRPr sz="550">
              <a:latin typeface="Bookman Uralic"/>
              <a:cs typeface="Bookman Uralic"/>
            </a:endParaRPr>
          </a:p>
          <a:p>
            <a:pPr marL="80645" marR="5080" indent="-68580" algn="just">
              <a:lnSpc>
                <a:spcPct val="107000"/>
              </a:lnSpc>
              <a:spcBef>
                <a:spcPts val="350"/>
              </a:spcBef>
              <a:buSzPct val="82000"/>
              <a:buFont typeface="Wingdings" panose="05000000000000000000"/>
              <a:buChar char=""/>
              <a:tabLst>
                <a:tab pos="81280" algn="l"/>
              </a:tabLst>
            </a:pPr>
            <a:r>
              <a:rPr sz="550" i="1" spc="15" dirty="0">
                <a:latin typeface="Bookman Uralic"/>
                <a:cs typeface="Bookman Uralic"/>
              </a:rPr>
              <a:t>This process </a:t>
            </a:r>
            <a:r>
              <a:rPr sz="550" i="1" spc="10" dirty="0">
                <a:latin typeface="Bookman Uralic"/>
                <a:cs typeface="Bookman Uralic"/>
              </a:rPr>
              <a:t>continues until the electrical </a:t>
            </a:r>
            <a:r>
              <a:rPr sz="550" i="1" spc="15" dirty="0">
                <a:latin typeface="Bookman Uralic"/>
                <a:cs typeface="Bookman Uralic"/>
              </a:rPr>
              <a:t>charge created at </a:t>
            </a:r>
            <a:r>
              <a:rPr sz="550" i="1" spc="10" dirty="0">
                <a:latin typeface="Bookman Uralic"/>
                <a:cs typeface="Bookman Uralic"/>
              </a:rPr>
              <a:t>the  </a:t>
            </a:r>
            <a:r>
              <a:rPr sz="550" i="1" spc="15" dirty="0">
                <a:latin typeface="Bookman Uralic"/>
                <a:cs typeface="Bookman Uralic"/>
              </a:rPr>
              <a:t>junction </a:t>
            </a:r>
            <a:r>
              <a:rPr sz="550" i="1" spc="20" dirty="0">
                <a:latin typeface="Bookman Uralic"/>
                <a:cs typeface="Bookman Uralic"/>
              </a:rPr>
              <a:t>by </a:t>
            </a:r>
            <a:r>
              <a:rPr sz="550" i="1" spc="10" dirty="0">
                <a:latin typeface="Bookman Uralic"/>
                <a:cs typeface="Bookman Uralic"/>
              </a:rPr>
              <a:t>the ions repel or </a:t>
            </a:r>
            <a:r>
              <a:rPr sz="550" i="1" spc="15" dirty="0">
                <a:latin typeface="Bookman Uralic"/>
                <a:cs typeface="Bookman Uralic"/>
              </a:rPr>
              <a:t>prevent </a:t>
            </a:r>
            <a:r>
              <a:rPr sz="550" i="1" spc="20" dirty="0">
                <a:latin typeface="Bookman Uralic"/>
                <a:cs typeface="Bookman Uralic"/>
              </a:rPr>
              <a:t>any </a:t>
            </a:r>
            <a:r>
              <a:rPr sz="550" i="1" spc="15" dirty="0">
                <a:latin typeface="Bookman Uralic"/>
                <a:cs typeface="Bookman Uralic"/>
              </a:rPr>
              <a:t>more </a:t>
            </a:r>
            <a:r>
              <a:rPr sz="550" i="1" spc="10" dirty="0">
                <a:latin typeface="Bookman Uralic"/>
                <a:cs typeface="Bookman Uralic"/>
              </a:rPr>
              <a:t>carriers </a:t>
            </a:r>
            <a:r>
              <a:rPr sz="550" i="1" spc="20" dirty="0">
                <a:latin typeface="Bookman Uralic"/>
                <a:cs typeface="Bookman Uralic"/>
              </a:rPr>
              <a:t>from  </a:t>
            </a:r>
            <a:r>
              <a:rPr sz="550" i="1" spc="15" dirty="0">
                <a:latin typeface="Bookman Uralic"/>
                <a:cs typeface="Bookman Uralic"/>
              </a:rPr>
              <a:t>crossing </a:t>
            </a:r>
            <a:r>
              <a:rPr sz="550" i="1" spc="10" dirty="0">
                <a:latin typeface="Bookman Uralic"/>
                <a:cs typeface="Bookman Uralic"/>
              </a:rPr>
              <a:t>the junction. </a:t>
            </a:r>
            <a:r>
              <a:rPr sz="550" i="1" spc="15" dirty="0">
                <a:latin typeface="Bookman Uralic"/>
                <a:cs typeface="Bookman Uralic"/>
              </a:rPr>
              <a:t>Eventually </a:t>
            </a:r>
            <a:r>
              <a:rPr sz="550" i="1" spc="20" dirty="0">
                <a:latin typeface="Bookman Uralic"/>
                <a:cs typeface="Bookman Uralic"/>
              </a:rPr>
              <a:t>a </a:t>
            </a:r>
            <a:r>
              <a:rPr sz="550" i="1" spc="15" dirty="0">
                <a:latin typeface="Bookman Uralic"/>
                <a:cs typeface="Bookman Uralic"/>
              </a:rPr>
              <a:t>state </a:t>
            </a:r>
            <a:r>
              <a:rPr sz="550" i="1" spc="5" dirty="0">
                <a:latin typeface="Bookman Uralic"/>
                <a:cs typeface="Bookman Uralic"/>
              </a:rPr>
              <a:t>of </a:t>
            </a:r>
            <a:r>
              <a:rPr sz="550" i="1" spc="15" dirty="0">
                <a:latin typeface="Bookman Uralic"/>
                <a:cs typeface="Bookman Uralic"/>
              </a:rPr>
              <a:t>equilibrium </a:t>
            </a:r>
            <a:r>
              <a:rPr sz="550" i="1" spc="10" dirty="0">
                <a:latin typeface="Bookman Uralic"/>
                <a:cs typeface="Bookman Uralic"/>
              </a:rPr>
              <a:t>(electrically  neutral situation) will </a:t>
            </a:r>
            <a:r>
              <a:rPr sz="550" i="1" spc="15" dirty="0">
                <a:latin typeface="Bookman Uralic"/>
                <a:cs typeface="Bookman Uralic"/>
              </a:rPr>
              <a:t>occur producing </a:t>
            </a:r>
            <a:r>
              <a:rPr sz="550" i="1" spc="20" dirty="0">
                <a:latin typeface="Bookman Uralic"/>
                <a:cs typeface="Bookman Uralic"/>
              </a:rPr>
              <a:t>a </a:t>
            </a:r>
            <a:r>
              <a:rPr sz="550" i="1" spc="10" dirty="0">
                <a:latin typeface="Trebuchet MS" panose="020B0603020202020204"/>
                <a:cs typeface="Trebuchet MS" panose="020B0603020202020204"/>
              </a:rPr>
              <a:t>‘</a:t>
            </a:r>
            <a:r>
              <a:rPr sz="550" b="1" i="1" spc="10" dirty="0">
                <a:latin typeface="TeX Gyre Bonum"/>
                <a:cs typeface="TeX Gyre Bonum"/>
              </a:rPr>
              <a:t>potential barrier</a:t>
            </a:r>
            <a:r>
              <a:rPr sz="550" i="1" spc="10" dirty="0">
                <a:latin typeface="Trebuchet MS" panose="020B0603020202020204"/>
                <a:cs typeface="Trebuchet MS" panose="020B0603020202020204"/>
              </a:rPr>
              <a:t>’ </a:t>
            </a:r>
            <a:r>
              <a:rPr sz="550" i="1" spc="10" dirty="0">
                <a:latin typeface="Bookman Uralic"/>
                <a:cs typeface="Bookman Uralic"/>
              </a:rPr>
              <a:t>zone  </a:t>
            </a:r>
            <a:r>
              <a:rPr sz="550" i="1" spc="15" dirty="0">
                <a:latin typeface="Bookman Uralic"/>
                <a:cs typeface="Bookman Uralic"/>
              </a:rPr>
              <a:t>around </a:t>
            </a:r>
            <a:r>
              <a:rPr sz="550" i="1" spc="10" dirty="0">
                <a:latin typeface="Bookman Uralic"/>
                <a:cs typeface="Bookman Uralic"/>
              </a:rPr>
              <a:t>the </a:t>
            </a:r>
            <a:r>
              <a:rPr sz="550" i="1" spc="15" dirty="0">
                <a:latin typeface="Bookman Uralic"/>
                <a:cs typeface="Bookman Uralic"/>
              </a:rPr>
              <a:t>area </a:t>
            </a:r>
            <a:r>
              <a:rPr sz="550" i="1" spc="5" dirty="0">
                <a:latin typeface="Bookman Uralic"/>
                <a:cs typeface="Bookman Uralic"/>
              </a:rPr>
              <a:t>of </a:t>
            </a:r>
            <a:r>
              <a:rPr sz="550" i="1" spc="10" dirty="0">
                <a:latin typeface="Bookman Uralic"/>
                <a:cs typeface="Bookman Uralic"/>
              </a:rPr>
              <a:t>the </a:t>
            </a:r>
            <a:r>
              <a:rPr sz="550" i="1" spc="15" dirty="0">
                <a:latin typeface="Bookman Uralic"/>
                <a:cs typeface="Bookman Uralic"/>
              </a:rPr>
              <a:t>junction </a:t>
            </a:r>
            <a:r>
              <a:rPr sz="550" i="1" spc="10" dirty="0">
                <a:latin typeface="Bookman Uralic"/>
                <a:cs typeface="Bookman Uralic"/>
              </a:rPr>
              <a:t>as the positive </a:t>
            </a:r>
            <a:r>
              <a:rPr sz="550" i="1" spc="15" dirty="0">
                <a:latin typeface="Bookman Uralic"/>
                <a:cs typeface="Bookman Uralic"/>
              </a:rPr>
              <a:t>ions </a:t>
            </a:r>
            <a:r>
              <a:rPr sz="550" i="1" spc="10" dirty="0">
                <a:latin typeface="Bookman Uralic"/>
                <a:cs typeface="Bookman Uralic"/>
              </a:rPr>
              <a:t>repel the holes  </a:t>
            </a:r>
            <a:r>
              <a:rPr sz="550" i="1" spc="15" dirty="0">
                <a:latin typeface="Bookman Uralic"/>
                <a:cs typeface="Bookman Uralic"/>
              </a:rPr>
              <a:t>and </a:t>
            </a:r>
            <a:r>
              <a:rPr sz="550" i="1" spc="10" dirty="0">
                <a:latin typeface="Bookman Uralic"/>
                <a:cs typeface="Bookman Uralic"/>
              </a:rPr>
              <a:t>the </a:t>
            </a:r>
            <a:r>
              <a:rPr sz="550" i="1" spc="5" dirty="0">
                <a:latin typeface="Bookman Uralic"/>
                <a:cs typeface="Bookman Uralic"/>
              </a:rPr>
              <a:t>negative </a:t>
            </a:r>
            <a:r>
              <a:rPr sz="550" i="1" spc="10" dirty="0">
                <a:latin typeface="Bookman Uralic"/>
                <a:cs typeface="Bookman Uralic"/>
              </a:rPr>
              <a:t>ions repel the</a:t>
            </a:r>
            <a:r>
              <a:rPr sz="550" i="1" spc="100" dirty="0">
                <a:latin typeface="Bookman Uralic"/>
                <a:cs typeface="Bookman Uralic"/>
              </a:rPr>
              <a:t> </a:t>
            </a:r>
            <a:r>
              <a:rPr sz="550" i="1" spc="10" dirty="0">
                <a:latin typeface="Bookman Uralic"/>
                <a:cs typeface="Bookman Uralic"/>
              </a:rPr>
              <a:t>electrons.</a:t>
            </a:r>
            <a:endParaRPr sz="550">
              <a:latin typeface="Bookman Uralic"/>
              <a:cs typeface="Bookman Ural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8048" y="479572"/>
            <a:ext cx="398145" cy="242570"/>
          </a:xfrm>
          <a:prstGeom prst="rect">
            <a:avLst/>
          </a:prstGeom>
          <a:solidFill>
            <a:srgbClr val="FF0000"/>
          </a:solidFill>
          <a:ln w="9702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111125">
              <a:lnSpc>
                <a:spcPct val="100000"/>
              </a:lnSpc>
            </a:pPr>
            <a:r>
              <a:rPr sz="450" i="1" spc="40" dirty="0">
                <a:latin typeface="Times New Roman" panose="02020603050405020304"/>
                <a:cs typeface="Times New Roman" panose="02020603050405020304"/>
              </a:rPr>
              <a:t>n-type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1497" y="479572"/>
            <a:ext cx="398145" cy="242570"/>
          </a:xfrm>
          <a:prstGeom prst="rect">
            <a:avLst/>
          </a:prstGeom>
          <a:solidFill>
            <a:srgbClr val="6F2F9F"/>
          </a:solidFill>
          <a:ln w="9702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550">
              <a:latin typeface="Times New Roman" panose="02020603050405020304"/>
              <a:cs typeface="Times New Roman" panose="02020603050405020304"/>
            </a:endParaRPr>
          </a:p>
          <a:p>
            <a:pPr marL="111125">
              <a:lnSpc>
                <a:spcPct val="100000"/>
              </a:lnSpc>
            </a:pPr>
            <a:r>
              <a:rPr sz="450" i="1" spc="40" dirty="0">
                <a:latin typeface="Times New Roman" panose="02020603050405020304"/>
                <a:cs typeface="Times New Roman" panose="02020603050405020304"/>
              </a:rPr>
              <a:t>p-type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87653" y="474412"/>
            <a:ext cx="258941" cy="2522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5" y="1028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8085" y="318003"/>
            <a:ext cx="216067" cy="1141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9210">
              <a:lnSpc>
                <a:spcPct val="100000"/>
              </a:lnSpc>
              <a:spcBef>
                <a:spcPts val="480"/>
              </a:spcBef>
            </a:pPr>
            <a:r>
              <a:rPr spc="10" dirty="0"/>
              <a:t>Photovoltaic</a:t>
            </a:r>
            <a:r>
              <a:rPr spc="-70" dirty="0"/>
              <a:t> </a:t>
            </a:r>
            <a:r>
              <a:rPr spc="10" dirty="0"/>
              <a:t>conversion</a:t>
            </a:r>
          </a:p>
          <a:p>
            <a:pPr marL="156210" algn="ctr">
              <a:lnSpc>
                <a:spcPct val="100000"/>
              </a:lnSpc>
              <a:spcBef>
                <a:spcPts val="175"/>
              </a:spcBef>
            </a:pPr>
            <a:r>
              <a:rPr sz="400" b="0" i="0" spc="3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Depletion</a:t>
            </a:r>
            <a:r>
              <a:rPr sz="400" b="0" i="0" spc="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" b="0" i="0" spc="3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layer</a:t>
            </a:r>
            <a:endParaRPr sz="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2899" y="636535"/>
            <a:ext cx="205626" cy="752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3733" y="651866"/>
            <a:ext cx="2523490" cy="1276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727710" algn="ctr">
              <a:lnSpc>
                <a:spcPts val="455"/>
              </a:lnSpc>
              <a:spcBef>
                <a:spcPts val="135"/>
              </a:spcBef>
            </a:pPr>
            <a:r>
              <a:rPr sz="400" spc="30" dirty="0">
                <a:latin typeface="Times New Roman" panose="02020603050405020304"/>
                <a:cs typeface="Times New Roman" panose="02020603050405020304"/>
              </a:rPr>
              <a:t>Fixed impurity</a:t>
            </a:r>
            <a:r>
              <a:rPr sz="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" spc="30" dirty="0">
                <a:latin typeface="Times New Roman" panose="02020603050405020304"/>
                <a:cs typeface="Times New Roman" panose="02020603050405020304"/>
              </a:rPr>
              <a:t>charges</a:t>
            </a:r>
            <a:endParaRPr sz="400">
              <a:latin typeface="Times New Roman" panose="02020603050405020304"/>
              <a:cs typeface="Times New Roman" panose="02020603050405020304"/>
            </a:endParaRPr>
          </a:p>
          <a:p>
            <a:pPr marL="123825" algn="ctr">
              <a:lnSpc>
                <a:spcPts val="455"/>
              </a:lnSpc>
            </a:pPr>
            <a:r>
              <a:rPr sz="400" b="1" i="1" spc="30" dirty="0">
                <a:latin typeface="Times New Roman" panose="02020603050405020304"/>
                <a:cs typeface="Times New Roman" panose="02020603050405020304"/>
              </a:rPr>
              <a:t>p-</a:t>
            </a:r>
            <a:r>
              <a:rPr sz="400" b="1" i="1" spc="4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400" b="1" i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" b="1" i="1" spc="20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400" b="1" i="1" spc="40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400" b="1" i="1" spc="25" dirty="0">
                <a:latin typeface="Times New Roman" panose="02020603050405020304"/>
                <a:cs typeface="Times New Roman" panose="02020603050405020304"/>
              </a:rPr>
              <a:t>ctio</a:t>
            </a:r>
            <a:r>
              <a:rPr sz="400" b="1" i="1" spc="40" dirty="0">
                <a:latin typeface="Times New Roman" panose="02020603050405020304"/>
                <a:cs typeface="Times New Roman" panose="02020603050405020304"/>
              </a:rPr>
              <a:t>n</a:t>
            </a:r>
            <a:endParaRPr sz="400">
              <a:latin typeface="Times New Roman" panose="02020603050405020304"/>
              <a:cs typeface="Times New Roman" panose="02020603050405020304"/>
            </a:endParaRPr>
          </a:p>
          <a:p>
            <a:pPr marL="80645" marR="5080" indent="-68580" algn="just">
              <a:lnSpc>
                <a:spcPct val="106000"/>
              </a:lnSpc>
              <a:spcBef>
                <a:spcPts val="100"/>
              </a:spcBef>
              <a:buSzPct val="82000"/>
              <a:buFont typeface="Wingdings" panose="05000000000000000000"/>
              <a:buChar char=""/>
              <a:tabLst>
                <a:tab pos="81280" algn="l"/>
              </a:tabLst>
            </a:pPr>
            <a:r>
              <a:rPr sz="550" dirty="0">
                <a:latin typeface="DejaVu Serif"/>
                <a:cs typeface="DejaVu Serif"/>
              </a:rPr>
              <a:t>Since </a:t>
            </a:r>
            <a:r>
              <a:rPr sz="550" spc="10" dirty="0">
                <a:latin typeface="DejaVu Serif"/>
                <a:cs typeface="DejaVu Serif"/>
              </a:rPr>
              <a:t>no </a:t>
            </a:r>
            <a:r>
              <a:rPr sz="550" spc="-20" dirty="0">
                <a:latin typeface="DejaVu Serif"/>
                <a:cs typeface="DejaVu Serif"/>
              </a:rPr>
              <a:t>free </a:t>
            </a:r>
            <a:r>
              <a:rPr sz="550" spc="-10" dirty="0">
                <a:latin typeface="DejaVu Serif"/>
                <a:cs typeface="DejaVu Serif"/>
              </a:rPr>
              <a:t>charge </a:t>
            </a:r>
            <a:r>
              <a:rPr sz="550" spc="-5" dirty="0">
                <a:latin typeface="DejaVu Serif"/>
                <a:cs typeface="DejaVu Serif"/>
              </a:rPr>
              <a:t>carriers </a:t>
            </a:r>
            <a:r>
              <a:rPr sz="550" spc="5" dirty="0">
                <a:latin typeface="DejaVu Serif"/>
                <a:cs typeface="DejaVu Serif"/>
              </a:rPr>
              <a:t>can </a:t>
            </a:r>
            <a:r>
              <a:rPr sz="550" spc="-5" dirty="0">
                <a:latin typeface="DejaVu Serif"/>
                <a:cs typeface="DejaVu Serif"/>
              </a:rPr>
              <a:t>rest </a:t>
            </a:r>
            <a:r>
              <a:rPr sz="550" spc="15" dirty="0">
                <a:latin typeface="DejaVu Serif"/>
                <a:cs typeface="DejaVu Serif"/>
              </a:rPr>
              <a:t>in </a:t>
            </a:r>
            <a:r>
              <a:rPr sz="550" spc="10" dirty="0">
                <a:latin typeface="DejaVu Serif"/>
                <a:cs typeface="DejaVu Serif"/>
              </a:rPr>
              <a:t>a </a:t>
            </a:r>
            <a:r>
              <a:rPr sz="550" dirty="0">
                <a:latin typeface="DejaVu Serif"/>
                <a:cs typeface="DejaVu Serif"/>
              </a:rPr>
              <a:t>position </a:t>
            </a:r>
            <a:r>
              <a:rPr sz="550" spc="-10" dirty="0">
                <a:latin typeface="DejaVu Serif"/>
                <a:cs typeface="DejaVu Serif"/>
              </a:rPr>
              <a:t>where there </a:t>
            </a:r>
            <a:r>
              <a:rPr sz="550" spc="10" dirty="0">
                <a:latin typeface="DejaVu Serif"/>
                <a:cs typeface="DejaVu Serif"/>
              </a:rPr>
              <a:t>is  a </a:t>
            </a:r>
            <a:r>
              <a:rPr sz="550" dirty="0">
                <a:latin typeface="DejaVu Serif"/>
                <a:cs typeface="DejaVu Serif"/>
              </a:rPr>
              <a:t>potential </a:t>
            </a:r>
            <a:r>
              <a:rPr sz="550" spc="-10" dirty="0">
                <a:latin typeface="DejaVu Serif"/>
                <a:cs typeface="DejaVu Serif"/>
              </a:rPr>
              <a:t>barrier </a:t>
            </a:r>
            <a:r>
              <a:rPr sz="550" spc="-5" dirty="0">
                <a:latin typeface="DejaVu Serif"/>
                <a:cs typeface="DejaVu Serif"/>
              </a:rPr>
              <a:t>it </a:t>
            </a:r>
            <a:r>
              <a:rPr sz="550" spc="10" dirty="0">
                <a:latin typeface="DejaVu Serif"/>
                <a:cs typeface="DejaVu Serif"/>
              </a:rPr>
              <a:t>is </a:t>
            </a:r>
            <a:r>
              <a:rPr sz="550" spc="-10" dirty="0">
                <a:latin typeface="DejaVu Serif"/>
                <a:cs typeface="DejaVu Serif"/>
              </a:rPr>
              <a:t>therefore </a:t>
            </a:r>
            <a:r>
              <a:rPr sz="550" spc="-20" dirty="0">
                <a:latin typeface="DejaVu Serif"/>
                <a:cs typeface="DejaVu Serif"/>
              </a:rPr>
              <a:t>„</a:t>
            </a:r>
            <a:r>
              <a:rPr sz="550" b="1" i="1" spc="-20" dirty="0">
                <a:latin typeface="TeX Gyre Bonum"/>
                <a:cs typeface="TeX Gyre Bonum"/>
              </a:rPr>
              <a:t>depleted</a:t>
            </a:r>
            <a:r>
              <a:rPr sz="550" spc="-20" dirty="0">
                <a:latin typeface="DejaVu Serif"/>
                <a:cs typeface="DejaVu Serif"/>
              </a:rPr>
              <a:t>‟ </a:t>
            </a:r>
            <a:r>
              <a:rPr sz="550" spc="-15" dirty="0">
                <a:latin typeface="DejaVu Serif"/>
                <a:cs typeface="DejaVu Serif"/>
              </a:rPr>
              <a:t>of </a:t>
            </a:r>
            <a:r>
              <a:rPr sz="550" spc="10" dirty="0">
                <a:latin typeface="DejaVu Serif"/>
                <a:cs typeface="DejaVu Serif"/>
              </a:rPr>
              <a:t>any </a:t>
            </a:r>
            <a:r>
              <a:rPr sz="550" spc="-20" dirty="0">
                <a:latin typeface="DejaVu Serif"/>
                <a:cs typeface="DejaVu Serif"/>
              </a:rPr>
              <a:t>free </a:t>
            </a:r>
            <a:r>
              <a:rPr sz="550" dirty="0">
                <a:latin typeface="DejaVu Serif"/>
                <a:cs typeface="DejaVu Serif"/>
              </a:rPr>
              <a:t>mobile  </a:t>
            </a:r>
            <a:r>
              <a:rPr sz="550" spc="-5" dirty="0">
                <a:latin typeface="DejaVu Serif"/>
                <a:cs typeface="DejaVu Serif"/>
              </a:rPr>
              <a:t>carriers, </a:t>
            </a:r>
            <a:r>
              <a:rPr sz="550" spc="10" dirty="0">
                <a:latin typeface="DejaVu Serif"/>
                <a:cs typeface="DejaVu Serif"/>
              </a:rPr>
              <a:t>and this </a:t>
            </a:r>
            <a:r>
              <a:rPr sz="550" spc="-5" dirty="0">
                <a:latin typeface="DejaVu Serif"/>
                <a:cs typeface="DejaVu Serif"/>
              </a:rPr>
              <a:t>area </a:t>
            </a:r>
            <a:r>
              <a:rPr sz="550" spc="5" dirty="0">
                <a:latin typeface="DejaVu Serif"/>
                <a:cs typeface="DejaVu Serif"/>
              </a:rPr>
              <a:t>around </a:t>
            </a: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10" dirty="0">
                <a:latin typeface="DejaVu Serif"/>
                <a:cs typeface="DejaVu Serif"/>
              </a:rPr>
              <a:t>junction is </a:t>
            </a:r>
            <a:r>
              <a:rPr sz="550" dirty="0">
                <a:latin typeface="DejaVu Serif"/>
                <a:cs typeface="DejaVu Serif"/>
              </a:rPr>
              <a:t>now </a:t>
            </a:r>
            <a:r>
              <a:rPr sz="550" spc="-5" dirty="0">
                <a:latin typeface="DejaVu Serif"/>
                <a:cs typeface="DejaVu Serif"/>
              </a:rPr>
              <a:t>called the  </a:t>
            </a:r>
            <a:r>
              <a:rPr sz="550" dirty="0">
                <a:latin typeface="DejaVu Serif"/>
                <a:cs typeface="DejaVu Serif"/>
              </a:rPr>
              <a:t>Depletion </a:t>
            </a:r>
            <a:r>
              <a:rPr sz="550" spc="-5" dirty="0">
                <a:latin typeface="DejaVu Serif"/>
                <a:cs typeface="DejaVu Serif"/>
              </a:rPr>
              <a:t>Layer. </a:t>
            </a:r>
            <a:r>
              <a:rPr sz="550" spc="5" dirty="0">
                <a:latin typeface="DejaVu Serif"/>
                <a:cs typeface="DejaVu Serif"/>
              </a:rPr>
              <a:t>This </a:t>
            </a:r>
            <a:r>
              <a:rPr sz="550" spc="-10" dirty="0">
                <a:latin typeface="DejaVu Serif"/>
                <a:cs typeface="DejaVu Serif"/>
              </a:rPr>
              <a:t>region </a:t>
            </a:r>
            <a:r>
              <a:rPr sz="550" spc="5" dirty="0">
                <a:latin typeface="DejaVu Serif"/>
                <a:cs typeface="DejaVu Serif"/>
              </a:rPr>
              <a:t>which </a:t>
            </a:r>
            <a:r>
              <a:rPr sz="550" spc="10" dirty="0">
                <a:latin typeface="DejaVu Serif"/>
                <a:cs typeface="DejaVu Serif"/>
              </a:rPr>
              <a:t>is </a:t>
            </a:r>
            <a:r>
              <a:rPr sz="550" spc="-10" dirty="0">
                <a:latin typeface="DejaVu Serif"/>
                <a:cs typeface="DejaVu Serif"/>
              </a:rPr>
              <a:t>“stripped” </a:t>
            </a:r>
            <a:r>
              <a:rPr sz="550" spc="-15" dirty="0">
                <a:latin typeface="DejaVu Serif"/>
                <a:cs typeface="DejaVu Serif"/>
              </a:rPr>
              <a:t>of </a:t>
            </a:r>
            <a:r>
              <a:rPr sz="550" spc="-5" dirty="0">
                <a:latin typeface="DejaVu Serif"/>
                <a:cs typeface="DejaVu Serif"/>
              </a:rPr>
              <a:t>carriers </a:t>
            </a:r>
            <a:r>
              <a:rPr sz="550" spc="10" dirty="0">
                <a:latin typeface="DejaVu Serif"/>
                <a:cs typeface="DejaVu Serif"/>
              </a:rPr>
              <a:t>is  </a:t>
            </a:r>
            <a:r>
              <a:rPr sz="550" spc="-5" dirty="0">
                <a:latin typeface="DejaVu Serif"/>
                <a:cs typeface="DejaVu Serif"/>
              </a:rPr>
              <a:t>called </a:t>
            </a: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b="1" i="1" spc="15" dirty="0">
                <a:latin typeface="TeX Gyre Bonum"/>
                <a:cs typeface="TeX Gyre Bonum"/>
              </a:rPr>
              <a:t>depletion</a:t>
            </a:r>
            <a:r>
              <a:rPr sz="550" b="1" i="1" spc="25" dirty="0">
                <a:latin typeface="TeX Gyre Bonum"/>
                <a:cs typeface="TeX Gyre Bonum"/>
              </a:rPr>
              <a:t> </a:t>
            </a:r>
            <a:r>
              <a:rPr sz="550" b="1" i="1" spc="15" dirty="0">
                <a:latin typeface="TeX Gyre Bonum"/>
                <a:cs typeface="TeX Gyre Bonum"/>
              </a:rPr>
              <a:t>region</a:t>
            </a:r>
            <a:endParaRPr sz="550">
              <a:latin typeface="TeX Gyre Bonum"/>
              <a:cs typeface="TeX Gyre Bonum"/>
            </a:endParaRPr>
          </a:p>
          <a:p>
            <a:pPr marL="80645" marR="6985" indent="-68580" algn="just">
              <a:lnSpc>
                <a:spcPct val="107000"/>
              </a:lnSpc>
              <a:spcBef>
                <a:spcPts val="350"/>
              </a:spcBef>
              <a:buSzPct val="82000"/>
              <a:buFont typeface="Wingdings" panose="05000000000000000000"/>
              <a:buChar char=""/>
              <a:tabLst>
                <a:tab pos="106045" algn="l"/>
              </a:tabLst>
            </a:pPr>
            <a:r>
              <a:rPr sz="550" spc="10" dirty="0">
                <a:latin typeface="DejaVu Serif"/>
                <a:cs typeface="DejaVu Serif"/>
              </a:rPr>
              <a:t>When </a:t>
            </a:r>
            <a:r>
              <a:rPr sz="550" dirty="0">
                <a:latin typeface="DejaVu Serif"/>
                <a:cs typeface="DejaVu Serif"/>
              </a:rPr>
              <a:t>solar radiation </a:t>
            </a:r>
            <a:r>
              <a:rPr sz="550" spc="5" dirty="0">
                <a:latin typeface="DejaVu Serif"/>
                <a:cs typeface="DejaVu Serif"/>
              </a:rPr>
              <a:t>strikes </a:t>
            </a:r>
            <a:r>
              <a:rPr sz="550" dirty="0">
                <a:latin typeface="DejaVu Serif"/>
                <a:cs typeface="DejaVu Serif"/>
              </a:rPr>
              <a:t>the solar </a:t>
            </a:r>
            <a:r>
              <a:rPr sz="550" spc="-10" dirty="0">
                <a:latin typeface="DejaVu Serif"/>
                <a:cs typeface="DejaVu Serif"/>
              </a:rPr>
              <a:t>cell, </a:t>
            </a:r>
            <a:r>
              <a:rPr sz="550" dirty="0">
                <a:latin typeface="DejaVu Serif"/>
                <a:cs typeface="DejaVu Serif"/>
              </a:rPr>
              <a:t>excess </a:t>
            </a:r>
            <a:r>
              <a:rPr sz="550" spc="-5" dirty="0">
                <a:latin typeface="DejaVu Serif"/>
                <a:cs typeface="DejaVu Serif"/>
              </a:rPr>
              <a:t>electrons </a:t>
            </a:r>
            <a:r>
              <a:rPr sz="550" spc="-10" dirty="0">
                <a:latin typeface="DejaVu Serif"/>
                <a:cs typeface="DejaVu Serif"/>
              </a:rPr>
              <a:t>flow </a:t>
            </a:r>
            <a:r>
              <a:rPr sz="550" spc="150" dirty="0">
                <a:latin typeface="DejaVu Serif"/>
                <a:cs typeface="DejaVu Serif"/>
              </a:rPr>
              <a:t> </a:t>
            </a:r>
            <a:r>
              <a:rPr sz="550" spc="-5" dirty="0">
                <a:latin typeface="DejaVu Serif"/>
                <a:cs typeface="DejaVu Serif"/>
              </a:rPr>
              <a:t>from</a:t>
            </a:r>
            <a:r>
              <a:rPr sz="550" spc="85" dirty="0">
                <a:latin typeface="DejaVu Serif"/>
                <a:cs typeface="DejaVu Serif"/>
              </a:rPr>
              <a:t> </a:t>
            </a:r>
            <a:r>
              <a:rPr sz="550" dirty="0">
                <a:latin typeface="DejaVu Serif"/>
                <a:cs typeface="DejaVu Serif"/>
              </a:rPr>
              <a:t>the</a:t>
            </a:r>
            <a:r>
              <a:rPr sz="550" spc="95" dirty="0">
                <a:latin typeface="DejaVu Serif"/>
                <a:cs typeface="DejaVu Serif"/>
              </a:rPr>
              <a:t> </a:t>
            </a:r>
            <a:r>
              <a:rPr sz="550" i="1" spc="15" dirty="0">
                <a:latin typeface="Bookman Uralic"/>
                <a:cs typeface="Bookman Uralic"/>
              </a:rPr>
              <a:t>n-type</a:t>
            </a:r>
            <a:r>
              <a:rPr sz="550" i="1" spc="105" dirty="0">
                <a:latin typeface="Bookman Uralic"/>
                <a:cs typeface="Bookman Uralic"/>
              </a:rPr>
              <a:t> </a:t>
            </a:r>
            <a:r>
              <a:rPr sz="550" dirty="0">
                <a:latin typeface="DejaVu Serif"/>
                <a:cs typeface="DejaVu Serif"/>
              </a:rPr>
              <a:t>material</a:t>
            </a:r>
            <a:r>
              <a:rPr sz="550" spc="90" dirty="0">
                <a:latin typeface="DejaVu Serif"/>
                <a:cs typeface="DejaVu Serif"/>
              </a:rPr>
              <a:t> </a:t>
            </a:r>
            <a:r>
              <a:rPr sz="550" dirty="0">
                <a:latin typeface="DejaVu Serif"/>
                <a:cs typeface="DejaVu Serif"/>
              </a:rPr>
              <a:t>to</a:t>
            </a:r>
            <a:r>
              <a:rPr sz="550" spc="95" dirty="0">
                <a:latin typeface="DejaVu Serif"/>
                <a:cs typeface="DejaVu Serif"/>
              </a:rPr>
              <a:t> </a:t>
            </a:r>
            <a:r>
              <a:rPr sz="550" dirty="0">
                <a:latin typeface="DejaVu Serif"/>
                <a:cs typeface="DejaVu Serif"/>
              </a:rPr>
              <a:t>the</a:t>
            </a:r>
            <a:r>
              <a:rPr sz="550" spc="95" dirty="0">
                <a:latin typeface="DejaVu Serif"/>
                <a:cs typeface="DejaVu Serif"/>
              </a:rPr>
              <a:t> </a:t>
            </a:r>
            <a:r>
              <a:rPr sz="550" i="1" spc="10" dirty="0">
                <a:latin typeface="Bookman Uralic"/>
                <a:cs typeface="Bookman Uralic"/>
              </a:rPr>
              <a:t>p-type</a:t>
            </a:r>
            <a:r>
              <a:rPr sz="550" i="1" spc="105" dirty="0">
                <a:latin typeface="Bookman Uralic"/>
                <a:cs typeface="Bookman Uralic"/>
              </a:rPr>
              <a:t> </a:t>
            </a:r>
            <a:r>
              <a:rPr sz="550" dirty="0">
                <a:latin typeface="DejaVu Serif"/>
                <a:cs typeface="DejaVu Serif"/>
              </a:rPr>
              <a:t>material</a:t>
            </a:r>
            <a:r>
              <a:rPr sz="550" spc="105" dirty="0">
                <a:latin typeface="DejaVu Serif"/>
                <a:cs typeface="DejaVu Serif"/>
              </a:rPr>
              <a:t> </a:t>
            </a:r>
            <a:r>
              <a:rPr sz="550" spc="10" dirty="0">
                <a:latin typeface="DejaVu Serif"/>
                <a:cs typeface="DejaVu Serif"/>
              </a:rPr>
              <a:t>and</a:t>
            </a:r>
            <a:r>
              <a:rPr sz="550" spc="95" dirty="0">
                <a:latin typeface="DejaVu Serif"/>
                <a:cs typeface="DejaVu Serif"/>
              </a:rPr>
              <a:t> </a:t>
            </a:r>
            <a:r>
              <a:rPr sz="550" dirty="0">
                <a:latin typeface="DejaVu Serif"/>
                <a:cs typeface="DejaVu Serif"/>
              </a:rPr>
              <a:t>excess</a:t>
            </a:r>
            <a:r>
              <a:rPr sz="550" spc="95" dirty="0">
                <a:latin typeface="DejaVu Serif"/>
                <a:cs typeface="DejaVu Serif"/>
              </a:rPr>
              <a:t> </a:t>
            </a:r>
            <a:r>
              <a:rPr sz="550" spc="5" dirty="0">
                <a:latin typeface="DejaVu Serif"/>
                <a:cs typeface="DejaVu Serif"/>
              </a:rPr>
              <a:t>holes</a:t>
            </a:r>
            <a:endParaRPr sz="550">
              <a:latin typeface="DejaVu Serif"/>
              <a:cs typeface="DejaVu Serif"/>
            </a:endParaRPr>
          </a:p>
          <a:p>
            <a:pPr marL="80645" marR="6350" algn="just">
              <a:lnSpc>
                <a:spcPct val="106000"/>
              </a:lnSpc>
              <a:spcBef>
                <a:spcPts val="5"/>
              </a:spcBef>
            </a:pPr>
            <a:r>
              <a:rPr sz="550" spc="-60" dirty="0">
                <a:latin typeface="DejaVu Serif"/>
                <a:cs typeface="DejaVu Serif"/>
              </a:rPr>
              <a:t>„flow‟ </a:t>
            </a:r>
            <a:r>
              <a:rPr sz="550" spc="15" dirty="0">
                <a:latin typeface="DejaVu Serif"/>
                <a:cs typeface="DejaVu Serif"/>
              </a:rPr>
              <a:t>in </a:t>
            </a:r>
            <a:r>
              <a:rPr sz="550" spc="-5" dirty="0">
                <a:latin typeface="DejaVu Serif"/>
                <a:cs typeface="DejaVu Serif"/>
              </a:rPr>
              <a:t>the opposite </a:t>
            </a:r>
            <a:r>
              <a:rPr sz="550" dirty="0">
                <a:latin typeface="DejaVu Serif"/>
                <a:cs typeface="DejaVu Serif"/>
              </a:rPr>
              <a:t>direction. </a:t>
            </a:r>
            <a:r>
              <a:rPr sz="550" spc="5" dirty="0">
                <a:latin typeface="DejaVu Serif"/>
                <a:cs typeface="DejaVu Serif"/>
              </a:rPr>
              <a:t>This, </a:t>
            </a:r>
            <a:r>
              <a:rPr sz="550" spc="-10" dirty="0">
                <a:latin typeface="DejaVu Serif"/>
                <a:cs typeface="DejaVu Serif"/>
              </a:rPr>
              <a:t>together </a:t>
            </a:r>
            <a:r>
              <a:rPr sz="550" dirty="0">
                <a:latin typeface="DejaVu Serif"/>
                <a:cs typeface="DejaVu Serif"/>
              </a:rPr>
              <a:t>with the </a:t>
            </a:r>
            <a:r>
              <a:rPr sz="550" spc="-5" dirty="0">
                <a:latin typeface="DejaVu Serif"/>
                <a:cs typeface="DejaVu Serif"/>
              </a:rPr>
              <a:t>existence </a:t>
            </a:r>
            <a:r>
              <a:rPr sz="550" spc="-20" dirty="0">
                <a:latin typeface="DejaVu Serif"/>
                <a:cs typeface="DejaVu Serif"/>
              </a:rPr>
              <a:t>of  </a:t>
            </a: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-10" dirty="0">
                <a:latin typeface="DejaVu Serif"/>
                <a:cs typeface="DejaVu Serif"/>
              </a:rPr>
              <a:t>electric field </a:t>
            </a:r>
            <a:r>
              <a:rPr sz="550" dirty="0">
                <a:latin typeface="DejaVu Serif"/>
                <a:cs typeface="DejaVu Serif"/>
              </a:rPr>
              <a:t>across the </a:t>
            </a:r>
            <a:r>
              <a:rPr sz="550" spc="10" dirty="0">
                <a:latin typeface="DejaVu Serif"/>
                <a:cs typeface="DejaVu Serif"/>
              </a:rPr>
              <a:t>junction, makes </a:t>
            </a:r>
            <a:r>
              <a:rPr sz="550" dirty="0">
                <a:latin typeface="DejaVu Serif"/>
                <a:cs typeface="DejaVu Serif"/>
              </a:rPr>
              <a:t>possible the </a:t>
            </a:r>
            <a:r>
              <a:rPr sz="550" spc="-10" dirty="0">
                <a:latin typeface="DejaVu Serif"/>
                <a:cs typeface="DejaVu Serif"/>
              </a:rPr>
              <a:t>flow </a:t>
            </a:r>
            <a:r>
              <a:rPr sz="550" spc="-20" dirty="0">
                <a:latin typeface="DejaVu Serif"/>
                <a:cs typeface="DejaVu Serif"/>
              </a:rPr>
              <a:t>of  </a:t>
            </a:r>
            <a:r>
              <a:rPr sz="550" spc="-5" dirty="0">
                <a:latin typeface="DejaVu Serif"/>
                <a:cs typeface="DejaVu Serif"/>
              </a:rPr>
              <a:t>electrons away from </a:t>
            </a: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10" dirty="0">
                <a:latin typeface="DejaVu Serif"/>
                <a:cs typeface="DejaVu Serif"/>
              </a:rPr>
              <a:t>junction </a:t>
            </a:r>
            <a:r>
              <a:rPr sz="550" spc="15" dirty="0">
                <a:latin typeface="DejaVu Serif"/>
                <a:cs typeface="DejaVu Serif"/>
              </a:rPr>
              <a:t>and </a:t>
            </a:r>
            <a:r>
              <a:rPr sz="550" spc="5" dirty="0">
                <a:latin typeface="DejaVu Serif"/>
                <a:cs typeface="DejaVu Serif"/>
              </a:rPr>
              <a:t>through </a:t>
            </a:r>
            <a:r>
              <a:rPr sz="550" spc="25" dirty="0">
                <a:latin typeface="DejaVu Serif"/>
                <a:cs typeface="DejaVu Serif"/>
              </a:rPr>
              <a:t>an </a:t>
            </a:r>
            <a:r>
              <a:rPr sz="550" dirty="0">
                <a:latin typeface="DejaVu Serif"/>
                <a:cs typeface="DejaVu Serif"/>
              </a:rPr>
              <a:t>external circuit.  </a:t>
            </a:r>
            <a:r>
              <a:rPr sz="550" spc="10" dirty="0">
                <a:latin typeface="DejaVu Serif"/>
                <a:cs typeface="DejaVu Serif"/>
              </a:rPr>
              <a:t>This </a:t>
            </a:r>
            <a:r>
              <a:rPr sz="550" spc="-10" dirty="0">
                <a:latin typeface="DejaVu Serif"/>
                <a:cs typeface="DejaVu Serif"/>
              </a:rPr>
              <a:t>flow</a:t>
            </a:r>
            <a:r>
              <a:rPr sz="550" spc="150" dirty="0">
                <a:latin typeface="DejaVu Serif"/>
                <a:cs typeface="DejaVu Serif"/>
              </a:rPr>
              <a:t> </a:t>
            </a:r>
            <a:r>
              <a:rPr sz="550" spc="-15" dirty="0">
                <a:latin typeface="DejaVu Serif"/>
                <a:cs typeface="DejaVu Serif"/>
              </a:rPr>
              <a:t>of </a:t>
            </a:r>
            <a:r>
              <a:rPr sz="550" spc="-5" dirty="0">
                <a:latin typeface="DejaVu Serif"/>
                <a:cs typeface="DejaVu Serif"/>
              </a:rPr>
              <a:t>carriers </a:t>
            </a:r>
            <a:r>
              <a:rPr sz="550" spc="5" dirty="0">
                <a:latin typeface="DejaVu Serif"/>
                <a:cs typeface="DejaVu Serif"/>
              </a:rPr>
              <a:t>causes </a:t>
            </a:r>
            <a:r>
              <a:rPr sz="550" spc="-10" dirty="0">
                <a:latin typeface="DejaVu Serif"/>
                <a:cs typeface="DejaVu Serif"/>
              </a:rPr>
              <a:t>electric  </a:t>
            </a:r>
            <a:r>
              <a:rPr sz="550" dirty="0">
                <a:latin typeface="DejaVu Serif"/>
                <a:cs typeface="DejaVu Serif"/>
              </a:rPr>
              <a:t>current </a:t>
            </a:r>
            <a:r>
              <a:rPr sz="550" spc="-10" dirty="0">
                <a:latin typeface="DejaVu Serif"/>
                <a:cs typeface="DejaVu Serif"/>
              </a:rPr>
              <a:t>flow. </a:t>
            </a:r>
            <a:r>
              <a:rPr sz="550" spc="10" dirty="0">
                <a:latin typeface="DejaVu Serif"/>
                <a:cs typeface="DejaVu Serif"/>
              </a:rPr>
              <a:t>Thus, </a:t>
            </a:r>
            <a:r>
              <a:rPr sz="550" dirty="0">
                <a:latin typeface="DejaVu Serif"/>
                <a:cs typeface="DejaVu Serif"/>
              </a:rPr>
              <a:t>solar  </a:t>
            </a:r>
            <a:r>
              <a:rPr sz="550" spc="-10" dirty="0">
                <a:latin typeface="DejaVu Serif"/>
                <a:cs typeface="DejaVu Serif"/>
              </a:rPr>
              <a:t>energy </a:t>
            </a:r>
            <a:r>
              <a:rPr sz="550" spc="10" dirty="0">
                <a:latin typeface="DejaVu Serif"/>
                <a:cs typeface="DejaVu Serif"/>
              </a:rPr>
              <a:t>is </a:t>
            </a:r>
            <a:r>
              <a:rPr sz="550" spc="-5" dirty="0">
                <a:latin typeface="DejaVu Serif"/>
                <a:cs typeface="DejaVu Serif"/>
              </a:rPr>
              <a:t>converted </a:t>
            </a:r>
            <a:r>
              <a:rPr sz="550" spc="5" dirty="0">
                <a:latin typeface="DejaVu Serif"/>
                <a:cs typeface="DejaVu Serif"/>
              </a:rPr>
              <a:t>into</a:t>
            </a:r>
            <a:r>
              <a:rPr sz="550" spc="-10" dirty="0">
                <a:latin typeface="DejaVu Serif"/>
                <a:cs typeface="DejaVu Serif"/>
              </a:rPr>
              <a:t> </a:t>
            </a:r>
            <a:r>
              <a:rPr sz="550" spc="-5" dirty="0">
                <a:latin typeface="DejaVu Serif"/>
                <a:cs typeface="DejaVu Serif"/>
              </a:rPr>
              <a:t>electricity.</a:t>
            </a:r>
            <a:endParaRPr sz="550">
              <a:latin typeface="DejaVu Serif"/>
              <a:cs typeface="DejaVu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8883" y="414680"/>
            <a:ext cx="342900" cy="216535"/>
          </a:xfrm>
          <a:prstGeom prst="rect">
            <a:avLst/>
          </a:prstGeom>
          <a:solidFill>
            <a:srgbClr val="00AFEF"/>
          </a:solidFill>
          <a:ln w="8556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95250">
              <a:lnSpc>
                <a:spcPct val="100000"/>
              </a:lnSpc>
            </a:pPr>
            <a:r>
              <a:rPr sz="400" i="1" spc="30" dirty="0">
                <a:latin typeface="Times New Roman" panose="02020603050405020304"/>
                <a:cs typeface="Times New Roman" panose="02020603050405020304"/>
              </a:rPr>
              <a:t>n-type</a:t>
            </a:r>
            <a:endParaRPr sz="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3246" y="414680"/>
            <a:ext cx="342900" cy="216535"/>
          </a:xfrm>
          <a:prstGeom prst="rect">
            <a:avLst/>
          </a:prstGeom>
          <a:solidFill>
            <a:srgbClr val="6F2F9F"/>
          </a:solidFill>
          <a:ln w="8556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95250">
              <a:lnSpc>
                <a:spcPct val="100000"/>
              </a:lnSpc>
            </a:pPr>
            <a:r>
              <a:rPr sz="400" i="1" spc="30" dirty="0">
                <a:latin typeface="Times New Roman" panose="02020603050405020304"/>
                <a:cs typeface="Times New Roman" panose="02020603050405020304"/>
              </a:rPr>
              <a:t>p-type</a:t>
            </a:r>
            <a:endParaRPr sz="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14522" y="410210"/>
            <a:ext cx="223141" cy="2249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127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373" y="39496"/>
            <a:ext cx="207073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" dirty="0"/>
              <a:t>Polycrystalline solar</a:t>
            </a:r>
            <a:r>
              <a:rPr spc="-65" dirty="0"/>
              <a:t> </a:t>
            </a:r>
            <a:r>
              <a:rPr spc="5" dirty="0"/>
              <a:t>cells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744" y="287020"/>
            <a:ext cx="2450465" cy="1523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8745" marR="924560" indent="-68580" algn="just">
              <a:lnSpc>
                <a:spcPct val="99000"/>
              </a:lnSpc>
              <a:spcBef>
                <a:spcPts val="105"/>
              </a:spcBef>
              <a:buSzPct val="85000"/>
              <a:buFont typeface="Wingdings" panose="05000000000000000000"/>
              <a:buChar char=""/>
              <a:tabLst>
                <a:tab pos="119380" algn="l"/>
              </a:tabLst>
            </a:pPr>
            <a:r>
              <a:rPr sz="650" b="1" spc="-5" dirty="0">
                <a:latin typeface="Bookman Uralic"/>
                <a:cs typeface="Bookman Uralic"/>
              </a:rPr>
              <a:t>Polycrystalline solar cells </a:t>
            </a:r>
            <a:r>
              <a:rPr sz="650" spc="-30" dirty="0">
                <a:latin typeface="DejaVu Serif"/>
                <a:cs typeface="DejaVu Serif"/>
              </a:rPr>
              <a:t>are  </a:t>
            </a:r>
            <a:r>
              <a:rPr sz="650" spc="-25" dirty="0">
                <a:latin typeface="DejaVu Serif"/>
                <a:cs typeface="DejaVu Serif"/>
              </a:rPr>
              <a:t>made by </a:t>
            </a:r>
            <a:r>
              <a:rPr sz="650" spc="-20" dirty="0">
                <a:latin typeface="DejaVu Serif"/>
                <a:cs typeface="DejaVu Serif"/>
              </a:rPr>
              <a:t>pouring </a:t>
            </a:r>
            <a:r>
              <a:rPr sz="650" spc="-25" dirty="0">
                <a:latin typeface="DejaVu Serif"/>
                <a:cs typeface="DejaVu Serif"/>
              </a:rPr>
              <a:t>molten </a:t>
            </a:r>
            <a:r>
              <a:rPr sz="650" spc="-15" dirty="0">
                <a:latin typeface="DejaVu Serif"/>
                <a:cs typeface="DejaVu Serif"/>
              </a:rPr>
              <a:t>silicon  into </a:t>
            </a:r>
            <a:r>
              <a:rPr sz="650" spc="-20" dirty="0">
                <a:latin typeface="DejaVu Serif"/>
                <a:cs typeface="DejaVu Serif"/>
              </a:rPr>
              <a:t>square </a:t>
            </a:r>
            <a:r>
              <a:rPr sz="650" spc="-15" dirty="0">
                <a:latin typeface="DejaVu Serif"/>
                <a:cs typeface="DejaVu Serif"/>
              </a:rPr>
              <a:t>molds, </a:t>
            </a:r>
            <a:r>
              <a:rPr sz="650" spc="-35" dirty="0">
                <a:latin typeface="DejaVu Serif"/>
                <a:cs typeface="DejaVu Serif"/>
              </a:rPr>
              <a:t>where </a:t>
            </a:r>
            <a:r>
              <a:rPr sz="650" spc="-25" dirty="0">
                <a:latin typeface="DejaVu Serif"/>
                <a:cs typeface="DejaVu Serif"/>
              </a:rPr>
              <a:t>it cools  </a:t>
            </a:r>
            <a:r>
              <a:rPr sz="650" spc="-10" dirty="0">
                <a:latin typeface="DejaVu Serif"/>
                <a:cs typeface="DejaVu Serif"/>
              </a:rPr>
              <a:t>and </a:t>
            </a:r>
            <a:r>
              <a:rPr sz="650" spc="-25" dirty="0">
                <a:latin typeface="DejaVu Serif"/>
                <a:cs typeface="DejaVu Serif"/>
              </a:rPr>
              <a:t>solidifies </a:t>
            </a:r>
            <a:r>
              <a:rPr sz="650" spc="-30" dirty="0">
                <a:latin typeface="DejaVu Serif"/>
                <a:cs typeface="DejaVu Serif"/>
              </a:rPr>
              <a:t>for </a:t>
            </a:r>
            <a:r>
              <a:rPr sz="650" spc="-10" dirty="0">
                <a:latin typeface="DejaVu Serif"/>
                <a:cs typeface="DejaVu Serif"/>
              </a:rPr>
              <a:t>use </a:t>
            </a:r>
            <a:r>
              <a:rPr sz="650" spc="-5" dirty="0">
                <a:latin typeface="DejaVu Serif"/>
                <a:cs typeface="DejaVu Serif"/>
              </a:rPr>
              <a:t>in </a:t>
            </a:r>
            <a:r>
              <a:rPr sz="650" spc="-15" dirty="0">
                <a:latin typeface="DejaVu Serif"/>
                <a:cs typeface="DejaVu Serif"/>
              </a:rPr>
              <a:t>a </a:t>
            </a:r>
            <a:r>
              <a:rPr sz="650" spc="-20" dirty="0">
                <a:latin typeface="DejaVu Serif"/>
                <a:cs typeface="DejaVu Serif"/>
              </a:rPr>
              <a:t>solar  panel.</a:t>
            </a:r>
            <a:endParaRPr sz="650">
              <a:latin typeface="DejaVu Serif"/>
              <a:cs typeface="DejaVu Serif"/>
            </a:endParaRPr>
          </a:p>
          <a:p>
            <a:pPr marL="119380" indent="-68580">
              <a:lnSpc>
                <a:spcPct val="100000"/>
              </a:lnSpc>
              <a:spcBef>
                <a:spcPts val="420"/>
              </a:spcBef>
              <a:buSzPct val="85000"/>
              <a:buFont typeface="Wingdings" panose="05000000000000000000"/>
              <a:buChar char=""/>
              <a:tabLst>
                <a:tab pos="119380" algn="l"/>
              </a:tabLst>
            </a:pPr>
            <a:r>
              <a:rPr sz="650" spc="-20" dirty="0">
                <a:latin typeface="DejaVu Serif"/>
                <a:cs typeface="DejaVu Serif"/>
              </a:rPr>
              <a:t>Because </a:t>
            </a:r>
            <a:r>
              <a:rPr sz="650" spc="-30" dirty="0">
                <a:latin typeface="DejaVu Serif"/>
                <a:cs typeface="DejaVu Serif"/>
              </a:rPr>
              <a:t>there are </a:t>
            </a:r>
            <a:r>
              <a:rPr sz="650" spc="-15" dirty="0">
                <a:latin typeface="DejaVu Serif"/>
                <a:cs typeface="DejaVu Serif"/>
              </a:rPr>
              <a:t>many</a:t>
            </a:r>
            <a:r>
              <a:rPr sz="650" spc="45" dirty="0">
                <a:latin typeface="DejaVu Serif"/>
                <a:cs typeface="DejaVu Serif"/>
              </a:rPr>
              <a:t> </a:t>
            </a:r>
            <a:r>
              <a:rPr sz="650" spc="-20" dirty="0">
                <a:latin typeface="DejaVu Serif"/>
                <a:cs typeface="DejaVu Serif"/>
              </a:rPr>
              <a:t>crystals</a:t>
            </a:r>
            <a:endParaRPr sz="650">
              <a:latin typeface="DejaVu Serif"/>
              <a:cs typeface="DejaVu Serif"/>
            </a:endParaRPr>
          </a:p>
          <a:p>
            <a:pPr marL="118745">
              <a:lnSpc>
                <a:spcPts val="775"/>
              </a:lnSpc>
            </a:pPr>
            <a:r>
              <a:rPr sz="650" spc="-5" dirty="0">
                <a:latin typeface="DejaVu Serif"/>
                <a:cs typeface="DejaVu Serif"/>
              </a:rPr>
              <a:t>in </a:t>
            </a:r>
            <a:r>
              <a:rPr sz="650" spc="-25" dirty="0">
                <a:latin typeface="DejaVu Serif"/>
                <a:cs typeface="DejaVu Serif"/>
              </a:rPr>
              <a:t>each cell, there </a:t>
            </a:r>
            <a:r>
              <a:rPr sz="650" spc="-10" dirty="0">
                <a:latin typeface="DejaVu Serif"/>
                <a:cs typeface="DejaVu Serif"/>
              </a:rPr>
              <a:t>is </a:t>
            </a:r>
            <a:r>
              <a:rPr sz="650" spc="-15" dirty="0">
                <a:latin typeface="DejaVu Serif"/>
                <a:cs typeface="DejaVu Serif"/>
              </a:rPr>
              <a:t>less </a:t>
            </a:r>
            <a:r>
              <a:rPr sz="650" spc="-35" dirty="0">
                <a:latin typeface="DejaVu Serif"/>
                <a:cs typeface="DejaVu Serif"/>
              </a:rPr>
              <a:t>freedom </a:t>
            </a:r>
            <a:r>
              <a:rPr sz="825" b="1" i="1" spc="-22" baseline="-10000" dirty="0">
                <a:latin typeface="Times New Roman" panose="02020603050405020304"/>
                <a:cs typeface="Times New Roman" panose="02020603050405020304"/>
              </a:rPr>
              <a:t>Polycrystalline</a:t>
            </a:r>
            <a:r>
              <a:rPr sz="825" b="1" i="1" spc="-7" baseline="-10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825" b="1" i="1" spc="-22" baseline="-10000" dirty="0">
                <a:latin typeface="Times New Roman" panose="02020603050405020304"/>
                <a:cs typeface="Times New Roman" panose="02020603050405020304"/>
              </a:rPr>
              <a:t>panel</a:t>
            </a:r>
            <a:endParaRPr sz="825" baseline="-10000">
              <a:latin typeface="Times New Roman" panose="02020603050405020304"/>
              <a:cs typeface="Times New Roman" panose="02020603050405020304"/>
            </a:endParaRPr>
          </a:p>
          <a:p>
            <a:pPr marL="118745">
              <a:lnSpc>
                <a:spcPts val="775"/>
              </a:lnSpc>
            </a:pPr>
            <a:r>
              <a:rPr sz="650" spc="-35" dirty="0">
                <a:latin typeface="DejaVu Serif"/>
                <a:cs typeface="DejaVu Serif"/>
              </a:rPr>
              <a:t>for </a:t>
            </a:r>
            <a:r>
              <a:rPr sz="650" spc="-20" dirty="0">
                <a:latin typeface="DejaVu Serif"/>
                <a:cs typeface="DejaVu Serif"/>
              </a:rPr>
              <a:t>the </a:t>
            </a:r>
            <a:r>
              <a:rPr sz="650" spc="-25" dirty="0">
                <a:latin typeface="DejaVu Serif"/>
                <a:cs typeface="DejaVu Serif"/>
              </a:rPr>
              <a:t>electrons </a:t>
            </a:r>
            <a:r>
              <a:rPr sz="650" spc="-20" dirty="0">
                <a:latin typeface="DejaVu Serif"/>
                <a:cs typeface="DejaVu Serif"/>
              </a:rPr>
              <a:t>to</a:t>
            </a:r>
            <a:r>
              <a:rPr sz="650" spc="20" dirty="0">
                <a:latin typeface="DejaVu Serif"/>
                <a:cs typeface="DejaVu Serif"/>
              </a:rPr>
              <a:t> </a:t>
            </a:r>
            <a:r>
              <a:rPr sz="650" spc="-25" dirty="0">
                <a:latin typeface="DejaVu Serif"/>
                <a:cs typeface="DejaVu Serif"/>
              </a:rPr>
              <a:t>move.</a:t>
            </a:r>
            <a:endParaRPr sz="650">
              <a:latin typeface="DejaVu Serif"/>
              <a:cs typeface="DejaVu Serif"/>
            </a:endParaRPr>
          </a:p>
          <a:p>
            <a:pPr>
              <a:lnSpc>
                <a:spcPct val="100000"/>
              </a:lnSpc>
            </a:pPr>
            <a:endParaRPr sz="700">
              <a:latin typeface="DejaVu Serif"/>
              <a:cs typeface="DejaVu Serif"/>
            </a:endParaRPr>
          </a:p>
          <a:p>
            <a:pPr marL="118745" marR="30480" indent="-68580">
              <a:lnSpc>
                <a:spcPct val="100000"/>
              </a:lnSpc>
              <a:spcBef>
                <a:spcPts val="480"/>
              </a:spcBef>
              <a:buSzPct val="85000"/>
              <a:buFont typeface="Wingdings" panose="05000000000000000000"/>
              <a:buChar char=""/>
              <a:tabLst>
                <a:tab pos="119380" algn="l"/>
              </a:tabLst>
            </a:pPr>
            <a:r>
              <a:rPr sz="650" spc="-15" dirty="0">
                <a:latin typeface="DejaVu Serif"/>
                <a:cs typeface="DejaVu Serif"/>
              </a:rPr>
              <a:t>As a result, </a:t>
            </a:r>
            <a:r>
              <a:rPr sz="650" spc="-20" dirty="0">
                <a:latin typeface="DejaVu Serif"/>
                <a:cs typeface="DejaVu Serif"/>
              </a:rPr>
              <a:t>polycrystalline solar panels </a:t>
            </a:r>
            <a:r>
              <a:rPr sz="650" spc="-25" dirty="0">
                <a:latin typeface="DejaVu Serif"/>
                <a:cs typeface="DejaVu Serif"/>
              </a:rPr>
              <a:t>have </a:t>
            </a:r>
            <a:r>
              <a:rPr sz="650" spc="-40" dirty="0">
                <a:latin typeface="DejaVu Serif"/>
                <a:cs typeface="DejaVu Serif"/>
              </a:rPr>
              <a:t>lower  </a:t>
            </a:r>
            <a:r>
              <a:rPr sz="650" spc="-30" dirty="0">
                <a:latin typeface="DejaVu Serif"/>
                <a:cs typeface="DejaVu Serif"/>
              </a:rPr>
              <a:t>efficiency </a:t>
            </a:r>
            <a:r>
              <a:rPr sz="650" spc="-20" dirty="0">
                <a:latin typeface="DejaVu Serif"/>
                <a:cs typeface="DejaVu Serif"/>
              </a:rPr>
              <a:t>ratings </a:t>
            </a:r>
            <a:r>
              <a:rPr sz="650" spc="-5" dirty="0">
                <a:latin typeface="DejaVu Serif"/>
                <a:cs typeface="DejaVu Serif"/>
              </a:rPr>
              <a:t>than </a:t>
            </a:r>
            <a:r>
              <a:rPr sz="650" spc="-15" dirty="0">
                <a:latin typeface="DejaVu Serif"/>
                <a:cs typeface="DejaVu Serif"/>
              </a:rPr>
              <a:t>mono-crystalline panels.</a:t>
            </a:r>
            <a:endParaRPr sz="650">
              <a:latin typeface="DejaVu Serif"/>
              <a:cs typeface="DejaVu Serif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 panose="05000000000000000000"/>
              <a:buChar char=""/>
            </a:pPr>
            <a:endParaRPr sz="650">
              <a:latin typeface="DejaVu Serif"/>
              <a:cs typeface="DejaVu Serif"/>
            </a:endParaRPr>
          </a:p>
          <a:p>
            <a:pPr marL="118745" marR="29845" indent="-68580">
              <a:lnSpc>
                <a:spcPts val="770"/>
              </a:lnSpc>
              <a:buSzPct val="85000"/>
              <a:buFont typeface="Wingdings" panose="05000000000000000000"/>
              <a:buChar char=""/>
              <a:tabLst>
                <a:tab pos="119380" algn="l"/>
              </a:tabLst>
            </a:pPr>
            <a:r>
              <a:rPr sz="650" spc="-25" dirty="0">
                <a:latin typeface="DejaVu Serif"/>
                <a:cs typeface="DejaVu Serif"/>
              </a:rPr>
              <a:t>Polycrystalline </a:t>
            </a:r>
            <a:r>
              <a:rPr sz="650" spc="-20" dirty="0">
                <a:latin typeface="DejaVu Serif"/>
                <a:cs typeface="DejaVu Serif"/>
              </a:rPr>
              <a:t>solar </a:t>
            </a:r>
            <a:r>
              <a:rPr sz="650" spc="-25" dirty="0">
                <a:latin typeface="DejaVu Serif"/>
                <a:cs typeface="DejaVu Serif"/>
              </a:rPr>
              <a:t>cells </a:t>
            </a:r>
            <a:r>
              <a:rPr sz="650" spc="-20" dirty="0">
                <a:latin typeface="DejaVu Serif"/>
                <a:cs typeface="DejaVu Serif"/>
              </a:rPr>
              <a:t>have blue colour with </a:t>
            </a:r>
            <a:r>
              <a:rPr sz="650" spc="-25" dirty="0">
                <a:latin typeface="DejaVu Serif"/>
                <a:cs typeface="DejaVu Serif"/>
              </a:rPr>
              <a:t>square  </a:t>
            </a:r>
            <a:r>
              <a:rPr sz="650" spc="-15" dirty="0">
                <a:latin typeface="DejaVu Serif"/>
                <a:cs typeface="DejaVu Serif"/>
              </a:rPr>
              <a:t>shape.</a:t>
            </a:r>
            <a:endParaRPr sz="650">
              <a:latin typeface="DejaVu Serif"/>
              <a:cs typeface="DejaVu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11556" y="0"/>
            <a:ext cx="2705735" cy="2035175"/>
            <a:chOff x="-11556" y="0"/>
            <a:chExt cx="2705735" cy="2035175"/>
          </a:xfrm>
        </p:grpSpPr>
        <p:sp>
          <p:nvSpPr>
            <p:cNvPr id="5" name="object 5"/>
            <p:cNvSpPr/>
            <p:nvPr/>
          </p:nvSpPr>
          <p:spPr>
            <a:xfrm>
              <a:off x="1887248" y="329438"/>
              <a:ext cx="419734" cy="600075"/>
            </a:xfrm>
            <a:custGeom>
              <a:avLst/>
              <a:gdLst/>
              <a:ahLst/>
              <a:cxnLst/>
              <a:rect l="l" t="t" r="r" b="b"/>
              <a:pathLst>
                <a:path w="419735" h="600075">
                  <a:moveTo>
                    <a:pt x="394800" y="0"/>
                  </a:moveTo>
                  <a:lnTo>
                    <a:pt x="419585" y="26794"/>
                  </a:lnTo>
                  <a:lnTo>
                    <a:pt x="419585" y="573701"/>
                  </a:lnTo>
                  <a:lnTo>
                    <a:pt x="394800" y="600058"/>
                  </a:lnTo>
                  <a:lnTo>
                    <a:pt x="24785" y="600058"/>
                  </a:lnTo>
                  <a:lnTo>
                    <a:pt x="0" y="573326"/>
                  </a:lnTo>
                  <a:lnTo>
                    <a:pt x="0" y="26347"/>
                  </a:lnTo>
                  <a:lnTo>
                    <a:pt x="24785" y="0"/>
                  </a:lnTo>
                  <a:lnTo>
                    <a:pt x="394800" y="0"/>
                  </a:lnTo>
                  <a:close/>
                </a:path>
              </a:pathLst>
            </a:custGeom>
            <a:ln w="6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36438" y="706176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36438" y="706176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01979" y="706176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01979" y="706176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67800" y="706176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67800" y="706176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05899" y="706176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05899" y="706176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71440" y="706176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71440" y="706176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36438" y="634698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36438" y="634698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01979" y="634698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01979" y="634698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67800" y="634698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167800" y="634698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05899" y="634698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05899" y="634698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71440" y="634698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71440" y="634698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36438" y="84915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036438" y="84915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01979" y="84915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101979" y="84915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167800" y="84915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167800" y="84915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05899" y="84915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05899" y="84915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71440" y="84915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71440" y="84915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036438" y="777663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036438" y="777663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101979" y="777663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101979" y="777663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167800" y="777663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167800" y="777663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905899" y="777663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905899" y="777663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971440" y="777663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971440" y="777663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036438" y="420237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036438" y="420237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101979" y="420237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101979" y="420237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167800" y="420237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167800" y="420237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905899" y="420237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905899" y="420237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971440" y="420237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971440" y="420237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036438" y="35024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036438" y="35024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101979" y="35024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101979" y="35024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167800" y="35024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167800" y="35024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905899" y="35024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905899" y="35024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971440" y="35024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971440" y="35024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036438" y="56321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036438" y="56321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101979" y="56321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101979" y="56321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167800" y="56321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167800" y="56321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905899" y="56321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905899" y="56321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971440" y="56321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971440" y="56321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036438" y="491724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036438" y="491724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101979" y="491724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101979" y="491724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167800" y="491724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167800" y="491724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905899" y="491724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905899" y="491724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971440" y="491724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971440" y="491724"/>
              <a:ext cx="502920" cy="454659"/>
            </a:xfrm>
            <a:custGeom>
              <a:avLst/>
              <a:gdLst/>
              <a:ahLst/>
              <a:cxnLst/>
              <a:rect l="l" t="t" r="r" b="b"/>
              <a:pathLst>
                <a:path w="502919" h="454659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  <a:path w="502919" h="454659">
                  <a:moveTo>
                    <a:pt x="240988" y="389667"/>
                  </a:moveTo>
                  <a:lnTo>
                    <a:pt x="245659" y="364539"/>
                  </a:lnTo>
                  <a:lnTo>
                    <a:pt x="258397" y="344019"/>
                  </a:lnTo>
                  <a:lnTo>
                    <a:pt x="277291" y="330184"/>
                  </a:lnTo>
                  <a:lnTo>
                    <a:pt x="300427" y="325111"/>
                  </a:lnTo>
                  <a:lnTo>
                    <a:pt x="323569" y="330184"/>
                  </a:lnTo>
                  <a:lnTo>
                    <a:pt x="342465" y="344019"/>
                  </a:lnTo>
                  <a:lnTo>
                    <a:pt x="355204" y="364539"/>
                  </a:lnTo>
                  <a:lnTo>
                    <a:pt x="359875" y="389667"/>
                  </a:lnTo>
                  <a:lnTo>
                    <a:pt x="355204" y="414796"/>
                  </a:lnTo>
                  <a:lnTo>
                    <a:pt x="342465" y="435316"/>
                  </a:lnTo>
                  <a:lnTo>
                    <a:pt x="323569" y="449150"/>
                  </a:lnTo>
                  <a:lnTo>
                    <a:pt x="300427" y="454223"/>
                  </a:lnTo>
                  <a:lnTo>
                    <a:pt x="277291" y="449150"/>
                  </a:lnTo>
                  <a:lnTo>
                    <a:pt x="258397" y="435316"/>
                  </a:lnTo>
                  <a:lnTo>
                    <a:pt x="245659" y="414796"/>
                  </a:lnTo>
                  <a:lnTo>
                    <a:pt x="240988" y="389667"/>
                  </a:lnTo>
                  <a:close/>
                </a:path>
                <a:path w="502919" h="454659">
                  <a:moveTo>
                    <a:pt x="329999" y="333658"/>
                  </a:moveTo>
                  <a:lnTo>
                    <a:pt x="502494" y="451651"/>
                  </a:lnTo>
                </a:path>
              </a:pathLst>
            </a:custGeom>
            <a:ln w="6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340345" y="1000381"/>
              <a:ext cx="170180" cy="185420"/>
            </a:xfrm>
            <a:custGeom>
              <a:avLst/>
              <a:gdLst/>
              <a:ahLst/>
              <a:cxnLst/>
              <a:rect l="l" t="t" r="r" b="b"/>
              <a:pathLst>
                <a:path w="170180" h="185419">
                  <a:moveTo>
                    <a:pt x="170168" y="0"/>
                  </a:moveTo>
                  <a:lnTo>
                    <a:pt x="0" y="0"/>
                  </a:lnTo>
                  <a:lnTo>
                    <a:pt x="0" y="184818"/>
                  </a:lnTo>
                  <a:lnTo>
                    <a:pt x="170168" y="184818"/>
                  </a:lnTo>
                  <a:lnTo>
                    <a:pt x="17016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281234" y="964525"/>
              <a:ext cx="288925" cy="285115"/>
            </a:xfrm>
            <a:custGeom>
              <a:avLst/>
              <a:gdLst/>
              <a:ahLst/>
              <a:cxnLst/>
              <a:rect l="l" t="t" r="r" b="b"/>
              <a:pathLst>
                <a:path w="288925" h="285115">
                  <a:moveTo>
                    <a:pt x="59110" y="220674"/>
                  </a:moveTo>
                  <a:lnTo>
                    <a:pt x="229278" y="220674"/>
                  </a:lnTo>
                  <a:lnTo>
                    <a:pt x="229278" y="35856"/>
                  </a:lnTo>
                  <a:lnTo>
                    <a:pt x="59110" y="35856"/>
                  </a:lnTo>
                  <a:lnTo>
                    <a:pt x="59110" y="220674"/>
                  </a:lnTo>
                  <a:close/>
                </a:path>
                <a:path w="288925" h="285115">
                  <a:moveTo>
                    <a:pt x="59381" y="0"/>
                  </a:moveTo>
                  <a:lnTo>
                    <a:pt x="37037" y="21527"/>
                  </a:lnTo>
                  <a:lnTo>
                    <a:pt x="19372" y="47278"/>
                  </a:lnTo>
                  <a:lnTo>
                    <a:pt x="6866" y="76378"/>
                  </a:lnTo>
                  <a:lnTo>
                    <a:pt x="0" y="107954"/>
                  </a:lnTo>
                </a:path>
                <a:path w="288925" h="285115">
                  <a:moveTo>
                    <a:pt x="0" y="107954"/>
                  </a:moveTo>
                  <a:lnTo>
                    <a:pt x="1439" y="158489"/>
                  </a:lnTo>
                  <a:lnTo>
                    <a:pt x="16775" y="204362"/>
                  </a:lnTo>
                  <a:lnTo>
                    <a:pt x="43940" y="242658"/>
                  </a:lnTo>
                  <a:lnTo>
                    <a:pt x="80867" y="270465"/>
                  </a:lnTo>
                  <a:lnTo>
                    <a:pt x="125490" y="284869"/>
                  </a:lnTo>
                  <a:lnTo>
                    <a:pt x="172017" y="283306"/>
                  </a:lnTo>
                  <a:lnTo>
                    <a:pt x="214257" y="266651"/>
                  </a:lnTo>
                  <a:lnTo>
                    <a:pt x="249526" y="237148"/>
                  </a:lnTo>
                  <a:lnTo>
                    <a:pt x="275142" y="197044"/>
                  </a:lnTo>
                  <a:lnTo>
                    <a:pt x="288421" y="148583"/>
                  </a:lnTo>
                  <a:lnTo>
                    <a:pt x="288145" y="105916"/>
                  </a:lnTo>
                  <a:lnTo>
                    <a:pt x="277638" y="65560"/>
                  </a:lnTo>
                  <a:lnTo>
                    <a:pt x="257741" y="29622"/>
                  </a:lnTo>
                  <a:lnTo>
                    <a:pt x="229294" y="214"/>
                  </a:lnTo>
                </a:path>
              </a:pathLst>
            </a:custGeom>
            <a:ln w="6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340616" y="935154"/>
              <a:ext cx="170180" cy="48895"/>
            </a:xfrm>
            <a:custGeom>
              <a:avLst/>
              <a:gdLst/>
              <a:ahLst/>
              <a:cxnLst/>
              <a:rect l="l" t="t" r="r" b="b"/>
              <a:pathLst>
                <a:path w="170180" h="48894">
                  <a:moveTo>
                    <a:pt x="76140" y="0"/>
                  </a:moveTo>
                  <a:lnTo>
                    <a:pt x="49280" y="4507"/>
                  </a:lnTo>
                  <a:lnTo>
                    <a:pt x="23667" y="14361"/>
                  </a:lnTo>
                  <a:lnTo>
                    <a:pt x="0" y="29371"/>
                  </a:lnTo>
                  <a:lnTo>
                    <a:pt x="0" y="48770"/>
                  </a:lnTo>
                  <a:lnTo>
                    <a:pt x="169913" y="48770"/>
                  </a:lnTo>
                  <a:lnTo>
                    <a:pt x="169913" y="29585"/>
                  </a:lnTo>
                  <a:lnTo>
                    <a:pt x="121250" y="4757"/>
                  </a:lnTo>
                  <a:lnTo>
                    <a:pt x="7614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340616" y="935154"/>
              <a:ext cx="170180" cy="48895"/>
            </a:xfrm>
            <a:custGeom>
              <a:avLst/>
              <a:gdLst/>
              <a:ahLst/>
              <a:cxnLst/>
              <a:rect l="l" t="t" r="r" b="b"/>
              <a:pathLst>
                <a:path w="170180" h="48894">
                  <a:moveTo>
                    <a:pt x="169913" y="48770"/>
                  </a:moveTo>
                  <a:lnTo>
                    <a:pt x="169913" y="29585"/>
                  </a:lnTo>
                  <a:lnTo>
                    <a:pt x="154617" y="19117"/>
                  </a:lnTo>
                  <a:lnTo>
                    <a:pt x="138335" y="10813"/>
                  </a:lnTo>
                  <a:lnTo>
                    <a:pt x="121250" y="4757"/>
                  </a:lnTo>
                  <a:lnTo>
                    <a:pt x="103549" y="1031"/>
                  </a:lnTo>
                  <a:lnTo>
                    <a:pt x="76140" y="0"/>
                  </a:lnTo>
                  <a:lnTo>
                    <a:pt x="49280" y="4507"/>
                  </a:lnTo>
                  <a:lnTo>
                    <a:pt x="23667" y="14361"/>
                  </a:lnTo>
                  <a:lnTo>
                    <a:pt x="0" y="29371"/>
                  </a:lnTo>
                  <a:lnTo>
                    <a:pt x="0" y="48770"/>
                  </a:lnTo>
                  <a:lnTo>
                    <a:pt x="169913" y="48770"/>
                  </a:lnTo>
                  <a:close/>
                </a:path>
              </a:pathLst>
            </a:custGeom>
            <a:ln w="6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2281164" y="1000528"/>
              <a:ext cx="45085" cy="184785"/>
            </a:xfrm>
            <a:custGeom>
              <a:avLst/>
              <a:gdLst/>
              <a:ahLst/>
              <a:cxnLst/>
              <a:rect l="l" t="t" r="r" b="b"/>
              <a:pathLst>
                <a:path w="45085" h="184784">
                  <a:moveTo>
                    <a:pt x="44904" y="0"/>
                  </a:moveTo>
                  <a:lnTo>
                    <a:pt x="27232" y="0"/>
                  </a:lnTo>
                  <a:lnTo>
                    <a:pt x="17595" y="16583"/>
                  </a:lnTo>
                  <a:lnTo>
                    <a:pt x="9952" y="34268"/>
                  </a:lnTo>
                  <a:lnTo>
                    <a:pt x="4378" y="52842"/>
                  </a:lnTo>
                  <a:lnTo>
                    <a:pt x="950" y="72094"/>
                  </a:lnTo>
                  <a:lnTo>
                    <a:pt x="0" y="101843"/>
                  </a:lnTo>
                  <a:lnTo>
                    <a:pt x="4148" y="131005"/>
                  </a:lnTo>
                  <a:lnTo>
                    <a:pt x="13219" y="158819"/>
                  </a:lnTo>
                  <a:lnTo>
                    <a:pt x="27034" y="184524"/>
                  </a:lnTo>
                  <a:lnTo>
                    <a:pt x="44904" y="184524"/>
                  </a:lnTo>
                  <a:lnTo>
                    <a:pt x="44904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218021" y="908721"/>
              <a:ext cx="108585" cy="276860"/>
            </a:xfrm>
            <a:custGeom>
              <a:avLst/>
              <a:gdLst/>
              <a:ahLst/>
              <a:cxnLst/>
              <a:rect l="l" t="t" r="r" b="b"/>
              <a:pathLst>
                <a:path w="108585" h="276859">
                  <a:moveTo>
                    <a:pt x="108048" y="91806"/>
                  </a:moveTo>
                  <a:lnTo>
                    <a:pt x="90375" y="91806"/>
                  </a:lnTo>
                  <a:lnTo>
                    <a:pt x="80739" y="108390"/>
                  </a:lnTo>
                  <a:lnTo>
                    <a:pt x="73096" y="126074"/>
                  </a:lnTo>
                  <a:lnTo>
                    <a:pt x="67522" y="144649"/>
                  </a:lnTo>
                  <a:lnTo>
                    <a:pt x="64093" y="163900"/>
                  </a:lnTo>
                  <a:lnTo>
                    <a:pt x="63143" y="193649"/>
                  </a:lnTo>
                  <a:lnTo>
                    <a:pt x="67292" y="222811"/>
                  </a:lnTo>
                  <a:lnTo>
                    <a:pt x="76363" y="250625"/>
                  </a:lnTo>
                  <a:lnTo>
                    <a:pt x="90178" y="276330"/>
                  </a:lnTo>
                  <a:lnTo>
                    <a:pt x="108048" y="276330"/>
                  </a:lnTo>
                  <a:lnTo>
                    <a:pt x="108048" y="91806"/>
                  </a:lnTo>
                  <a:close/>
                </a:path>
                <a:path w="108585" h="276859">
                  <a:moveTo>
                    <a:pt x="0" y="0"/>
                  </a:moveTo>
                  <a:lnTo>
                    <a:pt x="64323" y="212157"/>
                  </a:lnTo>
                </a:path>
              </a:pathLst>
            </a:custGeom>
            <a:ln w="6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233341" y="35024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233341" y="35024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233341" y="420237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233341" y="420237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233341" y="491724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2233341" y="491724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2233341" y="56321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233341" y="56321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233341" y="84915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2233341" y="849151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233341" y="634698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233341" y="634698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233341" y="706176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233341" y="706176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233341" y="777663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54848" y="0"/>
                  </a:moveTo>
                  <a:lnTo>
                    <a:pt x="0" y="0"/>
                  </a:lnTo>
                  <a:lnTo>
                    <a:pt x="0" y="59570"/>
                  </a:lnTo>
                  <a:lnTo>
                    <a:pt x="54848" y="59570"/>
                  </a:lnTo>
                  <a:lnTo>
                    <a:pt x="548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2233341" y="777663"/>
              <a:ext cx="55244" cy="59690"/>
            </a:xfrm>
            <a:custGeom>
              <a:avLst/>
              <a:gdLst/>
              <a:ahLst/>
              <a:cxnLst/>
              <a:rect l="l" t="t" r="r" b="b"/>
              <a:pathLst>
                <a:path w="55244" h="59690">
                  <a:moveTo>
                    <a:pt x="0" y="59570"/>
                  </a:moveTo>
                  <a:lnTo>
                    <a:pt x="54848" y="59570"/>
                  </a:lnTo>
                  <a:lnTo>
                    <a:pt x="54848" y="0"/>
                  </a:lnTo>
                  <a:lnTo>
                    <a:pt x="0" y="0"/>
                  </a:lnTo>
                  <a:lnTo>
                    <a:pt x="0" y="59570"/>
                  </a:lnTo>
                  <a:close/>
                </a:path>
              </a:pathLst>
            </a:custGeom>
            <a:ln w="6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35" y="127"/>
              <a:ext cx="2681605" cy="2011045"/>
            </a:xfrm>
            <a:custGeom>
              <a:avLst/>
              <a:gdLst/>
              <a:ahLst/>
              <a:cxnLst/>
              <a:rect l="l" t="t" r="r" b="b"/>
              <a:pathLst>
                <a:path w="2681605" h="2011045">
                  <a:moveTo>
                    <a:pt x="0" y="2010790"/>
                  </a:moveTo>
                  <a:lnTo>
                    <a:pt x="2681351" y="201079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79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428" y="40449"/>
            <a:ext cx="173672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" dirty="0"/>
              <a:t>Mono-crystalline</a:t>
            </a:r>
            <a:r>
              <a:rPr spc="-55" dirty="0"/>
              <a:t> </a:t>
            </a:r>
            <a:r>
              <a:rPr spc="5" dirty="0"/>
              <a:t>cells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984" y="1161097"/>
            <a:ext cx="2454275" cy="740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 marR="5080" indent="-68580" algn="just">
              <a:lnSpc>
                <a:spcPct val="106000"/>
              </a:lnSpc>
              <a:spcBef>
                <a:spcPts val="100"/>
              </a:spcBef>
              <a:buSzPct val="82000"/>
              <a:buFont typeface="Wingdings" panose="05000000000000000000"/>
              <a:buChar char=""/>
              <a:tabLst>
                <a:tab pos="81280" algn="l"/>
              </a:tabLst>
            </a:pPr>
            <a:r>
              <a:rPr sz="550" spc="10" dirty="0">
                <a:latin typeface="DejaVu Serif"/>
                <a:cs typeface="DejaVu Serif"/>
              </a:rPr>
              <a:t>As a </a:t>
            </a:r>
            <a:r>
              <a:rPr sz="550" spc="5" dirty="0">
                <a:latin typeface="DejaVu Serif"/>
                <a:cs typeface="DejaVu Serif"/>
              </a:rPr>
              <a:t>result, mono-crystalline panels </a:t>
            </a:r>
            <a:r>
              <a:rPr sz="550" spc="-15" dirty="0">
                <a:latin typeface="DejaVu Serif"/>
                <a:cs typeface="DejaVu Serif"/>
              </a:rPr>
              <a:t>are </a:t>
            </a:r>
            <a:r>
              <a:rPr sz="550" spc="-5" dirty="0">
                <a:latin typeface="DejaVu Serif"/>
                <a:cs typeface="DejaVu Serif"/>
              </a:rPr>
              <a:t>more </a:t>
            </a:r>
            <a:r>
              <a:rPr sz="550" spc="-10" dirty="0">
                <a:latin typeface="DejaVu Serif"/>
                <a:cs typeface="DejaVu Serif"/>
              </a:rPr>
              <a:t>efficient </a:t>
            </a:r>
            <a:r>
              <a:rPr sz="550" spc="15" dirty="0">
                <a:latin typeface="DejaVu Serif"/>
                <a:cs typeface="DejaVu Serif"/>
              </a:rPr>
              <a:t>than </a:t>
            </a:r>
            <a:r>
              <a:rPr sz="550" dirty="0">
                <a:latin typeface="DejaVu Serif"/>
                <a:cs typeface="DejaVu Serif"/>
              </a:rPr>
              <a:t>their  polycrystalline</a:t>
            </a:r>
            <a:r>
              <a:rPr sz="550" spc="-5" dirty="0">
                <a:latin typeface="DejaVu Serif"/>
                <a:cs typeface="DejaVu Serif"/>
              </a:rPr>
              <a:t> </a:t>
            </a:r>
            <a:r>
              <a:rPr sz="550" spc="5" dirty="0">
                <a:latin typeface="DejaVu Serif"/>
                <a:cs typeface="DejaVu Serif"/>
              </a:rPr>
              <a:t>counterparts.</a:t>
            </a:r>
            <a:endParaRPr sz="550">
              <a:latin typeface="DejaVu Serif"/>
              <a:cs typeface="DejaVu Serif"/>
            </a:endParaRPr>
          </a:p>
          <a:p>
            <a:pPr marL="80645" marR="5080" indent="-68580" algn="just">
              <a:lnSpc>
                <a:spcPct val="107000"/>
              </a:lnSpc>
              <a:spcBef>
                <a:spcPts val="350"/>
              </a:spcBef>
              <a:buSzPct val="82000"/>
              <a:buFont typeface="Wingdings" panose="05000000000000000000"/>
              <a:buChar char=""/>
              <a:tabLst>
                <a:tab pos="81280" algn="l"/>
              </a:tabLst>
            </a:pPr>
            <a:r>
              <a:rPr sz="550" dirty="0">
                <a:latin typeface="DejaVu Serif"/>
                <a:cs typeface="DejaVu Serif"/>
              </a:rPr>
              <a:t>Mono-crystalline solar </a:t>
            </a:r>
            <a:r>
              <a:rPr sz="550" spc="5" dirty="0">
                <a:latin typeface="DejaVu Serif"/>
                <a:cs typeface="DejaVu Serif"/>
              </a:rPr>
              <a:t>panels </a:t>
            </a:r>
            <a:r>
              <a:rPr sz="550" spc="-5" dirty="0">
                <a:latin typeface="DejaVu Serif"/>
                <a:cs typeface="DejaVu Serif"/>
              </a:rPr>
              <a:t>have </a:t>
            </a:r>
            <a:r>
              <a:rPr sz="550" dirty="0">
                <a:latin typeface="DejaVu Serif"/>
                <a:cs typeface="DejaVu Serif"/>
              </a:rPr>
              <a:t>the highest </a:t>
            </a:r>
            <a:r>
              <a:rPr sz="550" spc="-10" dirty="0">
                <a:latin typeface="DejaVu Serif"/>
                <a:cs typeface="DejaVu Serif"/>
              </a:rPr>
              <a:t>efficiency </a:t>
            </a:r>
            <a:r>
              <a:rPr sz="550" dirty="0">
                <a:latin typeface="DejaVu Serif"/>
                <a:cs typeface="DejaVu Serif"/>
              </a:rPr>
              <a:t>rates  (around 20%) since they </a:t>
            </a:r>
            <a:r>
              <a:rPr sz="550" spc="-15" dirty="0">
                <a:latin typeface="DejaVu Serif"/>
                <a:cs typeface="DejaVu Serif"/>
              </a:rPr>
              <a:t>are </a:t>
            </a:r>
            <a:r>
              <a:rPr sz="550" spc="5" dirty="0">
                <a:latin typeface="DejaVu Serif"/>
                <a:cs typeface="DejaVu Serif"/>
              </a:rPr>
              <a:t>made </a:t>
            </a:r>
            <a:r>
              <a:rPr sz="550" spc="10" dirty="0">
                <a:latin typeface="DejaVu Serif"/>
                <a:cs typeface="DejaVu Serif"/>
              </a:rPr>
              <a:t>out </a:t>
            </a:r>
            <a:r>
              <a:rPr sz="550" spc="-15" dirty="0">
                <a:latin typeface="DejaVu Serif"/>
                <a:cs typeface="DejaVu Serif"/>
              </a:rPr>
              <a:t>of </a:t>
            </a:r>
            <a:r>
              <a:rPr sz="550" dirty="0">
                <a:latin typeface="DejaVu Serif"/>
                <a:cs typeface="DejaVu Serif"/>
              </a:rPr>
              <a:t>the highest-grade  silicon.</a:t>
            </a:r>
            <a:endParaRPr sz="550">
              <a:latin typeface="DejaVu Serif"/>
              <a:cs typeface="DejaVu Serif"/>
            </a:endParaRPr>
          </a:p>
          <a:p>
            <a:pPr marL="80645" marR="6350" indent="-68580" algn="just">
              <a:lnSpc>
                <a:spcPct val="106000"/>
              </a:lnSpc>
              <a:spcBef>
                <a:spcPts val="360"/>
              </a:spcBef>
              <a:buSzPct val="82000"/>
              <a:buFont typeface="Wingdings" panose="05000000000000000000"/>
              <a:buChar char=""/>
              <a:tabLst>
                <a:tab pos="81280" algn="l"/>
              </a:tabLst>
            </a:pPr>
            <a:r>
              <a:rPr sz="550" dirty="0">
                <a:latin typeface="DejaVu Serif"/>
                <a:cs typeface="DejaVu Serif"/>
              </a:rPr>
              <a:t>They </a:t>
            </a:r>
            <a:r>
              <a:rPr sz="550" spc="-10" dirty="0">
                <a:latin typeface="DejaVu Serif"/>
                <a:cs typeface="DejaVu Serif"/>
              </a:rPr>
              <a:t>are </a:t>
            </a:r>
            <a:r>
              <a:rPr sz="550" spc="5" dirty="0">
                <a:latin typeface="DejaVu Serif"/>
                <a:cs typeface="DejaVu Serif"/>
              </a:rPr>
              <a:t>distinguished by uniform dark </a:t>
            </a:r>
            <a:r>
              <a:rPr sz="550" dirty="0">
                <a:latin typeface="DejaVu Serif"/>
                <a:cs typeface="DejaVu Serif"/>
              </a:rPr>
              <a:t>colour with </a:t>
            </a:r>
            <a:r>
              <a:rPr sz="550" spc="5" dirty="0">
                <a:latin typeface="DejaVu Serif"/>
                <a:cs typeface="DejaVu Serif"/>
              </a:rPr>
              <a:t>rounded  </a:t>
            </a:r>
            <a:r>
              <a:rPr sz="550" spc="-10" dirty="0">
                <a:latin typeface="DejaVu Serif"/>
                <a:cs typeface="DejaVu Serif"/>
              </a:rPr>
              <a:t>edges.</a:t>
            </a:r>
            <a:endParaRPr sz="550">
              <a:latin typeface="DejaVu Serif"/>
              <a:cs typeface="DejaVu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3174" y="899166"/>
            <a:ext cx="614045" cy="111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50" b="1" i="1" spc="-30" dirty="0">
                <a:latin typeface="Times New Roman" panose="02020603050405020304"/>
                <a:cs typeface="Times New Roman" panose="02020603050405020304"/>
              </a:rPr>
              <a:t>Mono-crystalline</a:t>
            </a:r>
            <a:r>
              <a:rPr sz="550" b="1" i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50" b="1" i="1" spc="-35" dirty="0">
                <a:latin typeface="Times New Roman" panose="02020603050405020304"/>
                <a:cs typeface="Times New Roman" panose="02020603050405020304"/>
              </a:rPr>
              <a:t>panel</a:t>
            </a:r>
            <a:endParaRPr sz="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84246" y="281720"/>
            <a:ext cx="612673" cy="9045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8234" y="289369"/>
            <a:ext cx="1405255" cy="605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645" marR="6985" indent="-68580" algn="just">
              <a:lnSpc>
                <a:spcPct val="106000"/>
              </a:lnSpc>
              <a:spcBef>
                <a:spcPts val="95"/>
              </a:spcBef>
              <a:buSzPct val="82000"/>
              <a:buFont typeface="Wingdings" panose="05000000000000000000"/>
              <a:buChar char=""/>
              <a:tabLst>
                <a:tab pos="81280" algn="l"/>
              </a:tabLst>
            </a:pPr>
            <a:r>
              <a:rPr sz="550" b="1" i="1" spc="15" dirty="0">
                <a:latin typeface="TeX Gyre Bonum"/>
                <a:cs typeface="TeX Gyre Bonum"/>
              </a:rPr>
              <a:t>Mono-crystalline cells </a:t>
            </a:r>
            <a:r>
              <a:rPr sz="550" spc="-10" dirty="0">
                <a:latin typeface="DejaVu Serif"/>
                <a:cs typeface="DejaVu Serif"/>
              </a:rPr>
              <a:t>are</a:t>
            </a:r>
            <a:r>
              <a:rPr sz="550" spc="150" dirty="0">
                <a:latin typeface="DejaVu Serif"/>
                <a:cs typeface="DejaVu Serif"/>
              </a:rPr>
              <a:t> </a:t>
            </a:r>
            <a:r>
              <a:rPr sz="550" spc="5" dirty="0">
                <a:latin typeface="DejaVu Serif"/>
                <a:cs typeface="DejaVu Serif"/>
              </a:rPr>
              <a:t>made  by </a:t>
            </a:r>
            <a:r>
              <a:rPr sz="550" spc="-5" dirty="0">
                <a:latin typeface="DejaVu Serif"/>
                <a:cs typeface="DejaVu Serif"/>
              </a:rPr>
              <a:t>slicing </a:t>
            </a:r>
            <a:r>
              <a:rPr sz="550" spc="10" dirty="0">
                <a:latin typeface="DejaVu Serif"/>
                <a:cs typeface="DejaVu Serif"/>
              </a:rPr>
              <a:t>a </a:t>
            </a:r>
            <a:r>
              <a:rPr sz="550" spc="-5" dirty="0">
                <a:latin typeface="DejaVu Serif"/>
                <a:cs typeface="DejaVu Serif"/>
              </a:rPr>
              <a:t>single higher </a:t>
            </a:r>
            <a:r>
              <a:rPr sz="550" spc="-15" dirty="0">
                <a:latin typeface="DejaVu Serif"/>
                <a:cs typeface="DejaVu Serif"/>
              </a:rPr>
              <a:t>grade  </a:t>
            </a:r>
            <a:r>
              <a:rPr sz="550" dirty="0">
                <a:latin typeface="DejaVu Serif"/>
                <a:cs typeface="DejaVu Serif"/>
              </a:rPr>
              <a:t>silicon </a:t>
            </a:r>
            <a:r>
              <a:rPr sz="550" spc="-5" dirty="0">
                <a:latin typeface="DejaVu Serif"/>
                <a:cs typeface="DejaVu Serif"/>
              </a:rPr>
              <a:t>rod </a:t>
            </a:r>
            <a:r>
              <a:rPr sz="550" spc="5" dirty="0">
                <a:latin typeface="DejaVu Serif"/>
                <a:cs typeface="DejaVu Serif"/>
              </a:rPr>
              <a:t>into</a:t>
            </a:r>
            <a:r>
              <a:rPr sz="550" spc="25" dirty="0">
                <a:latin typeface="DejaVu Serif"/>
                <a:cs typeface="DejaVu Serif"/>
              </a:rPr>
              <a:t> </a:t>
            </a:r>
            <a:r>
              <a:rPr sz="550" b="1" i="1" spc="15" dirty="0">
                <a:latin typeface="TeX Gyre Bonum"/>
                <a:cs typeface="TeX Gyre Bonum"/>
              </a:rPr>
              <a:t>wafers</a:t>
            </a:r>
            <a:r>
              <a:rPr sz="550" spc="15" dirty="0">
                <a:latin typeface="DejaVu Serif"/>
                <a:cs typeface="DejaVu Serif"/>
              </a:rPr>
              <a:t>.</a:t>
            </a:r>
            <a:endParaRPr sz="550">
              <a:latin typeface="DejaVu Serif"/>
              <a:cs typeface="DejaVu Serif"/>
            </a:endParaRPr>
          </a:p>
          <a:p>
            <a:pPr marL="80645" marR="5080" indent="-68580" algn="just">
              <a:lnSpc>
                <a:spcPct val="106000"/>
              </a:lnSpc>
              <a:spcBef>
                <a:spcPts val="355"/>
              </a:spcBef>
              <a:buSzPct val="82000"/>
              <a:buFont typeface="Wingdings" panose="05000000000000000000"/>
              <a:buChar char=""/>
              <a:tabLst>
                <a:tab pos="81280" algn="l"/>
              </a:tabLst>
            </a:pPr>
            <a:r>
              <a:rPr sz="550" dirty="0">
                <a:latin typeface="DejaVu Serif"/>
                <a:cs typeface="DejaVu Serif"/>
              </a:rPr>
              <a:t>Cells </a:t>
            </a:r>
            <a:r>
              <a:rPr sz="550" spc="-15" dirty="0">
                <a:latin typeface="DejaVu Serif"/>
                <a:cs typeface="DejaVu Serif"/>
              </a:rPr>
              <a:t>are </a:t>
            </a:r>
            <a:r>
              <a:rPr sz="550" spc="10" dirty="0">
                <a:latin typeface="DejaVu Serif"/>
                <a:cs typeface="DejaVu Serif"/>
              </a:rPr>
              <a:t>then </a:t>
            </a:r>
            <a:r>
              <a:rPr sz="550" spc="5" dirty="0">
                <a:latin typeface="DejaVu Serif"/>
                <a:cs typeface="DejaVu Serif"/>
              </a:rPr>
              <a:t>made </a:t>
            </a:r>
            <a:r>
              <a:rPr sz="550" dirty="0">
                <a:latin typeface="DejaVu Serif"/>
                <a:cs typeface="DejaVu Serif"/>
              </a:rPr>
              <a:t>to </a:t>
            </a:r>
            <a:r>
              <a:rPr sz="550" spc="-5" dirty="0">
                <a:latin typeface="DejaVu Serif"/>
                <a:cs typeface="DejaVu Serif"/>
              </a:rPr>
              <a:t>fit </a:t>
            </a:r>
            <a:r>
              <a:rPr sz="550" spc="5" dirty="0">
                <a:latin typeface="DejaVu Serif"/>
                <a:cs typeface="DejaVu Serif"/>
              </a:rPr>
              <a:t>into </a:t>
            </a:r>
            <a:r>
              <a:rPr sz="550" spc="-5" dirty="0">
                <a:latin typeface="DejaVu Serif"/>
                <a:cs typeface="DejaVu Serif"/>
              </a:rPr>
              <a:t>one  </a:t>
            </a:r>
            <a:r>
              <a:rPr sz="550" dirty="0">
                <a:latin typeface="DejaVu Serif"/>
                <a:cs typeface="DejaVu Serif"/>
              </a:rPr>
              <a:t>solar </a:t>
            </a:r>
            <a:r>
              <a:rPr sz="550" spc="5" dirty="0">
                <a:latin typeface="DejaVu Serif"/>
                <a:cs typeface="DejaVu Serif"/>
              </a:rPr>
              <a:t>panel. Because </a:t>
            </a:r>
            <a:r>
              <a:rPr sz="550" dirty="0">
                <a:latin typeface="DejaVu Serif"/>
                <a:cs typeface="DejaVu Serif"/>
              </a:rPr>
              <a:t>the </a:t>
            </a:r>
            <a:r>
              <a:rPr sz="550" spc="-10" dirty="0">
                <a:latin typeface="DejaVu Serif"/>
                <a:cs typeface="DejaVu Serif"/>
              </a:rPr>
              <a:t>cell</a:t>
            </a:r>
            <a:r>
              <a:rPr sz="550" spc="150" dirty="0">
                <a:latin typeface="DejaVu Serif"/>
                <a:cs typeface="DejaVu Serif"/>
              </a:rPr>
              <a:t> </a:t>
            </a:r>
            <a:r>
              <a:rPr sz="550" spc="10" dirty="0">
                <a:latin typeface="DejaVu Serif"/>
                <a:cs typeface="DejaVu Serif"/>
              </a:rPr>
              <a:t>is  </a:t>
            </a:r>
            <a:r>
              <a:rPr sz="550" dirty="0">
                <a:latin typeface="DejaVu Serif"/>
                <a:cs typeface="DejaVu Serif"/>
              </a:rPr>
              <a:t>composed </a:t>
            </a:r>
            <a:r>
              <a:rPr sz="550" spc="-15" dirty="0">
                <a:latin typeface="DejaVu Serif"/>
                <a:cs typeface="DejaVu Serif"/>
              </a:rPr>
              <a:t>of </a:t>
            </a:r>
            <a:r>
              <a:rPr sz="550" spc="10" dirty="0">
                <a:latin typeface="DejaVu Serif"/>
                <a:cs typeface="DejaVu Serif"/>
              </a:rPr>
              <a:t>a </a:t>
            </a:r>
            <a:r>
              <a:rPr sz="550" spc="-5" dirty="0">
                <a:latin typeface="DejaVu Serif"/>
                <a:cs typeface="DejaVu Serif"/>
              </a:rPr>
              <a:t>single </a:t>
            </a:r>
            <a:r>
              <a:rPr sz="550" dirty="0">
                <a:latin typeface="DejaVu Serif"/>
                <a:cs typeface="DejaVu Serif"/>
              </a:rPr>
              <a:t>crystal,</a:t>
            </a:r>
            <a:r>
              <a:rPr sz="550" spc="155" dirty="0">
                <a:latin typeface="DejaVu Serif"/>
                <a:cs typeface="DejaVu Serif"/>
              </a:rPr>
              <a:t> </a:t>
            </a:r>
            <a:r>
              <a:rPr sz="550" dirty="0">
                <a:latin typeface="DejaVu Serif"/>
                <a:cs typeface="DejaVu Serif"/>
              </a:rPr>
              <a:t>the</a:t>
            </a:r>
            <a:endParaRPr sz="550">
              <a:latin typeface="DejaVu Serif"/>
              <a:cs typeface="DejaVu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6814" y="870013"/>
            <a:ext cx="1334135" cy="2051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90"/>
              </a:spcBef>
            </a:pPr>
            <a:r>
              <a:rPr sz="550" spc="-5" dirty="0">
                <a:latin typeface="DejaVu Serif"/>
                <a:cs typeface="DejaVu Serif"/>
              </a:rPr>
              <a:t>electrons </a:t>
            </a:r>
            <a:r>
              <a:rPr sz="550" spc="5" dirty="0">
                <a:latin typeface="DejaVu Serif"/>
                <a:cs typeface="DejaVu Serif"/>
              </a:rPr>
              <a:t>that </a:t>
            </a:r>
            <a:r>
              <a:rPr sz="550" spc="-10" dirty="0">
                <a:latin typeface="DejaVu Serif"/>
                <a:cs typeface="DejaVu Serif"/>
              </a:rPr>
              <a:t>generate</a:t>
            </a:r>
            <a:r>
              <a:rPr sz="550" spc="150" dirty="0">
                <a:latin typeface="DejaVu Serif"/>
                <a:cs typeface="DejaVu Serif"/>
              </a:rPr>
              <a:t> </a:t>
            </a:r>
            <a:r>
              <a:rPr sz="550" spc="10" dirty="0">
                <a:latin typeface="DejaVu Serif"/>
                <a:cs typeface="DejaVu Serif"/>
              </a:rPr>
              <a:t>a </a:t>
            </a:r>
            <a:r>
              <a:rPr sz="550" spc="-10" dirty="0">
                <a:latin typeface="DejaVu Serif"/>
                <a:cs typeface="DejaVu Serif"/>
              </a:rPr>
              <a:t>flow  </a:t>
            </a:r>
            <a:r>
              <a:rPr sz="550" spc="-20" dirty="0">
                <a:latin typeface="DejaVu Serif"/>
                <a:cs typeface="DejaVu Serif"/>
              </a:rPr>
              <a:t>of  </a:t>
            </a:r>
            <a:r>
              <a:rPr sz="550" spc="-5" dirty="0">
                <a:latin typeface="DejaVu Serif"/>
                <a:cs typeface="DejaVu Serif"/>
              </a:rPr>
              <a:t>electricity have more </a:t>
            </a:r>
            <a:r>
              <a:rPr sz="550" dirty="0">
                <a:latin typeface="DejaVu Serif"/>
                <a:cs typeface="DejaVu Serif"/>
              </a:rPr>
              <a:t>room to</a:t>
            </a:r>
            <a:r>
              <a:rPr sz="550" spc="-15" dirty="0">
                <a:latin typeface="DejaVu Serif"/>
                <a:cs typeface="DejaVu Serif"/>
              </a:rPr>
              <a:t> </a:t>
            </a:r>
            <a:r>
              <a:rPr sz="550" dirty="0">
                <a:latin typeface="DejaVu Serif"/>
                <a:cs typeface="DejaVu Serif"/>
              </a:rPr>
              <a:t>move.</a:t>
            </a:r>
            <a:endParaRPr sz="550">
              <a:latin typeface="DejaVu Serif"/>
              <a:cs typeface="DejaVu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1028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850" y="41973"/>
            <a:ext cx="2543175" cy="3117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348615">
              <a:lnSpc>
                <a:spcPct val="104000"/>
              </a:lnSpc>
              <a:spcBef>
                <a:spcPts val="85"/>
              </a:spcBef>
            </a:pPr>
            <a:r>
              <a:rPr sz="900" spc="15" dirty="0"/>
              <a:t>Comparing mono-crystalline,  </a:t>
            </a:r>
            <a:r>
              <a:rPr sz="900" i="1" spc="15" dirty="0"/>
              <a:t>polycrystalline </a:t>
            </a:r>
            <a:r>
              <a:rPr sz="900" i="1" spc="35" dirty="0"/>
              <a:t>&amp; </a:t>
            </a:r>
            <a:r>
              <a:rPr sz="900" i="1" spc="15" dirty="0"/>
              <a:t>thin film solar</a:t>
            </a:r>
            <a:r>
              <a:rPr sz="900" i="1" spc="-40" dirty="0"/>
              <a:t> </a:t>
            </a:r>
            <a:r>
              <a:rPr sz="900" i="1" spc="15" dirty="0"/>
              <a:t>panels</a:t>
            </a:r>
            <a:endParaRPr sz="9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9898" y="400410"/>
          <a:ext cx="2457450" cy="1416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4360"/>
                <a:gridCol w="634365"/>
                <a:gridCol w="603250"/>
                <a:gridCol w="625475"/>
              </a:tblGrid>
              <a:tr h="190245"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50" b="1" i="1" spc="-10" dirty="0">
                          <a:latin typeface="Times New Roman" panose="02020603050405020304"/>
                          <a:cs typeface="Times New Roman" panose="02020603050405020304"/>
                        </a:rPr>
                        <a:t>Aspect</a:t>
                      </a: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5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Mono-crystalline</a:t>
                      </a: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5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Polycrystalline</a:t>
                      </a: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5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Thin</a:t>
                      </a:r>
                      <a:r>
                        <a:rPr sz="650" b="1" i="1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65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film</a:t>
                      </a: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386"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65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Efficiency</a:t>
                      </a: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550" spc="20" dirty="0">
                          <a:latin typeface="Times New Roman" panose="02020603050405020304"/>
                          <a:cs typeface="Times New Roman" panose="02020603050405020304"/>
                        </a:rPr>
                        <a:t>More</a:t>
                      </a:r>
                      <a:r>
                        <a:rPr sz="55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50" spc="5" dirty="0">
                          <a:latin typeface="Times New Roman" panose="02020603050405020304"/>
                          <a:cs typeface="Times New Roman" panose="02020603050405020304"/>
                        </a:rPr>
                        <a:t>efficient.</a:t>
                      </a: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550" spc="15" dirty="0">
                          <a:latin typeface="Times New Roman" panose="02020603050405020304"/>
                          <a:cs typeface="Times New Roman" panose="02020603050405020304"/>
                        </a:rPr>
                        <a:t>Less</a:t>
                      </a:r>
                      <a:r>
                        <a:rPr sz="55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50" spc="5" dirty="0">
                          <a:latin typeface="Times New Roman" panose="02020603050405020304"/>
                          <a:cs typeface="Times New Roman" panose="02020603050405020304"/>
                        </a:rPr>
                        <a:t>efficient.</a:t>
                      </a: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550" spc="15" dirty="0">
                          <a:latin typeface="Times New Roman" panose="02020603050405020304"/>
                          <a:cs typeface="Times New Roman" panose="02020603050405020304"/>
                        </a:rPr>
                        <a:t>Less</a:t>
                      </a:r>
                      <a:r>
                        <a:rPr sz="55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50" spc="5" dirty="0">
                          <a:latin typeface="Times New Roman" panose="02020603050405020304"/>
                          <a:cs typeface="Times New Roman" panose="02020603050405020304"/>
                        </a:rPr>
                        <a:t>efficient.</a:t>
                      </a: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6723">
                <a:tc>
                  <a:txBody>
                    <a:bodyPr/>
                    <a:lstStyle/>
                    <a:p>
                      <a:pPr marL="20320" marR="149860">
                        <a:lnSpc>
                          <a:spcPts val="770"/>
                        </a:lnSpc>
                        <a:spcBef>
                          <a:spcPts val="15"/>
                        </a:spcBef>
                      </a:pPr>
                      <a:r>
                        <a:rPr sz="650" b="1" i="1" spc="-10" dirty="0">
                          <a:latin typeface="Times New Roman" panose="02020603050405020304"/>
                          <a:cs typeface="Times New Roman" panose="02020603050405020304"/>
                        </a:rPr>
                        <a:t>Space  </a:t>
                      </a:r>
                      <a:r>
                        <a:rPr sz="65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requirement</a:t>
                      </a: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marR="286385">
                        <a:lnSpc>
                          <a:spcPct val="107000"/>
                        </a:lnSpc>
                        <a:spcBef>
                          <a:spcPts val="45"/>
                        </a:spcBef>
                      </a:pPr>
                      <a:r>
                        <a:rPr sz="550" spc="15" dirty="0">
                          <a:latin typeface="Times New Roman" panose="02020603050405020304"/>
                          <a:cs typeface="Times New Roman" panose="02020603050405020304"/>
                        </a:rPr>
                        <a:t>Less</a:t>
                      </a:r>
                      <a:r>
                        <a:rPr sz="550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50" spc="10" dirty="0">
                          <a:latin typeface="Times New Roman" panose="02020603050405020304"/>
                          <a:cs typeface="Times New Roman" panose="02020603050405020304"/>
                        </a:rPr>
                        <a:t>space  </a:t>
                      </a:r>
                      <a:r>
                        <a:rPr sz="550" spc="15" dirty="0">
                          <a:latin typeface="Times New Roman" panose="02020603050405020304"/>
                          <a:cs typeface="Times New Roman" panose="02020603050405020304"/>
                        </a:rPr>
                        <a:t>needed</a:t>
                      </a: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marR="230505">
                        <a:lnSpc>
                          <a:spcPct val="107000"/>
                        </a:lnSpc>
                        <a:spcBef>
                          <a:spcPts val="45"/>
                        </a:spcBef>
                      </a:pPr>
                      <a:r>
                        <a:rPr sz="550" spc="20" dirty="0">
                          <a:latin typeface="Times New Roman" panose="02020603050405020304"/>
                          <a:cs typeface="Times New Roman" panose="02020603050405020304"/>
                        </a:rPr>
                        <a:t>More</a:t>
                      </a:r>
                      <a:r>
                        <a:rPr sz="550" spc="-8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50" spc="10" dirty="0">
                          <a:latin typeface="Times New Roman" panose="02020603050405020304"/>
                          <a:cs typeface="Times New Roman" panose="02020603050405020304"/>
                        </a:rPr>
                        <a:t>space  </a:t>
                      </a:r>
                      <a:r>
                        <a:rPr sz="550" spc="15" dirty="0">
                          <a:latin typeface="Times New Roman" panose="02020603050405020304"/>
                          <a:cs typeface="Times New Roman" panose="02020603050405020304"/>
                        </a:rPr>
                        <a:t>needed</a:t>
                      </a: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marR="252730">
                        <a:lnSpc>
                          <a:spcPct val="107000"/>
                        </a:lnSpc>
                        <a:spcBef>
                          <a:spcPts val="45"/>
                        </a:spcBef>
                      </a:pPr>
                      <a:r>
                        <a:rPr sz="550" spc="20" dirty="0">
                          <a:latin typeface="Times New Roman" panose="02020603050405020304"/>
                          <a:cs typeface="Times New Roman" panose="02020603050405020304"/>
                        </a:rPr>
                        <a:t>More</a:t>
                      </a:r>
                      <a:r>
                        <a:rPr sz="550" spc="-8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50" spc="10" dirty="0">
                          <a:latin typeface="Times New Roman" panose="02020603050405020304"/>
                          <a:cs typeface="Times New Roman" panose="02020603050405020304"/>
                        </a:rPr>
                        <a:t>space  </a:t>
                      </a:r>
                      <a:r>
                        <a:rPr sz="550" spc="15" dirty="0">
                          <a:latin typeface="Times New Roman" panose="02020603050405020304"/>
                          <a:cs typeface="Times New Roman" panose="02020603050405020304"/>
                        </a:rPr>
                        <a:t>needed</a:t>
                      </a: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3735"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650" b="1" i="1" spc="-10" dirty="0">
                          <a:latin typeface="Times New Roman" panose="02020603050405020304"/>
                          <a:cs typeface="Times New Roman" panose="02020603050405020304"/>
                        </a:rPr>
                        <a:t>Cost</a:t>
                      </a: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55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550" spc="15" dirty="0">
                          <a:latin typeface="Times New Roman" panose="02020603050405020304"/>
                          <a:cs typeface="Times New Roman" panose="02020603050405020304"/>
                        </a:rPr>
                        <a:t>Costly</a:t>
                      </a: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50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550" spc="15" dirty="0">
                          <a:latin typeface="Times New Roman" panose="02020603050405020304"/>
                          <a:cs typeface="Times New Roman" panose="02020603050405020304"/>
                        </a:rPr>
                        <a:t>Cheaper</a:t>
                      </a: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50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550" spc="15" dirty="0">
                          <a:latin typeface="Times New Roman" panose="02020603050405020304"/>
                          <a:cs typeface="Times New Roman" panose="02020603050405020304"/>
                        </a:rPr>
                        <a:t>Cheaper</a:t>
                      </a: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50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5369">
                <a:tc>
                  <a:txBody>
                    <a:bodyPr/>
                    <a:lstStyle/>
                    <a:p>
                      <a:pPr marL="20320" marR="60960">
                        <a:lnSpc>
                          <a:spcPts val="770"/>
                        </a:lnSpc>
                        <a:spcBef>
                          <a:spcPts val="365"/>
                        </a:spcBef>
                      </a:pPr>
                      <a:r>
                        <a:rPr sz="65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Efficiency in  warm low</a:t>
                      </a:r>
                      <a:r>
                        <a:rPr sz="650" b="1" i="1" spc="-7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650" b="1" i="1" spc="-10" dirty="0">
                          <a:latin typeface="Times New Roman" panose="02020603050405020304"/>
                          <a:cs typeface="Times New Roman" panose="02020603050405020304"/>
                        </a:rPr>
                        <a:t>light</a:t>
                      </a: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0320">
                        <a:lnSpc>
                          <a:spcPct val="100000"/>
                        </a:lnSpc>
                      </a:pPr>
                      <a:r>
                        <a:rPr sz="550" spc="15" dirty="0">
                          <a:latin typeface="Times New Roman" panose="02020603050405020304"/>
                          <a:cs typeface="Times New Roman" panose="02020603050405020304"/>
                        </a:rPr>
                        <a:t>Better</a:t>
                      </a: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550" spc="20" dirty="0">
                          <a:latin typeface="Times New Roman" panose="02020603050405020304"/>
                          <a:cs typeface="Times New Roman" panose="02020603050405020304"/>
                        </a:rPr>
                        <a:t>Low</a:t>
                      </a:r>
                      <a:r>
                        <a:rPr sz="55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50" spc="10" dirty="0">
                          <a:latin typeface="Times New Roman" panose="02020603050405020304"/>
                          <a:cs typeface="Times New Roman" panose="02020603050405020304"/>
                        </a:rPr>
                        <a:t>efficiency</a:t>
                      </a: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550" spc="5" dirty="0">
                          <a:latin typeface="Times New Roman" panose="02020603050405020304"/>
                          <a:cs typeface="Times New Roman" panose="02020603050405020304"/>
                        </a:rPr>
                        <a:t>Better.</a:t>
                      </a: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4371"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65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Life</a:t>
                      </a: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55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550" spc="15" dirty="0">
                          <a:latin typeface="Times New Roman" panose="02020603050405020304"/>
                          <a:cs typeface="Times New Roman" panose="02020603050405020304"/>
                        </a:rPr>
                        <a:t>Longer</a:t>
                      </a:r>
                      <a:r>
                        <a:rPr sz="55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50" spc="5" dirty="0">
                          <a:latin typeface="Times New Roman" panose="02020603050405020304"/>
                          <a:cs typeface="Times New Roman" panose="02020603050405020304"/>
                        </a:rPr>
                        <a:t>life.</a:t>
                      </a: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50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550" spc="15" dirty="0">
                          <a:latin typeface="Times New Roman" panose="02020603050405020304"/>
                          <a:cs typeface="Times New Roman" panose="02020603050405020304"/>
                        </a:rPr>
                        <a:t>Shorter</a:t>
                      </a:r>
                      <a:r>
                        <a:rPr sz="55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50" spc="5" dirty="0">
                          <a:latin typeface="Times New Roman" panose="02020603050405020304"/>
                          <a:cs typeface="Times New Roman" panose="02020603050405020304"/>
                        </a:rPr>
                        <a:t>life</a:t>
                      </a: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50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550" spc="15" dirty="0">
                          <a:latin typeface="Times New Roman" panose="02020603050405020304"/>
                          <a:cs typeface="Times New Roman" panose="02020603050405020304"/>
                        </a:rPr>
                        <a:t>Shorter</a:t>
                      </a:r>
                      <a:r>
                        <a:rPr sz="55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50" spc="5" dirty="0">
                          <a:latin typeface="Times New Roman" panose="02020603050405020304"/>
                          <a:cs typeface="Times New Roman" panose="02020603050405020304"/>
                        </a:rPr>
                        <a:t>life</a:t>
                      </a: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50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179"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650" b="1" i="1" spc="-10" dirty="0">
                          <a:latin typeface="Times New Roman" panose="02020603050405020304"/>
                          <a:cs typeface="Times New Roman" panose="02020603050405020304"/>
                        </a:rPr>
                        <a:t>Colour</a:t>
                      </a: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905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0320">
                        <a:lnSpc>
                          <a:spcPct val="100000"/>
                        </a:lnSpc>
                      </a:pPr>
                      <a:r>
                        <a:rPr sz="550" spc="10" dirty="0">
                          <a:latin typeface="Times New Roman" panose="02020603050405020304"/>
                          <a:cs typeface="Times New Roman" panose="02020603050405020304"/>
                        </a:rPr>
                        <a:t>Black.</a:t>
                      </a: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550" spc="15" dirty="0">
                          <a:latin typeface="Times New Roman" panose="02020603050405020304"/>
                          <a:cs typeface="Times New Roman" panose="02020603050405020304"/>
                        </a:rPr>
                        <a:t>Blue.</a:t>
                      </a: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marR="13970">
                        <a:lnSpc>
                          <a:spcPct val="107000"/>
                        </a:lnSpc>
                        <a:spcBef>
                          <a:spcPts val="140"/>
                        </a:spcBef>
                      </a:pPr>
                      <a:r>
                        <a:rPr sz="550" spc="10" dirty="0">
                          <a:latin typeface="Times New Roman" panose="02020603050405020304"/>
                          <a:cs typeface="Times New Roman" panose="02020603050405020304"/>
                        </a:rPr>
                        <a:t>Dark surface </a:t>
                      </a:r>
                      <a:r>
                        <a:rPr sz="550" spc="15" dirty="0">
                          <a:latin typeface="Times New Roman" panose="02020603050405020304"/>
                          <a:cs typeface="Times New Roman" panose="02020603050405020304"/>
                        </a:rPr>
                        <a:t>with  brown/black</a:t>
                      </a:r>
                      <a:r>
                        <a:rPr sz="550" spc="-7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50" spc="15" dirty="0">
                          <a:latin typeface="Times New Roman" panose="02020603050405020304"/>
                          <a:cs typeface="Times New Roman" panose="02020603050405020304"/>
                        </a:rPr>
                        <a:t>colour</a:t>
                      </a: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35" y="1028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8955" y="62103"/>
            <a:ext cx="18256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Economics of Solar</a:t>
            </a:r>
            <a:r>
              <a:rPr sz="1300" b="1" i="1" spc="-9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Power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2192" y="0"/>
            <a:ext cx="2705735" cy="2035175"/>
            <a:chOff x="-12192" y="0"/>
            <a:chExt cx="2705735" cy="2035175"/>
          </a:xfrm>
        </p:grpSpPr>
        <p:sp>
          <p:nvSpPr>
            <p:cNvPr id="4" name="object 4"/>
            <p:cNvSpPr/>
            <p:nvPr/>
          </p:nvSpPr>
          <p:spPr>
            <a:xfrm>
              <a:off x="157441" y="283718"/>
              <a:ext cx="2434463" cy="16114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27"/>
              <a:ext cx="2681605" cy="2011045"/>
            </a:xfrm>
            <a:custGeom>
              <a:avLst/>
              <a:gdLst/>
              <a:ahLst/>
              <a:cxnLst/>
              <a:rect l="l" t="t" r="r" b="b"/>
              <a:pathLst>
                <a:path w="2681605" h="2011045">
                  <a:moveTo>
                    <a:pt x="0" y="2010790"/>
                  </a:moveTo>
                  <a:lnTo>
                    <a:pt x="2681351" y="201079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79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14" y="126746"/>
            <a:ext cx="18256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Economics of Solar</a:t>
            </a:r>
            <a:r>
              <a:rPr sz="1300" b="1" i="1" spc="-9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i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Power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1556" y="0"/>
            <a:ext cx="2705735" cy="2035175"/>
            <a:chOff x="-11556" y="0"/>
            <a:chExt cx="2705735" cy="2035175"/>
          </a:xfrm>
        </p:grpSpPr>
        <p:sp>
          <p:nvSpPr>
            <p:cNvPr id="4" name="object 4"/>
            <p:cNvSpPr/>
            <p:nvPr/>
          </p:nvSpPr>
          <p:spPr>
            <a:xfrm>
              <a:off x="148391" y="447116"/>
              <a:ext cx="2376495" cy="120007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5" y="127"/>
              <a:ext cx="2681605" cy="2011045"/>
            </a:xfrm>
            <a:custGeom>
              <a:avLst/>
              <a:gdLst/>
              <a:ahLst/>
              <a:cxnLst/>
              <a:rect l="l" t="t" r="r" b="b"/>
              <a:pathLst>
                <a:path w="2681605" h="2011045">
                  <a:moveTo>
                    <a:pt x="0" y="2010790"/>
                  </a:moveTo>
                  <a:lnTo>
                    <a:pt x="2681351" y="201079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79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1251" y="0"/>
            <a:ext cx="165862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b="1" i="1" spc="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Economics of Solar</a:t>
            </a:r>
            <a:r>
              <a:rPr sz="1150" b="1" i="1" spc="-1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i="1" spc="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Power</a:t>
            </a:r>
            <a:endParaRPr sz="11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2192" y="0"/>
            <a:ext cx="2705735" cy="2035175"/>
            <a:chOff x="-12192" y="0"/>
            <a:chExt cx="2705735" cy="2035175"/>
          </a:xfrm>
        </p:grpSpPr>
        <p:sp>
          <p:nvSpPr>
            <p:cNvPr id="4" name="object 4"/>
            <p:cNvSpPr/>
            <p:nvPr/>
          </p:nvSpPr>
          <p:spPr>
            <a:xfrm>
              <a:off x="268122" y="178815"/>
              <a:ext cx="2279142" cy="1832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028"/>
              <a:ext cx="2681605" cy="2010410"/>
            </a:xfrm>
            <a:custGeom>
              <a:avLst/>
              <a:gdLst/>
              <a:ahLst/>
              <a:cxnLst/>
              <a:rect l="l" t="t" r="r" b="b"/>
              <a:pathLst>
                <a:path w="2681605" h="2010410">
                  <a:moveTo>
                    <a:pt x="0" y="2010410"/>
                  </a:moveTo>
                  <a:lnTo>
                    <a:pt x="2681351" y="201041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41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3334" y="22415"/>
            <a:ext cx="16554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Sustainability</a:t>
            </a:r>
            <a:r>
              <a:rPr sz="1300" b="1" i="1" spc="-9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i="1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Attributes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1556" y="0"/>
            <a:ext cx="2705735" cy="2035175"/>
            <a:chOff x="-11556" y="0"/>
            <a:chExt cx="2705735" cy="2035175"/>
          </a:xfrm>
        </p:grpSpPr>
        <p:sp>
          <p:nvSpPr>
            <p:cNvPr id="4" name="object 4"/>
            <p:cNvSpPr/>
            <p:nvPr/>
          </p:nvSpPr>
          <p:spPr>
            <a:xfrm>
              <a:off x="245745" y="245884"/>
              <a:ext cx="2283191" cy="17208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5" y="1028"/>
              <a:ext cx="2681605" cy="2010410"/>
            </a:xfrm>
            <a:custGeom>
              <a:avLst/>
              <a:gdLst/>
              <a:ahLst/>
              <a:cxnLst/>
              <a:rect l="l" t="t" r="r" b="b"/>
              <a:pathLst>
                <a:path w="2681605" h="2010410">
                  <a:moveTo>
                    <a:pt x="0" y="2010410"/>
                  </a:moveTo>
                  <a:lnTo>
                    <a:pt x="2681351" y="201041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41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karthiknryn\Pictures\Screenshots\Screenshot (78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84150" y="-20955"/>
            <a:ext cx="2830830" cy="205486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79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84150" y="0"/>
            <a:ext cx="3048000" cy="2012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95" y="320675"/>
            <a:ext cx="2557005" cy="13874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9250" y="74454"/>
            <a:ext cx="18485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 smtClean="0"/>
              <a:t>Thermal energy storage system 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1814544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" y="473075"/>
            <a:ext cx="2399281" cy="108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763" y="92075"/>
            <a:ext cx="1459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 smtClean="0"/>
              <a:t>Sensible Energy </a:t>
            </a:r>
            <a:r>
              <a:rPr lang="en-IN" sz="1000" dirty="0"/>
              <a:t>S</a:t>
            </a:r>
            <a:r>
              <a:rPr lang="en-IN" sz="1000" dirty="0" smtClean="0"/>
              <a:t>torage 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4590551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50" y="549275"/>
            <a:ext cx="1829933" cy="108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3050" y="92075"/>
            <a:ext cx="23038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 smtClean="0"/>
              <a:t>Phase Change Materials  </a:t>
            </a:r>
            <a:r>
              <a:rPr lang="en-IN" sz="1000" dirty="0"/>
              <a:t>E</a:t>
            </a:r>
            <a:r>
              <a:rPr lang="en-IN" sz="1000" dirty="0" smtClean="0"/>
              <a:t>nergy </a:t>
            </a:r>
            <a:r>
              <a:rPr lang="en-IN" sz="1000" dirty="0"/>
              <a:t>S</a:t>
            </a:r>
            <a:r>
              <a:rPr lang="en-IN" sz="1000" dirty="0" smtClean="0"/>
              <a:t>torage 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6285655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0" y="244475"/>
            <a:ext cx="2005069" cy="16540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3050" y="92075"/>
            <a:ext cx="23038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 smtClean="0"/>
              <a:t>Phase Change Materials  </a:t>
            </a:r>
            <a:r>
              <a:rPr lang="en-IN" sz="1000" dirty="0"/>
              <a:t>E</a:t>
            </a:r>
            <a:r>
              <a:rPr lang="en-IN" sz="1000" dirty="0" smtClean="0"/>
              <a:t>nergy </a:t>
            </a:r>
            <a:r>
              <a:rPr lang="en-IN" sz="1000" dirty="0"/>
              <a:t>S</a:t>
            </a:r>
            <a:r>
              <a:rPr lang="en-IN" sz="1000" dirty="0" smtClean="0"/>
              <a:t>torage 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0265557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7" y="473075"/>
            <a:ext cx="2610272" cy="108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5450" y="9934"/>
            <a:ext cx="18846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300" dirty="0" smtClean="0"/>
              <a:t>Chemical energy storage </a:t>
            </a:r>
            <a:endParaRPr lang="en-IN" sz="1300" dirty="0"/>
          </a:p>
        </p:txBody>
      </p:sp>
    </p:spTree>
    <p:extLst>
      <p:ext uri="{BB962C8B-B14F-4D97-AF65-F5344CB8AC3E}">
        <p14:creationId xmlns:p14="http://schemas.microsoft.com/office/powerpoint/2010/main" val="1774927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2633</Words>
  <Application>Microsoft Office PowerPoint</Application>
  <PresentationFormat>Custom</PresentationFormat>
  <Paragraphs>341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9" baseType="lpstr">
      <vt:lpstr>Bookman Uralic</vt:lpstr>
      <vt:lpstr>Calibri</vt:lpstr>
      <vt:lpstr>Carlito</vt:lpstr>
      <vt:lpstr>DejaVu Serif</vt:lpstr>
      <vt:lpstr>TeX Gyre Bonum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After successful completion of this course, students will be able to</vt:lpstr>
      <vt:lpstr>Solar Power Solar energy utilisation</vt:lpstr>
      <vt:lpstr>Direct and Indirect Radiation</vt:lpstr>
      <vt:lpstr>Passive &amp; Active Solar Systems</vt:lpstr>
      <vt:lpstr>Terms and definitions involved</vt:lpstr>
      <vt:lpstr>Solar Collectors</vt:lpstr>
      <vt:lpstr>Non concentrating collectors</vt:lpstr>
      <vt:lpstr>Flat Plate Collector</vt:lpstr>
      <vt:lpstr>Flat Plate Collector</vt:lpstr>
      <vt:lpstr>Flat Plate Collector </vt:lpstr>
      <vt:lpstr>Direct flow evacuated tube collector</vt:lpstr>
      <vt:lpstr>evacuated tube collector </vt:lpstr>
      <vt:lpstr>Heat pipe evacuated tube collector</vt:lpstr>
      <vt:lpstr>Concentrating (focussing) collectors</vt:lpstr>
      <vt:lpstr>Concentrating (focussing) collectors </vt:lpstr>
      <vt:lpstr>Comparing flat plate collector (FPC)  &amp; Evacuated tube collector (ETC)</vt:lpstr>
      <vt:lpstr>Parabolic trough collector</vt:lpstr>
      <vt:lpstr>Parabolic dish collector</vt:lpstr>
      <vt:lpstr>PowerPoint Presentation</vt:lpstr>
      <vt:lpstr>Solar thermal electric systems</vt:lpstr>
      <vt:lpstr>PowerPoint Presentation</vt:lpstr>
      <vt:lpstr>PowerPoint Presentation</vt:lpstr>
      <vt:lpstr>Solar thermal power generation</vt:lpstr>
      <vt:lpstr>PowerPoint Presentation</vt:lpstr>
      <vt:lpstr>Low temperature thermoelectric  power generation</vt:lpstr>
      <vt:lpstr>Medium temperature thermoelectric  power generation</vt:lpstr>
      <vt:lpstr>PowerPoint Presentation</vt:lpstr>
      <vt:lpstr>Solar photovoltaic systems</vt:lpstr>
      <vt:lpstr>PowerPoint Presentation</vt:lpstr>
      <vt:lpstr>PowerPoint Presentation</vt:lpstr>
      <vt:lpstr>Photovoltaic conversion</vt:lpstr>
      <vt:lpstr>Photovoltaic conversion</vt:lpstr>
      <vt:lpstr>Photovoltaic conversion</vt:lpstr>
      <vt:lpstr>Photovoltaic conversion Depletion layer</vt:lpstr>
      <vt:lpstr>Polycrystalline solar cells</vt:lpstr>
      <vt:lpstr>Mono-crystalline cells</vt:lpstr>
      <vt:lpstr>Comparing mono-crystalline,  polycrystalline &amp; thin film solar panels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krishnaraj v</cp:lastModifiedBy>
  <cp:revision>13</cp:revision>
  <dcterms:created xsi:type="dcterms:W3CDTF">2022-09-24T05:07:00Z</dcterms:created>
  <dcterms:modified xsi:type="dcterms:W3CDTF">2025-08-07T08:28:42Z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2018-09-19T22:00:00Z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2022-09-24T22:00:00Z</vt:filetime>
  </property>
  <property fmtid="{D5CDD505-2E9C-101B-9397-08002B2CF9AE}" pid="5" name="ICV">
    <vt:lpwstr>E4077CD4C6ED40FCAD37F9E9C35B7427</vt:lpwstr>
  </property>
  <property fmtid="{D5CDD505-2E9C-101B-9397-08002B2CF9AE}" pid="6" name="KSOProductBuildVer">
    <vt:lpwstr>1033-11.2.0.11380</vt:lpwstr>
  </property>
</Properties>
</file>