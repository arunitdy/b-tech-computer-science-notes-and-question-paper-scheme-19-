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99" r:id="rId8"/>
    <p:sldId id="261" r:id="rId9"/>
    <p:sldId id="262" r:id="rId10"/>
    <p:sldId id="297" r:id="rId11"/>
    <p:sldId id="298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338" r:id="rId45"/>
    <p:sldId id="295" r:id="rId46"/>
    <p:sldId id="296" r:id="rId47"/>
  </p:sldIdLst>
  <p:sldSz cx="2679700" cy="2012950"/>
  <p:notesSz cx="2679700" cy="20129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220" d="100"/>
          <a:sy n="220" d="100"/>
        </p:scale>
        <p:origin x="-1722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0" Type="http://schemas.openxmlformats.org/officeDocument/2006/relationships/tableStyles" Target="tableStyles.xml"/><Relationship Id="rId5" Type="http://schemas.openxmlformats.org/officeDocument/2006/relationships/slide" Target="slides/slide3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73710" y="90931"/>
            <a:ext cx="1738629" cy="223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02907" y="1127252"/>
            <a:ext cx="1880235" cy="5032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FF0000"/>
                </a:solidFill>
                <a:latin typeface="Bookman Uralic"/>
                <a:cs typeface="Bookman Ural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800" b="0" i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FF0000"/>
                </a:solidFill>
                <a:latin typeface="Bookman Uralic"/>
                <a:cs typeface="Bookman Ural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34302" y="462978"/>
            <a:ext cx="1168431" cy="13285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383315" y="462978"/>
            <a:ext cx="1168431" cy="13285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FF0000"/>
                </a:solidFill>
                <a:latin typeface="Bookman Uralic"/>
                <a:cs typeface="Bookman Ural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4784" y="49149"/>
            <a:ext cx="2116480" cy="346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1" i="0">
                <a:solidFill>
                  <a:srgbClr val="FF0000"/>
                </a:solidFill>
                <a:latin typeface="Bookman Uralic"/>
                <a:cs typeface="Bookman Ural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0731" y="308843"/>
            <a:ext cx="2225040" cy="412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13257" y="1872043"/>
            <a:ext cx="859536" cy="1006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34302" y="1872043"/>
            <a:ext cx="617791" cy="1006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933956" y="1872043"/>
            <a:ext cx="617791" cy="1006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GI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4.png"/><Relationship Id="rId1" Type="http://schemas.openxmlformats.org/officeDocument/2006/relationships/image" Target="../media/image13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jpeg"/><Relationship Id="rId1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image" Target="../media/image20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3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5.jpeg"/><Relationship Id="rId1" Type="http://schemas.openxmlformats.org/officeDocument/2006/relationships/image" Target="../media/image24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jpeg"/><Relationship Id="rId1" Type="http://schemas.openxmlformats.org/officeDocument/2006/relationships/image" Target="../media/image26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1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2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4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3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4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4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5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10766" y="1607565"/>
            <a:ext cx="1313180" cy="929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07717" y="65024"/>
            <a:ext cx="256540" cy="1962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i="1" spc="10" dirty="0">
                <a:latin typeface="Times New Roman" panose="02020603050405020304"/>
                <a:cs typeface="Times New Roman" panose="02020603050405020304"/>
              </a:rPr>
              <a:t>L-</a:t>
            </a:r>
            <a:r>
              <a:rPr sz="500" b="1" i="1" spc="-3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500" b="1" i="1" spc="10" dirty="0">
                <a:latin typeface="Times New Roman" panose="02020603050405020304"/>
                <a:cs typeface="Times New Roman" panose="02020603050405020304"/>
              </a:rPr>
              <a:t>-P-C</a:t>
            </a:r>
            <a:endParaRPr sz="500">
              <a:latin typeface="Times New Roman" panose="02020603050405020304"/>
              <a:cs typeface="Times New Roman" panose="02020603050405020304"/>
            </a:endParaRPr>
          </a:p>
          <a:p>
            <a:pPr marL="15240">
              <a:lnSpc>
                <a:spcPct val="100000"/>
              </a:lnSpc>
              <a:spcBef>
                <a:spcPts val="45"/>
              </a:spcBef>
            </a:pPr>
            <a:r>
              <a:rPr sz="550" b="1" i="1" spc="1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3-0-0-3</a:t>
            </a:r>
            <a:endParaRPr sz="5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3357" y="92075"/>
            <a:ext cx="2393315" cy="689290"/>
          </a:xfrm>
          <a:prstGeom prst="rect">
            <a:avLst/>
          </a:prstGeom>
        </p:spPr>
        <p:txBody>
          <a:bodyPr vert="horz" wrap="square" lIns="0" tIns="29844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20"/>
              </a:spcBef>
            </a:pPr>
            <a:r>
              <a:rPr lang="en-US" sz="1400" b="1" i="1" dirty="0" smtClean="0">
                <a:solidFill>
                  <a:srgbClr val="1F487C"/>
                </a:solidFill>
                <a:latin typeface="Times New Roman" panose="02020603050405020304"/>
                <a:cs typeface="Times New Roman" panose="02020603050405020304"/>
              </a:rPr>
              <a:t>RENEWABLE ENERGY ENGINEERING</a:t>
            </a:r>
            <a:endParaRPr lang="en-US" sz="1400" b="1" i="1" dirty="0" smtClean="0">
              <a:solidFill>
                <a:srgbClr val="1F487C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635" algn="ctr">
              <a:lnSpc>
                <a:spcPct val="100000"/>
              </a:lnSpc>
              <a:spcBef>
                <a:spcPts val="120"/>
              </a:spcBef>
            </a:pPr>
            <a:r>
              <a:rPr sz="1400" b="1" i="1" smtClean="0">
                <a:solidFill>
                  <a:srgbClr val="1F487C"/>
                </a:solidFill>
                <a:latin typeface="Times New Roman" panose="02020603050405020304"/>
                <a:cs typeface="Times New Roman" panose="02020603050405020304"/>
              </a:rPr>
              <a:t>Module </a:t>
            </a:r>
            <a:r>
              <a:rPr sz="1400" b="1" i="1" dirty="0">
                <a:solidFill>
                  <a:srgbClr val="1F487C"/>
                </a:solidFill>
                <a:latin typeface="Times New Roman" panose="02020603050405020304"/>
                <a:cs typeface="Times New Roman" panose="02020603050405020304"/>
              </a:rPr>
              <a:t>-</a:t>
            </a:r>
            <a:r>
              <a:rPr sz="1400" b="1" i="1" spc="-15" dirty="0">
                <a:solidFill>
                  <a:srgbClr val="1F487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i="1" spc="5" dirty="0">
                <a:solidFill>
                  <a:srgbClr val="1F487C"/>
                </a:solidFill>
                <a:latin typeface="Times New Roman" panose="02020603050405020304"/>
                <a:cs typeface="Times New Roman" panose="02020603050405020304"/>
              </a:rPr>
              <a:t>III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677" y="1877314"/>
            <a:ext cx="1029969" cy="8399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5279" y="804672"/>
            <a:ext cx="2055876" cy="76047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376299" y="1769109"/>
            <a:ext cx="1247140" cy="87396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 indent="297180">
              <a:lnSpc>
                <a:spcPct val="111000"/>
              </a:lnSpc>
              <a:spcBef>
                <a:spcPts val="65"/>
              </a:spcBef>
            </a:pPr>
            <a:endParaRPr sz="750" baseline="6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85389" y="1876170"/>
            <a:ext cx="4826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4</a:t>
            </a:r>
            <a:endParaRPr sz="350">
              <a:latin typeface="Carlito"/>
              <a:cs typeface="Carlito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11556" y="0"/>
            <a:ext cx="2705735" cy="2035175"/>
            <a:chOff x="-11556" y="0"/>
            <a:chExt cx="2705735" cy="2035175"/>
          </a:xfrm>
        </p:grpSpPr>
        <p:sp>
          <p:nvSpPr>
            <p:cNvPr id="4" name="object 4"/>
            <p:cNvSpPr/>
            <p:nvPr/>
          </p:nvSpPr>
          <p:spPr>
            <a:xfrm>
              <a:off x="156972" y="804671"/>
              <a:ext cx="2412491" cy="1139952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78308" y="67055"/>
              <a:ext cx="2368296" cy="7604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35" y="0"/>
              <a:ext cx="2681605" cy="2011045"/>
            </a:xfrm>
            <a:custGeom>
              <a:avLst/>
              <a:gdLst/>
              <a:ahLst/>
              <a:cxnLst/>
              <a:rect l="l" t="t" r="r" b="b"/>
              <a:pathLst>
                <a:path w="2681605" h="2011045">
                  <a:moveTo>
                    <a:pt x="0" y="2010790"/>
                  </a:moveTo>
                  <a:lnTo>
                    <a:pt x="2681351" y="2010790"/>
                  </a:lnTo>
                  <a:lnTo>
                    <a:pt x="2681351" y="0"/>
                  </a:lnTo>
                  <a:lnTo>
                    <a:pt x="0" y="0"/>
                  </a:lnTo>
                  <a:lnTo>
                    <a:pt x="0" y="201079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7709" y="80213"/>
            <a:ext cx="122809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i="1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Course</a:t>
            </a:r>
            <a:r>
              <a:rPr sz="1300" b="1" i="1" spc="-6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b="1" i="1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Outcomes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51938" y="1916988"/>
            <a:ext cx="4826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3</a:t>
            </a:r>
            <a:endParaRPr sz="350">
              <a:latin typeface="Carlito"/>
              <a:cs typeface="Carlito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7507" y="467402"/>
          <a:ext cx="2501900" cy="13856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145"/>
                <a:gridCol w="1978025"/>
                <a:gridCol w="379730"/>
              </a:tblGrid>
              <a:tr h="201421">
                <a:tc>
                  <a:txBody>
                    <a:bodyPr/>
                    <a:lstStyle/>
                    <a:p>
                      <a:pPr marL="33020" marR="24130" indent="10160">
                        <a:lnSpc>
                          <a:spcPct val="123000"/>
                        </a:lnSpc>
                        <a:spcBef>
                          <a:spcPts val="170"/>
                        </a:spcBef>
                      </a:pPr>
                      <a:r>
                        <a:rPr sz="400" b="1" dirty="0">
                          <a:latin typeface="Times New Roman" panose="02020603050405020304"/>
                          <a:cs typeface="Times New Roman" panose="02020603050405020304"/>
                        </a:rPr>
                        <a:t>S</a:t>
                      </a:r>
                      <a:r>
                        <a:rPr sz="400" b="1" spc="-5" dirty="0">
                          <a:latin typeface="Times New Roman" panose="02020603050405020304"/>
                          <a:cs typeface="Times New Roman" panose="02020603050405020304"/>
                        </a:rPr>
                        <a:t>l</a:t>
                      </a:r>
                      <a:r>
                        <a:rPr sz="400" b="1" dirty="0">
                          <a:latin typeface="Times New Roman" panose="02020603050405020304"/>
                          <a:cs typeface="Times New Roman" panose="02020603050405020304"/>
                        </a:rPr>
                        <a:t>.  </a:t>
                      </a:r>
                      <a:r>
                        <a:rPr sz="400" b="1" spc="5" dirty="0">
                          <a:latin typeface="Times New Roman" panose="02020603050405020304"/>
                          <a:cs typeface="Times New Roman" panose="02020603050405020304"/>
                        </a:rPr>
                        <a:t>NO</a:t>
                      </a:r>
                      <a:endParaRPr sz="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500" b="1" spc="10" dirty="0">
                          <a:latin typeface="Times New Roman" panose="02020603050405020304"/>
                          <a:cs typeface="Times New Roman" panose="02020603050405020304"/>
                        </a:rPr>
                        <a:t>DESCRIPTION</a:t>
                      </a: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73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 marR="40640" indent="102235">
                        <a:lnSpc>
                          <a:spcPct val="127000"/>
                        </a:lnSpc>
                        <a:spcBef>
                          <a:spcPts val="65"/>
                        </a:spcBef>
                      </a:pPr>
                      <a:r>
                        <a:rPr sz="450" b="1" spc="10" dirty="0">
                          <a:latin typeface="Times New Roman" panose="02020603050405020304"/>
                          <a:cs typeface="Times New Roman" panose="02020603050405020304"/>
                        </a:rPr>
                        <a:t>PO  </a:t>
                      </a:r>
                      <a:r>
                        <a:rPr sz="450" b="1" dirty="0">
                          <a:latin typeface="Times New Roman" panose="02020603050405020304"/>
                          <a:cs typeface="Times New Roman" panose="02020603050405020304"/>
                        </a:rPr>
                        <a:t>M</a:t>
                      </a:r>
                      <a:r>
                        <a:rPr sz="450" b="1" spc="-5" dirty="0">
                          <a:latin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450" b="1" dirty="0">
                          <a:latin typeface="Times New Roman" panose="02020603050405020304"/>
                          <a:cs typeface="Times New Roman" panose="02020603050405020304"/>
                        </a:rPr>
                        <a:t>PP</a:t>
                      </a:r>
                      <a:r>
                        <a:rPr sz="450" b="1" spc="-5" dirty="0">
                          <a:latin typeface="Times New Roman" panose="02020603050405020304"/>
                          <a:cs typeface="Times New Roman" panose="02020603050405020304"/>
                        </a:rPr>
                        <a:t>IN</a:t>
                      </a:r>
                      <a:r>
                        <a:rPr sz="450" b="1" dirty="0">
                          <a:latin typeface="Times New Roman" panose="02020603050405020304"/>
                          <a:cs typeface="Times New Roman" panose="02020603050405020304"/>
                        </a:rPr>
                        <a:t>G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11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3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50165" algn="r">
                        <a:lnSpc>
                          <a:spcPct val="100000"/>
                        </a:lnSpc>
                      </a:pPr>
                      <a:r>
                        <a:rPr sz="450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marR="12065">
                        <a:lnSpc>
                          <a:spcPts val="720"/>
                        </a:lnSpc>
                      </a:pP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Discuss </a:t>
                      </a:r>
                      <a:r>
                        <a:rPr sz="500" spc="15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compare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the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layout </a:t>
                      </a:r>
                      <a:r>
                        <a:rPr sz="500" spc="15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working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principles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of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steam, 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hydro, nuclear,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gas turbine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diesel power</a:t>
                      </a:r>
                      <a:r>
                        <a:rPr sz="500" spc="8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plants.</a:t>
                      </a: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450" b="1" spc="5" dirty="0">
                          <a:latin typeface="Times New Roman" panose="02020603050405020304"/>
                          <a:cs typeface="Times New Roman" panose="02020603050405020304"/>
                        </a:rPr>
                        <a:t>PO1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2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50165" algn="r">
                        <a:lnSpc>
                          <a:spcPct val="100000"/>
                        </a:lnSpc>
                      </a:pPr>
                      <a:r>
                        <a:rPr sz="45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marR="10795">
                        <a:lnSpc>
                          <a:spcPts val="720"/>
                        </a:lnSpc>
                        <a:spcBef>
                          <a:spcPts val="5"/>
                        </a:spcBef>
                      </a:pP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Describe the use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of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solar energy </a:t>
                      </a:r>
                      <a:r>
                        <a:rPr sz="500" spc="15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the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various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components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used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in the 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energy</a:t>
                      </a:r>
                      <a:r>
                        <a:rPr sz="500" spc="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production.</a:t>
                      </a: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450" b="1" spc="5" dirty="0">
                          <a:latin typeface="Times New Roman" panose="02020603050405020304"/>
                          <a:cs typeface="Times New Roman" panose="02020603050405020304"/>
                        </a:rPr>
                        <a:t>PO1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2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50165" algn="r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marR="12065">
                        <a:lnSpc>
                          <a:spcPts val="720"/>
                        </a:lnSpc>
                        <a:spcBef>
                          <a:spcPts val="5"/>
                        </a:spcBef>
                      </a:pPr>
                      <a:r>
                        <a:rPr sz="500" b="1" spc="10" dirty="0">
                          <a:latin typeface="Times New Roman" panose="02020603050405020304"/>
                          <a:cs typeface="Times New Roman" panose="02020603050405020304"/>
                        </a:rPr>
                        <a:t>Appreciate </a:t>
                      </a:r>
                      <a:r>
                        <a:rPr sz="500" b="1" spc="5" dirty="0">
                          <a:latin typeface="Times New Roman" panose="02020603050405020304"/>
                          <a:cs typeface="Times New Roman" panose="02020603050405020304"/>
                        </a:rPr>
                        <a:t>the </a:t>
                      </a:r>
                      <a:r>
                        <a:rPr sz="500" b="1" spc="10" dirty="0">
                          <a:latin typeface="Times New Roman" panose="02020603050405020304"/>
                          <a:cs typeface="Times New Roman" panose="02020603050405020304"/>
                        </a:rPr>
                        <a:t>need of </a:t>
                      </a:r>
                      <a:r>
                        <a:rPr sz="500" b="1" spc="5" dirty="0">
                          <a:latin typeface="Times New Roman" panose="02020603050405020304"/>
                          <a:cs typeface="Times New Roman" panose="02020603050405020304"/>
                        </a:rPr>
                        <a:t>wind </a:t>
                      </a:r>
                      <a:r>
                        <a:rPr sz="500" b="1" spc="10" dirty="0">
                          <a:latin typeface="Times New Roman" panose="02020603050405020304"/>
                          <a:cs typeface="Times New Roman" panose="02020603050405020304"/>
                        </a:rPr>
                        <a:t>energy and the various components  </a:t>
                      </a:r>
                      <a:r>
                        <a:rPr sz="500" b="1" spc="5" dirty="0">
                          <a:latin typeface="Times New Roman" panose="02020603050405020304"/>
                          <a:cs typeface="Times New Roman" panose="02020603050405020304"/>
                        </a:rPr>
                        <a:t>used in </a:t>
                      </a:r>
                      <a:r>
                        <a:rPr sz="500" b="1" spc="10" dirty="0">
                          <a:latin typeface="Times New Roman" panose="02020603050405020304"/>
                          <a:cs typeface="Times New Roman" panose="02020603050405020304"/>
                        </a:rPr>
                        <a:t>energy generation </a:t>
                      </a:r>
                      <a:r>
                        <a:rPr sz="500" b="1" spc="5" dirty="0">
                          <a:latin typeface="Times New Roman" panose="02020603050405020304"/>
                          <a:cs typeface="Times New Roman" panose="02020603050405020304"/>
                        </a:rPr>
                        <a:t>and know the</a:t>
                      </a:r>
                      <a:r>
                        <a:rPr sz="500" b="1" spc="7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00" b="1" spc="5" dirty="0">
                          <a:latin typeface="Times New Roman" panose="02020603050405020304"/>
                          <a:cs typeface="Times New Roman" panose="02020603050405020304"/>
                        </a:rPr>
                        <a:t>classifications.</a:t>
                      </a: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450" b="1" spc="5" dirty="0">
                          <a:latin typeface="Times New Roman" panose="02020603050405020304"/>
                          <a:cs typeface="Times New Roman" panose="02020603050405020304"/>
                        </a:rPr>
                        <a:t>PO1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11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50165" algn="r">
                        <a:lnSpc>
                          <a:spcPct val="100000"/>
                        </a:lnSpc>
                      </a:pPr>
                      <a:r>
                        <a:rPr sz="450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marR="10160">
                        <a:lnSpc>
                          <a:spcPts val="720"/>
                        </a:lnSpc>
                        <a:spcBef>
                          <a:spcPts val="5"/>
                        </a:spcBef>
                      </a:pP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Acquire knowledge about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the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concept of power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generation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from 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biomass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energy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resources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their future prospects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500" spc="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economics.</a:t>
                      </a: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450" b="1" spc="5" dirty="0">
                          <a:latin typeface="Times New Roman" panose="02020603050405020304"/>
                          <a:cs typeface="Times New Roman" panose="02020603050405020304"/>
                        </a:rPr>
                        <a:t>PO1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2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50165" algn="r">
                        <a:lnSpc>
                          <a:spcPct val="100000"/>
                        </a:lnSpc>
                      </a:pPr>
                      <a:r>
                        <a:rPr sz="450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marR="10160">
                        <a:lnSpc>
                          <a:spcPts val="720"/>
                        </a:lnSpc>
                        <a:spcBef>
                          <a:spcPts val="5"/>
                        </a:spcBef>
                      </a:pP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Describe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the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principles </a:t>
                      </a:r>
                      <a:r>
                        <a:rPr sz="500" spc="15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applications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of power generation from 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various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sources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Hydrogen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energy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conversion</a:t>
                      </a:r>
                      <a:r>
                        <a:rPr sz="500" spc="8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systems.</a:t>
                      </a: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450" b="1" spc="5" dirty="0">
                          <a:latin typeface="Times New Roman" panose="02020603050405020304"/>
                          <a:cs typeface="Times New Roman" panose="02020603050405020304"/>
                        </a:rPr>
                        <a:t>PO1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32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50165" algn="r">
                        <a:lnSpc>
                          <a:spcPct val="100000"/>
                        </a:lnSpc>
                      </a:pPr>
                      <a:r>
                        <a:rPr sz="450" dirty="0">
                          <a:latin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marR="10160">
                        <a:lnSpc>
                          <a:spcPts val="720"/>
                        </a:lnSpc>
                      </a:pP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Understand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energy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scenario </a:t>
                      </a:r>
                      <a:r>
                        <a:rPr sz="500" spc="15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the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environmental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effects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of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energy 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conversion </a:t>
                      </a:r>
                      <a:r>
                        <a:rPr sz="500" spc="15" dirty="0">
                          <a:latin typeface="Times New Roman" panose="02020603050405020304"/>
                          <a:cs typeface="Times New Roman" panose="02020603050405020304"/>
                        </a:rPr>
                        <a:t>and become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aware of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different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renewable energy</a:t>
                      </a:r>
                      <a:r>
                        <a:rPr sz="500" spc="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sources</a:t>
                      </a: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9050">
                        <a:lnSpc>
                          <a:spcPts val="520"/>
                        </a:lnSpc>
                        <a:spcBef>
                          <a:spcPts val="90"/>
                        </a:spcBef>
                      </a:pP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choose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sustainable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energy for</a:t>
                      </a:r>
                      <a:r>
                        <a:rPr sz="500" spc="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future.</a:t>
                      </a: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450" b="1" spc="5" dirty="0">
                          <a:latin typeface="Times New Roman" panose="02020603050405020304"/>
                          <a:cs typeface="Times New Roman" panose="02020603050405020304"/>
                        </a:rPr>
                        <a:t>PO1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3733" y="311658"/>
            <a:ext cx="2376805" cy="133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00" b="0" i="1" spc="-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After </a:t>
            </a:r>
            <a:r>
              <a:rPr sz="700" b="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successful completion </a:t>
            </a:r>
            <a:r>
              <a:rPr sz="700" b="0" i="1" spc="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700" b="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this course, students </a:t>
            </a:r>
            <a:r>
              <a:rPr sz="700" b="0" i="1" spc="-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will </a:t>
            </a:r>
            <a:r>
              <a:rPr sz="700" b="0" i="1" spc="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be </a:t>
            </a:r>
            <a:r>
              <a:rPr sz="700" b="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able</a:t>
            </a:r>
            <a:r>
              <a:rPr sz="700" b="0" i="1" spc="-8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b="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endParaRPr sz="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965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8457" y="96138"/>
            <a:ext cx="150685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spc="-5" dirty="0">
                <a:latin typeface="Times New Roman" panose="02020603050405020304"/>
                <a:cs typeface="Times New Roman" panose="02020603050405020304"/>
              </a:rPr>
              <a:t>Energy from the</a:t>
            </a:r>
            <a:r>
              <a:rPr sz="1300" i="1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i="1" spc="-5" dirty="0">
                <a:latin typeface="Times New Roman" panose="02020603050405020304"/>
                <a:cs typeface="Times New Roman" panose="02020603050405020304"/>
              </a:rPr>
              <a:t>wind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6619" y="423417"/>
            <a:ext cx="2476500" cy="1151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00" b="1" i="1" spc="-5" dirty="0">
                <a:latin typeface="Times New Roman" panose="02020603050405020304"/>
                <a:cs typeface="Times New Roman" panose="02020603050405020304"/>
              </a:rPr>
              <a:t>Wind </a:t>
            </a:r>
            <a:r>
              <a:rPr sz="700" b="1" i="1" dirty="0">
                <a:latin typeface="Times New Roman" panose="02020603050405020304"/>
                <a:cs typeface="Times New Roman" panose="02020603050405020304"/>
              </a:rPr>
              <a:t>= air in</a:t>
            </a:r>
            <a:r>
              <a:rPr sz="700" b="1" i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b="1" i="1" spc="5" dirty="0">
                <a:latin typeface="Times New Roman" panose="02020603050405020304"/>
                <a:cs typeface="Times New Roman" panose="02020603050405020304"/>
              </a:rPr>
              <a:t>motion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;</a:t>
            </a:r>
            <a:endParaRPr sz="700">
              <a:latin typeface="Times New Roman" panose="02020603050405020304"/>
              <a:cs typeface="Times New Roman" panose="02020603050405020304"/>
            </a:endParaRPr>
          </a:p>
          <a:p>
            <a:pPr marL="12700" indent="156845">
              <a:lnSpc>
                <a:spcPct val="100000"/>
              </a:lnSpc>
              <a:spcBef>
                <a:spcPts val="530"/>
              </a:spcBef>
            </a:pPr>
            <a:r>
              <a:rPr sz="700" i="1" dirty="0">
                <a:latin typeface="Times New Roman" panose="02020603050405020304"/>
                <a:cs typeface="Times New Roman" panose="02020603050405020304"/>
              </a:rPr>
              <a:t>-caused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by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the uneven heating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the earth‘s surface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700" i="1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sun;</a:t>
            </a:r>
            <a:endParaRPr sz="700">
              <a:latin typeface="Times New Roman" panose="02020603050405020304"/>
              <a:cs typeface="Times New Roman" panose="02020603050405020304"/>
            </a:endParaRPr>
          </a:p>
          <a:p>
            <a:pPr marL="12700" marR="5080" algn="just">
              <a:lnSpc>
                <a:spcPct val="101000"/>
              </a:lnSpc>
              <a:spcBef>
                <a:spcPts val="525"/>
              </a:spcBef>
            </a:pP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700" i="1" spc="-10" dirty="0">
                <a:latin typeface="Times New Roman" panose="02020603050405020304"/>
                <a:cs typeface="Times New Roman" panose="02020603050405020304"/>
              </a:rPr>
              <a:t>large</a:t>
            </a:r>
            <a:r>
              <a:rPr sz="700" i="1" spc="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atmospheric winds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that </a:t>
            </a:r>
            <a:r>
              <a:rPr sz="700" i="1" spc="-10" dirty="0">
                <a:latin typeface="Times New Roman" panose="02020603050405020304"/>
                <a:cs typeface="Times New Roman" panose="02020603050405020304"/>
              </a:rPr>
              <a:t>circle</a:t>
            </a:r>
            <a:r>
              <a:rPr sz="700" i="1" spc="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the earth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are created 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because the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land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near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the earth's equator </a:t>
            </a:r>
            <a:r>
              <a:rPr sz="700" i="1" spc="-10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heated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more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by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the sun 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than the land near the North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and South</a:t>
            </a:r>
            <a:r>
              <a:rPr sz="700" i="1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Poles.</a:t>
            </a:r>
            <a:endParaRPr sz="7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700" i="1" spc="-15" dirty="0">
                <a:latin typeface="Times New Roman" panose="02020603050405020304"/>
                <a:cs typeface="Times New Roman" panose="02020603050405020304"/>
              </a:rPr>
              <a:t>Today,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wind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energy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is mainly used to generate</a:t>
            </a:r>
            <a:r>
              <a:rPr sz="700" i="1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electricity.</a:t>
            </a:r>
            <a:endParaRPr sz="700">
              <a:latin typeface="Times New Roman" panose="02020603050405020304"/>
              <a:cs typeface="Times New Roman" panose="02020603050405020304"/>
            </a:endParaRPr>
          </a:p>
          <a:p>
            <a:pPr marL="12700" marR="5715">
              <a:lnSpc>
                <a:spcPct val="100000"/>
              </a:lnSpc>
              <a:spcBef>
                <a:spcPts val="530"/>
              </a:spcBef>
            </a:pPr>
            <a:r>
              <a:rPr sz="700" i="1" spc="-10" dirty="0">
                <a:latin typeface="Times New Roman" panose="02020603050405020304"/>
                <a:cs typeface="Times New Roman" panose="02020603050405020304"/>
              </a:rPr>
              <a:t>Wind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is called a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renewable energy </a:t>
            </a:r>
            <a:r>
              <a:rPr sz="700" i="1" spc="-10" dirty="0">
                <a:latin typeface="Times New Roman" panose="02020603050405020304"/>
                <a:cs typeface="Times New Roman" panose="02020603050405020304"/>
              </a:rPr>
              <a:t>source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because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the wind will 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blow as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long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as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sun</a:t>
            </a:r>
            <a:r>
              <a:rPr sz="700" i="1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shines.</a:t>
            </a:r>
            <a:endParaRPr sz="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5" y="965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314325" cy="2011680"/>
            <a:chOff x="0" y="0"/>
            <a:chExt cx="314325" cy="201168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8895" cy="2011680"/>
            </a:xfrm>
            <a:custGeom>
              <a:avLst/>
              <a:gdLst/>
              <a:ahLst/>
              <a:cxnLst/>
              <a:rect l="l" t="t" r="r" b="b"/>
              <a:pathLst>
                <a:path w="48895" h="2011680">
                  <a:moveTo>
                    <a:pt x="48768" y="0"/>
                  </a:moveTo>
                  <a:lnTo>
                    <a:pt x="0" y="0"/>
                  </a:lnTo>
                  <a:lnTo>
                    <a:pt x="0" y="2011679"/>
                  </a:lnTo>
                  <a:lnTo>
                    <a:pt x="48768" y="2011679"/>
                  </a:lnTo>
                  <a:lnTo>
                    <a:pt x="48768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1923288"/>
              <a:ext cx="314325" cy="43180"/>
            </a:xfrm>
            <a:custGeom>
              <a:avLst/>
              <a:gdLst/>
              <a:ahLst/>
              <a:cxnLst/>
              <a:rect l="l" t="t" r="r" b="b"/>
              <a:pathLst>
                <a:path w="314325" h="43180">
                  <a:moveTo>
                    <a:pt x="313944" y="0"/>
                  </a:moveTo>
                  <a:lnTo>
                    <a:pt x="0" y="0"/>
                  </a:lnTo>
                  <a:lnTo>
                    <a:pt x="0" y="42672"/>
                  </a:lnTo>
                  <a:lnTo>
                    <a:pt x="313944" y="42672"/>
                  </a:lnTo>
                  <a:lnTo>
                    <a:pt x="313944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976883" y="1923288"/>
            <a:ext cx="1705610" cy="43180"/>
          </a:xfrm>
          <a:custGeom>
            <a:avLst/>
            <a:gdLst/>
            <a:ahLst/>
            <a:cxnLst/>
            <a:rect l="l" t="t" r="r" b="b"/>
            <a:pathLst>
              <a:path w="1705610" h="43180">
                <a:moveTo>
                  <a:pt x="0" y="42672"/>
                </a:moveTo>
                <a:lnTo>
                  <a:pt x="1705355" y="42672"/>
                </a:lnTo>
                <a:lnTo>
                  <a:pt x="1705355" y="0"/>
                </a:lnTo>
                <a:lnTo>
                  <a:pt x="0" y="0"/>
                </a:lnTo>
                <a:lnTo>
                  <a:pt x="0" y="42672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680" y="168020"/>
            <a:ext cx="93345" cy="159385"/>
          </a:xfrm>
          <a:custGeom>
            <a:avLst/>
            <a:gdLst/>
            <a:ahLst/>
            <a:cxnLst/>
            <a:rect l="l" t="t" r="r" b="b"/>
            <a:pathLst>
              <a:path w="93345" h="159385">
                <a:moveTo>
                  <a:pt x="0" y="0"/>
                </a:moveTo>
                <a:lnTo>
                  <a:pt x="19596" y="159257"/>
                </a:lnTo>
                <a:lnTo>
                  <a:pt x="92811" y="84962"/>
                </a:lnTo>
                <a:lnTo>
                  <a:pt x="0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99312" y="28448"/>
            <a:ext cx="13576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spc="-5" dirty="0">
                <a:latin typeface="Times New Roman" panose="02020603050405020304"/>
                <a:cs typeface="Times New Roman" panose="02020603050405020304"/>
              </a:rPr>
              <a:t>What Makes</a:t>
            </a:r>
            <a:r>
              <a:rPr sz="1300" i="1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i="1" spc="-15" dirty="0">
                <a:latin typeface="Times New Roman" panose="02020603050405020304"/>
                <a:cs typeface="Times New Roman" panose="02020603050405020304"/>
              </a:rPr>
              <a:t>Wind?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0716" y="245363"/>
            <a:ext cx="2640330" cy="1563370"/>
            <a:chOff x="40716" y="245363"/>
            <a:chExt cx="2640330" cy="1563370"/>
          </a:xfrm>
        </p:grpSpPr>
        <p:sp>
          <p:nvSpPr>
            <p:cNvPr id="9" name="object 9"/>
            <p:cNvSpPr/>
            <p:nvPr/>
          </p:nvSpPr>
          <p:spPr>
            <a:xfrm>
              <a:off x="67055" y="245363"/>
              <a:ext cx="1274064" cy="850392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429511" y="245363"/>
              <a:ext cx="1251204" cy="1452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0716" y="1800605"/>
              <a:ext cx="2621915" cy="7620"/>
            </a:xfrm>
            <a:custGeom>
              <a:avLst/>
              <a:gdLst/>
              <a:ahLst/>
              <a:cxnLst/>
              <a:rect l="l" t="t" r="r" b="b"/>
              <a:pathLst>
                <a:path w="2621915" h="7619">
                  <a:moveTo>
                    <a:pt x="262133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2621330" y="7620"/>
                  </a:lnTo>
                  <a:lnTo>
                    <a:pt x="262133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28143" y="1093470"/>
            <a:ext cx="2646680" cy="8242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955" marR="1328420" algn="just">
              <a:lnSpc>
                <a:spcPct val="106000"/>
              </a:lnSpc>
              <a:spcBef>
                <a:spcPts val="90"/>
              </a:spcBef>
            </a:pPr>
            <a:r>
              <a:rPr sz="500" i="1" spc="10" dirty="0">
                <a:latin typeface="Times New Roman" panose="02020603050405020304"/>
                <a:cs typeface="Times New Roman" panose="02020603050405020304"/>
              </a:rPr>
              <a:t>Heat </a:t>
            </a:r>
            <a:r>
              <a:rPr sz="500" i="1" dirty="0">
                <a:latin typeface="Times New Roman" panose="02020603050405020304"/>
                <a:cs typeface="Times New Roman" panose="02020603050405020304"/>
              </a:rPr>
              <a:t>from </a:t>
            </a:r>
            <a:r>
              <a:rPr sz="500" i="1" spc="10" dirty="0">
                <a:latin typeface="Times New Roman" panose="02020603050405020304"/>
                <a:cs typeface="Times New Roman" panose="02020603050405020304"/>
              </a:rPr>
              <a:t>sun causes convection </a:t>
            </a:r>
            <a:r>
              <a:rPr sz="500" i="1" spc="5" dirty="0">
                <a:latin typeface="Times New Roman" panose="02020603050405020304"/>
                <a:cs typeface="Times New Roman" panose="02020603050405020304"/>
              </a:rPr>
              <a:t>in the  atmosphere, i.e., the </a:t>
            </a:r>
            <a:r>
              <a:rPr sz="500" i="1" spc="10" dirty="0">
                <a:latin typeface="Times New Roman" panose="02020603050405020304"/>
                <a:cs typeface="Times New Roman" panose="02020603050405020304"/>
              </a:rPr>
              <a:t>heated </a:t>
            </a:r>
            <a:r>
              <a:rPr sz="500" i="1" spc="5" dirty="0">
                <a:latin typeface="Times New Roman" panose="02020603050405020304"/>
                <a:cs typeface="Times New Roman" panose="02020603050405020304"/>
              </a:rPr>
              <a:t>air rises, which  create </a:t>
            </a:r>
            <a:r>
              <a:rPr sz="500" i="1" spc="10" dirty="0">
                <a:latin typeface="Times New Roman" panose="02020603050405020304"/>
                <a:cs typeface="Times New Roman" panose="02020603050405020304"/>
              </a:rPr>
              <a:t>zones of high and </a:t>
            </a:r>
            <a:r>
              <a:rPr sz="500" i="1" spc="15" dirty="0">
                <a:latin typeface="Times New Roman" panose="02020603050405020304"/>
                <a:cs typeface="Times New Roman" panose="02020603050405020304"/>
              </a:rPr>
              <a:t>low </a:t>
            </a:r>
            <a:r>
              <a:rPr sz="500" i="1" spc="5" dirty="0">
                <a:latin typeface="Times New Roman" panose="02020603050405020304"/>
                <a:cs typeface="Times New Roman" panose="02020603050405020304"/>
              </a:rPr>
              <a:t>air pressure  within the</a:t>
            </a:r>
            <a:r>
              <a:rPr sz="500" i="1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i="1" spc="5" dirty="0">
                <a:latin typeface="Times New Roman" panose="02020603050405020304"/>
                <a:cs typeface="Times New Roman" panose="02020603050405020304"/>
              </a:rPr>
              <a:t>atmosphere.</a:t>
            </a:r>
            <a:endParaRPr sz="500">
              <a:latin typeface="Times New Roman" panose="02020603050405020304"/>
              <a:cs typeface="Times New Roman" panose="02020603050405020304"/>
            </a:endParaRPr>
          </a:p>
          <a:p>
            <a:pPr marL="20955" marR="1330960" algn="just">
              <a:lnSpc>
                <a:spcPct val="106000"/>
              </a:lnSpc>
              <a:spcBef>
                <a:spcPts val="170"/>
              </a:spcBef>
            </a:pPr>
            <a:r>
              <a:rPr sz="500" i="1" spc="10" dirty="0">
                <a:latin typeface="Times New Roman" panose="02020603050405020304"/>
                <a:cs typeface="Times New Roman" panose="02020603050405020304"/>
              </a:rPr>
              <a:t>As </a:t>
            </a:r>
            <a:r>
              <a:rPr sz="500" i="1" spc="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500" i="1" spc="10" dirty="0">
                <a:latin typeface="Times New Roman" panose="02020603050405020304"/>
                <a:cs typeface="Times New Roman" panose="02020603050405020304"/>
              </a:rPr>
              <a:t>heated </a:t>
            </a:r>
            <a:r>
              <a:rPr sz="500" i="1" spc="5" dirty="0">
                <a:latin typeface="Times New Roman" panose="02020603050405020304"/>
                <a:cs typeface="Times New Roman" panose="02020603050405020304"/>
              </a:rPr>
              <a:t>air rises, it creates </a:t>
            </a:r>
            <a:r>
              <a:rPr sz="500" i="1" spc="10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500" i="1" spc="15" dirty="0">
                <a:latin typeface="Times New Roman" panose="02020603050405020304"/>
                <a:cs typeface="Times New Roman" panose="02020603050405020304"/>
              </a:rPr>
              <a:t>low </a:t>
            </a:r>
            <a:r>
              <a:rPr sz="500" i="1" spc="5" dirty="0">
                <a:latin typeface="Times New Roman" panose="02020603050405020304"/>
                <a:cs typeface="Times New Roman" panose="02020603050405020304"/>
              </a:rPr>
              <a:t>pressure  </a:t>
            </a:r>
            <a:r>
              <a:rPr sz="500" i="1" spc="10" dirty="0">
                <a:latin typeface="Times New Roman" panose="02020603050405020304"/>
                <a:cs typeface="Times New Roman" panose="02020603050405020304"/>
              </a:rPr>
              <a:t>zone near </a:t>
            </a:r>
            <a:r>
              <a:rPr sz="500" i="1" spc="5" dirty="0">
                <a:latin typeface="Times New Roman" panose="02020603050405020304"/>
                <a:cs typeface="Times New Roman" panose="02020603050405020304"/>
              </a:rPr>
              <a:t>the ground. </a:t>
            </a:r>
            <a:r>
              <a:rPr sz="500" i="1" spc="10" dirty="0">
                <a:latin typeface="Times New Roman" panose="02020603050405020304"/>
                <a:cs typeface="Times New Roman" panose="02020603050405020304"/>
              </a:rPr>
              <a:t>Air </a:t>
            </a:r>
            <a:r>
              <a:rPr sz="500" i="1" spc="5" dirty="0">
                <a:latin typeface="Times New Roman" panose="02020603050405020304"/>
                <a:cs typeface="Times New Roman" panose="02020603050405020304"/>
              </a:rPr>
              <a:t>from surrounding  </a:t>
            </a:r>
            <a:r>
              <a:rPr sz="500" i="1" spc="10" dirty="0">
                <a:latin typeface="Times New Roman" panose="02020603050405020304"/>
                <a:cs typeface="Times New Roman" panose="02020603050405020304"/>
              </a:rPr>
              <a:t>cooler </a:t>
            </a:r>
            <a:r>
              <a:rPr sz="500" i="1" spc="5" dirty="0">
                <a:latin typeface="Times New Roman" panose="02020603050405020304"/>
                <a:cs typeface="Times New Roman" panose="02020603050405020304"/>
              </a:rPr>
              <a:t>areas </a:t>
            </a:r>
            <a:r>
              <a:rPr sz="500" i="1" spc="10" dirty="0">
                <a:latin typeface="Times New Roman" panose="02020603050405020304"/>
                <a:cs typeface="Times New Roman" panose="02020603050405020304"/>
              </a:rPr>
              <a:t>rushes </a:t>
            </a:r>
            <a:r>
              <a:rPr sz="500" i="1" spc="5" dirty="0">
                <a:latin typeface="Times New Roman" panose="02020603050405020304"/>
                <a:cs typeface="Times New Roman" panose="02020603050405020304"/>
              </a:rPr>
              <a:t>in to </a:t>
            </a:r>
            <a:r>
              <a:rPr sz="500" i="1" spc="10" dirty="0">
                <a:latin typeface="Times New Roman" panose="02020603050405020304"/>
                <a:cs typeface="Times New Roman" panose="02020603050405020304"/>
              </a:rPr>
              <a:t>balance </a:t>
            </a:r>
            <a:r>
              <a:rPr sz="500" i="1" spc="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500" i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i="1" spc="5" dirty="0">
                <a:latin typeface="Times New Roman" panose="02020603050405020304"/>
                <a:cs typeface="Times New Roman" panose="02020603050405020304"/>
              </a:rPr>
              <a:t>pressure.</a:t>
            </a:r>
            <a:endParaRPr sz="500">
              <a:latin typeface="Times New Roman" panose="02020603050405020304"/>
              <a:cs typeface="Times New Roman" panose="02020603050405020304"/>
            </a:endParaRPr>
          </a:p>
          <a:p>
            <a:pPr marL="1004570" marR="5080" indent="-992505">
              <a:lnSpc>
                <a:spcPts val="760"/>
              </a:lnSpc>
              <a:spcBef>
                <a:spcPts val="180"/>
              </a:spcBef>
            </a:pPr>
            <a:r>
              <a:rPr sz="650" b="1" i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These horizontal pressure difference accounts for ambient wind and the more  </a:t>
            </a:r>
            <a:r>
              <a:rPr sz="650" b="1" i="1" u="sng" spc="-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 panose="02020603050405020304"/>
                <a:cs typeface="Times New Roman" panose="02020603050405020304"/>
              </a:rPr>
              <a:t>intense storm</a:t>
            </a:r>
            <a:r>
              <a:rPr sz="650" b="1" i="1" u="sng" spc="-3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50" b="1" i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 panose="02020603050405020304"/>
                <a:cs typeface="Times New Roman" panose="02020603050405020304"/>
              </a:rPr>
              <a:t>wind</a:t>
            </a:r>
            <a:endParaRPr sz="65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-12192" y="0"/>
            <a:ext cx="2705735" cy="2035175"/>
            <a:chOff x="-12192" y="0"/>
            <a:chExt cx="2705735" cy="2035175"/>
          </a:xfrm>
        </p:grpSpPr>
        <p:sp>
          <p:nvSpPr>
            <p:cNvPr id="14" name="object 14"/>
            <p:cNvSpPr/>
            <p:nvPr/>
          </p:nvSpPr>
          <p:spPr>
            <a:xfrm>
              <a:off x="1386077" y="268985"/>
              <a:ext cx="22860" cy="1430020"/>
            </a:xfrm>
            <a:custGeom>
              <a:avLst/>
              <a:gdLst/>
              <a:ahLst/>
              <a:cxnLst/>
              <a:rect l="l" t="t" r="r" b="b"/>
              <a:pathLst>
                <a:path w="22859" h="1430020">
                  <a:moveTo>
                    <a:pt x="22860" y="0"/>
                  </a:moveTo>
                  <a:lnTo>
                    <a:pt x="0" y="0"/>
                  </a:lnTo>
                  <a:lnTo>
                    <a:pt x="0" y="1429511"/>
                  </a:lnTo>
                  <a:lnTo>
                    <a:pt x="22860" y="1429511"/>
                  </a:lnTo>
                  <a:lnTo>
                    <a:pt x="2286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386077" y="268985"/>
              <a:ext cx="22860" cy="1430020"/>
            </a:xfrm>
            <a:custGeom>
              <a:avLst/>
              <a:gdLst/>
              <a:ahLst/>
              <a:cxnLst/>
              <a:rect l="l" t="t" r="r" b="b"/>
              <a:pathLst>
                <a:path w="22859" h="1430020">
                  <a:moveTo>
                    <a:pt x="0" y="1429511"/>
                  </a:moveTo>
                  <a:lnTo>
                    <a:pt x="22860" y="1429511"/>
                  </a:lnTo>
                  <a:lnTo>
                    <a:pt x="22860" y="0"/>
                  </a:lnTo>
                  <a:lnTo>
                    <a:pt x="0" y="0"/>
                  </a:lnTo>
                  <a:lnTo>
                    <a:pt x="0" y="1429511"/>
                  </a:lnTo>
                  <a:close/>
                </a:path>
              </a:pathLst>
            </a:custGeom>
            <a:ln w="7621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0" y="0"/>
              <a:ext cx="2681605" cy="2011045"/>
            </a:xfrm>
            <a:custGeom>
              <a:avLst/>
              <a:gdLst/>
              <a:ahLst/>
              <a:cxnLst/>
              <a:rect l="l" t="t" r="r" b="b"/>
              <a:pathLst>
                <a:path w="2681605" h="2011045">
                  <a:moveTo>
                    <a:pt x="0" y="2010790"/>
                  </a:moveTo>
                  <a:lnTo>
                    <a:pt x="2681351" y="2010790"/>
                  </a:lnTo>
                  <a:lnTo>
                    <a:pt x="2681351" y="0"/>
                  </a:lnTo>
                  <a:lnTo>
                    <a:pt x="0" y="0"/>
                  </a:lnTo>
                  <a:lnTo>
                    <a:pt x="0" y="201079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3" name="Content Placeholder 102"/>
          <p:cNvPicPr/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213360" y="109220"/>
            <a:ext cx="2270125" cy="18046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369" y="140589"/>
            <a:ext cx="126047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spc="-15" dirty="0">
                <a:latin typeface="Times New Roman" panose="02020603050405020304"/>
                <a:cs typeface="Times New Roman" panose="02020603050405020304"/>
              </a:rPr>
              <a:t>Wind </a:t>
            </a:r>
            <a:r>
              <a:rPr sz="1300" i="1" spc="-5" dirty="0">
                <a:latin typeface="Times New Roman" panose="02020603050405020304"/>
                <a:cs typeface="Times New Roman" panose="02020603050405020304"/>
              </a:rPr>
              <a:t>Power</a:t>
            </a:r>
            <a:r>
              <a:rPr sz="1300" i="1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i="1" spc="-5" dirty="0">
                <a:latin typeface="Times New Roman" panose="02020603050405020304"/>
                <a:cs typeface="Times New Roman" panose="02020603050405020304"/>
              </a:rPr>
              <a:t>Plant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3675" y="422528"/>
            <a:ext cx="2342515" cy="11931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3030" marR="5080" indent="-100965" algn="just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"/>
              <a:tabLst>
                <a:tab pos="113030" algn="l"/>
              </a:tabLst>
            </a:pPr>
            <a:r>
              <a:rPr sz="700" i="1" spc="-10" dirty="0">
                <a:latin typeface="Times New Roman" panose="02020603050405020304"/>
                <a:cs typeface="Times New Roman" panose="02020603050405020304"/>
              </a:rPr>
              <a:t>Wind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flow is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created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as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an effect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solar heat,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which creates 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low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high-pressure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regions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on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the earth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due</a:t>
            </a:r>
            <a:r>
              <a:rPr sz="700" i="1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to heating.</a:t>
            </a:r>
            <a:endParaRPr sz="700">
              <a:latin typeface="Times New Roman" panose="02020603050405020304"/>
              <a:cs typeface="Times New Roman" panose="02020603050405020304"/>
            </a:endParaRPr>
          </a:p>
          <a:p>
            <a:pPr marL="113030" marR="5080" indent="-100965" algn="just">
              <a:lnSpc>
                <a:spcPct val="101000"/>
              </a:lnSpc>
              <a:spcBef>
                <a:spcPts val="525"/>
              </a:spcBef>
              <a:buFont typeface="Wingdings" panose="05000000000000000000"/>
              <a:buChar char=""/>
              <a:tabLst>
                <a:tab pos="113030" algn="l"/>
              </a:tabLst>
            </a:pPr>
            <a:r>
              <a:rPr sz="700" i="1" dirty="0">
                <a:latin typeface="Times New Roman" panose="02020603050405020304"/>
                <a:cs typeface="Times New Roman" panose="02020603050405020304"/>
              </a:rPr>
              <a:t>Thus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wind energy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rightly an indirect form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solar </a:t>
            </a:r>
            <a:r>
              <a:rPr sz="700" i="1" spc="-10" dirty="0">
                <a:latin typeface="Times New Roman" panose="02020603050405020304"/>
                <a:cs typeface="Times New Roman" panose="02020603050405020304"/>
              </a:rPr>
              <a:t>energy. 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flowing wind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is used to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rotate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700" b="1" i="1" spc="-5" dirty="0">
                <a:latin typeface="Times New Roman" panose="02020603050405020304"/>
                <a:cs typeface="Times New Roman" panose="02020603050405020304"/>
              </a:rPr>
              <a:t>wind </a:t>
            </a:r>
            <a:r>
              <a:rPr sz="700" b="1" i="1" dirty="0">
                <a:latin typeface="Times New Roman" panose="02020603050405020304"/>
                <a:cs typeface="Times New Roman" panose="02020603050405020304"/>
              </a:rPr>
              <a:t>turbine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,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which is 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also known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700" i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b="1" i="1" dirty="0">
                <a:latin typeface="Times New Roman" panose="02020603050405020304"/>
                <a:cs typeface="Times New Roman" panose="02020603050405020304"/>
              </a:rPr>
              <a:t>windmill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.</a:t>
            </a:r>
            <a:endParaRPr sz="700">
              <a:latin typeface="Times New Roman" panose="02020603050405020304"/>
              <a:cs typeface="Times New Roman" panose="02020603050405020304"/>
            </a:endParaRPr>
          </a:p>
          <a:p>
            <a:pPr marL="113030" marR="5715" indent="-100965" algn="just">
              <a:lnSpc>
                <a:spcPct val="100000"/>
              </a:lnSpc>
              <a:spcBef>
                <a:spcPts val="540"/>
              </a:spcBef>
              <a:buFont typeface="Wingdings" panose="05000000000000000000"/>
              <a:buChar char=""/>
              <a:tabLst>
                <a:tab pos="113030" algn="l"/>
              </a:tabLst>
            </a:pPr>
            <a:r>
              <a:rPr sz="700" i="1" spc="-10" dirty="0">
                <a:latin typeface="Times New Roman" panose="02020603050405020304"/>
                <a:cs typeface="Times New Roman" panose="02020603050405020304"/>
              </a:rPr>
              <a:t>Wind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turbines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are usually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located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at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sea </a:t>
            </a:r>
            <a:r>
              <a:rPr sz="700" i="1" spc="-10" dirty="0">
                <a:latin typeface="Times New Roman" panose="02020603050405020304"/>
                <a:cs typeface="Times New Roman" panose="02020603050405020304"/>
              </a:rPr>
              <a:t>shore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or </a:t>
            </a:r>
            <a:r>
              <a:rPr sz="700" i="1" spc="-10" dirty="0"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the 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sea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where there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is availability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700" i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wind.</a:t>
            </a:r>
            <a:endParaRPr sz="700">
              <a:latin typeface="Times New Roman" panose="02020603050405020304"/>
              <a:cs typeface="Times New Roman" panose="02020603050405020304"/>
            </a:endParaRPr>
          </a:p>
          <a:p>
            <a:pPr marL="113030" marR="5715" indent="-100965" algn="just">
              <a:lnSpc>
                <a:spcPct val="102000"/>
              </a:lnSpc>
              <a:spcBef>
                <a:spcPts val="515"/>
              </a:spcBef>
              <a:buFont typeface="Wingdings" panose="05000000000000000000"/>
              <a:buChar char=""/>
              <a:tabLst>
                <a:tab pos="113030" algn="l"/>
              </a:tabLst>
            </a:pP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For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electric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power generation,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700" b="1" i="1" dirty="0">
                <a:latin typeface="Times New Roman" panose="02020603050405020304"/>
                <a:cs typeface="Times New Roman" panose="02020603050405020304"/>
              </a:rPr>
              <a:t>average </a:t>
            </a:r>
            <a:r>
              <a:rPr sz="700" b="1" i="1" spc="-5" dirty="0">
                <a:latin typeface="Times New Roman" panose="02020603050405020304"/>
                <a:cs typeface="Times New Roman" panose="02020603050405020304"/>
              </a:rPr>
              <a:t>wind speed  </a:t>
            </a:r>
            <a:r>
              <a:rPr sz="700" b="1" i="1" dirty="0">
                <a:latin typeface="Times New Roman" panose="02020603050405020304"/>
                <a:cs typeface="Times New Roman" panose="02020603050405020304"/>
              </a:rPr>
              <a:t>required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700" b="1" i="1" dirty="0">
                <a:latin typeface="Times New Roman" panose="02020603050405020304"/>
                <a:cs typeface="Times New Roman" panose="02020603050405020304"/>
              </a:rPr>
              <a:t>5</a:t>
            </a:r>
            <a:r>
              <a:rPr sz="700" b="1" i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b="1" i="1" spc="5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700" b="1" i="1" spc="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.</a:t>
            </a:r>
            <a:endParaRPr sz="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62530" y="1876170"/>
            <a:ext cx="711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10</a:t>
            </a:r>
            <a:endParaRPr sz="35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35" y="0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4591" y="51562"/>
            <a:ext cx="155448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spc="-5" dirty="0">
                <a:latin typeface="Times New Roman" panose="02020603050405020304"/>
                <a:cs typeface="Times New Roman" panose="02020603050405020304"/>
              </a:rPr>
              <a:t>What is </a:t>
            </a:r>
            <a:r>
              <a:rPr sz="1300" i="1" spc="-15" dirty="0">
                <a:latin typeface="Times New Roman" panose="02020603050405020304"/>
                <a:cs typeface="Times New Roman" panose="02020603050405020304"/>
              </a:rPr>
              <a:t>Wind</a:t>
            </a:r>
            <a:r>
              <a:rPr sz="1300" i="1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i="1" spc="-5" dirty="0">
                <a:latin typeface="Times New Roman" panose="02020603050405020304"/>
                <a:cs typeface="Times New Roman" panose="02020603050405020304"/>
              </a:rPr>
              <a:t>Energy?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984" y="289306"/>
            <a:ext cx="2478405" cy="6521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6350" algn="just">
              <a:lnSpc>
                <a:spcPct val="100000"/>
              </a:lnSpc>
              <a:spcBef>
                <a:spcPts val="105"/>
              </a:spcBef>
            </a:pP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Differential heating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700" i="1" spc="-15" dirty="0">
                <a:latin typeface="Times New Roman" panose="02020603050405020304"/>
                <a:cs typeface="Times New Roman" panose="02020603050405020304"/>
              </a:rPr>
              <a:t>Earth’s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surface and atmosphere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causes  vertical/horizontal air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currents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known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700" i="1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WIND.</a:t>
            </a:r>
            <a:endParaRPr sz="700">
              <a:latin typeface="Times New Roman" panose="02020603050405020304"/>
              <a:cs typeface="Times New Roman" panose="02020603050405020304"/>
            </a:endParaRPr>
          </a:p>
          <a:p>
            <a:pPr marL="12700" marR="5080" algn="just">
              <a:lnSpc>
                <a:spcPct val="101000"/>
              </a:lnSpc>
              <a:spcBef>
                <a:spcPts val="700"/>
              </a:spcBef>
            </a:pPr>
            <a:r>
              <a:rPr sz="700" i="1" dirty="0">
                <a:latin typeface="Times New Roman" panose="02020603050405020304"/>
                <a:cs typeface="Times New Roman" panose="02020603050405020304"/>
              </a:rPr>
              <a:t>A wind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turbine then produces electricity by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converting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700" i="1" spc="-10" dirty="0">
                <a:latin typeface="Times New Roman" panose="02020603050405020304"/>
                <a:cs typeface="Times New Roman" panose="02020603050405020304"/>
              </a:rPr>
              <a:t>force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of 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wind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ultimately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charging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a generator </a:t>
            </a:r>
            <a:r>
              <a:rPr sz="700" i="1" spc="-10" dirty="0">
                <a:latin typeface="Times New Roman" panose="02020603050405020304"/>
                <a:cs typeface="Times New Roman" panose="02020603050405020304"/>
              </a:rPr>
              <a:t>through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rotation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the 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wind </a:t>
            </a:r>
            <a:r>
              <a:rPr sz="700" i="1" spc="-10" dirty="0">
                <a:latin typeface="Times New Roman" panose="02020603050405020304"/>
                <a:cs typeface="Times New Roman" panose="02020603050405020304"/>
              </a:rPr>
              <a:t>turbine’s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rotor</a:t>
            </a:r>
            <a:r>
              <a:rPr sz="700" i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blades.</a:t>
            </a:r>
            <a:endParaRPr sz="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3063" y="961644"/>
            <a:ext cx="1699260" cy="98298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122" y="1121740"/>
            <a:ext cx="948690" cy="68770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13030" indent="-100965">
              <a:lnSpc>
                <a:spcPct val="100000"/>
              </a:lnSpc>
              <a:spcBef>
                <a:spcPts val="260"/>
              </a:spcBef>
              <a:buFont typeface="Wingdings" panose="05000000000000000000"/>
              <a:buChar char=""/>
              <a:tabLst>
                <a:tab pos="113030" algn="l"/>
              </a:tabLst>
            </a:pPr>
            <a:r>
              <a:rPr sz="500" b="1" i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Wind </a:t>
            </a:r>
            <a:r>
              <a:rPr sz="500" b="1" i="1" spc="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pushes</a:t>
            </a:r>
            <a:r>
              <a:rPr sz="500" b="1" i="1" spc="2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b="1" i="1" spc="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blades</a:t>
            </a:r>
            <a:endParaRPr sz="500">
              <a:latin typeface="Times New Roman" panose="02020603050405020304"/>
              <a:cs typeface="Times New Roman" panose="02020603050405020304"/>
            </a:endParaRPr>
          </a:p>
          <a:p>
            <a:pPr marL="113030" indent="-100965">
              <a:lnSpc>
                <a:spcPct val="100000"/>
              </a:lnSpc>
              <a:spcBef>
                <a:spcPts val="170"/>
              </a:spcBef>
              <a:buFont typeface="Wingdings" panose="05000000000000000000"/>
              <a:buChar char=""/>
              <a:tabLst>
                <a:tab pos="113030" algn="l"/>
              </a:tabLst>
            </a:pPr>
            <a:r>
              <a:rPr sz="500" b="1" i="1" spc="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Blades attached </a:t>
            </a:r>
            <a:r>
              <a:rPr sz="500" b="1" i="1" spc="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500" b="1" i="1" spc="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500" b="1" i="1" spc="-6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b="1" i="1" spc="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hub</a:t>
            </a:r>
            <a:endParaRPr sz="500">
              <a:latin typeface="Times New Roman" panose="02020603050405020304"/>
              <a:cs typeface="Times New Roman" panose="02020603050405020304"/>
            </a:endParaRPr>
          </a:p>
          <a:p>
            <a:pPr marL="146685">
              <a:lnSpc>
                <a:spcPct val="100000"/>
              </a:lnSpc>
              <a:spcBef>
                <a:spcPts val="160"/>
              </a:spcBef>
            </a:pPr>
            <a:r>
              <a:rPr sz="500" spc="-16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‒</a:t>
            </a:r>
            <a:r>
              <a:rPr sz="500" spc="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b="1" i="1" spc="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together  called </a:t>
            </a:r>
            <a:r>
              <a:rPr sz="500" b="1" i="1" spc="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500" b="1" i="1" spc="-5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b="1" i="1" spc="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rotor</a:t>
            </a:r>
            <a:endParaRPr sz="500">
              <a:latin typeface="Times New Roman" panose="02020603050405020304"/>
              <a:cs typeface="Times New Roman" panose="02020603050405020304"/>
            </a:endParaRPr>
          </a:p>
          <a:p>
            <a:pPr marL="113030" indent="-100965">
              <a:lnSpc>
                <a:spcPct val="100000"/>
              </a:lnSpc>
              <a:spcBef>
                <a:spcPts val="165"/>
              </a:spcBef>
              <a:buFont typeface="Wingdings" panose="05000000000000000000"/>
              <a:buChar char=""/>
              <a:tabLst>
                <a:tab pos="113030" algn="l"/>
              </a:tabLst>
            </a:pPr>
            <a:r>
              <a:rPr sz="500" b="1" i="1" spc="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Rotor </a:t>
            </a:r>
            <a:r>
              <a:rPr sz="500" b="1" i="1" spc="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spins </a:t>
            </a:r>
            <a:r>
              <a:rPr sz="500" b="1" i="1" spc="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drive</a:t>
            </a:r>
            <a:r>
              <a:rPr sz="500" b="1" i="1" spc="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shaft</a:t>
            </a:r>
            <a:endParaRPr sz="500">
              <a:latin typeface="Times New Roman" panose="02020603050405020304"/>
              <a:cs typeface="Times New Roman" panose="02020603050405020304"/>
            </a:endParaRPr>
          </a:p>
          <a:p>
            <a:pPr marL="113030" indent="-100965">
              <a:lnSpc>
                <a:spcPct val="100000"/>
              </a:lnSpc>
              <a:spcBef>
                <a:spcPts val="155"/>
              </a:spcBef>
              <a:buFont typeface="Wingdings" panose="05000000000000000000"/>
              <a:buChar char=""/>
              <a:tabLst>
                <a:tab pos="113030" algn="l"/>
              </a:tabLst>
            </a:pPr>
            <a:r>
              <a:rPr sz="500" b="1" i="1" spc="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Gearbox </a:t>
            </a:r>
            <a:r>
              <a:rPr sz="500" b="1" i="1" spc="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makes </a:t>
            </a:r>
            <a:r>
              <a:rPr sz="500" b="1" i="1" spc="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shaft</a:t>
            </a:r>
            <a:r>
              <a:rPr sz="500" b="1" i="1" spc="-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b="1" i="1" spc="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faster</a:t>
            </a:r>
            <a:endParaRPr sz="500">
              <a:latin typeface="Times New Roman" panose="02020603050405020304"/>
              <a:cs typeface="Times New Roman" panose="02020603050405020304"/>
            </a:endParaRPr>
          </a:p>
          <a:p>
            <a:pPr marL="113030" marR="5080" indent="-100965">
              <a:lnSpc>
                <a:spcPct val="106000"/>
              </a:lnSpc>
              <a:spcBef>
                <a:spcPts val="120"/>
              </a:spcBef>
              <a:buFont typeface="Wingdings" panose="05000000000000000000"/>
              <a:buChar char=""/>
              <a:tabLst>
                <a:tab pos="113030" algn="l"/>
              </a:tabLst>
            </a:pPr>
            <a:r>
              <a:rPr sz="500" b="1" i="1" spc="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Drive </a:t>
            </a:r>
            <a:r>
              <a:rPr sz="500" b="1" i="1" spc="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shaft turns </a:t>
            </a:r>
            <a:r>
              <a:rPr sz="500" b="1" i="1" spc="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generator </a:t>
            </a:r>
            <a:r>
              <a:rPr sz="500" b="1" i="1" spc="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to  </a:t>
            </a:r>
            <a:r>
              <a:rPr sz="500" b="1" i="1" spc="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make</a:t>
            </a:r>
            <a:r>
              <a:rPr sz="500" b="1" i="1" spc="-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b="1" i="1" spc="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energy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84882" y="1877060"/>
            <a:ext cx="4826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9</a:t>
            </a:r>
            <a:endParaRPr sz="35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965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84784" y="49149"/>
            <a:ext cx="2116480" cy="161290"/>
          </a:xfrm>
        </p:spPr>
        <p:txBody>
          <a:bodyPr/>
          <a:p>
            <a:r>
              <a:rPr lang="en-IN" altLang="en-US"/>
              <a:t>Parts of wind turbine</a:t>
            </a:r>
            <a:endParaRPr lang="en-IN" altLang="en-US"/>
          </a:p>
        </p:txBody>
      </p:sp>
      <p:pic>
        <p:nvPicPr>
          <p:cNvPr id="100" name="Content Placeholder 99"/>
          <p:cNvPicPr/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304800" y="354330"/>
            <a:ext cx="2096770" cy="13036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84784" y="49149"/>
            <a:ext cx="2116480" cy="161290"/>
          </a:xfrm>
        </p:spPr>
        <p:txBody>
          <a:bodyPr/>
          <a:p>
            <a:r>
              <a:rPr lang="en-IN" altLang="en-US"/>
              <a:t>yaw pitch and roll</a:t>
            </a:r>
            <a:endParaRPr lang="en-IN" altLang="en-US"/>
          </a:p>
        </p:txBody>
      </p:sp>
      <p:pic>
        <p:nvPicPr>
          <p:cNvPr id="101" name="Content Placeholder 100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425450" y="322580"/>
            <a:ext cx="1746250" cy="167830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7258" y="80213"/>
            <a:ext cx="134874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spc="-5" dirty="0">
                <a:latin typeface="Times New Roman" panose="02020603050405020304"/>
                <a:cs typeface="Times New Roman" panose="02020603050405020304"/>
              </a:rPr>
              <a:t>Why </a:t>
            </a:r>
            <a:r>
              <a:rPr sz="1300" i="1" spc="-15" dirty="0">
                <a:latin typeface="Times New Roman" panose="02020603050405020304"/>
                <a:cs typeface="Times New Roman" panose="02020603050405020304"/>
              </a:rPr>
              <a:t>Wind</a:t>
            </a:r>
            <a:r>
              <a:rPr sz="1300" i="1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i="1" spc="-5" dirty="0">
                <a:latin typeface="Times New Roman" panose="02020603050405020304"/>
                <a:cs typeface="Times New Roman" panose="02020603050405020304"/>
              </a:rPr>
              <a:t>Energy?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00025" y="373113"/>
            <a:ext cx="59690" cy="806450"/>
            <a:chOff x="200025" y="373113"/>
            <a:chExt cx="59690" cy="806450"/>
          </a:xfrm>
        </p:grpSpPr>
        <p:sp>
          <p:nvSpPr>
            <p:cNvPr id="4" name="object 4"/>
            <p:cNvSpPr/>
            <p:nvPr/>
          </p:nvSpPr>
          <p:spPr>
            <a:xfrm>
              <a:off x="200025" y="373113"/>
              <a:ext cx="59436" cy="62496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0025" y="545325"/>
              <a:ext cx="59436" cy="62496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00025" y="719061"/>
              <a:ext cx="59436" cy="62496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00025" y="1116952"/>
              <a:ext cx="59436" cy="62496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22682" y="334136"/>
            <a:ext cx="2479675" cy="1512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850" algn="just">
              <a:lnSpc>
                <a:spcPct val="100000"/>
              </a:lnSpc>
              <a:spcBef>
                <a:spcPts val="105"/>
              </a:spcBef>
            </a:pPr>
            <a:r>
              <a:rPr sz="700" i="1" spc="-10" dirty="0">
                <a:latin typeface="Times New Roman" panose="02020603050405020304"/>
                <a:cs typeface="Times New Roman" panose="02020603050405020304"/>
              </a:rPr>
              <a:t>Wind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is the renewable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energy resource/technology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700" i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choice</a:t>
            </a:r>
            <a:endParaRPr sz="700">
              <a:latin typeface="Times New Roman" panose="02020603050405020304"/>
              <a:cs typeface="Times New Roman" panose="02020603050405020304"/>
            </a:endParaRPr>
          </a:p>
          <a:p>
            <a:pPr marL="196850" algn="just">
              <a:lnSpc>
                <a:spcPct val="100000"/>
              </a:lnSpc>
              <a:spcBef>
                <a:spcPts val="515"/>
              </a:spcBef>
            </a:pP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“Free”</a:t>
            </a:r>
            <a:r>
              <a:rPr sz="700" i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resource</a:t>
            </a:r>
            <a:endParaRPr sz="700">
              <a:latin typeface="Times New Roman" panose="02020603050405020304"/>
              <a:cs typeface="Times New Roman" panose="02020603050405020304"/>
            </a:endParaRPr>
          </a:p>
          <a:p>
            <a:pPr marL="196850" algn="just">
              <a:lnSpc>
                <a:spcPct val="100000"/>
              </a:lnSpc>
              <a:spcBef>
                <a:spcPts val="530"/>
              </a:spcBef>
            </a:pPr>
            <a:r>
              <a:rPr sz="700" i="1" dirty="0">
                <a:latin typeface="Times New Roman" panose="02020603050405020304"/>
                <a:cs typeface="Times New Roman" panose="02020603050405020304"/>
              </a:rPr>
              <a:t>A “clean”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resource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due</a:t>
            </a:r>
            <a:r>
              <a:rPr sz="700" i="1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to:</a:t>
            </a:r>
            <a:endParaRPr sz="700">
              <a:latin typeface="Times New Roman" panose="02020603050405020304"/>
              <a:cs typeface="Times New Roman" panose="02020603050405020304"/>
            </a:endParaRPr>
          </a:p>
          <a:p>
            <a:pPr marL="429895" indent="-133350" algn="just">
              <a:lnSpc>
                <a:spcPct val="100000"/>
              </a:lnSpc>
              <a:spcBef>
                <a:spcPts val="405"/>
              </a:spcBef>
              <a:buFont typeface="Wingdings" panose="05000000000000000000"/>
              <a:buChar char=""/>
              <a:tabLst>
                <a:tab pos="430530" algn="l"/>
              </a:tabLst>
            </a:pP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Replacement</a:t>
            </a:r>
            <a:r>
              <a:rPr sz="550" i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550" i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550" i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“dirty”</a:t>
            </a:r>
            <a:r>
              <a:rPr sz="550" i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energy</a:t>
            </a:r>
            <a:r>
              <a:rPr sz="550" i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source</a:t>
            </a:r>
            <a:r>
              <a:rPr sz="550" i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(coal)</a:t>
            </a:r>
            <a:r>
              <a:rPr sz="550" i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20" dirty="0">
                <a:latin typeface="Times New Roman" panose="02020603050405020304"/>
                <a:cs typeface="Times New Roman" panose="02020603050405020304"/>
              </a:rPr>
              <a:t>and,</a:t>
            </a:r>
            <a:endParaRPr sz="550">
              <a:latin typeface="Times New Roman" panose="02020603050405020304"/>
              <a:cs typeface="Times New Roman" panose="02020603050405020304"/>
            </a:endParaRPr>
          </a:p>
          <a:p>
            <a:pPr marL="429895" indent="-133350" algn="just">
              <a:lnSpc>
                <a:spcPct val="100000"/>
              </a:lnSpc>
              <a:spcBef>
                <a:spcPts val="165"/>
              </a:spcBef>
              <a:buFont typeface="Wingdings" panose="05000000000000000000"/>
              <a:buChar char=""/>
              <a:tabLst>
                <a:tab pos="430530" algn="l"/>
              </a:tabLst>
            </a:pPr>
            <a:r>
              <a:rPr sz="600" i="1" spc="-10" dirty="0">
                <a:latin typeface="Times New Roman" panose="02020603050405020304"/>
                <a:cs typeface="Times New Roman" panose="02020603050405020304"/>
              </a:rPr>
              <a:t>No emissions </a:t>
            </a:r>
            <a:r>
              <a:rPr sz="600" i="1" spc="-5" dirty="0">
                <a:latin typeface="Times New Roman" panose="02020603050405020304"/>
                <a:cs typeface="Times New Roman" panose="02020603050405020304"/>
              </a:rPr>
              <a:t>associated </a:t>
            </a:r>
            <a:r>
              <a:rPr sz="600" i="1" spc="-15" dirty="0">
                <a:latin typeface="Times New Roman" panose="02020603050405020304"/>
                <a:cs typeface="Times New Roman" panose="02020603050405020304"/>
              </a:rPr>
              <a:t>with </a:t>
            </a:r>
            <a:r>
              <a:rPr sz="600" i="1" spc="-5" dirty="0">
                <a:latin typeface="Times New Roman" panose="02020603050405020304"/>
                <a:cs typeface="Times New Roman" panose="02020603050405020304"/>
              </a:rPr>
              <a:t>its</a:t>
            </a:r>
            <a:r>
              <a:rPr sz="600" i="1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" i="1" spc="-5" dirty="0">
                <a:latin typeface="Times New Roman" panose="02020603050405020304"/>
                <a:cs typeface="Times New Roman" panose="02020603050405020304"/>
              </a:rPr>
              <a:t>use</a:t>
            </a:r>
            <a:endParaRPr sz="600">
              <a:latin typeface="Times New Roman" panose="02020603050405020304"/>
              <a:cs typeface="Times New Roman" panose="02020603050405020304"/>
            </a:endParaRPr>
          </a:p>
          <a:p>
            <a:pPr marL="196850" marR="5080" algn="just">
              <a:lnSpc>
                <a:spcPct val="101000"/>
              </a:lnSpc>
              <a:spcBef>
                <a:spcPts val="340"/>
              </a:spcBef>
            </a:pPr>
            <a:r>
              <a:rPr sz="700" i="1" dirty="0">
                <a:latin typeface="Times New Roman" panose="02020603050405020304"/>
                <a:cs typeface="Times New Roman" panose="02020603050405020304"/>
              </a:rPr>
              <a:t>Can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be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utilized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on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underutilized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land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or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on lands currently </a:t>
            </a:r>
            <a:r>
              <a:rPr sz="700" i="1" spc="-20" dirty="0">
                <a:latin typeface="Times New Roman" panose="02020603050405020304"/>
                <a:cs typeface="Times New Roman" panose="02020603050405020304"/>
              </a:rPr>
              <a:t>in 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commodity </a:t>
            </a:r>
            <a:r>
              <a:rPr sz="700" i="1" spc="-10" dirty="0">
                <a:latin typeface="Times New Roman" panose="02020603050405020304"/>
                <a:cs typeface="Times New Roman" panose="02020603050405020304"/>
              </a:rPr>
              <a:t>crop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production (“harvest”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on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surface </a:t>
            </a:r>
            <a:r>
              <a:rPr sz="700" i="1" spc="-10" dirty="0">
                <a:latin typeface="Times New Roman" panose="02020603050405020304"/>
                <a:cs typeface="Times New Roman" panose="02020603050405020304"/>
              </a:rPr>
              <a:t>and 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“harvest”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above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700" i="1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surface)</a:t>
            </a:r>
            <a:endParaRPr sz="7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Times New Roman" panose="02020603050405020304"/>
              <a:cs typeface="Times New Roman" panose="02020603050405020304"/>
            </a:endParaRPr>
          </a:p>
          <a:p>
            <a:pPr marL="12700" marR="26035" indent="199390">
              <a:lnSpc>
                <a:spcPct val="101000"/>
              </a:lnSpc>
            </a:pPr>
            <a:endParaRPr sz="750">
              <a:latin typeface="Times New Roman" panose="02020603050405020304"/>
              <a:cs typeface="Times New Roman" panose="02020603050405020304"/>
            </a:endParaRPr>
          </a:p>
          <a:p>
            <a:pPr marR="73025" algn="r">
              <a:lnSpc>
                <a:spcPct val="100000"/>
              </a:lnSpc>
              <a:spcBef>
                <a:spcPts val="620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2</a:t>
            </a:r>
            <a:endParaRPr sz="350">
              <a:latin typeface="Carlito"/>
              <a:cs typeface="Carlit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5" y="965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314325" cy="2011680"/>
            <a:chOff x="0" y="0"/>
            <a:chExt cx="314325" cy="201168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8895" cy="2011680"/>
            </a:xfrm>
            <a:custGeom>
              <a:avLst/>
              <a:gdLst/>
              <a:ahLst/>
              <a:cxnLst/>
              <a:rect l="l" t="t" r="r" b="b"/>
              <a:pathLst>
                <a:path w="48895" h="2011680">
                  <a:moveTo>
                    <a:pt x="48768" y="0"/>
                  </a:moveTo>
                  <a:lnTo>
                    <a:pt x="0" y="0"/>
                  </a:lnTo>
                  <a:lnTo>
                    <a:pt x="0" y="2011679"/>
                  </a:lnTo>
                  <a:lnTo>
                    <a:pt x="48768" y="2011679"/>
                  </a:lnTo>
                  <a:lnTo>
                    <a:pt x="48768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1923288"/>
              <a:ext cx="314325" cy="43180"/>
            </a:xfrm>
            <a:custGeom>
              <a:avLst/>
              <a:gdLst/>
              <a:ahLst/>
              <a:cxnLst/>
              <a:rect l="l" t="t" r="r" b="b"/>
              <a:pathLst>
                <a:path w="314325" h="43180">
                  <a:moveTo>
                    <a:pt x="313944" y="0"/>
                  </a:moveTo>
                  <a:lnTo>
                    <a:pt x="0" y="0"/>
                  </a:lnTo>
                  <a:lnTo>
                    <a:pt x="0" y="42672"/>
                  </a:lnTo>
                  <a:lnTo>
                    <a:pt x="313944" y="42672"/>
                  </a:lnTo>
                  <a:lnTo>
                    <a:pt x="313944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680" y="245109"/>
              <a:ext cx="93345" cy="159385"/>
            </a:xfrm>
            <a:custGeom>
              <a:avLst/>
              <a:gdLst/>
              <a:ahLst/>
              <a:cxnLst/>
              <a:rect l="l" t="t" r="r" b="b"/>
              <a:pathLst>
                <a:path w="93345" h="159385">
                  <a:moveTo>
                    <a:pt x="0" y="0"/>
                  </a:moveTo>
                  <a:lnTo>
                    <a:pt x="19596" y="159385"/>
                  </a:lnTo>
                  <a:lnTo>
                    <a:pt x="92811" y="850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1586483" y="0"/>
            <a:ext cx="1095756" cy="201167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30860" y="94234"/>
            <a:ext cx="134874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spc="-5" dirty="0">
                <a:latin typeface="Times New Roman" panose="02020603050405020304"/>
                <a:cs typeface="Times New Roman" panose="02020603050405020304"/>
              </a:rPr>
              <a:t>Why </a:t>
            </a:r>
            <a:r>
              <a:rPr sz="1300" i="1" spc="-15" dirty="0">
                <a:latin typeface="Times New Roman" panose="02020603050405020304"/>
                <a:cs typeface="Times New Roman" panose="02020603050405020304"/>
              </a:rPr>
              <a:t>Wind</a:t>
            </a:r>
            <a:r>
              <a:rPr sz="1300" i="1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i="1" spc="-5" dirty="0">
                <a:latin typeface="Times New Roman" panose="02020603050405020304"/>
                <a:cs typeface="Times New Roman" panose="02020603050405020304"/>
              </a:rPr>
              <a:t>Energy?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178" y="330783"/>
            <a:ext cx="1304290" cy="139954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13030" indent="-100965">
              <a:lnSpc>
                <a:spcPct val="100000"/>
              </a:lnSpc>
              <a:spcBef>
                <a:spcPts val="300"/>
              </a:spcBef>
              <a:buClr>
                <a:srgbClr val="00AFEF"/>
              </a:buClr>
              <a:buFont typeface="Arial" panose="020B0604020202020204"/>
              <a:buChar char="•"/>
              <a:tabLst>
                <a:tab pos="113030" algn="l"/>
              </a:tabLst>
            </a:pPr>
            <a:r>
              <a:rPr sz="750" i="1" spc="5" dirty="0">
                <a:latin typeface="Times New Roman" panose="02020603050405020304"/>
                <a:cs typeface="Times New Roman" panose="02020603050405020304"/>
              </a:rPr>
              <a:t>Clean, </a:t>
            </a:r>
            <a:r>
              <a:rPr sz="750" i="1" dirty="0">
                <a:latin typeface="Times New Roman" panose="02020603050405020304"/>
                <a:cs typeface="Times New Roman" panose="02020603050405020304"/>
              </a:rPr>
              <a:t>zero</a:t>
            </a:r>
            <a:r>
              <a:rPr sz="750" i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i="1" spc="5" dirty="0">
                <a:latin typeface="Times New Roman" panose="02020603050405020304"/>
                <a:cs typeface="Times New Roman" panose="02020603050405020304"/>
              </a:rPr>
              <a:t>emissions</a:t>
            </a:r>
            <a:endParaRPr sz="750">
              <a:latin typeface="Times New Roman" panose="02020603050405020304"/>
              <a:cs typeface="Times New Roman" panose="02020603050405020304"/>
            </a:endParaRPr>
          </a:p>
          <a:p>
            <a:pPr marL="314325" lvl="1" indent="-101600">
              <a:lnSpc>
                <a:spcPct val="100000"/>
              </a:lnSpc>
              <a:spcBef>
                <a:spcPts val="205"/>
              </a:spcBef>
              <a:buClr>
                <a:srgbClr val="00AFEF"/>
              </a:buClr>
              <a:buFont typeface="Arial" panose="020B0604020202020204"/>
              <a:buChar char="–"/>
              <a:tabLst>
                <a:tab pos="314960" algn="l"/>
              </a:tabLst>
            </a:pPr>
            <a:r>
              <a:rPr sz="750" i="1" spc="5" dirty="0">
                <a:latin typeface="Times New Roman" panose="02020603050405020304"/>
                <a:cs typeface="Times New Roman" panose="02020603050405020304"/>
              </a:rPr>
              <a:t>NOx, SO2, CO,</a:t>
            </a:r>
            <a:r>
              <a:rPr sz="750" i="1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i="1" spc="5" dirty="0">
                <a:latin typeface="Times New Roman" panose="02020603050405020304"/>
                <a:cs typeface="Times New Roman" panose="02020603050405020304"/>
              </a:rPr>
              <a:t>CO2</a:t>
            </a:r>
            <a:endParaRPr sz="750">
              <a:latin typeface="Times New Roman" panose="02020603050405020304"/>
              <a:cs typeface="Times New Roman" panose="02020603050405020304"/>
            </a:endParaRPr>
          </a:p>
          <a:p>
            <a:pPr marL="314325" lvl="1" indent="-101600">
              <a:lnSpc>
                <a:spcPct val="100000"/>
              </a:lnSpc>
              <a:spcBef>
                <a:spcPts val="195"/>
              </a:spcBef>
              <a:buClr>
                <a:srgbClr val="00AFEF"/>
              </a:buClr>
              <a:buFont typeface="Arial" panose="020B0604020202020204"/>
              <a:buChar char="–"/>
              <a:tabLst>
                <a:tab pos="314960" algn="l"/>
              </a:tabLst>
            </a:pPr>
            <a:r>
              <a:rPr sz="750" i="1" spc="5" dirty="0">
                <a:latin typeface="Times New Roman" panose="02020603050405020304"/>
                <a:cs typeface="Times New Roman" panose="02020603050405020304"/>
              </a:rPr>
              <a:t>Air </a:t>
            </a:r>
            <a:r>
              <a:rPr sz="750" i="1" spc="-5" dirty="0">
                <a:latin typeface="Times New Roman" panose="02020603050405020304"/>
                <a:cs typeface="Times New Roman" panose="02020603050405020304"/>
              </a:rPr>
              <a:t>quality, </a:t>
            </a:r>
            <a:r>
              <a:rPr sz="750" i="1" spc="5" dirty="0">
                <a:latin typeface="Times New Roman" panose="02020603050405020304"/>
                <a:cs typeface="Times New Roman" panose="02020603050405020304"/>
              </a:rPr>
              <a:t>water</a:t>
            </a:r>
            <a:r>
              <a:rPr sz="750" i="1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i="1" spc="5" dirty="0">
                <a:latin typeface="Times New Roman" panose="02020603050405020304"/>
                <a:cs typeface="Times New Roman" panose="02020603050405020304"/>
              </a:rPr>
              <a:t>quality</a:t>
            </a:r>
            <a:endParaRPr sz="750">
              <a:latin typeface="Times New Roman" panose="02020603050405020304"/>
              <a:cs typeface="Times New Roman" panose="02020603050405020304"/>
            </a:endParaRPr>
          </a:p>
          <a:p>
            <a:pPr marL="314325" lvl="1" indent="-101600">
              <a:lnSpc>
                <a:spcPct val="100000"/>
              </a:lnSpc>
              <a:spcBef>
                <a:spcPts val="200"/>
              </a:spcBef>
              <a:buClr>
                <a:srgbClr val="00AFEF"/>
              </a:buClr>
              <a:buFont typeface="Arial" panose="020B0604020202020204"/>
              <a:buChar char="–"/>
              <a:tabLst>
                <a:tab pos="314960" algn="l"/>
              </a:tabLst>
            </a:pPr>
            <a:r>
              <a:rPr sz="750" i="1" spc="5" dirty="0">
                <a:latin typeface="Times New Roman" panose="02020603050405020304"/>
                <a:cs typeface="Times New Roman" panose="02020603050405020304"/>
              </a:rPr>
              <a:t>Climate</a:t>
            </a:r>
            <a:r>
              <a:rPr sz="750" i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i="1" spc="5" dirty="0">
                <a:latin typeface="Times New Roman" panose="02020603050405020304"/>
                <a:cs typeface="Times New Roman" panose="02020603050405020304"/>
              </a:rPr>
              <a:t>change</a:t>
            </a:r>
            <a:endParaRPr sz="750">
              <a:latin typeface="Times New Roman" panose="02020603050405020304"/>
              <a:cs typeface="Times New Roman" panose="02020603050405020304"/>
            </a:endParaRPr>
          </a:p>
          <a:p>
            <a:pPr marL="113030" indent="-100965">
              <a:lnSpc>
                <a:spcPct val="100000"/>
              </a:lnSpc>
              <a:spcBef>
                <a:spcPts val="195"/>
              </a:spcBef>
              <a:buClr>
                <a:srgbClr val="00AFEF"/>
              </a:buClr>
              <a:buFont typeface="Arial" panose="020B0604020202020204"/>
              <a:buChar char="•"/>
              <a:tabLst>
                <a:tab pos="113030" algn="l"/>
              </a:tabLst>
            </a:pPr>
            <a:r>
              <a:rPr sz="750" i="1" spc="5" dirty="0">
                <a:latin typeface="Times New Roman" panose="02020603050405020304"/>
                <a:cs typeface="Times New Roman" panose="02020603050405020304"/>
              </a:rPr>
              <a:t>Reduce fossil </a:t>
            </a:r>
            <a:r>
              <a:rPr sz="750" i="1" dirty="0">
                <a:latin typeface="Times New Roman" panose="02020603050405020304"/>
                <a:cs typeface="Times New Roman" panose="02020603050405020304"/>
              </a:rPr>
              <a:t>fuel</a:t>
            </a:r>
            <a:r>
              <a:rPr sz="750" i="1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i="1" dirty="0">
                <a:latin typeface="Times New Roman" panose="02020603050405020304"/>
                <a:cs typeface="Times New Roman" panose="02020603050405020304"/>
              </a:rPr>
              <a:t>dependence</a:t>
            </a:r>
            <a:endParaRPr sz="750">
              <a:latin typeface="Times New Roman" panose="02020603050405020304"/>
              <a:cs typeface="Times New Roman" panose="02020603050405020304"/>
            </a:endParaRPr>
          </a:p>
          <a:p>
            <a:pPr marL="314325" lvl="1" indent="-101600">
              <a:lnSpc>
                <a:spcPct val="100000"/>
              </a:lnSpc>
              <a:spcBef>
                <a:spcPts val="205"/>
              </a:spcBef>
              <a:buClr>
                <a:srgbClr val="00AFEF"/>
              </a:buClr>
              <a:buFont typeface="Arial" panose="020B0604020202020204"/>
              <a:buChar char="–"/>
              <a:tabLst>
                <a:tab pos="314960" algn="l"/>
              </a:tabLst>
            </a:pPr>
            <a:r>
              <a:rPr sz="750" i="1" dirty="0">
                <a:latin typeface="Times New Roman" panose="02020603050405020304"/>
                <a:cs typeface="Times New Roman" panose="02020603050405020304"/>
              </a:rPr>
              <a:t>Energy</a:t>
            </a:r>
            <a:r>
              <a:rPr sz="750" i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i="1" dirty="0">
                <a:latin typeface="Times New Roman" panose="02020603050405020304"/>
                <a:cs typeface="Times New Roman" panose="02020603050405020304"/>
              </a:rPr>
              <a:t>independence</a:t>
            </a:r>
            <a:endParaRPr sz="750">
              <a:latin typeface="Times New Roman" panose="02020603050405020304"/>
              <a:cs typeface="Times New Roman" panose="02020603050405020304"/>
            </a:endParaRPr>
          </a:p>
          <a:p>
            <a:pPr marL="314325" marR="243205" lvl="1" indent="-100965">
              <a:lnSpc>
                <a:spcPct val="103000"/>
              </a:lnSpc>
              <a:spcBef>
                <a:spcPts val="165"/>
              </a:spcBef>
              <a:buClr>
                <a:srgbClr val="00AFEF"/>
              </a:buClr>
              <a:buFont typeface="Arial" panose="020B0604020202020204"/>
              <a:buChar char="–"/>
              <a:tabLst>
                <a:tab pos="314960" algn="l"/>
              </a:tabLst>
            </a:pPr>
            <a:r>
              <a:rPr sz="750" i="1" spc="5" dirty="0">
                <a:latin typeface="Times New Roman" panose="02020603050405020304"/>
                <a:cs typeface="Times New Roman" panose="02020603050405020304"/>
              </a:rPr>
              <a:t>Domestic</a:t>
            </a:r>
            <a:r>
              <a:rPr sz="750" i="1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i="1" dirty="0">
                <a:latin typeface="Times New Roman" panose="02020603050405020304"/>
                <a:cs typeface="Times New Roman" panose="02020603050405020304"/>
              </a:rPr>
              <a:t>energy—  </a:t>
            </a:r>
            <a:r>
              <a:rPr sz="750" i="1" spc="5" dirty="0">
                <a:latin typeface="Times New Roman" panose="02020603050405020304"/>
                <a:cs typeface="Times New Roman" panose="02020603050405020304"/>
              </a:rPr>
              <a:t>national</a:t>
            </a:r>
            <a:r>
              <a:rPr sz="750" i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i="1" spc="5" dirty="0">
                <a:latin typeface="Times New Roman" panose="02020603050405020304"/>
                <a:cs typeface="Times New Roman" panose="02020603050405020304"/>
              </a:rPr>
              <a:t>security</a:t>
            </a:r>
            <a:endParaRPr sz="750">
              <a:latin typeface="Times New Roman" panose="02020603050405020304"/>
              <a:cs typeface="Times New Roman" panose="02020603050405020304"/>
            </a:endParaRPr>
          </a:p>
          <a:p>
            <a:pPr marL="113030" indent="-100965">
              <a:lnSpc>
                <a:spcPct val="100000"/>
              </a:lnSpc>
              <a:spcBef>
                <a:spcPts val="195"/>
              </a:spcBef>
              <a:buClr>
                <a:srgbClr val="00AFEF"/>
              </a:buClr>
              <a:buFont typeface="Arial" panose="020B0604020202020204"/>
              <a:buChar char="•"/>
              <a:tabLst>
                <a:tab pos="113030" algn="l"/>
              </a:tabLst>
            </a:pPr>
            <a:r>
              <a:rPr sz="750" i="1" spc="5" dirty="0">
                <a:latin typeface="Times New Roman" panose="02020603050405020304"/>
                <a:cs typeface="Times New Roman" panose="02020603050405020304"/>
              </a:rPr>
              <a:t>Renewable</a:t>
            </a:r>
            <a:endParaRPr sz="750">
              <a:latin typeface="Times New Roman" panose="02020603050405020304"/>
              <a:cs typeface="Times New Roman" panose="02020603050405020304"/>
            </a:endParaRPr>
          </a:p>
          <a:p>
            <a:pPr marL="314325" lvl="1" indent="-101600">
              <a:lnSpc>
                <a:spcPct val="100000"/>
              </a:lnSpc>
              <a:spcBef>
                <a:spcPts val="205"/>
              </a:spcBef>
              <a:buClr>
                <a:srgbClr val="00AFEF"/>
              </a:buClr>
              <a:buFont typeface="Arial" panose="020B0604020202020204"/>
              <a:buChar char="–"/>
              <a:tabLst>
                <a:tab pos="314960" algn="l"/>
              </a:tabLst>
            </a:pPr>
            <a:r>
              <a:rPr sz="750" i="1" spc="10" dirty="0">
                <a:latin typeface="Times New Roman" panose="02020603050405020304"/>
                <a:cs typeface="Times New Roman" panose="02020603050405020304"/>
              </a:rPr>
              <a:t>No </a:t>
            </a:r>
            <a:r>
              <a:rPr sz="750" i="1" spc="5" dirty="0">
                <a:latin typeface="Times New Roman" panose="02020603050405020304"/>
                <a:cs typeface="Times New Roman" panose="02020603050405020304"/>
              </a:rPr>
              <a:t>fuel-price</a:t>
            </a:r>
            <a:r>
              <a:rPr sz="750" i="1" spc="-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i="1" spc="5" dirty="0">
                <a:latin typeface="Times New Roman" panose="02020603050405020304"/>
                <a:cs typeface="Times New Roman" panose="02020603050405020304"/>
              </a:rPr>
              <a:t>volatility</a:t>
            </a:r>
            <a:endParaRPr sz="7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314325" cy="2011680"/>
            <a:chOff x="0" y="0"/>
            <a:chExt cx="314325" cy="201168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8895" cy="2011680"/>
            </a:xfrm>
            <a:custGeom>
              <a:avLst/>
              <a:gdLst/>
              <a:ahLst/>
              <a:cxnLst/>
              <a:rect l="l" t="t" r="r" b="b"/>
              <a:pathLst>
                <a:path w="48895" h="2011680">
                  <a:moveTo>
                    <a:pt x="48767" y="0"/>
                  </a:moveTo>
                  <a:lnTo>
                    <a:pt x="0" y="0"/>
                  </a:lnTo>
                  <a:lnTo>
                    <a:pt x="0" y="2011679"/>
                  </a:lnTo>
                  <a:lnTo>
                    <a:pt x="48767" y="2011679"/>
                  </a:lnTo>
                  <a:lnTo>
                    <a:pt x="48767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1923288"/>
              <a:ext cx="314325" cy="43180"/>
            </a:xfrm>
            <a:custGeom>
              <a:avLst/>
              <a:gdLst/>
              <a:ahLst/>
              <a:cxnLst/>
              <a:rect l="l" t="t" r="r" b="b"/>
              <a:pathLst>
                <a:path w="314325" h="43180">
                  <a:moveTo>
                    <a:pt x="313943" y="0"/>
                  </a:moveTo>
                  <a:lnTo>
                    <a:pt x="0" y="0"/>
                  </a:lnTo>
                  <a:lnTo>
                    <a:pt x="0" y="42672"/>
                  </a:lnTo>
                  <a:lnTo>
                    <a:pt x="313943" y="42672"/>
                  </a:lnTo>
                  <a:lnTo>
                    <a:pt x="313943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976884" y="1923288"/>
            <a:ext cx="1705610" cy="43180"/>
          </a:xfrm>
          <a:custGeom>
            <a:avLst/>
            <a:gdLst/>
            <a:ahLst/>
            <a:cxnLst/>
            <a:rect l="l" t="t" r="r" b="b"/>
            <a:pathLst>
              <a:path w="1705610" h="43180">
                <a:moveTo>
                  <a:pt x="0" y="42672"/>
                </a:moveTo>
                <a:lnTo>
                  <a:pt x="1705355" y="42672"/>
                </a:lnTo>
                <a:lnTo>
                  <a:pt x="1705355" y="0"/>
                </a:lnTo>
                <a:lnTo>
                  <a:pt x="0" y="0"/>
                </a:lnTo>
                <a:lnTo>
                  <a:pt x="0" y="42672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668" y="168020"/>
            <a:ext cx="93345" cy="159385"/>
          </a:xfrm>
          <a:custGeom>
            <a:avLst/>
            <a:gdLst/>
            <a:ahLst/>
            <a:cxnLst/>
            <a:rect l="l" t="t" r="r" b="b"/>
            <a:pathLst>
              <a:path w="93345" h="159385">
                <a:moveTo>
                  <a:pt x="0" y="0"/>
                </a:moveTo>
                <a:lnTo>
                  <a:pt x="19558" y="159257"/>
                </a:lnTo>
                <a:lnTo>
                  <a:pt x="92837" y="84962"/>
                </a:lnTo>
                <a:lnTo>
                  <a:pt x="0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21589" y="0"/>
            <a:ext cx="163512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spc="-10" dirty="0">
                <a:latin typeface="Times New Roman" panose="02020603050405020304"/>
                <a:cs typeface="Times New Roman" panose="02020603050405020304"/>
              </a:rPr>
              <a:t>History </a:t>
            </a:r>
            <a:r>
              <a:rPr sz="1300" i="1" spc="-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1300" i="1" spc="-20" dirty="0">
                <a:latin typeface="Times New Roman" panose="02020603050405020304"/>
                <a:cs typeface="Times New Roman" panose="02020603050405020304"/>
              </a:rPr>
              <a:t>Wind</a:t>
            </a:r>
            <a:r>
              <a:rPr sz="1300" i="1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i="1" spc="-10" dirty="0">
                <a:latin typeface="Times New Roman" panose="02020603050405020304"/>
                <a:cs typeface="Times New Roman" panose="02020603050405020304"/>
              </a:rPr>
              <a:t>Energy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563" y="199135"/>
            <a:ext cx="2566670" cy="17481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8105" marR="6985" indent="-66040" algn="just">
              <a:lnSpc>
                <a:spcPct val="107000"/>
              </a:lnSpc>
              <a:spcBef>
                <a:spcPts val="90"/>
              </a:spcBef>
              <a:buClr>
                <a:srgbClr val="00AFEF"/>
              </a:buClr>
              <a:buFont typeface="Arial" panose="020B0604020202020204"/>
              <a:buChar char="•"/>
              <a:tabLst>
                <a:tab pos="78740" algn="l"/>
              </a:tabLst>
            </a:pPr>
            <a:r>
              <a:rPr sz="550" b="1" i="1" spc="15" dirty="0">
                <a:latin typeface="Times New Roman" panose="02020603050405020304"/>
                <a:cs typeface="Times New Roman" panose="02020603050405020304"/>
              </a:rPr>
              <a:t>5000 </a:t>
            </a:r>
            <a:r>
              <a:rPr sz="550" b="1" i="1" spc="20" dirty="0">
                <a:latin typeface="Times New Roman" panose="02020603050405020304"/>
                <a:cs typeface="Times New Roman" panose="02020603050405020304"/>
              </a:rPr>
              <a:t>BC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-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history </a:t>
            </a: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wind energy is certainly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long,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beginning thousands </a:t>
            </a:r>
            <a:r>
              <a:rPr sz="550" i="1" dirty="0">
                <a:latin typeface="Times New Roman" panose="02020603050405020304"/>
                <a:cs typeface="Times New Roman" panose="02020603050405020304"/>
              </a:rPr>
              <a:t>of 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years ago. </a:t>
            </a: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It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is estimated that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as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early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as 5000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B.C. sail boats </a:t>
            </a: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were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use </a:t>
            </a:r>
            <a:r>
              <a:rPr sz="550" i="1" spc="20" dirty="0">
                <a:latin typeface="Times New Roman" panose="02020603050405020304"/>
                <a:cs typeface="Times New Roman" panose="02020603050405020304"/>
              </a:rPr>
              <a:t>on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the 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Nile</a:t>
            </a:r>
            <a:r>
              <a:rPr sz="550" i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550" i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20" dirty="0">
                <a:latin typeface="Times New Roman" panose="02020603050405020304"/>
                <a:cs typeface="Times New Roman" panose="02020603050405020304"/>
              </a:rPr>
              <a:t>boatmen</a:t>
            </a:r>
            <a:r>
              <a:rPr sz="550" i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realized</a:t>
            </a:r>
            <a:r>
              <a:rPr sz="550" i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550" i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power</a:t>
            </a: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550" i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wind.</a:t>
            </a:r>
            <a:endParaRPr sz="550">
              <a:latin typeface="Times New Roman" panose="02020603050405020304"/>
              <a:cs typeface="Times New Roman" panose="02020603050405020304"/>
            </a:endParaRPr>
          </a:p>
          <a:p>
            <a:pPr marL="78105" marR="6985" indent="-66040" algn="just">
              <a:lnSpc>
                <a:spcPct val="107000"/>
              </a:lnSpc>
              <a:spcBef>
                <a:spcPts val="165"/>
              </a:spcBef>
              <a:buClr>
                <a:srgbClr val="00AFEF"/>
              </a:buClr>
              <a:buFont typeface="Arial" panose="020B0604020202020204"/>
              <a:buChar char="•"/>
              <a:tabLst>
                <a:tab pos="78740" algn="l"/>
              </a:tabLst>
            </a:pPr>
            <a:r>
              <a:rPr sz="550" b="1" i="1" spc="15" dirty="0">
                <a:latin typeface="Times New Roman" panose="02020603050405020304"/>
                <a:cs typeface="Times New Roman" panose="02020603050405020304"/>
              </a:rPr>
              <a:t>500-900 </a:t>
            </a:r>
            <a:r>
              <a:rPr sz="550" b="1" i="1" spc="25" dirty="0">
                <a:latin typeface="Times New Roman" panose="02020603050405020304"/>
                <a:cs typeface="Times New Roman" panose="02020603050405020304"/>
              </a:rPr>
              <a:t>AD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-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first windmills </a:t>
            </a: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were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developed </a:t>
            </a: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Persia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for pumping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water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and  grinding</a:t>
            </a:r>
            <a:r>
              <a:rPr sz="550" i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grain.</a:t>
            </a:r>
            <a:endParaRPr sz="550">
              <a:latin typeface="Times New Roman" panose="02020603050405020304"/>
              <a:cs typeface="Times New Roman" panose="02020603050405020304"/>
            </a:endParaRPr>
          </a:p>
          <a:p>
            <a:pPr marL="78105" indent="-66040" algn="just">
              <a:lnSpc>
                <a:spcPct val="100000"/>
              </a:lnSpc>
              <a:spcBef>
                <a:spcPts val="215"/>
              </a:spcBef>
              <a:buClr>
                <a:srgbClr val="00AFEF"/>
              </a:buClr>
              <a:buFont typeface="Arial" panose="020B0604020202020204"/>
              <a:buChar char="•"/>
              <a:tabLst>
                <a:tab pos="78740" algn="l"/>
              </a:tabLst>
            </a:pPr>
            <a:r>
              <a:rPr sz="550" b="1" i="1" spc="20" dirty="0">
                <a:latin typeface="Times New Roman" panose="02020603050405020304"/>
                <a:cs typeface="Times New Roman" panose="02020603050405020304"/>
              </a:rPr>
              <a:t>About</a:t>
            </a:r>
            <a:r>
              <a:rPr sz="550" b="1" i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b="1" i="1" spc="20" dirty="0">
                <a:latin typeface="Times New Roman" panose="02020603050405020304"/>
                <a:cs typeface="Times New Roman" panose="02020603050405020304"/>
              </a:rPr>
              <a:t>1300</a:t>
            </a:r>
            <a:r>
              <a:rPr sz="550" b="1" i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 The</a:t>
            </a:r>
            <a:r>
              <a:rPr sz="550" i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first</a:t>
            </a: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horizontal-axis</a:t>
            </a:r>
            <a:r>
              <a:rPr sz="550" i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windmills</a:t>
            </a:r>
            <a:r>
              <a:rPr sz="550" i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appeared</a:t>
            </a:r>
            <a:r>
              <a:rPr sz="550" i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 Western</a:t>
            </a:r>
            <a:r>
              <a:rPr sz="550" i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Europe.</a:t>
            </a:r>
            <a:endParaRPr sz="550">
              <a:latin typeface="Times New Roman" panose="02020603050405020304"/>
              <a:cs typeface="Times New Roman" panose="02020603050405020304"/>
            </a:endParaRPr>
          </a:p>
          <a:p>
            <a:pPr marL="78105" marR="5080" indent="-66040" algn="just">
              <a:lnSpc>
                <a:spcPct val="106000"/>
              </a:lnSpc>
              <a:spcBef>
                <a:spcPts val="120"/>
              </a:spcBef>
              <a:buClr>
                <a:srgbClr val="00AFEF"/>
              </a:buClr>
              <a:buFont typeface="Arial" panose="020B0604020202020204"/>
              <a:buChar char="•"/>
              <a:tabLst>
                <a:tab pos="78740" algn="l"/>
              </a:tabLst>
            </a:pPr>
            <a:r>
              <a:rPr sz="600" b="1" i="1" spc="-10" dirty="0">
                <a:latin typeface="Times New Roman" panose="02020603050405020304"/>
                <a:cs typeface="Times New Roman" panose="02020603050405020304"/>
              </a:rPr>
              <a:t>1850s </a:t>
            </a:r>
            <a:r>
              <a:rPr sz="600" i="1" spc="-5" dirty="0">
                <a:latin typeface="Times New Roman" panose="02020603050405020304"/>
                <a:cs typeface="Times New Roman" panose="02020603050405020304"/>
              </a:rPr>
              <a:t>- </a:t>
            </a:r>
            <a:r>
              <a:rPr sz="600" i="1" spc="-10" dirty="0">
                <a:latin typeface="Times New Roman" panose="02020603050405020304"/>
                <a:cs typeface="Times New Roman" panose="02020603050405020304"/>
              </a:rPr>
              <a:t>Daniel Halladay and John Burnham worked </a:t>
            </a:r>
            <a:r>
              <a:rPr sz="600" i="1" spc="-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600" i="1" spc="-10" dirty="0">
                <a:latin typeface="Times New Roman" panose="02020603050405020304"/>
                <a:cs typeface="Times New Roman" panose="02020603050405020304"/>
              </a:rPr>
              <a:t>build and sell </a:t>
            </a:r>
            <a:r>
              <a:rPr sz="600" i="1" spc="-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600" i="1" spc="-10" dirty="0">
                <a:latin typeface="Times New Roman" panose="02020603050405020304"/>
                <a:cs typeface="Times New Roman" panose="02020603050405020304"/>
              </a:rPr>
              <a:t>Halladay 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Windmill,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which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was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designed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for the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American </a:t>
            </a:r>
            <a:r>
              <a:rPr sz="550" i="1" dirty="0">
                <a:latin typeface="Times New Roman" panose="02020603050405020304"/>
                <a:cs typeface="Times New Roman" panose="02020603050405020304"/>
              </a:rPr>
              <a:t>West. </a:t>
            </a: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It </a:t>
            </a:r>
            <a:r>
              <a:rPr sz="550" i="1" spc="20" dirty="0">
                <a:latin typeface="Times New Roman" panose="02020603050405020304"/>
                <a:cs typeface="Times New Roman" panose="02020603050405020304"/>
              </a:rPr>
              <a:t>had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an open tower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design  </a:t>
            </a:r>
            <a:r>
              <a:rPr sz="550" i="1" spc="20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thin wooden blades. They also started the U.S. </a:t>
            </a: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Wind </a:t>
            </a:r>
            <a:r>
              <a:rPr sz="550" i="1" spc="20" dirty="0">
                <a:latin typeface="Times New Roman" panose="02020603050405020304"/>
                <a:cs typeface="Times New Roman" panose="02020603050405020304"/>
              </a:rPr>
              <a:t>Engine</a:t>
            </a:r>
            <a:r>
              <a:rPr sz="550" i="1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Company.</a:t>
            </a:r>
            <a:endParaRPr sz="550">
              <a:latin typeface="Times New Roman" panose="02020603050405020304"/>
              <a:cs typeface="Times New Roman" panose="02020603050405020304"/>
            </a:endParaRPr>
          </a:p>
          <a:p>
            <a:pPr marL="78105" marR="5080" indent="-66040" algn="just">
              <a:lnSpc>
                <a:spcPct val="107000"/>
              </a:lnSpc>
              <a:spcBef>
                <a:spcPts val="175"/>
              </a:spcBef>
              <a:buClr>
                <a:srgbClr val="00AFEF"/>
              </a:buClr>
              <a:buFont typeface="Arial" panose="020B0604020202020204"/>
              <a:buChar char="•"/>
              <a:tabLst>
                <a:tab pos="78740" algn="l"/>
              </a:tabLst>
            </a:pPr>
            <a:r>
              <a:rPr sz="550" b="1" i="1" spc="15" dirty="0">
                <a:latin typeface="Times New Roman" panose="02020603050405020304"/>
                <a:cs typeface="Times New Roman" panose="02020603050405020304"/>
              </a:rPr>
              <a:t>Late 1880s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-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Thomas O.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Perry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conducted over 5,000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wind experiments trying </a:t>
            </a:r>
            <a:r>
              <a:rPr sz="550" i="1" dirty="0">
                <a:latin typeface="Times New Roman" panose="02020603050405020304"/>
                <a:cs typeface="Times New Roman" panose="02020603050405020304"/>
              </a:rPr>
              <a:t>to 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build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better windmill.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He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invented the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mathematical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windmill,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which used gears 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to reduce the </a:t>
            </a: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rotational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speed </a:t>
            </a: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the blades. This design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had </a:t>
            </a: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greater lifting </a:t>
            </a:r>
            <a:r>
              <a:rPr sz="550" i="1" dirty="0">
                <a:latin typeface="Times New Roman" panose="02020603050405020304"/>
                <a:cs typeface="Times New Roman" panose="02020603050405020304"/>
              </a:rPr>
              <a:t>power, 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smoother pumping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action,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could operate </a:t>
            </a: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lighter winds. Perry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started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the 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Aermotor </a:t>
            </a:r>
            <a:r>
              <a:rPr sz="550" i="1" spc="20" dirty="0">
                <a:latin typeface="Times New Roman" panose="02020603050405020304"/>
                <a:cs typeface="Times New Roman" panose="02020603050405020304"/>
              </a:rPr>
              <a:t>Company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with </a:t>
            </a: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LaVerne</a:t>
            </a:r>
            <a:r>
              <a:rPr sz="550" i="1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Noyes.</a:t>
            </a:r>
            <a:endParaRPr sz="550">
              <a:latin typeface="Times New Roman" panose="02020603050405020304"/>
              <a:cs typeface="Times New Roman" panose="02020603050405020304"/>
            </a:endParaRPr>
          </a:p>
          <a:p>
            <a:pPr marL="78105" marR="5715" indent="-66040" algn="just">
              <a:lnSpc>
                <a:spcPct val="104000"/>
              </a:lnSpc>
              <a:spcBef>
                <a:spcPts val="190"/>
              </a:spcBef>
              <a:buClr>
                <a:srgbClr val="00AFEF"/>
              </a:buClr>
              <a:buFont typeface="Arial" panose="020B0604020202020204"/>
              <a:buChar char="•"/>
              <a:tabLst>
                <a:tab pos="78740" algn="l"/>
              </a:tabLst>
            </a:pP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development </a:t>
            </a: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steel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blades </a:t>
            </a:r>
            <a:r>
              <a:rPr sz="550" i="1" spc="20" dirty="0">
                <a:latin typeface="Times New Roman" panose="02020603050405020304"/>
                <a:cs typeface="Times New Roman" panose="02020603050405020304"/>
              </a:rPr>
              <a:t>made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windmills more efficient.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6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million  </a:t>
            </a:r>
            <a:r>
              <a:rPr sz="600" i="1" spc="-10" dirty="0">
                <a:latin typeface="Times New Roman" panose="02020603050405020304"/>
                <a:cs typeface="Times New Roman" panose="02020603050405020304"/>
              </a:rPr>
              <a:t>windmills sprang </a:t>
            </a:r>
            <a:r>
              <a:rPr sz="600" i="1" spc="-5" dirty="0">
                <a:latin typeface="Times New Roman" panose="02020603050405020304"/>
                <a:cs typeface="Times New Roman" panose="02020603050405020304"/>
              </a:rPr>
              <a:t>up </a:t>
            </a:r>
            <a:r>
              <a:rPr sz="600" i="1" spc="-15" dirty="0">
                <a:latin typeface="Times New Roman" panose="02020603050405020304"/>
                <a:cs typeface="Times New Roman" panose="02020603050405020304"/>
              </a:rPr>
              <a:t>across </a:t>
            </a:r>
            <a:r>
              <a:rPr sz="600" i="1" spc="-10" dirty="0">
                <a:latin typeface="Times New Roman" panose="02020603050405020304"/>
                <a:cs typeface="Times New Roman" panose="02020603050405020304"/>
              </a:rPr>
              <a:t>America </a:t>
            </a:r>
            <a:r>
              <a:rPr sz="600" i="1" spc="-5" dirty="0">
                <a:latin typeface="Times New Roman" panose="02020603050405020304"/>
                <a:cs typeface="Times New Roman" panose="02020603050405020304"/>
              </a:rPr>
              <a:t>as </a:t>
            </a:r>
            <a:r>
              <a:rPr sz="600" i="1" spc="-10" dirty="0">
                <a:latin typeface="Times New Roman" panose="02020603050405020304"/>
                <a:cs typeface="Times New Roman" panose="02020603050405020304"/>
              </a:rPr>
              <a:t>settlers moved  west. Homesteaders </a:t>
            </a:r>
            <a:r>
              <a:rPr sz="600" i="1" spc="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purchased windmills from traveling salesman,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or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they built their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own.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Mills </a:t>
            </a: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were 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used</a:t>
            </a:r>
            <a:r>
              <a:rPr sz="550" i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550" i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20" dirty="0">
                <a:latin typeface="Times New Roman" panose="02020603050405020304"/>
                <a:cs typeface="Times New Roman" panose="02020603050405020304"/>
              </a:rPr>
              <a:t>pump</a:t>
            </a:r>
            <a:r>
              <a:rPr sz="550" i="1" dirty="0">
                <a:latin typeface="Times New Roman" panose="02020603050405020304"/>
                <a:cs typeface="Times New Roman" panose="02020603050405020304"/>
              </a:rPr>
              <a:t> water,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shell</a:t>
            </a:r>
            <a:r>
              <a:rPr sz="550" i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corn,</a:t>
            </a:r>
            <a:r>
              <a:rPr sz="550" i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saw wood,</a:t>
            </a: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2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550" i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mill</a:t>
            </a:r>
            <a:r>
              <a:rPr sz="550" i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grain.</a:t>
            </a:r>
            <a:endParaRPr sz="5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5" y="0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314325" cy="2011680"/>
            <a:chOff x="0" y="0"/>
            <a:chExt cx="314325" cy="201168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8895" cy="2011680"/>
            </a:xfrm>
            <a:custGeom>
              <a:avLst/>
              <a:gdLst/>
              <a:ahLst/>
              <a:cxnLst/>
              <a:rect l="l" t="t" r="r" b="b"/>
              <a:pathLst>
                <a:path w="48895" h="2011680">
                  <a:moveTo>
                    <a:pt x="48768" y="0"/>
                  </a:moveTo>
                  <a:lnTo>
                    <a:pt x="0" y="0"/>
                  </a:lnTo>
                  <a:lnTo>
                    <a:pt x="0" y="2011680"/>
                  </a:lnTo>
                  <a:lnTo>
                    <a:pt x="48768" y="2011680"/>
                  </a:lnTo>
                  <a:lnTo>
                    <a:pt x="48768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1923288"/>
              <a:ext cx="314325" cy="43180"/>
            </a:xfrm>
            <a:custGeom>
              <a:avLst/>
              <a:gdLst/>
              <a:ahLst/>
              <a:cxnLst/>
              <a:rect l="l" t="t" r="r" b="b"/>
              <a:pathLst>
                <a:path w="314325" h="43180">
                  <a:moveTo>
                    <a:pt x="313944" y="0"/>
                  </a:moveTo>
                  <a:lnTo>
                    <a:pt x="0" y="0"/>
                  </a:lnTo>
                  <a:lnTo>
                    <a:pt x="0" y="42671"/>
                  </a:lnTo>
                  <a:lnTo>
                    <a:pt x="313944" y="42671"/>
                  </a:lnTo>
                  <a:lnTo>
                    <a:pt x="313944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976883" y="1923288"/>
            <a:ext cx="1705610" cy="43180"/>
          </a:xfrm>
          <a:custGeom>
            <a:avLst/>
            <a:gdLst/>
            <a:ahLst/>
            <a:cxnLst/>
            <a:rect l="l" t="t" r="r" b="b"/>
            <a:pathLst>
              <a:path w="1705610" h="43180">
                <a:moveTo>
                  <a:pt x="0" y="42671"/>
                </a:moveTo>
                <a:lnTo>
                  <a:pt x="1705355" y="42671"/>
                </a:lnTo>
                <a:lnTo>
                  <a:pt x="1705355" y="0"/>
                </a:lnTo>
                <a:lnTo>
                  <a:pt x="0" y="0"/>
                </a:lnTo>
                <a:lnTo>
                  <a:pt x="0" y="42671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680" y="167894"/>
            <a:ext cx="93345" cy="159385"/>
          </a:xfrm>
          <a:custGeom>
            <a:avLst/>
            <a:gdLst/>
            <a:ahLst/>
            <a:cxnLst/>
            <a:rect l="l" t="t" r="r" b="b"/>
            <a:pathLst>
              <a:path w="93345" h="159385">
                <a:moveTo>
                  <a:pt x="0" y="0"/>
                </a:moveTo>
                <a:lnTo>
                  <a:pt x="19596" y="159385"/>
                </a:lnTo>
                <a:lnTo>
                  <a:pt x="92811" y="85090"/>
                </a:lnTo>
                <a:lnTo>
                  <a:pt x="0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26491" y="79629"/>
            <a:ext cx="163512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spc="-10" dirty="0">
                <a:latin typeface="Times New Roman" panose="02020603050405020304"/>
                <a:cs typeface="Times New Roman" panose="02020603050405020304"/>
              </a:rPr>
              <a:t>History </a:t>
            </a:r>
            <a:r>
              <a:rPr sz="1300" i="1" spc="-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1300" i="1" spc="-20" dirty="0">
                <a:latin typeface="Times New Roman" panose="02020603050405020304"/>
                <a:cs typeface="Times New Roman" panose="02020603050405020304"/>
              </a:rPr>
              <a:t>Wind</a:t>
            </a:r>
            <a:r>
              <a:rPr sz="1300" i="1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i="1" spc="-10" dirty="0">
                <a:latin typeface="Times New Roman" panose="02020603050405020304"/>
                <a:cs typeface="Times New Roman" panose="02020603050405020304"/>
              </a:rPr>
              <a:t>Energy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004" y="659079"/>
            <a:ext cx="748030" cy="93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9280" algn="l"/>
              </a:tabLst>
            </a:pPr>
            <a:r>
              <a:rPr sz="450" spc="-55" dirty="0">
                <a:latin typeface="Trebuchet MS" panose="020B0603020202020204"/>
                <a:cs typeface="Trebuchet MS" panose="020B0603020202020204"/>
              </a:rPr>
              <a:t>t</a:t>
            </a:r>
            <a:r>
              <a:rPr sz="450" spc="-10" dirty="0">
                <a:latin typeface="Trebuchet MS" panose="020B0603020202020204"/>
                <a:cs typeface="Trebuchet MS" panose="020B0603020202020204"/>
              </a:rPr>
              <a:t>he</a:t>
            </a:r>
            <a:r>
              <a:rPr sz="450" spc="-3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450" spc="-15" dirty="0">
                <a:latin typeface="Trebuchet MS" panose="020B0603020202020204"/>
                <a:cs typeface="Trebuchet MS" panose="020B0603020202020204"/>
              </a:rPr>
              <a:t>po</a:t>
            </a:r>
            <a:r>
              <a:rPr sz="450" spc="-40" dirty="0">
                <a:latin typeface="Trebuchet MS" panose="020B0603020202020204"/>
                <a:cs typeface="Trebuchet MS" panose="020B0603020202020204"/>
              </a:rPr>
              <a:t>w</a:t>
            </a:r>
            <a:r>
              <a:rPr sz="450" spc="-20" dirty="0">
                <a:latin typeface="Trebuchet MS" panose="020B0603020202020204"/>
                <a:cs typeface="Trebuchet MS" panose="020B0603020202020204"/>
              </a:rPr>
              <a:t>e</a:t>
            </a:r>
            <a:r>
              <a:rPr sz="450" spc="-30" dirty="0">
                <a:latin typeface="Trebuchet MS" panose="020B0603020202020204"/>
                <a:cs typeface="Trebuchet MS" panose="020B0603020202020204"/>
              </a:rPr>
              <a:t>r</a:t>
            </a:r>
            <a:r>
              <a:rPr sz="450" spc="-4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450" spc="-15" dirty="0">
                <a:latin typeface="Trebuchet MS" panose="020B0603020202020204"/>
                <a:cs typeface="Trebuchet MS" panose="020B0603020202020204"/>
              </a:rPr>
              <a:t>o</a:t>
            </a:r>
            <a:r>
              <a:rPr sz="450" spc="-35" dirty="0">
                <a:latin typeface="Trebuchet MS" panose="020B0603020202020204"/>
                <a:cs typeface="Trebuchet MS" panose="020B0603020202020204"/>
              </a:rPr>
              <a:t>f</a:t>
            </a:r>
            <a:r>
              <a:rPr sz="450" spc="-3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450" spc="-40" dirty="0">
                <a:latin typeface="Trebuchet MS" panose="020B0603020202020204"/>
                <a:cs typeface="Trebuchet MS" panose="020B0603020202020204"/>
              </a:rPr>
              <a:t>wi</a:t>
            </a:r>
            <a:r>
              <a:rPr sz="450" spc="-10" dirty="0">
                <a:latin typeface="Trebuchet MS" panose="020B0603020202020204"/>
                <a:cs typeface="Trebuchet MS" panose="020B0603020202020204"/>
              </a:rPr>
              <a:t>n</a:t>
            </a:r>
            <a:r>
              <a:rPr sz="450" spc="-15" dirty="0">
                <a:latin typeface="Trebuchet MS" panose="020B0603020202020204"/>
                <a:cs typeface="Trebuchet MS" panose="020B0603020202020204"/>
              </a:rPr>
              <a:t>d</a:t>
            </a:r>
            <a:r>
              <a:rPr sz="450" dirty="0">
                <a:latin typeface="Trebuchet MS" panose="020B0603020202020204"/>
                <a:cs typeface="Trebuchet MS" panose="020B0603020202020204"/>
              </a:rPr>
              <a:t>	</a:t>
            </a:r>
            <a:r>
              <a:rPr sz="450" spc="-15" dirty="0">
                <a:latin typeface="Trebuchet MS" panose="020B0603020202020204"/>
                <a:cs typeface="Trebuchet MS" panose="020B0603020202020204"/>
              </a:rPr>
              <a:t>P</a:t>
            </a:r>
            <a:r>
              <a:rPr sz="450" spc="-20" dirty="0">
                <a:latin typeface="Trebuchet MS" panose="020B0603020202020204"/>
                <a:cs typeface="Trebuchet MS" panose="020B0603020202020204"/>
              </a:rPr>
              <a:t>e</a:t>
            </a:r>
            <a:r>
              <a:rPr sz="450" spc="-35" dirty="0">
                <a:latin typeface="Trebuchet MS" panose="020B0603020202020204"/>
                <a:cs typeface="Trebuchet MS" panose="020B0603020202020204"/>
              </a:rPr>
              <a:t>r</a:t>
            </a:r>
            <a:r>
              <a:rPr sz="450" spc="15" dirty="0">
                <a:latin typeface="Trebuchet MS" panose="020B0603020202020204"/>
                <a:cs typeface="Trebuchet MS" panose="020B0603020202020204"/>
              </a:rPr>
              <a:t>s</a:t>
            </a:r>
            <a:r>
              <a:rPr sz="450" spc="-40" dirty="0">
                <a:latin typeface="Trebuchet MS" panose="020B0603020202020204"/>
                <a:cs typeface="Trebuchet MS" panose="020B0603020202020204"/>
              </a:rPr>
              <a:t>i</a:t>
            </a:r>
            <a:r>
              <a:rPr sz="450" spc="-5" dirty="0">
                <a:latin typeface="Trebuchet MS" panose="020B0603020202020204"/>
                <a:cs typeface="Trebuchet MS" panose="020B0603020202020204"/>
              </a:rPr>
              <a:t>a</a:t>
            </a:r>
            <a:endParaRPr sz="4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2112" y="458216"/>
            <a:ext cx="1092200" cy="933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14020" algn="l"/>
                <a:tab pos="866775" algn="l"/>
              </a:tabLst>
            </a:pPr>
            <a:r>
              <a:rPr sz="450" b="1" spc="10" dirty="0">
                <a:latin typeface="Arial" panose="020B0604020202020204"/>
                <a:cs typeface="Arial" panose="020B0604020202020204"/>
              </a:rPr>
              <a:t>5000</a:t>
            </a:r>
            <a:r>
              <a:rPr sz="450"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450" b="1" spc="-60" dirty="0">
                <a:latin typeface="Arial" panose="020B0604020202020204"/>
                <a:cs typeface="Arial" panose="020B0604020202020204"/>
              </a:rPr>
              <a:t>BC	</a:t>
            </a:r>
            <a:r>
              <a:rPr sz="450" b="1" dirty="0">
                <a:latin typeface="Arial" panose="020B0604020202020204"/>
                <a:cs typeface="Arial" panose="020B0604020202020204"/>
              </a:rPr>
              <a:t>500-900</a:t>
            </a:r>
            <a:r>
              <a:rPr sz="45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450" b="1" spc="-60" dirty="0">
                <a:latin typeface="Arial" panose="020B0604020202020204"/>
                <a:cs typeface="Arial" panose="020B0604020202020204"/>
              </a:rPr>
              <a:t>AD	</a:t>
            </a:r>
            <a:r>
              <a:rPr sz="450" b="1" spc="10" dirty="0">
                <a:latin typeface="Arial" panose="020B0604020202020204"/>
                <a:cs typeface="Arial" panose="020B0604020202020204"/>
              </a:rPr>
              <a:t>1300</a:t>
            </a:r>
            <a:r>
              <a:rPr sz="450" b="1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450" b="1" spc="-60" dirty="0">
                <a:latin typeface="Arial" panose="020B0604020202020204"/>
                <a:cs typeface="Arial" panose="020B0604020202020204"/>
              </a:rPr>
              <a:t>AD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8480" y="525272"/>
            <a:ext cx="1273810" cy="1606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2385" marR="5080" indent="-20320">
              <a:lnSpc>
                <a:spcPts val="530"/>
              </a:lnSpc>
              <a:spcBef>
                <a:spcPts val="120"/>
              </a:spcBef>
              <a:tabLst>
                <a:tab pos="1029335" algn="l"/>
              </a:tabLst>
            </a:pPr>
            <a:r>
              <a:rPr sz="450" spc="-10" dirty="0">
                <a:latin typeface="Trebuchet MS" panose="020B0603020202020204"/>
                <a:cs typeface="Trebuchet MS" panose="020B0603020202020204"/>
              </a:rPr>
              <a:t>Sailboats </a:t>
            </a:r>
            <a:r>
              <a:rPr sz="450" spc="-5" dirty="0">
                <a:latin typeface="Trebuchet MS" panose="020B0603020202020204"/>
                <a:cs typeface="Trebuchet MS" panose="020B0603020202020204"/>
              </a:rPr>
              <a:t>used </a:t>
            </a:r>
            <a:r>
              <a:rPr sz="450" spc="-15" dirty="0">
                <a:latin typeface="Trebuchet MS" panose="020B0603020202020204"/>
                <a:cs typeface="Trebuchet MS" panose="020B0603020202020204"/>
              </a:rPr>
              <a:t>on </a:t>
            </a:r>
            <a:r>
              <a:rPr sz="450" spc="-25" dirty="0">
                <a:latin typeface="Trebuchet MS" panose="020B0603020202020204"/>
                <a:cs typeface="Trebuchet MS" panose="020B0603020202020204"/>
              </a:rPr>
              <a:t>First </a:t>
            </a:r>
            <a:r>
              <a:rPr sz="450" spc="-20" dirty="0">
                <a:latin typeface="Trebuchet MS" panose="020B0603020202020204"/>
                <a:cs typeface="Trebuchet MS" panose="020B0603020202020204"/>
              </a:rPr>
              <a:t>windmills </a:t>
            </a:r>
            <a:r>
              <a:rPr sz="450" spc="-25" dirty="0">
                <a:latin typeface="Trebuchet MS" panose="020B0603020202020204"/>
                <a:cs typeface="Trebuchet MS" panose="020B0603020202020204"/>
              </a:rPr>
              <a:t>First horizontal-  the </a:t>
            </a:r>
            <a:r>
              <a:rPr sz="450" spc="-20" dirty="0">
                <a:latin typeface="Trebuchet MS" panose="020B0603020202020204"/>
                <a:cs typeface="Trebuchet MS" panose="020B0603020202020204"/>
              </a:rPr>
              <a:t>Nile </a:t>
            </a:r>
            <a:r>
              <a:rPr sz="450" spc="-25" dirty="0">
                <a:latin typeface="Trebuchet MS" panose="020B0603020202020204"/>
                <a:cs typeface="Trebuchet MS" panose="020B0603020202020204"/>
              </a:rPr>
              <a:t>indicate      </a:t>
            </a:r>
            <a:r>
              <a:rPr sz="45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450" spc="-20" dirty="0">
                <a:latin typeface="Trebuchet MS" panose="020B0603020202020204"/>
                <a:cs typeface="Trebuchet MS" panose="020B0603020202020204"/>
              </a:rPr>
              <a:t>developed</a:t>
            </a:r>
            <a:r>
              <a:rPr sz="450" spc="-3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450" spc="-25" dirty="0">
                <a:latin typeface="Trebuchet MS" panose="020B0603020202020204"/>
                <a:cs typeface="Trebuchet MS" panose="020B0603020202020204"/>
              </a:rPr>
              <a:t>in	</a:t>
            </a:r>
            <a:r>
              <a:rPr sz="450" spc="-15" dirty="0">
                <a:latin typeface="Trebuchet MS" panose="020B0603020202020204"/>
                <a:cs typeface="Trebuchet MS" panose="020B0603020202020204"/>
              </a:rPr>
              <a:t>axis</a:t>
            </a:r>
            <a:endParaRPr sz="4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3244" y="659079"/>
            <a:ext cx="304800" cy="161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35"/>
              </a:lnSpc>
              <a:spcBef>
                <a:spcPts val="95"/>
              </a:spcBef>
            </a:pPr>
            <a:r>
              <a:rPr sz="450" spc="-20" dirty="0">
                <a:latin typeface="Trebuchet MS" panose="020B0603020202020204"/>
                <a:cs typeface="Trebuchet MS" panose="020B0603020202020204"/>
              </a:rPr>
              <a:t>windmills</a:t>
            </a:r>
            <a:r>
              <a:rPr sz="450" spc="-8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450" spc="-20" dirty="0">
                <a:latin typeface="Trebuchet MS" panose="020B0603020202020204"/>
                <a:cs typeface="Trebuchet MS" panose="020B0603020202020204"/>
              </a:rPr>
              <a:t>in</a:t>
            </a:r>
            <a:endParaRPr sz="450">
              <a:latin typeface="Trebuchet MS" panose="020B0603020202020204"/>
              <a:cs typeface="Trebuchet MS" panose="020B0603020202020204"/>
            </a:endParaRPr>
          </a:p>
          <a:p>
            <a:pPr marL="68580">
              <a:lnSpc>
                <a:spcPts val="535"/>
              </a:lnSpc>
            </a:pPr>
            <a:r>
              <a:rPr sz="450" spc="-20" dirty="0">
                <a:latin typeface="Trebuchet MS" panose="020B0603020202020204"/>
                <a:cs typeface="Trebuchet MS" panose="020B0603020202020204"/>
              </a:rPr>
              <a:t>Europe</a:t>
            </a:r>
            <a:endParaRPr sz="4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09141" y="458216"/>
            <a:ext cx="499745" cy="4286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ts val="535"/>
              </a:lnSpc>
              <a:spcBef>
                <a:spcPts val="90"/>
              </a:spcBef>
            </a:pPr>
            <a:r>
              <a:rPr sz="450" b="1" dirty="0">
                <a:latin typeface="Arial" panose="020B0604020202020204"/>
                <a:cs typeface="Arial" panose="020B0604020202020204"/>
              </a:rPr>
              <a:t>1850s</a:t>
            </a:r>
            <a:endParaRPr sz="450">
              <a:latin typeface="Arial" panose="020B0604020202020204"/>
              <a:cs typeface="Arial" panose="020B0604020202020204"/>
            </a:endParaRPr>
          </a:p>
          <a:p>
            <a:pPr marL="12700" marR="5080" indent="1270" algn="ctr">
              <a:lnSpc>
                <a:spcPct val="98000"/>
              </a:lnSpc>
              <a:spcBef>
                <a:spcPts val="10"/>
              </a:spcBef>
            </a:pPr>
            <a:r>
              <a:rPr sz="450" spc="-15" dirty="0">
                <a:latin typeface="Trebuchet MS" panose="020B0603020202020204"/>
                <a:cs typeface="Trebuchet MS" panose="020B0603020202020204"/>
              </a:rPr>
              <a:t>Daniel</a:t>
            </a:r>
            <a:r>
              <a:rPr sz="450" spc="-8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450" spc="-15" dirty="0">
                <a:latin typeface="Trebuchet MS" panose="020B0603020202020204"/>
                <a:cs typeface="Trebuchet MS" panose="020B0603020202020204"/>
              </a:rPr>
              <a:t>Halladay</a:t>
            </a:r>
            <a:r>
              <a:rPr sz="450" spc="-10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450" spc="-5" dirty="0">
                <a:latin typeface="Trebuchet MS" panose="020B0603020202020204"/>
                <a:cs typeface="Trebuchet MS" panose="020B0603020202020204"/>
              </a:rPr>
              <a:t>and  </a:t>
            </a:r>
            <a:r>
              <a:rPr sz="450" spc="-20" dirty="0">
                <a:latin typeface="Trebuchet MS" panose="020B0603020202020204"/>
                <a:cs typeface="Trebuchet MS" panose="020B0603020202020204"/>
              </a:rPr>
              <a:t>John</a:t>
            </a:r>
            <a:r>
              <a:rPr sz="450" spc="-7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450" spc="-10" dirty="0">
                <a:latin typeface="Trebuchet MS" panose="020B0603020202020204"/>
                <a:cs typeface="Trebuchet MS" panose="020B0603020202020204"/>
              </a:rPr>
              <a:t>Burnham</a:t>
            </a:r>
            <a:r>
              <a:rPr sz="450" spc="-7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450" spc="-20" dirty="0">
                <a:latin typeface="Trebuchet MS" panose="020B0603020202020204"/>
                <a:cs typeface="Trebuchet MS" panose="020B0603020202020204"/>
              </a:rPr>
              <a:t>build  Halladay </a:t>
            </a:r>
            <a:r>
              <a:rPr sz="450" spc="-30" dirty="0">
                <a:latin typeface="Trebuchet MS" panose="020B0603020202020204"/>
                <a:cs typeface="Trebuchet MS" panose="020B0603020202020204"/>
              </a:rPr>
              <a:t>Windmill;  </a:t>
            </a:r>
            <a:r>
              <a:rPr sz="450" spc="-20" dirty="0">
                <a:latin typeface="Trebuchet MS" panose="020B0603020202020204"/>
                <a:cs typeface="Trebuchet MS" panose="020B0603020202020204"/>
              </a:rPr>
              <a:t>start </a:t>
            </a:r>
            <a:r>
              <a:rPr sz="450" dirty="0">
                <a:latin typeface="Trebuchet MS" panose="020B0603020202020204"/>
                <a:cs typeface="Trebuchet MS" panose="020B0603020202020204"/>
              </a:rPr>
              <a:t>US </a:t>
            </a:r>
            <a:r>
              <a:rPr sz="450" spc="-20" dirty="0">
                <a:latin typeface="Trebuchet MS" panose="020B0603020202020204"/>
                <a:cs typeface="Trebuchet MS" panose="020B0603020202020204"/>
              </a:rPr>
              <a:t>Wind  </a:t>
            </a:r>
            <a:r>
              <a:rPr sz="450" spc="-15" dirty="0">
                <a:latin typeface="Trebuchet MS" panose="020B0603020202020204"/>
                <a:cs typeface="Trebuchet MS" panose="020B0603020202020204"/>
              </a:rPr>
              <a:t>Engine</a:t>
            </a:r>
            <a:r>
              <a:rPr sz="450" spc="-4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450" spc="-20" dirty="0">
                <a:latin typeface="Trebuchet MS" panose="020B0603020202020204"/>
                <a:cs typeface="Trebuchet MS" panose="020B0603020202020204"/>
              </a:rPr>
              <a:t>Company</a:t>
            </a:r>
            <a:endParaRPr sz="450"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11252" y="348361"/>
            <a:ext cx="2386330" cy="135890"/>
            <a:chOff x="111252" y="348361"/>
            <a:chExt cx="2386330" cy="135890"/>
          </a:xfrm>
        </p:grpSpPr>
        <p:sp>
          <p:nvSpPr>
            <p:cNvPr id="14" name="object 14"/>
            <p:cNvSpPr/>
            <p:nvPr/>
          </p:nvSpPr>
          <p:spPr>
            <a:xfrm>
              <a:off x="111252" y="348361"/>
              <a:ext cx="2386330" cy="33020"/>
            </a:xfrm>
            <a:custGeom>
              <a:avLst/>
              <a:gdLst/>
              <a:ahLst/>
              <a:cxnLst/>
              <a:rect l="l" t="t" r="r" b="b"/>
              <a:pathLst>
                <a:path w="2386330" h="33020">
                  <a:moveTo>
                    <a:pt x="2357882" y="0"/>
                  </a:moveTo>
                  <a:lnTo>
                    <a:pt x="2355977" y="507"/>
                  </a:lnTo>
                  <a:lnTo>
                    <a:pt x="2355215" y="1905"/>
                  </a:lnTo>
                  <a:lnTo>
                    <a:pt x="2354326" y="3301"/>
                  </a:lnTo>
                  <a:lnTo>
                    <a:pt x="2354834" y="5206"/>
                  </a:lnTo>
                  <a:lnTo>
                    <a:pt x="2356231" y="6095"/>
                  </a:lnTo>
                  <a:lnTo>
                    <a:pt x="2368812" y="13458"/>
                  </a:lnTo>
                  <a:lnTo>
                    <a:pt x="2380234" y="13462"/>
                  </a:lnTo>
                  <a:lnTo>
                    <a:pt x="2380234" y="19557"/>
                  </a:lnTo>
                  <a:lnTo>
                    <a:pt x="2368817" y="19557"/>
                  </a:lnTo>
                  <a:lnTo>
                    <a:pt x="2356231" y="26924"/>
                  </a:lnTo>
                  <a:lnTo>
                    <a:pt x="2354834" y="27686"/>
                  </a:lnTo>
                  <a:lnTo>
                    <a:pt x="2354326" y="29591"/>
                  </a:lnTo>
                  <a:lnTo>
                    <a:pt x="2355215" y="31115"/>
                  </a:lnTo>
                  <a:lnTo>
                    <a:pt x="2355977" y="32512"/>
                  </a:lnTo>
                  <a:lnTo>
                    <a:pt x="2357882" y="33019"/>
                  </a:lnTo>
                  <a:lnTo>
                    <a:pt x="2380974" y="19557"/>
                  </a:lnTo>
                  <a:lnTo>
                    <a:pt x="2380234" y="19557"/>
                  </a:lnTo>
                  <a:lnTo>
                    <a:pt x="2380979" y="19554"/>
                  </a:lnTo>
                  <a:lnTo>
                    <a:pt x="2386203" y="16510"/>
                  </a:lnTo>
                  <a:lnTo>
                    <a:pt x="2359406" y="762"/>
                  </a:lnTo>
                  <a:lnTo>
                    <a:pt x="2357882" y="0"/>
                  </a:lnTo>
                  <a:close/>
                </a:path>
                <a:path w="2386330" h="33020">
                  <a:moveTo>
                    <a:pt x="2374025" y="16510"/>
                  </a:moveTo>
                  <a:lnTo>
                    <a:pt x="2368822" y="19554"/>
                  </a:lnTo>
                  <a:lnTo>
                    <a:pt x="2380234" y="19557"/>
                  </a:lnTo>
                  <a:lnTo>
                    <a:pt x="2380234" y="19176"/>
                  </a:lnTo>
                  <a:lnTo>
                    <a:pt x="2378583" y="19176"/>
                  </a:lnTo>
                  <a:lnTo>
                    <a:pt x="2374025" y="16510"/>
                  </a:lnTo>
                  <a:close/>
                </a:path>
                <a:path w="2386330" h="33020">
                  <a:moveTo>
                    <a:pt x="0" y="12826"/>
                  </a:moveTo>
                  <a:lnTo>
                    <a:pt x="0" y="18923"/>
                  </a:lnTo>
                  <a:lnTo>
                    <a:pt x="2368822" y="19554"/>
                  </a:lnTo>
                  <a:lnTo>
                    <a:pt x="2374025" y="16510"/>
                  </a:lnTo>
                  <a:lnTo>
                    <a:pt x="2368812" y="13458"/>
                  </a:lnTo>
                  <a:lnTo>
                    <a:pt x="0" y="12826"/>
                  </a:lnTo>
                  <a:close/>
                </a:path>
                <a:path w="2386330" h="33020">
                  <a:moveTo>
                    <a:pt x="2378583" y="13843"/>
                  </a:moveTo>
                  <a:lnTo>
                    <a:pt x="2374025" y="16510"/>
                  </a:lnTo>
                  <a:lnTo>
                    <a:pt x="2378583" y="19176"/>
                  </a:lnTo>
                  <a:lnTo>
                    <a:pt x="2378583" y="13843"/>
                  </a:lnTo>
                  <a:close/>
                </a:path>
                <a:path w="2386330" h="33020">
                  <a:moveTo>
                    <a:pt x="2380234" y="13843"/>
                  </a:moveTo>
                  <a:lnTo>
                    <a:pt x="2378583" y="13843"/>
                  </a:lnTo>
                  <a:lnTo>
                    <a:pt x="2378583" y="19176"/>
                  </a:lnTo>
                  <a:lnTo>
                    <a:pt x="2380234" y="19176"/>
                  </a:lnTo>
                  <a:lnTo>
                    <a:pt x="2380234" y="13843"/>
                  </a:lnTo>
                  <a:close/>
                </a:path>
                <a:path w="2386330" h="33020">
                  <a:moveTo>
                    <a:pt x="2368812" y="13458"/>
                  </a:moveTo>
                  <a:lnTo>
                    <a:pt x="2374025" y="16510"/>
                  </a:lnTo>
                  <a:lnTo>
                    <a:pt x="2378583" y="13843"/>
                  </a:lnTo>
                  <a:lnTo>
                    <a:pt x="2380234" y="13843"/>
                  </a:lnTo>
                  <a:lnTo>
                    <a:pt x="2380234" y="13462"/>
                  </a:lnTo>
                  <a:lnTo>
                    <a:pt x="2368812" y="134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22504" y="364236"/>
              <a:ext cx="2075180" cy="118110"/>
            </a:xfrm>
            <a:custGeom>
              <a:avLst/>
              <a:gdLst/>
              <a:ahLst/>
              <a:cxnLst/>
              <a:rect l="l" t="t" r="r" b="b"/>
              <a:pathLst>
                <a:path w="2075180" h="118109">
                  <a:moveTo>
                    <a:pt x="0" y="0"/>
                  </a:moveTo>
                  <a:lnTo>
                    <a:pt x="89204" y="118110"/>
                  </a:lnTo>
                </a:path>
                <a:path w="2075180" h="118109">
                  <a:moveTo>
                    <a:pt x="446531" y="0"/>
                  </a:moveTo>
                  <a:lnTo>
                    <a:pt x="535686" y="118110"/>
                  </a:lnTo>
                </a:path>
                <a:path w="2075180" h="118109">
                  <a:moveTo>
                    <a:pt x="848868" y="0"/>
                  </a:moveTo>
                  <a:lnTo>
                    <a:pt x="938022" y="118110"/>
                  </a:lnTo>
                </a:path>
                <a:path w="2075180" h="118109">
                  <a:moveTo>
                    <a:pt x="1405128" y="0"/>
                  </a:moveTo>
                  <a:lnTo>
                    <a:pt x="1494282" y="118110"/>
                  </a:lnTo>
                </a:path>
                <a:path w="2075180" h="118109">
                  <a:moveTo>
                    <a:pt x="1985772" y="0"/>
                  </a:moveTo>
                  <a:lnTo>
                    <a:pt x="2074926" y="1181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2089785" y="458216"/>
            <a:ext cx="454659" cy="4273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indent="-1905" algn="ctr">
              <a:lnSpc>
                <a:spcPct val="97000"/>
              </a:lnSpc>
              <a:spcBef>
                <a:spcPts val="105"/>
              </a:spcBef>
            </a:pPr>
            <a:r>
              <a:rPr sz="450" b="1" spc="-25" dirty="0">
                <a:latin typeface="Arial" panose="020B0604020202020204"/>
                <a:cs typeface="Arial" panose="020B0604020202020204"/>
              </a:rPr>
              <a:t>Late </a:t>
            </a:r>
            <a:r>
              <a:rPr sz="450" b="1" dirty="0">
                <a:latin typeface="Arial" panose="020B0604020202020204"/>
                <a:cs typeface="Arial" panose="020B0604020202020204"/>
              </a:rPr>
              <a:t>1880s  </a:t>
            </a:r>
            <a:r>
              <a:rPr sz="450" spc="-15" dirty="0">
                <a:latin typeface="Trebuchet MS" panose="020B0603020202020204"/>
                <a:cs typeface="Trebuchet MS" panose="020B0603020202020204"/>
              </a:rPr>
              <a:t>Thomas </a:t>
            </a:r>
            <a:r>
              <a:rPr sz="450" spc="-45" dirty="0">
                <a:latin typeface="Trebuchet MS" panose="020B0603020202020204"/>
                <a:cs typeface="Trebuchet MS" panose="020B0603020202020204"/>
              </a:rPr>
              <a:t>O. </a:t>
            </a:r>
            <a:r>
              <a:rPr sz="450" spc="-30" dirty="0">
                <a:latin typeface="Trebuchet MS" panose="020B0603020202020204"/>
                <a:cs typeface="Trebuchet MS" panose="020B0603020202020204"/>
              </a:rPr>
              <a:t>Perry  </a:t>
            </a:r>
            <a:r>
              <a:rPr sz="450" spc="-20" dirty="0">
                <a:latin typeface="Trebuchet MS" panose="020B0603020202020204"/>
                <a:cs typeface="Trebuchet MS" panose="020B0603020202020204"/>
              </a:rPr>
              <a:t>conducted </a:t>
            </a:r>
            <a:r>
              <a:rPr sz="450" spc="5" dirty="0">
                <a:latin typeface="Trebuchet MS" panose="020B0603020202020204"/>
                <a:cs typeface="Trebuchet MS" panose="020B0603020202020204"/>
              </a:rPr>
              <a:t>5,000  </a:t>
            </a:r>
            <a:r>
              <a:rPr sz="450" spc="-25" dirty="0">
                <a:latin typeface="Trebuchet MS" panose="020B0603020202020204"/>
                <a:cs typeface="Trebuchet MS" panose="020B0603020202020204"/>
              </a:rPr>
              <a:t>wind</a:t>
            </a:r>
            <a:r>
              <a:rPr sz="450" spc="-10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450" spc="-25" dirty="0">
                <a:latin typeface="Trebuchet MS" panose="020B0603020202020204"/>
                <a:cs typeface="Trebuchet MS" panose="020B0603020202020204"/>
              </a:rPr>
              <a:t>experiments; </a:t>
            </a:r>
            <a:r>
              <a:rPr sz="450" spc="-4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450" spc="-15" dirty="0">
                <a:latin typeface="Trebuchet MS" panose="020B0603020202020204"/>
                <a:cs typeface="Trebuchet MS" panose="020B0603020202020204"/>
              </a:rPr>
              <a:t>starts </a:t>
            </a:r>
            <a:r>
              <a:rPr sz="450" spc="-30" dirty="0">
                <a:latin typeface="Trebuchet MS" panose="020B0603020202020204"/>
                <a:cs typeface="Trebuchet MS" panose="020B0603020202020204"/>
              </a:rPr>
              <a:t>Aermotor  </a:t>
            </a:r>
            <a:r>
              <a:rPr sz="450" spc="-15" dirty="0">
                <a:latin typeface="Trebuchet MS" panose="020B0603020202020204"/>
                <a:cs typeface="Trebuchet MS" panose="020B0603020202020204"/>
              </a:rPr>
              <a:t>Co</a:t>
            </a:r>
            <a:r>
              <a:rPr sz="450" spc="-15" dirty="0">
                <a:latin typeface="Carlito"/>
                <a:cs typeface="Carlito"/>
              </a:rPr>
              <a:t>mpany</a:t>
            </a:r>
            <a:endParaRPr sz="450">
              <a:latin typeface="Carlito"/>
              <a:cs typeface="Carlito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15823" y="887857"/>
            <a:ext cx="2386330" cy="135890"/>
            <a:chOff x="115823" y="887857"/>
            <a:chExt cx="2386330" cy="135890"/>
          </a:xfrm>
        </p:grpSpPr>
        <p:sp>
          <p:nvSpPr>
            <p:cNvPr id="18" name="object 18"/>
            <p:cNvSpPr/>
            <p:nvPr/>
          </p:nvSpPr>
          <p:spPr>
            <a:xfrm>
              <a:off x="115823" y="887857"/>
              <a:ext cx="2386330" cy="33020"/>
            </a:xfrm>
            <a:custGeom>
              <a:avLst/>
              <a:gdLst/>
              <a:ahLst/>
              <a:cxnLst/>
              <a:rect l="l" t="t" r="r" b="b"/>
              <a:pathLst>
                <a:path w="2386330" h="33019">
                  <a:moveTo>
                    <a:pt x="2357882" y="0"/>
                  </a:moveTo>
                  <a:lnTo>
                    <a:pt x="2355977" y="508"/>
                  </a:lnTo>
                  <a:lnTo>
                    <a:pt x="2355215" y="1905"/>
                  </a:lnTo>
                  <a:lnTo>
                    <a:pt x="2354326" y="3302"/>
                  </a:lnTo>
                  <a:lnTo>
                    <a:pt x="2354834" y="5207"/>
                  </a:lnTo>
                  <a:lnTo>
                    <a:pt x="2356231" y="6096"/>
                  </a:lnTo>
                  <a:lnTo>
                    <a:pt x="2368812" y="13458"/>
                  </a:lnTo>
                  <a:lnTo>
                    <a:pt x="2380234" y="13462"/>
                  </a:lnTo>
                  <a:lnTo>
                    <a:pt x="2380234" y="19558"/>
                  </a:lnTo>
                  <a:lnTo>
                    <a:pt x="2368817" y="19558"/>
                  </a:lnTo>
                  <a:lnTo>
                    <a:pt x="2356231" y="26924"/>
                  </a:lnTo>
                  <a:lnTo>
                    <a:pt x="2354834" y="27686"/>
                  </a:lnTo>
                  <a:lnTo>
                    <a:pt x="2354326" y="29591"/>
                  </a:lnTo>
                  <a:lnTo>
                    <a:pt x="2355215" y="31115"/>
                  </a:lnTo>
                  <a:lnTo>
                    <a:pt x="2355977" y="32512"/>
                  </a:lnTo>
                  <a:lnTo>
                    <a:pt x="2357882" y="33020"/>
                  </a:lnTo>
                  <a:lnTo>
                    <a:pt x="2380974" y="19558"/>
                  </a:lnTo>
                  <a:lnTo>
                    <a:pt x="2380234" y="19558"/>
                  </a:lnTo>
                  <a:lnTo>
                    <a:pt x="2380979" y="19554"/>
                  </a:lnTo>
                  <a:lnTo>
                    <a:pt x="2386203" y="16510"/>
                  </a:lnTo>
                  <a:lnTo>
                    <a:pt x="2359406" y="762"/>
                  </a:lnTo>
                  <a:lnTo>
                    <a:pt x="2357882" y="0"/>
                  </a:lnTo>
                  <a:close/>
                </a:path>
                <a:path w="2386330" h="33019">
                  <a:moveTo>
                    <a:pt x="2374025" y="16510"/>
                  </a:moveTo>
                  <a:lnTo>
                    <a:pt x="2368822" y="19554"/>
                  </a:lnTo>
                  <a:lnTo>
                    <a:pt x="2380234" y="19558"/>
                  </a:lnTo>
                  <a:lnTo>
                    <a:pt x="2380234" y="19177"/>
                  </a:lnTo>
                  <a:lnTo>
                    <a:pt x="2378583" y="19177"/>
                  </a:lnTo>
                  <a:lnTo>
                    <a:pt x="2374025" y="16510"/>
                  </a:lnTo>
                  <a:close/>
                </a:path>
                <a:path w="2386330" h="33019">
                  <a:moveTo>
                    <a:pt x="0" y="12827"/>
                  </a:moveTo>
                  <a:lnTo>
                    <a:pt x="0" y="18923"/>
                  </a:lnTo>
                  <a:lnTo>
                    <a:pt x="2368822" y="19554"/>
                  </a:lnTo>
                  <a:lnTo>
                    <a:pt x="2374025" y="16510"/>
                  </a:lnTo>
                  <a:lnTo>
                    <a:pt x="2368812" y="13458"/>
                  </a:lnTo>
                  <a:lnTo>
                    <a:pt x="0" y="12827"/>
                  </a:lnTo>
                  <a:close/>
                </a:path>
                <a:path w="2386330" h="33019">
                  <a:moveTo>
                    <a:pt x="2378583" y="13843"/>
                  </a:moveTo>
                  <a:lnTo>
                    <a:pt x="2374025" y="16510"/>
                  </a:lnTo>
                  <a:lnTo>
                    <a:pt x="2378583" y="19177"/>
                  </a:lnTo>
                  <a:lnTo>
                    <a:pt x="2378583" y="13843"/>
                  </a:lnTo>
                  <a:close/>
                </a:path>
                <a:path w="2386330" h="33019">
                  <a:moveTo>
                    <a:pt x="2380234" y="13843"/>
                  </a:moveTo>
                  <a:lnTo>
                    <a:pt x="2378583" y="13843"/>
                  </a:lnTo>
                  <a:lnTo>
                    <a:pt x="2378583" y="19177"/>
                  </a:lnTo>
                  <a:lnTo>
                    <a:pt x="2380234" y="19177"/>
                  </a:lnTo>
                  <a:lnTo>
                    <a:pt x="2380234" y="13843"/>
                  </a:lnTo>
                  <a:close/>
                </a:path>
                <a:path w="2386330" h="33019">
                  <a:moveTo>
                    <a:pt x="2368812" y="13458"/>
                  </a:moveTo>
                  <a:lnTo>
                    <a:pt x="2374025" y="16510"/>
                  </a:lnTo>
                  <a:lnTo>
                    <a:pt x="2378583" y="13843"/>
                  </a:lnTo>
                  <a:lnTo>
                    <a:pt x="2380234" y="13843"/>
                  </a:lnTo>
                  <a:lnTo>
                    <a:pt x="2380234" y="13462"/>
                  </a:lnTo>
                  <a:lnTo>
                    <a:pt x="2368812" y="134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72795" y="903732"/>
              <a:ext cx="1939289" cy="118110"/>
            </a:xfrm>
            <a:custGeom>
              <a:avLst/>
              <a:gdLst/>
              <a:ahLst/>
              <a:cxnLst/>
              <a:rect l="l" t="t" r="r" b="b"/>
              <a:pathLst>
                <a:path w="1939289" h="118109">
                  <a:moveTo>
                    <a:pt x="0" y="0"/>
                  </a:moveTo>
                  <a:lnTo>
                    <a:pt x="89204" y="118110"/>
                  </a:lnTo>
                </a:path>
                <a:path w="1939289" h="118109">
                  <a:moveTo>
                    <a:pt x="556260" y="0"/>
                  </a:moveTo>
                  <a:lnTo>
                    <a:pt x="645414" y="118110"/>
                  </a:lnTo>
                </a:path>
                <a:path w="1939289" h="118109">
                  <a:moveTo>
                    <a:pt x="1225296" y="0"/>
                  </a:moveTo>
                  <a:lnTo>
                    <a:pt x="1314450" y="118110"/>
                  </a:lnTo>
                </a:path>
                <a:path w="1939289" h="118109">
                  <a:moveTo>
                    <a:pt x="1850136" y="0"/>
                  </a:moveTo>
                  <a:lnTo>
                    <a:pt x="1939290" y="1181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174752" y="1022095"/>
            <a:ext cx="485775" cy="3613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" algn="ctr">
              <a:lnSpc>
                <a:spcPts val="535"/>
              </a:lnSpc>
              <a:spcBef>
                <a:spcPts val="90"/>
              </a:spcBef>
            </a:pPr>
            <a:r>
              <a:rPr sz="450" b="1" spc="10" dirty="0">
                <a:latin typeface="Arial" panose="020B0604020202020204"/>
                <a:cs typeface="Arial" panose="020B0604020202020204"/>
              </a:rPr>
              <a:t>1888</a:t>
            </a:r>
            <a:endParaRPr sz="450">
              <a:latin typeface="Arial" panose="020B0604020202020204"/>
              <a:cs typeface="Arial" panose="020B0604020202020204"/>
            </a:endParaRPr>
          </a:p>
          <a:p>
            <a:pPr marL="12700" marR="5080" indent="-1905" algn="ctr">
              <a:lnSpc>
                <a:spcPts val="530"/>
              </a:lnSpc>
              <a:spcBef>
                <a:spcPts val="20"/>
              </a:spcBef>
            </a:pPr>
            <a:r>
              <a:rPr sz="450" spc="-15" dirty="0">
                <a:latin typeface="Trebuchet MS" panose="020B0603020202020204"/>
                <a:cs typeface="Trebuchet MS" panose="020B0603020202020204"/>
              </a:rPr>
              <a:t>Charles </a:t>
            </a:r>
            <a:r>
              <a:rPr sz="450" spc="-50" dirty="0">
                <a:latin typeface="Trebuchet MS" panose="020B0603020202020204"/>
                <a:cs typeface="Trebuchet MS" panose="020B0603020202020204"/>
              </a:rPr>
              <a:t>F. </a:t>
            </a:r>
            <a:r>
              <a:rPr sz="450" spc="-5" dirty="0">
                <a:latin typeface="Trebuchet MS" panose="020B0603020202020204"/>
                <a:cs typeface="Trebuchet MS" panose="020B0603020202020204"/>
              </a:rPr>
              <a:t>Brush  used </a:t>
            </a:r>
            <a:r>
              <a:rPr sz="450" spc="-30" dirty="0">
                <a:latin typeface="Trebuchet MS" panose="020B0603020202020204"/>
                <a:cs typeface="Trebuchet MS" panose="020B0603020202020204"/>
              </a:rPr>
              <a:t>windmill </a:t>
            </a:r>
            <a:r>
              <a:rPr sz="450" spc="-40" dirty="0">
                <a:latin typeface="Trebuchet MS" panose="020B0603020202020204"/>
                <a:cs typeface="Trebuchet MS" panose="020B0603020202020204"/>
              </a:rPr>
              <a:t>to  </a:t>
            </a:r>
            <a:r>
              <a:rPr sz="450" spc="-25" dirty="0">
                <a:latin typeface="Trebuchet MS" panose="020B0603020202020204"/>
                <a:cs typeface="Trebuchet MS" panose="020B0603020202020204"/>
              </a:rPr>
              <a:t>generate</a:t>
            </a:r>
            <a:r>
              <a:rPr sz="450" spc="-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450" spc="-25" dirty="0">
                <a:latin typeface="Trebuchet MS" panose="020B0603020202020204"/>
                <a:cs typeface="Trebuchet MS" panose="020B0603020202020204"/>
              </a:rPr>
              <a:t>electricity  in Cleveland,</a:t>
            </a:r>
            <a:r>
              <a:rPr sz="450" spc="-7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450" spc="-20" dirty="0">
                <a:latin typeface="Trebuchet MS" panose="020B0603020202020204"/>
                <a:cs typeface="Trebuchet MS" panose="020B0603020202020204"/>
              </a:rPr>
              <a:t>OH</a:t>
            </a:r>
            <a:endParaRPr sz="4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91718" y="1022095"/>
            <a:ext cx="478155" cy="29464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indent="-1905" algn="ctr">
              <a:lnSpc>
                <a:spcPts val="530"/>
              </a:lnSpc>
              <a:spcBef>
                <a:spcPts val="120"/>
              </a:spcBef>
            </a:pPr>
            <a:r>
              <a:rPr sz="450" b="1" spc="-35" dirty="0">
                <a:latin typeface="Arial" panose="020B0604020202020204"/>
                <a:cs typeface="Arial" panose="020B0604020202020204"/>
              </a:rPr>
              <a:t>Early </a:t>
            </a:r>
            <a:r>
              <a:rPr sz="450" b="1" dirty="0">
                <a:latin typeface="Arial" panose="020B0604020202020204"/>
                <a:cs typeface="Arial" panose="020B0604020202020204"/>
              </a:rPr>
              <a:t>1900s  </a:t>
            </a:r>
            <a:r>
              <a:rPr sz="450" spc="-20" dirty="0">
                <a:latin typeface="Trebuchet MS" panose="020B0603020202020204"/>
                <a:cs typeface="Trebuchet MS" panose="020B0603020202020204"/>
              </a:rPr>
              <a:t>Windmills </a:t>
            </a:r>
            <a:r>
              <a:rPr sz="450" spc="-25" dirty="0">
                <a:latin typeface="Trebuchet MS" panose="020B0603020202020204"/>
                <a:cs typeface="Trebuchet MS" panose="020B0603020202020204"/>
              </a:rPr>
              <a:t>in CA  </a:t>
            </a:r>
            <a:r>
              <a:rPr sz="450" spc="-15" dirty="0">
                <a:latin typeface="Trebuchet MS" panose="020B0603020202020204"/>
                <a:cs typeface="Trebuchet MS" panose="020B0603020202020204"/>
              </a:rPr>
              <a:t>pumped </a:t>
            </a:r>
            <a:r>
              <a:rPr sz="450" spc="-25" dirty="0">
                <a:latin typeface="Trebuchet MS" panose="020B0603020202020204"/>
                <a:cs typeface="Trebuchet MS" panose="020B0603020202020204"/>
              </a:rPr>
              <a:t>saltwater  </a:t>
            </a:r>
            <a:r>
              <a:rPr sz="450" spc="-40" dirty="0">
                <a:latin typeface="Trebuchet MS" panose="020B0603020202020204"/>
                <a:cs typeface="Trebuchet MS" panose="020B0603020202020204"/>
              </a:rPr>
              <a:t>to </a:t>
            </a:r>
            <a:r>
              <a:rPr sz="450" spc="-25" dirty="0">
                <a:latin typeface="Trebuchet MS" panose="020B0603020202020204"/>
                <a:cs typeface="Trebuchet MS" panose="020B0603020202020204"/>
              </a:rPr>
              <a:t>evaporate</a:t>
            </a:r>
            <a:r>
              <a:rPr sz="450" spc="-8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450" spc="-5" dirty="0">
                <a:latin typeface="Trebuchet MS" panose="020B0603020202020204"/>
                <a:cs typeface="Trebuchet MS" panose="020B0603020202020204"/>
              </a:rPr>
              <a:t>ponds</a:t>
            </a:r>
            <a:endParaRPr sz="4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16177" y="1022095"/>
            <a:ext cx="443865" cy="3613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255" algn="ctr">
              <a:lnSpc>
                <a:spcPts val="535"/>
              </a:lnSpc>
              <a:spcBef>
                <a:spcPts val="90"/>
              </a:spcBef>
            </a:pPr>
            <a:r>
              <a:rPr sz="450" b="1" spc="5" dirty="0">
                <a:latin typeface="Arial" panose="020B0604020202020204"/>
                <a:cs typeface="Arial" panose="020B0604020202020204"/>
              </a:rPr>
              <a:t>1941</a:t>
            </a:r>
            <a:endParaRPr sz="450">
              <a:latin typeface="Arial" panose="020B0604020202020204"/>
              <a:cs typeface="Arial" panose="020B0604020202020204"/>
            </a:endParaRPr>
          </a:p>
          <a:p>
            <a:pPr marL="12700" marR="5080" indent="6985" algn="ctr">
              <a:lnSpc>
                <a:spcPts val="530"/>
              </a:lnSpc>
              <a:spcBef>
                <a:spcPts val="20"/>
              </a:spcBef>
            </a:pPr>
            <a:r>
              <a:rPr sz="450" spc="-15" dirty="0">
                <a:latin typeface="Trebuchet MS" panose="020B0603020202020204"/>
                <a:cs typeface="Trebuchet MS" panose="020B0603020202020204"/>
              </a:rPr>
              <a:t>In </a:t>
            </a:r>
            <a:r>
              <a:rPr sz="450" spc="-50" dirty="0">
                <a:latin typeface="Trebuchet MS" panose="020B0603020202020204"/>
                <a:cs typeface="Trebuchet MS" panose="020B0603020202020204"/>
              </a:rPr>
              <a:t>VT, </a:t>
            </a:r>
            <a:r>
              <a:rPr sz="450" spc="-15" dirty="0">
                <a:latin typeface="Trebuchet MS" panose="020B0603020202020204"/>
                <a:cs typeface="Trebuchet MS" panose="020B0603020202020204"/>
              </a:rPr>
              <a:t>Grandpa’s  </a:t>
            </a:r>
            <a:r>
              <a:rPr sz="450" spc="-5" dirty="0">
                <a:latin typeface="Trebuchet MS" panose="020B0603020202020204"/>
                <a:cs typeface="Trebuchet MS" panose="020B0603020202020204"/>
              </a:rPr>
              <a:t>Knob </a:t>
            </a:r>
            <a:r>
              <a:rPr sz="450" spc="-25" dirty="0">
                <a:latin typeface="Trebuchet MS" panose="020B0603020202020204"/>
                <a:cs typeface="Trebuchet MS" panose="020B0603020202020204"/>
              </a:rPr>
              <a:t>turbine  </a:t>
            </a:r>
            <a:r>
              <a:rPr sz="450" spc="-10" dirty="0">
                <a:latin typeface="Trebuchet MS" panose="020B0603020202020204"/>
                <a:cs typeface="Trebuchet MS" panose="020B0603020202020204"/>
              </a:rPr>
              <a:t>supplies</a:t>
            </a:r>
            <a:r>
              <a:rPr sz="450" spc="-7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450" spc="-25" dirty="0">
                <a:latin typeface="Trebuchet MS" panose="020B0603020202020204"/>
                <a:cs typeface="Trebuchet MS" panose="020B0603020202020204"/>
              </a:rPr>
              <a:t>power</a:t>
            </a:r>
            <a:r>
              <a:rPr sz="450" spc="-7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450" spc="-40" dirty="0">
                <a:latin typeface="Trebuchet MS" panose="020B0603020202020204"/>
                <a:cs typeface="Trebuchet MS" panose="020B0603020202020204"/>
              </a:rPr>
              <a:t>to  </a:t>
            </a:r>
            <a:r>
              <a:rPr sz="450" spc="-35" dirty="0">
                <a:latin typeface="Trebuchet MS" panose="020B0603020202020204"/>
                <a:cs typeface="Trebuchet MS" panose="020B0603020202020204"/>
              </a:rPr>
              <a:t>town </a:t>
            </a:r>
            <a:r>
              <a:rPr sz="450" spc="-20" dirty="0">
                <a:latin typeface="Trebuchet MS" panose="020B0603020202020204"/>
                <a:cs typeface="Trebuchet MS" panose="020B0603020202020204"/>
              </a:rPr>
              <a:t>during</a:t>
            </a:r>
            <a:r>
              <a:rPr sz="450" spc="-7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450" spc="-25" dirty="0">
                <a:latin typeface="Trebuchet MS" panose="020B0603020202020204"/>
                <a:cs typeface="Trebuchet MS" panose="020B0603020202020204"/>
              </a:rPr>
              <a:t>WWII</a:t>
            </a:r>
            <a:endParaRPr sz="4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46477" y="1022095"/>
            <a:ext cx="435609" cy="2946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905" algn="ctr">
              <a:lnSpc>
                <a:spcPts val="535"/>
              </a:lnSpc>
              <a:spcBef>
                <a:spcPts val="90"/>
              </a:spcBef>
            </a:pPr>
            <a:r>
              <a:rPr sz="450" b="1" spc="5" dirty="0">
                <a:latin typeface="Arial" panose="020B0604020202020204"/>
                <a:cs typeface="Arial" panose="020B0604020202020204"/>
              </a:rPr>
              <a:t>1979</a:t>
            </a:r>
            <a:endParaRPr sz="450">
              <a:latin typeface="Arial" panose="020B0604020202020204"/>
              <a:cs typeface="Arial" panose="020B0604020202020204"/>
            </a:endParaRPr>
          </a:p>
          <a:p>
            <a:pPr marL="22860" marR="5080" indent="-10795" algn="just">
              <a:lnSpc>
                <a:spcPts val="530"/>
              </a:lnSpc>
              <a:spcBef>
                <a:spcPts val="20"/>
              </a:spcBef>
            </a:pPr>
            <a:r>
              <a:rPr sz="450" spc="-25" dirty="0">
                <a:latin typeface="Trebuchet MS" panose="020B0603020202020204"/>
                <a:cs typeface="Trebuchet MS" panose="020B0603020202020204"/>
              </a:rPr>
              <a:t>First wind</a:t>
            </a:r>
            <a:r>
              <a:rPr sz="450" spc="-7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450" spc="-25" dirty="0">
                <a:latin typeface="Trebuchet MS" panose="020B0603020202020204"/>
                <a:cs typeface="Trebuchet MS" panose="020B0603020202020204"/>
              </a:rPr>
              <a:t>turbine  rated </a:t>
            </a:r>
            <a:r>
              <a:rPr sz="450" spc="-30" dirty="0">
                <a:latin typeface="Trebuchet MS" panose="020B0603020202020204"/>
                <a:cs typeface="Trebuchet MS" panose="020B0603020202020204"/>
              </a:rPr>
              <a:t>over </a:t>
            </a:r>
            <a:r>
              <a:rPr sz="450" spc="20" dirty="0">
                <a:latin typeface="Trebuchet MS" panose="020B0603020202020204"/>
                <a:cs typeface="Trebuchet MS" panose="020B0603020202020204"/>
              </a:rPr>
              <a:t>1</a:t>
            </a:r>
            <a:r>
              <a:rPr sz="450" spc="-9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450" spc="10" dirty="0">
                <a:latin typeface="Trebuchet MS" panose="020B0603020202020204"/>
                <a:cs typeface="Trebuchet MS" panose="020B0603020202020204"/>
              </a:rPr>
              <a:t>MW  </a:t>
            </a:r>
            <a:r>
              <a:rPr sz="450" spc="-10" dirty="0">
                <a:latin typeface="Trebuchet MS" panose="020B0603020202020204"/>
                <a:cs typeface="Trebuchet MS" panose="020B0603020202020204"/>
              </a:rPr>
              <a:t>began</a:t>
            </a:r>
            <a:r>
              <a:rPr sz="450" spc="-8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450" spc="-20" dirty="0">
                <a:latin typeface="Trebuchet MS" panose="020B0603020202020204"/>
                <a:cs typeface="Trebuchet MS" panose="020B0603020202020204"/>
              </a:rPr>
              <a:t>operating</a:t>
            </a:r>
            <a:endParaRPr sz="450"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40207" y="1369441"/>
            <a:ext cx="2386330" cy="135890"/>
            <a:chOff x="140207" y="1369441"/>
            <a:chExt cx="2386330" cy="135890"/>
          </a:xfrm>
        </p:grpSpPr>
        <p:sp>
          <p:nvSpPr>
            <p:cNvPr id="25" name="object 25"/>
            <p:cNvSpPr/>
            <p:nvPr/>
          </p:nvSpPr>
          <p:spPr>
            <a:xfrm>
              <a:off x="140207" y="1369441"/>
              <a:ext cx="2386330" cy="33020"/>
            </a:xfrm>
            <a:custGeom>
              <a:avLst/>
              <a:gdLst/>
              <a:ahLst/>
              <a:cxnLst/>
              <a:rect l="l" t="t" r="r" b="b"/>
              <a:pathLst>
                <a:path w="2386330" h="33019">
                  <a:moveTo>
                    <a:pt x="2357882" y="0"/>
                  </a:moveTo>
                  <a:lnTo>
                    <a:pt x="2355977" y="507"/>
                  </a:lnTo>
                  <a:lnTo>
                    <a:pt x="2355215" y="1904"/>
                  </a:lnTo>
                  <a:lnTo>
                    <a:pt x="2354326" y="3301"/>
                  </a:lnTo>
                  <a:lnTo>
                    <a:pt x="2354834" y="5206"/>
                  </a:lnTo>
                  <a:lnTo>
                    <a:pt x="2356231" y="6096"/>
                  </a:lnTo>
                  <a:lnTo>
                    <a:pt x="2368812" y="13458"/>
                  </a:lnTo>
                  <a:lnTo>
                    <a:pt x="2380234" y="13462"/>
                  </a:lnTo>
                  <a:lnTo>
                    <a:pt x="2380234" y="19557"/>
                  </a:lnTo>
                  <a:lnTo>
                    <a:pt x="2368817" y="19557"/>
                  </a:lnTo>
                  <a:lnTo>
                    <a:pt x="2356231" y="26924"/>
                  </a:lnTo>
                  <a:lnTo>
                    <a:pt x="2354834" y="27685"/>
                  </a:lnTo>
                  <a:lnTo>
                    <a:pt x="2354326" y="29590"/>
                  </a:lnTo>
                  <a:lnTo>
                    <a:pt x="2355215" y="31115"/>
                  </a:lnTo>
                  <a:lnTo>
                    <a:pt x="2355977" y="32512"/>
                  </a:lnTo>
                  <a:lnTo>
                    <a:pt x="2357882" y="33019"/>
                  </a:lnTo>
                  <a:lnTo>
                    <a:pt x="2380974" y="19557"/>
                  </a:lnTo>
                  <a:lnTo>
                    <a:pt x="2380234" y="19557"/>
                  </a:lnTo>
                  <a:lnTo>
                    <a:pt x="2380979" y="19554"/>
                  </a:lnTo>
                  <a:lnTo>
                    <a:pt x="2386203" y="16509"/>
                  </a:lnTo>
                  <a:lnTo>
                    <a:pt x="2359406" y="762"/>
                  </a:lnTo>
                  <a:lnTo>
                    <a:pt x="2357882" y="0"/>
                  </a:lnTo>
                  <a:close/>
                </a:path>
                <a:path w="2386330" h="33019">
                  <a:moveTo>
                    <a:pt x="2374025" y="16509"/>
                  </a:moveTo>
                  <a:lnTo>
                    <a:pt x="2368822" y="19554"/>
                  </a:lnTo>
                  <a:lnTo>
                    <a:pt x="2380234" y="19557"/>
                  </a:lnTo>
                  <a:lnTo>
                    <a:pt x="2380234" y="19176"/>
                  </a:lnTo>
                  <a:lnTo>
                    <a:pt x="2378583" y="19176"/>
                  </a:lnTo>
                  <a:lnTo>
                    <a:pt x="2374025" y="16509"/>
                  </a:lnTo>
                  <a:close/>
                </a:path>
                <a:path w="2386330" h="33019">
                  <a:moveTo>
                    <a:pt x="0" y="12826"/>
                  </a:moveTo>
                  <a:lnTo>
                    <a:pt x="0" y="18922"/>
                  </a:lnTo>
                  <a:lnTo>
                    <a:pt x="2368822" y="19554"/>
                  </a:lnTo>
                  <a:lnTo>
                    <a:pt x="2374025" y="16509"/>
                  </a:lnTo>
                  <a:lnTo>
                    <a:pt x="2368812" y="13458"/>
                  </a:lnTo>
                  <a:lnTo>
                    <a:pt x="0" y="12826"/>
                  </a:lnTo>
                  <a:close/>
                </a:path>
                <a:path w="2386330" h="33019">
                  <a:moveTo>
                    <a:pt x="2378583" y="13843"/>
                  </a:moveTo>
                  <a:lnTo>
                    <a:pt x="2374025" y="16509"/>
                  </a:lnTo>
                  <a:lnTo>
                    <a:pt x="2378583" y="19176"/>
                  </a:lnTo>
                  <a:lnTo>
                    <a:pt x="2378583" y="13843"/>
                  </a:lnTo>
                  <a:close/>
                </a:path>
                <a:path w="2386330" h="33019">
                  <a:moveTo>
                    <a:pt x="2380234" y="13843"/>
                  </a:moveTo>
                  <a:lnTo>
                    <a:pt x="2378583" y="13843"/>
                  </a:lnTo>
                  <a:lnTo>
                    <a:pt x="2378583" y="19176"/>
                  </a:lnTo>
                  <a:lnTo>
                    <a:pt x="2380234" y="19176"/>
                  </a:lnTo>
                  <a:lnTo>
                    <a:pt x="2380234" y="13843"/>
                  </a:lnTo>
                  <a:close/>
                </a:path>
                <a:path w="2386330" h="33019">
                  <a:moveTo>
                    <a:pt x="2368812" y="13458"/>
                  </a:moveTo>
                  <a:lnTo>
                    <a:pt x="2374025" y="16509"/>
                  </a:lnTo>
                  <a:lnTo>
                    <a:pt x="2378583" y="13843"/>
                  </a:lnTo>
                  <a:lnTo>
                    <a:pt x="2380234" y="13843"/>
                  </a:lnTo>
                  <a:lnTo>
                    <a:pt x="2380234" y="13462"/>
                  </a:lnTo>
                  <a:lnTo>
                    <a:pt x="2368812" y="134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18515" y="1385316"/>
              <a:ext cx="1895475" cy="118110"/>
            </a:xfrm>
            <a:custGeom>
              <a:avLst/>
              <a:gdLst/>
              <a:ahLst/>
              <a:cxnLst/>
              <a:rect l="l" t="t" r="r" b="b"/>
              <a:pathLst>
                <a:path w="1895475" h="118109">
                  <a:moveTo>
                    <a:pt x="0" y="0"/>
                  </a:moveTo>
                  <a:lnTo>
                    <a:pt x="89204" y="118109"/>
                  </a:lnTo>
                </a:path>
                <a:path w="1895475" h="118109">
                  <a:moveTo>
                    <a:pt x="624840" y="0"/>
                  </a:moveTo>
                  <a:lnTo>
                    <a:pt x="713994" y="118109"/>
                  </a:lnTo>
                </a:path>
                <a:path w="1895475" h="118109">
                  <a:moveTo>
                    <a:pt x="1271016" y="0"/>
                  </a:moveTo>
                  <a:lnTo>
                    <a:pt x="1360170" y="118109"/>
                  </a:lnTo>
                </a:path>
                <a:path w="1895475" h="118109">
                  <a:moveTo>
                    <a:pt x="1805939" y="0"/>
                  </a:moveTo>
                  <a:lnTo>
                    <a:pt x="1895093" y="1181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168351" y="1489075"/>
            <a:ext cx="422275" cy="1606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35" algn="ctr">
              <a:lnSpc>
                <a:spcPts val="535"/>
              </a:lnSpc>
              <a:spcBef>
                <a:spcPts val="90"/>
              </a:spcBef>
            </a:pPr>
            <a:r>
              <a:rPr sz="450" b="1" spc="10" dirty="0">
                <a:latin typeface="Arial" panose="020B0604020202020204"/>
                <a:cs typeface="Arial" panose="020B0604020202020204"/>
              </a:rPr>
              <a:t>1985</a:t>
            </a:r>
            <a:endParaRPr sz="45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ts val="535"/>
              </a:lnSpc>
            </a:pPr>
            <a:r>
              <a:rPr sz="450" spc="-25" dirty="0">
                <a:latin typeface="Trebuchet MS" panose="020B0603020202020204"/>
                <a:cs typeface="Trebuchet MS" panose="020B0603020202020204"/>
              </a:rPr>
              <a:t>CA wind</a:t>
            </a:r>
            <a:r>
              <a:rPr sz="450" spc="-7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450" spc="-25" dirty="0">
                <a:latin typeface="Trebuchet MS" panose="020B0603020202020204"/>
                <a:cs typeface="Trebuchet MS" panose="020B0603020202020204"/>
              </a:rPr>
              <a:t>capacity</a:t>
            </a:r>
            <a:endParaRPr sz="4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45362" y="1489075"/>
            <a:ext cx="624205" cy="1606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" algn="ctr">
              <a:lnSpc>
                <a:spcPts val="535"/>
              </a:lnSpc>
              <a:spcBef>
                <a:spcPts val="90"/>
              </a:spcBef>
            </a:pPr>
            <a:r>
              <a:rPr sz="450" b="1" spc="10" dirty="0">
                <a:latin typeface="Arial" panose="020B0604020202020204"/>
                <a:cs typeface="Arial" panose="020B0604020202020204"/>
              </a:rPr>
              <a:t>1993</a:t>
            </a:r>
            <a:endParaRPr sz="45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ts val="535"/>
              </a:lnSpc>
            </a:pPr>
            <a:r>
              <a:rPr sz="450" dirty="0">
                <a:latin typeface="Trebuchet MS" panose="020B0603020202020204"/>
                <a:cs typeface="Trebuchet MS" panose="020B0603020202020204"/>
              </a:rPr>
              <a:t>US </a:t>
            </a:r>
            <a:r>
              <a:rPr sz="450" spc="-25" dirty="0">
                <a:latin typeface="Trebuchet MS" panose="020B0603020202020204"/>
                <a:cs typeface="Trebuchet MS" panose="020B0603020202020204"/>
              </a:rPr>
              <a:t>WindPower</a:t>
            </a:r>
            <a:r>
              <a:rPr sz="450" spc="-114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450" spc="-20" dirty="0">
                <a:latin typeface="Trebuchet MS" panose="020B0603020202020204"/>
                <a:cs typeface="Trebuchet MS" panose="020B0603020202020204"/>
              </a:rPr>
              <a:t>developed</a:t>
            </a:r>
            <a:endParaRPr sz="4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99286" y="1690217"/>
            <a:ext cx="318770" cy="933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50" spc="-25" dirty="0">
                <a:latin typeface="Trebuchet MS" panose="020B0603020202020204"/>
                <a:cs typeface="Trebuchet MS" panose="020B0603020202020204"/>
              </a:rPr>
              <a:t>wind</a:t>
            </a:r>
            <a:r>
              <a:rPr sz="450" spc="-6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450" spc="-25" dirty="0">
                <a:latin typeface="Trebuchet MS" panose="020B0603020202020204"/>
                <a:cs typeface="Trebuchet MS" panose="020B0603020202020204"/>
              </a:rPr>
              <a:t>turbine</a:t>
            </a:r>
            <a:endParaRPr sz="4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491233" y="1489075"/>
            <a:ext cx="374650" cy="1606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ts val="535"/>
              </a:lnSpc>
              <a:spcBef>
                <a:spcPts val="90"/>
              </a:spcBef>
            </a:pPr>
            <a:r>
              <a:rPr sz="450" b="1" spc="10" dirty="0">
                <a:latin typeface="Arial" panose="020B0604020202020204"/>
                <a:cs typeface="Arial" panose="020B0604020202020204"/>
              </a:rPr>
              <a:t>2004</a:t>
            </a:r>
            <a:endParaRPr sz="45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ts val="535"/>
              </a:lnSpc>
            </a:pPr>
            <a:r>
              <a:rPr sz="450" spc="-30" dirty="0">
                <a:latin typeface="Trebuchet MS" panose="020B0603020202020204"/>
                <a:cs typeface="Trebuchet MS" panose="020B0603020202020204"/>
              </a:rPr>
              <a:t>Electricity</a:t>
            </a:r>
            <a:r>
              <a:rPr sz="450" spc="-6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450" spc="-30" dirty="0">
                <a:latin typeface="Trebuchet MS" panose="020B0603020202020204"/>
                <a:cs typeface="Trebuchet MS" panose="020B0603020202020204"/>
              </a:rPr>
              <a:t>from</a:t>
            </a:r>
            <a:endParaRPr sz="4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2631" y="1623161"/>
            <a:ext cx="1758314" cy="933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50" spc="-25" dirty="0">
                <a:latin typeface="Trebuchet MS" panose="020B0603020202020204"/>
                <a:cs typeface="Trebuchet MS" panose="020B0603020202020204"/>
              </a:rPr>
              <a:t>exceeded </a:t>
            </a:r>
            <a:r>
              <a:rPr sz="450" spc="5" dirty="0">
                <a:latin typeface="Trebuchet MS" panose="020B0603020202020204"/>
                <a:cs typeface="Trebuchet MS" panose="020B0603020202020204"/>
              </a:rPr>
              <a:t>1,000 </a:t>
            </a:r>
            <a:r>
              <a:rPr sz="450" spc="10" dirty="0">
                <a:latin typeface="Trebuchet MS" panose="020B0603020202020204"/>
                <a:cs typeface="Trebuchet MS" panose="020B0603020202020204"/>
              </a:rPr>
              <a:t>MW </a:t>
            </a:r>
            <a:r>
              <a:rPr sz="450" spc="-30" dirty="0">
                <a:latin typeface="Trebuchet MS" panose="020B0603020202020204"/>
                <a:cs typeface="Trebuchet MS" panose="020B0603020202020204"/>
              </a:rPr>
              <a:t>first </a:t>
            </a:r>
            <a:r>
              <a:rPr sz="450" spc="-25" dirty="0">
                <a:latin typeface="Trebuchet MS" panose="020B0603020202020204"/>
                <a:cs typeface="Trebuchet MS" panose="020B0603020202020204"/>
              </a:rPr>
              <a:t>commercial </a:t>
            </a:r>
            <a:r>
              <a:rPr sz="450" spc="-20" dirty="0">
                <a:latin typeface="Trebuchet MS" panose="020B0603020202020204"/>
                <a:cs typeface="Trebuchet MS" panose="020B0603020202020204"/>
              </a:rPr>
              <a:t>variable-speed </a:t>
            </a:r>
            <a:r>
              <a:rPr sz="450" spc="-25" dirty="0">
                <a:latin typeface="Trebuchet MS" panose="020B0603020202020204"/>
                <a:cs typeface="Trebuchet MS" panose="020B0603020202020204"/>
              </a:rPr>
              <a:t>wind</a:t>
            </a:r>
            <a:r>
              <a:rPr sz="450" spc="3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450" spc="-20" dirty="0">
                <a:latin typeface="Trebuchet MS" panose="020B0603020202020204"/>
                <a:cs typeface="Trebuchet MS" panose="020B0603020202020204"/>
              </a:rPr>
              <a:t>generation</a:t>
            </a:r>
            <a:endParaRPr sz="4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440941" y="1690217"/>
            <a:ext cx="490220" cy="1606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39065" marR="5080" indent="-127000">
              <a:lnSpc>
                <a:spcPts val="530"/>
              </a:lnSpc>
              <a:spcBef>
                <a:spcPts val="120"/>
              </a:spcBef>
            </a:pPr>
            <a:r>
              <a:rPr sz="450" spc="-10" dirty="0">
                <a:latin typeface="Trebuchet MS" panose="020B0603020202020204"/>
                <a:cs typeface="Trebuchet MS" panose="020B0603020202020204"/>
              </a:rPr>
              <a:t>costs</a:t>
            </a:r>
            <a:r>
              <a:rPr sz="450" spc="-4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450" spc="20" dirty="0">
                <a:latin typeface="Trebuchet MS" panose="020B0603020202020204"/>
                <a:cs typeface="Trebuchet MS" panose="020B0603020202020204"/>
              </a:rPr>
              <a:t>3</a:t>
            </a:r>
            <a:r>
              <a:rPr sz="450" spc="-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450" spc="-40" dirty="0">
                <a:latin typeface="Trebuchet MS" panose="020B0603020202020204"/>
                <a:cs typeface="Trebuchet MS" panose="020B0603020202020204"/>
              </a:rPr>
              <a:t>to </a:t>
            </a:r>
            <a:r>
              <a:rPr sz="450" spc="-5" dirty="0">
                <a:latin typeface="Trebuchet MS" panose="020B0603020202020204"/>
                <a:cs typeface="Trebuchet MS" panose="020B0603020202020204"/>
              </a:rPr>
              <a:t>4.5</a:t>
            </a:r>
            <a:r>
              <a:rPr sz="450" spc="-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450" spc="-15" dirty="0">
                <a:latin typeface="Trebuchet MS" panose="020B0603020202020204"/>
                <a:cs typeface="Trebuchet MS" panose="020B0603020202020204"/>
              </a:rPr>
              <a:t>cents  </a:t>
            </a:r>
            <a:r>
              <a:rPr sz="450" spc="-25" dirty="0">
                <a:latin typeface="Trebuchet MS" panose="020B0603020202020204"/>
                <a:cs typeface="Trebuchet MS" panose="020B0603020202020204"/>
              </a:rPr>
              <a:t>per</a:t>
            </a:r>
            <a:r>
              <a:rPr sz="450" spc="-4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450" spc="-15" dirty="0">
                <a:latin typeface="Trebuchet MS" panose="020B0603020202020204"/>
                <a:cs typeface="Trebuchet MS" panose="020B0603020202020204"/>
              </a:rPr>
              <a:t>kWh</a:t>
            </a:r>
            <a:endParaRPr sz="4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985517" y="1489075"/>
            <a:ext cx="560705" cy="2946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ts val="535"/>
              </a:lnSpc>
              <a:spcBef>
                <a:spcPts val="90"/>
              </a:spcBef>
            </a:pPr>
            <a:r>
              <a:rPr sz="450" b="1" spc="5" dirty="0">
                <a:latin typeface="Arial" panose="020B0604020202020204"/>
                <a:cs typeface="Arial" panose="020B0604020202020204"/>
              </a:rPr>
              <a:t>2013</a:t>
            </a:r>
            <a:endParaRPr sz="450">
              <a:latin typeface="Arial" panose="020B0604020202020204"/>
              <a:cs typeface="Arial" panose="020B0604020202020204"/>
            </a:endParaRPr>
          </a:p>
          <a:p>
            <a:pPr marL="12065" marR="5080" indent="-635" algn="ctr">
              <a:lnSpc>
                <a:spcPts val="530"/>
              </a:lnSpc>
              <a:spcBef>
                <a:spcPts val="20"/>
              </a:spcBef>
            </a:pPr>
            <a:r>
              <a:rPr sz="450" spc="-20" dirty="0">
                <a:latin typeface="Trebuchet MS" panose="020B0603020202020204"/>
                <a:cs typeface="Trebuchet MS" panose="020B0603020202020204"/>
              </a:rPr>
              <a:t>Wind </a:t>
            </a:r>
            <a:r>
              <a:rPr sz="450" spc="-25" dirty="0">
                <a:latin typeface="Trebuchet MS" panose="020B0603020202020204"/>
                <a:cs typeface="Trebuchet MS" panose="020B0603020202020204"/>
              </a:rPr>
              <a:t>power provided  </a:t>
            </a:r>
            <a:r>
              <a:rPr sz="450" spc="-30" dirty="0">
                <a:latin typeface="Trebuchet MS" panose="020B0603020202020204"/>
                <a:cs typeface="Trebuchet MS" panose="020B0603020202020204"/>
              </a:rPr>
              <a:t>over </a:t>
            </a:r>
            <a:r>
              <a:rPr sz="450" spc="20" dirty="0">
                <a:latin typeface="Trebuchet MS" panose="020B0603020202020204"/>
                <a:cs typeface="Trebuchet MS" panose="020B0603020202020204"/>
              </a:rPr>
              <a:t>17%</a:t>
            </a:r>
            <a:r>
              <a:rPr sz="450" spc="-8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450" spc="-25" dirty="0">
                <a:latin typeface="Trebuchet MS" panose="020B0603020202020204"/>
                <a:cs typeface="Trebuchet MS" panose="020B0603020202020204"/>
              </a:rPr>
              <a:t>of renewable  energy </a:t>
            </a:r>
            <a:r>
              <a:rPr sz="450" spc="-5" dirty="0">
                <a:latin typeface="Trebuchet MS" panose="020B0603020202020204"/>
                <a:cs typeface="Trebuchet MS" panose="020B0603020202020204"/>
              </a:rPr>
              <a:t>used </a:t>
            </a:r>
            <a:r>
              <a:rPr sz="450" spc="-25" dirty="0">
                <a:latin typeface="Trebuchet MS" panose="020B0603020202020204"/>
                <a:cs typeface="Trebuchet MS" panose="020B0603020202020204"/>
              </a:rPr>
              <a:t>in</a:t>
            </a:r>
            <a:r>
              <a:rPr sz="450" spc="-8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450" dirty="0">
                <a:latin typeface="Trebuchet MS" panose="020B0603020202020204"/>
                <a:cs typeface="Trebuchet MS" panose="020B0603020202020204"/>
              </a:rPr>
              <a:t>US</a:t>
            </a:r>
            <a:endParaRPr sz="4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0" y="965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314325" cy="2011680"/>
            <a:chOff x="0" y="0"/>
            <a:chExt cx="314325" cy="201168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8895" cy="2011680"/>
            </a:xfrm>
            <a:custGeom>
              <a:avLst/>
              <a:gdLst/>
              <a:ahLst/>
              <a:cxnLst/>
              <a:rect l="l" t="t" r="r" b="b"/>
              <a:pathLst>
                <a:path w="48895" h="2011680">
                  <a:moveTo>
                    <a:pt x="48767" y="0"/>
                  </a:moveTo>
                  <a:lnTo>
                    <a:pt x="0" y="0"/>
                  </a:lnTo>
                  <a:lnTo>
                    <a:pt x="0" y="2011680"/>
                  </a:lnTo>
                  <a:lnTo>
                    <a:pt x="48767" y="2011680"/>
                  </a:lnTo>
                  <a:lnTo>
                    <a:pt x="48767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1923288"/>
              <a:ext cx="314325" cy="43180"/>
            </a:xfrm>
            <a:custGeom>
              <a:avLst/>
              <a:gdLst/>
              <a:ahLst/>
              <a:cxnLst/>
              <a:rect l="l" t="t" r="r" b="b"/>
              <a:pathLst>
                <a:path w="314325" h="43180">
                  <a:moveTo>
                    <a:pt x="313943" y="0"/>
                  </a:moveTo>
                  <a:lnTo>
                    <a:pt x="0" y="0"/>
                  </a:lnTo>
                  <a:lnTo>
                    <a:pt x="0" y="42671"/>
                  </a:lnTo>
                  <a:lnTo>
                    <a:pt x="313943" y="42671"/>
                  </a:lnTo>
                  <a:lnTo>
                    <a:pt x="313943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976884" y="1923288"/>
            <a:ext cx="1705610" cy="43180"/>
          </a:xfrm>
          <a:custGeom>
            <a:avLst/>
            <a:gdLst/>
            <a:ahLst/>
            <a:cxnLst/>
            <a:rect l="l" t="t" r="r" b="b"/>
            <a:pathLst>
              <a:path w="1705610" h="43180">
                <a:moveTo>
                  <a:pt x="0" y="42671"/>
                </a:moveTo>
                <a:lnTo>
                  <a:pt x="1705356" y="42671"/>
                </a:lnTo>
                <a:lnTo>
                  <a:pt x="1705356" y="0"/>
                </a:lnTo>
                <a:lnTo>
                  <a:pt x="0" y="0"/>
                </a:lnTo>
                <a:lnTo>
                  <a:pt x="0" y="42671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668" y="171958"/>
            <a:ext cx="93345" cy="159385"/>
          </a:xfrm>
          <a:custGeom>
            <a:avLst/>
            <a:gdLst/>
            <a:ahLst/>
            <a:cxnLst/>
            <a:rect l="l" t="t" r="r" b="b"/>
            <a:pathLst>
              <a:path w="93345" h="159385">
                <a:moveTo>
                  <a:pt x="0" y="0"/>
                </a:moveTo>
                <a:lnTo>
                  <a:pt x="19558" y="159384"/>
                </a:lnTo>
                <a:lnTo>
                  <a:pt x="92837" y="85089"/>
                </a:lnTo>
                <a:lnTo>
                  <a:pt x="0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81178" y="88519"/>
            <a:ext cx="2165985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i="1" spc="15" dirty="0">
                <a:latin typeface="Times New Roman" panose="02020603050405020304"/>
                <a:cs typeface="Times New Roman" panose="02020603050405020304"/>
              </a:rPr>
              <a:t>Why </a:t>
            </a:r>
            <a:r>
              <a:rPr sz="1150" i="1" spc="10" dirty="0">
                <a:latin typeface="Times New Roman" panose="02020603050405020304"/>
                <a:cs typeface="Times New Roman" panose="02020603050405020304"/>
              </a:rPr>
              <a:t>Such Growth? </a:t>
            </a:r>
            <a:r>
              <a:rPr i="1" dirty="0">
                <a:solidFill>
                  <a:srgbClr val="00AFEF"/>
                </a:solidFill>
                <a:latin typeface="Times New Roman" panose="02020603050405020304"/>
                <a:cs typeface="Times New Roman" panose="02020603050405020304"/>
              </a:rPr>
              <a:t>…costs are</a:t>
            </a:r>
            <a:r>
              <a:rPr i="1" spc="-110" dirty="0">
                <a:solidFill>
                  <a:srgbClr val="00AFE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i="1" dirty="0">
                <a:solidFill>
                  <a:srgbClr val="00AFEF"/>
                </a:solidFill>
                <a:latin typeface="Times New Roman" panose="02020603050405020304"/>
                <a:cs typeface="Times New Roman" panose="02020603050405020304"/>
              </a:rPr>
              <a:t>low!</a:t>
            </a:r>
            <a:endParaRPr sz="115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11252" y="312420"/>
            <a:ext cx="871855" cy="1531620"/>
            <a:chOff x="111252" y="312420"/>
            <a:chExt cx="871855" cy="1531620"/>
          </a:xfrm>
        </p:grpSpPr>
        <p:sp>
          <p:nvSpPr>
            <p:cNvPr id="9" name="object 9"/>
            <p:cNvSpPr/>
            <p:nvPr/>
          </p:nvSpPr>
          <p:spPr>
            <a:xfrm>
              <a:off x="111252" y="312420"/>
              <a:ext cx="871727" cy="1002791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17982" y="1728978"/>
              <a:ext cx="50800" cy="111760"/>
            </a:xfrm>
            <a:custGeom>
              <a:avLst/>
              <a:gdLst/>
              <a:ahLst/>
              <a:cxnLst/>
              <a:rect l="l" t="t" r="r" b="b"/>
              <a:pathLst>
                <a:path w="50800" h="111760">
                  <a:moveTo>
                    <a:pt x="25146" y="0"/>
                  </a:moveTo>
                  <a:lnTo>
                    <a:pt x="0" y="0"/>
                  </a:lnTo>
                  <a:lnTo>
                    <a:pt x="25146" y="55625"/>
                  </a:lnTo>
                  <a:lnTo>
                    <a:pt x="0" y="111251"/>
                  </a:lnTo>
                  <a:lnTo>
                    <a:pt x="25146" y="111251"/>
                  </a:lnTo>
                  <a:lnTo>
                    <a:pt x="50291" y="55625"/>
                  </a:lnTo>
                  <a:lnTo>
                    <a:pt x="25146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17982" y="1728978"/>
              <a:ext cx="50800" cy="111760"/>
            </a:xfrm>
            <a:custGeom>
              <a:avLst/>
              <a:gdLst/>
              <a:ahLst/>
              <a:cxnLst/>
              <a:rect l="l" t="t" r="r" b="b"/>
              <a:pathLst>
                <a:path w="50800" h="111760">
                  <a:moveTo>
                    <a:pt x="0" y="0"/>
                  </a:moveTo>
                  <a:lnTo>
                    <a:pt x="25146" y="0"/>
                  </a:lnTo>
                  <a:lnTo>
                    <a:pt x="50291" y="55625"/>
                  </a:lnTo>
                  <a:lnTo>
                    <a:pt x="25146" y="111251"/>
                  </a:lnTo>
                  <a:lnTo>
                    <a:pt x="0" y="111251"/>
                  </a:lnTo>
                  <a:lnTo>
                    <a:pt x="25146" y="55625"/>
                  </a:lnTo>
                  <a:lnTo>
                    <a:pt x="0" y="0"/>
                  </a:lnTo>
                  <a:close/>
                </a:path>
              </a:pathLst>
            </a:custGeom>
            <a:ln w="7621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62814" y="1706676"/>
            <a:ext cx="389255" cy="1689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15"/>
              </a:spcBef>
            </a:pPr>
            <a:r>
              <a:rPr sz="450" b="1" spc="20" dirty="0">
                <a:latin typeface="Arial" panose="020B0604020202020204"/>
                <a:cs typeface="Arial" panose="020B0604020202020204"/>
              </a:rPr>
              <a:t>1979</a:t>
            </a:r>
            <a:endParaRPr sz="45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450" b="1" spc="25" dirty="0">
                <a:latin typeface="Arial" panose="020B0604020202020204"/>
                <a:cs typeface="Arial" panose="020B0604020202020204"/>
              </a:rPr>
              <a:t>40</a:t>
            </a:r>
            <a:r>
              <a:rPr sz="450" b="1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450" b="1" spc="-10" dirty="0">
                <a:latin typeface="Arial" panose="020B0604020202020204"/>
                <a:cs typeface="Arial" panose="020B0604020202020204"/>
              </a:rPr>
              <a:t>cents/kWh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7522" y="1684426"/>
            <a:ext cx="404495" cy="1689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15"/>
              </a:spcBef>
            </a:pPr>
            <a:r>
              <a:rPr sz="450" b="1" spc="30" dirty="0">
                <a:latin typeface="Arial" panose="020B0604020202020204"/>
                <a:cs typeface="Arial" panose="020B0604020202020204"/>
              </a:rPr>
              <a:t>2000</a:t>
            </a:r>
            <a:endParaRPr sz="45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450" b="1" spc="10" dirty="0">
                <a:latin typeface="Arial" panose="020B0604020202020204"/>
                <a:cs typeface="Arial" panose="020B0604020202020204"/>
              </a:rPr>
              <a:t>4-6</a:t>
            </a:r>
            <a:r>
              <a:rPr sz="450" b="1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450" b="1" spc="-10" dirty="0">
                <a:latin typeface="Arial" panose="020B0604020202020204"/>
                <a:cs typeface="Arial" panose="020B0604020202020204"/>
              </a:rPr>
              <a:t>cents/kWh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181100" y="1725168"/>
            <a:ext cx="58419" cy="119380"/>
            <a:chOff x="1181100" y="1725168"/>
            <a:chExt cx="58419" cy="119380"/>
          </a:xfrm>
        </p:grpSpPr>
        <p:sp>
          <p:nvSpPr>
            <p:cNvPr id="15" name="object 15"/>
            <p:cNvSpPr/>
            <p:nvPr/>
          </p:nvSpPr>
          <p:spPr>
            <a:xfrm>
              <a:off x="1184910" y="1728978"/>
              <a:ext cx="50800" cy="111760"/>
            </a:xfrm>
            <a:custGeom>
              <a:avLst/>
              <a:gdLst/>
              <a:ahLst/>
              <a:cxnLst/>
              <a:rect l="l" t="t" r="r" b="b"/>
              <a:pathLst>
                <a:path w="50800" h="111760">
                  <a:moveTo>
                    <a:pt x="25146" y="0"/>
                  </a:moveTo>
                  <a:lnTo>
                    <a:pt x="0" y="0"/>
                  </a:lnTo>
                  <a:lnTo>
                    <a:pt x="25146" y="55625"/>
                  </a:lnTo>
                  <a:lnTo>
                    <a:pt x="0" y="111251"/>
                  </a:lnTo>
                  <a:lnTo>
                    <a:pt x="25146" y="111251"/>
                  </a:lnTo>
                  <a:lnTo>
                    <a:pt x="50292" y="55625"/>
                  </a:lnTo>
                  <a:lnTo>
                    <a:pt x="25146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184910" y="1728978"/>
              <a:ext cx="50800" cy="111760"/>
            </a:xfrm>
            <a:custGeom>
              <a:avLst/>
              <a:gdLst/>
              <a:ahLst/>
              <a:cxnLst/>
              <a:rect l="l" t="t" r="r" b="b"/>
              <a:pathLst>
                <a:path w="50800" h="111760">
                  <a:moveTo>
                    <a:pt x="0" y="0"/>
                  </a:moveTo>
                  <a:lnTo>
                    <a:pt x="25146" y="0"/>
                  </a:lnTo>
                  <a:lnTo>
                    <a:pt x="50292" y="55625"/>
                  </a:lnTo>
                  <a:lnTo>
                    <a:pt x="25146" y="111251"/>
                  </a:lnTo>
                  <a:lnTo>
                    <a:pt x="0" y="111251"/>
                  </a:lnTo>
                  <a:lnTo>
                    <a:pt x="25146" y="55625"/>
                  </a:lnTo>
                  <a:lnTo>
                    <a:pt x="0" y="0"/>
                  </a:lnTo>
                  <a:close/>
                </a:path>
              </a:pathLst>
            </a:custGeom>
            <a:ln w="7621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1315974" y="1684426"/>
            <a:ext cx="453390" cy="1689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15"/>
              </a:spcBef>
            </a:pPr>
            <a:r>
              <a:rPr sz="450" b="1" spc="30" dirty="0">
                <a:latin typeface="Arial" panose="020B0604020202020204"/>
                <a:cs typeface="Arial" panose="020B0604020202020204"/>
              </a:rPr>
              <a:t>2004</a:t>
            </a:r>
            <a:endParaRPr sz="45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450" b="1" spc="10" dirty="0">
                <a:latin typeface="Arial" panose="020B0604020202020204"/>
                <a:cs typeface="Arial" panose="020B0604020202020204"/>
              </a:rPr>
              <a:t>3-4.5</a:t>
            </a:r>
            <a:r>
              <a:rPr sz="450" b="1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450" b="1" spc="-10" dirty="0">
                <a:latin typeface="Arial" panose="020B0604020202020204"/>
                <a:cs typeface="Arial" panose="020B0604020202020204"/>
              </a:rPr>
              <a:t>cents/kWh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824227" y="1725168"/>
            <a:ext cx="58419" cy="119380"/>
            <a:chOff x="1824227" y="1725168"/>
            <a:chExt cx="58419" cy="119380"/>
          </a:xfrm>
        </p:grpSpPr>
        <p:sp>
          <p:nvSpPr>
            <p:cNvPr id="19" name="object 19"/>
            <p:cNvSpPr/>
            <p:nvPr/>
          </p:nvSpPr>
          <p:spPr>
            <a:xfrm>
              <a:off x="1828037" y="1728978"/>
              <a:ext cx="50800" cy="111760"/>
            </a:xfrm>
            <a:custGeom>
              <a:avLst/>
              <a:gdLst/>
              <a:ahLst/>
              <a:cxnLst/>
              <a:rect l="l" t="t" r="r" b="b"/>
              <a:pathLst>
                <a:path w="50800" h="111760">
                  <a:moveTo>
                    <a:pt x="25146" y="0"/>
                  </a:moveTo>
                  <a:lnTo>
                    <a:pt x="0" y="0"/>
                  </a:lnTo>
                  <a:lnTo>
                    <a:pt x="25146" y="55625"/>
                  </a:lnTo>
                  <a:lnTo>
                    <a:pt x="0" y="111251"/>
                  </a:lnTo>
                  <a:lnTo>
                    <a:pt x="25146" y="111251"/>
                  </a:lnTo>
                  <a:lnTo>
                    <a:pt x="50292" y="55625"/>
                  </a:lnTo>
                  <a:lnTo>
                    <a:pt x="25146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828037" y="1728978"/>
              <a:ext cx="50800" cy="111760"/>
            </a:xfrm>
            <a:custGeom>
              <a:avLst/>
              <a:gdLst/>
              <a:ahLst/>
              <a:cxnLst/>
              <a:rect l="l" t="t" r="r" b="b"/>
              <a:pathLst>
                <a:path w="50800" h="111760">
                  <a:moveTo>
                    <a:pt x="0" y="0"/>
                  </a:moveTo>
                  <a:lnTo>
                    <a:pt x="25146" y="0"/>
                  </a:lnTo>
                  <a:lnTo>
                    <a:pt x="50292" y="55625"/>
                  </a:lnTo>
                  <a:lnTo>
                    <a:pt x="25146" y="111251"/>
                  </a:lnTo>
                  <a:lnTo>
                    <a:pt x="0" y="111251"/>
                  </a:lnTo>
                  <a:lnTo>
                    <a:pt x="25146" y="55625"/>
                  </a:lnTo>
                  <a:lnTo>
                    <a:pt x="0" y="0"/>
                  </a:lnTo>
                  <a:close/>
                </a:path>
              </a:pathLst>
            </a:custGeom>
            <a:ln w="7621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1999614" y="1684426"/>
            <a:ext cx="404495" cy="1689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5"/>
              </a:spcBef>
            </a:pPr>
            <a:r>
              <a:rPr sz="450" b="1" spc="20" dirty="0">
                <a:latin typeface="Arial" panose="020B0604020202020204"/>
                <a:cs typeface="Arial" panose="020B0604020202020204"/>
              </a:rPr>
              <a:t>2011</a:t>
            </a:r>
            <a:endParaRPr sz="45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450" b="1" spc="10" dirty="0">
                <a:latin typeface="Arial" panose="020B0604020202020204"/>
                <a:cs typeface="Arial" panose="020B0604020202020204"/>
              </a:rPr>
              <a:t>&lt; </a:t>
            </a:r>
            <a:r>
              <a:rPr sz="450" b="1" spc="20" dirty="0">
                <a:latin typeface="Arial" panose="020B0604020202020204"/>
                <a:cs typeface="Arial" panose="020B0604020202020204"/>
              </a:rPr>
              <a:t>5</a:t>
            </a:r>
            <a:r>
              <a:rPr sz="450" b="1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450" b="1" spc="-10" dirty="0">
                <a:latin typeface="Arial" panose="020B0604020202020204"/>
                <a:cs typeface="Arial" panose="020B0604020202020204"/>
              </a:rPr>
              <a:t>cents/kWh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9563" y="309448"/>
            <a:ext cx="2564130" cy="136207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150620" indent="-66040">
              <a:lnSpc>
                <a:spcPct val="100000"/>
              </a:lnSpc>
              <a:spcBef>
                <a:spcPts val="300"/>
              </a:spcBef>
              <a:buClr>
                <a:srgbClr val="00AFEF"/>
              </a:buClr>
              <a:buFont typeface="Arial" panose="020B0604020202020204"/>
              <a:buChar char="•"/>
              <a:tabLst>
                <a:tab pos="1151255" algn="l"/>
              </a:tabLst>
            </a:pPr>
            <a:r>
              <a:rPr sz="750" i="1" dirty="0">
                <a:latin typeface="Times New Roman" panose="02020603050405020304"/>
                <a:cs typeface="Times New Roman" panose="02020603050405020304"/>
              </a:rPr>
              <a:t>Increased Turbine</a:t>
            </a:r>
            <a:r>
              <a:rPr sz="750" i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i="1" spc="5" dirty="0">
                <a:latin typeface="Times New Roman" panose="02020603050405020304"/>
                <a:cs typeface="Times New Roman" panose="02020603050405020304"/>
              </a:rPr>
              <a:t>Size</a:t>
            </a:r>
            <a:endParaRPr sz="750">
              <a:latin typeface="Times New Roman" panose="02020603050405020304"/>
              <a:cs typeface="Times New Roman" panose="02020603050405020304"/>
            </a:endParaRPr>
          </a:p>
          <a:p>
            <a:pPr marL="1150620" indent="-66040">
              <a:lnSpc>
                <a:spcPct val="100000"/>
              </a:lnSpc>
              <a:spcBef>
                <a:spcPts val="205"/>
              </a:spcBef>
              <a:buClr>
                <a:srgbClr val="00AFEF"/>
              </a:buClr>
              <a:buFont typeface="Arial" panose="020B0604020202020204"/>
              <a:buChar char="•"/>
              <a:tabLst>
                <a:tab pos="1151255" algn="l"/>
              </a:tabLst>
            </a:pPr>
            <a:r>
              <a:rPr sz="750" i="1" dirty="0">
                <a:latin typeface="Times New Roman" panose="02020603050405020304"/>
                <a:cs typeface="Times New Roman" panose="02020603050405020304"/>
              </a:rPr>
              <a:t>R&amp;D</a:t>
            </a:r>
            <a:r>
              <a:rPr sz="750" i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i="1" dirty="0">
                <a:latin typeface="Times New Roman" panose="02020603050405020304"/>
                <a:cs typeface="Times New Roman" panose="02020603050405020304"/>
              </a:rPr>
              <a:t>Advances</a:t>
            </a:r>
            <a:endParaRPr sz="750">
              <a:latin typeface="Times New Roman" panose="02020603050405020304"/>
              <a:cs typeface="Times New Roman" panose="02020603050405020304"/>
            </a:endParaRPr>
          </a:p>
          <a:p>
            <a:pPr marL="1150620" indent="-66040">
              <a:lnSpc>
                <a:spcPct val="100000"/>
              </a:lnSpc>
              <a:spcBef>
                <a:spcPts val="190"/>
              </a:spcBef>
              <a:buClr>
                <a:srgbClr val="00AFEF"/>
              </a:buClr>
              <a:buFont typeface="Arial" panose="020B0604020202020204"/>
              <a:buChar char="•"/>
              <a:tabLst>
                <a:tab pos="1151255" algn="l"/>
              </a:tabLst>
            </a:pPr>
            <a:r>
              <a:rPr sz="750" i="1" spc="5" dirty="0">
                <a:latin typeface="Times New Roman" panose="02020603050405020304"/>
                <a:cs typeface="Times New Roman" panose="02020603050405020304"/>
              </a:rPr>
              <a:t>Manufacturing</a:t>
            </a:r>
            <a:r>
              <a:rPr sz="750" i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i="1" dirty="0">
                <a:latin typeface="Times New Roman" panose="02020603050405020304"/>
                <a:cs typeface="Times New Roman" panose="02020603050405020304"/>
              </a:rPr>
              <a:t>Improvements</a:t>
            </a:r>
            <a:endParaRPr sz="750">
              <a:latin typeface="Times New Roman" panose="02020603050405020304"/>
              <a:cs typeface="Times New Roman" panose="02020603050405020304"/>
            </a:endParaRPr>
          </a:p>
          <a:p>
            <a:pPr marL="973455" marR="5080">
              <a:lnSpc>
                <a:spcPts val="770"/>
              </a:lnSpc>
              <a:spcBef>
                <a:spcPts val="625"/>
              </a:spcBef>
            </a:pPr>
            <a:r>
              <a:rPr sz="650" i="1" spc="-5" dirty="0">
                <a:latin typeface="Times New Roman" panose="02020603050405020304"/>
                <a:cs typeface="Times New Roman" panose="02020603050405020304"/>
              </a:rPr>
              <a:t>The rapid </a:t>
            </a:r>
            <a:r>
              <a:rPr sz="650" i="1" spc="-15" dirty="0">
                <a:latin typeface="Times New Roman" panose="02020603050405020304"/>
                <a:cs typeface="Times New Roman" panose="02020603050405020304"/>
              </a:rPr>
              <a:t>growth </a:t>
            </a:r>
            <a:r>
              <a:rPr sz="650" i="1" spc="-5" dirty="0"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650" i="1" spc="-10" dirty="0">
                <a:latin typeface="Times New Roman" panose="02020603050405020304"/>
                <a:cs typeface="Times New Roman" panose="02020603050405020304"/>
              </a:rPr>
              <a:t>wind</a:t>
            </a:r>
            <a:r>
              <a:rPr sz="650" i="1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50" i="1" spc="-5" dirty="0">
                <a:latin typeface="Times New Roman" panose="02020603050405020304"/>
                <a:cs typeface="Times New Roman" panose="02020603050405020304"/>
              </a:rPr>
              <a:t>power can be  attributed to </a:t>
            </a:r>
            <a:r>
              <a:rPr sz="650" i="1" spc="-10" dirty="0">
                <a:latin typeface="Times New Roman" panose="02020603050405020304"/>
                <a:cs typeface="Times New Roman" panose="02020603050405020304"/>
              </a:rPr>
              <a:t>two</a:t>
            </a:r>
            <a:r>
              <a:rPr sz="650" i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50" i="1" spc="-5" dirty="0">
                <a:latin typeface="Times New Roman" panose="02020603050405020304"/>
                <a:cs typeface="Times New Roman" panose="02020603050405020304"/>
              </a:rPr>
              <a:t>things.</a:t>
            </a:r>
            <a:endParaRPr sz="650">
              <a:latin typeface="Times New Roman" panose="02020603050405020304"/>
              <a:cs typeface="Times New Roman" panose="02020603050405020304"/>
            </a:endParaRPr>
          </a:p>
          <a:p>
            <a:pPr marL="1110615" indent="-72390">
              <a:lnSpc>
                <a:spcPct val="100000"/>
              </a:lnSpc>
              <a:spcBef>
                <a:spcPts val="155"/>
              </a:spcBef>
              <a:buFont typeface="Wingdings" panose="05000000000000000000"/>
              <a:buChar char=""/>
              <a:tabLst>
                <a:tab pos="1111250" algn="l"/>
              </a:tabLst>
            </a:pPr>
            <a:r>
              <a:rPr sz="650" i="1" spc="-5" dirty="0">
                <a:latin typeface="Times New Roman" panose="02020603050405020304"/>
                <a:cs typeface="Times New Roman" panose="02020603050405020304"/>
              </a:rPr>
              <a:t>reduction in cost of electricity</a:t>
            </a:r>
            <a:r>
              <a:rPr sz="650" i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50" i="1" spc="-5" dirty="0">
                <a:latin typeface="Times New Roman" panose="02020603050405020304"/>
                <a:cs typeface="Times New Roman" panose="02020603050405020304"/>
              </a:rPr>
              <a:t>produced</a:t>
            </a:r>
            <a:endParaRPr sz="650">
              <a:latin typeface="Times New Roman" panose="02020603050405020304"/>
              <a:cs typeface="Times New Roman" panose="02020603050405020304"/>
            </a:endParaRPr>
          </a:p>
          <a:p>
            <a:pPr marL="1110615" indent="-72390">
              <a:lnSpc>
                <a:spcPct val="100000"/>
              </a:lnSpc>
              <a:spcBef>
                <a:spcPts val="170"/>
              </a:spcBef>
              <a:buFont typeface="Wingdings" panose="05000000000000000000"/>
              <a:buChar char=""/>
              <a:tabLst>
                <a:tab pos="1111250" algn="l"/>
              </a:tabLst>
            </a:pPr>
            <a:r>
              <a:rPr sz="650" i="1" spc="-10" dirty="0">
                <a:latin typeface="Times New Roman" panose="02020603050405020304"/>
                <a:cs typeface="Times New Roman" panose="02020603050405020304"/>
              </a:rPr>
              <a:t>more </a:t>
            </a:r>
            <a:r>
              <a:rPr sz="650" i="1" spc="-5" dirty="0">
                <a:latin typeface="Times New Roman" panose="02020603050405020304"/>
                <a:cs typeface="Times New Roman" panose="02020603050405020304"/>
              </a:rPr>
              <a:t>interest in </a:t>
            </a:r>
            <a:r>
              <a:rPr sz="650" i="1" spc="-10" dirty="0">
                <a:latin typeface="Times New Roman" panose="02020603050405020304"/>
                <a:cs typeface="Times New Roman" panose="02020603050405020304"/>
              </a:rPr>
              <a:t>renewable</a:t>
            </a:r>
            <a:r>
              <a:rPr sz="650" i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50" i="1" spc="-5" dirty="0">
                <a:latin typeface="Times New Roman" panose="02020603050405020304"/>
                <a:cs typeface="Times New Roman" panose="02020603050405020304"/>
              </a:rPr>
              <a:t>technologies.</a:t>
            </a:r>
            <a:endParaRPr sz="6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700">
              <a:latin typeface="Times New Roman" panose="02020603050405020304"/>
              <a:cs typeface="Times New Roman" panose="02020603050405020304"/>
            </a:endParaRPr>
          </a:p>
          <a:p>
            <a:pPr marL="12700" marR="25400" algn="just">
              <a:lnSpc>
                <a:spcPct val="99000"/>
              </a:lnSpc>
            </a:pPr>
            <a:r>
              <a:rPr sz="650" b="1" i="1" spc="-1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Between </a:t>
            </a:r>
            <a:r>
              <a:rPr sz="650" b="1" i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2004 to </a:t>
            </a:r>
            <a:r>
              <a:rPr sz="650" b="1" i="1" spc="-1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2011, </a:t>
            </a:r>
            <a:r>
              <a:rPr sz="650" b="1" i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an increase in price can </a:t>
            </a:r>
            <a:r>
              <a:rPr sz="650" b="1" i="1" spc="-1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be </a:t>
            </a:r>
            <a:r>
              <a:rPr sz="650" b="1" i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attributed </a:t>
            </a:r>
            <a:r>
              <a:rPr sz="650" b="1" i="1" spc="-1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to higher  </a:t>
            </a:r>
            <a:r>
              <a:rPr sz="650" b="1" i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rates of demand than </a:t>
            </a:r>
            <a:r>
              <a:rPr sz="650" b="1" i="1" spc="-1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supply </a:t>
            </a:r>
            <a:r>
              <a:rPr sz="650" b="1" i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of turbines </a:t>
            </a:r>
            <a:r>
              <a:rPr sz="650" b="1" i="1" spc="-1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650" b="1" i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rising commodity prices  </a:t>
            </a:r>
            <a:r>
              <a:rPr sz="650" b="1" i="1" spc="-1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including </a:t>
            </a:r>
            <a:r>
              <a:rPr sz="650" b="1" i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a rise in the price of</a:t>
            </a:r>
            <a:r>
              <a:rPr sz="650" b="1" i="1" spc="-2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50" b="1" i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steel.</a:t>
            </a:r>
            <a:endParaRPr sz="6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35" y="965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9207" y="130885"/>
            <a:ext cx="240982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spc="-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1300" i="1" spc="-15" dirty="0">
                <a:latin typeface="Times New Roman" panose="02020603050405020304"/>
                <a:cs typeface="Times New Roman" panose="02020603050405020304"/>
              </a:rPr>
              <a:t>Wind </a:t>
            </a:r>
            <a:r>
              <a:rPr sz="1300" i="1" spc="-5" dirty="0">
                <a:latin typeface="Times New Roman" panose="02020603050405020304"/>
                <a:cs typeface="Times New Roman" panose="02020603050405020304"/>
              </a:rPr>
              <a:t>Energy </a:t>
            </a:r>
            <a:r>
              <a:rPr sz="1300" i="1" spc="-15" dirty="0">
                <a:latin typeface="Times New Roman" panose="02020603050405020304"/>
                <a:cs typeface="Times New Roman" panose="02020603050405020304"/>
              </a:rPr>
              <a:t>Truly</a:t>
            </a:r>
            <a:r>
              <a:rPr sz="1300" i="1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i="1" spc="-5" dirty="0">
                <a:latin typeface="Times New Roman" panose="02020603050405020304"/>
                <a:cs typeface="Times New Roman" panose="02020603050405020304"/>
              </a:rPr>
              <a:t>Sustainable?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8234" y="375305"/>
            <a:ext cx="2429510" cy="132715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13030" indent="-100965">
              <a:lnSpc>
                <a:spcPct val="100000"/>
              </a:lnSpc>
              <a:spcBef>
                <a:spcPts val="300"/>
              </a:spcBef>
              <a:buFont typeface="Arial" panose="020B0604020202020204"/>
              <a:buChar char="•"/>
              <a:tabLst>
                <a:tab pos="113030" algn="l"/>
              </a:tabLst>
            </a:pPr>
            <a:r>
              <a:rPr sz="750" i="1" spc="-30" dirty="0">
                <a:latin typeface="Times New Roman" panose="02020603050405020304"/>
                <a:cs typeface="Times New Roman" panose="02020603050405020304"/>
              </a:rPr>
              <a:t>Yes</a:t>
            </a:r>
            <a:endParaRPr sz="750">
              <a:latin typeface="Times New Roman" panose="02020603050405020304"/>
              <a:cs typeface="Times New Roman" panose="02020603050405020304"/>
            </a:endParaRPr>
          </a:p>
          <a:p>
            <a:pPr marL="146685">
              <a:lnSpc>
                <a:spcPct val="100000"/>
              </a:lnSpc>
              <a:spcBef>
                <a:spcPts val="185"/>
              </a:spcBef>
            </a:pPr>
            <a:r>
              <a:rPr sz="700" dirty="0">
                <a:latin typeface="Arial" panose="020B0604020202020204"/>
                <a:cs typeface="Arial" panose="020B0604020202020204"/>
              </a:rPr>
              <a:t>–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All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you need is</a:t>
            </a:r>
            <a:r>
              <a:rPr sz="700" i="1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wind!</a:t>
            </a:r>
            <a:endParaRPr sz="700">
              <a:latin typeface="Times New Roman" panose="02020603050405020304"/>
              <a:cs typeface="Times New Roman" panose="02020603050405020304"/>
            </a:endParaRPr>
          </a:p>
          <a:p>
            <a:pPr marL="113030" indent="-100965">
              <a:lnSpc>
                <a:spcPct val="100000"/>
              </a:lnSpc>
              <a:spcBef>
                <a:spcPts val="190"/>
              </a:spcBef>
              <a:buFont typeface="Arial" panose="020B0604020202020204"/>
              <a:buChar char="•"/>
              <a:tabLst>
                <a:tab pos="113030" algn="l"/>
              </a:tabLst>
            </a:pPr>
            <a:r>
              <a:rPr sz="750" i="1" dirty="0">
                <a:latin typeface="Times New Roman" panose="02020603050405020304"/>
                <a:cs typeface="Times New Roman" panose="02020603050405020304"/>
              </a:rPr>
              <a:t>There</a:t>
            </a:r>
            <a:r>
              <a:rPr sz="750" i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i="1" spc="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750" i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i="1" spc="5" dirty="0">
                <a:latin typeface="Times New Roman" panose="02020603050405020304"/>
                <a:cs typeface="Times New Roman" panose="02020603050405020304"/>
              </a:rPr>
              <a:t>no</a:t>
            </a:r>
            <a:r>
              <a:rPr sz="750" i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i="1" spc="5" dirty="0">
                <a:latin typeface="Times New Roman" panose="02020603050405020304"/>
                <a:cs typeface="Times New Roman" panose="02020603050405020304"/>
              </a:rPr>
              <a:t>use</a:t>
            </a:r>
            <a:r>
              <a:rPr sz="750" i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i="1" spc="5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750" i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i="1" spc="5" dirty="0">
                <a:latin typeface="Times New Roman" panose="02020603050405020304"/>
                <a:cs typeface="Times New Roman" panose="02020603050405020304"/>
              </a:rPr>
              <a:t>any</a:t>
            </a:r>
            <a:r>
              <a:rPr sz="750" i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i="1" spc="5" dirty="0">
                <a:latin typeface="Times New Roman" panose="02020603050405020304"/>
                <a:cs typeface="Times New Roman" panose="02020603050405020304"/>
              </a:rPr>
              <a:t>fossil</a:t>
            </a:r>
            <a:r>
              <a:rPr sz="750" i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i="1" dirty="0">
                <a:latin typeface="Times New Roman" panose="02020603050405020304"/>
                <a:cs typeface="Times New Roman" panose="02020603050405020304"/>
              </a:rPr>
              <a:t>fuels</a:t>
            </a:r>
            <a:r>
              <a:rPr sz="750" i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i="1" spc="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750" i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i="1" spc="5" dirty="0">
                <a:latin typeface="Times New Roman" panose="02020603050405020304"/>
                <a:cs typeface="Times New Roman" panose="02020603050405020304"/>
              </a:rPr>
              <a:t>power</a:t>
            </a:r>
            <a:r>
              <a:rPr sz="750" i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i="1" spc="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750" i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i="1" spc="5" dirty="0">
                <a:latin typeface="Times New Roman" panose="02020603050405020304"/>
                <a:cs typeface="Times New Roman" panose="02020603050405020304"/>
              </a:rPr>
              <a:t>wind</a:t>
            </a:r>
            <a:r>
              <a:rPr sz="750" i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i="1" spc="5" dirty="0">
                <a:latin typeface="Times New Roman" panose="02020603050405020304"/>
                <a:cs typeface="Times New Roman" panose="02020603050405020304"/>
              </a:rPr>
              <a:t>turbine.</a:t>
            </a:r>
            <a:endParaRPr sz="7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 panose="020B0604020202020204"/>
              <a:buChar char="•"/>
            </a:pPr>
            <a:endParaRPr sz="1100">
              <a:latin typeface="Times New Roman" panose="02020603050405020304"/>
              <a:cs typeface="Times New Roman" panose="02020603050405020304"/>
            </a:endParaRPr>
          </a:p>
          <a:p>
            <a:pPr marL="57150">
              <a:lnSpc>
                <a:spcPct val="100000"/>
              </a:lnSpc>
              <a:spcBef>
                <a:spcPts val="5"/>
              </a:spcBef>
            </a:pPr>
            <a:r>
              <a:rPr sz="900" b="1" i="1" spc="1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Lifespan of </a:t>
            </a:r>
            <a:r>
              <a:rPr sz="900" b="1" i="1" spc="2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New </a:t>
            </a:r>
            <a:r>
              <a:rPr sz="900" b="1" i="1" spc="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Wind</a:t>
            </a:r>
            <a:r>
              <a:rPr sz="900" b="1" i="1" spc="-3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i="1" spc="2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Farms</a:t>
            </a: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marL="413385" lvl="1" indent="-114935">
              <a:lnSpc>
                <a:spcPct val="100000"/>
              </a:lnSpc>
              <a:spcBef>
                <a:spcPts val="595"/>
              </a:spcBef>
              <a:buFont typeface="Wingdings" panose="05000000000000000000"/>
              <a:buChar char=""/>
              <a:tabLst>
                <a:tab pos="414020" algn="l"/>
              </a:tabLst>
            </a:pPr>
            <a:r>
              <a:rPr sz="700" i="1" dirty="0">
                <a:latin typeface="Times New Roman" panose="02020603050405020304"/>
                <a:cs typeface="Times New Roman" panose="02020603050405020304"/>
              </a:rPr>
              <a:t>Industry predictions: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20-25</a:t>
            </a:r>
            <a:r>
              <a:rPr sz="700" i="1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years</a:t>
            </a:r>
            <a:endParaRPr sz="700">
              <a:latin typeface="Times New Roman" panose="02020603050405020304"/>
              <a:cs typeface="Times New Roman" panose="02020603050405020304"/>
            </a:endParaRPr>
          </a:p>
          <a:p>
            <a:pPr marL="413385" lvl="1" indent="-114935">
              <a:lnSpc>
                <a:spcPct val="100000"/>
              </a:lnSpc>
              <a:spcBef>
                <a:spcPts val="345"/>
              </a:spcBef>
              <a:buFont typeface="Wingdings" panose="05000000000000000000"/>
              <a:buChar char=""/>
              <a:tabLst>
                <a:tab pos="414020" algn="l"/>
              </a:tabLst>
            </a:pPr>
            <a:r>
              <a:rPr sz="700" i="1" dirty="0">
                <a:latin typeface="Times New Roman" panose="02020603050405020304"/>
                <a:cs typeface="Times New Roman" panose="02020603050405020304"/>
              </a:rPr>
              <a:t>Actual findings: No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more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than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12-15</a:t>
            </a:r>
            <a:r>
              <a:rPr sz="700" i="1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years</a:t>
            </a:r>
            <a:endParaRPr sz="700">
              <a:latin typeface="Times New Roman" panose="02020603050405020304"/>
              <a:cs typeface="Times New Roman" panose="02020603050405020304"/>
            </a:endParaRPr>
          </a:p>
          <a:p>
            <a:pPr marL="79375" marR="123190">
              <a:lnSpc>
                <a:spcPct val="100000"/>
              </a:lnSpc>
              <a:spcBef>
                <a:spcPts val="350"/>
              </a:spcBef>
            </a:pP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700" i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machinery</a:t>
            </a:r>
            <a:r>
              <a:rPr sz="700" i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needs</a:t>
            </a:r>
            <a:r>
              <a:rPr sz="700" i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700" i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replaced;</a:t>
            </a:r>
            <a:r>
              <a:rPr sz="700" i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there</a:t>
            </a:r>
            <a:r>
              <a:rPr sz="700" i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is wear</a:t>
            </a:r>
            <a:r>
              <a:rPr sz="700" i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700" i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tear</a:t>
            </a:r>
            <a:r>
              <a:rPr sz="700" i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of 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the turbines over</a:t>
            </a:r>
            <a:r>
              <a:rPr sz="700" i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time.</a:t>
            </a:r>
            <a:endParaRPr sz="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62022" y="1876170"/>
            <a:ext cx="711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19</a:t>
            </a:r>
            <a:endParaRPr sz="35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794" y="55244"/>
            <a:ext cx="191706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spc="-5" dirty="0">
                <a:latin typeface="Times New Roman" panose="02020603050405020304"/>
                <a:cs typeface="Times New Roman" panose="02020603050405020304"/>
              </a:rPr>
              <a:t>Advantages of </a:t>
            </a:r>
            <a:r>
              <a:rPr sz="1300" i="1" spc="-15" dirty="0">
                <a:latin typeface="Times New Roman" panose="02020603050405020304"/>
                <a:cs typeface="Times New Roman" panose="02020603050405020304"/>
              </a:rPr>
              <a:t>Wind</a:t>
            </a:r>
            <a:r>
              <a:rPr sz="1300" i="1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i="1" spc="-5" dirty="0">
                <a:latin typeface="Times New Roman" panose="02020603050405020304"/>
                <a:cs typeface="Times New Roman" panose="02020603050405020304"/>
              </a:rPr>
              <a:t>Energy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4394" y="288417"/>
            <a:ext cx="2499995" cy="16662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3030" marR="7620" indent="-100965">
              <a:lnSpc>
                <a:spcPct val="107000"/>
              </a:lnSpc>
              <a:spcBef>
                <a:spcPts val="90"/>
              </a:spcBef>
              <a:buFont typeface="Arial" panose="020B0604020202020204"/>
              <a:buChar char="•"/>
              <a:tabLst>
                <a:tab pos="113030" algn="l"/>
              </a:tabLst>
            </a:pP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Wind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blows </a:t>
            </a:r>
            <a:r>
              <a:rPr sz="550" i="1" spc="20" dirty="0">
                <a:latin typeface="Times New Roman" panose="02020603050405020304"/>
                <a:cs typeface="Times New Roman" panose="02020603050405020304"/>
              </a:rPr>
              <a:t>day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night,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which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gives wind turbines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ability to produce  electricity</a:t>
            </a:r>
            <a:r>
              <a:rPr sz="550" i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550" i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all</a:t>
            </a:r>
            <a:r>
              <a:rPr sz="550" i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20" dirty="0">
                <a:latin typeface="Times New Roman" panose="02020603050405020304"/>
                <a:cs typeface="Times New Roman" panose="02020603050405020304"/>
              </a:rPr>
              <a:t>hours</a:t>
            </a:r>
            <a:r>
              <a:rPr sz="550" i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550" i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550" i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day.</a:t>
            </a:r>
            <a:endParaRPr sz="550">
              <a:latin typeface="Times New Roman" panose="02020603050405020304"/>
              <a:cs typeface="Times New Roman" panose="02020603050405020304"/>
            </a:endParaRPr>
          </a:p>
          <a:p>
            <a:pPr marL="113030" marR="6350" indent="-100965">
              <a:lnSpc>
                <a:spcPct val="108000"/>
              </a:lnSpc>
              <a:spcBef>
                <a:spcPts val="165"/>
              </a:spcBef>
              <a:buFont typeface="Arial" panose="020B0604020202020204"/>
              <a:buChar char="•"/>
              <a:tabLst>
                <a:tab pos="113030" algn="l"/>
              </a:tabLst>
            </a:pP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Wind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energy is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domestic source </a:t>
            </a: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of energy,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produced </a:t>
            </a: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the United States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550" i="1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nation’s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wind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supply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550" i="1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abundant.</a:t>
            </a:r>
            <a:endParaRPr sz="550">
              <a:latin typeface="Times New Roman" panose="02020603050405020304"/>
              <a:cs typeface="Times New Roman" panose="02020603050405020304"/>
            </a:endParaRPr>
          </a:p>
          <a:p>
            <a:pPr marL="113030" indent="-100965">
              <a:lnSpc>
                <a:spcPct val="100000"/>
              </a:lnSpc>
              <a:spcBef>
                <a:spcPts val="215"/>
              </a:spcBef>
              <a:buFont typeface="Arial" panose="020B0604020202020204"/>
              <a:buChar char="•"/>
              <a:tabLst>
                <a:tab pos="113030" algn="l"/>
              </a:tabLst>
            </a:pP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Clean</a:t>
            </a:r>
            <a:endParaRPr sz="550">
              <a:latin typeface="Times New Roman" panose="02020603050405020304"/>
              <a:cs typeface="Times New Roman" panose="02020603050405020304"/>
            </a:endParaRPr>
          </a:p>
          <a:p>
            <a:pPr marL="230505" lvl="1" indent="-84455">
              <a:lnSpc>
                <a:spcPct val="100000"/>
              </a:lnSpc>
              <a:spcBef>
                <a:spcPts val="230"/>
              </a:spcBef>
              <a:buFont typeface="Arial" panose="020B0604020202020204"/>
              <a:buChar char="–"/>
              <a:tabLst>
                <a:tab pos="231140" algn="l"/>
              </a:tabLst>
            </a:pP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Wind</a:t>
            </a:r>
            <a:r>
              <a:rPr sz="550" i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energy</a:t>
            </a: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550" i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renewable</a:t>
            </a: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source</a:t>
            </a: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550" i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energy</a:t>
            </a:r>
            <a:r>
              <a:rPr sz="550" i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that</a:t>
            </a:r>
            <a:r>
              <a:rPr sz="550" i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generates</a:t>
            </a:r>
            <a:r>
              <a:rPr sz="550" i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20" dirty="0">
                <a:latin typeface="Times New Roman" panose="02020603050405020304"/>
                <a:cs typeface="Times New Roman" panose="02020603050405020304"/>
              </a:rPr>
              <a:t>no</a:t>
            </a: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pollution.</a:t>
            </a:r>
            <a:endParaRPr sz="550">
              <a:latin typeface="Times New Roman" panose="02020603050405020304"/>
              <a:cs typeface="Times New Roman" panose="02020603050405020304"/>
            </a:endParaRPr>
          </a:p>
          <a:p>
            <a:pPr marL="230505" lvl="1" indent="-84455">
              <a:lnSpc>
                <a:spcPct val="100000"/>
              </a:lnSpc>
              <a:spcBef>
                <a:spcPts val="35"/>
              </a:spcBef>
              <a:buFont typeface="Arial" panose="020B0604020202020204"/>
              <a:buChar char="–"/>
              <a:tabLst>
                <a:tab pos="231140" algn="l"/>
              </a:tabLst>
            </a:pP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Unlike:</a:t>
            </a:r>
            <a:r>
              <a:rPr sz="550" i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fossil</a:t>
            </a:r>
            <a:r>
              <a:rPr sz="550" i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fuels</a:t>
            </a:r>
            <a:r>
              <a:rPr sz="550" i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such</a:t>
            </a:r>
            <a:r>
              <a:rPr sz="550" i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coal/natural</a:t>
            </a:r>
            <a:r>
              <a:rPr sz="550" i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20" dirty="0">
                <a:latin typeface="Times New Roman" panose="02020603050405020304"/>
                <a:cs typeface="Times New Roman" panose="02020603050405020304"/>
              </a:rPr>
              <a:t>gas</a:t>
            </a:r>
            <a:endParaRPr sz="550">
              <a:latin typeface="Times New Roman" panose="02020603050405020304"/>
              <a:cs typeface="Times New Roman" panose="02020603050405020304"/>
            </a:endParaRPr>
          </a:p>
          <a:p>
            <a:pPr marL="230505" marR="5080" lvl="1" indent="-83820">
              <a:lnSpc>
                <a:spcPct val="107000"/>
              </a:lnSpc>
              <a:buFont typeface="Arial" panose="020B0604020202020204"/>
              <a:buChar char="–"/>
              <a:tabLst>
                <a:tab pos="231140" algn="l"/>
              </a:tabLst>
            </a:pP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Does</a:t>
            </a:r>
            <a:r>
              <a:rPr sz="550" i="1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not produce atmospheric emissions that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cause  acid 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rain </a:t>
            </a:r>
            <a:r>
              <a:rPr sz="550" i="1" spc="20" dirty="0">
                <a:latin typeface="Times New Roman" panose="02020603050405020304"/>
                <a:cs typeface="Times New Roman" panose="02020603050405020304"/>
              </a:rPr>
              <a:t>or 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greenhouse</a:t>
            </a:r>
            <a:r>
              <a:rPr sz="550" i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gasses.</a:t>
            </a:r>
            <a:endParaRPr sz="550">
              <a:latin typeface="Times New Roman" panose="02020603050405020304"/>
              <a:cs typeface="Times New Roman" panose="02020603050405020304"/>
            </a:endParaRPr>
          </a:p>
          <a:p>
            <a:pPr marL="113030" indent="-100965">
              <a:lnSpc>
                <a:spcPct val="100000"/>
              </a:lnSpc>
              <a:spcBef>
                <a:spcPts val="35"/>
              </a:spcBef>
              <a:buFont typeface="Arial" panose="020B0604020202020204"/>
              <a:buChar char="•"/>
              <a:tabLst>
                <a:tab pos="113030" algn="l"/>
              </a:tabLst>
            </a:pPr>
            <a:r>
              <a:rPr sz="550" i="1" spc="20" dirty="0">
                <a:latin typeface="Times New Roman" panose="02020603050405020304"/>
                <a:cs typeface="Times New Roman" panose="02020603050405020304"/>
              </a:rPr>
              <a:t>Cheaper</a:t>
            </a:r>
            <a:endParaRPr sz="550">
              <a:latin typeface="Times New Roman" panose="02020603050405020304"/>
              <a:cs typeface="Times New Roman" panose="02020603050405020304"/>
            </a:endParaRPr>
          </a:p>
          <a:p>
            <a:pPr marL="230505" marR="5715" lvl="1" indent="-83820">
              <a:lnSpc>
                <a:spcPct val="106000"/>
              </a:lnSpc>
              <a:spcBef>
                <a:spcPts val="190"/>
              </a:spcBef>
              <a:buFont typeface="Arial" panose="020B0604020202020204"/>
              <a:buChar char="–"/>
              <a:tabLst>
                <a:tab pos="231140" algn="l"/>
              </a:tabLst>
            </a:pP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Wind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energy is </a:t>
            </a:r>
            <a:r>
              <a:rPr sz="550" i="1" spc="20" dirty="0">
                <a:latin typeface="Times New Roman" panose="02020603050405020304"/>
                <a:cs typeface="Times New Roman" panose="02020603050405020304"/>
              </a:rPr>
              <a:t>one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the lowest-prices renewable energy technologies 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available</a:t>
            </a:r>
            <a:r>
              <a:rPr sz="550" i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today,</a:t>
            </a:r>
            <a:r>
              <a:rPr sz="550" i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costing</a:t>
            </a:r>
            <a:r>
              <a:rPr sz="550" i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between</a:t>
            </a:r>
            <a:r>
              <a:rPr sz="550" i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4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2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550" i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6</a:t>
            </a:r>
            <a:r>
              <a:rPr sz="550" i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cents</a:t>
            </a:r>
            <a:r>
              <a:rPr sz="550" i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per</a:t>
            </a:r>
            <a:r>
              <a:rPr sz="550" i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20" dirty="0">
                <a:latin typeface="Times New Roman" panose="02020603050405020304"/>
                <a:cs typeface="Times New Roman" panose="02020603050405020304"/>
              </a:rPr>
              <a:t>KWH</a:t>
            </a:r>
            <a:endParaRPr sz="550">
              <a:latin typeface="Times New Roman" panose="02020603050405020304"/>
              <a:cs typeface="Times New Roman" panose="02020603050405020304"/>
            </a:endParaRPr>
          </a:p>
          <a:p>
            <a:pPr marL="113030" marR="6350" indent="-100965">
              <a:lnSpc>
                <a:spcPct val="106000"/>
              </a:lnSpc>
              <a:spcBef>
                <a:spcPts val="195"/>
              </a:spcBef>
              <a:buFont typeface="Arial" panose="020B0604020202020204"/>
              <a:buChar char="•"/>
              <a:tabLst>
                <a:tab pos="113030" algn="l"/>
              </a:tabLst>
            </a:pP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As of 2013, farmers who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host wind turbines are typically paid </a:t>
            </a: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at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least $10,000 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per</a:t>
            </a:r>
            <a:r>
              <a:rPr sz="550" i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turbine</a:t>
            </a:r>
            <a:r>
              <a:rPr sz="550" i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per</a:t>
            </a: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year</a:t>
            </a:r>
            <a:r>
              <a:rPr sz="550" i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20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550" i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companies</a:t>
            </a:r>
            <a:r>
              <a:rPr sz="550" i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that</a:t>
            </a:r>
            <a:r>
              <a:rPr sz="550" i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run</a:t>
            </a:r>
            <a:r>
              <a:rPr sz="550" i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wind</a:t>
            </a:r>
            <a:r>
              <a:rPr sz="550" i="1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farms.</a:t>
            </a:r>
            <a:endParaRPr sz="550">
              <a:latin typeface="Times New Roman" panose="02020603050405020304"/>
              <a:cs typeface="Times New Roman" panose="02020603050405020304"/>
            </a:endParaRPr>
          </a:p>
          <a:p>
            <a:pPr marL="113030" marR="6350" indent="-100965">
              <a:lnSpc>
                <a:spcPct val="106000"/>
              </a:lnSpc>
              <a:spcBef>
                <a:spcPts val="190"/>
              </a:spcBef>
              <a:buFont typeface="Arial" panose="020B0604020202020204"/>
              <a:buChar char="•"/>
              <a:tabLst>
                <a:tab pos="113030" algn="l"/>
              </a:tabLst>
            </a:pP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Farmers </a:t>
            </a:r>
            <a:r>
              <a:rPr sz="550" i="1" spc="20" dirty="0">
                <a:latin typeface="Times New Roman" panose="02020603050405020304"/>
                <a:cs typeface="Times New Roman" panose="02020603050405020304"/>
              </a:rPr>
              <a:t>can </a:t>
            </a: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also still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continue </a:t>
            </a: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use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the land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due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to the turbines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only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taking  </a:t>
            </a:r>
            <a:r>
              <a:rPr sz="550" i="1" spc="20" dirty="0">
                <a:latin typeface="Times New Roman" panose="02020603050405020304"/>
                <a:cs typeface="Times New Roman" panose="02020603050405020304"/>
              </a:rPr>
              <a:t>up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a fraction</a:t>
            </a:r>
            <a:r>
              <a:rPr sz="550" i="1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of the land.</a:t>
            </a:r>
            <a:endParaRPr sz="550">
              <a:latin typeface="Times New Roman" panose="02020603050405020304"/>
              <a:cs typeface="Times New Roman" panose="02020603050405020304"/>
            </a:endParaRPr>
          </a:p>
          <a:p>
            <a:pPr marR="75565" algn="r">
              <a:lnSpc>
                <a:spcPct val="100000"/>
              </a:lnSpc>
              <a:spcBef>
                <a:spcPts val="180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22</a:t>
            </a:r>
            <a:endParaRPr sz="35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5" y="0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680970" cy="1431290"/>
            <a:chOff x="0" y="0"/>
            <a:chExt cx="2680970" cy="143129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680715" cy="1050036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28079" y="1236512"/>
              <a:ext cx="47548" cy="4999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63105" y="1384951"/>
              <a:ext cx="45110" cy="4633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204317" y="1135018"/>
            <a:ext cx="893444" cy="46863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700" b="1" i="1" dirty="0">
                <a:latin typeface="Times New Roman" panose="02020603050405020304"/>
                <a:cs typeface="Times New Roman" panose="02020603050405020304"/>
              </a:rPr>
              <a:t>Environmental</a:t>
            </a:r>
            <a:r>
              <a:rPr sz="700" b="1" i="1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b="1" i="1" dirty="0">
                <a:latin typeface="Times New Roman" panose="02020603050405020304"/>
                <a:cs typeface="Times New Roman" panose="02020603050405020304"/>
              </a:rPr>
              <a:t>benefits</a:t>
            </a:r>
            <a:endParaRPr sz="700">
              <a:latin typeface="Times New Roman" panose="02020603050405020304"/>
              <a:cs typeface="Times New Roman" panose="02020603050405020304"/>
            </a:endParaRPr>
          </a:p>
          <a:p>
            <a:pPr marL="144780" marR="173990">
              <a:lnSpc>
                <a:spcPct val="145000"/>
              </a:lnSpc>
            </a:pPr>
            <a:r>
              <a:rPr sz="650" b="1" i="1" spc="-5" dirty="0">
                <a:latin typeface="Times New Roman" panose="02020603050405020304"/>
                <a:cs typeface="Times New Roman" panose="02020603050405020304"/>
              </a:rPr>
              <a:t>No air</a:t>
            </a:r>
            <a:r>
              <a:rPr sz="650" b="1" i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50" b="1" i="1" spc="-5" dirty="0">
                <a:latin typeface="Times New Roman" panose="02020603050405020304"/>
                <a:cs typeface="Times New Roman" panose="02020603050405020304"/>
              </a:rPr>
              <a:t>emissions  No fuel</a:t>
            </a:r>
            <a:r>
              <a:rPr sz="650" b="1" i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50" b="1" i="1" spc="-5" dirty="0">
                <a:latin typeface="Times New Roman" panose="02020603050405020304"/>
                <a:cs typeface="Times New Roman" panose="02020603050405020304"/>
              </a:rPr>
              <a:t>needed</a:t>
            </a:r>
            <a:endParaRPr sz="65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28079" y="1528334"/>
            <a:ext cx="180340" cy="196215"/>
            <a:chOff x="128079" y="1528334"/>
            <a:chExt cx="180340" cy="196215"/>
          </a:xfrm>
        </p:grpSpPr>
        <p:sp>
          <p:nvSpPr>
            <p:cNvPr id="8" name="object 8"/>
            <p:cNvSpPr/>
            <p:nvPr/>
          </p:nvSpPr>
          <p:spPr>
            <a:xfrm>
              <a:off x="263105" y="1528334"/>
              <a:ext cx="45110" cy="4633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28079" y="1674002"/>
              <a:ext cx="47548" cy="4999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204317" y="1576832"/>
            <a:ext cx="6845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3000"/>
              </a:lnSpc>
              <a:spcBef>
                <a:spcPts val="95"/>
              </a:spcBef>
            </a:pPr>
            <a:r>
              <a:rPr sz="700" b="1" i="1" dirty="0">
                <a:latin typeface="Times New Roman" panose="02020603050405020304"/>
                <a:cs typeface="Times New Roman" panose="02020603050405020304"/>
              </a:rPr>
              <a:t>Distributed</a:t>
            </a:r>
            <a:r>
              <a:rPr sz="700" b="1" i="1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b="1" i="1" dirty="0">
                <a:latin typeface="Times New Roman" panose="02020603050405020304"/>
                <a:cs typeface="Times New Roman" panose="02020603050405020304"/>
              </a:rPr>
              <a:t>power  </a:t>
            </a:r>
            <a:r>
              <a:rPr sz="700" b="1" i="1" spc="5" dirty="0">
                <a:latin typeface="Times New Roman" panose="02020603050405020304"/>
                <a:cs typeface="Times New Roman" panose="02020603050405020304"/>
              </a:rPr>
              <a:t>Remote</a:t>
            </a:r>
            <a:r>
              <a:rPr sz="700" b="1" i="1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b="1" i="1" dirty="0">
                <a:latin typeface="Times New Roman" panose="02020603050405020304"/>
                <a:cs typeface="Times New Roman" panose="02020603050405020304"/>
              </a:rPr>
              <a:t>locations</a:t>
            </a:r>
            <a:endParaRPr sz="7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28079" y="1236512"/>
            <a:ext cx="1343660" cy="640080"/>
            <a:chOff x="128079" y="1236512"/>
            <a:chExt cx="1343660" cy="640080"/>
          </a:xfrm>
        </p:grpSpPr>
        <p:sp>
          <p:nvSpPr>
            <p:cNvPr id="12" name="object 12"/>
            <p:cNvSpPr/>
            <p:nvPr/>
          </p:nvSpPr>
          <p:spPr>
            <a:xfrm>
              <a:off x="128079" y="1826427"/>
              <a:ext cx="47548" cy="4999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424000" y="1236512"/>
              <a:ext cx="47548" cy="4999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424000" y="1495719"/>
              <a:ext cx="47548" cy="4999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424000" y="1648081"/>
              <a:ext cx="47548" cy="4999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424000" y="1798995"/>
              <a:ext cx="47548" cy="4999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1500377" y="1183639"/>
            <a:ext cx="1105535" cy="7721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700" b="1" i="1" dirty="0">
                <a:latin typeface="Times New Roman" panose="02020603050405020304"/>
                <a:cs typeface="Times New Roman" panose="02020603050405020304"/>
              </a:rPr>
              <a:t>No fuel to </a:t>
            </a:r>
            <a:r>
              <a:rPr sz="700" b="1" i="1" spc="5" dirty="0">
                <a:latin typeface="Times New Roman" panose="02020603050405020304"/>
                <a:cs typeface="Times New Roman" panose="02020603050405020304"/>
              </a:rPr>
              <a:t>mine,</a:t>
            </a:r>
            <a:r>
              <a:rPr sz="700" b="1" i="1" spc="-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b="1" i="1" dirty="0">
                <a:latin typeface="Times New Roman" panose="02020603050405020304"/>
                <a:cs typeface="Times New Roman" panose="02020603050405020304"/>
              </a:rPr>
              <a:t>transport, </a:t>
            </a:r>
            <a:r>
              <a:rPr sz="700" b="1" i="1" spc="5" dirty="0">
                <a:latin typeface="Times New Roman" panose="02020603050405020304"/>
                <a:cs typeface="Times New Roman" panose="02020603050405020304"/>
              </a:rPr>
              <a:t>or  </a:t>
            </a:r>
            <a:r>
              <a:rPr sz="700" b="1" i="1" dirty="0">
                <a:latin typeface="Times New Roman" panose="02020603050405020304"/>
                <a:cs typeface="Times New Roman" panose="02020603050405020304"/>
              </a:rPr>
              <a:t>store</a:t>
            </a:r>
            <a:endParaRPr sz="700">
              <a:latin typeface="Times New Roman" panose="02020603050405020304"/>
              <a:cs typeface="Times New Roman" panose="02020603050405020304"/>
            </a:endParaRPr>
          </a:p>
          <a:p>
            <a:pPr marL="12700" marR="391795">
              <a:lnSpc>
                <a:spcPct val="142000"/>
              </a:lnSpc>
              <a:spcBef>
                <a:spcPts val="5"/>
              </a:spcBef>
            </a:pPr>
            <a:r>
              <a:rPr sz="700" b="1" i="1" dirty="0">
                <a:latin typeface="Times New Roman" panose="02020603050405020304"/>
                <a:cs typeface="Times New Roman" panose="02020603050405020304"/>
              </a:rPr>
              <a:t>No cooling water  </a:t>
            </a:r>
            <a:r>
              <a:rPr sz="700" b="1" i="1" spc="5" dirty="0">
                <a:latin typeface="Times New Roman" panose="02020603050405020304"/>
                <a:cs typeface="Times New Roman" panose="02020603050405020304"/>
              </a:rPr>
              <a:t>No </a:t>
            </a:r>
            <a:r>
              <a:rPr sz="700" b="1" i="1" spc="-5" dirty="0">
                <a:latin typeface="Times New Roman" panose="02020603050405020304"/>
                <a:cs typeface="Times New Roman" panose="02020603050405020304"/>
              </a:rPr>
              <a:t>water</a:t>
            </a:r>
            <a:r>
              <a:rPr sz="700" b="1" i="1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b="1" i="1" dirty="0">
                <a:latin typeface="Times New Roman" panose="02020603050405020304"/>
                <a:cs typeface="Times New Roman" panose="02020603050405020304"/>
              </a:rPr>
              <a:t>pollution  No</a:t>
            </a:r>
            <a:r>
              <a:rPr sz="700" b="1" i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b="1" i="1" dirty="0">
                <a:latin typeface="Times New Roman" panose="02020603050405020304"/>
                <a:cs typeface="Times New Roman" panose="02020603050405020304"/>
              </a:rPr>
              <a:t>wastes</a:t>
            </a:r>
            <a:endParaRPr sz="700">
              <a:latin typeface="Times New Roman" panose="02020603050405020304"/>
              <a:cs typeface="Times New Roman" panose="02020603050405020304"/>
            </a:endParaRPr>
          </a:p>
          <a:p>
            <a:pPr marR="77470" algn="r">
              <a:lnSpc>
                <a:spcPct val="100000"/>
              </a:lnSpc>
              <a:spcBef>
                <a:spcPts val="180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21</a:t>
            </a:r>
            <a:endParaRPr sz="350">
              <a:latin typeface="Carlito"/>
              <a:cs typeface="Carlito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0" y="965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946" y="55879"/>
            <a:ext cx="2068195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800" i="1" spc="5" dirty="0">
                <a:latin typeface="TeX Gyre Bonum"/>
                <a:cs typeface="TeX Gyre Bonum"/>
              </a:rPr>
              <a:t>Merits and demerits of wind</a:t>
            </a:r>
            <a:r>
              <a:rPr sz="800" i="1" spc="60" dirty="0">
                <a:latin typeface="TeX Gyre Bonum"/>
                <a:cs typeface="TeX Gyre Bonum"/>
              </a:rPr>
              <a:t> </a:t>
            </a:r>
            <a:r>
              <a:rPr sz="800" i="1" spc="5" dirty="0">
                <a:latin typeface="TeX Gyre Bonum"/>
                <a:cs typeface="TeX Gyre Bonum"/>
              </a:rPr>
              <a:t>turbines</a:t>
            </a:r>
            <a:endParaRPr sz="800">
              <a:latin typeface="TeX Gyre Bonum"/>
              <a:cs typeface="TeX Gyre Bonum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4394" y="201625"/>
            <a:ext cx="2476500" cy="171513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400" b="1" i="1" dirty="0">
                <a:latin typeface="TeX Gyre Bonum"/>
                <a:cs typeface="TeX Gyre Bonum"/>
              </a:rPr>
              <a:t>Advantages of wind</a:t>
            </a:r>
            <a:r>
              <a:rPr sz="400" b="1" i="1" spc="40" dirty="0">
                <a:latin typeface="TeX Gyre Bonum"/>
                <a:cs typeface="TeX Gyre Bonum"/>
              </a:rPr>
              <a:t> </a:t>
            </a:r>
            <a:r>
              <a:rPr sz="400" b="1" i="1" dirty="0">
                <a:latin typeface="TeX Gyre Bonum"/>
                <a:cs typeface="TeX Gyre Bonum"/>
              </a:rPr>
              <a:t>power</a:t>
            </a:r>
            <a:endParaRPr sz="400">
              <a:latin typeface="TeX Gyre Bonum"/>
              <a:cs typeface="TeX Gyre Bonum"/>
            </a:endParaRPr>
          </a:p>
          <a:p>
            <a:pPr marL="132715" marR="6350" indent="-67310">
              <a:lnSpc>
                <a:spcPct val="102000"/>
              </a:lnSpc>
              <a:spcBef>
                <a:spcPts val="240"/>
              </a:spcBef>
              <a:buAutoNum type="arabicPeriod"/>
              <a:tabLst>
                <a:tab pos="133350" algn="l"/>
              </a:tabLst>
            </a:pPr>
            <a:r>
              <a:rPr sz="400" dirty="0">
                <a:latin typeface="Bookman Uralic"/>
                <a:cs typeface="Bookman Uralic"/>
              </a:rPr>
              <a:t>Wind turbines </a:t>
            </a:r>
            <a:r>
              <a:rPr sz="400" spc="5" dirty="0">
                <a:latin typeface="Bookman Uralic"/>
                <a:cs typeface="Bookman Uralic"/>
              </a:rPr>
              <a:t>can be </a:t>
            </a:r>
            <a:r>
              <a:rPr sz="400" dirty="0">
                <a:latin typeface="Bookman Uralic"/>
                <a:cs typeface="Bookman Uralic"/>
              </a:rPr>
              <a:t>used for </a:t>
            </a:r>
            <a:r>
              <a:rPr sz="400" spc="5" dirty="0">
                <a:latin typeface="Bookman Uralic"/>
                <a:cs typeface="Bookman Uralic"/>
              </a:rPr>
              <a:t>both </a:t>
            </a:r>
            <a:r>
              <a:rPr sz="400" dirty="0">
                <a:latin typeface="Bookman Uralic"/>
                <a:cs typeface="Bookman Uralic"/>
              </a:rPr>
              <a:t>distributed generation or grid interactive power  generation using on-shore or off shore</a:t>
            </a:r>
            <a:r>
              <a:rPr sz="400" spc="90" dirty="0">
                <a:latin typeface="Bookman Uralic"/>
                <a:cs typeface="Bookman Uralic"/>
              </a:rPr>
              <a:t> </a:t>
            </a:r>
            <a:r>
              <a:rPr sz="400" dirty="0">
                <a:latin typeface="Bookman Uralic"/>
                <a:cs typeface="Bookman Uralic"/>
              </a:rPr>
              <a:t>technologies.</a:t>
            </a:r>
            <a:endParaRPr sz="400">
              <a:latin typeface="Bookman Uralic"/>
              <a:cs typeface="Bookman Uralic"/>
            </a:endParaRPr>
          </a:p>
          <a:p>
            <a:pPr marL="132715" marR="6350" indent="-67310">
              <a:lnSpc>
                <a:spcPct val="102000"/>
              </a:lnSpc>
              <a:buAutoNum type="arabicPeriod"/>
              <a:tabLst>
                <a:tab pos="133350" algn="l"/>
              </a:tabLst>
            </a:pPr>
            <a:r>
              <a:rPr sz="400" dirty="0">
                <a:latin typeface="Bookman Uralic"/>
                <a:cs typeface="Bookman Uralic"/>
              </a:rPr>
              <a:t>Ranges of power producing turbines are available. Micro-turbines are </a:t>
            </a:r>
            <a:r>
              <a:rPr sz="400" spc="5" dirty="0">
                <a:latin typeface="Bookman Uralic"/>
                <a:cs typeface="Bookman Uralic"/>
              </a:rPr>
              <a:t>capable </a:t>
            </a:r>
            <a:r>
              <a:rPr sz="400" dirty="0">
                <a:latin typeface="Bookman Uralic"/>
                <a:cs typeface="Bookman Uralic"/>
              </a:rPr>
              <a:t>of producing  300 </a:t>
            </a:r>
            <a:r>
              <a:rPr sz="400" i="1" spc="5" dirty="0">
                <a:latin typeface="Bookman Uralic"/>
                <a:cs typeface="Bookman Uralic"/>
              </a:rPr>
              <a:t>W </a:t>
            </a:r>
            <a:r>
              <a:rPr sz="400" dirty="0">
                <a:latin typeface="Bookman Uralic"/>
                <a:cs typeface="Bookman Uralic"/>
              </a:rPr>
              <a:t>to </a:t>
            </a:r>
            <a:r>
              <a:rPr sz="400" i="1" dirty="0">
                <a:latin typeface="Bookman Uralic"/>
                <a:cs typeface="Bookman Uralic"/>
              </a:rPr>
              <a:t>1MW </a:t>
            </a:r>
            <a:r>
              <a:rPr sz="400" dirty="0">
                <a:latin typeface="Bookman Uralic"/>
                <a:cs typeface="Bookman Uralic"/>
              </a:rPr>
              <a:t>and large wind turbines have typical size of 35 </a:t>
            </a:r>
            <a:r>
              <a:rPr sz="400" i="1" dirty="0">
                <a:latin typeface="Bookman Uralic"/>
                <a:cs typeface="Bookman Uralic"/>
              </a:rPr>
              <a:t>kW</a:t>
            </a:r>
            <a:r>
              <a:rPr sz="400" dirty="0">
                <a:latin typeface="Bookman Uralic"/>
                <a:cs typeface="Bookman Uralic"/>
              </a:rPr>
              <a:t>–3</a:t>
            </a:r>
            <a:r>
              <a:rPr sz="400" spc="25" dirty="0">
                <a:latin typeface="Bookman Uralic"/>
                <a:cs typeface="Bookman Uralic"/>
              </a:rPr>
              <a:t> </a:t>
            </a:r>
            <a:r>
              <a:rPr sz="400" i="1" dirty="0">
                <a:latin typeface="Bookman Uralic"/>
                <a:cs typeface="Bookman Uralic"/>
              </a:rPr>
              <a:t>MW</a:t>
            </a:r>
            <a:r>
              <a:rPr sz="400" dirty="0">
                <a:latin typeface="Bookman Uralic"/>
                <a:cs typeface="Bookman Uralic"/>
              </a:rPr>
              <a:t>.</a:t>
            </a:r>
            <a:endParaRPr sz="400">
              <a:latin typeface="Bookman Uralic"/>
              <a:cs typeface="Bookman Uralic"/>
            </a:endParaRPr>
          </a:p>
          <a:p>
            <a:pPr marL="132715" marR="5080" indent="-67310">
              <a:lnSpc>
                <a:spcPct val="102000"/>
              </a:lnSpc>
              <a:spcBef>
                <a:spcPts val="10"/>
              </a:spcBef>
              <a:buAutoNum type="arabicPeriod"/>
              <a:tabLst>
                <a:tab pos="133350" algn="l"/>
              </a:tabLst>
            </a:pPr>
            <a:r>
              <a:rPr sz="400" spc="5" dirty="0">
                <a:latin typeface="Bookman Uralic"/>
                <a:cs typeface="Bookman Uralic"/>
              </a:rPr>
              <a:t>It </a:t>
            </a:r>
            <a:r>
              <a:rPr sz="400" dirty="0">
                <a:latin typeface="Bookman Uralic"/>
                <a:cs typeface="Bookman Uralic"/>
              </a:rPr>
              <a:t>can be </a:t>
            </a:r>
            <a:r>
              <a:rPr sz="400" spc="5" dirty="0">
                <a:latin typeface="Bookman Uralic"/>
                <a:cs typeface="Bookman Uralic"/>
              </a:rPr>
              <a:t>made </a:t>
            </a:r>
            <a:r>
              <a:rPr sz="400" dirty="0">
                <a:latin typeface="Bookman Uralic"/>
                <a:cs typeface="Bookman Uralic"/>
              </a:rPr>
              <a:t>available easily </a:t>
            </a:r>
            <a:r>
              <a:rPr sz="400" spc="5" dirty="0">
                <a:latin typeface="Bookman Uralic"/>
                <a:cs typeface="Bookman Uralic"/>
              </a:rPr>
              <a:t>in many </a:t>
            </a:r>
            <a:r>
              <a:rPr sz="400" dirty="0">
                <a:latin typeface="Bookman Uralic"/>
                <a:cs typeface="Bookman Uralic"/>
              </a:rPr>
              <a:t>off-shore, on-shore </a:t>
            </a:r>
            <a:r>
              <a:rPr sz="400" spc="5" dirty="0">
                <a:latin typeface="Bookman Uralic"/>
                <a:cs typeface="Bookman Uralic"/>
              </a:rPr>
              <a:t>and remote </a:t>
            </a:r>
            <a:r>
              <a:rPr sz="400" dirty="0">
                <a:latin typeface="Bookman Uralic"/>
                <a:cs typeface="Bookman Uralic"/>
              </a:rPr>
              <a:t>areas; thus, helpful  in supplying </a:t>
            </a:r>
            <a:r>
              <a:rPr sz="400" spc="-5" dirty="0">
                <a:latin typeface="Bookman Uralic"/>
                <a:cs typeface="Bookman Uralic"/>
              </a:rPr>
              <a:t>electric </a:t>
            </a:r>
            <a:r>
              <a:rPr sz="400" dirty="0">
                <a:latin typeface="Bookman Uralic"/>
                <a:cs typeface="Bookman Uralic"/>
              </a:rPr>
              <a:t>power to remote and rural</a:t>
            </a:r>
            <a:r>
              <a:rPr sz="400" spc="114" dirty="0">
                <a:latin typeface="Bookman Uralic"/>
                <a:cs typeface="Bookman Uralic"/>
              </a:rPr>
              <a:t> </a:t>
            </a:r>
            <a:r>
              <a:rPr sz="400" dirty="0">
                <a:latin typeface="Bookman Uralic"/>
                <a:cs typeface="Bookman Uralic"/>
              </a:rPr>
              <a:t>areas.</a:t>
            </a:r>
            <a:endParaRPr sz="400">
              <a:latin typeface="Bookman Uralic"/>
              <a:cs typeface="Bookman Uralic"/>
            </a:endParaRPr>
          </a:p>
          <a:p>
            <a:pPr marL="132715" indent="-67945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133350" algn="l"/>
              </a:tabLst>
            </a:pPr>
            <a:r>
              <a:rPr sz="400" spc="5" dirty="0">
                <a:latin typeface="Bookman Uralic"/>
                <a:cs typeface="Bookman Uralic"/>
              </a:rPr>
              <a:t>It </a:t>
            </a:r>
            <a:r>
              <a:rPr sz="400" dirty="0">
                <a:latin typeface="Bookman Uralic"/>
                <a:cs typeface="Bookman Uralic"/>
              </a:rPr>
              <a:t>is a </a:t>
            </a:r>
            <a:r>
              <a:rPr sz="400" spc="-5" dirty="0">
                <a:latin typeface="Bookman Uralic"/>
                <a:cs typeface="Bookman Uralic"/>
              </a:rPr>
              <a:t>non-polluting </a:t>
            </a:r>
            <a:r>
              <a:rPr sz="400" dirty="0">
                <a:latin typeface="Bookman Uralic"/>
                <a:cs typeface="Bookman Uralic"/>
              </a:rPr>
              <a:t>and </a:t>
            </a:r>
            <a:r>
              <a:rPr sz="400" spc="-5" dirty="0">
                <a:latin typeface="Bookman Uralic"/>
                <a:cs typeface="Bookman Uralic"/>
              </a:rPr>
              <a:t>environment friendly </a:t>
            </a:r>
            <a:r>
              <a:rPr sz="400" dirty="0">
                <a:latin typeface="Bookman Uralic"/>
                <a:cs typeface="Bookman Uralic"/>
              </a:rPr>
              <a:t>source of</a:t>
            </a:r>
            <a:r>
              <a:rPr sz="400" spc="-65" dirty="0">
                <a:latin typeface="Bookman Uralic"/>
                <a:cs typeface="Bookman Uralic"/>
              </a:rPr>
              <a:t> </a:t>
            </a:r>
            <a:r>
              <a:rPr sz="400" spc="-5" dirty="0">
                <a:latin typeface="Bookman Uralic"/>
                <a:cs typeface="Bookman Uralic"/>
              </a:rPr>
              <a:t>energy.</a:t>
            </a:r>
            <a:endParaRPr sz="400">
              <a:latin typeface="Bookman Uralic"/>
              <a:cs typeface="Bookman Uralic"/>
            </a:endParaRPr>
          </a:p>
          <a:p>
            <a:pPr marL="132715" indent="-67945">
              <a:lnSpc>
                <a:spcPct val="100000"/>
              </a:lnSpc>
              <a:spcBef>
                <a:spcPts val="10"/>
              </a:spcBef>
              <a:buAutoNum type="arabicPeriod"/>
              <a:tabLst>
                <a:tab pos="133350" algn="l"/>
              </a:tabLst>
            </a:pPr>
            <a:r>
              <a:rPr sz="400" spc="5" dirty="0">
                <a:latin typeface="Bookman Uralic"/>
                <a:cs typeface="Bookman Uralic"/>
              </a:rPr>
              <a:t>It </a:t>
            </a:r>
            <a:r>
              <a:rPr sz="400" dirty="0">
                <a:latin typeface="Bookman Uralic"/>
                <a:cs typeface="Bookman Uralic"/>
              </a:rPr>
              <a:t>is </a:t>
            </a:r>
            <a:r>
              <a:rPr sz="400" spc="5" dirty="0">
                <a:latin typeface="Bookman Uralic"/>
                <a:cs typeface="Bookman Uralic"/>
              </a:rPr>
              <a:t>an </a:t>
            </a:r>
            <a:r>
              <a:rPr sz="400" dirty="0">
                <a:latin typeface="Bookman Uralic"/>
                <a:cs typeface="Bookman Uralic"/>
              </a:rPr>
              <a:t>important renewable and sustainable source of </a:t>
            </a:r>
            <a:r>
              <a:rPr sz="400" spc="-5" dirty="0">
                <a:latin typeface="Bookman Uralic"/>
                <a:cs typeface="Bookman Uralic"/>
              </a:rPr>
              <a:t>energy, </a:t>
            </a:r>
            <a:r>
              <a:rPr sz="400" dirty="0">
                <a:latin typeface="Bookman Uralic"/>
                <a:cs typeface="Bookman Uralic"/>
              </a:rPr>
              <a:t>available</a:t>
            </a:r>
            <a:r>
              <a:rPr sz="400" spc="35" dirty="0">
                <a:latin typeface="Bookman Uralic"/>
                <a:cs typeface="Bookman Uralic"/>
              </a:rPr>
              <a:t> </a:t>
            </a:r>
            <a:r>
              <a:rPr sz="400" dirty="0">
                <a:latin typeface="Bookman Uralic"/>
                <a:cs typeface="Bookman Uralic"/>
              </a:rPr>
              <a:t>free of cost.</a:t>
            </a:r>
            <a:endParaRPr sz="400">
              <a:latin typeface="Bookman Uralic"/>
              <a:cs typeface="Bookman Uralic"/>
            </a:endParaRPr>
          </a:p>
          <a:p>
            <a:pPr marL="132715" marR="5715" indent="-67310">
              <a:lnSpc>
                <a:spcPts val="490"/>
              </a:lnSpc>
              <a:spcBef>
                <a:spcPts val="20"/>
              </a:spcBef>
              <a:buAutoNum type="arabicPeriod"/>
              <a:tabLst>
                <a:tab pos="133350" algn="l"/>
              </a:tabLst>
            </a:pPr>
            <a:r>
              <a:rPr sz="400" dirty="0">
                <a:latin typeface="Bookman Uralic"/>
                <a:cs typeface="Bookman Uralic"/>
              </a:rPr>
              <a:t>The </a:t>
            </a:r>
            <a:r>
              <a:rPr sz="400" spc="5" dirty="0">
                <a:latin typeface="Bookman Uralic"/>
                <a:cs typeface="Bookman Uralic"/>
              </a:rPr>
              <a:t>scope </a:t>
            </a:r>
            <a:r>
              <a:rPr sz="400" dirty="0">
                <a:latin typeface="Bookman Uralic"/>
                <a:cs typeface="Bookman Uralic"/>
              </a:rPr>
              <a:t>of wind resource, globally, is enormous and is </a:t>
            </a:r>
            <a:r>
              <a:rPr sz="400" spc="5" dirty="0">
                <a:latin typeface="Bookman Uralic"/>
                <a:cs typeface="Bookman Uralic"/>
              </a:rPr>
              <a:t>less </a:t>
            </a:r>
            <a:r>
              <a:rPr sz="400" dirty="0">
                <a:latin typeface="Bookman Uralic"/>
                <a:cs typeface="Bookman Uralic"/>
              </a:rPr>
              <a:t>dependent on latitude than  other solar based renewable </a:t>
            </a:r>
            <a:r>
              <a:rPr sz="400" spc="-5" dirty="0">
                <a:latin typeface="Bookman Uralic"/>
                <a:cs typeface="Bookman Uralic"/>
              </a:rPr>
              <a:t>energy</a:t>
            </a:r>
            <a:r>
              <a:rPr sz="400" spc="90" dirty="0">
                <a:latin typeface="Bookman Uralic"/>
                <a:cs typeface="Bookman Uralic"/>
              </a:rPr>
              <a:t> </a:t>
            </a:r>
            <a:r>
              <a:rPr sz="400" dirty="0">
                <a:latin typeface="Bookman Uralic"/>
                <a:cs typeface="Bookman Uralic"/>
              </a:rPr>
              <a:t>technologies.</a:t>
            </a:r>
            <a:endParaRPr sz="400">
              <a:latin typeface="Bookman Uralic"/>
              <a:cs typeface="Bookman Uralic"/>
            </a:endParaRPr>
          </a:p>
          <a:p>
            <a:pPr marL="132715" marR="5715" indent="-67310">
              <a:lnSpc>
                <a:spcPts val="490"/>
              </a:lnSpc>
              <a:spcBef>
                <a:spcPts val="5"/>
              </a:spcBef>
              <a:buAutoNum type="arabicPeriod"/>
              <a:tabLst>
                <a:tab pos="133350" algn="l"/>
              </a:tabLst>
            </a:pPr>
            <a:r>
              <a:rPr sz="400" dirty="0">
                <a:latin typeface="Bookman Uralic"/>
                <a:cs typeface="Bookman Uralic"/>
              </a:rPr>
              <a:t>Power generation is cheaper as </a:t>
            </a:r>
            <a:r>
              <a:rPr sz="400" spc="5" dirty="0">
                <a:latin typeface="Bookman Uralic"/>
                <a:cs typeface="Bookman Uralic"/>
              </a:rPr>
              <a:t>there </a:t>
            </a:r>
            <a:r>
              <a:rPr sz="400" dirty="0">
                <a:latin typeface="Bookman Uralic"/>
                <a:cs typeface="Bookman Uralic"/>
              </a:rPr>
              <a:t>is </a:t>
            </a:r>
            <a:r>
              <a:rPr sz="400" spc="5" dirty="0">
                <a:latin typeface="Bookman Uralic"/>
                <a:cs typeface="Bookman Uralic"/>
              </a:rPr>
              <a:t>no </a:t>
            </a:r>
            <a:r>
              <a:rPr sz="400" dirty="0">
                <a:latin typeface="Bookman Uralic"/>
                <a:cs typeface="Bookman Uralic"/>
              </a:rPr>
              <a:t>shortage of input cost and recurring expenses  are almost</a:t>
            </a:r>
            <a:r>
              <a:rPr sz="400" spc="5" dirty="0">
                <a:latin typeface="Bookman Uralic"/>
                <a:cs typeface="Bookman Uralic"/>
              </a:rPr>
              <a:t> </a:t>
            </a:r>
            <a:r>
              <a:rPr sz="400" spc="-5" dirty="0">
                <a:latin typeface="Bookman Uralic"/>
                <a:cs typeface="Bookman Uralic"/>
              </a:rPr>
              <a:t>nil.</a:t>
            </a:r>
            <a:endParaRPr sz="400">
              <a:latin typeface="Bookman Uralic"/>
              <a:cs typeface="Bookman Uralic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400" b="1" i="1" dirty="0">
                <a:latin typeface="TeX Gyre Bonum"/>
                <a:cs typeface="TeX Gyre Bonum"/>
              </a:rPr>
              <a:t>Disadvantages of wind</a:t>
            </a:r>
            <a:r>
              <a:rPr sz="400" b="1" i="1" spc="40" dirty="0">
                <a:latin typeface="TeX Gyre Bonum"/>
                <a:cs typeface="TeX Gyre Bonum"/>
              </a:rPr>
              <a:t> </a:t>
            </a:r>
            <a:r>
              <a:rPr sz="400" b="1" i="1" dirty="0">
                <a:latin typeface="TeX Gyre Bonum"/>
                <a:cs typeface="TeX Gyre Bonum"/>
              </a:rPr>
              <a:t>power</a:t>
            </a:r>
            <a:endParaRPr sz="400">
              <a:latin typeface="TeX Gyre Bonum"/>
              <a:cs typeface="TeX Gyre Bonum"/>
            </a:endParaRPr>
          </a:p>
          <a:p>
            <a:pPr marL="147955" indent="-87630">
              <a:lnSpc>
                <a:spcPct val="100000"/>
              </a:lnSpc>
              <a:spcBef>
                <a:spcPts val="250"/>
              </a:spcBef>
              <a:buAutoNum type="arabicPeriod"/>
              <a:tabLst>
                <a:tab pos="148590" algn="l"/>
              </a:tabLst>
            </a:pPr>
            <a:r>
              <a:rPr sz="400" spc="5" dirty="0">
                <a:latin typeface="Bookman Uralic"/>
                <a:cs typeface="Bookman Uralic"/>
              </a:rPr>
              <a:t>It </a:t>
            </a:r>
            <a:r>
              <a:rPr sz="400" dirty="0">
                <a:latin typeface="Bookman Uralic"/>
                <a:cs typeface="Bookman Uralic"/>
              </a:rPr>
              <a:t>has low </a:t>
            </a:r>
            <a:r>
              <a:rPr sz="400" spc="-5" dirty="0">
                <a:latin typeface="Bookman Uralic"/>
                <a:cs typeface="Bookman Uralic"/>
              </a:rPr>
              <a:t>energy</a:t>
            </a:r>
            <a:r>
              <a:rPr sz="400" spc="40" dirty="0">
                <a:latin typeface="Bookman Uralic"/>
                <a:cs typeface="Bookman Uralic"/>
              </a:rPr>
              <a:t> </a:t>
            </a:r>
            <a:r>
              <a:rPr sz="400" dirty="0">
                <a:latin typeface="Bookman Uralic"/>
                <a:cs typeface="Bookman Uralic"/>
              </a:rPr>
              <a:t>density.</a:t>
            </a:r>
            <a:endParaRPr sz="400">
              <a:latin typeface="Bookman Uralic"/>
              <a:cs typeface="Bookman Uralic"/>
            </a:endParaRPr>
          </a:p>
          <a:p>
            <a:pPr marL="147955" marR="6350" indent="-86995">
              <a:lnSpc>
                <a:spcPct val="102000"/>
              </a:lnSpc>
              <a:buAutoNum type="arabicPeriod"/>
              <a:tabLst>
                <a:tab pos="148590" algn="l"/>
              </a:tabLst>
            </a:pPr>
            <a:r>
              <a:rPr sz="400" dirty="0">
                <a:latin typeface="Bookman Uralic"/>
                <a:cs typeface="Bookman Uralic"/>
              </a:rPr>
              <a:t>Electricity production depends on- </a:t>
            </a:r>
            <a:r>
              <a:rPr sz="400" spc="5" dirty="0">
                <a:latin typeface="Bookman Uralic"/>
                <a:cs typeface="Bookman Uralic"/>
              </a:rPr>
              <a:t>wind </a:t>
            </a:r>
            <a:r>
              <a:rPr sz="400" dirty="0">
                <a:latin typeface="Bookman Uralic"/>
                <a:cs typeface="Bookman Uralic"/>
              </a:rPr>
              <a:t>speed, location, season </a:t>
            </a:r>
            <a:r>
              <a:rPr sz="400" spc="5" dirty="0">
                <a:latin typeface="Bookman Uralic"/>
                <a:cs typeface="Bookman Uralic"/>
              </a:rPr>
              <a:t>and </a:t>
            </a:r>
            <a:r>
              <a:rPr sz="400" dirty="0">
                <a:latin typeface="Bookman Uralic"/>
                <a:cs typeface="Bookman Uralic"/>
              </a:rPr>
              <a:t>air temperature.  </a:t>
            </a:r>
            <a:r>
              <a:rPr sz="400" spc="-5" dirty="0">
                <a:latin typeface="Bookman Uralic"/>
                <a:cs typeface="Bookman Uralic"/>
              </a:rPr>
              <a:t>Hence </a:t>
            </a:r>
            <a:r>
              <a:rPr sz="400" dirty="0">
                <a:latin typeface="Bookman Uralic"/>
                <a:cs typeface="Bookman Uralic"/>
              </a:rPr>
              <a:t>various monitoring systems are </a:t>
            </a:r>
            <a:r>
              <a:rPr sz="400" spc="-5" dirty="0">
                <a:latin typeface="Bookman Uralic"/>
                <a:cs typeface="Bookman Uralic"/>
              </a:rPr>
              <a:t>needed </a:t>
            </a:r>
            <a:r>
              <a:rPr sz="400" dirty="0">
                <a:latin typeface="Bookman Uralic"/>
                <a:cs typeface="Bookman Uralic"/>
              </a:rPr>
              <a:t>and </a:t>
            </a:r>
            <a:r>
              <a:rPr sz="400" spc="5" dirty="0">
                <a:latin typeface="Bookman Uralic"/>
                <a:cs typeface="Bookman Uralic"/>
              </a:rPr>
              <a:t>may </a:t>
            </a:r>
            <a:r>
              <a:rPr sz="400" dirty="0">
                <a:latin typeface="Bookman Uralic"/>
                <a:cs typeface="Bookman Uralic"/>
              </a:rPr>
              <a:t>cost</a:t>
            </a:r>
            <a:r>
              <a:rPr sz="400" spc="30" dirty="0">
                <a:latin typeface="Bookman Uralic"/>
                <a:cs typeface="Bookman Uralic"/>
              </a:rPr>
              <a:t> </a:t>
            </a:r>
            <a:r>
              <a:rPr sz="400" spc="-5" dirty="0">
                <a:latin typeface="Bookman Uralic"/>
                <a:cs typeface="Bookman Uralic"/>
              </a:rPr>
              <a:t>expensive.</a:t>
            </a:r>
            <a:endParaRPr sz="400">
              <a:latin typeface="Bookman Uralic"/>
              <a:cs typeface="Bookman Uralic"/>
            </a:endParaRPr>
          </a:p>
          <a:p>
            <a:pPr marL="147955" marR="6350" indent="-86995">
              <a:lnSpc>
                <a:spcPct val="102000"/>
              </a:lnSpc>
              <a:buAutoNum type="arabicPeriod"/>
              <a:tabLst>
                <a:tab pos="148590" algn="l"/>
              </a:tabLst>
            </a:pPr>
            <a:r>
              <a:rPr sz="400" dirty="0">
                <a:latin typeface="Bookman Uralic"/>
                <a:cs typeface="Bookman Uralic"/>
              </a:rPr>
              <a:t>High percentage of </a:t>
            </a:r>
            <a:r>
              <a:rPr sz="400" spc="5" dirty="0">
                <a:latin typeface="Bookman Uralic"/>
                <a:cs typeface="Bookman Uralic"/>
              </a:rPr>
              <a:t>the </a:t>
            </a:r>
            <a:r>
              <a:rPr sz="400" dirty="0">
                <a:latin typeface="Bookman Uralic"/>
                <a:cs typeface="Bookman Uralic"/>
              </a:rPr>
              <a:t>hardware cost (for large wind turbine) is spent </a:t>
            </a:r>
            <a:r>
              <a:rPr sz="400" spc="5" dirty="0">
                <a:latin typeface="Bookman Uralic"/>
                <a:cs typeface="Bookman Uralic"/>
              </a:rPr>
              <a:t>on the tower  </a:t>
            </a:r>
            <a:r>
              <a:rPr sz="400" spc="-5" dirty="0">
                <a:latin typeface="Bookman Uralic"/>
                <a:cs typeface="Bookman Uralic"/>
              </a:rPr>
              <a:t>designed </a:t>
            </a:r>
            <a:r>
              <a:rPr sz="400" dirty="0">
                <a:latin typeface="Bookman Uralic"/>
                <a:cs typeface="Bookman Uralic"/>
              </a:rPr>
              <a:t>to support the</a:t>
            </a:r>
            <a:r>
              <a:rPr sz="400" spc="55" dirty="0">
                <a:latin typeface="Bookman Uralic"/>
                <a:cs typeface="Bookman Uralic"/>
              </a:rPr>
              <a:t> </a:t>
            </a:r>
            <a:r>
              <a:rPr sz="400" dirty="0">
                <a:latin typeface="Bookman Uralic"/>
                <a:cs typeface="Bookman Uralic"/>
              </a:rPr>
              <a:t>turbine</a:t>
            </a:r>
            <a:endParaRPr sz="400">
              <a:latin typeface="Bookman Uralic"/>
              <a:cs typeface="Bookman Uralic"/>
            </a:endParaRPr>
          </a:p>
          <a:p>
            <a:pPr marL="147955" indent="-87630">
              <a:lnSpc>
                <a:spcPct val="100000"/>
              </a:lnSpc>
              <a:spcBef>
                <a:spcPts val="25"/>
              </a:spcBef>
              <a:buAutoNum type="arabicPeriod"/>
              <a:tabLst>
                <a:tab pos="148590" algn="l"/>
              </a:tabLst>
            </a:pPr>
            <a:r>
              <a:rPr sz="400" spc="5" dirty="0">
                <a:latin typeface="Bookman Uralic"/>
                <a:cs typeface="Bookman Uralic"/>
              </a:rPr>
              <a:t>It </a:t>
            </a:r>
            <a:r>
              <a:rPr sz="400" dirty="0">
                <a:latin typeface="Bookman Uralic"/>
                <a:cs typeface="Bookman Uralic"/>
              </a:rPr>
              <a:t>is variable, unsteady, irregular, </a:t>
            </a:r>
            <a:r>
              <a:rPr sz="400" spc="-5" dirty="0">
                <a:latin typeface="Bookman Uralic"/>
                <a:cs typeface="Bookman Uralic"/>
              </a:rPr>
              <a:t>intermittent, </a:t>
            </a:r>
            <a:r>
              <a:rPr sz="400" dirty="0">
                <a:latin typeface="Bookman Uralic"/>
                <a:cs typeface="Bookman Uralic"/>
              </a:rPr>
              <a:t>erratic and sometimes</a:t>
            </a:r>
            <a:r>
              <a:rPr sz="400" spc="80" dirty="0">
                <a:latin typeface="Bookman Uralic"/>
                <a:cs typeface="Bookman Uralic"/>
              </a:rPr>
              <a:t> </a:t>
            </a:r>
            <a:r>
              <a:rPr sz="400" dirty="0">
                <a:latin typeface="Bookman Uralic"/>
                <a:cs typeface="Bookman Uralic"/>
              </a:rPr>
              <a:t>dangerous.</a:t>
            </a:r>
            <a:endParaRPr sz="400">
              <a:latin typeface="Bookman Uralic"/>
              <a:cs typeface="Bookman Uralic"/>
            </a:endParaRPr>
          </a:p>
          <a:p>
            <a:pPr marL="147955" marR="6350" indent="-86995">
              <a:lnSpc>
                <a:spcPct val="102000"/>
              </a:lnSpc>
              <a:buAutoNum type="arabicPeriod"/>
              <a:tabLst>
                <a:tab pos="148590" algn="l"/>
              </a:tabLst>
            </a:pPr>
            <a:r>
              <a:rPr sz="400" dirty="0">
                <a:latin typeface="Bookman Uralic"/>
                <a:cs typeface="Bookman Uralic"/>
              </a:rPr>
              <a:t>Wind turbine design, </a:t>
            </a:r>
            <a:r>
              <a:rPr sz="400" spc="5" dirty="0">
                <a:latin typeface="Bookman Uralic"/>
                <a:cs typeface="Bookman Uralic"/>
              </a:rPr>
              <a:t>manufacture </a:t>
            </a:r>
            <a:r>
              <a:rPr sz="400" dirty="0">
                <a:latin typeface="Bookman Uralic"/>
                <a:cs typeface="Bookman Uralic"/>
              </a:rPr>
              <a:t>and installation have proved to </a:t>
            </a:r>
            <a:r>
              <a:rPr sz="400" spc="5" dirty="0">
                <a:latin typeface="Bookman Uralic"/>
                <a:cs typeface="Bookman Uralic"/>
              </a:rPr>
              <a:t>be complex due </a:t>
            </a:r>
            <a:r>
              <a:rPr sz="400" dirty="0">
                <a:latin typeface="Bookman Uralic"/>
                <a:cs typeface="Bookman Uralic"/>
              </a:rPr>
              <a:t>to  widely varying atmospheric conditions in which they have to</a:t>
            </a:r>
            <a:r>
              <a:rPr sz="400" spc="120" dirty="0">
                <a:latin typeface="Bookman Uralic"/>
                <a:cs typeface="Bookman Uralic"/>
              </a:rPr>
              <a:t> </a:t>
            </a:r>
            <a:r>
              <a:rPr sz="400" dirty="0">
                <a:latin typeface="Bookman Uralic"/>
                <a:cs typeface="Bookman Uralic"/>
              </a:rPr>
              <a:t>operate.</a:t>
            </a:r>
            <a:endParaRPr sz="400">
              <a:latin typeface="Bookman Uralic"/>
              <a:cs typeface="Bookman Uralic"/>
            </a:endParaRPr>
          </a:p>
          <a:p>
            <a:pPr marL="147955" marR="6350" indent="-86995">
              <a:lnSpc>
                <a:spcPct val="102000"/>
              </a:lnSpc>
              <a:buAutoNum type="arabicPeriod"/>
              <a:tabLst>
                <a:tab pos="148590" algn="l"/>
              </a:tabLst>
            </a:pPr>
            <a:r>
              <a:rPr sz="400" dirty="0">
                <a:latin typeface="Bookman Uralic"/>
                <a:cs typeface="Bookman Uralic"/>
              </a:rPr>
              <a:t>Wind farms can </a:t>
            </a:r>
            <a:r>
              <a:rPr sz="400" spc="5" dirty="0">
                <a:latin typeface="Bookman Uralic"/>
                <a:cs typeface="Bookman Uralic"/>
              </a:rPr>
              <a:t>be </a:t>
            </a:r>
            <a:r>
              <a:rPr sz="400" dirty="0">
                <a:latin typeface="Bookman Uralic"/>
                <a:cs typeface="Bookman Uralic"/>
              </a:rPr>
              <a:t>located </a:t>
            </a:r>
            <a:r>
              <a:rPr sz="400" spc="5" dirty="0">
                <a:latin typeface="Bookman Uralic"/>
                <a:cs typeface="Bookman Uralic"/>
              </a:rPr>
              <a:t>only in </a:t>
            </a:r>
            <a:r>
              <a:rPr sz="400" dirty="0">
                <a:latin typeface="Bookman Uralic"/>
                <a:cs typeface="Bookman Uralic"/>
              </a:rPr>
              <a:t>vast open areas in locations of favourable wind.  </a:t>
            </a:r>
            <a:r>
              <a:rPr sz="400" spc="-5" dirty="0">
                <a:latin typeface="Bookman Uralic"/>
                <a:cs typeface="Bookman Uralic"/>
              </a:rPr>
              <a:t>Generally, </a:t>
            </a:r>
            <a:r>
              <a:rPr sz="400" dirty="0">
                <a:latin typeface="Bookman Uralic"/>
                <a:cs typeface="Bookman Uralic"/>
              </a:rPr>
              <a:t>such locations are </a:t>
            </a:r>
            <a:r>
              <a:rPr sz="400" spc="5" dirty="0">
                <a:latin typeface="Bookman Uralic"/>
                <a:cs typeface="Bookman Uralic"/>
              </a:rPr>
              <a:t>away </a:t>
            </a:r>
            <a:r>
              <a:rPr sz="400" dirty="0">
                <a:latin typeface="Bookman Uralic"/>
                <a:cs typeface="Bookman Uralic"/>
              </a:rPr>
              <a:t>from load</a:t>
            </a:r>
            <a:r>
              <a:rPr sz="400" spc="-45" dirty="0">
                <a:latin typeface="Bookman Uralic"/>
                <a:cs typeface="Bookman Uralic"/>
              </a:rPr>
              <a:t> </a:t>
            </a:r>
            <a:r>
              <a:rPr sz="400" dirty="0">
                <a:latin typeface="Bookman Uralic"/>
                <a:cs typeface="Bookman Uralic"/>
              </a:rPr>
              <a:t>centres.</a:t>
            </a:r>
            <a:endParaRPr sz="400">
              <a:latin typeface="Bookman Uralic"/>
              <a:cs typeface="Bookman Uralic"/>
            </a:endParaRPr>
          </a:p>
          <a:p>
            <a:pPr marL="147955" indent="-87630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148590" algn="l"/>
              </a:tabLst>
            </a:pPr>
            <a:r>
              <a:rPr sz="400" dirty="0">
                <a:latin typeface="Bookman Uralic"/>
                <a:cs typeface="Bookman Uralic"/>
              </a:rPr>
              <a:t>The appearance of wind turbines on the landscape and their continual whirling</a:t>
            </a:r>
            <a:r>
              <a:rPr sz="400" spc="30" dirty="0">
                <a:latin typeface="Bookman Uralic"/>
                <a:cs typeface="Bookman Uralic"/>
              </a:rPr>
              <a:t> </a:t>
            </a:r>
            <a:r>
              <a:rPr sz="400" dirty="0">
                <a:latin typeface="Bookman Uralic"/>
                <a:cs typeface="Bookman Uralic"/>
              </a:rPr>
              <a:t>and</a:t>
            </a:r>
            <a:endParaRPr sz="400">
              <a:latin typeface="Bookman Uralic"/>
              <a:cs typeface="Bookman Ural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0030" y="1891080"/>
            <a:ext cx="697865" cy="87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" dirty="0">
                <a:latin typeface="Bookman Uralic"/>
                <a:cs typeface="Bookman Uralic"/>
              </a:rPr>
              <a:t>whistling can be</a:t>
            </a:r>
            <a:r>
              <a:rPr sz="400" spc="-25" dirty="0">
                <a:latin typeface="Bookman Uralic"/>
                <a:cs typeface="Bookman Uralic"/>
              </a:rPr>
              <a:t> </a:t>
            </a:r>
            <a:r>
              <a:rPr sz="400" dirty="0">
                <a:latin typeface="Bookman Uralic"/>
                <a:cs typeface="Bookman Uralic"/>
              </a:rPr>
              <a:t>irritating.</a:t>
            </a:r>
            <a:endParaRPr sz="400">
              <a:latin typeface="Bookman Uralic"/>
              <a:cs typeface="Bookman Ural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62530" y="1877060"/>
            <a:ext cx="711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24</a:t>
            </a:r>
            <a:endParaRPr sz="350">
              <a:latin typeface="Carlito"/>
              <a:cs typeface="Carli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35" y="965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8307" y="268224"/>
            <a:ext cx="2368296" cy="141427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8500" y="39065"/>
            <a:ext cx="208597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dirty="0">
                <a:latin typeface="Times New Roman" panose="02020603050405020304"/>
                <a:cs typeface="Times New Roman" panose="02020603050405020304"/>
              </a:rPr>
              <a:t>Impacts </a:t>
            </a:r>
            <a:r>
              <a:rPr sz="1300" i="1" spc="-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1300" i="1" spc="-15" dirty="0">
                <a:latin typeface="Times New Roman" panose="02020603050405020304"/>
                <a:cs typeface="Times New Roman" panose="02020603050405020304"/>
              </a:rPr>
              <a:t>Wind </a:t>
            </a:r>
            <a:r>
              <a:rPr sz="1300" i="1" spc="-5" dirty="0">
                <a:latin typeface="Times New Roman" panose="02020603050405020304"/>
                <a:cs typeface="Times New Roman" panose="02020603050405020304"/>
              </a:rPr>
              <a:t>Power:</a:t>
            </a:r>
            <a:r>
              <a:rPr sz="1300" i="1" spc="-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i="1" spc="-5" dirty="0">
                <a:latin typeface="Times New Roman" panose="02020603050405020304"/>
                <a:cs typeface="Times New Roman" panose="02020603050405020304"/>
              </a:rPr>
              <a:t>Noise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178" y="1674621"/>
            <a:ext cx="2543810" cy="2952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7000"/>
              </a:lnSpc>
              <a:spcBef>
                <a:spcPts val="90"/>
              </a:spcBef>
            </a:pPr>
            <a:r>
              <a:rPr sz="550" b="1" i="1" spc="1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55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the past, turbines have </a:t>
            </a:r>
            <a:r>
              <a:rPr sz="550" b="1" i="1" spc="1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been </a:t>
            </a:r>
            <a:r>
              <a:rPr sz="55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perceived </a:t>
            </a:r>
            <a:r>
              <a:rPr sz="550" b="1" i="1" spc="1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as </a:t>
            </a:r>
            <a:r>
              <a:rPr sz="55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noisy </a:t>
            </a:r>
            <a:r>
              <a:rPr sz="550" b="1" i="1" spc="1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machines. While modern day  </a:t>
            </a:r>
            <a:r>
              <a:rPr sz="55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turbines </a:t>
            </a:r>
            <a:r>
              <a:rPr sz="550" b="1" i="1" spc="2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do </a:t>
            </a:r>
            <a:r>
              <a:rPr sz="550" b="1" i="1" spc="1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produce some noise, when </a:t>
            </a:r>
            <a:r>
              <a:rPr sz="55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sited </a:t>
            </a:r>
            <a:r>
              <a:rPr sz="550" b="1" i="1" spc="1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at a </a:t>
            </a:r>
            <a:r>
              <a:rPr sz="55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proper distance </a:t>
            </a:r>
            <a:r>
              <a:rPr sz="550" b="1" i="1" spc="1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from homes and  businesses,</a:t>
            </a:r>
            <a:r>
              <a:rPr sz="550" b="1" i="1" spc="-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550" b="1" i="1" spc="-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b="1" i="1" spc="1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noise</a:t>
            </a:r>
            <a:r>
              <a:rPr sz="550" b="1" i="1" spc="-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level</a:t>
            </a:r>
            <a:r>
              <a:rPr sz="550" b="1" i="1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550" b="1" i="1" spc="-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less</a:t>
            </a:r>
            <a:r>
              <a:rPr sz="550" b="1" i="1" spc="-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b="1" i="1" spc="1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than</a:t>
            </a:r>
            <a:r>
              <a:rPr sz="550" b="1" i="1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b="1" i="1" spc="2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many</a:t>
            </a:r>
            <a:r>
              <a:rPr sz="550" b="1" i="1" spc="-1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b="1" i="1" spc="1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household</a:t>
            </a:r>
            <a:r>
              <a:rPr sz="550" b="1" i="1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b="1" i="1" spc="1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appliances.</a:t>
            </a:r>
            <a:endParaRPr sz="5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314325" cy="2011680"/>
            <a:chOff x="0" y="0"/>
            <a:chExt cx="314325" cy="201168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8895" cy="2011680"/>
            </a:xfrm>
            <a:custGeom>
              <a:avLst/>
              <a:gdLst/>
              <a:ahLst/>
              <a:cxnLst/>
              <a:rect l="l" t="t" r="r" b="b"/>
              <a:pathLst>
                <a:path w="48895" h="2011680">
                  <a:moveTo>
                    <a:pt x="48767" y="0"/>
                  </a:moveTo>
                  <a:lnTo>
                    <a:pt x="0" y="0"/>
                  </a:lnTo>
                  <a:lnTo>
                    <a:pt x="0" y="2011679"/>
                  </a:lnTo>
                  <a:lnTo>
                    <a:pt x="48767" y="2011679"/>
                  </a:lnTo>
                  <a:lnTo>
                    <a:pt x="48767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1923288"/>
              <a:ext cx="314325" cy="43180"/>
            </a:xfrm>
            <a:custGeom>
              <a:avLst/>
              <a:gdLst/>
              <a:ahLst/>
              <a:cxnLst/>
              <a:rect l="l" t="t" r="r" b="b"/>
              <a:pathLst>
                <a:path w="314325" h="43180">
                  <a:moveTo>
                    <a:pt x="313943" y="0"/>
                  </a:moveTo>
                  <a:lnTo>
                    <a:pt x="0" y="0"/>
                  </a:lnTo>
                  <a:lnTo>
                    <a:pt x="0" y="42672"/>
                  </a:lnTo>
                  <a:lnTo>
                    <a:pt x="313943" y="42672"/>
                  </a:lnTo>
                  <a:lnTo>
                    <a:pt x="313943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668" y="245109"/>
              <a:ext cx="93345" cy="159385"/>
            </a:xfrm>
            <a:custGeom>
              <a:avLst/>
              <a:gdLst/>
              <a:ahLst/>
              <a:cxnLst/>
              <a:rect l="l" t="t" r="r" b="b"/>
              <a:pathLst>
                <a:path w="93345" h="159385">
                  <a:moveTo>
                    <a:pt x="0" y="0"/>
                  </a:moveTo>
                  <a:lnTo>
                    <a:pt x="19558" y="159385"/>
                  </a:lnTo>
                  <a:lnTo>
                    <a:pt x="92837" y="850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48742" y="50673"/>
            <a:ext cx="203136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spc="-10" dirty="0">
                <a:latin typeface="Times New Roman" panose="02020603050405020304"/>
                <a:cs typeface="Times New Roman" panose="02020603050405020304"/>
              </a:rPr>
              <a:t>Installation </a:t>
            </a:r>
            <a:r>
              <a:rPr sz="1300" i="1" spc="-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1300" i="1" spc="-15" dirty="0">
                <a:latin typeface="Times New Roman" panose="02020603050405020304"/>
                <a:cs typeface="Times New Roman" panose="02020603050405020304"/>
              </a:rPr>
              <a:t>Wind</a:t>
            </a:r>
            <a:r>
              <a:rPr sz="1300" i="1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i="1" spc="-15" dirty="0">
                <a:latin typeface="Times New Roman" panose="02020603050405020304"/>
                <a:cs typeface="Times New Roman" panose="02020603050405020304"/>
              </a:rPr>
              <a:t>Turbines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75232" y="312420"/>
            <a:ext cx="1207007" cy="16992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9563" y="306070"/>
            <a:ext cx="1403985" cy="16427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6985" algn="just">
              <a:lnSpc>
                <a:spcPct val="106000"/>
              </a:lnSpc>
              <a:spcBef>
                <a:spcPts val="90"/>
              </a:spcBef>
            </a:pPr>
            <a:r>
              <a:rPr sz="50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Large scale </a:t>
            </a:r>
            <a:r>
              <a:rPr sz="500" b="1" i="1" spc="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turbines </a:t>
            </a:r>
            <a:r>
              <a:rPr sz="50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are brought </a:t>
            </a:r>
            <a:r>
              <a:rPr sz="500" b="1" i="1" spc="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to the  construction site in </a:t>
            </a:r>
            <a:r>
              <a:rPr sz="50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multiple pieces and  assembled on</a:t>
            </a:r>
            <a:r>
              <a:rPr sz="500" b="1" i="1" spc="-2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b="1" i="1" spc="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site.</a:t>
            </a:r>
            <a:endParaRPr sz="500">
              <a:latin typeface="Times New Roman" panose="02020603050405020304"/>
              <a:cs typeface="Times New Roman" panose="02020603050405020304"/>
            </a:endParaRPr>
          </a:p>
          <a:p>
            <a:pPr marL="12700" marR="5080" algn="just">
              <a:lnSpc>
                <a:spcPct val="105000"/>
              </a:lnSpc>
              <a:spcBef>
                <a:spcPts val="270"/>
              </a:spcBef>
            </a:pPr>
            <a:r>
              <a:rPr sz="50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Specialized trucks </a:t>
            </a:r>
            <a:r>
              <a:rPr sz="500" b="1" i="1" spc="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transport the </a:t>
            </a:r>
            <a:r>
              <a:rPr sz="50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components </a:t>
            </a:r>
            <a:r>
              <a:rPr sz="500" b="1" i="1" spc="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to  these </a:t>
            </a:r>
            <a:r>
              <a:rPr sz="50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often remote </a:t>
            </a:r>
            <a:r>
              <a:rPr sz="500" b="1" i="1" spc="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locations </a:t>
            </a:r>
            <a:r>
              <a:rPr sz="50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because, even  though </a:t>
            </a:r>
            <a:r>
              <a:rPr sz="500" b="1" i="1" spc="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the turbine is </a:t>
            </a:r>
            <a:r>
              <a:rPr sz="50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disassembled, </a:t>
            </a:r>
            <a:r>
              <a:rPr sz="500" b="1" i="1" spc="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individual  </a:t>
            </a:r>
            <a:r>
              <a:rPr sz="50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pieces are </a:t>
            </a:r>
            <a:r>
              <a:rPr sz="500" b="1" i="1" spc="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still </a:t>
            </a:r>
            <a:r>
              <a:rPr sz="50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very</a:t>
            </a:r>
            <a:r>
              <a:rPr sz="500" b="1" i="1" spc="-3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large.</a:t>
            </a:r>
            <a:endParaRPr sz="500">
              <a:latin typeface="Times New Roman" panose="02020603050405020304"/>
              <a:cs typeface="Times New Roman" panose="02020603050405020304"/>
            </a:endParaRPr>
          </a:p>
          <a:p>
            <a:pPr marL="12700" marR="6985" algn="just">
              <a:lnSpc>
                <a:spcPct val="106000"/>
              </a:lnSpc>
              <a:spcBef>
                <a:spcPts val="265"/>
              </a:spcBef>
            </a:pPr>
            <a:r>
              <a:rPr sz="500" b="1" i="1" spc="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Towers </a:t>
            </a:r>
            <a:r>
              <a:rPr sz="50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are transported </a:t>
            </a:r>
            <a:r>
              <a:rPr sz="500" b="1" i="1" spc="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50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65 </a:t>
            </a:r>
            <a:r>
              <a:rPr sz="500" b="1" i="1" spc="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50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100-foot </a:t>
            </a:r>
            <a:r>
              <a:rPr sz="500" b="1" i="1" spc="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long  sections. </a:t>
            </a:r>
            <a:r>
              <a:rPr sz="50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Blades are transported one or two  blades per</a:t>
            </a:r>
            <a:r>
              <a:rPr sz="500" b="1" i="1" spc="-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b="1" i="1" spc="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truck.</a:t>
            </a:r>
            <a:endParaRPr sz="500">
              <a:latin typeface="Times New Roman" panose="02020603050405020304"/>
              <a:cs typeface="Times New Roman" panose="02020603050405020304"/>
            </a:endParaRPr>
          </a:p>
          <a:p>
            <a:pPr marL="12700" marR="8255" algn="just">
              <a:lnSpc>
                <a:spcPct val="106000"/>
              </a:lnSpc>
              <a:spcBef>
                <a:spcPts val="255"/>
              </a:spcBef>
            </a:pPr>
            <a:r>
              <a:rPr sz="50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Prior </a:t>
            </a:r>
            <a:r>
              <a:rPr sz="500" b="1" i="1" spc="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50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erecting </a:t>
            </a:r>
            <a:r>
              <a:rPr sz="500" b="1" i="1" spc="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the tower, </a:t>
            </a:r>
            <a:r>
              <a:rPr sz="50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concrete </a:t>
            </a:r>
            <a:r>
              <a:rPr sz="500" b="1" i="1" spc="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foundations  </a:t>
            </a:r>
            <a:r>
              <a:rPr sz="50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are poured </a:t>
            </a:r>
            <a:r>
              <a:rPr sz="500" b="1" i="1" spc="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to hold the turbine </a:t>
            </a:r>
            <a:r>
              <a:rPr sz="50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securely </a:t>
            </a:r>
            <a:r>
              <a:rPr sz="500" b="1" i="1" spc="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500" b="1" i="1" spc="2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place.</a:t>
            </a:r>
            <a:endParaRPr sz="500">
              <a:latin typeface="Times New Roman" panose="02020603050405020304"/>
              <a:cs typeface="Times New Roman" panose="02020603050405020304"/>
            </a:endParaRPr>
          </a:p>
          <a:p>
            <a:pPr marL="12700" marR="5080" algn="just">
              <a:lnSpc>
                <a:spcPct val="105000"/>
              </a:lnSpc>
              <a:spcBef>
                <a:spcPts val="265"/>
              </a:spcBef>
            </a:pPr>
            <a:r>
              <a:rPr sz="50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Large cranes </a:t>
            </a:r>
            <a:r>
              <a:rPr sz="500" b="1" i="1" spc="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are </a:t>
            </a:r>
            <a:r>
              <a:rPr sz="50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used </a:t>
            </a:r>
            <a:r>
              <a:rPr sz="500" b="1" i="1" spc="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50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assemble </a:t>
            </a:r>
            <a:r>
              <a:rPr sz="500" b="1" i="1" spc="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50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pieces,  stacking </a:t>
            </a:r>
            <a:r>
              <a:rPr sz="500" b="1" i="1" spc="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50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tower and nacelle </a:t>
            </a:r>
            <a:r>
              <a:rPr sz="500" b="1" i="1" spc="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first. </a:t>
            </a:r>
            <a:r>
              <a:rPr sz="50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The blades  are attached </a:t>
            </a:r>
            <a:r>
              <a:rPr sz="500" b="1" i="1" spc="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to the hub </a:t>
            </a:r>
            <a:r>
              <a:rPr sz="50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on </a:t>
            </a:r>
            <a:r>
              <a:rPr sz="500" b="1" i="1" spc="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50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ground and </a:t>
            </a:r>
            <a:r>
              <a:rPr sz="500" b="1" i="1" spc="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lifted  </a:t>
            </a:r>
            <a:r>
              <a:rPr sz="50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on </a:t>
            </a:r>
            <a:r>
              <a:rPr sz="500" b="1" i="1" spc="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to the front </a:t>
            </a:r>
            <a:r>
              <a:rPr sz="50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500" b="1" i="1" spc="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500" b="1" i="1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nacelle.</a:t>
            </a:r>
            <a:endParaRPr sz="500">
              <a:latin typeface="Times New Roman" panose="02020603050405020304"/>
              <a:cs typeface="Times New Roman" panose="02020603050405020304"/>
            </a:endParaRPr>
          </a:p>
          <a:p>
            <a:pPr marL="12700" marR="6985" algn="just">
              <a:lnSpc>
                <a:spcPct val="106000"/>
              </a:lnSpc>
              <a:spcBef>
                <a:spcPts val="265"/>
              </a:spcBef>
            </a:pPr>
            <a:r>
              <a:rPr sz="50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Note </a:t>
            </a:r>
            <a:r>
              <a:rPr sz="500" b="1" i="1" spc="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the size </a:t>
            </a:r>
            <a:r>
              <a:rPr sz="50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comparison </a:t>
            </a:r>
            <a:r>
              <a:rPr sz="500" b="1" i="1" spc="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to the </a:t>
            </a:r>
            <a:r>
              <a:rPr sz="50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barn in </a:t>
            </a:r>
            <a:r>
              <a:rPr sz="500" b="1" i="1" spc="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50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upper  </a:t>
            </a:r>
            <a:r>
              <a:rPr sz="500" b="1" i="1" spc="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right hand</a:t>
            </a:r>
            <a:r>
              <a:rPr sz="500" b="1" i="1" spc="2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b="1" i="1" spc="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corner.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5" y="0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923288"/>
            <a:ext cx="314325" cy="43180"/>
          </a:xfrm>
          <a:custGeom>
            <a:avLst/>
            <a:gdLst/>
            <a:ahLst/>
            <a:cxnLst/>
            <a:rect l="l" t="t" r="r" b="b"/>
            <a:pathLst>
              <a:path w="314325" h="43180">
                <a:moveTo>
                  <a:pt x="313944" y="0"/>
                </a:moveTo>
                <a:lnTo>
                  <a:pt x="0" y="0"/>
                </a:lnTo>
                <a:lnTo>
                  <a:pt x="0" y="42671"/>
                </a:lnTo>
                <a:lnTo>
                  <a:pt x="313944" y="42671"/>
                </a:lnTo>
                <a:lnTo>
                  <a:pt x="313944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76883" y="1923288"/>
            <a:ext cx="1705610" cy="43180"/>
          </a:xfrm>
          <a:custGeom>
            <a:avLst/>
            <a:gdLst/>
            <a:ahLst/>
            <a:cxnLst/>
            <a:rect l="l" t="t" r="r" b="b"/>
            <a:pathLst>
              <a:path w="1705610" h="43180">
                <a:moveTo>
                  <a:pt x="0" y="42671"/>
                </a:moveTo>
                <a:lnTo>
                  <a:pt x="1705355" y="42671"/>
                </a:lnTo>
                <a:lnTo>
                  <a:pt x="1705355" y="0"/>
                </a:lnTo>
                <a:lnTo>
                  <a:pt x="0" y="0"/>
                </a:lnTo>
                <a:lnTo>
                  <a:pt x="0" y="42671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08787" y="42418"/>
            <a:ext cx="151130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spc="-10" dirty="0">
                <a:latin typeface="Times New Roman" panose="02020603050405020304"/>
                <a:cs typeface="Times New Roman" panose="02020603050405020304"/>
              </a:rPr>
              <a:t>Offshore </a:t>
            </a:r>
            <a:r>
              <a:rPr sz="1300" i="1" spc="-15" dirty="0">
                <a:latin typeface="Times New Roman" panose="02020603050405020304"/>
                <a:cs typeface="Times New Roman" panose="02020603050405020304"/>
              </a:rPr>
              <a:t>Wind</a:t>
            </a:r>
            <a:r>
              <a:rPr sz="1300" i="1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i="1" dirty="0">
                <a:latin typeface="Times New Roman" panose="02020603050405020304"/>
                <a:cs typeface="Times New Roman" panose="02020603050405020304"/>
              </a:rPr>
              <a:t>Farms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78307" y="291084"/>
            <a:ext cx="2391410" cy="1324610"/>
            <a:chOff x="178307" y="291084"/>
            <a:chExt cx="2391410" cy="1324610"/>
          </a:xfrm>
        </p:grpSpPr>
        <p:sp>
          <p:nvSpPr>
            <p:cNvPr id="6" name="object 6"/>
            <p:cNvSpPr/>
            <p:nvPr/>
          </p:nvSpPr>
          <p:spPr>
            <a:xfrm>
              <a:off x="178307" y="291084"/>
              <a:ext cx="1207008" cy="1324356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429511" y="292608"/>
              <a:ext cx="1139952" cy="131978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81178" y="1668881"/>
            <a:ext cx="2521585" cy="20510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660"/>
              </a:lnSpc>
              <a:spcBef>
                <a:spcPts val="135"/>
              </a:spcBef>
            </a:pPr>
            <a:r>
              <a:rPr sz="550" b="1" i="1" spc="2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Many</a:t>
            </a:r>
            <a:r>
              <a:rPr sz="550" b="1" i="1" spc="3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developers</a:t>
            </a:r>
            <a:r>
              <a:rPr sz="550" b="1" i="1" spc="3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b="1" i="1" spc="1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would</a:t>
            </a:r>
            <a:r>
              <a:rPr sz="550" b="1" i="1" spc="3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like</a:t>
            </a:r>
            <a:r>
              <a:rPr sz="550" b="1" i="1" spc="3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550" b="1" i="1" spc="2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move</a:t>
            </a:r>
            <a:r>
              <a:rPr sz="550" b="1" i="1" spc="3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b="1" i="1" spc="1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wind</a:t>
            </a:r>
            <a:r>
              <a:rPr sz="550" b="1" i="1" spc="3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b="1" i="1" spc="1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farms</a:t>
            </a:r>
            <a:r>
              <a:rPr sz="550" b="1" i="1" spc="3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offshore</a:t>
            </a:r>
            <a:r>
              <a:rPr sz="550" b="1" i="1" spc="3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b="1" i="1" spc="1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because</a:t>
            </a:r>
            <a:r>
              <a:rPr sz="550" b="1" i="1" spc="4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b="1" i="1" spc="1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wind</a:t>
            </a:r>
            <a:r>
              <a:rPr sz="550" b="1" i="1" spc="3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b="1" i="1" spc="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550" b="1" i="1" spc="3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b="1" i="1" spc="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faster,</a:t>
            </a:r>
            <a:endParaRPr sz="5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600" b="1" i="1" spc="-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smoother</a:t>
            </a:r>
            <a:r>
              <a:rPr sz="600" b="1" i="1" spc="-4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" b="1" i="1" spc="-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600" b="1" i="1" spc="-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can</a:t>
            </a:r>
            <a:r>
              <a:rPr sz="600" b="1" i="1" spc="-2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" b="1" i="1" spc="-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600" b="1" i="1" spc="-2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" b="1" i="1" spc="-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close</a:t>
            </a:r>
            <a:r>
              <a:rPr sz="600" b="1" i="1" spc="-2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" b="1" i="1" spc="-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600" b="1" i="1" spc="-1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" b="1" i="1" spc="-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major</a:t>
            </a:r>
            <a:r>
              <a:rPr sz="600" b="1" i="1" spc="-4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" b="1" i="1" spc="-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population</a:t>
            </a:r>
            <a:r>
              <a:rPr sz="600" b="1" i="1" spc="-3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" b="1" i="1" spc="-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centers</a:t>
            </a:r>
            <a:r>
              <a:rPr sz="600" b="1" i="1" spc="-3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" b="1" i="1" spc="-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on the</a:t>
            </a:r>
            <a:r>
              <a:rPr sz="600" b="1" i="1" spc="-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coast.</a:t>
            </a:r>
            <a:endParaRPr sz="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965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5285" y="85090"/>
            <a:ext cx="199453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dirty="0">
                <a:latin typeface="Times New Roman" panose="02020603050405020304"/>
                <a:cs typeface="Times New Roman" panose="02020603050405020304"/>
              </a:rPr>
              <a:t>Common</a:t>
            </a:r>
            <a:r>
              <a:rPr sz="1300" i="1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i="1" spc="-5" dirty="0">
                <a:latin typeface="Times New Roman" panose="02020603050405020304"/>
                <a:cs typeface="Times New Roman" panose="02020603050405020304"/>
              </a:rPr>
              <a:t>Misunderstandings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6205" y="467090"/>
            <a:ext cx="70103" cy="73167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4394" y="423418"/>
            <a:ext cx="1224915" cy="12344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3030" marR="7620" algn="just">
              <a:lnSpc>
                <a:spcPct val="103000"/>
              </a:lnSpc>
              <a:spcBef>
                <a:spcPts val="90"/>
              </a:spcBef>
            </a:pPr>
            <a:r>
              <a:rPr sz="800" i="1" spc="-5" dirty="0">
                <a:latin typeface="Times New Roman" panose="02020603050405020304"/>
                <a:cs typeface="Times New Roman" panose="02020603050405020304"/>
              </a:rPr>
              <a:t>Wind </a:t>
            </a:r>
            <a:r>
              <a:rPr sz="800" i="1" spc="5" dirty="0">
                <a:latin typeface="Times New Roman" panose="02020603050405020304"/>
                <a:cs typeface="Times New Roman" panose="02020603050405020304"/>
              </a:rPr>
              <a:t>turbines </a:t>
            </a:r>
            <a:r>
              <a:rPr sz="800" i="1" dirty="0">
                <a:latin typeface="Times New Roman" panose="02020603050405020304"/>
                <a:cs typeface="Times New Roman" panose="02020603050405020304"/>
              </a:rPr>
              <a:t>are </a:t>
            </a:r>
            <a:r>
              <a:rPr sz="800" i="1" spc="5" dirty="0">
                <a:latin typeface="Times New Roman" panose="02020603050405020304"/>
                <a:cs typeface="Times New Roman" panose="02020603050405020304"/>
              </a:rPr>
              <a:t>only  generating </a:t>
            </a:r>
            <a:r>
              <a:rPr sz="800" i="1" dirty="0">
                <a:latin typeface="Times New Roman" panose="02020603050405020304"/>
                <a:cs typeface="Times New Roman" panose="02020603050405020304"/>
              </a:rPr>
              <a:t>electricity  about </a:t>
            </a:r>
            <a:r>
              <a:rPr sz="800" i="1" spc="5" dirty="0">
                <a:latin typeface="Times New Roman" panose="02020603050405020304"/>
                <a:cs typeface="Times New Roman" panose="02020603050405020304"/>
              </a:rPr>
              <a:t>one </a:t>
            </a:r>
            <a:r>
              <a:rPr sz="800" i="1" dirty="0">
                <a:latin typeface="Times New Roman" panose="02020603050405020304"/>
                <a:cs typeface="Times New Roman" panose="02020603050405020304"/>
              </a:rPr>
              <a:t>third of </a:t>
            </a:r>
            <a:r>
              <a:rPr sz="800" i="1" spc="10" dirty="0">
                <a:latin typeface="Times New Roman" panose="02020603050405020304"/>
                <a:cs typeface="Times New Roman" panose="02020603050405020304"/>
              </a:rPr>
              <a:t>the  </a:t>
            </a:r>
            <a:r>
              <a:rPr sz="800" i="1" spc="5" dirty="0">
                <a:latin typeface="Times New Roman" panose="02020603050405020304"/>
                <a:cs typeface="Times New Roman" panose="02020603050405020304"/>
              </a:rPr>
              <a:t>time.</a:t>
            </a:r>
            <a:endParaRPr sz="8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50">
              <a:latin typeface="Times New Roman" panose="02020603050405020304"/>
              <a:cs typeface="Times New Roman" panose="02020603050405020304"/>
            </a:endParaRPr>
          </a:p>
          <a:p>
            <a:pPr marL="12700" marR="5080" indent="65405" algn="just">
              <a:lnSpc>
                <a:spcPct val="100000"/>
              </a:lnSpc>
            </a:pPr>
            <a:r>
              <a:rPr sz="700" i="1" spc="-10" dirty="0">
                <a:latin typeface="Times New Roman" panose="02020603050405020304"/>
                <a:cs typeface="Times New Roman" panose="02020603050405020304"/>
              </a:rPr>
              <a:t>Wind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turbines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generate 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electricity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essentially all the  time, but only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at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their </a:t>
            </a:r>
            <a:r>
              <a:rPr sz="700" b="1" i="1" u="sng" spc="-5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rated </a:t>
            </a:r>
            <a:r>
              <a:rPr sz="700" b="1" i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b="1" i="1" u="sng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capacity</a:t>
            </a:r>
            <a:r>
              <a:rPr sz="700" b="1" i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about 30-40%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the 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time.</a:t>
            </a:r>
            <a:endParaRPr sz="7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-11556" y="0"/>
            <a:ext cx="2705735" cy="2035175"/>
            <a:chOff x="-11556" y="0"/>
            <a:chExt cx="2705735" cy="2035175"/>
          </a:xfrm>
        </p:grpSpPr>
        <p:sp>
          <p:nvSpPr>
            <p:cNvPr id="6" name="object 6"/>
            <p:cNvSpPr/>
            <p:nvPr/>
          </p:nvSpPr>
          <p:spPr>
            <a:xfrm>
              <a:off x="1408176" y="402336"/>
              <a:ext cx="1228344" cy="14965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35" y="965"/>
              <a:ext cx="2681605" cy="2010410"/>
            </a:xfrm>
            <a:custGeom>
              <a:avLst/>
              <a:gdLst/>
              <a:ahLst/>
              <a:cxnLst/>
              <a:rect l="l" t="t" r="r" b="b"/>
              <a:pathLst>
                <a:path w="2681605" h="2010410">
                  <a:moveTo>
                    <a:pt x="0" y="2010410"/>
                  </a:moveTo>
                  <a:lnTo>
                    <a:pt x="2681351" y="2010410"/>
                  </a:lnTo>
                  <a:lnTo>
                    <a:pt x="2681351" y="0"/>
                  </a:lnTo>
                  <a:lnTo>
                    <a:pt x="0" y="0"/>
                  </a:lnTo>
                  <a:lnTo>
                    <a:pt x="0" y="201041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195" y="402336"/>
            <a:ext cx="536448" cy="82753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1178" y="84201"/>
            <a:ext cx="2496820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i="1" dirty="0">
                <a:latin typeface="Times New Roman" panose="02020603050405020304"/>
                <a:cs typeface="Times New Roman" panose="02020603050405020304"/>
              </a:rPr>
              <a:t>Turbines: </a:t>
            </a:r>
            <a:r>
              <a:rPr sz="1150" i="1" spc="5" dirty="0">
                <a:latin typeface="Times New Roman" panose="02020603050405020304"/>
                <a:cs typeface="Times New Roman" panose="02020603050405020304"/>
              </a:rPr>
              <a:t>Different sizes </a:t>
            </a:r>
            <a:r>
              <a:rPr sz="1150" i="1" spc="20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sz="1150" i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i="1" spc="5" dirty="0">
                <a:latin typeface="Times New Roman" panose="02020603050405020304"/>
                <a:cs typeface="Times New Roman" panose="02020603050405020304"/>
              </a:rPr>
              <a:t>Applications</a:t>
            </a:r>
            <a:endParaRPr sz="11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7626" y="412046"/>
            <a:ext cx="829944" cy="58610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00" b="1" i="1" spc="5" dirty="0">
                <a:latin typeface="Times New Roman" panose="02020603050405020304"/>
                <a:cs typeface="Times New Roman" panose="02020603050405020304"/>
              </a:rPr>
              <a:t>Small </a:t>
            </a:r>
            <a:r>
              <a:rPr sz="700" b="1" i="1" spc="-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750" b="1" i="1" spc="-5" dirty="0">
                <a:latin typeface="Symbol" panose="05050102010706020507"/>
                <a:cs typeface="Symbol" panose="05050102010706020507"/>
              </a:rPr>
              <a:t></a:t>
            </a:r>
            <a:r>
              <a:rPr sz="700" b="1" i="1" spc="-5" dirty="0">
                <a:latin typeface="Times New Roman" panose="02020603050405020304"/>
                <a:cs typeface="Times New Roman" panose="02020603050405020304"/>
              </a:rPr>
              <a:t>10</a:t>
            </a:r>
            <a:r>
              <a:rPr sz="700" b="1" i="1" spc="-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b="1" i="1" dirty="0">
                <a:latin typeface="Times New Roman" panose="02020603050405020304"/>
                <a:cs typeface="Times New Roman" panose="02020603050405020304"/>
              </a:rPr>
              <a:t>kW)</a:t>
            </a:r>
            <a:endParaRPr sz="700">
              <a:latin typeface="Times New Roman" panose="02020603050405020304"/>
              <a:cs typeface="Times New Roman" panose="02020603050405020304"/>
            </a:endParaRPr>
          </a:p>
          <a:p>
            <a:pPr marL="56515" indent="-44450">
              <a:lnSpc>
                <a:spcPct val="100000"/>
              </a:lnSpc>
              <a:spcBef>
                <a:spcPts val="80"/>
              </a:spcBef>
              <a:buFont typeface="Times New Roman" panose="02020603050405020304"/>
              <a:buChar char="•"/>
              <a:tabLst>
                <a:tab pos="57150" algn="l"/>
              </a:tabLst>
            </a:pPr>
            <a:r>
              <a:rPr sz="550" i="1" spc="20" dirty="0">
                <a:latin typeface="Times New Roman" panose="02020603050405020304"/>
                <a:cs typeface="Times New Roman" panose="02020603050405020304"/>
              </a:rPr>
              <a:t>Homes</a:t>
            </a:r>
            <a:r>
              <a:rPr sz="550" i="1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(Grid-connected)</a:t>
            </a:r>
            <a:endParaRPr sz="550">
              <a:latin typeface="Times New Roman" panose="02020603050405020304"/>
              <a:cs typeface="Times New Roman" panose="02020603050405020304"/>
            </a:endParaRPr>
          </a:p>
          <a:p>
            <a:pPr marL="56515" indent="-44450">
              <a:lnSpc>
                <a:spcPct val="100000"/>
              </a:lnSpc>
              <a:spcBef>
                <a:spcPts val="35"/>
              </a:spcBef>
              <a:buFont typeface="Times New Roman" panose="02020603050405020304"/>
              <a:buChar char="•"/>
              <a:tabLst>
                <a:tab pos="57150" algn="l"/>
              </a:tabLst>
            </a:pP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Farms</a:t>
            </a:r>
            <a:endParaRPr sz="550">
              <a:latin typeface="Times New Roman" panose="02020603050405020304"/>
              <a:cs typeface="Times New Roman" panose="02020603050405020304"/>
            </a:endParaRPr>
          </a:p>
          <a:p>
            <a:pPr marL="56515" indent="-44450">
              <a:lnSpc>
                <a:spcPct val="100000"/>
              </a:lnSpc>
              <a:buFont typeface="Times New Roman" panose="02020603050405020304"/>
              <a:buChar char="•"/>
              <a:tabLst>
                <a:tab pos="57150" algn="l"/>
              </a:tabLst>
            </a:pP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Remote</a:t>
            </a:r>
            <a:r>
              <a:rPr sz="550" i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Applications</a:t>
            </a:r>
            <a:endParaRPr sz="550">
              <a:latin typeface="Times New Roman" panose="02020603050405020304"/>
              <a:cs typeface="Times New Roman" panose="02020603050405020304"/>
            </a:endParaRPr>
          </a:p>
          <a:p>
            <a:pPr marL="12700" marR="5080" indent="36195">
              <a:lnSpc>
                <a:spcPts val="530"/>
              </a:lnSpc>
              <a:spcBef>
                <a:spcPts val="305"/>
              </a:spcBef>
            </a:pPr>
            <a:r>
              <a:rPr sz="500" i="1" spc="10" dirty="0">
                <a:latin typeface="Times New Roman" panose="02020603050405020304"/>
                <a:cs typeface="Times New Roman" panose="02020603050405020304"/>
              </a:rPr>
              <a:t>(e.g. battery </a:t>
            </a:r>
            <a:r>
              <a:rPr sz="500" i="1" spc="5" dirty="0">
                <a:latin typeface="Times New Roman" panose="02020603050405020304"/>
                <a:cs typeface="Times New Roman" panose="02020603050405020304"/>
              </a:rPr>
              <a:t>charging,</a:t>
            </a:r>
            <a:r>
              <a:rPr sz="500" i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i="1" spc="5" dirty="0">
                <a:latin typeface="Times New Roman" panose="02020603050405020304"/>
                <a:cs typeface="Times New Roman" panose="02020603050405020304"/>
              </a:rPr>
              <a:t>water  </a:t>
            </a:r>
            <a:r>
              <a:rPr sz="500" i="1" spc="10" dirty="0">
                <a:latin typeface="Times New Roman" panose="02020603050405020304"/>
                <a:cs typeface="Times New Roman" panose="02020603050405020304"/>
              </a:rPr>
              <a:t>pumping, telecom</a:t>
            </a:r>
            <a:r>
              <a:rPr sz="500" i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i="1" spc="5" dirty="0">
                <a:latin typeface="Times New Roman" panose="02020603050405020304"/>
                <a:cs typeface="Times New Roman" panose="02020603050405020304"/>
              </a:rPr>
              <a:t>sites)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75232" y="402336"/>
            <a:ext cx="536448" cy="839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025523" y="393013"/>
            <a:ext cx="622300" cy="6489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925" marR="119380" indent="-22860">
              <a:lnSpc>
                <a:spcPct val="140000"/>
              </a:lnSpc>
              <a:spcBef>
                <a:spcPts val="95"/>
              </a:spcBef>
            </a:pPr>
            <a:r>
              <a:rPr sz="700" b="1" i="1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700" b="1" i="1" spc="-5" dirty="0"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700" b="1" i="1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700" b="1" i="1" spc="25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700" b="1" i="1" spc="-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700" b="1" i="1" spc="5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700" b="1" i="1" spc="-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700" b="1" i="1" spc="-1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700" b="1" i="1" spc="-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700" b="1" i="1" dirty="0">
                <a:latin typeface="Times New Roman" panose="02020603050405020304"/>
                <a:cs typeface="Times New Roman" panose="02020603050405020304"/>
              </a:rPr>
              <a:t>e  (10-500</a:t>
            </a:r>
            <a:r>
              <a:rPr sz="700" b="1" i="1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b="1" i="1" dirty="0">
                <a:latin typeface="Times New Roman" panose="02020603050405020304"/>
                <a:cs typeface="Times New Roman" panose="02020603050405020304"/>
              </a:rPr>
              <a:t>kW)</a:t>
            </a:r>
            <a:endParaRPr sz="700">
              <a:latin typeface="Times New Roman" panose="02020603050405020304"/>
              <a:cs typeface="Times New Roman" panose="02020603050405020304"/>
            </a:endParaRPr>
          </a:p>
          <a:p>
            <a:pPr marL="56515" indent="-44450">
              <a:lnSpc>
                <a:spcPct val="100000"/>
              </a:lnSpc>
              <a:spcBef>
                <a:spcPts val="200"/>
              </a:spcBef>
              <a:buFont typeface="Times New Roman" panose="02020603050405020304"/>
              <a:buChar char="•"/>
              <a:tabLst>
                <a:tab pos="57150" algn="l"/>
              </a:tabLst>
            </a:pP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Village</a:t>
            </a:r>
            <a:r>
              <a:rPr sz="550" i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Power</a:t>
            </a:r>
            <a:endParaRPr sz="550">
              <a:latin typeface="Times New Roman" panose="02020603050405020304"/>
              <a:cs typeface="Times New Roman" panose="02020603050405020304"/>
            </a:endParaRPr>
          </a:p>
          <a:p>
            <a:pPr marL="56515" indent="-44450">
              <a:lnSpc>
                <a:spcPct val="100000"/>
              </a:lnSpc>
              <a:spcBef>
                <a:spcPts val="180"/>
              </a:spcBef>
              <a:buFont typeface="Times New Roman" panose="02020603050405020304"/>
              <a:buChar char="•"/>
              <a:tabLst>
                <a:tab pos="57150" algn="l"/>
              </a:tabLst>
            </a:pP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Hybrid</a:t>
            </a:r>
            <a:r>
              <a:rPr sz="550" i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Systems</a:t>
            </a:r>
            <a:endParaRPr sz="550">
              <a:latin typeface="Times New Roman" panose="02020603050405020304"/>
              <a:cs typeface="Times New Roman" panose="02020603050405020304"/>
            </a:endParaRPr>
          </a:p>
          <a:p>
            <a:pPr marL="56515" indent="-44450">
              <a:lnSpc>
                <a:spcPct val="100000"/>
              </a:lnSpc>
              <a:spcBef>
                <a:spcPts val="190"/>
              </a:spcBef>
              <a:buFont typeface="Times New Roman" panose="02020603050405020304"/>
              <a:buChar char="•"/>
              <a:tabLst>
                <a:tab pos="57150" algn="l"/>
              </a:tabLst>
            </a:pP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Distributed</a:t>
            </a:r>
            <a:r>
              <a:rPr sz="550" i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Power</a:t>
            </a:r>
            <a:endParaRPr sz="5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1252" y="1363980"/>
            <a:ext cx="1318260" cy="5212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489328" y="1286101"/>
            <a:ext cx="1104900" cy="70866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700" b="1" i="1" spc="5" dirty="0">
                <a:latin typeface="Times New Roman" panose="02020603050405020304"/>
                <a:cs typeface="Times New Roman" panose="02020603050405020304"/>
              </a:rPr>
              <a:t>Large (500 kW </a:t>
            </a:r>
            <a:r>
              <a:rPr sz="700" b="1" i="1" dirty="0">
                <a:latin typeface="Times New Roman" panose="02020603050405020304"/>
                <a:cs typeface="Times New Roman" panose="02020603050405020304"/>
              </a:rPr>
              <a:t>– 5</a:t>
            </a:r>
            <a:r>
              <a:rPr sz="700" b="1" i="1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b="1" i="1" spc="-5" dirty="0">
                <a:latin typeface="Times New Roman" panose="02020603050405020304"/>
                <a:cs typeface="Times New Roman" panose="02020603050405020304"/>
              </a:rPr>
              <a:t>MW)</a:t>
            </a:r>
            <a:endParaRPr sz="700">
              <a:latin typeface="Times New Roman" panose="02020603050405020304"/>
              <a:cs typeface="Times New Roman" panose="02020603050405020304"/>
            </a:endParaRPr>
          </a:p>
          <a:p>
            <a:pPr marL="39370" indent="-27305">
              <a:lnSpc>
                <a:spcPct val="100000"/>
              </a:lnSpc>
              <a:spcBef>
                <a:spcPts val="320"/>
              </a:spcBef>
              <a:buSzPct val="82000"/>
              <a:buFont typeface="Times New Roman" panose="02020603050405020304"/>
              <a:buChar char="•"/>
              <a:tabLst>
                <a:tab pos="40005" algn="l"/>
              </a:tabLst>
            </a:pP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Require </a:t>
            </a:r>
            <a:r>
              <a:rPr sz="550" i="1" spc="20" dirty="0">
                <a:latin typeface="Times New Roman" panose="02020603050405020304"/>
                <a:cs typeface="Times New Roman" panose="02020603050405020304"/>
              </a:rPr>
              <a:t>13-mph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average</a:t>
            </a:r>
            <a:r>
              <a:rPr sz="550" i="1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wind sites</a:t>
            </a:r>
            <a:endParaRPr sz="550">
              <a:latin typeface="Times New Roman" panose="02020603050405020304"/>
              <a:cs typeface="Times New Roman" panose="02020603050405020304"/>
            </a:endParaRPr>
          </a:p>
          <a:p>
            <a:pPr marL="39370" indent="-27305">
              <a:lnSpc>
                <a:spcPct val="100000"/>
              </a:lnSpc>
              <a:spcBef>
                <a:spcPts val="325"/>
              </a:spcBef>
              <a:buSzPct val="82000"/>
              <a:buFont typeface="Times New Roman" panose="02020603050405020304"/>
              <a:buChar char="•"/>
              <a:tabLst>
                <a:tab pos="40005" algn="l"/>
              </a:tabLst>
            </a:pP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Central Station </a:t>
            </a: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Wind</a:t>
            </a:r>
            <a:r>
              <a:rPr sz="550" i="1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Farms</a:t>
            </a:r>
            <a:endParaRPr sz="550">
              <a:latin typeface="Times New Roman" panose="02020603050405020304"/>
              <a:cs typeface="Times New Roman" panose="02020603050405020304"/>
            </a:endParaRPr>
          </a:p>
          <a:p>
            <a:pPr marL="56515" indent="-44450">
              <a:lnSpc>
                <a:spcPct val="100000"/>
              </a:lnSpc>
              <a:spcBef>
                <a:spcPts val="205"/>
              </a:spcBef>
              <a:buSzPct val="82000"/>
              <a:buFont typeface="Times New Roman" panose="02020603050405020304"/>
              <a:buChar char="•"/>
              <a:tabLst>
                <a:tab pos="57150" algn="l"/>
              </a:tabLst>
            </a:pP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Distributed</a:t>
            </a:r>
            <a:r>
              <a:rPr sz="550" i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Power</a:t>
            </a:r>
            <a:endParaRPr sz="550">
              <a:latin typeface="Times New Roman" panose="02020603050405020304"/>
              <a:cs typeface="Times New Roman" panose="02020603050405020304"/>
            </a:endParaRPr>
          </a:p>
          <a:p>
            <a:pPr marL="56515" indent="-44450">
              <a:lnSpc>
                <a:spcPct val="100000"/>
              </a:lnSpc>
              <a:spcBef>
                <a:spcPts val="130"/>
              </a:spcBef>
              <a:buSzPct val="82000"/>
              <a:buFont typeface="Times New Roman" panose="02020603050405020304"/>
              <a:buChar char="•"/>
              <a:tabLst>
                <a:tab pos="57150" algn="l"/>
              </a:tabLst>
            </a:pP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Offshore</a:t>
            </a:r>
            <a:r>
              <a:rPr sz="550" i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Wind</a:t>
            </a:r>
            <a:endParaRPr sz="550">
              <a:latin typeface="Times New Roman" panose="02020603050405020304"/>
              <a:cs typeface="Times New Roman" panose="02020603050405020304"/>
            </a:endParaRPr>
          </a:p>
          <a:p>
            <a:pPr marR="43180" algn="r">
              <a:lnSpc>
                <a:spcPct val="100000"/>
              </a:lnSpc>
              <a:spcBef>
                <a:spcPts val="15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31</a:t>
            </a:r>
            <a:endParaRPr sz="350">
              <a:latin typeface="Carlito"/>
              <a:cs typeface="Carlit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252" y="202692"/>
            <a:ext cx="2458212" cy="169621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462530" y="1876170"/>
            <a:ext cx="711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34</a:t>
            </a:r>
            <a:endParaRPr sz="35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5" y="0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159" y="69596"/>
            <a:ext cx="16078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i="1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Modern </a:t>
            </a:r>
            <a:r>
              <a:rPr sz="1300" b="1" i="1" spc="-1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Wind</a:t>
            </a:r>
            <a:r>
              <a:rPr sz="1300" b="1" i="1" spc="-1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b="1" i="1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Turbines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8234" y="348488"/>
            <a:ext cx="245427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700" b="1" i="1" spc="-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Turbines </a:t>
            </a:r>
            <a:r>
              <a:rPr sz="700" b="1" i="1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can </a:t>
            </a:r>
            <a:r>
              <a:rPr sz="700" b="1" i="1" spc="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be </a:t>
            </a:r>
            <a:r>
              <a:rPr sz="700" b="1" i="1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categorized into </a:t>
            </a:r>
            <a:r>
              <a:rPr sz="700" b="1" i="1" spc="-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two </a:t>
            </a:r>
            <a:r>
              <a:rPr sz="700" b="1" i="1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classes based </a:t>
            </a:r>
            <a:r>
              <a:rPr sz="700" b="1" i="1" spc="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on </a:t>
            </a:r>
            <a:r>
              <a:rPr sz="700" b="1" i="1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the  orientation </a:t>
            </a:r>
            <a:r>
              <a:rPr sz="700" b="1" i="1" spc="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700" b="1" i="1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700" b="1" i="1" spc="-3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b="1" i="1" spc="-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rotor.</a:t>
            </a:r>
            <a:endParaRPr sz="7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5363" y="603504"/>
            <a:ext cx="2190115" cy="1347470"/>
            <a:chOff x="245363" y="603504"/>
            <a:chExt cx="2190115" cy="1347470"/>
          </a:xfrm>
        </p:grpSpPr>
        <p:sp>
          <p:nvSpPr>
            <p:cNvPr id="5" name="object 5"/>
            <p:cNvSpPr/>
            <p:nvPr/>
          </p:nvSpPr>
          <p:spPr>
            <a:xfrm>
              <a:off x="245363" y="603504"/>
              <a:ext cx="1050036" cy="1347216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408175" y="603504"/>
              <a:ext cx="1027176" cy="132588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2462022" y="1877060"/>
            <a:ext cx="711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33</a:t>
            </a:r>
            <a:endParaRPr sz="350">
              <a:latin typeface="Carlito"/>
              <a:cs typeface="Carlit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965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7866" y="87249"/>
            <a:ext cx="228917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spc="-5" dirty="0">
                <a:latin typeface="Times New Roman" panose="02020603050405020304"/>
                <a:cs typeface="Times New Roman" panose="02020603050405020304"/>
              </a:rPr>
              <a:t>Different </a:t>
            </a:r>
            <a:r>
              <a:rPr sz="1300" i="1" spc="-15" dirty="0">
                <a:latin typeface="Times New Roman" panose="02020603050405020304"/>
                <a:cs typeface="Times New Roman" panose="02020603050405020304"/>
              </a:rPr>
              <a:t>Types </a:t>
            </a:r>
            <a:r>
              <a:rPr sz="1300" i="1" spc="-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1300" i="1" spc="-15" dirty="0">
                <a:latin typeface="Times New Roman" panose="02020603050405020304"/>
                <a:cs typeface="Times New Roman" panose="02020603050405020304"/>
              </a:rPr>
              <a:t>Wind</a:t>
            </a:r>
            <a:r>
              <a:rPr sz="1300" i="1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i="1" spc="-10" dirty="0">
                <a:latin typeface="Times New Roman" panose="02020603050405020304"/>
                <a:cs typeface="Times New Roman" panose="02020603050405020304"/>
              </a:rPr>
              <a:t>Turbines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96520" indent="-83820">
              <a:lnSpc>
                <a:spcPct val="100000"/>
              </a:lnSpc>
              <a:spcBef>
                <a:spcPts val="315"/>
              </a:spcBef>
              <a:buFont typeface="Arial" panose="020B0604020202020204"/>
              <a:buChar char="–"/>
              <a:tabLst>
                <a:tab pos="96520" algn="l"/>
              </a:tabLst>
            </a:pPr>
            <a:r>
              <a:rPr spc="-10" dirty="0"/>
              <a:t>Wind</a:t>
            </a:r>
            <a:r>
              <a:rPr spc="20" dirty="0"/>
              <a:t> </a:t>
            </a:r>
            <a:r>
              <a:rPr spc="-5" dirty="0"/>
              <a:t>Turbines</a:t>
            </a:r>
            <a:endParaRPr spc="-5" dirty="0"/>
          </a:p>
          <a:p>
            <a:pPr marL="213360" marR="5080" lvl="1" indent="-67310">
              <a:lnSpc>
                <a:spcPct val="100000"/>
              </a:lnSpc>
              <a:spcBef>
                <a:spcPts val="185"/>
              </a:spcBef>
              <a:buFont typeface="Arial" panose="020B0604020202020204"/>
              <a:buChar char="•"/>
              <a:tabLst>
                <a:tab pos="213995" algn="l"/>
              </a:tabLst>
            </a:pPr>
            <a:r>
              <a:rPr sz="700" i="1" dirty="0">
                <a:latin typeface="Times New Roman" panose="02020603050405020304"/>
                <a:cs typeface="Times New Roman" panose="02020603050405020304"/>
              </a:rPr>
              <a:t>If the mechanical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energy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is then converted to</a:t>
            </a:r>
            <a:r>
              <a:rPr sz="700" i="1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electricity, 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the machine is called a wind</a:t>
            </a:r>
            <a:r>
              <a:rPr sz="700" i="1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generator.</a:t>
            </a:r>
            <a:endParaRPr sz="7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25196" y="871728"/>
            <a:ext cx="1826260" cy="1050290"/>
            <a:chOff x="425196" y="871728"/>
            <a:chExt cx="1826260" cy="1050290"/>
          </a:xfrm>
        </p:grpSpPr>
        <p:sp>
          <p:nvSpPr>
            <p:cNvPr id="5" name="object 5"/>
            <p:cNvSpPr/>
            <p:nvPr/>
          </p:nvSpPr>
          <p:spPr>
            <a:xfrm>
              <a:off x="425196" y="871728"/>
              <a:ext cx="870203" cy="1050036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429512" y="871728"/>
              <a:ext cx="821436" cy="105003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2462530" y="1877060"/>
            <a:ext cx="711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36</a:t>
            </a:r>
            <a:endParaRPr sz="350">
              <a:latin typeface="Carlito"/>
              <a:cs typeface="Carlit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35" y="965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2359" y="90931"/>
            <a:ext cx="221932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i="1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General </a:t>
            </a:r>
            <a:r>
              <a:rPr sz="1300" b="1" i="1" spc="-1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Types </a:t>
            </a:r>
            <a:r>
              <a:rPr sz="1300" b="1" i="1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1300" b="1" i="1" spc="-1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Wind</a:t>
            </a:r>
            <a:r>
              <a:rPr sz="1300" b="1" i="1" spc="-114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b="1" i="1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Turbines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8812" y="343281"/>
            <a:ext cx="1798955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800" b="1" i="1" spc="-1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Vertical </a:t>
            </a:r>
            <a:r>
              <a:rPr sz="800" b="1" i="1" spc="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Axis </a:t>
            </a:r>
            <a:r>
              <a:rPr sz="800" b="1" i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Wind </a:t>
            </a:r>
            <a:r>
              <a:rPr sz="800" b="1" i="1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Turbine </a:t>
            </a:r>
            <a:r>
              <a:rPr sz="800" b="1" i="1" spc="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800" b="1" i="1" spc="2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800" b="1" i="1" spc="1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Uncommon</a:t>
            </a:r>
            <a:endParaRPr sz="8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18744" y="536448"/>
            <a:ext cx="1481455" cy="1343025"/>
            <a:chOff x="618744" y="536448"/>
            <a:chExt cx="1481455" cy="1343025"/>
          </a:xfrm>
        </p:grpSpPr>
        <p:sp>
          <p:nvSpPr>
            <p:cNvPr id="5" name="object 5"/>
            <p:cNvSpPr/>
            <p:nvPr/>
          </p:nvSpPr>
          <p:spPr>
            <a:xfrm>
              <a:off x="675132" y="536448"/>
              <a:ext cx="1313688" cy="551688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18744" y="1363980"/>
              <a:ext cx="1481327" cy="51511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304901" y="1170559"/>
            <a:ext cx="2080895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800" b="1" i="1" spc="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Horizontal Axis </a:t>
            </a:r>
            <a:r>
              <a:rPr sz="800" b="1" i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Wind </a:t>
            </a:r>
            <a:r>
              <a:rPr sz="800" b="1" i="1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Turbine </a:t>
            </a:r>
            <a:r>
              <a:rPr sz="800" b="1" i="1" spc="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– </a:t>
            </a:r>
            <a:r>
              <a:rPr sz="800" b="1" i="1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More</a:t>
            </a:r>
            <a:r>
              <a:rPr sz="800" b="1" i="1" spc="3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800" b="1" i="1" spc="1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Common</a:t>
            </a:r>
            <a:endParaRPr sz="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62022" y="1876170"/>
            <a:ext cx="711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37</a:t>
            </a:r>
            <a:endParaRPr sz="350">
              <a:latin typeface="Carlito"/>
              <a:cs typeface="Carlit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3710" y="90931"/>
            <a:ext cx="173545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i="1" spc="-1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Wind </a:t>
            </a:r>
            <a:r>
              <a:rPr sz="1300" b="1" i="1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Energy</a:t>
            </a:r>
            <a:r>
              <a:rPr sz="1300" b="1" i="1" spc="-6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b="1" i="1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Conversion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8844" y="333248"/>
            <a:ext cx="1570990" cy="2952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800" b="1" i="1" spc="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Principle of wind energy</a:t>
            </a:r>
            <a:r>
              <a:rPr sz="800" b="1" i="1" spc="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800" b="1" i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conversion</a:t>
            </a:r>
            <a:endParaRPr sz="800">
              <a:latin typeface="Times New Roman" panose="02020603050405020304"/>
              <a:cs typeface="Times New Roman" panose="02020603050405020304"/>
            </a:endParaRPr>
          </a:p>
          <a:p>
            <a:pPr marL="280670">
              <a:lnSpc>
                <a:spcPct val="100000"/>
              </a:lnSpc>
              <a:spcBef>
                <a:spcPts val="480"/>
              </a:spcBef>
            </a:pPr>
            <a:r>
              <a:rPr sz="550" spc="10" dirty="0">
                <a:latin typeface="Times New Roman" panose="02020603050405020304"/>
                <a:cs typeface="Times New Roman" panose="02020603050405020304"/>
              </a:rPr>
              <a:t>(i) Drag is in </a:t>
            </a:r>
            <a:r>
              <a:rPr sz="550" spc="1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550" spc="10" dirty="0">
                <a:latin typeface="Times New Roman" panose="02020603050405020304"/>
                <a:cs typeface="Times New Roman" panose="02020603050405020304"/>
              </a:rPr>
              <a:t>direction </a:t>
            </a:r>
            <a:r>
              <a:rPr sz="550" spc="1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550" spc="10" dirty="0">
                <a:latin typeface="Times New Roman" panose="02020603050405020304"/>
                <a:cs typeface="Times New Roman" panose="02020603050405020304"/>
              </a:rPr>
              <a:t>air</a:t>
            </a:r>
            <a:r>
              <a:rPr sz="55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10" dirty="0">
                <a:latin typeface="Times New Roman" panose="02020603050405020304"/>
                <a:cs typeface="Times New Roman" panose="02020603050405020304"/>
              </a:rPr>
              <a:t>flow</a:t>
            </a:r>
            <a:endParaRPr sz="5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62530" y="1876170"/>
            <a:ext cx="711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40</a:t>
            </a:r>
            <a:endParaRPr sz="350">
              <a:latin typeface="Carlito"/>
              <a:cs typeface="Carli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-11556" y="0"/>
            <a:ext cx="2705735" cy="2035175"/>
            <a:chOff x="-11556" y="0"/>
            <a:chExt cx="2705735" cy="2035175"/>
          </a:xfrm>
        </p:grpSpPr>
        <p:sp>
          <p:nvSpPr>
            <p:cNvPr id="6" name="object 6"/>
            <p:cNvSpPr/>
            <p:nvPr/>
          </p:nvSpPr>
          <p:spPr>
            <a:xfrm>
              <a:off x="335280" y="647699"/>
              <a:ext cx="2043683" cy="1162812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35" y="0"/>
              <a:ext cx="2681605" cy="2011045"/>
            </a:xfrm>
            <a:custGeom>
              <a:avLst/>
              <a:gdLst/>
              <a:ahLst/>
              <a:cxnLst/>
              <a:rect l="l" t="t" r="r" b="b"/>
              <a:pathLst>
                <a:path w="2681605" h="2011045">
                  <a:moveTo>
                    <a:pt x="0" y="2010790"/>
                  </a:moveTo>
                  <a:lnTo>
                    <a:pt x="2681351" y="2010790"/>
                  </a:lnTo>
                  <a:lnTo>
                    <a:pt x="2681351" y="0"/>
                  </a:lnTo>
                  <a:lnTo>
                    <a:pt x="0" y="0"/>
                  </a:lnTo>
                  <a:lnTo>
                    <a:pt x="0" y="201079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7173" y="107137"/>
            <a:ext cx="143700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spc="-15" dirty="0">
                <a:latin typeface="Times New Roman" panose="02020603050405020304"/>
                <a:cs typeface="Times New Roman" panose="02020603050405020304"/>
              </a:rPr>
              <a:t>Wind </a:t>
            </a:r>
            <a:r>
              <a:rPr sz="1300" i="1" spc="-10" dirty="0">
                <a:latin typeface="Times New Roman" panose="02020603050405020304"/>
                <a:cs typeface="Times New Roman" panose="02020603050405020304"/>
              </a:rPr>
              <a:t>Turbine</a:t>
            </a:r>
            <a:r>
              <a:rPr sz="1300" i="1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i="1" spc="-5" dirty="0">
                <a:latin typeface="Times New Roman" panose="02020603050405020304"/>
                <a:cs typeface="Times New Roman" panose="02020603050405020304"/>
              </a:rPr>
              <a:t>Power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7726" y="401193"/>
            <a:ext cx="2431415" cy="15544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25450">
              <a:lnSpc>
                <a:spcPct val="100000"/>
              </a:lnSpc>
              <a:spcBef>
                <a:spcPts val="115"/>
              </a:spcBef>
            </a:pPr>
            <a:r>
              <a:rPr sz="800" b="1" spc="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P = 0.5 </a:t>
            </a:r>
            <a:r>
              <a:rPr sz="800" spc="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× </a:t>
            </a:r>
            <a:r>
              <a:rPr sz="800" b="1" spc="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rho </a:t>
            </a:r>
            <a:r>
              <a:rPr sz="800" spc="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× </a:t>
            </a:r>
            <a:r>
              <a:rPr sz="800" b="1" spc="1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800" spc="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× </a:t>
            </a:r>
            <a:r>
              <a:rPr sz="800" b="1" spc="1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Cp </a:t>
            </a:r>
            <a:r>
              <a:rPr sz="800" spc="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× </a:t>
            </a:r>
            <a:r>
              <a:rPr sz="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V</a:t>
            </a:r>
            <a:r>
              <a:rPr sz="825" b="1" spc="-7" baseline="2500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3 </a:t>
            </a:r>
            <a:r>
              <a:rPr sz="800" spc="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× </a:t>
            </a:r>
            <a:r>
              <a:rPr sz="800" b="1" spc="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Ng </a:t>
            </a:r>
            <a:r>
              <a:rPr sz="800" spc="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×</a:t>
            </a:r>
            <a:r>
              <a:rPr sz="800" spc="-5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800" b="1" spc="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Nb</a:t>
            </a:r>
            <a:endParaRPr sz="8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700">
              <a:latin typeface="Times New Roman" panose="02020603050405020304"/>
              <a:cs typeface="Times New Roman" panose="02020603050405020304"/>
            </a:endParaRPr>
          </a:p>
          <a:p>
            <a:pPr marL="25400">
              <a:lnSpc>
                <a:spcPct val="100000"/>
              </a:lnSpc>
              <a:tabLst>
                <a:tab pos="213995" algn="l"/>
                <a:tab pos="386080" algn="l"/>
              </a:tabLst>
            </a:pPr>
            <a:r>
              <a:rPr sz="550" spc="20" dirty="0">
                <a:latin typeface="Times New Roman" panose="02020603050405020304"/>
                <a:cs typeface="Times New Roman" panose="02020603050405020304"/>
              </a:rPr>
              <a:t>P	=	power </a:t>
            </a:r>
            <a:r>
              <a:rPr sz="550" spc="10" dirty="0">
                <a:latin typeface="Times New Roman" panose="02020603050405020304"/>
                <a:cs typeface="Times New Roman" panose="02020603050405020304"/>
              </a:rPr>
              <a:t>in watts </a:t>
            </a:r>
            <a:r>
              <a:rPr sz="550" spc="15" dirty="0">
                <a:latin typeface="Times New Roman" panose="02020603050405020304"/>
                <a:cs typeface="Times New Roman" panose="02020603050405020304"/>
              </a:rPr>
              <a:t>(746 </a:t>
            </a:r>
            <a:r>
              <a:rPr sz="550" spc="10" dirty="0">
                <a:latin typeface="Times New Roman" panose="02020603050405020304"/>
                <a:cs typeface="Times New Roman" panose="02020603050405020304"/>
              </a:rPr>
              <a:t>watts </a:t>
            </a:r>
            <a:r>
              <a:rPr sz="550" spc="20" dirty="0">
                <a:latin typeface="Times New Roman" panose="02020603050405020304"/>
                <a:cs typeface="Times New Roman" panose="02020603050405020304"/>
              </a:rPr>
              <a:t>= </a:t>
            </a:r>
            <a:r>
              <a:rPr sz="550" spc="15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55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20" dirty="0">
                <a:latin typeface="Times New Roman" panose="02020603050405020304"/>
                <a:cs typeface="Times New Roman" panose="02020603050405020304"/>
              </a:rPr>
              <a:t>hp)</a:t>
            </a:r>
            <a:endParaRPr sz="550">
              <a:latin typeface="Times New Roman" panose="02020603050405020304"/>
              <a:cs typeface="Times New Roman" panose="02020603050405020304"/>
            </a:endParaRPr>
          </a:p>
          <a:p>
            <a:pPr marL="25400" marR="308610">
              <a:lnSpc>
                <a:spcPts val="950"/>
              </a:lnSpc>
              <a:spcBef>
                <a:spcPts val="65"/>
              </a:spcBef>
              <a:tabLst>
                <a:tab pos="213995" algn="l"/>
                <a:tab pos="386080" algn="l"/>
              </a:tabLst>
            </a:pPr>
            <a:r>
              <a:rPr sz="550" spc="15" dirty="0">
                <a:latin typeface="Times New Roman" panose="02020603050405020304"/>
                <a:cs typeface="Times New Roman" panose="02020603050405020304"/>
              </a:rPr>
              <a:t>rho   </a:t>
            </a:r>
            <a:r>
              <a:rPr sz="550" spc="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20" dirty="0">
                <a:latin typeface="Times New Roman" panose="02020603050405020304"/>
                <a:cs typeface="Times New Roman" panose="02020603050405020304"/>
              </a:rPr>
              <a:t>=	</a:t>
            </a:r>
            <a:r>
              <a:rPr sz="550" spc="10" dirty="0">
                <a:latin typeface="Times New Roman" panose="02020603050405020304"/>
                <a:cs typeface="Times New Roman" panose="02020603050405020304"/>
              </a:rPr>
              <a:t>air </a:t>
            </a:r>
            <a:r>
              <a:rPr sz="550" spc="15" dirty="0">
                <a:latin typeface="Times New Roman" panose="02020603050405020304"/>
                <a:cs typeface="Times New Roman" panose="02020603050405020304"/>
              </a:rPr>
              <a:t>density</a:t>
            </a:r>
            <a:r>
              <a:rPr sz="55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15" dirty="0">
                <a:latin typeface="Times New Roman" panose="02020603050405020304"/>
                <a:cs typeface="Times New Roman" panose="02020603050405020304"/>
              </a:rPr>
              <a:t>(about 1.225 </a:t>
            </a:r>
            <a:r>
              <a:rPr sz="550" spc="10" dirty="0">
                <a:latin typeface="Times New Roman" panose="02020603050405020304"/>
                <a:cs typeface="Times New Roman" panose="02020603050405020304"/>
              </a:rPr>
              <a:t>kg/m</a:t>
            </a:r>
            <a:r>
              <a:rPr sz="600" spc="15" baseline="28000" dirty="0">
                <a:latin typeface="Times New Roman" panose="02020603050405020304"/>
                <a:cs typeface="Times New Roman" panose="02020603050405020304"/>
              </a:rPr>
              <a:t>3 </a:t>
            </a:r>
            <a:r>
              <a:rPr sz="550" spc="5" dirty="0">
                <a:latin typeface="Times New Roman" panose="02020603050405020304"/>
                <a:cs typeface="Times New Roman" panose="02020603050405020304"/>
              </a:rPr>
              <a:t>at </a:t>
            </a:r>
            <a:r>
              <a:rPr sz="550" spc="15" dirty="0">
                <a:latin typeface="Times New Roman" panose="02020603050405020304"/>
                <a:cs typeface="Times New Roman" panose="02020603050405020304"/>
              </a:rPr>
              <a:t>sea </a:t>
            </a:r>
            <a:r>
              <a:rPr sz="550" spc="10" dirty="0">
                <a:latin typeface="Times New Roman" panose="02020603050405020304"/>
                <a:cs typeface="Times New Roman" panose="02020603050405020304"/>
              </a:rPr>
              <a:t>level, less </a:t>
            </a:r>
            <a:r>
              <a:rPr sz="550" spc="15" dirty="0">
                <a:latin typeface="Times New Roman" panose="02020603050405020304"/>
                <a:cs typeface="Times New Roman" panose="02020603050405020304"/>
              </a:rPr>
              <a:t>higher </a:t>
            </a:r>
            <a:r>
              <a:rPr sz="550" spc="20" dirty="0">
                <a:latin typeface="Times New Roman" panose="02020603050405020304"/>
                <a:cs typeface="Times New Roman" panose="02020603050405020304"/>
              </a:rPr>
              <a:t>up)  </a:t>
            </a:r>
            <a:r>
              <a:rPr sz="550" spc="25" dirty="0">
                <a:latin typeface="Times New Roman" panose="02020603050405020304"/>
                <a:cs typeface="Times New Roman" panose="02020603050405020304"/>
              </a:rPr>
              <a:t>A	</a:t>
            </a:r>
            <a:r>
              <a:rPr sz="550" spc="20" dirty="0">
                <a:latin typeface="Times New Roman" panose="02020603050405020304"/>
                <a:cs typeface="Times New Roman" panose="02020603050405020304"/>
              </a:rPr>
              <a:t>=	</a:t>
            </a:r>
            <a:r>
              <a:rPr sz="550" spc="15" dirty="0">
                <a:latin typeface="Times New Roman" panose="02020603050405020304"/>
                <a:cs typeface="Times New Roman" panose="02020603050405020304"/>
              </a:rPr>
              <a:t>rotor swept </a:t>
            </a:r>
            <a:r>
              <a:rPr sz="550" spc="5" dirty="0">
                <a:latin typeface="Times New Roman" panose="02020603050405020304"/>
                <a:cs typeface="Times New Roman" panose="02020603050405020304"/>
              </a:rPr>
              <a:t>area, </a:t>
            </a:r>
            <a:r>
              <a:rPr sz="550" spc="15" dirty="0">
                <a:latin typeface="Times New Roman" panose="02020603050405020304"/>
                <a:cs typeface="Times New Roman" panose="02020603050405020304"/>
              </a:rPr>
              <a:t>exposed </a:t>
            </a:r>
            <a:r>
              <a:rPr sz="550" spc="10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550" spc="15" dirty="0">
                <a:latin typeface="Times New Roman" panose="02020603050405020304"/>
                <a:cs typeface="Times New Roman" panose="02020603050405020304"/>
              </a:rPr>
              <a:t>the wind</a:t>
            </a:r>
            <a:r>
              <a:rPr sz="55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15" dirty="0">
                <a:latin typeface="Times New Roman" panose="02020603050405020304"/>
                <a:cs typeface="Times New Roman" panose="02020603050405020304"/>
              </a:rPr>
              <a:t>(m</a:t>
            </a:r>
            <a:r>
              <a:rPr sz="600" spc="22" baseline="28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550" spc="15" dirty="0">
                <a:latin typeface="Times New Roman" panose="02020603050405020304"/>
                <a:cs typeface="Times New Roman" panose="02020603050405020304"/>
              </a:rPr>
              <a:t>)</a:t>
            </a:r>
            <a:endParaRPr sz="550">
              <a:latin typeface="Times New Roman" panose="02020603050405020304"/>
              <a:cs typeface="Times New Roman" panose="02020603050405020304"/>
            </a:endParaRPr>
          </a:p>
          <a:p>
            <a:pPr marL="25400">
              <a:lnSpc>
                <a:spcPct val="100000"/>
              </a:lnSpc>
              <a:spcBef>
                <a:spcPts val="200"/>
              </a:spcBef>
              <a:tabLst>
                <a:tab pos="386080" algn="l"/>
              </a:tabLst>
            </a:pPr>
            <a:r>
              <a:rPr sz="550" spc="20" dirty="0">
                <a:latin typeface="Times New Roman" panose="02020603050405020304"/>
                <a:cs typeface="Times New Roman" panose="02020603050405020304"/>
              </a:rPr>
              <a:t>Cp    </a:t>
            </a:r>
            <a:r>
              <a:rPr sz="55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20" dirty="0">
                <a:latin typeface="Times New Roman" panose="02020603050405020304"/>
                <a:cs typeface="Times New Roman" panose="02020603050405020304"/>
              </a:rPr>
              <a:t>=	</a:t>
            </a:r>
            <a:r>
              <a:rPr sz="550" spc="10" dirty="0">
                <a:latin typeface="Times New Roman" panose="02020603050405020304"/>
                <a:cs typeface="Times New Roman" panose="02020603050405020304"/>
              </a:rPr>
              <a:t>Coefficient </a:t>
            </a:r>
            <a:r>
              <a:rPr sz="550" spc="1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55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10" dirty="0">
                <a:latin typeface="Times New Roman" panose="02020603050405020304"/>
                <a:cs typeface="Times New Roman" panose="02020603050405020304"/>
              </a:rPr>
              <a:t>performance</a:t>
            </a:r>
            <a:endParaRPr sz="550">
              <a:latin typeface="Times New Roman" panose="02020603050405020304"/>
              <a:cs typeface="Times New Roman" panose="02020603050405020304"/>
            </a:endParaRPr>
          </a:p>
          <a:p>
            <a:pPr marL="394335" marR="17780">
              <a:lnSpc>
                <a:spcPct val="107000"/>
              </a:lnSpc>
              <a:spcBef>
                <a:spcPts val="225"/>
              </a:spcBef>
            </a:pPr>
            <a:r>
              <a:rPr sz="550" spc="15" dirty="0">
                <a:latin typeface="Times New Roman" panose="02020603050405020304"/>
                <a:cs typeface="Times New Roman" panose="02020603050405020304"/>
              </a:rPr>
              <a:t>(0.59</a:t>
            </a:r>
            <a:r>
              <a:rPr sz="55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15" dirty="0">
                <a:latin typeface="Times New Roman" panose="02020603050405020304"/>
                <a:cs typeface="Times New Roman" panose="02020603050405020304"/>
              </a:rPr>
              <a:t>{Betz</a:t>
            </a:r>
            <a:r>
              <a:rPr sz="55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15" dirty="0">
                <a:latin typeface="Times New Roman" panose="02020603050405020304"/>
                <a:cs typeface="Times New Roman" panose="02020603050405020304"/>
              </a:rPr>
              <a:t>limit}</a:t>
            </a:r>
            <a:r>
              <a:rPr sz="55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1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55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1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55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15" dirty="0">
                <a:latin typeface="Times New Roman" panose="02020603050405020304"/>
                <a:cs typeface="Times New Roman" panose="02020603050405020304"/>
              </a:rPr>
              <a:t>maximum</a:t>
            </a:r>
            <a:r>
              <a:rPr sz="55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10" dirty="0">
                <a:latin typeface="Times New Roman" panose="02020603050405020304"/>
                <a:cs typeface="Times New Roman" panose="02020603050405020304"/>
              </a:rPr>
              <a:t>theoretically</a:t>
            </a:r>
            <a:r>
              <a:rPr sz="55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15" dirty="0">
                <a:latin typeface="Times New Roman" panose="02020603050405020304"/>
                <a:cs typeface="Times New Roman" panose="02020603050405020304"/>
              </a:rPr>
              <a:t>possible,</a:t>
            </a:r>
            <a:r>
              <a:rPr sz="55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15" dirty="0">
                <a:latin typeface="Times New Roman" panose="02020603050405020304"/>
                <a:cs typeface="Times New Roman" panose="02020603050405020304"/>
              </a:rPr>
              <a:t>0.35</a:t>
            </a:r>
            <a:r>
              <a:rPr sz="5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5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55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15" dirty="0">
                <a:latin typeface="Times New Roman" panose="02020603050405020304"/>
                <a:cs typeface="Times New Roman" panose="02020603050405020304"/>
              </a:rPr>
              <a:t>a  good</a:t>
            </a:r>
            <a:r>
              <a:rPr sz="55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15" dirty="0">
                <a:latin typeface="Times New Roman" panose="02020603050405020304"/>
                <a:cs typeface="Times New Roman" panose="02020603050405020304"/>
              </a:rPr>
              <a:t>design)</a:t>
            </a:r>
            <a:endParaRPr sz="550">
              <a:latin typeface="Times New Roman" panose="02020603050405020304"/>
              <a:cs typeface="Times New Roman" panose="02020603050405020304"/>
            </a:endParaRPr>
          </a:p>
          <a:p>
            <a:pPr marL="25400">
              <a:lnSpc>
                <a:spcPct val="100000"/>
              </a:lnSpc>
              <a:spcBef>
                <a:spcPts val="275"/>
              </a:spcBef>
              <a:tabLst>
                <a:tab pos="213995" algn="l"/>
                <a:tab pos="386080" algn="l"/>
              </a:tabLst>
            </a:pPr>
            <a:r>
              <a:rPr sz="550" spc="25" dirty="0">
                <a:latin typeface="Times New Roman" panose="02020603050405020304"/>
                <a:cs typeface="Times New Roman" panose="02020603050405020304"/>
              </a:rPr>
              <a:t>V	</a:t>
            </a:r>
            <a:r>
              <a:rPr sz="550" spc="20" dirty="0">
                <a:latin typeface="Times New Roman" panose="02020603050405020304"/>
                <a:cs typeface="Times New Roman" panose="02020603050405020304"/>
              </a:rPr>
              <a:t>=	</a:t>
            </a:r>
            <a:r>
              <a:rPr sz="550" spc="15" dirty="0">
                <a:latin typeface="Times New Roman" panose="02020603050405020304"/>
                <a:cs typeface="Times New Roman" panose="02020603050405020304"/>
              </a:rPr>
              <a:t>wind</a:t>
            </a:r>
            <a:r>
              <a:rPr sz="55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15" dirty="0">
                <a:latin typeface="Times New Roman" panose="02020603050405020304"/>
                <a:cs typeface="Times New Roman" panose="02020603050405020304"/>
              </a:rPr>
              <a:t>speed</a:t>
            </a:r>
            <a:r>
              <a:rPr sz="55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1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55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15" dirty="0">
                <a:latin typeface="Times New Roman" panose="02020603050405020304"/>
                <a:cs typeface="Times New Roman" panose="02020603050405020304"/>
              </a:rPr>
              <a:t>meters/sec</a:t>
            </a:r>
            <a:r>
              <a:rPr sz="55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15" dirty="0">
                <a:latin typeface="Times New Roman" panose="02020603050405020304"/>
                <a:cs typeface="Times New Roman" panose="02020603050405020304"/>
              </a:rPr>
              <a:t>(20</a:t>
            </a:r>
            <a:r>
              <a:rPr sz="55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20" dirty="0">
                <a:latin typeface="Times New Roman" panose="02020603050405020304"/>
                <a:cs typeface="Times New Roman" panose="02020603050405020304"/>
              </a:rPr>
              <a:t>mph</a:t>
            </a:r>
            <a:r>
              <a:rPr sz="55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2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55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15" dirty="0">
                <a:latin typeface="Times New Roman" panose="02020603050405020304"/>
                <a:cs typeface="Times New Roman" panose="02020603050405020304"/>
              </a:rPr>
              <a:t>9</a:t>
            </a:r>
            <a:r>
              <a:rPr sz="55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15" dirty="0">
                <a:latin typeface="Times New Roman" panose="02020603050405020304"/>
                <a:cs typeface="Times New Roman" panose="02020603050405020304"/>
              </a:rPr>
              <a:t>m/s)</a:t>
            </a:r>
            <a:endParaRPr sz="550">
              <a:latin typeface="Times New Roman" panose="02020603050405020304"/>
              <a:cs typeface="Times New Roman" panose="02020603050405020304"/>
            </a:endParaRPr>
          </a:p>
          <a:p>
            <a:pPr marL="25400">
              <a:lnSpc>
                <a:spcPct val="100000"/>
              </a:lnSpc>
              <a:spcBef>
                <a:spcPts val="280"/>
              </a:spcBef>
              <a:tabLst>
                <a:tab pos="386080" algn="l"/>
              </a:tabLst>
            </a:pPr>
            <a:r>
              <a:rPr sz="550" spc="20" dirty="0">
                <a:latin typeface="Times New Roman" panose="02020603050405020304"/>
                <a:cs typeface="Times New Roman" panose="02020603050405020304"/>
              </a:rPr>
              <a:t>Ng   </a:t>
            </a:r>
            <a:r>
              <a:rPr sz="55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20" dirty="0">
                <a:latin typeface="Times New Roman" panose="02020603050405020304"/>
                <a:cs typeface="Times New Roman" panose="02020603050405020304"/>
              </a:rPr>
              <a:t>=	</a:t>
            </a:r>
            <a:r>
              <a:rPr sz="550" spc="10" dirty="0">
                <a:latin typeface="Times New Roman" panose="02020603050405020304"/>
                <a:cs typeface="Times New Roman" panose="02020603050405020304"/>
              </a:rPr>
              <a:t>generator</a:t>
            </a:r>
            <a:r>
              <a:rPr sz="5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10" dirty="0">
                <a:latin typeface="Times New Roman" panose="02020603050405020304"/>
                <a:cs typeface="Times New Roman" panose="02020603050405020304"/>
              </a:rPr>
              <a:t>efficiency</a:t>
            </a:r>
            <a:endParaRPr sz="550">
              <a:latin typeface="Times New Roman" panose="02020603050405020304"/>
              <a:cs typeface="Times New Roman" panose="02020603050405020304"/>
            </a:endParaRPr>
          </a:p>
          <a:p>
            <a:pPr marL="394335">
              <a:lnSpc>
                <a:spcPts val="660"/>
              </a:lnSpc>
              <a:spcBef>
                <a:spcPts val="275"/>
              </a:spcBef>
            </a:pPr>
            <a:r>
              <a:rPr sz="550" spc="20" dirty="0">
                <a:latin typeface="Times New Roman" panose="02020603050405020304"/>
                <a:cs typeface="Times New Roman" panose="02020603050405020304"/>
              </a:rPr>
              <a:t>(50%</a:t>
            </a:r>
            <a:r>
              <a:rPr sz="55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5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550" spc="10" dirty="0">
                <a:latin typeface="Times New Roman" panose="02020603050405020304"/>
                <a:cs typeface="Times New Roman" panose="02020603050405020304"/>
              </a:rPr>
              <a:t> car alternator,</a:t>
            </a:r>
            <a:r>
              <a:rPr sz="55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25" dirty="0">
                <a:latin typeface="Times New Roman" panose="02020603050405020304"/>
                <a:cs typeface="Times New Roman" panose="02020603050405020304"/>
              </a:rPr>
              <a:t>80%</a:t>
            </a:r>
            <a:r>
              <a:rPr sz="55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15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5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15" dirty="0">
                <a:latin typeface="Times New Roman" panose="02020603050405020304"/>
                <a:cs typeface="Times New Roman" panose="02020603050405020304"/>
              </a:rPr>
              <a:t>possibly</a:t>
            </a:r>
            <a:r>
              <a:rPr sz="5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15" dirty="0">
                <a:latin typeface="Times New Roman" panose="02020603050405020304"/>
                <a:cs typeface="Times New Roman" panose="02020603050405020304"/>
              </a:rPr>
              <a:t>more</a:t>
            </a:r>
            <a:r>
              <a:rPr sz="550" spc="5" dirty="0">
                <a:latin typeface="Times New Roman" panose="02020603050405020304"/>
                <a:cs typeface="Times New Roman" panose="02020603050405020304"/>
              </a:rPr>
              <a:t> for</a:t>
            </a:r>
            <a:r>
              <a:rPr sz="55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1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55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15" dirty="0">
                <a:latin typeface="Times New Roman" panose="02020603050405020304"/>
                <a:cs typeface="Times New Roman" panose="02020603050405020304"/>
              </a:rPr>
              <a:t>permanent</a:t>
            </a:r>
            <a:endParaRPr sz="550">
              <a:latin typeface="Times New Roman" panose="02020603050405020304"/>
              <a:cs typeface="Times New Roman" panose="02020603050405020304"/>
            </a:endParaRPr>
          </a:p>
          <a:p>
            <a:pPr marL="394335">
              <a:lnSpc>
                <a:spcPts val="720"/>
              </a:lnSpc>
            </a:pPr>
            <a:r>
              <a:rPr sz="600" spc="-10" dirty="0">
                <a:latin typeface="Times New Roman" panose="02020603050405020304"/>
                <a:cs typeface="Times New Roman" panose="02020603050405020304"/>
              </a:rPr>
              <a:t>magnet generator </a:t>
            </a:r>
            <a:r>
              <a:rPr sz="600" spc="-5" dirty="0">
                <a:latin typeface="Times New Roman" panose="02020603050405020304"/>
                <a:cs typeface="Times New Roman" panose="02020603050405020304"/>
              </a:rPr>
              <a:t>or </a:t>
            </a:r>
            <a:r>
              <a:rPr sz="600" spc="-10" dirty="0">
                <a:latin typeface="Times New Roman" panose="02020603050405020304"/>
                <a:cs typeface="Times New Roman" panose="02020603050405020304"/>
              </a:rPr>
              <a:t>grid-connected induction</a:t>
            </a:r>
            <a:r>
              <a:rPr sz="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" spc="-10" dirty="0">
                <a:latin typeface="Times New Roman" panose="02020603050405020304"/>
                <a:cs typeface="Times New Roman" panose="02020603050405020304"/>
              </a:rPr>
              <a:t>generator)</a:t>
            </a:r>
            <a:endParaRPr sz="600">
              <a:latin typeface="Times New Roman" panose="02020603050405020304"/>
              <a:cs typeface="Times New Roman" panose="02020603050405020304"/>
            </a:endParaRPr>
          </a:p>
          <a:p>
            <a:pPr marL="25400">
              <a:lnSpc>
                <a:spcPct val="100000"/>
              </a:lnSpc>
              <a:spcBef>
                <a:spcPts val="270"/>
              </a:spcBef>
              <a:tabLst>
                <a:tab pos="386080" algn="l"/>
              </a:tabLst>
            </a:pPr>
            <a:r>
              <a:rPr sz="550" spc="20" dirty="0">
                <a:latin typeface="Times New Roman" panose="02020603050405020304"/>
                <a:cs typeface="Times New Roman" panose="02020603050405020304"/>
              </a:rPr>
              <a:t>Nb   </a:t>
            </a:r>
            <a:r>
              <a:rPr sz="55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20" dirty="0">
                <a:latin typeface="Times New Roman" panose="02020603050405020304"/>
                <a:cs typeface="Times New Roman" panose="02020603050405020304"/>
              </a:rPr>
              <a:t>=	</a:t>
            </a:r>
            <a:r>
              <a:rPr sz="550" spc="10" dirty="0">
                <a:latin typeface="Times New Roman" panose="02020603050405020304"/>
                <a:cs typeface="Times New Roman" panose="02020603050405020304"/>
              </a:rPr>
              <a:t>gearbox/bearings</a:t>
            </a:r>
            <a:r>
              <a:rPr sz="55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10" dirty="0">
                <a:latin typeface="Times New Roman" panose="02020603050405020304"/>
                <a:cs typeface="Times New Roman" panose="02020603050405020304"/>
              </a:rPr>
              <a:t>efficiency </a:t>
            </a:r>
            <a:r>
              <a:rPr sz="550" spc="15" dirty="0">
                <a:latin typeface="Times New Roman" panose="02020603050405020304"/>
                <a:cs typeface="Times New Roman" panose="02020603050405020304"/>
              </a:rPr>
              <a:t>(could</a:t>
            </a:r>
            <a:r>
              <a:rPr sz="55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20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55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10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55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15" dirty="0">
                <a:latin typeface="Times New Roman" panose="02020603050405020304"/>
                <a:cs typeface="Times New Roman" panose="02020603050405020304"/>
              </a:rPr>
              <a:t>high</a:t>
            </a:r>
            <a:r>
              <a:rPr sz="55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10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55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25" dirty="0">
                <a:latin typeface="Times New Roman" panose="02020603050405020304"/>
                <a:cs typeface="Times New Roman" panose="02020603050405020304"/>
              </a:rPr>
              <a:t>95%</a:t>
            </a:r>
            <a:r>
              <a:rPr sz="55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10" dirty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5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15" dirty="0">
                <a:latin typeface="Times New Roman" panose="02020603050405020304"/>
                <a:cs typeface="Times New Roman" panose="02020603050405020304"/>
              </a:rPr>
              <a:t>good)</a:t>
            </a:r>
            <a:endParaRPr sz="550">
              <a:latin typeface="Times New Roman" panose="02020603050405020304"/>
              <a:cs typeface="Times New Roman" panose="02020603050405020304"/>
            </a:endParaRPr>
          </a:p>
          <a:p>
            <a:pPr marR="51435" algn="r">
              <a:lnSpc>
                <a:spcPct val="100000"/>
              </a:lnSpc>
              <a:spcBef>
                <a:spcPts val="240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39</a:t>
            </a:r>
            <a:endParaRPr sz="35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965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9476" y="67056"/>
            <a:ext cx="2033016" cy="188366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462530" y="1877060"/>
            <a:ext cx="711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42</a:t>
            </a:r>
            <a:endParaRPr sz="35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5" y="965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62022" y="1876170"/>
            <a:ext cx="711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43</a:t>
            </a:r>
            <a:endParaRPr sz="350">
              <a:latin typeface="Carlito"/>
              <a:cs typeface="Carli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98459" y="214977"/>
            <a:ext cx="1904840" cy="172347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73507" y="0"/>
            <a:ext cx="213614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i="1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Aerodynamics of wind</a:t>
            </a:r>
            <a:r>
              <a:rPr sz="1300" b="1" i="1" spc="-7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b="1" i="1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turbines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3885" y="138606"/>
            <a:ext cx="2479040" cy="1760855"/>
            <a:chOff x="113885" y="138606"/>
            <a:chExt cx="2479040" cy="1760855"/>
          </a:xfrm>
        </p:grpSpPr>
        <p:sp>
          <p:nvSpPr>
            <p:cNvPr id="3" name="object 3"/>
            <p:cNvSpPr/>
            <p:nvPr/>
          </p:nvSpPr>
          <p:spPr>
            <a:xfrm>
              <a:off x="113885" y="138606"/>
              <a:ext cx="2449675" cy="1743689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301240" y="1586484"/>
              <a:ext cx="291465" cy="312420"/>
            </a:xfrm>
            <a:custGeom>
              <a:avLst/>
              <a:gdLst/>
              <a:ahLst/>
              <a:cxnLst/>
              <a:rect l="l" t="t" r="r" b="b"/>
              <a:pathLst>
                <a:path w="291464" h="312419">
                  <a:moveTo>
                    <a:pt x="291084" y="0"/>
                  </a:moveTo>
                  <a:lnTo>
                    <a:pt x="0" y="0"/>
                  </a:lnTo>
                  <a:lnTo>
                    <a:pt x="0" y="312420"/>
                  </a:lnTo>
                  <a:lnTo>
                    <a:pt x="291084" y="312420"/>
                  </a:lnTo>
                  <a:lnTo>
                    <a:pt x="2910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2462530" y="1876170"/>
            <a:ext cx="711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46</a:t>
            </a:r>
            <a:endParaRPr sz="350">
              <a:latin typeface="Carlito"/>
              <a:cs typeface="Carli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35" y="0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623" y="44196"/>
            <a:ext cx="2574036" cy="196748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89328" y="125984"/>
            <a:ext cx="1050925" cy="124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50" b="1" i="1" spc="-5" dirty="0">
                <a:solidFill>
                  <a:srgbClr val="00AFEF"/>
                </a:solidFill>
                <a:latin typeface="Carlito"/>
                <a:cs typeface="Carlito"/>
              </a:rPr>
              <a:t>How a Wind </a:t>
            </a:r>
            <a:r>
              <a:rPr sz="650" b="1" i="1" spc="-10" dirty="0">
                <a:solidFill>
                  <a:srgbClr val="00AFEF"/>
                </a:solidFill>
                <a:latin typeface="Carlito"/>
                <a:cs typeface="Carlito"/>
              </a:rPr>
              <a:t>Turbine</a:t>
            </a:r>
            <a:r>
              <a:rPr sz="650" b="1" i="1" spc="-35" dirty="0">
                <a:solidFill>
                  <a:srgbClr val="00AFEF"/>
                </a:solidFill>
                <a:latin typeface="Carlito"/>
                <a:cs typeface="Carlito"/>
              </a:rPr>
              <a:t> </a:t>
            </a:r>
            <a:r>
              <a:rPr sz="650" b="1" i="1" spc="-5" dirty="0">
                <a:solidFill>
                  <a:srgbClr val="00AFEF"/>
                </a:solidFill>
                <a:latin typeface="Carlito"/>
                <a:cs typeface="Carlito"/>
              </a:rPr>
              <a:t>Operates</a:t>
            </a:r>
            <a:endParaRPr sz="65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965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5285" y="23622"/>
            <a:ext cx="195516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spc="-5" dirty="0">
                <a:latin typeface="Times New Roman" panose="02020603050405020304"/>
                <a:cs typeface="Times New Roman" panose="02020603050405020304"/>
              </a:rPr>
              <a:t>Components of wind</a:t>
            </a:r>
            <a:r>
              <a:rPr sz="1300" i="1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i="1" spc="-5" dirty="0">
                <a:latin typeface="Times New Roman" panose="02020603050405020304"/>
                <a:cs typeface="Times New Roman" panose="02020603050405020304"/>
              </a:rPr>
              <a:t>turbine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788" y="244805"/>
            <a:ext cx="1471295" cy="101028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46685" indent="-134620" algn="just">
              <a:lnSpc>
                <a:spcPct val="100000"/>
              </a:lnSpc>
              <a:spcBef>
                <a:spcPts val="485"/>
              </a:spcBef>
              <a:buAutoNum type="arabicPeriod"/>
              <a:tabLst>
                <a:tab pos="147320" algn="l"/>
              </a:tabLst>
            </a:pPr>
            <a:r>
              <a:rPr sz="550" b="1" i="1" spc="20" dirty="0">
                <a:latin typeface="Times New Roman" panose="02020603050405020304"/>
                <a:cs typeface="Times New Roman" panose="02020603050405020304"/>
              </a:rPr>
              <a:t>Hub</a:t>
            </a:r>
            <a:r>
              <a:rPr sz="550" b="1" i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550" i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blades</a:t>
            </a:r>
            <a:r>
              <a:rPr sz="550" i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550" i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attached</a:t>
            </a:r>
            <a:r>
              <a:rPr sz="550" i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550" i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b="1" i="1" spc="15" dirty="0">
                <a:latin typeface="Times New Roman" panose="02020603050405020304"/>
                <a:cs typeface="Times New Roman" panose="02020603050405020304"/>
              </a:rPr>
              <a:t>hub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.</a:t>
            </a:r>
            <a:endParaRPr sz="550">
              <a:latin typeface="Times New Roman" panose="02020603050405020304"/>
              <a:cs typeface="Times New Roman" panose="02020603050405020304"/>
            </a:endParaRPr>
          </a:p>
          <a:p>
            <a:pPr marL="146685" marR="5080" indent="-134620" algn="just">
              <a:lnSpc>
                <a:spcPct val="107000"/>
              </a:lnSpc>
              <a:spcBef>
                <a:spcPts val="350"/>
              </a:spcBef>
              <a:buAutoNum type="arabicPeriod"/>
              <a:tabLst>
                <a:tab pos="147320" algn="l"/>
              </a:tabLst>
            </a:pPr>
            <a:r>
              <a:rPr sz="550" b="1" i="1" spc="15" dirty="0">
                <a:latin typeface="Times New Roman" panose="02020603050405020304"/>
                <a:cs typeface="Times New Roman" panose="02020603050405020304"/>
              </a:rPr>
              <a:t>Rotor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– </a:t>
            </a:r>
            <a:r>
              <a:rPr sz="550" b="1" i="1" spc="15" dirty="0">
                <a:latin typeface="Times New Roman" panose="02020603050405020304"/>
                <a:cs typeface="Times New Roman" panose="02020603050405020304"/>
              </a:rPr>
              <a:t>Blades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550" b="1" i="1" spc="15" dirty="0">
                <a:latin typeface="Times New Roman" panose="02020603050405020304"/>
                <a:cs typeface="Times New Roman" panose="02020603050405020304"/>
              </a:rPr>
              <a:t>hub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together is called 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550" b="1" i="1" spc="10" dirty="0">
                <a:latin typeface="Times New Roman" panose="02020603050405020304"/>
                <a:cs typeface="Times New Roman" panose="02020603050405020304"/>
              </a:rPr>
              <a:t>rotor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. Rotor </a:t>
            </a: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attached </a:t>
            </a: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the slow 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speed</a:t>
            </a:r>
            <a:r>
              <a:rPr sz="550" i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shaft.</a:t>
            </a:r>
            <a:endParaRPr sz="550">
              <a:latin typeface="Times New Roman" panose="02020603050405020304"/>
              <a:cs typeface="Times New Roman" panose="02020603050405020304"/>
            </a:endParaRPr>
          </a:p>
          <a:p>
            <a:pPr marL="146685" marR="5715" indent="-134620" algn="just">
              <a:lnSpc>
                <a:spcPct val="107000"/>
              </a:lnSpc>
              <a:spcBef>
                <a:spcPts val="355"/>
              </a:spcBef>
              <a:buAutoNum type="arabicPeriod"/>
              <a:tabLst>
                <a:tab pos="147320" algn="l"/>
              </a:tabLst>
            </a:pPr>
            <a:r>
              <a:rPr sz="550" b="1" i="1" spc="15" dirty="0">
                <a:latin typeface="Times New Roman" panose="02020603050405020304"/>
                <a:cs typeface="Times New Roman" panose="02020603050405020304"/>
              </a:rPr>
              <a:t>Nacelle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– </a:t>
            </a:r>
            <a:r>
              <a:rPr sz="550" b="1" i="1" spc="10" dirty="0">
                <a:latin typeface="Times New Roman" panose="02020603050405020304"/>
                <a:cs typeface="Times New Roman" panose="02020603050405020304"/>
              </a:rPr>
              <a:t>Nacelle </a:t>
            </a: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cover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housing that 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houses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all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the generating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components </a:t>
            </a:r>
            <a:r>
              <a:rPr sz="550" i="1" dirty="0">
                <a:latin typeface="Times New Roman" panose="02020603050405020304"/>
                <a:cs typeface="Times New Roman" panose="02020603050405020304"/>
              </a:rPr>
              <a:t>in 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wind turbine, including the </a:t>
            </a: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generator, 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gearbox,</a:t>
            </a:r>
            <a:r>
              <a:rPr sz="550" i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drive</a:t>
            </a:r>
            <a:r>
              <a:rPr sz="550" i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train,</a:t>
            </a:r>
            <a:r>
              <a:rPr sz="550" i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2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550" i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brake</a:t>
            </a:r>
            <a:r>
              <a:rPr sz="550" i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assembly.</a:t>
            </a:r>
            <a:endParaRPr sz="550">
              <a:latin typeface="Times New Roman" panose="02020603050405020304"/>
              <a:cs typeface="Times New Roman" panose="02020603050405020304"/>
            </a:endParaRPr>
          </a:p>
          <a:p>
            <a:pPr marL="146685" indent="-134620" algn="just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147320" algn="l"/>
              </a:tabLst>
            </a:pPr>
            <a:r>
              <a:rPr sz="550" b="1" i="1" spc="10" dirty="0">
                <a:latin typeface="Times New Roman" panose="02020603050405020304"/>
                <a:cs typeface="Times New Roman" panose="02020603050405020304"/>
              </a:rPr>
              <a:t>Tower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– The </a:t>
            </a:r>
            <a:r>
              <a:rPr sz="550" b="1" i="1" spc="15" dirty="0">
                <a:latin typeface="Times New Roman" panose="02020603050405020304"/>
                <a:cs typeface="Times New Roman" panose="02020603050405020304"/>
              </a:rPr>
              <a:t>tower </a:t>
            </a: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the wind</a:t>
            </a:r>
            <a:r>
              <a:rPr sz="550" i="1" spc="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turbine</a:t>
            </a:r>
            <a:endParaRPr sz="55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30852" y="306606"/>
            <a:ext cx="807720" cy="959485"/>
            <a:chOff x="1630852" y="306606"/>
            <a:chExt cx="807720" cy="959485"/>
          </a:xfrm>
        </p:grpSpPr>
        <p:sp>
          <p:nvSpPr>
            <p:cNvPr id="5" name="object 5"/>
            <p:cNvSpPr/>
            <p:nvPr/>
          </p:nvSpPr>
          <p:spPr>
            <a:xfrm>
              <a:off x="1636567" y="690337"/>
              <a:ext cx="130810" cy="78105"/>
            </a:xfrm>
            <a:custGeom>
              <a:avLst/>
              <a:gdLst/>
              <a:ahLst/>
              <a:cxnLst/>
              <a:rect l="l" t="t" r="r" b="b"/>
              <a:pathLst>
                <a:path w="130810" h="78104">
                  <a:moveTo>
                    <a:pt x="130477" y="0"/>
                  </a:moveTo>
                  <a:lnTo>
                    <a:pt x="0" y="0"/>
                  </a:lnTo>
                  <a:lnTo>
                    <a:pt x="0" y="77948"/>
                  </a:lnTo>
                  <a:lnTo>
                    <a:pt x="130477" y="77948"/>
                  </a:lnTo>
                  <a:lnTo>
                    <a:pt x="130477" y="0"/>
                  </a:lnTo>
                  <a:close/>
                </a:path>
              </a:pathLst>
            </a:custGeom>
            <a:solidFill>
              <a:srgbClr val="9D3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636567" y="690337"/>
              <a:ext cx="130810" cy="78105"/>
            </a:xfrm>
            <a:custGeom>
              <a:avLst/>
              <a:gdLst/>
              <a:ahLst/>
              <a:cxnLst/>
              <a:rect l="l" t="t" r="r" b="b"/>
              <a:pathLst>
                <a:path w="130810" h="78104">
                  <a:moveTo>
                    <a:pt x="0" y="77948"/>
                  </a:moveTo>
                  <a:lnTo>
                    <a:pt x="130477" y="77948"/>
                  </a:lnTo>
                  <a:lnTo>
                    <a:pt x="130477" y="0"/>
                  </a:lnTo>
                  <a:lnTo>
                    <a:pt x="0" y="0"/>
                  </a:lnTo>
                  <a:lnTo>
                    <a:pt x="0" y="77948"/>
                  </a:lnTo>
                  <a:close/>
                </a:path>
              </a:pathLst>
            </a:custGeom>
            <a:ln w="110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769002" y="722818"/>
              <a:ext cx="160020" cy="13335"/>
            </a:xfrm>
            <a:custGeom>
              <a:avLst/>
              <a:gdLst/>
              <a:ahLst/>
              <a:cxnLst/>
              <a:rect l="l" t="t" r="r" b="b"/>
              <a:pathLst>
                <a:path w="160019" h="13334">
                  <a:moveTo>
                    <a:pt x="159836" y="0"/>
                  </a:moveTo>
                  <a:lnTo>
                    <a:pt x="0" y="0"/>
                  </a:lnTo>
                  <a:lnTo>
                    <a:pt x="0" y="12991"/>
                  </a:lnTo>
                  <a:lnTo>
                    <a:pt x="159836" y="12991"/>
                  </a:lnTo>
                  <a:lnTo>
                    <a:pt x="1598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763502" y="717318"/>
              <a:ext cx="165735" cy="24130"/>
            </a:xfrm>
            <a:custGeom>
              <a:avLst/>
              <a:gdLst/>
              <a:ahLst/>
              <a:cxnLst/>
              <a:rect l="l" t="t" r="r" b="b"/>
              <a:pathLst>
                <a:path w="165735" h="24129">
                  <a:moveTo>
                    <a:pt x="0" y="23991"/>
                  </a:moveTo>
                  <a:lnTo>
                    <a:pt x="165335" y="23991"/>
                  </a:lnTo>
                  <a:lnTo>
                    <a:pt x="165335" y="0"/>
                  </a:lnTo>
                  <a:lnTo>
                    <a:pt x="0" y="0"/>
                  </a:lnTo>
                  <a:lnTo>
                    <a:pt x="0" y="239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928838" y="674744"/>
              <a:ext cx="208915" cy="109220"/>
            </a:xfrm>
            <a:custGeom>
              <a:avLst/>
              <a:gdLst/>
              <a:ahLst/>
              <a:cxnLst/>
              <a:rect l="l" t="t" r="r" b="b"/>
              <a:pathLst>
                <a:path w="208914" h="109220">
                  <a:moveTo>
                    <a:pt x="208766" y="0"/>
                  </a:moveTo>
                  <a:lnTo>
                    <a:pt x="0" y="0"/>
                  </a:lnTo>
                  <a:lnTo>
                    <a:pt x="0" y="109133"/>
                  </a:lnTo>
                  <a:lnTo>
                    <a:pt x="208766" y="109133"/>
                  </a:lnTo>
                  <a:lnTo>
                    <a:pt x="20876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928838" y="674744"/>
              <a:ext cx="208915" cy="109220"/>
            </a:xfrm>
            <a:custGeom>
              <a:avLst/>
              <a:gdLst/>
              <a:ahLst/>
              <a:cxnLst/>
              <a:rect l="l" t="t" r="r" b="b"/>
              <a:pathLst>
                <a:path w="208914" h="109220">
                  <a:moveTo>
                    <a:pt x="0" y="109133"/>
                  </a:moveTo>
                  <a:lnTo>
                    <a:pt x="208766" y="109133"/>
                  </a:lnTo>
                  <a:lnTo>
                    <a:pt x="208766" y="0"/>
                  </a:lnTo>
                  <a:lnTo>
                    <a:pt x="0" y="0"/>
                  </a:lnTo>
                  <a:lnTo>
                    <a:pt x="0" y="109133"/>
                  </a:lnTo>
                  <a:close/>
                </a:path>
              </a:pathLst>
            </a:custGeom>
            <a:ln w="110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249566" y="668545"/>
              <a:ext cx="127371" cy="126866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701807" y="846235"/>
              <a:ext cx="730885" cy="414020"/>
            </a:xfrm>
            <a:custGeom>
              <a:avLst/>
              <a:gdLst/>
              <a:ahLst/>
              <a:cxnLst/>
              <a:rect l="l" t="t" r="r" b="b"/>
              <a:pathLst>
                <a:path w="730885" h="414019">
                  <a:moveTo>
                    <a:pt x="257834" y="363761"/>
                  </a:moveTo>
                  <a:lnTo>
                    <a:pt x="172199" y="363761"/>
                  </a:lnTo>
                </a:path>
                <a:path w="730885" h="414019">
                  <a:moveTo>
                    <a:pt x="207716" y="414001"/>
                  </a:moveTo>
                  <a:lnTo>
                    <a:pt x="172199" y="363761"/>
                  </a:lnTo>
                </a:path>
                <a:path w="730885" h="414019">
                  <a:moveTo>
                    <a:pt x="250387" y="408520"/>
                  </a:moveTo>
                  <a:lnTo>
                    <a:pt x="218745" y="363761"/>
                  </a:lnTo>
                </a:path>
                <a:path w="730885" h="414019">
                  <a:moveTo>
                    <a:pt x="254115" y="414001"/>
                  </a:moveTo>
                  <a:lnTo>
                    <a:pt x="218598" y="363761"/>
                  </a:lnTo>
                </a:path>
                <a:path w="730885" h="414019">
                  <a:moveTo>
                    <a:pt x="293204" y="414001"/>
                  </a:moveTo>
                  <a:lnTo>
                    <a:pt x="257687" y="363761"/>
                  </a:lnTo>
                </a:path>
                <a:path w="730885" h="414019">
                  <a:moveTo>
                    <a:pt x="346259" y="363761"/>
                  </a:moveTo>
                  <a:lnTo>
                    <a:pt x="260624" y="363761"/>
                  </a:lnTo>
                </a:path>
                <a:path w="730885" h="414019">
                  <a:moveTo>
                    <a:pt x="296141" y="414001"/>
                  </a:moveTo>
                  <a:lnTo>
                    <a:pt x="260624" y="363761"/>
                  </a:lnTo>
                </a:path>
                <a:path w="730885" h="414019">
                  <a:moveTo>
                    <a:pt x="338811" y="408520"/>
                  </a:moveTo>
                  <a:lnTo>
                    <a:pt x="307170" y="363761"/>
                  </a:lnTo>
                </a:path>
                <a:path w="730885" h="414019">
                  <a:moveTo>
                    <a:pt x="342539" y="414001"/>
                  </a:moveTo>
                  <a:lnTo>
                    <a:pt x="307022" y="363761"/>
                  </a:lnTo>
                </a:path>
                <a:path w="730885" h="414019">
                  <a:moveTo>
                    <a:pt x="381628" y="414001"/>
                  </a:moveTo>
                  <a:lnTo>
                    <a:pt x="346111" y="363761"/>
                  </a:lnTo>
                </a:path>
                <a:path w="730885" h="414019">
                  <a:moveTo>
                    <a:pt x="85634" y="363761"/>
                  </a:moveTo>
                  <a:lnTo>
                    <a:pt x="0" y="363761"/>
                  </a:lnTo>
                </a:path>
                <a:path w="730885" h="414019">
                  <a:moveTo>
                    <a:pt x="35517" y="414001"/>
                  </a:moveTo>
                  <a:lnTo>
                    <a:pt x="0" y="363761"/>
                  </a:lnTo>
                </a:path>
                <a:path w="730885" h="414019">
                  <a:moveTo>
                    <a:pt x="78187" y="408520"/>
                  </a:moveTo>
                  <a:lnTo>
                    <a:pt x="46536" y="363761"/>
                  </a:lnTo>
                </a:path>
                <a:path w="730885" h="414019">
                  <a:moveTo>
                    <a:pt x="81915" y="414001"/>
                  </a:moveTo>
                  <a:lnTo>
                    <a:pt x="46389" y="363761"/>
                  </a:lnTo>
                </a:path>
                <a:path w="730885" h="414019">
                  <a:moveTo>
                    <a:pt x="121004" y="414001"/>
                  </a:moveTo>
                  <a:lnTo>
                    <a:pt x="85487" y="363761"/>
                  </a:lnTo>
                </a:path>
                <a:path w="730885" h="414019">
                  <a:moveTo>
                    <a:pt x="174059" y="363761"/>
                  </a:moveTo>
                  <a:lnTo>
                    <a:pt x="88424" y="363761"/>
                  </a:lnTo>
                </a:path>
                <a:path w="730885" h="414019">
                  <a:moveTo>
                    <a:pt x="123941" y="414001"/>
                  </a:moveTo>
                  <a:lnTo>
                    <a:pt x="88424" y="363761"/>
                  </a:lnTo>
                </a:path>
                <a:path w="730885" h="414019">
                  <a:moveTo>
                    <a:pt x="166611" y="408520"/>
                  </a:moveTo>
                  <a:lnTo>
                    <a:pt x="134970" y="363761"/>
                  </a:lnTo>
                </a:path>
                <a:path w="730885" h="414019">
                  <a:moveTo>
                    <a:pt x="170340" y="414001"/>
                  </a:moveTo>
                  <a:lnTo>
                    <a:pt x="134823" y="363761"/>
                  </a:lnTo>
                </a:path>
                <a:path w="730885" h="414019">
                  <a:moveTo>
                    <a:pt x="209429" y="414001"/>
                  </a:moveTo>
                  <a:lnTo>
                    <a:pt x="173912" y="363761"/>
                  </a:lnTo>
                </a:path>
                <a:path w="730885" h="414019">
                  <a:moveTo>
                    <a:pt x="434692" y="363761"/>
                  </a:moveTo>
                  <a:lnTo>
                    <a:pt x="349057" y="363761"/>
                  </a:lnTo>
                </a:path>
                <a:path w="730885" h="414019">
                  <a:moveTo>
                    <a:pt x="384574" y="414001"/>
                  </a:moveTo>
                  <a:lnTo>
                    <a:pt x="349057" y="363761"/>
                  </a:lnTo>
                </a:path>
                <a:path w="730885" h="414019">
                  <a:moveTo>
                    <a:pt x="427245" y="408520"/>
                  </a:moveTo>
                  <a:lnTo>
                    <a:pt x="395594" y="363761"/>
                  </a:lnTo>
                </a:path>
                <a:path w="730885" h="414019">
                  <a:moveTo>
                    <a:pt x="430964" y="414001"/>
                  </a:moveTo>
                  <a:lnTo>
                    <a:pt x="395447" y="363761"/>
                  </a:lnTo>
                </a:path>
                <a:path w="730885" h="414019">
                  <a:moveTo>
                    <a:pt x="606892" y="363761"/>
                  </a:moveTo>
                  <a:lnTo>
                    <a:pt x="521257" y="363761"/>
                  </a:lnTo>
                </a:path>
                <a:path w="730885" h="414019">
                  <a:moveTo>
                    <a:pt x="556774" y="414001"/>
                  </a:moveTo>
                  <a:lnTo>
                    <a:pt x="521257" y="363761"/>
                  </a:lnTo>
                </a:path>
                <a:path w="730885" h="414019">
                  <a:moveTo>
                    <a:pt x="599444" y="408520"/>
                  </a:moveTo>
                  <a:lnTo>
                    <a:pt x="567794" y="363761"/>
                  </a:lnTo>
                </a:path>
                <a:path w="730885" h="414019">
                  <a:moveTo>
                    <a:pt x="603164" y="414001"/>
                  </a:moveTo>
                  <a:lnTo>
                    <a:pt x="567647" y="363761"/>
                  </a:lnTo>
                </a:path>
                <a:path w="730885" h="414019">
                  <a:moveTo>
                    <a:pt x="642262" y="414001"/>
                  </a:moveTo>
                  <a:lnTo>
                    <a:pt x="606745" y="363761"/>
                  </a:lnTo>
                </a:path>
                <a:path w="730885" h="414019">
                  <a:moveTo>
                    <a:pt x="695317" y="363761"/>
                  </a:moveTo>
                  <a:lnTo>
                    <a:pt x="609682" y="363761"/>
                  </a:lnTo>
                </a:path>
                <a:path w="730885" h="414019">
                  <a:moveTo>
                    <a:pt x="645199" y="414001"/>
                  </a:moveTo>
                  <a:lnTo>
                    <a:pt x="609682" y="363761"/>
                  </a:lnTo>
                </a:path>
                <a:path w="730885" h="414019">
                  <a:moveTo>
                    <a:pt x="687869" y="408520"/>
                  </a:moveTo>
                  <a:lnTo>
                    <a:pt x="656218" y="363761"/>
                  </a:lnTo>
                </a:path>
                <a:path w="730885" h="414019">
                  <a:moveTo>
                    <a:pt x="691597" y="414001"/>
                  </a:moveTo>
                  <a:lnTo>
                    <a:pt x="656071" y="363761"/>
                  </a:lnTo>
                </a:path>
                <a:path w="730885" h="414019">
                  <a:moveTo>
                    <a:pt x="730686" y="414001"/>
                  </a:moveTo>
                  <a:lnTo>
                    <a:pt x="695169" y="363761"/>
                  </a:lnTo>
                </a:path>
                <a:path w="730885" h="414019">
                  <a:moveTo>
                    <a:pt x="470062" y="414001"/>
                  </a:moveTo>
                  <a:lnTo>
                    <a:pt x="434545" y="363761"/>
                  </a:lnTo>
                </a:path>
                <a:path w="730885" h="414019">
                  <a:moveTo>
                    <a:pt x="523117" y="363761"/>
                  </a:moveTo>
                  <a:lnTo>
                    <a:pt x="437482" y="363761"/>
                  </a:lnTo>
                </a:path>
                <a:path w="730885" h="414019">
                  <a:moveTo>
                    <a:pt x="472999" y="414001"/>
                  </a:moveTo>
                  <a:lnTo>
                    <a:pt x="437482" y="363761"/>
                  </a:lnTo>
                </a:path>
                <a:path w="730885" h="414019">
                  <a:moveTo>
                    <a:pt x="515669" y="408520"/>
                  </a:moveTo>
                  <a:lnTo>
                    <a:pt x="484019" y="363761"/>
                  </a:lnTo>
                </a:path>
                <a:path w="730885" h="414019">
                  <a:moveTo>
                    <a:pt x="519398" y="414001"/>
                  </a:moveTo>
                  <a:lnTo>
                    <a:pt x="483871" y="363761"/>
                  </a:lnTo>
                </a:path>
                <a:path w="730885" h="414019">
                  <a:moveTo>
                    <a:pt x="558487" y="414001"/>
                  </a:moveTo>
                  <a:lnTo>
                    <a:pt x="522969" y="363761"/>
                  </a:lnTo>
                </a:path>
                <a:path w="730885" h="414019">
                  <a:moveTo>
                    <a:pt x="234865" y="0"/>
                  </a:moveTo>
                  <a:lnTo>
                    <a:pt x="156577" y="363761"/>
                  </a:lnTo>
                </a:path>
                <a:path w="730885" h="414019">
                  <a:moveTo>
                    <a:pt x="430586" y="0"/>
                  </a:moveTo>
                  <a:lnTo>
                    <a:pt x="508875" y="363761"/>
                  </a:lnTo>
                </a:path>
              </a:pathLst>
            </a:custGeom>
            <a:ln w="11023">
              <a:solidFill>
                <a:srgbClr val="7005A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322595" y="604273"/>
              <a:ext cx="115417" cy="2448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858384" y="609792"/>
              <a:ext cx="469900" cy="234315"/>
            </a:xfrm>
            <a:custGeom>
              <a:avLst/>
              <a:gdLst/>
              <a:ahLst/>
              <a:cxnLst/>
              <a:rect l="l" t="t" r="r" b="b"/>
              <a:pathLst>
                <a:path w="469900" h="234315">
                  <a:moveTo>
                    <a:pt x="469731" y="233848"/>
                  </a:moveTo>
                  <a:lnTo>
                    <a:pt x="0" y="233848"/>
                  </a:lnTo>
                  <a:lnTo>
                    <a:pt x="0" y="0"/>
                  </a:lnTo>
                  <a:lnTo>
                    <a:pt x="469731" y="0"/>
                  </a:lnTo>
                </a:path>
              </a:pathLst>
            </a:custGeom>
            <a:ln w="11008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666050" y="312321"/>
              <a:ext cx="66675" cy="337820"/>
            </a:xfrm>
            <a:custGeom>
              <a:avLst/>
              <a:gdLst/>
              <a:ahLst/>
              <a:cxnLst/>
              <a:rect l="l" t="t" r="r" b="b"/>
              <a:pathLst>
                <a:path w="66675" h="337820">
                  <a:moveTo>
                    <a:pt x="33151" y="0"/>
                  </a:moveTo>
                  <a:lnTo>
                    <a:pt x="0" y="337747"/>
                  </a:lnTo>
                  <a:lnTo>
                    <a:pt x="66293" y="337747"/>
                  </a:lnTo>
                  <a:lnTo>
                    <a:pt x="3315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666050" y="312321"/>
              <a:ext cx="66675" cy="337820"/>
            </a:xfrm>
            <a:custGeom>
              <a:avLst/>
              <a:gdLst/>
              <a:ahLst/>
              <a:cxnLst/>
              <a:rect l="l" t="t" r="r" b="b"/>
              <a:pathLst>
                <a:path w="66675" h="337820">
                  <a:moveTo>
                    <a:pt x="0" y="337747"/>
                  </a:moveTo>
                  <a:lnTo>
                    <a:pt x="33151" y="0"/>
                  </a:lnTo>
                  <a:lnTo>
                    <a:pt x="66293" y="337747"/>
                  </a:lnTo>
                  <a:lnTo>
                    <a:pt x="0" y="337747"/>
                  </a:lnTo>
                  <a:close/>
                </a:path>
              </a:pathLst>
            </a:custGeom>
            <a:ln w="110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687455" y="655266"/>
              <a:ext cx="22225" cy="34290"/>
            </a:xfrm>
            <a:custGeom>
              <a:avLst/>
              <a:gdLst/>
              <a:ahLst/>
              <a:cxnLst/>
              <a:rect l="l" t="t" r="r" b="b"/>
              <a:pathLst>
                <a:path w="22225" h="34290">
                  <a:moveTo>
                    <a:pt x="22181" y="0"/>
                  </a:moveTo>
                  <a:lnTo>
                    <a:pt x="0" y="0"/>
                  </a:lnTo>
                  <a:lnTo>
                    <a:pt x="0" y="33777"/>
                  </a:lnTo>
                  <a:lnTo>
                    <a:pt x="22181" y="33777"/>
                  </a:lnTo>
                  <a:lnTo>
                    <a:pt x="2218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687455" y="655266"/>
              <a:ext cx="22225" cy="34290"/>
            </a:xfrm>
            <a:custGeom>
              <a:avLst/>
              <a:gdLst/>
              <a:ahLst/>
              <a:cxnLst/>
              <a:rect l="l" t="t" r="r" b="b"/>
              <a:pathLst>
                <a:path w="22225" h="34290">
                  <a:moveTo>
                    <a:pt x="0" y="33777"/>
                  </a:moveTo>
                  <a:lnTo>
                    <a:pt x="22181" y="33777"/>
                  </a:lnTo>
                  <a:lnTo>
                    <a:pt x="22181" y="0"/>
                  </a:lnTo>
                  <a:lnTo>
                    <a:pt x="0" y="0"/>
                  </a:lnTo>
                  <a:lnTo>
                    <a:pt x="0" y="33777"/>
                  </a:lnTo>
                  <a:close/>
                </a:path>
              </a:pathLst>
            </a:custGeom>
            <a:ln w="11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666050" y="802063"/>
              <a:ext cx="66675" cy="337820"/>
            </a:xfrm>
            <a:custGeom>
              <a:avLst/>
              <a:gdLst/>
              <a:ahLst/>
              <a:cxnLst/>
              <a:rect l="l" t="t" r="r" b="b"/>
              <a:pathLst>
                <a:path w="66675" h="337819">
                  <a:moveTo>
                    <a:pt x="66293" y="0"/>
                  </a:moveTo>
                  <a:lnTo>
                    <a:pt x="0" y="0"/>
                  </a:lnTo>
                  <a:lnTo>
                    <a:pt x="33151" y="337784"/>
                  </a:lnTo>
                  <a:lnTo>
                    <a:pt x="6629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666050" y="802063"/>
              <a:ext cx="66675" cy="337820"/>
            </a:xfrm>
            <a:custGeom>
              <a:avLst/>
              <a:gdLst/>
              <a:ahLst/>
              <a:cxnLst/>
              <a:rect l="l" t="t" r="r" b="b"/>
              <a:pathLst>
                <a:path w="66675" h="337819">
                  <a:moveTo>
                    <a:pt x="0" y="0"/>
                  </a:moveTo>
                  <a:lnTo>
                    <a:pt x="33151" y="337784"/>
                  </a:lnTo>
                  <a:lnTo>
                    <a:pt x="66293" y="0"/>
                  </a:lnTo>
                  <a:lnTo>
                    <a:pt x="0" y="0"/>
                  </a:lnTo>
                  <a:close/>
                </a:path>
              </a:pathLst>
            </a:custGeom>
            <a:ln w="110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688762" y="768286"/>
              <a:ext cx="22225" cy="34290"/>
            </a:xfrm>
            <a:custGeom>
              <a:avLst/>
              <a:gdLst/>
              <a:ahLst/>
              <a:cxnLst/>
              <a:rect l="l" t="t" r="r" b="b"/>
              <a:pathLst>
                <a:path w="22225" h="34290">
                  <a:moveTo>
                    <a:pt x="22181" y="0"/>
                  </a:moveTo>
                  <a:lnTo>
                    <a:pt x="0" y="0"/>
                  </a:lnTo>
                  <a:lnTo>
                    <a:pt x="0" y="33777"/>
                  </a:lnTo>
                  <a:lnTo>
                    <a:pt x="22181" y="33777"/>
                  </a:lnTo>
                  <a:lnTo>
                    <a:pt x="221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688762" y="768286"/>
              <a:ext cx="22225" cy="34290"/>
            </a:xfrm>
            <a:custGeom>
              <a:avLst/>
              <a:gdLst/>
              <a:ahLst/>
              <a:cxnLst/>
              <a:rect l="l" t="t" r="r" b="b"/>
              <a:pathLst>
                <a:path w="22225" h="34290">
                  <a:moveTo>
                    <a:pt x="0" y="33777"/>
                  </a:moveTo>
                  <a:lnTo>
                    <a:pt x="22181" y="33777"/>
                  </a:lnTo>
                  <a:lnTo>
                    <a:pt x="22181" y="0"/>
                  </a:lnTo>
                  <a:lnTo>
                    <a:pt x="0" y="0"/>
                  </a:lnTo>
                  <a:lnTo>
                    <a:pt x="0" y="33777"/>
                  </a:lnTo>
                  <a:close/>
                </a:path>
              </a:pathLst>
            </a:custGeom>
            <a:ln w="11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142180" y="726069"/>
              <a:ext cx="107950" cy="6985"/>
            </a:xfrm>
            <a:custGeom>
              <a:avLst/>
              <a:gdLst/>
              <a:ahLst/>
              <a:cxnLst/>
              <a:rect l="l" t="t" r="r" b="b"/>
              <a:pathLst>
                <a:path w="107950" h="6984">
                  <a:moveTo>
                    <a:pt x="107646" y="0"/>
                  </a:moveTo>
                  <a:lnTo>
                    <a:pt x="0" y="0"/>
                  </a:lnTo>
                  <a:lnTo>
                    <a:pt x="0" y="6495"/>
                  </a:lnTo>
                  <a:lnTo>
                    <a:pt x="107646" y="6495"/>
                  </a:lnTo>
                  <a:lnTo>
                    <a:pt x="1076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142180" y="726069"/>
              <a:ext cx="107950" cy="6985"/>
            </a:xfrm>
            <a:custGeom>
              <a:avLst/>
              <a:gdLst/>
              <a:ahLst/>
              <a:cxnLst/>
              <a:rect l="l" t="t" r="r" b="b"/>
              <a:pathLst>
                <a:path w="107950" h="6984">
                  <a:moveTo>
                    <a:pt x="0" y="6495"/>
                  </a:moveTo>
                  <a:lnTo>
                    <a:pt x="107646" y="6495"/>
                  </a:lnTo>
                  <a:lnTo>
                    <a:pt x="107646" y="0"/>
                  </a:lnTo>
                  <a:lnTo>
                    <a:pt x="0" y="0"/>
                  </a:lnTo>
                  <a:lnTo>
                    <a:pt x="0" y="6495"/>
                  </a:lnTo>
                  <a:close/>
                </a:path>
              </a:pathLst>
            </a:custGeom>
            <a:ln w="10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752578" y="781283"/>
              <a:ext cx="40640" cy="104139"/>
            </a:xfrm>
            <a:custGeom>
              <a:avLst/>
              <a:gdLst/>
              <a:ahLst/>
              <a:cxnLst/>
              <a:rect l="l" t="t" r="r" b="b"/>
              <a:pathLst>
                <a:path w="40639" h="104140">
                  <a:moveTo>
                    <a:pt x="40562" y="103926"/>
                  </a:moveTo>
                  <a:lnTo>
                    <a:pt x="14471" y="0"/>
                  </a:lnTo>
                </a:path>
                <a:path w="40639" h="104140">
                  <a:moveTo>
                    <a:pt x="38582" y="14400"/>
                  </a:moveTo>
                  <a:lnTo>
                    <a:pt x="14471" y="0"/>
                  </a:lnTo>
                  <a:lnTo>
                    <a:pt x="0" y="24006"/>
                  </a:lnTo>
                </a:path>
              </a:pathLst>
            </a:custGeom>
            <a:ln w="66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1738000" y="870063"/>
            <a:ext cx="136525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5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500" dirty="0">
                <a:latin typeface="Times New Roman" panose="02020603050405020304"/>
                <a:cs typeface="Times New Roman" panose="02020603050405020304"/>
              </a:rPr>
              <a:t>ub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762700" y="394584"/>
            <a:ext cx="175895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dirty="0">
                <a:latin typeface="Times New Roman" panose="02020603050405020304"/>
                <a:cs typeface="Times New Roman" panose="02020603050405020304"/>
              </a:rPr>
              <a:t>Blade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921432" y="446538"/>
            <a:ext cx="263525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dirty="0">
                <a:latin typeface="Times New Roman" panose="02020603050405020304"/>
                <a:cs typeface="Times New Roman" panose="02020603050405020304"/>
              </a:rPr>
              <a:t>Gear</a:t>
            </a:r>
            <a:r>
              <a:rPr sz="5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dirty="0">
                <a:latin typeface="Times New Roman" panose="02020603050405020304"/>
                <a:cs typeface="Times New Roman" panose="02020603050405020304"/>
              </a:rPr>
              <a:t>box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738346" y="482446"/>
            <a:ext cx="595630" cy="431800"/>
          </a:xfrm>
          <a:custGeom>
            <a:avLst/>
            <a:gdLst/>
            <a:ahLst/>
            <a:cxnLst/>
            <a:rect l="l" t="t" r="r" b="b"/>
            <a:pathLst>
              <a:path w="595630" h="431800">
                <a:moveTo>
                  <a:pt x="67848" y="0"/>
                </a:moveTo>
                <a:lnTo>
                  <a:pt x="0" y="67582"/>
                </a:lnTo>
              </a:path>
              <a:path w="595630" h="431800">
                <a:moveTo>
                  <a:pt x="0" y="39588"/>
                </a:moveTo>
                <a:lnTo>
                  <a:pt x="0" y="67582"/>
                </a:lnTo>
                <a:lnTo>
                  <a:pt x="28115" y="67582"/>
                </a:lnTo>
              </a:path>
              <a:path w="595630" h="431800">
                <a:moveTo>
                  <a:pt x="293904" y="58058"/>
                </a:moveTo>
                <a:lnTo>
                  <a:pt x="293904" y="181912"/>
                </a:lnTo>
              </a:path>
              <a:path w="595630" h="431800">
                <a:moveTo>
                  <a:pt x="274019" y="162113"/>
                </a:moveTo>
                <a:lnTo>
                  <a:pt x="293904" y="181912"/>
                </a:lnTo>
                <a:lnTo>
                  <a:pt x="313789" y="162113"/>
                </a:lnTo>
              </a:path>
              <a:path w="595630" h="431800">
                <a:moveTo>
                  <a:pt x="575407" y="431344"/>
                </a:moveTo>
                <a:lnTo>
                  <a:pt x="575407" y="322220"/>
                </a:lnTo>
              </a:path>
              <a:path w="595630" h="431800">
                <a:moveTo>
                  <a:pt x="555522" y="342019"/>
                </a:moveTo>
                <a:lnTo>
                  <a:pt x="575407" y="322220"/>
                </a:lnTo>
                <a:lnTo>
                  <a:pt x="595292" y="342019"/>
                </a:lnTo>
              </a:path>
            </a:pathLst>
          </a:custGeom>
          <a:ln w="66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2186604" y="880458"/>
            <a:ext cx="29273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13970" algn="r">
              <a:lnSpc>
                <a:spcPct val="100000"/>
              </a:lnSpc>
              <a:spcBef>
                <a:spcPts val="105"/>
              </a:spcBef>
            </a:pPr>
            <a:r>
              <a:rPr sz="500" spc="5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500" dirty="0">
                <a:latin typeface="Times New Roman" panose="02020603050405020304"/>
                <a:cs typeface="Times New Roman" panose="02020603050405020304"/>
              </a:rPr>
              <a:t>enerator</a:t>
            </a:r>
            <a:endParaRPr sz="500">
              <a:latin typeface="Times New Roman" panose="02020603050405020304"/>
              <a:cs typeface="Times New Roman" panose="02020603050405020304"/>
            </a:endParaRPr>
          </a:p>
          <a:p>
            <a:pPr marR="5080" algn="r">
              <a:lnSpc>
                <a:spcPct val="100000"/>
              </a:lnSpc>
              <a:spcBef>
                <a:spcPts val="420"/>
              </a:spcBef>
            </a:pPr>
            <a:r>
              <a:rPr sz="5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500" spc="5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500" dirty="0">
                <a:latin typeface="Times New Roman" panose="02020603050405020304"/>
                <a:cs typeface="Times New Roman" panose="02020603050405020304"/>
              </a:rPr>
              <a:t>er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213288" y="463747"/>
            <a:ext cx="115570" cy="694690"/>
          </a:xfrm>
          <a:custGeom>
            <a:avLst/>
            <a:gdLst/>
            <a:ahLst/>
            <a:cxnLst/>
            <a:rect l="l" t="t" r="r" b="b"/>
            <a:pathLst>
              <a:path w="115569" h="694690">
                <a:moveTo>
                  <a:pt x="78288" y="616336"/>
                </a:moveTo>
                <a:lnTo>
                  <a:pt x="0" y="694286"/>
                </a:lnTo>
              </a:path>
              <a:path w="115569" h="694690">
                <a:moveTo>
                  <a:pt x="28124" y="694286"/>
                </a:moveTo>
                <a:lnTo>
                  <a:pt x="0" y="694286"/>
                </a:lnTo>
                <a:lnTo>
                  <a:pt x="0" y="666283"/>
                </a:lnTo>
              </a:path>
              <a:path w="115569" h="694690">
                <a:moveTo>
                  <a:pt x="95577" y="0"/>
                </a:moveTo>
                <a:lnTo>
                  <a:pt x="95577" y="138254"/>
                </a:lnTo>
              </a:path>
              <a:path w="115569" h="694690">
                <a:moveTo>
                  <a:pt x="115462" y="118455"/>
                </a:moveTo>
                <a:lnTo>
                  <a:pt x="95577" y="138254"/>
                </a:lnTo>
                <a:lnTo>
                  <a:pt x="75692" y="118455"/>
                </a:lnTo>
              </a:path>
            </a:pathLst>
          </a:custGeom>
          <a:ln w="66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2192569" y="373776"/>
            <a:ext cx="22225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500" dirty="0">
                <a:latin typeface="Times New Roman" panose="02020603050405020304"/>
                <a:cs typeface="Times New Roman" panose="02020603050405020304"/>
              </a:rPr>
              <a:t>acelle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6388" y="1233285"/>
            <a:ext cx="2527935" cy="513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72085">
              <a:lnSpc>
                <a:spcPct val="100000"/>
              </a:lnSpc>
              <a:spcBef>
                <a:spcPts val="135"/>
              </a:spcBef>
            </a:pPr>
            <a:r>
              <a:rPr sz="825" i="1" spc="15" baseline="5000" dirty="0">
                <a:latin typeface="Times New Roman" panose="02020603050405020304"/>
                <a:cs typeface="Times New Roman" panose="02020603050405020304"/>
              </a:rPr>
              <a:t>carries </a:t>
            </a:r>
            <a:r>
              <a:rPr sz="825" i="1" spc="22" baseline="500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825" i="1" spc="15" baseline="5000" dirty="0">
                <a:latin typeface="Times New Roman" panose="02020603050405020304"/>
                <a:cs typeface="Times New Roman" panose="02020603050405020304"/>
              </a:rPr>
              <a:t>nacelle and the </a:t>
            </a:r>
            <a:r>
              <a:rPr sz="825" i="1" spc="-7" baseline="5000" dirty="0">
                <a:latin typeface="Times New Roman" panose="02020603050405020304"/>
                <a:cs typeface="Times New Roman" panose="02020603050405020304"/>
              </a:rPr>
              <a:t>rotor. </a:t>
            </a:r>
            <a:r>
              <a:rPr sz="825" i="1" spc="7" baseline="5000" dirty="0">
                <a:latin typeface="Times New Roman" panose="02020603050405020304"/>
                <a:cs typeface="Times New Roman" panose="02020603050405020304"/>
              </a:rPr>
              <a:t>Towers </a:t>
            </a:r>
            <a:r>
              <a:rPr sz="500" b="1" i="1" dirty="0">
                <a:latin typeface="Times New Roman" panose="02020603050405020304"/>
                <a:cs typeface="Times New Roman" panose="02020603050405020304"/>
              </a:rPr>
              <a:t>Horizontal axis wind power</a:t>
            </a:r>
            <a:r>
              <a:rPr sz="500" b="1" i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b="1" i="1" dirty="0">
                <a:latin typeface="Times New Roman" panose="02020603050405020304"/>
                <a:cs typeface="Times New Roman" panose="02020603050405020304"/>
              </a:rPr>
              <a:t>plant</a:t>
            </a:r>
            <a:endParaRPr sz="500">
              <a:latin typeface="Times New Roman" panose="02020603050405020304"/>
              <a:cs typeface="Times New Roman" panose="02020603050405020304"/>
            </a:endParaRPr>
          </a:p>
          <a:p>
            <a:pPr marL="172085">
              <a:lnSpc>
                <a:spcPct val="100000"/>
              </a:lnSpc>
              <a:spcBef>
                <a:spcPts val="10"/>
              </a:spcBef>
              <a:tabLst>
                <a:tab pos="1802130" algn="l"/>
              </a:tabLst>
            </a:pPr>
            <a:r>
              <a:rPr sz="550" i="1" spc="20" dirty="0">
                <a:latin typeface="Times New Roman" panose="02020603050405020304"/>
                <a:cs typeface="Times New Roman" panose="02020603050405020304"/>
              </a:rPr>
              <a:t>may be made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from steel</a:t>
            </a:r>
            <a:r>
              <a:rPr sz="550" i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550" i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concrete.	</a:t>
            </a:r>
            <a:r>
              <a:rPr sz="750" b="1" i="1" baseline="6000" dirty="0">
                <a:latin typeface="Times New Roman" panose="02020603050405020304"/>
                <a:cs typeface="Times New Roman" panose="02020603050405020304"/>
              </a:rPr>
              <a:t>(Propeller</a:t>
            </a:r>
            <a:r>
              <a:rPr sz="750" b="1" i="1" spc="-7" baseline="6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b="1" i="1" baseline="6000" dirty="0">
                <a:latin typeface="Times New Roman" panose="02020603050405020304"/>
                <a:cs typeface="Times New Roman" panose="02020603050405020304"/>
              </a:rPr>
              <a:t>type)</a:t>
            </a:r>
            <a:endParaRPr sz="750" baseline="60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 panose="02020603050405020304"/>
              <a:cs typeface="Times New Roman" panose="02020603050405020304"/>
            </a:endParaRPr>
          </a:p>
          <a:p>
            <a:pPr marL="172085" marR="30480" indent="-134620">
              <a:lnSpc>
                <a:spcPct val="107000"/>
              </a:lnSpc>
              <a:spcBef>
                <a:spcPts val="360"/>
              </a:spcBef>
            </a:pPr>
            <a:r>
              <a:rPr sz="550" b="1" i="1" spc="15" dirty="0">
                <a:latin typeface="Times New Roman" panose="02020603050405020304"/>
                <a:cs typeface="Times New Roman" panose="02020603050405020304"/>
              </a:rPr>
              <a:t>5. Gears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– Gears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connect the low-speed shaft attached to the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hub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to the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high- </a:t>
            </a:r>
            <a:r>
              <a:rPr sz="550" i="1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speed</a:t>
            </a:r>
            <a:r>
              <a:rPr sz="550" i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shaft</a:t>
            </a:r>
            <a:r>
              <a:rPr sz="550" i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attached</a:t>
            </a:r>
            <a:r>
              <a:rPr sz="550" i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550" i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550" i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generator</a:t>
            </a:r>
            <a:r>
              <a:rPr sz="550" i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2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550" i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increase</a:t>
            </a:r>
            <a:r>
              <a:rPr sz="550" i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550" i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0" dirty="0">
                <a:latin typeface="Times New Roman" panose="02020603050405020304"/>
                <a:cs typeface="Times New Roman" panose="02020603050405020304"/>
              </a:rPr>
              <a:t>rotational</a:t>
            </a:r>
            <a:r>
              <a:rPr sz="550" i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i="1" spc="15" dirty="0">
                <a:latin typeface="Times New Roman" panose="02020603050405020304"/>
                <a:cs typeface="Times New Roman" panose="02020603050405020304"/>
              </a:rPr>
              <a:t>speed.</a:t>
            </a:r>
            <a:endParaRPr sz="5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462530" y="1877060"/>
            <a:ext cx="711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48</a:t>
            </a:r>
            <a:endParaRPr sz="350">
              <a:latin typeface="Carlito"/>
              <a:cs typeface="Carlito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35" y="965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616" y="52196"/>
            <a:ext cx="2559050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10" dirty="0"/>
              <a:t>Upwind and downwind</a:t>
            </a:r>
            <a:r>
              <a:rPr sz="1150" spc="-45" dirty="0"/>
              <a:t> </a:t>
            </a:r>
            <a:r>
              <a:rPr sz="1150" spc="15" dirty="0"/>
              <a:t>machines</a:t>
            </a:r>
            <a:endParaRPr sz="1150"/>
          </a:p>
        </p:txBody>
      </p:sp>
      <p:sp>
        <p:nvSpPr>
          <p:cNvPr id="3" name="object 3"/>
          <p:cNvSpPr txBox="1"/>
          <p:nvPr/>
        </p:nvSpPr>
        <p:spPr>
          <a:xfrm>
            <a:off x="241510" y="1044672"/>
            <a:ext cx="474980" cy="1746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590" marR="5080" indent="-9525">
              <a:lnSpc>
                <a:spcPct val="109000"/>
              </a:lnSpc>
              <a:spcBef>
                <a:spcPts val="90"/>
              </a:spcBef>
            </a:pPr>
            <a:r>
              <a:rPr sz="450" b="1" i="1" spc="-35" dirty="0">
                <a:latin typeface="Times New Roman" panose="02020603050405020304"/>
                <a:cs typeface="Times New Roman" panose="02020603050405020304"/>
              </a:rPr>
              <a:t>Upwind </a:t>
            </a:r>
            <a:r>
              <a:rPr sz="450" b="1" i="1" spc="-30" dirty="0">
                <a:latin typeface="Times New Roman" panose="02020603050405020304"/>
                <a:cs typeface="Times New Roman" panose="02020603050405020304"/>
              </a:rPr>
              <a:t>with </a:t>
            </a:r>
            <a:r>
              <a:rPr sz="450" b="1" i="1" spc="-20" dirty="0">
                <a:latin typeface="Times New Roman" panose="02020603050405020304"/>
                <a:cs typeface="Times New Roman" panose="02020603050405020304"/>
              </a:rPr>
              <a:t>tail</a:t>
            </a:r>
            <a:r>
              <a:rPr sz="450" b="1" i="1" spc="-30" dirty="0">
                <a:latin typeface="Times New Roman" panose="02020603050405020304"/>
                <a:cs typeface="Times New Roman" panose="02020603050405020304"/>
              </a:rPr>
              <a:t> vane  </a:t>
            </a:r>
            <a:r>
              <a:rPr sz="450" b="1" i="1" spc="-25" dirty="0">
                <a:latin typeface="Times New Roman" panose="02020603050405020304"/>
                <a:cs typeface="Times New Roman" panose="02020603050405020304"/>
              </a:rPr>
              <a:t>(passive </a:t>
            </a:r>
            <a:r>
              <a:rPr sz="450" b="1" i="1" spc="-35" dirty="0">
                <a:latin typeface="Times New Roman" panose="02020603050405020304"/>
                <a:cs typeface="Times New Roman" panose="02020603050405020304"/>
              </a:rPr>
              <a:t>yaw</a:t>
            </a:r>
            <a:r>
              <a:rPr sz="450" b="1" i="1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50" b="1" i="1" spc="-25" dirty="0">
                <a:latin typeface="Times New Roman" panose="02020603050405020304"/>
                <a:cs typeface="Times New Roman" panose="02020603050405020304"/>
              </a:rPr>
              <a:t>control)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82920" y="305324"/>
            <a:ext cx="380365" cy="723900"/>
            <a:chOff x="1082920" y="305324"/>
            <a:chExt cx="380365" cy="723900"/>
          </a:xfrm>
        </p:grpSpPr>
        <p:sp>
          <p:nvSpPr>
            <p:cNvPr id="5" name="object 5"/>
            <p:cNvSpPr/>
            <p:nvPr/>
          </p:nvSpPr>
          <p:spPr>
            <a:xfrm>
              <a:off x="1358631" y="595406"/>
              <a:ext cx="0" cy="429895"/>
            </a:xfrm>
            <a:custGeom>
              <a:avLst/>
              <a:gdLst/>
              <a:ahLst/>
              <a:cxnLst/>
              <a:rect l="l" t="t" r="r" b="b"/>
              <a:pathLst>
                <a:path h="429894">
                  <a:moveTo>
                    <a:pt x="0" y="0"/>
                  </a:moveTo>
                  <a:lnTo>
                    <a:pt x="0" y="429500"/>
                  </a:lnTo>
                </a:path>
              </a:pathLst>
            </a:custGeom>
            <a:ln w="7465">
              <a:solidFill>
                <a:srgbClr val="7005A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266998" y="305324"/>
              <a:ext cx="196232" cy="434833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291008" y="311284"/>
              <a:ext cx="15240" cy="425450"/>
            </a:xfrm>
            <a:custGeom>
              <a:avLst/>
              <a:gdLst/>
              <a:ahLst/>
              <a:cxnLst/>
              <a:rect l="l" t="t" r="r" b="b"/>
              <a:pathLst>
                <a:path w="15240" h="425450">
                  <a:moveTo>
                    <a:pt x="15179" y="0"/>
                  </a:moveTo>
                  <a:lnTo>
                    <a:pt x="15179" y="425087"/>
                  </a:lnTo>
                </a:path>
                <a:path w="15240" h="425450">
                  <a:moveTo>
                    <a:pt x="0" y="244478"/>
                  </a:moveTo>
                  <a:lnTo>
                    <a:pt x="1866" y="245411"/>
                  </a:lnTo>
                  <a:lnTo>
                    <a:pt x="6843" y="246421"/>
                  </a:lnTo>
                  <a:lnTo>
                    <a:pt x="11073" y="246724"/>
                  </a:lnTo>
                  <a:lnTo>
                    <a:pt x="12877" y="246856"/>
                  </a:lnTo>
                  <a:lnTo>
                    <a:pt x="14370" y="246840"/>
                  </a:lnTo>
                  <a:lnTo>
                    <a:pt x="15179" y="246677"/>
                  </a:lnTo>
                </a:path>
                <a:path w="15240" h="425450">
                  <a:moveTo>
                    <a:pt x="0" y="178401"/>
                  </a:moveTo>
                  <a:lnTo>
                    <a:pt x="1866" y="177469"/>
                  </a:lnTo>
                  <a:lnTo>
                    <a:pt x="6843" y="176459"/>
                  </a:lnTo>
                  <a:lnTo>
                    <a:pt x="11073" y="176148"/>
                  </a:lnTo>
                  <a:lnTo>
                    <a:pt x="12877" y="175993"/>
                  </a:lnTo>
                  <a:lnTo>
                    <a:pt x="14370" y="176070"/>
                  </a:lnTo>
                  <a:lnTo>
                    <a:pt x="15179" y="176226"/>
                  </a:lnTo>
                </a:path>
              </a:pathLst>
            </a:custGeom>
            <a:ln w="8394">
              <a:solidFill>
                <a:srgbClr val="7005A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85778" y="627342"/>
              <a:ext cx="130810" cy="0"/>
            </a:xfrm>
            <a:custGeom>
              <a:avLst/>
              <a:gdLst/>
              <a:ahLst/>
              <a:cxnLst/>
              <a:rect l="l" t="t" r="r" b="b"/>
              <a:pathLst>
                <a:path w="130809">
                  <a:moveTo>
                    <a:pt x="0" y="0"/>
                  </a:moveTo>
                  <a:lnTo>
                    <a:pt x="130329" y="0"/>
                  </a:lnTo>
                </a:path>
              </a:pathLst>
            </a:custGeom>
            <a:ln w="559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213433" y="610558"/>
              <a:ext cx="13970" cy="33655"/>
            </a:xfrm>
            <a:custGeom>
              <a:avLst/>
              <a:gdLst/>
              <a:ahLst/>
              <a:cxnLst/>
              <a:rect l="l" t="t" r="r" b="b"/>
              <a:pathLst>
                <a:path w="13969" h="33654">
                  <a:moveTo>
                    <a:pt x="0" y="0"/>
                  </a:moveTo>
                  <a:lnTo>
                    <a:pt x="0" y="33566"/>
                  </a:lnTo>
                  <a:lnTo>
                    <a:pt x="13437" y="167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85778" y="418124"/>
              <a:ext cx="130810" cy="0"/>
            </a:xfrm>
            <a:custGeom>
              <a:avLst/>
              <a:gdLst/>
              <a:ahLst/>
              <a:cxnLst/>
              <a:rect l="l" t="t" r="r" b="b"/>
              <a:pathLst>
                <a:path w="130809">
                  <a:moveTo>
                    <a:pt x="0" y="0"/>
                  </a:moveTo>
                  <a:lnTo>
                    <a:pt x="130329" y="0"/>
                  </a:lnTo>
                </a:path>
              </a:pathLst>
            </a:custGeom>
            <a:ln w="559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213433" y="401340"/>
              <a:ext cx="13970" cy="33655"/>
            </a:xfrm>
            <a:custGeom>
              <a:avLst/>
              <a:gdLst/>
              <a:ahLst/>
              <a:cxnLst/>
              <a:rect l="l" t="t" r="r" b="b"/>
              <a:pathLst>
                <a:path w="13969" h="33654">
                  <a:moveTo>
                    <a:pt x="0" y="0"/>
                  </a:moveTo>
                  <a:lnTo>
                    <a:pt x="0" y="33566"/>
                  </a:lnTo>
                  <a:lnTo>
                    <a:pt x="13437" y="167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455047" y="608877"/>
            <a:ext cx="325755" cy="1746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9000"/>
              </a:lnSpc>
              <a:spcBef>
                <a:spcPts val="90"/>
              </a:spcBef>
            </a:pPr>
            <a:r>
              <a:rPr sz="450" spc="-35" dirty="0">
                <a:latin typeface="Times New Roman" panose="02020603050405020304"/>
                <a:cs typeface="Times New Roman" panose="02020603050405020304"/>
              </a:rPr>
              <a:t>Wind</a:t>
            </a:r>
            <a:r>
              <a:rPr sz="45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50" spc="-25" dirty="0">
                <a:latin typeface="Times New Roman" panose="02020603050405020304"/>
                <a:cs typeface="Times New Roman" panose="02020603050405020304"/>
              </a:rPr>
              <a:t>direction </a:t>
            </a:r>
            <a:r>
              <a:rPr sz="45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50" spc="-25" dirty="0">
                <a:latin typeface="Times New Roman" panose="02020603050405020304"/>
                <a:cs typeface="Times New Roman" panose="02020603050405020304"/>
              </a:rPr>
              <a:t>sensor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326270" y="397688"/>
            <a:ext cx="205740" cy="202565"/>
            <a:chOff x="1326270" y="397688"/>
            <a:chExt cx="205740" cy="202565"/>
          </a:xfrm>
        </p:grpSpPr>
        <p:sp>
          <p:nvSpPr>
            <p:cNvPr id="14" name="object 14"/>
            <p:cNvSpPr/>
            <p:nvPr/>
          </p:nvSpPr>
          <p:spPr>
            <a:xfrm>
              <a:off x="1457731" y="429390"/>
              <a:ext cx="69215" cy="45085"/>
            </a:xfrm>
            <a:custGeom>
              <a:avLst/>
              <a:gdLst/>
              <a:ahLst/>
              <a:cxnLst/>
              <a:rect l="l" t="t" r="r" b="b"/>
              <a:pathLst>
                <a:path w="69215" h="45084">
                  <a:moveTo>
                    <a:pt x="0" y="0"/>
                  </a:moveTo>
                  <a:lnTo>
                    <a:pt x="0" y="44911"/>
                  </a:lnTo>
                  <a:lnTo>
                    <a:pt x="68928" y="224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457731" y="429390"/>
              <a:ext cx="69215" cy="45085"/>
            </a:xfrm>
            <a:custGeom>
              <a:avLst/>
              <a:gdLst/>
              <a:ahLst/>
              <a:cxnLst/>
              <a:rect l="l" t="t" r="r" b="b"/>
              <a:pathLst>
                <a:path w="69215" h="45084">
                  <a:moveTo>
                    <a:pt x="0" y="44911"/>
                  </a:moveTo>
                  <a:lnTo>
                    <a:pt x="0" y="0"/>
                  </a:lnTo>
                  <a:lnTo>
                    <a:pt x="68928" y="22455"/>
                  </a:lnTo>
                  <a:lnTo>
                    <a:pt x="0" y="44911"/>
                  </a:lnTo>
                  <a:close/>
                </a:path>
              </a:pathLst>
            </a:custGeom>
            <a:ln w="87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457731" y="474301"/>
              <a:ext cx="0" cy="50800"/>
            </a:xfrm>
            <a:custGeom>
              <a:avLst/>
              <a:gdLst/>
              <a:ahLst/>
              <a:cxnLst/>
              <a:rect l="l" t="t" r="r" b="b"/>
              <a:pathLst>
                <a:path h="50800">
                  <a:moveTo>
                    <a:pt x="0" y="0"/>
                  </a:moveTo>
                  <a:lnTo>
                    <a:pt x="0" y="50187"/>
                  </a:lnTo>
                </a:path>
              </a:pathLst>
            </a:custGeom>
            <a:ln w="7465">
              <a:solidFill>
                <a:srgbClr val="7005A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329128" y="410276"/>
              <a:ext cx="106045" cy="53340"/>
            </a:xfrm>
            <a:custGeom>
              <a:avLst/>
              <a:gdLst/>
              <a:ahLst/>
              <a:cxnLst/>
              <a:rect l="l" t="t" r="r" b="b"/>
              <a:pathLst>
                <a:path w="106044" h="53340">
                  <a:moveTo>
                    <a:pt x="32613" y="0"/>
                  </a:moveTo>
                  <a:lnTo>
                    <a:pt x="15187" y="6112"/>
                  </a:lnTo>
                  <a:lnTo>
                    <a:pt x="4012" y="14928"/>
                  </a:lnTo>
                  <a:lnTo>
                    <a:pt x="0" y="25273"/>
                  </a:lnTo>
                  <a:lnTo>
                    <a:pt x="4059" y="35975"/>
                  </a:lnTo>
                  <a:lnTo>
                    <a:pt x="15785" y="45059"/>
                  </a:lnTo>
                  <a:lnTo>
                    <a:pt x="32691" y="50894"/>
                  </a:lnTo>
                  <a:lnTo>
                    <a:pt x="52559" y="52999"/>
                  </a:lnTo>
                  <a:lnTo>
                    <a:pt x="73174" y="50894"/>
                  </a:lnTo>
                  <a:lnTo>
                    <a:pt x="90610" y="44781"/>
                  </a:lnTo>
                  <a:lnTo>
                    <a:pt x="101806" y="35965"/>
                  </a:lnTo>
                  <a:lnTo>
                    <a:pt x="105840" y="25620"/>
                  </a:lnTo>
                  <a:lnTo>
                    <a:pt x="101791" y="14918"/>
                  </a:lnTo>
                  <a:lnTo>
                    <a:pt x="97996" y="10178"/>
                  </a:lnTo>
                  <a:lnTo>
                    <a:pt x="91713" y="6060"/>
                  </a:lnTo>
                  <a:lnTo>
                    <a:pt x="83625" y="3030"/>
                  </a:lnTo>
                </a:path>
              </a:pathLst>
            </a:custGeom>
            <a:ln w="53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402302" y="397688"/>
              <a:ext cx="16510" cy="33020"/>
            </a:xfrm>
            <a:custGeom>
              <a:avLst/>
              <a:gdLst/>
              <a:ahLst/>
              <a:cxnLst/>
              <a:rect l="l" t="t" r="r" b="b"/>
              <a:pathLst>
                <a:path w="16509" h="33020">
                  <a:moveTo>
                    <a:pt x="16112" y="0"/>
                  </a:moveTo>
                  <a:lnTo>
                    <a:pt x="0" y="12587"/>
                  </a:lnTo>
                  <a:lnTo>
                    <a:pt x="10078" y="32712"/>
                  </a:lnTo>
                  <a:lnTo>
                    <a:pt x="161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332627" y="567875"/>
              <a:ext cx="53340" cy="27940"/>
            </a:xfrm>
            <a:custGeom>
              <a:avLst/>
              <a:gdLst/>
              <a:ahLst/>
              <a:cxnLst/>
              <a:rect l="l" t="t" r="r" b="b"/>
              <a:pathLst>
                <a:path w="53340" h="27940">
                  <a:moveTo>
                    <a:pt x="52903" y="0"/>
                  </a:moveTo>
                  <a:lnTo>
                    <a:pt x="0" y="0"/>
                  </a:lnTo>
                  <a:lnTo>
                    <a:pt x="0" y="27531"/>
                  </a:lnTo>
                  <a:lnTo>
                    <a:pt x="52903" y="27531"/>
                  </a:lnTo>
                  <a:lnTo>
                    <a:pt x="529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332627" y="567875"/>
              <a:ext cx="53340" cy="27940"/>
            </a:xfrm>
            <a:custGeom>
              <a:avLst/>
              <a:gdLst/>
              <a:ahLst/>
              <a:cxnLst/>
              <a:rect l="l" t="t" r="r" b="b"/>
              <a:pathLst>
                <a:path w="53340" h="27940">
                  <a:moveTo>
                    <a:pt x="0" y="27531"/>
                  </a:moveTo>
                  <a:lnTo>
                    <a:pt x="52903" y="27531"/>
                  </a:lnTo>
                  <a:lnTo>
                    <a:pt x="52903" y="0"/>
                  </a:lnTo>
                  <a:lnTo>
                    <a:pt x="0" y="0"/>
                  </a:lnTo>
                  <a:lnTo>
                    <a:pt x="0" y="27531"/>
                  </a:lnTo>
                  <a:close/>
                </a:path>
              </a:pathLst>
            </a:custGeom>
            <a:ln w="8927">
              <a:solidFill>
                <a:srgbClr val="7005A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1023807" y="1048937"/>
            <a:ext cx="669925" cy="1003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450" b="1" i="1" spc="-35" dirty="0">
                <a:latin typeface="Times New Roman" panose="02020603050405020304"/>
                <a:cs typeface="Times New Roman" panose="02020603050405020304"/>
              </a:rPr>
              <a:t>Upwind </a:t>
            </a:r>
            <a:r>
              <a:rPr sz="450" b="1" i="1" spc="-30" dirty="0">
                <a:latin typeface="Times New Roman" panose="02020603050405020304"/>
                <a:cs typeface="Times New Roman" panose="02020603050405020304"/>
              </a:rPr>
              <a:t>with </a:t>
            </a:r>
            <a:r>
              <a:rPr sz="450" b="1" i="1" spc="-25" dirty="0">
                <a:latin typeface="Times New Roman" panose="02020603050405020304"/>
                <a:cs typeface="Times New Roman" panose="02020603050405020304"/>
              </a:rPr>
              <a:t>active </a:t>
            </a:r>
            <a:r>
              <a:rPr sz="450" b="1" i="1" spc="-35" dirty="0">
                <a:latin typeface="Times New Roman" panose="02020603050405020304"/>
                <a:cs typeface="Times New Roman" panose="02020603050405020304"/>
              </a:rPr>
              <a:t>yaw</a:t>
            </a:r>
            <a:r>
              <a:rPr sz="450" b="1" i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50" b="1" i="1" spc="-25" dirty="0">
                <a:latin typeface="Times New Roman" panose="02020603050405020304"/>
                <a:cs typeface="Times New Roman" panose="02020603050405020304"/>
              </a:rPr>
              <a:t>control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39974" y="1044672"/>
            <a:ext cx="641985" cy="1746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53975">
              <a:lnSpc>
                <a:spcPct val="109000"/>
              </a:lnSpc>
              <a:spcBef>
                <a:spcPts val="90"/>
              </a:spcBef>
            </a:pPr>
            <a:r>
              <a:rPr sz="450" b="1" i="1" spc="-35" dirty="0">
                <a:latin typeface="Times New Roman" panose="02020603050405020304"/>
                <a:cs typeface="Times New Roman" panose="02020603050405020304"/>
              </a:rPr>
              <a:t>Downwind </a:t>
            </a:r>
            <a:r>
              <a:rPr sz="450" b="1" i="1" spc="-30" dirty="0">
                <a:latin typeface="Times New Roman" panose="02020603050405020304"/>
                <a:cs typeface="Times New Roman" panose="02020603050405020304"/>
              </a:rPr>
              <a:t>with </a:t>
            </a:r>
            <a:r>
              <a:rPr sz="450" b="1" i="1" spc="-25" dirty="0">
                <a:latin typeface="Times New Roman" panose="02020603050405020304"/>
                <a:cs typeface="Times New Roman" panose="02020603050405020304"/>
              </a:rPr>
              <a:t>free </a:t>
            </a:r>
            <a:r>
              <a:rPr sz="450" b="1" i="1" spc="-35" dirty="0">
                <a:latin typeface="Times New Roman" panose="02020603050405020304"/>
                <a:cs typeface="Times New Roman" panose="02020603050405020304"/>
              </a:rPr>
              <a:t>yaw  </a:t>
            </a:r>
            <a:r>
              <a:rPr sz="450" b="1" i="1" spc="-25" dirty="0">
                <a:latin typeface="Times New Roman" panose="02020603050405020304"/>
                <a:cs typeface="Times New Roman" panose="02020603050405020304"/>
              </a:rPr>
              <a:t>(active </a:t>
            </a:r>
            <a:r>
              <a:rPr sz="450" b="1" i="1" spc="-35" dirty="0">
                <a:latin typeface="Times New Roman" panose="02020603050405020304"/>
                <a:cs typeface="Times New Roman" panose="02020603050405020304"/>
              </a:rPr>
              <a:t>yaw </a:t>
            </a:r>
            <a:r>
              <a:rPr sz="450" b="1" i="1" spc="-25" dirty="0">
                <a:latin typeface="Times New Roman" panose="02020603050405020304"/>
                <a:cs typeface="Times New Roman" panose="02020603050405020304"/>
              </a:rPr>
              <a:t>for large</a:t>
            </a:r>
            <a:r>
              <a:rPr sz="450" b="1" i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50" b="1" i="1" spc="-25" dirty="0">
                <a:latin typeface="Times New Roman" panose="02020603050405020304"/>
                <a:cs typeface="Times New Roman" panose="02020603050405020304"/>
              </a:rPr>
              <a:t>turbines)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03171" y="305324"/>
            <a:ext cx="1309370" cy="723900"/>
            <a:chOff x="203171" y="305324"/>
            <a:chExt cx="1309370" cy="723900"/>
          </a:xfrm>
        </p:grpSpPr>
        <p:sp>
          <p:nvSpPr>
            <p:cNvPr id="24" name="object 24"/>
            <p:cNvSpPr/>
            <p:nvPr/>
          </p:nvSpPr>
          <p:spPr>
            <a:xfrm>
              <a:off x="1482740" y="472048"/>
              <a:ext cx="27305" cy="152400"/>
            </a:xfrm>
            <a:custGeom>
              <a:avLst/>
              <a:gdLst/>
              <a:ahLst/>
              <a:cxnLst/>
              <a:rect l="l" t="t" r="r" b="b"/>
              <a:pathLst>
                <a:path w="27305" h="152400">
                  <a:moveTo>
                    <a:pt x="13437" y="151991"/>
                  </a:moveTo>
                  <a:lnTo>
                    <a:pt x="13437" y="0"/>
                  </a:lnTo>
                </a:path>
                <a:path w="27305" h="152400">
                  <a:moveTo>
                    <a:pt x="26874" y="16783"/>
                  </a:moveTo>
                  <a:lnTo>
                    <a:pt x="13437" y="0"/>
                  </a:lnTo>
                  <a:lnTo>
                    <a:pt x="0" y="16783"/>
                  </a:lnTo>
                </a:path>
              </a:pathLst>
            </a:custGeom>
            <a:ln w="50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78894" y="474923"/>
              <a:ext cx="292100" cy="550545"/>
            </a:xfrm>
            <a:custGeom>
              <a:avLst/>
              <a:gdLst/>
              <a:ahLst/>
              <a:cxnLst/>
              <a:rect l="l" t="t" r="r" b="b"/>
              <a:pathLst>
                <a:path w="292100" h="550544">
                  <a:moveTo>
                    <a:pt x="291478" y="99985"/>
                  </a:moveTo>
                  <a:lnTo>
                    <a:pt x="187401" y="74989"/>
                  </a:lnTo>
                  <a:lnTo>
                    <a:pt x="187401" y="25019"/>
                  </a:lnTo>
                  <a:lnTo>
                    <a:pt x="291478" y="0"/>
                  </a:lnTo>
                  <a:lnTo>
                    <a:pt x="291478" y="99985"/>
                  </a:lnTo>
                  <a:close/>
                </a:path>
                <a:path w="292100" h="550544">
                  <a:moveTo>
                    <a:pt x="0" y="93171"/>
                  </a:moveTo>
                  <a:lnTo>
                    <a:pt x="0" y="549984"/>
                  </a:lnTo>
                </a:path>
              </a:pathLst>
            </a:custGeom>
            <a:ln w="8394">
              <a:solidFill>
                <a:srgbClr val="7005A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87260" y="305324"/>
              <a:ext cx="278742" cy="43483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11253" y="311284"/>
              <a:ext cx="15240" cy="425450"/>
            </a:xfrm>
            <a:custGeom>
              <a:avLst/>
              <a:gdLst/>
              <a:ahLst/>
              <a:cxnLst/>
              <a:rect l="l" t="t" r="r" b="b"/>
              <a:pathLst>
                <a:path w="15240" h="425450">
                  <a:moveTo>
                    <a:pt x="15222" y="0"/>
                  </a:moveTo>
                  <a:lnTo>
                    <a:pt x="15222" y="425087"/>
                  </a:lnTo>
                </a:path>
                <a:path w="15240" h="425450">
                  <a:moveTo>
                    <a:pt x="0" y="244478"/>
                  </a:moveTo>
                  <a:lnTo>
                    <a:pt x="1891" y="245411"/>
                  </a:lnTo>
                  <a:lnTo>
                    <a:pt x="6855" y="246421"/>
                  </a:lnTo>
                  <a:lnTo>
                    <a:pt x="11085" y="246724"/>
                  </a:lnTo>
                  <a:lnTo>
                    <a:pt x="12896" y="246856"/>
                  </a:lnTo>
                  <a:lnTo>
                    <a:pt x="14358" y="246840"/>
                  </a:lnTo>
                  <a:lnTo>
                    <a:pt x="15222" y="246677"/>
                  </a:lnTo>
                </a:path>
                <a:path w="15240" h="425450">
                  <a:moveTo>
                    <a:pt x="0" y="178401"/>
                  </a:moveTo>
                  <a:lnTo>
                    <a:pt x="1891" y="177469"/>
                  </a:lnTo>
                  <a:lnTo>
                    <a:pt x="6855" y="176459"/>
                  </a:lnTo>
                  <a:lnTo>
                    <a:pt x="11085" y="176148"/>
                  </a:lnTo>
                  <a:lnTo>
                    <a:pt x="12896" y="175993"/>
                  </a:lnTo>
                  <a:lnTo>
                    <a:pt x="14358" y="176070"/>
                  </a:lnTo>
                  <a:lnTo>
                    <a:pt x="15222" y="176226"/>
                  </a:lnTo>
                </a:path>
              </a:pathLst>
            </a:custGeom>
            <a:ln w="8394">
              <a:solidFill>
                <a:srgbClr val="7005A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06029" y="627342"/>
              <a:ext cx="130810" cy="0"/>
            </a:xfrm>
            <a:custGeom>
              <a:avLst/>
              <a:gdLst/>
              <a:ahLst/>
              <a:cxnLst/>
              <a:rect l="l" t="t" r="r" b="b"/>
              <a:pathLst>
                <a:path w="130810">
                  <a:moveTo>
                    <a:pt x="0" y="0"/>
                  </a:moveTo>
                  <a:lnTo>
                    <a:pt x="130354" y="0"/>
                  </a:lnTo>
                </a:path>
              </a:pathLst>
            </a:custGeom>
            <a:ln w="559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33696" y="610558"/>
              <a:ext cx="13970" cy="33655"/>
            </a:xfrm>
            <a:custGeom>
              <a:avLst/>
              <a:gdLst/>
              <a:ahLst/>
              <a:cxnLst/>
              <a:rect l="l" t="t" r="r" b="b"/>
              <a:pathLst>
                <a:path w="13970" h="33654">
                  <a:moveTo>
                    <a:pt x="0" y="0"/>
                  </a:moveTo>
                  <a:lnTo>
                    <a:pt x="0" y="33566"/>
                  </a:lnTo>
                  <a:lnTo>
                    <a:pt x="13437" y="167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06029" y="418124"/>
              <a:ext cx="130810" cy="0"/>
            </a:xfrm>
            <a:custGeom>
              <a:avLst/>
              <a:gdLst/>
              <a:ahLst/>
              <a:cxnLst/>
              <a:rect l="l" t="t" r="r" b="b"/>
              <a:pathLst>
                <a:path w="130810">
                  <a:moveTo>
                    <a:pt x="0" y="0"/>
                  </a:moveTo>
                  <a:lnTo>
                    <a:pt x="130354" y="0"/>
                  </a:lnTo>
                </a:path>
              </a:pathLst>
            </a:custGeom>
            <a:ln w="559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33696" y="401340"/>
              <a:ext cx="13970" cy="33655"/>
            </a:xfrm>
            <a:custGeom>
              <a:avLst/>
              <a:gdLst/>
              <a:ahLst/>
              <a:cxnLst/>
              <a:rect l="l" t="t" r="r" b="b"/>
              <a:pathLst>
                <a:path w="13970" h="33654">
                  <a:moveTo>
                    <a:pt x="0" y="0"/>
                  </a:moveTo>
                  <a:lnTo>
                    <a:pt x="0" y="33566"/>
                  </a:lnTo>
                  <a:lnTo>
                    <a:pt x="13437" y="167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620288" y="679212"/>
            <a:ext cx="212090" cy="1003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450" spc="-25" dirty="0">
                <a:latin typeface="Times New Roman" panose="02020603050405020304"/>
                <a:cs typeface="Times New Roman" panose="02020603050405020304"/>
              </a:rPr>
              <a:t>Tail</a:t>
            </a:r>
            <a:r>
              <a:rPr sz="45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50" spc="-30" dirty="0">
                <a:latin typeface="Times New Roman" panose="02020603050405020304"/>
                <a:cs typeface="Times New Roman" panose="02020603050405020304"/>
              </a:rPr>
              <a:t>vane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09971" y="305324"/>
            <a:ext cx="1642745" cy="723900"/>
            <a:chOff x="709971" y="305324"/>
            <a:chExt cx="1642745" cy="723900"/>
          </a:xfrm>
        </p:grpSpPr>
        <p:sp>
          <p:nvSpPr>
            <p:cNvPr id="34" name="object 34"/>
            <p:cNvSpPr/>
            <p:nvPr/>
          </p:nvSpPr>
          <p:spPr>
            <a:xfrm>
              <a:off x="712829" y="573347"/>
              <a:ext cx="27305" cy="121285"/>
            </a:xfrm>
            <a:custGeom>
              <a:avLst/>
              <a:gdLst/>
              <a:ahLst/>
              <a:cxnLst/>
              <a:rect l="l" t="t" r="r" b="b"/>
              <a:pathLst>
                <a:path w="27304" h="121284">
                  <a:moveTo>
                    <a:pt x="13437" y="121174"/>
                  </a:moveTo>
                  <a:lnTo>
                    <a:pt x="13437" y="0"/>
                  </a:lnTo>
                </a:path>
                <a:path w="27304" h="121284">
                  <a:moveTo>
                    <a:pt x="26874" y="16783"/>
                  </a:moveTo>
                  <a:lnTo>
                    <a:pt x="13437" y="0"/>
                  </a:lnTo>
                  <a:lnTo>
                    <a:pt x="0" y="16783"/>
                  </a:lnTo>
                </a:path>
              </a:pathLst>
            </a:custGeom>
            <a:ln w="50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260925" y="568095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6812"/>
                  </a:lnTo>
                </a:path>
              </a:pathLst>
            </a:custGeom>
            <a:ln w="7465">
              <a:solidFill>
                <a:srgbClr val="7005A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156325" y="305324"/>
              <a:ext cx="196205" cy="43483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313305" y="311284"/>
              <a:ext cx="15240" cy="425450"/>
            </a:xfrm>
            <a:custGeom>
              <a:avLst/>
              <a:gdLst/>
              <a:ahLst/>
              <a:cxnLst/>
              <a:rect l="l" t="t" r="r" b="b"/>
              <a:pathLst>
                <a:path w="15239" h="425450">
                  <a:moveTo>
                    <a:pt x="0" y="0"/>
                  </a:moveTo>
                  <a:lnTo>
                    <a:pt x="0" y="425087"/>
                  </a:lnTo>
                </a:path>
                <a:path w="15239" h="425450">
                  <a:moveTo>
                    <a:pt x="15241" y="244478"/>
                  </a:moveTo>
                  <a:lnTo>
                    <a:pt x="13375" y="245411"/>
                  </a:lnTo>
                  <a:lnTo>
                    <a:pt x="8398" y="246421"/>
                  </a:lnTo>
                  <a:lnTo>
                    <a:pt x="4168" y="246724"/>
                  </a:lnTo>
                  <a:lnTo>
                    <a:pt x="2363" y="246856"/>
                  </a:lnTo>
                  <a:lnTo>
                    <a:pt x="870" y="246840"/>
                  </a:lnTo>
                  <a:lnTo>
                    <a:pt x="0" y="246677"/>
                  </a:lnTo>
                </a:path>
                <a:path w="15239" h="425450">
                  <a:moveTo>
                    <a:pt x="15241" y="178401"/>
                  </a:moveTo>
                  <a:lnTo>
                    <a:pt x="13375" y="177469"/>
                  </a:lnTo>
                  <a:lnTo>
                    <a:pt x="8398" y="176459"/>
                  </a:lnTo>
                  <a:lnTo>
                    <a:pt x="4168" y="176148"/>
                  </a:lnTo>
                  <a:lnTo>
                    <a:pt x="2363" y="175993"/>
                  </a:lnTo>
                  <a:lnTo>
                    <a:pt x="870" y="176070"/>
                  </a:lnTo>
                  <a:lnTo>
                    <a:pt x="0" y="176226"/>
                  </a:lnTo>
                </a:path>
              </a:pathLst>
            </a:custGeom>
            <a:ln w="8394">
              <a:solidFill>
                <a:srgbClr val="7005A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1995910" y="627342"/>
              <a:ext cx="130810" cy="0"/>
            </a:xfrm>
            <a:custGeom>
              <a:avLst/>
              <a:gdLst/>
              <a:ahLst/>
              <a:cxnLst/>
              <a:rect l="l" t="t" r="r" b="b"/>
              <a:pathLst>
                <a:path w="130810">
                  <a:moveTo>
                    <a:pt x="0" y="0"/>
                  </a:moveTo>
                  <a:lnTo>
                    <a:pt x="130329" y="0"/>
                  </a:lnTo>
                </a:path>
              </a:pathLst>
            </a:custGeom>
            <a:ln w="559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2123565" y="610558"/>
              <a:ext cx="13970" cy="33655"/>
            </a:xfrm>
            <a:custGeom>
              <a:avLst/>
              <a:gdLst/>
              <a:ahLst/>
              <a:cxnLst/>
              <a:rect l="l" t="t" r="r" b="b"/>
              <a:pathLst>
                <a:path w="13969" h="33654">
                  <a:moveTo>
                    <a:pt x="0" y="0"/>
                  </a:moveTo>
                  <a:lnTo>
                    <a:pt x="0" y="33566"/>
                  </a:lnTo>
                  <a:lnTo>
                    <a:pt x="13437" y="167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995910" y="418124"/>
              <a:ext cx="130810" cy="0"/>
            </a:xfrm>
            <a:custGeom>
              <a:avLst/>
              <a:gdLst/>
              <a:ahLst/>
              <a:cxnLst/>
              <a:rect l="l" t="t" r="r" b="b"/>
              <a:pathLst>
                <a:path w="130810">
                  <a:moveTo>
                    <a:pt x="0" y="0"/>
                  </a:moveTo>
                  <a:lnTo>
                    <a:pt x="130329" y="0"/>
                  </a:lnTo>
                </a:path>
              </a:pathLst>
            </a:custGeom>
            <a:ln w="559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2123565" y="401340"/>
              <a:ext cx="13970" cy="33655"/>
            </a:xfrm>
            <a:custGeom>
              <a:avLst/>
              <a:gdLst/>
              <a:ahLst/>
              <a:cxnLst/>
              <a:rect l="l" t="t" r="r" b="b"/>
              <a:pathLst>
                <a:path w="13969" h="33654">
                  <a:moveTo>
                    <a:pt x="0" y="0"/>
                  </a:moveTo>
                  <a:lnTo>
                    <a:pt x="0" y="33566"/>
                  </a:lnTo>
                  <a:lnTo>
                    <a:pt x="13437" y="167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273429" y="707700"/>
              <a:ext cx="27305" cy="152400"/>
            </a:xfrm>
            <a:custGeom>
              <a:avLst/>
              <a:gdLst/>
              <a:ahLst/>
              <a:cxnLst/>
              <a:rect l="l" t="t" r="r" b="b"/>
              <a:pathLst>
                <a:path w="27305" h="152400">
                  <a:moveTo>
                    <a:pt x="13437" y="152014"/>
                  </a:moveTo>
                  <a:lnTo>
                    <a:pt x="13437" y="0"/>
                  </a:lnTo>
                </a:path>
                <a:path w="27305" h="152400">
                  <a:moveTo>
                    <a:pt x="26874" y="16783"/>
                  </a:moveTo>
                  <a:lnTo>
                    <a:pt x="13437" y="0"/>
                  </a:lnTo>
                  <a:lnTo>
                    <a:pt x="0" y="16783"/>
                  </a:lnTo>
                </a:path>
              </a:pathLst>
            </a:custGeom>
            <a:ln w="50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2259360" y="847551"/>
            <a:ext cx="281305" cy="1003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450" spc="-35" dirty="0">
                <a:latin typeface="Times New Roman" panose="02020603050405020304"/>
                <a:cs typeface="Times New Roman" panose="02020603050405020304"/>
              </a:rPr>
              <a:t>Shadow</a:t>
            </a:r>
            <a:r>
              <a:rPr sz="45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50" spc="-25" dirty="0">
                <a:latin typeface="Times New Roman" panose="02020603050405020304"/>
                <a:cs typeface="Times New Roman" panose="02020603050405020304"/>
              </a:rPr>
              <a:t>area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8927" y="1188950"/>
            <a:ext cx="2545080" cy="7658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817245">
              <a:lnSpc>
                <a:spcPct val="100000"/>
              </a:lnSpc>
              <a:spcBef>
                <a:spcPts val="140"/>
              </a:spcBef>
            </a:pPr>
            <a:r>
              <a:rPr sz="450" b="1" i="1" spc="-35" dirty="0">
                <a:latin typeface="Times New Roman" panose="02020603050405020304"/>
                <a:cs typeface="Times New Roman" panose="02020603050405020304"/>
              </a:rPr>
              <a:t>Yaw </a:t>
            </a:r>
            <a:r>
              <a:rPr sz="450" b="1" i="1" spc="-25" dirty="0">
                <a:latin typeface="Times New Roman" panose="02020603050405020304"/>
                <a:cs typeface="Times New Roman" panose="02020603050405020304"/>
              </a:rPr>
              <a:t>control in </a:t>
            </a:r>
            <a:r>
              <a:rPr sz="450" b="1" i="1" spc="-30" dirty="0">
                <a:latin typeface="Times New Roman" panose="02020603050405020304"/>
                <a:cs typeface="Times New Roman" panose="02020603050405020304"/>
              </a:rPr>
              <a:t>upwind </a:t>
            </a:r>
            <a:r>
              <a:rPr sz="450" b="1" i="1" spc="-35" dirty="0">
                <a:latin typeface="Times New Roman" panose="02020603050405020304"/>
                <a:cs typeface="Times New Roman" panose="02020603050405020304"/>
              </a:rPr>
              <a:t>and downwind</a:t>
            </a:r>
            <a:r>
              <a:rPr sz="450" b="1" i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50" b="1" i="1" spc="-30" dirty="0">
                <a:latin typeface="Times New Roman" panose="02020603050405020304"/>
                <a:cs typeface="Times New Roman" panose="02020603050405020304"/>
              </a:rPr>
              <a:t>machines</a:t>
            </a:r>
            <a:endParaRPr sz="4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 marL="96520" marR="7620" indent="-83820" algn="just">
              <a:lnSpc>
                <a:spcPct val="107000"/>
              </a:lnSpc>
              <a:buFont typeface="Wingdings" panose="05000000000000000000"/>
              <a:buChar char=""/>
              <a:tabLst>
                <a:tab pos="96520" algn="l"/>
              </a:tabLst>
            </a:pPr>
            <a:r>
              <a:rPr sz="550" i="1" spc="20" dirty="0">
                <a:latin typeface="Bookman Uralic"/>
                <a:cs typeface="Bookman Uralic"/>
              </a:rPr>
              <a:t>Upwind </a:t>
            </a:r>
            <a:r>
              <a:rPr sz="550" i="1" spc="15" dirty="0">
                <a:latin typeface="Bookman Uralic"/>
                <a:cs typeface="Bookman Uralic"/>
              </a:rPr>
              <a:t>machines </a:t>
            </a:r>
            <a:r>
              <a:rPr sz="550" i="1" spc="10" dirty="0">
                <a:latin typeface="Bookman Uralic"/>
                <a:cs typeface="Bookman Uralic"/>
              </a:rPr>
              <a:t>are </a:t>
            </a:r>
            <a:r>
              <a:rPr sz="550" i="1" spc="15" dirty="0">
                <a:latin typeface="Bookman Uralic"/>
                <a:cs typeface="Bookman Uralic"/>
              </a:rPr>
              <a:t>those machines </a:t>
            </a:r>
            <a:r>
              <a:rPr sz="550" i="1" spc="10" dirty="0">
                <a:latin typeface="Bookman Uralic"/>
                <a:cs typeface="Bookman Uralic"/>
              </a:rPr>
              <a:t>that </a:t>
            </a:r>
            <a:r>
              <a:rPr sz="550" i="1" spc="15" dirty="0">
                <a:latin typeface="Bookman Uralic"/>
                <a:cs typeface="Bookman Uralic"/>
              </a:rPr>
              <a:t>have </a:t>
            </a:r>
            <a:r>
              <a:rPr sz="550" i="1" spc="10" dirty="0">
                <a:latin typeface="Bookman Uralic"/>
                <a:cs typeface="Bookman Uralic"/>
              </a:rPr>
              <a:t>rotor </a:t>
            </a:r>
            <a:r>
              <a:rPr sz="550" i="1" spc="15" dirty="0">
                <a:latin typeface="Bookman Uralic"/>
                <a:cs typeface="Bookman Uralic"/>
              </a:rPr>
              <a:t>facing </a:t>
            </a:r>
            <a:r>
              <a:rPr sz="550" i="1" spc="10" dirty="0">
                <a:latin typeface="Bookman Uralic"/>
                <a:cs typeface="Bookman Uralic"/>
              </a:rPr>
              <a:t>the  </a:t>
            </a:r>
            <a:r>
              <a:rPr sz="550" i="1" spc="15" dirty="0">
                <a:latin typeface="Bookman Uralic"/>
                <a:cs typeface="Bookman Uralic"/>
              </a:rPr>
              <a:t>wind. </a:t>
            </a:r>
            <a:r>
              <a:rPr sz="550" i="1" spc="5" dirty="0">
                <a:latin typeface="Bookman Uralic"/>
                <a:cs typeface="Bookman Uralic"/>
              </a:rPr>
              <a:t>In </a:t>
            </a:r>
            <a:r>
              <a:rPr sz="550" i="1" spc="15" dirty="0">
                <a:latin typeface="Bookman Uralic"/>
                <a:cs typeface="Bookman Uralic"/>
              </a:rPr>
              <a:t>these machines </a:t>
            </a:r>
            <a:r>
              <a:rPr sz="550" i="1" spc="10" dirty="0">
                <a:latin typeface="Bookman Uralic"/>
                <a:cs typeface="Bookman Uralic"/>
              </a:rPr>
              <a:t>the </a:t>
            </a:r>
            <a:r>
              <a:rPr sz="550" i="1" spc="15" dirty="0">
                <a:latin typeface="Bookman Uralic"/>
                <a:cs typeface="Bookman Uralic"/>
              </a:rPr>
              <a:t>wind </a:t>
            </a:r>
            <a:r>
              <a:rPr sz="550" i="1" spc="10" dirty="0">
                <a:latin typeface="Bookman Uralic"/>
                <a:cs typeface="Bookman Uralic"/>
              </a:rPr>
              <a:t>meets the rotor </a:t>
            </a:r>
            <a:r>
              <a:rPr sz="550" i="1" spc="15" dirty="0">
                <a:latin typeface="Bookman Uralic"/>
                <a:cs typeface="Bookman Uralic"/>
              </a:rPr>
              <a:t>first and </a:t>
            </a:r>
            <a:r>
              <a:rPr sz="550" i="1" spc="10" dirty="0">
                <a:latin typeface="Bookman Uralic"/>
                <a:cs typeface="Bookman Uralic"/>
              </a:rPr>
              <a:t>then  leaves </a:t>
            </a:r>
            <a:r>
              <a:rPr sz="550" i="1" spc="20" dirty="0">
                <a:latin typeface="Bookman Uralic"/>
                <a:cs typeface="Bookman Uralic"/>
              </a:rPr>
              <a:t>from </a:t>
            </a:r>
            <a:r>
              <a:rPr sz="550" i="1" spc="10" dirty="0">
                <a:latin typeface="Bookman Uralic"/>
                <a:cs typeface="Bookman Uralic"/>
              </a:rPr>
              <a:t>the direction in which the </a:t>
            </a:r>
            <a:r>
              <a:rPr sz="550" b="1" i="1" spc="15" dirty="0">
                <a:latin typeface="TeX Gyre Bonum"/>
                <a:cs typeface="TeX Gyre Bonum"/>
              </a:rPr>
              <a:t>nacelle </a:t>
            </a:r>
            <a:r>
              <a:rPr sz="550" i="1" spc="10" dirty="0">
                <a:latin typeface="Bookman Uralic"/>
                <a:cs typeface="Bookman Uralic"/>
              </a:rPr>
              <a:t>is</a:t>
            </a:r>
            <a:r>
              <a:rPr sz="550" i="1" spc="65" dirty="0">
                <a:latin typeface="Bookman Uralic"/>
                <a:cs typeface="Bookman Uralic"/>
              </a:rPr>
              <a:t> </a:t>
            </a:r>
            <a:r>
              <a:rPr sz="550" i="1" spc="10" dirty="0">
                <a:latin typeface="Bookman Uralic"/>
                <a:cs typeface="Bookman Uralic"/>
              </a:rPr>
              <a:t>located.</a:t>
            </a:r>
            <a:endParaRPr sz="550">
              <a:latin typeface="Bookman Uralic"/>
              <a:cs typeface="Bookman Uralic"/>
            </a:endParaRPr>
          </a:p>
          <a:p>
            <a:pPr marL="96520" marR="5080" indent="-83820" algn="just">
              <a:lnSpc>
                <a:spcPct val="106000"/>
              </a:lnSpc>
              <a:spcBef>
                <a:spcPts val="175"/>
              </a:spcBef>
              <a:buFont typeface="Wingdings" panose="05000000000000000000"/>
              <a:buChar char=""/>
              <a:tabLst>
                <a:tab pos="96520" algn="l"/>
              </a:tabLst>
            </a:pPr>
            <a:r>
              <a:rPr sz="550" i="1" spc="10" dirty="0">
                <a:latin typeface="Bookman Uralic"/>
                <a:cs typeface="Bookman Uralic"/>
              </a:rPr>
              <a:t>In </a:t>
            </a:r>
            <a:r>
              <a:rPr sz="550" i="1" spc="20" dirty="0">
                <a:latin typeface="Bookman Uralic"/>
                <a:cs typeface="Bookman Uralic"/>
              </a:rPr>
              <a:t>a downwind </a:t>
            </a:r>
            <a:r>
              <a:rPr sz="550" i="1" spc="15" dirty="0">
                <a:latin typeface="Bookman Uralic"/>
                <a:cs typeface="Bookman Uralic"/>
              </a:rPr>
              <a:t>machine, </a:t>
            </a:r>
            <a:r>
              <a:rPr sz="550" i="1" spc="10" dirty="0">
                <a:latin typeface="Bookman Uralic"/>
                <a:cs typeface="Bookman Uralic"/>
              </a:rPr>
              <a:t>the rotor is </a:t>
            </a:r>
            <a:r>
              <a:rPr sz="550" i="1" spc="15" dirty="0">
                <a:latin typeface="Bookman Uralic"/>
                <a:cs typeface="Bookman Uralic"/>
              </a:rPr>
              <a:t>located </a:t>
            </a:r>
            <a:r>
              <a:rPr sz="550" i="1" spc="20" dirty="0">
                <a:latin typeface="Bookman Uralic"/>
                <a:cs typeface="Bookman Uralic"/>
              </a:rPr>
              <a:t>downwind </a:t>
            </a:r>
            <a:r>
              <a:rPr sz="550" i="1" spc="5" dirty="0">
                <a:latin typeface="Bookman Uralic"/>
                <a:cs typeface="Bookman Uralic"/>
              </a:rPr>
              <a:t>of </a:t>
            </a:r>
            <a:r>
              <a:rPr sz="550" i="1" spc="10" dirty="0">
                <a:latin typeface="Bookman Uralic"/>
                <a:cs typeface="Bookman Uralic"/>
              </a:rPr>
              <a:t>(behind)  the tower as </a:t>
            </a:r>
            <a:r>
              <a:rPr sz="550" i="1" spc="15" dirty="0">
                <a:latin typeface="Bookman Uralic"/>
                <a:cs typeface="Bookman Uralic"/>
              </a:rPr>
              <a:t>shown </a:t>
            </a:r>
            <a:r>
              <a:rPr sz="550" i="1" spc="10" dirty="0">
                <a:latin typeface="Bookman Uralic"/>
                <a:cs typeface="Bookman Uralic"/>
              </a:rPr>
              <a:t>in the </a:t>
            </a:r>
            <a:r>
              <a:rPr sz="550" i="1" spc="15" dirty="0">
                <a:latin typeface="Bookman Uralic"/>
                <a:cs typeface="Bookman Uralic"/>
              </a:rPr>
              <a:t>figure. This </a:t>
            </a:r>
            <a:r>
              <a:rPr sz="550" i="1" spc="20" dirty="0">
                <a:latin typeface="Bookman Uralic"/>
                <a:cs typeface="Bookman Uralic"/>
              </a:rPr>
              <a:t>means </a:t>
            </a:r>
            <a:r>
              <a:rPr sz="550" i="1" spc="10" dirty="0">
                <a:latin typeface="Bookman Uralic"/>
                <a:cs typeface="Bookman Uralic"/>
              </a:rPr>
              <a:t>the </a:t>
            </a:r>
            <a:r>
              <a:rPr sz="550" i="1" spc="15" dirty="0">
                <a:latin typeface="Bookman Uralic"/>
                <a:cs typeface="Bookman Uralic"/>
              </a:rPr>
              <a:t>nacelle comes </a:t>
            </a:r>
            <a:r>
              <a:rPr sz="550" i="1" spc="10" dirty="0">
                <a:latin typeface="Bookman Uralic"/>
                <a:cs typeface="Bookman Uralic"/>
              </a:rPr>
              <a:t>first  in the </a:t>
            </a:r>
            <a:r>
              <a:rPr sz="550" i="1" spc="5" dirty="0">
                <a:latin typeface="Bookman Uralic"/>
                <a:cs typeface="Bookman Uralic"/>
              </a:rPr>
              <a:t>path </a:t>
            </a:r>
            <a:r>
              <a:rPr sz="550" i="1" spc="10" dirty="0">
                <a:latin typeface="Bookman Uralic"/>
                <a:cs typeface="Bookman Uralic"/>
              </a:rPr>
              <a:t>of the wind </a:t>
            </a:r>
            <a:r>
              <a:rPr sz="550" i="1" spc="15" dirty="0">
                <a:latin typeface="Bookman Uralic"/>
                <a:cs typeface="Bookman Uralic"/>
              </a:rPr>
              <a:t>and </a:t>
            </a:r>
            <a:r>
              <a:rPr sz="550" i="1" spc="10" dirty="0">
                <a:latin typeface="Bookman Uralic"/>
                <a:cs typeface="Bookman Uralic"/>
              </a:rPr>
              <a:t>then the</a:t>
            </a:r>
            <a:r>
              <a:rPr sz="550" i="1" spc="155" dirty="0">
                <a:latin typeface="Bookman Uralic"/>
                <a:cs typeface="Bookman Uralic"/>
              </a:rPr>
              <a:t> </a:t>
            </a:r>
            <a:r>
              <a:rPr sz="550" i="1" spc="10" dirty="0">
                <a:latin typeface="Bookman Uralic"/>
                <a:cs typeface="Bookman Uralic"/>
              </a:rPr>
              <a:t>blades.</a:t>
            </a:r>
            <a:endParaRPr sz="550">
              <a:latin typeface="Bookman Uralic"/>
              <a:cs typeface="Bookman Uralic"/>
            </a:endParaRPr>
          </a:p>
          <a:p>
            <a:pPr marR="74930" algn="r">
              <a:lnSpc>
                <a:spcPts val="265"/>
              </a:lnSpc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49</a:t>
            </a:r>
            <a:endParaRPr sz="350">
              <a:latin typeface="Carlito"/>
              <a:cs typeface="Carlito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0" y="0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Vertical </a:t>
            </a:r>
            <a:r>
              <a:rPr dirty="0"/>
              <a:t>axis wind</a:t>
            </a:r>
            <a:r>
              <a:rPr spc="-35" dirty="0"/>
              <a:t> </a:t>
            </a:r>
            <a:r>
              <a:rPr spc="-5" dirty="0"/>
              <a:t>turbines</a:t>
            </a:r>
            <a:endParaRPr spc="-5" dirty="0"/>
          </a:p>
          <a:p>
            <a:pPr algn="ctr">
              <a:lnSpc>
                <a:spcPct val="100000"/>
              </a:lnSpc>
            </a:pPr>
            <a:r>
              <a:rPr spc="-5" dirty="0"/>
              <a:t>(VAWT)</a:t>
            </a:r>
            <a:endParaRPr spc="-5" dirty="0"/>
          </a:p>
        </p:txBody>
      </p:sp>
      <p:grpSp>
        <p:nvGrpSpPr>
          <p:cNvPr id="3" name="object 3"/>
          <p:cNvGrpSpPr/>
          <p:nvPr/>
        </p:nvGrpSpPr>
        <p:grpSpPr>
          <a:xfrm>
            <a:off x="344173" y="556948"/>
            <a:ext cx="2019300" cy="853440"/>
            <a:chOff x="344173" y="556948"/>
            <a:chExt cx="2019300" cy="853440"/>
          </a:xfrm>
        </p:grpSpPr>
        <p:sp>
          <p:nvSpPr>
            <p:cNvPr id="4" name="object 4"/>
            <p:cNvSpPr/>
            <p:nvPr/>
          </p:nvSpPr>
          <p:spPr>
            <a:xfrm>
              <a:off x="560255" y="591168"/>
              <a:ext cx="333375" cy="800100"/>
            </a:xfrm>
            <a:custGeom>
              <a:avLst/>
              <a:gdLst/>
              <a:ahLst/>
              <a:cxnLst/>
              <a:rect l="l" t="t" r="r" b="b"/>
              <a:pathLst>
                <a:path w="333375" h="800100">
                  <a:moveTo>
                    <a:pt x="204057" y="0"/>
                  </a:moveTo>
                  <a:lnTo>
                    <a:pt x="240093" y="8541"/>
                  </a:lnTo>
                  <a:lnTo>
                    <a:pt x="280072" y="26044"/>
                  </a:lnTo>
                  <a:lnTo>
                    <a:pt x="314341" y="48810"/>
                  </a:lnTo>
                  <a:lnTo>
                    <a:pt x="333247" y="73141"/>
                  </a:lnTo>
                  <a:lnTo>
                    <a:pt x="327957" y="98409"/>
                  </a:lnTo>
                  <a:lnTo>
                    <a:pt x="299321" y="121149"/>
                  </a:lnTo>
                  <a:lnTo>
                    <a:pt x="254868" y="141479"/>
                  </a:lnTo>
                  <a:lnTo>
                    <a:pt x="202131" y="159513"/>
                  </a:lnTo>
                  <a:lnTo>
                    <a:pt x="157091" y="172948"/>
                  </a:lnTo>
                  <a:lnTo>
                    <a:pt x="113424" y="186029"/>
                  </a:lnTo>
                  <a:lnTo>
                    <a:pt x="73019" y="199933"/>
                  </a:lnTo>
                  <a:lnTo>
                    <a:pt x="37761" y="215837"/>
                  </a:lnTo>
                  <a:lnTo>
                    <a:pt x="2525" y="245051"/>
                  </a:lnTo>
                  <a:lnTo>
                    <a:pt x="0" y="255654"/>
                  </a:lnTo>
                  <a:lnTo>
                    <a:pt x="15808" y="279879"/>
                  </a:lnTo>
                  <a:lnTo>
                    <a:pt x="50818" y="302244"/>
                  </a:lnTo>
                  <a:lnTo>
                    <a:pt x="90346" y="320106"/>
                  </a:lnTo>
                  <a:lnTo>
                    <a:pt x="119711" y="330823"/>
                  </a:lnTo>
                </a:path>
                <a:path w="333375" h="800100">
                  <a:moveTo>
                    <a:pt x="28" y="256087"/>
                  </a:moveTo>
                  <a:lnTo>
                    <a:pt x="28" y="722435"/>
                  </a:lnTo>
                </a:path>
                <a:path w="333375" h="800100">
                  <a:moveTo>
                    <a:pt x="119711" y="333302"/>
                  </a:moveTo>
                  <a:lnTo>
                    <a:pt x="119711" y="799663"/>
                  </a:lnTo>
                </a:path>
              </a:pathLst>
            </a:custGeom>
            <a:ln w="803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45126" y="590055"/>
              <a:ext cx="756920" cy="332105"/>
            </a:xfrm>
            <a:custGeom>
              <a:avLst/>
              <a:gdLst/>
              <a:ahLst/>
              <a:cxnLst/>
              <a:rect l="l" t="t" r="r" b="b"/>
              <a:pathLst>
                <a:path w="756919" h="332105">
                  <a:moveTo>
                    <a:pt x="756567" y="166005"/>
                  </a:moveTo>
                  <a:lnTo>
                    <a:pt x="737283" y="113532"/>
                  </a:lnTo>
                  <a:lnTo>
                    <a:pt x="683585" y="67961"/>
                  </a:lnTo>
                  <a:lnTo>
                    <a:pt x="645778" y="48619"/>
                  </a:lnTo>
                  <a:lnTo>
                    <a:pt x="601702" y="32027"/>
                  </a:lnTo>
                  <a:lnTo>
                    <a:pt x="552137" y="18527"/>
                  </a:lnTo>
                  <a:lnTo>
                    <a:pt x="497862" y="8462"/>
                  </a:lnTo>
                  <a:lnTo>
                    <a:pt x="439655" y="2172"/>
                  </a:lnTo>
                  <a:lnTo>
                    <a:pt x="378294" y="0"/>
                  </a:lnTo>
                  <a:lnTo>
                    <a:pt x="316933" y="2172"/>
                  </a:lnTo>
                  <a:lnTo>
                    <a:pt x="258724" y="8462"/>
                  </a:lnTo>
                  <a:lnTo>
                    <a:pt x="204446" y="18527"/>
                  </a:lnTo>
                  <a:lnTo>
                    <a:pt x="154878" y="32027"/>
                  </a:lnTo>
                  <a:lnTo>
                    <a:pt x="110799" y="48619"/>
                  </a:lnTo>
                  <a:lnTo>
                    <a:pt x="72988" y="67961"/>
                  </a:lnTo>
                  <a:lnTo>
                    <a:pt x="19285" y="113532"/>
                  </a:lnTo>
                  <a:lnTo>
                    <a:pt x="0" y="166005"/>
                  </a:lnTo>
                  <a:lnTo>
                    <a:pt x="4951" y="192916"/>
                  </a:lnTo>
                  <a:lnTo>
                    <a:pt x="42224" y="242254"/>
                  </a:lnTo>
                  <a:lnTo>
                    <a:pt x="110799" y="283331"/>
                  </a:lnTo>
                  <a:lnTo>
                    <a:pt x="154878" y="299917"/>
                  </a:lnTo>
                  <a:lnTo>
                    <a:pt x="204446" y="313412"/>
                  </a:lnTo>
                  <a:lnTo>
                    <a:pt x="258724" y="323475"/>
                  </a:lnTo>
                  <a:lnTo>
                    <a:pt x="316933" y="329764"/>
                  </a:lnTo>
                  <a:lnTo>
                    <a:pt x="378294" y="331936"/>
                  </a:lnTo>
                  <a:lnTo>
                    <a:pt x="439655" y="329764"/>
                  </a:lnTo>
                  <a:lnTo>
                    <a:pt x="497862" y="323475"/>
                  </a:lnTo>
                  <a:lnTo>
                    <a:pt x="552137" y="313412"/>
                  </a:lnTo>
                  <a:lnTo>
                    <a:pt x="601702" y="299917"/>
                  </a:lnTo>
                  <a:lnTo>
                    <a:pt x="645778" y="283331"/>
                  </a:lnTo>
                  <a:lnTo>
                    <a:pt x="683585" y="263996"/>
                  </a:lnTo>
                  <a:lnTo>
                    <a:pt x="737283" y="218447"/>
                  </a:lnTo>
                  <a:lnTo>
                    <a:pt x="756567" y="16600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94217" y="1139153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h="3809">
                  <a:moveTo>
                    <a:pt x="-2596" y="1715"/>
                  </a:moveTo>
                  <a:lnTo>
                    <a:pt x="2596" y="1715"/>
                  </a:lnTo>
                </a:path>
              </a:pathLst>
            </a:custGeom>
            <a:ln w="34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60537" y="1139153"/>
              <a:ext cx="334010" cy="252095"/>
            </a:xfrm>
            <a:custGeom>
              <a:avLst/>
              <a:gdLst/>
              <a:ahLst/>
              <a:cxnLst/>
              <a:rect l="l" t="t" r="r" b="b"/>
              <a:pathLst>
                <a:path w="334009" h="252094">
                  <a:moveTo>
                    <a:pt x="333680" y="0"/>
                  </a:moveTo>
                  <a:lnTo>
                    <a:pt x="333737" y="1149"/>
                  </a:lnTo>
                  <a:lnTo>
                    <a:pt x="333737" y="2293"/>
                  </a:lnTo>
                  <a:lnTo>
                    <a:pt x="333680" y="3431"/>
                  </a:lnTo>
                </a:path>
                <a:path w="334009" h="252094">
                  <a:moveTo>
                    <a:pt x="151320" y="95398"/>
                  </a:moveTo>
                  <a:lnTo>
                    <a:pt x="90055" y="114536"/>
                  </a:lnTo>
                  <a:lnTo>
                    <a:pt x="37711" y="136730"/>
                  </a:lnTo>
                  <a:lnTo>
                    <a:pt x="2525" y="165988"/>
                  </a:lnTo>
                  <a:lnTo>
                    <a:pt x="0" y="176596"/>
                  </a:lnTo>
                  <a:lnTo>
                    <a:pt x="15760" y="200796"/>
                  </a:lnTo>
                  <a:lnTo>
                    <a:pt x="50688" y="223135"/>
                  </a:lnTo>
                  <a:lnTo>
                    <a:pt x="90129" y="240975"/>
                  </a:lnTo>
                  <a:lnTo>
                    <a:pt x="119430" y="251678"/>
                  </a:lnTo>
                </a:path>
              </a:pathLst>
            </a:custGeom>
            <a:ln w="48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95303" y="1219936"/>
              <a:ext cx="56515" cy="15240"/>
            </a:xfrm>
            <a:custGeom>
              <a:avLst/>
              <a:gdLst/>
              <a:ahLst/>
              <a:cxnLst/>
              <a:rect l="l" t="t" r="r" b="b"/>
              <a:pathLst>
                <a:path w="56515" h="15240">
                  <a:moveTo>
                    <a:pt x="56227" y="2831"/>
                  </a:moveTo>
                  <a:lnTo>
                    <a:pt x="56198" y="1891"/>
                  </a:lnTo>
                  <a:lnTo>
                    <a:pt x="56004" y="939"/>
                  </a:lnTo>
                  <a:lnTo>
                    <a:pt x="55657" y="0"/>
                  </a:lnTo>
                </a:path>
                <a:path w="56515" h="15240">
                  <a:moveTo>
                    <a:pt x="360" y="4729"/>
                  </a:moveTo>
                  <a:lnTo>
                    <a:pt x="2423" y="8414"/>
                  </a:lnTo>
                  <a:lnTo>
                    <a:pt x="8511" y="12130"/>
                  </a:lnTo>
                  <a:lnTo>
                    <a:pt x="16554" y="14615"/>
                  </a:lnTo>
                </a:path>
                <a:path w="56515" h="15240">
                  <a:moveTo>
                    <a:pt x="0" y="2633"/>
                  </a:moveTo>
                  <a:lnTo>
                    <a:pt x="36" y="3332"/>
                  </a:lnTo>
                  <a:lnTo>
                    <a:pt x="151" y="4031"/>
                  </a:lnTo>
                  <a:lnTo>
                    <a:pt x="360" y="4729"/>
                  </a:lnTo>
                </a:path>
              </a:pathLst>
            </a:custGeom>
            <a:ln w="4822">
              <a:solidFill>
                <a:srgbClr val="7005A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95303" y="758102"/>
              <a:ext cx="0" cy="466725"/>
            </a:xfrm>
            <a:custGeom>
              <a:avLst/>
              <a:gdLst/>
              <a:ahLst/>
              <a:cxnLst/>
              <a:rect l="l" t="t" r="r" b="b"/>
              <a:pathLst>
                <a:path h="466725">
                  <a:moveTo>
                    <a:pt x="0" y="0"/>
                  </a:moveTo>
                  <a:lnTo>
                    <a:pt x="0" y="466656"/>
                  </a:lnTo>
                </a:path>
              </a:pathLst>
            </a:custGeom>
            <a:ln w="5193">
              <a:solidFill>
                <a:srgbClr val="7005A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95303" y="746848"/>
              <a:ext cx="56515" cy="26034"/>
            </a:xfrm>
            <a:custGeom>
              <a:avLst/>
              <a:gdLst/>
              <a:ahLst/>
              <a:cxnLst/>
              <a:rect l="l" t="t" r="r" b="b"/>
              <a:pathLst>
                <a:path w="56515" h="26034">
                  <a:moveTo>
                    <a:pt x="31767" y="0"/>
                  </a:moveTo>
                  <a:lnTo>
                    <a:pt x="0" y="13045"/>
                  </a:lnTo>
                  <a:lnTo>
                    <a:pt x="1844" y="17717"/>
                  </a:lnTo>
                  <a:lnTo>
                    <a:pt x="6948" y="21670"/>
                  </a:lnTo>
                  <a:lnTo>
                    <a:pt x="14667" y="24556"/>
                  </a:lnTo>
                  <a:lnTo>
                    <a:pt x="24359" y="26029"/>
                  </a:lnTo>
                  <a:lnTo>
                    <a:pt x="35499" y="25696"/>
                  </a:lnTo>
                  <a:lnTo>
                    <a:pt x="45161" y="23463"/>
                  </a:lnTo>
                  <a:lnTo>
                    <a:pt x="52328" y="19699"/>
                  </a:lnTo>
                  <a:lnTo>
                    <a:pt x="55982" y="14776"/>
                  </a:lnTo>
                  <a:lnTo>
                    <a:pt x="56314" y="13601"/>
                  </a:lnTo>
                  <a:lnTo>
                    <a:pt x="56314" y="12427"/>
                  </a:lnTo>
                  <a:lnTo>
                    <a:pt x="317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95303" y="746848"/>
              <a:ext cx="56515" cy="26034"/>
            </a:xfrm>
            <a:custGeom>
              <a:avLst/>
              <a:gdLst/>
              <a:ahLst/>
              <a:cxnLst/>
              <a:rect l="l" t="t" r="r" b="b"/>
              <a:pathLst>
                <a:path w="56515" h="26034">
                  <a:moveTo>
                    <a:pt x="0" y="13045"/>
                  </a:moveTo>
                  <a:lnTo>
                    <a:pt x="0" y="12427"/>
                  </a:lnTo>
                  <a:lnTo>
                    <a:pt x="79" y="11870"/>
                  </a:lnTo>
                  <a:lnTo>
                    <a:pt x="31767" y="0"/>
                  </a:lnTo>
                  <a:lnTo>
                    <a:pt x="40624" y="1245"/>
                  </a:lnTo>
                  <a:lnTo>
                    <a:pt x="47959" y="3701"/>
                  </a:lnTo>
                  <a:lnTo>
                    <a:pt x="53251" y="7120"/>
                  </a:lnTo>
                  <a:lnTo>
                    <a:pt x="55982" y="11252"/>
                  </a:lnTo>
                  <a:lnTo>
                    <a:pt x="56314" y="12427"/>
                  </a:lnTo>
                  <a:lnTo>
                    <a:pt x="56314" y="13601"/>
                  </a:lnTo>
                  <a:lnTo>
                    <a:pt x="24359" y="26029"/>
                  </a:lnTo>
                  <a:lnTo>
                    <a:pt x="14667" y="24556"/>
                  </a:lnTo>
                  <a:lnTo>
                    <a:pt x="6948" y="21670"/>
                  </a:lnTo>
                  <a:lnTo>
                    <a:pt x="1844" y="17717"/>
                  </a:lnTo>
                  <a:lnTo>
                    <a:pt x="0" y="13045"/>
                  </a:lnTo>
                  <a:close/>
                </a:path>
              </a:pathLst>
            </a:custGeom>
            <a:ln w="4582">
              <a:solidFill>
                <a:srgbClr val="7005A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64312" y="591168"/>
              <a:ext cx="0" cy="158750"/>
            </a:xfrm>
            <a:custGeom>
              <a:avLst/>
              <a:gdLst/>
              <a:ahLst/>
              <a:cxnLst/>
              <a:rect l="l" t="t" r="r" b="b"/>
              <a:pathLst>
                <a:path h="158750">
                  <a:moveTo>
                    <a:pt x="0" y="0"/>
                  </a:moveTo>
                  <a:lnTo>
                    <a:pt x="0" y="158276"/>
                  </a:lnTo>
                </a:path>
              </a:pathLst>
            </a:custGeom>
            <a:ln w="865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23420" y="698438"/>
              <a:ext cx="0" cy="538480"/>
            </a:xfrm>
            <a:custGeom>
              <a:avLst/>
              <a:gdLst/>
              <a:ahLst/>
              <a:cxnLst/>
              <a:rect l="l" t="t" r="r" b="b"/>
              <a:pathLst>
                <a:path h="538480">
                  <a:moveTo>
                    <a:pt x="0" y="0"/>
                  </a:moveTo>
                  <a:lnTo>
                    <a:pt x="0" y="538289"/>
                  </a:lnTo>
                </a:path>
              </a:pathLst>
            </a:custGeom>
            <a:ln w="31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76106" y="708145"/>
              <a:ext cx="95250" cy="25400"/>
            </a:xfrm>
            <a:custGeom>
              <a:avLst/>
              <a:gdLst/>
              <a:ahLst/>
              <a:cxnLst/>
              <a:rect l="l" t="t" r="r" b="b"/>
              <a:pathLst>
                <a:path w="95250" h="25400">
                  <a:moveTo>
                    <a:pt x="18453" y="1545"/>
                  </a:moveTo>
                  <a:lnTo>
                    <a:pt x="5911" y="5467"/>
                  </a:lnTo>
                  <a:lnTo>
                    <a:pt x="0" y="10247"/>
                  </a:lnTo>
                  <a:lnTo>
                    <a:pt x="1016" y="15282"/>
                  </a:lnTo>
                  <a:lnTo>
                    <a:pt x="9256" y="19970"/>
                  </a:lnTo>
                  <a:lnTo>
                    <a:pt x="23481" y="23435"/>
                  </a:lnTo>
                  <a:lnTo>
                    <a:pt x="40810" y="25063"/>
                  </a:lnTo>
                  <a:lnTo>
                    <a:pt x="59089" y="24778"/>
                  </a:lnTo>
                  <a:lnTo>
                    <a:pt x="76167" y="22505"/>
                  </a:lnTo>
                  <a:lnTo>
                    <a:pt x="88713" y="18591"/>
                  </a:lnTo>
                  <a:lnTo>
                    <a:pt x="94625" y="13826"/>
                  </a:lnTo>
                  <a:lnTo>
                    <a:pt x="93608" y="8793"/>
                  </a:lnTo>
                  <a:lnTo>
                    <a:pt x="85364" y="4080"/>
                  </a:lnTo>
                  <a:lnTo>
                    <a:pt x="80480" y="2287"/>
                  </a:lnTo>
                  <a:lnTo>
                    <a:pt x="74039" y="927"/>
                  </a:lnTo>
                  <a:lnTo>
                    <a:pt x="6664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89929" y="699860"/>
              <a:ext cx="14604" cy="20955"/>
            </a:xfrm>
            <a:custGeom>
              <a:avLst/>
              <a:gdLst/>
              <a:ahLst/>
              <a:cxnLst/>
              <a:rect l="l" t="t" r="r" b="b"/>
              <a:pathLst>
                <a:path w="14604" h="20954">
                  <a:moveTo>
                    <a:pt x="0" y="0"/>
                  </a:moveTo>
                  <a:lnTo>
                    <a:pt x="4508" y="20464"/>
                  </a:lnTo>
                  <a:lnTo>
                    <a:pt x="14159" y="82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894217" y="1135709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h="3809">
                  <a:moveTo>
                    <a:pt x="-2596" y="1721"/>
                  </a:moveTo>
                  <a:lnTo>
                    <a:pt x="2596" y="1721"/>
                  </a:lnTo>
                </a:path>
              </a:pathLst>
            </a:custGeom>
            <a:ln w="34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894217" y="678468"/>
              <a:ext cx="0" cy="464184"/>
            </a:xfrm>
            <a:custGeom>
              <a:avLst/>
              <a:gdLst/>
              <a:ahLst/>
              <a:cxnLst/>
              <a:rect l="l" t="t" r="r" b="b"/>
              <a:pathLst>
                <a:path h="464184">
                  <a:moveTo>
                    <a:pt x="0" y="0"/>
                  </a:moveTo>
                  <a:lnTo>
                    <a:pt x="0" y="464116"/>
                  </a:lnTo>
                </a:path>
              </a:pathLst>
            </a:custGeom>
            <a:ln w="865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751285" y="758101"/>
              <a:ext cx="0" cy="462280"/>
            </a:xfrm>
            <a:custGeom>
              <a:avLst/>
              <a:gdLst/>
              <a:ahLst/>
              <a:cxnLst/>
              <a:rect l="l" t="t" r="r" b="b"/>
              <a:pathLst>
                <a:path h="462280">
                  <a:moveTo>
                    <a:pt x="0" y="0"/>
                  </a:moveTo>
                  <a:lnTo>
                    <a:pt x="0" y="461729"/>
                  </a:lnTo>
                </a:path>
              </a:pathLst>
            </a:custGeom>
            <a:ln w="5193">
              <a:solidFill>
                <a:srgbClr val="7005A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56180" y="1131791"/>
              <a:ext cx="341954" cy="263115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059404" y="684494"/>
              <a:ext cx="300990" cy="620395"/>
            </a:xfrm>
            <a:custGeom>
              <a:avLst/>
              <a:gdLst/>
              <a:ahLst/>
              <a:cxnLst/>
              <a:rect l="l" t="t" r="r" b="b"/>
              <a:pathLst>
                <a:path w="300989" h="620394">
                  <a:moveTo>
                    <a:pt x="8675" y="0"/>
                  </a:moveTo>
                  <a:lnTo>
                    <a:pt x="53572" y="23859"/>
                  </a:lnTo>
                  <a:lnTo>
                    <a:pt x="95043" y="51021"/>
                  </a:lnTo>
                  <a:lnTo>
                    <a:pt x="132744" y="81269"/>
                  </a:lnTo>
                  <a:lnTo>
                    <a:pt x="166336" y="114384"/>
                  </a:lnTo>
                  <a:lnTo>
                    <a:pt x="195474" y="150148"/>
                  </a:lnTo>
                  <a:lnTo>
                    <a:pt x="219818" y="188343"/>
                  </a:lnTo>
                  <a:lnTo>
                    <a:pt x="239025" y="228752"/>
                  </a:lnTo>
                  <a:lnTo>
                    <a:pt x="259362" y="278249"/>
                  </a:lnTo>
                  <a:lnTo>
                    <a:pt x="269449" y="326593"/>
                  </a:lnTo>
                  <a:lnTo>
                    <a:pt x="269141" y="373243"/>
                  </a:lnTo>
                  <a:lnTo>
                    <a:pt x="258292" y="417661"/>
                  </a:lnTo>
                  <a:lnTo>
                    <a:pt x="236755" y="459308"/>
                  </a:lnTo>
                  <a:lnTo>
                    <a:pt x="204385" y="497642"/>
                  </a:lnTo>
                  <a:lnTo>
                    <a:pt x="167622" y="531485"/>
                  </a:lnTo>
                  <a:lnTo>
                    <a:pt x="128194" y="561136"/>
                  </a:lnTo>
                  <a:lnTo>
                    <a:pt x="86709" y="586089"/>
                  </a:lnTo>
                  <a:lnTo>
                    <a:pt x="43774" y="605836"/>
                  </a:lnTo>
                  <a:lnTo>
                    <a:pt x="0" y="619872"/>
                  </a:lnTo>
                </a:path>
                <a:path w="300989" h="620394">
                  <a:moveTo>
                    <a:pt x="276242" y="237615"/>
                  </a:moveTo>
                  <a:lnTo>
                    <a:pt x="293492" y="288910"/>
                  </a:lnTo>
                  <a:lnTo>
                    <a:pt x="300578" y="338501"/>
                  </a:lnTo>
                  <a:lnTo>
                    <a:pt x="297389" y="385836"/>
                  </a:lnTo>
                  <a:lnTo>
                    <a:pt x="283814" y="430359"/>
                  </a:lnTo>
                  <a:lnTo>
                    <a:pt x="259740" y="471517"/>
                  </a:lnTo>
                  <a:lnTo>
                    <a:pt x="225055" y="508755"/>
                  </a:lnTo>
                  <a:lnTo>
                    <a:pt x="183257" y="540704"/>
                  </a:lnTo>
                  <a:lnTo>
                    <a:pt x="139167" y="568266"/>
                  </a:lnTo>
                  <a:lnTo>
                    <a:pt x="93470" y="590965"/>
                  </a:lnTo>
                  <a:lnTo>
                    <a:pt x="46853" y="608325"/>
                  </a:lnTo>
                  <a:lnTo>
                    <a:pt x="0" y="619872"/>
                  </a:lnTo>
                </a:path>
                <a:path w="300989" h="620394">
                  <a:moveTo>
                    <a:pt x="8675" y="0"/>
                  </a:moveTo>
                  <a:lnTo>
                    <a:pt x="60611" y="22443"/>
                  </a:lnTo>
                  <a:lnTo>
                    <a:pt x="108629" y="49075"/>
                  </a:lnTo>
                  <a:lnTo>
                    <a:pt x="152338" y="79682"/>
                  </a:lnTo>
                  <a:lnTo>
                    <a:pt x="191345" y="114053"/>
                  </a:lnTo>
                  <a:lnTo>
                    <a:pt x="225259" y="151974"/>
                  </a:lnTo>
                  <a:lnTo>
                    <a:pt x="253688" y="193232"/>
                  </a:lnTo>
                  <a:lnTo>
                    <a:pt x="276242" y="237615"/>
                  </a:lnTo>
                </a:path>
                <a:path w="300989" h="620394">
                  <a:moveTo>
                    <a:pt x="145930" y="210978"/>
                  </a:moveTo>
                  <a:lnTo>
                    <a:pt x="156300" y="265789"/>
                  </a:lnTo>
                  <a:lnTo>
                    <a:pt x="158869" y="319325"/>
                  </a:lnTo>
                  <a:lnTo>
                    <a:pt x="153585" y="370987"/>
                  </a:lnTo>
                  <a:lnTo>
                    <a:pt x="140397" y="420178"/>
                  </a:lnTo>
                  <a:lnTo>
                    <a:pt x="119254" y="466299"/>
                  </a:lnTo>
                  <a:lnTo>
                    <a:pt x="90104" y="508755"/>
                  </a:lnTo>
                </a:path>
                <a:path w="300989" h="620394">
                  <a:moveTo>
                    <a:pt x="5778" y="3249"/>
                  </a:moveTo>
                  <a:lnTo>
                    <a:pt x="46260" y="39231"/>
                  </a:lnTo>
                  <a:lnTo>
                    <a:pt x="81120" y="78596"/>
                  </a:lnTo>
                  <a:lnTo>
                    <a:pt x="109754" y="120742"/>
                  </a:lnTo>
                  <a:lnTo>
                    <a:pt x="131559" y="165069"/>
                  </a:lnTo>
                  <a:lnTo>
                    <a:pt x="145930" y="210978"/>
                  </a:lnTo>
                </a:path>
                <a:path w="300989" h="620394">
                  <a:moveTo>
                    <a:pt x="5778" y="3249"/>
                  </a:moveTo>
                  <a:lnTo>
                    <a:pt x="44378" y="46482"/>
                  </a:lnTo>
                  <a:lnTo>
                    <a:pt x="74954" y="93204"/>
                  </a:lnTo>
                  <a:lnTo>
                    <a:pt x="96753" y="142474"/>
                  </a:lnTo>
                  <a:lnTo>
                    <a:pt x="109022" y="193351"/>
                  </a:lnTo>
                  <a:lnTo>
                    <a:pt x="118717" y="242739"/>
                  </a:lnTo>
                  <a:lnTo>
                    <a:pt x="122681" y="291343"/>
                  </a:lnTo>
                  <a:lnTo>
                    <a:pt x="120876" y="338768"/>
                  </a:lnTo>
                  <a:lnTo>
                    <a:pt x="113264" y="384618"/>
                  </a:lnTo>
                  <a:lnTo>
                    <a:pt x="99807" y="428497"/>
                  </a:lnTo>
                  <a:lnTo>
                    <a:pt x="80467" y="470008"/>
                  </a:lnTo>
                  <a:lnTo>
                    <a:pt x="55207" y="508755"/>
                  </a:lnTo>
                </a:path>
              </a:pathLst>
            </a:custGeom>
            <a:ln w="604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054981" y="1190203"/>
              <a:ext cx="97560" cy="10534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726031" y="1163811"/>
              <a:ext cx="279400" cy="140970"/>
            </a:xfrm>
            <a:custGeom>
              <a:avLst/>
              <a:gdLst/>
              <a:ahLst/>
              <a:cxnLst/>
              <a:rect l="l" t="t" r="r" b="b"/>
              <a:pathLst>
                <a:path w="279400" h="140969">
                  <a:moveTo>
                    <a:pt x="26784" y="0"/>
                  </a:moveTo>
                  <a:lnTo>
                    <a:pt x="31485" y="4948"/>
                  </a:lnTo>
                  <a:lnTo>
                    <a:pt x="36516" y="9753"/>
                  </a:lnTo>
                  <a:lnTo>
                    <a:pt x="41882" y="14396"/>
                  </a:lnTo>
                  <a:lnTo>
                    <a:pt x="43227" y="15632"/>
                  </a:lnTo>
                  <a:lnTo>
                    <a:pt x="90195" y="50682"/>
                  </a:lnTo>
                  <a:lnTo>
                    <a:pt x="136226" y="79642"/>
                  </a:lnTo>
                  <a:lnTo>
                    <a:pt x="183454" y="104551"/>
                  </a:lnTo>
                  <a:lnTo>
                    <a:pt x="231310" y="124994"/>
                  </a:lnTo>
                  <a:lnTo>
                    <a:pt x="279227" y="140555"/>
                  </a:lnTo>
                </a:path>
                <a:path w="279400" h="140969">
                  <a:moveTo>
                    <a:pt x="0" y="0"/>
                  </a:moveTo>
                  <a:lnTo>
                    <a:pt x="56369" y="44598"/>
                  </a:lnTo>
                  <a:lnTo>
                    <a:pt x="99233" y="71483"/>
                  </a:lnTo>
                  <a:lnTo>
                    <a:pt x="143321" y="94785"/>
                  </a:lnTo>
                  <a:lnTo>
                    <a:pt x="188263" y="114241"/>
                  </a:lnTo>
                  <a:lnTo>
                    <a:pt x="233688" y="129586"/>
                  </a:lnTo>
                  <a:lnTo>
                    <a:pt x="279227" y="140555"/>
                  </a:lnTo>
                </a:path>
              </a:pathLst>
            </a:custGeom>
            <a:ln w="604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977954" y="1351033"/>
              <a:ext cx="104775" cy="55880"/>
            </a:xfrm>
            <a:custGeom>
              <a:avLst/>
              <a:gdLst/>
              <a:ahLst/>
              <a:cxnLst/>
              <a:rect l="l" t="t" r="r" b="b"/>
              <a:pathLst>
                <a:path w="104775" h="55880">
                  <a:moveTo>
                    <a:pt x="0" y="55558"/>
                  </a:moveTo>
                  <a:lnTo>
                    <a:pt x="104697" y="55558"/>
                  </a:lnTo>
                  <a:lnTo>
                    <a:pt x="104697" y="0"/>
                  </a:lnTo>
                  <a:lnTo>
                    <a:pt x="0" y="0"/>
                  </a:lnTo>
                  <a:lnTo>
                    <a:pt x="0" y="55558"/>
                  </a:lnTo>
                  <a:close/>
                </a:path>
              </a:pathLst>
            </a:custGeom>
            <a:ln w="5969">
              <a:solidFill>
                <a:srgbClr val="7005A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001202" y="1304366"/>
              <a:ext cx="58419" cy="0"/>
            </a:xfrm>
            <a:custGeom>
              <a:avLst/>
              <a:gdLst/>
              <a:ahLst/>
              <a:cxnLst/>
              <a:rect l="l" t="t" r="r" b="b"/>
              <a:pathLst>
                <a:path w="58419">
                  <a:moveTo>
                    <a:pt x="0" y="0"/>
                  </a:moveTo>
                  <a:lnTo>
                    <a:pt x="58202" y="0"/>
                  </a:lnTo>
                </a:path>
              </a:pathLst>
            </a:custGeom>
            <a:ln w="590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003872" y="728807"/>
              <a:ext cx="53340" cy="506095"/>
            </a:xfrm>
            <a:custGeom>
              <a:avLst/>
              <a:gdLst/>
              <a:ahLst/>
              <a:cxnLst/>
              <a:rect l="l" t="t" r="r" b="b"/>
              <a:pathLst>
                <a:path w="53339" h="506094">
                  <a:moveTo>
                    <a:pt x="0" y="506096"/>
                  </a:moveTo>
                  <a:lnTo>
                    <a:pt x="52861" y="506096"/>
                  </a:lnTo>
                </a:path>
                <a:path w="53339" h="506094">
                  <a:moveTo>
                    <a:pt x="3247" y="432571"/>
                  </a:moveTo>
                  <a:lnTo>
                    <a:pt x="50011" y="432571"/>
                  </a:lnTo>
                </a:path>
                <a:path w="53339" h="506094">
                  <a:moveTo>
                    <a:pt x="6675" y="362370"/>
                  </a:moveTo>
                  <a:lnTo>
                    <a:pt x="46650" y="362370"/>
                  </a:lnTo>
                </a:path>
                <a:path w="53339" h="506094">
                  <a:moveTo>
                    <a:pt x="9422" y="288880"/>
                  </a:moveTo>
                  <a:lnTo>
                    <a:pt x="43686" y="288880"/>
                  </a:lnTo>
                </a:path>
                <a:path w="53339" h="506094">
                  <a:moveTo>
                    <a:pt x="12175" y="215557"/>
                  </a:moveTo>
                  <a:lnTo>
                    <a:pt x="40727" y="215557"/>
                  </a:lnTo>
                </a:path>
                <a:path w="53339" h="506094">
                  <a:moveTo>
                    <a:pt x="14288" y="144410"/>
                  </a:moveTo>
                  <a:lnTo>
                    <a:pt x="37768" y="144410"/>
                  </a:lnTo>
                </a:path>
                <a:path w="53339" h="506094">
                  <a:moveTo>
                    <a:pt x="16402" y="77744"/>
                  </a:moveTo>
                  <a:lnTo>
                    <a:pt x="35016" y="77744"/>
                  </a:lnTo>
                </a:path>
                <a:path w="53339" h="506094">
                  <a:moveTo>
                    <a:pt x="20634" y="0"/>
                  </a:moveTo>
                  <a:lnTo>
                    <a:pt x="33789" y="0"/>
                  </a:lnTo>
                </a:path>
              </a:pathLst>
            </a:custGeom>
            <a:ln w="6047">
              <a:solidFill>
                <a:srgbClr val="7005A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001923" y="668788"/>
              <a:ext cx="63500" cy="33655"/>
            </a:xfrm>
            <a:custGeom>
              <a:avLst/>
              <a:gdLst/>
              <a:ahLst/>
              <a:cxnLst/>
              <a:rect l="l" t="t" r="r" b="b"/>
              <a:pathLst>
                <a:path w="63500" h="33654">
                  <a:moveTo>
                    <a:pt x="17608" y="33628"/>
                  </a:moveTo>
                  <a:lnTo>
                    <a:pt x="45784" y="33628"/>
                  </a:lnTo>
                  <a:lnTo>
                    <a:pt x="55511" y="33628"/>
                  </a:lnTo>
                  <a:lnTo>
                    <a:pt x="63398" y="26095"/>
                  </a:lnTo>
                  <a:lnTo>
                    <a:pt x="63398" y="7533"/>
                  </a:lnTo>
                  <a:lnTo>
                    <a:pt x="55511" y="0"/>
                  </a:lnTo>
                  <a:lnTo>
                    <a:pt x="45784" y="0"/>
                  </a:lnTo>
                  <a:lnTo>
                    <a:pt x="17608" y="0"/>
                  </a:lnTo>
                  <a:lnTo>
                    <a:pt x="7881" y="0"/>
                  </a:lnTo>
                  <a:lnTo>
                    <a:pt x="0" y="7533"/>
                  </a:lnTo>
                  <a:lnTo>
                    <a:pt x="0" y="16838"/>
                  </a:lnTo>
                  <a:lnTo>
                    <a:pt x="0" y="26095"/>
                  </a:lnTo>
                  <a:lnTo>
                    <a:pt x="7881" y="33628"/>
                  </a:lnTo>
                  <a:lnTo>
                    <a:pt x="17608" y="33628"/>
                  </a:lnTo>
                  <a:close/>
                </a:path>
              </a:pathLst>
            </a:custGeom>
            <a:ln w="596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999511" y="704336"/>
              <a:ext cx="61594" cy="646430"/>
            </a:xfrm>
            <a:custGeom>
              <a:avLst/>
              <a:gdLst/>
              <a:ahLst/>
              <a:cxnLst/>
              <a:rect l="l" t="t" r="r" b="b"/>
              <a:pathLst>
                <a:path w="61594" h="646430">
                  <a:moveTo>
                    <a:pt x="24361" y="0"/>
                  </a:moveTo>
                  <a:lnTo>
                    <a:pt x="0" y="646292"/>
                  </a:lnTo>
                </a:path>
                <a:path w="61594" h="646430">
                  <a:moveTo>
                    <a:pt x="61583" y="646292"/>
                  </a:moveTo>
                  <a:lnTo>
                    <a:pt x="37227" y="0"/>
                  </a:lnTo>
                </a:path>
              </a:pathLst>
            </a:custGeom>
            <a:ln w="6047">
              <a:solidFill>
                <a:srgbClr val="7005A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668753" y="560123"/>
              <a:ext cx="377190" cy="603885"/>
            </a:xfrm>
            <a:custGeom>
              <a:avLst/>
              <a:gdLst/>
              <a:ahLst/>
              <a:cxnLst/>
              <a:rect l="l" t="t" r="r" b="b"/>
              <a:pathLst>
                <a:path w="377189" h="603885">
                  <a:moveTo>
                    <a:pt x="376845" y="106449"/>
                  </a:moveTo>
                  <a:lnTo>
                    <a:pt x="364866" y="0"/>
                  </a:lnTo>
                  <a:lnTo>
                    <a:pt x="352891" y="106449"/>
                  </a:lnTo>
                </a:path>
                <a:path w="377189" h="603885">
                  <a:moveTo>
                    <a:pt x="115263" y="283454"/>
                  </a:moveTo>
                  <a:lnTo>
                    <a:pt x="99648" y="300926"/>
                  </a:lnTo>
                  <a:lnTo>
                    <a:pt x="85054" y="318910"/>
                  </a:lnTo>
                  <a:lnTo>
                    <a:pt x="71519" y="337384"/>
                  </a:lnTo>
                  <a:lnTo>
                    <a:pt x="59082" y="356324"/>
                  </a:lnTo>
                </a:path>
                <a:path w="377189" h="603885">
                  <a:moveTo>
                    <a:pt x="331850" y="128654"/>
                  </a:moveTo>
                  <a:lnTo>
                    <a:pt x="281828" y="153210"/>
                  </a:lnTo>
                  <a:lnTo>
                    <a:pt x="234790" y="181180"/>
                  </a:lnTo>
                  <a:lnTo>
                    <a:pt x="191104" y="212352"/>
                  </a:lnTo>
                  <a:lnTo>
                    <a:pt x="151139" y="246515"/>
                  </a:lnTo>
                  <a:lnTo>
                    <a:pt x="115263" y="283454"/>
                  </a:lnTo>
                </a:path>
                <a:path w="377189" h="603885">
                  <a:moveTo>
                    <a:pt x="41927" y="394482"/>
                  </a:moveTo>
                  <a:lnTo>
                    <a:pt x="31455" y="438879"/>
                  </a:lnTo>
                  <a:lnTo>
                    <a:pt x="29631" y="495133"/>
                  </a:lnTo>
                  <a:lnTo>
                    <a:pt x="38434" y="534397"/>
                  </a:lnTo>
                  <a:lnTo>
                    <a:pt x="56544" y="570720"/>
                  </a:lnTo>
                  <a:lnTo>
                    <a:pt x="84061" y="603688"/>
                  </a:lnTo>
                </a:path>
                <a:path w="377189" h="603885">
                  <a:moveTo>
                    <a:pt x="59082" y="356324"/>
                  </a:moveTo>
                  <a:lnTo>
                    <a:pt x="41927" y="394482"/>
                  </a:lnTo>
                  <a:lnTo>
                    <a:pt x="31216" y="438494"/>
                  </a:lnTo>
                  <a:lnTo>
                    <a:pt x="30035" y="453344"/>
                  </a:lnTo>
                </a:path>
                <a:path w="377189" h="603885">
                  <a:moveTo>
                    <a:pt x="331850" y="128654"/>
                  </a:moveTo>
                  <a:lnTo>
                    <a:pt x="283161" y="145690"/>
                  </a:lnTo>
                  <a:lnTo>
                    <a:pt x="237202" y="166143"/>
                  </a:lnTo>
                  <a:lnTo>
                    <a:pt x="194228" y="189894"/>
                  </a:lnTo>
                  <a:lnTo>
                    <a:pt x="154499" y="216825"/>
                  </a:lnTo>
                  <a:lnTo>
                    <a:pt x="118272" y="246815"/>
                  </a:lnTo>
                  <a:lnTo>
                    <a:pt x="85804" y="279747"/>
                  </a:lnTo>
                  <a:lnTo>
                    <a:pt x="57354" y="315502"/>
                  </a:lnTo>
                  <a:lnTo>
                    <a:pt x="33179" y="353960"/>
                  </a:lnTo>
                </a:path>
                <a:path w="377189" h="603885">
                  <a:moveTo>
                    <a:pt x="15921" y="392069"/>
                  </a:moveTo>
                  <a:lnTo>
                    <a:pt x="2630" y="439785"/>
                  </a:lnTo>
                  <a:lnTo>
                    <a:pt x="0" y="485322"/>
                  </a:lnTo>
                  <a:lnTo>
                    <a:pt x="8150" y="528164"/>
                  </a:lnTo>
                  <a:lnTo>
                    <a:pt x="27203" y="567791"/>
                  </a:lnTo>
                  <a:lnTo>
                    <a:pt x="57277" y="603688"/>
                  </a:lnTo>
                </a:path>
                <a:path w="377189" h="603885">
                  <a:moveTo>
                    <a:pt x="33179" y="353960"/>
                  </a:moveTo>
                  <a:lnTo>
                    <a:pt x="28167" y="363357"/>
                  </a:lnTo>
                  <a:lnTo>
                    <a:pt x="23633" y="372855"/>
                  </a:lnTo>
                  <a:lnTo>
                    <a:pt x="19584" y="382445"/>
                  </a:lnTo>
                  <a:lnTo>
                    <a:pt x="16029" y="392119"/>
                  </a:lnTo>
                </a:path>
              </a:pathLst>
            </a:custGeom>
            <a:ln w="604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104394" y="354329"/>
            <a:ext cx="2498725" cy="2679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6000"/>
              </a:lnSpc>
              <a:spcBef>
                <a:spcPts val="90"/>
              </a:spcBef>
            </a:pPr>
            <a:r>
              <a:rPr sz="500" spc="10" dirty="0">
                <a:latin typeface="Bookman Uralic"/>
                <a:cs typeface="Bookman Uralic"/>
              </a:rPr>
              <a:t>The basic vertical axis designs </a:t>
            </a:r>
            <a:r>
              <a:rPr sz="500" spc="5" dirty="0">
                <a:latin typeface="Bookman Uralic"/>
                <a:cs typeface="Bookman Uralic"/>
              </a:rPr>
              <a:t>are the </a:t>
            </a:r>
            <a:r>
              <a:rPr sz="500" b="1" i="1" spc="10" dirty="0">
                <a:latin typeface="TeX Gyre Bonum"/>
                <a:cs typeface="TeX Gyre Bonum"/>
              </a:rPr>
              <a:t>Darrieus type</a:t>
            </a:r>
            <a:r>
              <a:rPr sz="500" spc="10" dirty="0">
                <a:latin typeface="Bookman Uralic"/>
                <a:cs typeface="Bookman Uralic"/>
              </a:rPr>
              <a:t>, which has </a:t>
            </a:r>
            <a:r>
              <a:rPr sz="500" spc="15" dirty="0">
                <a:latin typeface="Bookman Uralic"/>
                <a:cs typeface="Bookman Uralic"/>
              </a:rPr>
              <a:t>curved  </a:t>
            </a:r>
            <a:r>
              <a:rPr sz="500" spc="10" dirty="0">
                <a:latin typeface="Bookman Uralic"/>
                <a:cs typeface="Bookman Uralic"/>
              </a:rPr>
              <a:t>blades </a:t>
            </a:r>
            <a:r>
              <a:rPr sz="500" spc="15" dirty="0">
                <a:latin typeface="Bookman Uralic"/>
                <a:cs typeface="Bookman Uralic"/>
              </a:rPr>
              <a:t>and </a:t>
            </a:r>
            <a:r>
              <a:rPr sz="500" spc="10" dirty="0">
                <a:latin typeface="Bookman Uralic"/>
                <a:cs typeface="Bookman Uralic"/>
              </a:rPr>
              <a:t>efficiency of </a:t>
            </a:r>
            <a:r>
              <a:rPr sz="500" spc="15" dirty="0">
                <a:latin typeface="Bookman Uralic"/>
                <a:cs typeface="Bookman Uralic"/>
              </a:rPr>
              <a:t>35%, and </a:t>
            </a:r>
            <a:r>
              <a:rPr sz="500" spc="5" dirty="0">
                <a:latin typeface="Bookman Uralic"/>
                <a:cs typeface="Bookman Uralic"/>
              </a:rPr>
              <a:t>the </a:t>
            </a:r>
            <a:r>
              <a:rPr sz="500" b="1" i="1" spc="10" dirty="0">
                <a:latin typeface="TeX Gyre Bonum"/>
                <a:cs typeface="TeX Gyre Bonum"/>
              </a:rPr>
              <a:t>Savonius type </a:t>
            </a:r>
            <a:r>
              <a:rPr sz="500" spc="10" dirty="0">
                <a:latin typeface="Bookman Uralic"/>
                <a:cs typeface="Bookman Uralic"/>
              </a:rPr>
              <a:t>having </a:t>
            </a:r>
            <a:r>
              <a:rPr sz="500" spc="5" dirty="0">
                <a:latin typeface="Bookman Uralic"/>
                <a:cs typeface="Bookman Uralic"/>
              </a:rPr>
              <a:t>the </a:t>
            </a:r>
            <a:r>
              <a:rPr sz="500" spc="10" dirty="0">
                <a:latin typeface="Bookman Uralic"/>
                <a:cs typeface="Bookman Uralic"/>
              </a:rPr>
              <a:t>efficiency  of</a:t>
            </a:r>
            <a:r>
              <a:rPr sz="500" dirty="0">
                <a:latin typeface="Bookman Uralic"/>
                <a:cs typeface="Bookman Uralic"/>
              </a:rPr>
              <a:t> </a:t>
            </a:r>
            <a:r>
              <a:rPr sz="500" spc="20" dirty="0">
                <a:latin typeface="Bookman Uralic"/>
                <a:cs typeface="Bookman Uralic"/>
              </a:rPr>
              <a:t>30%.</a:t>
            </a:r>
            <a:endParaRPr sz="500">
              <a:latin typeface="Bookman Uralic"/>
              <a:cs typeface="Bookman Ural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9563" y="1360324"/>
            <a:ext cx="1269365" cy="62103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0480" algn="ctr">
              <a:lnSpc>
                <a:spcPct val="100000"/>
              </a:lnSpc>
              <a:spcBef>
                <a:spcPts val="315"/>
              </a:spcBef>
            </a:pPr>
            <a:r>
              <a:rPr sz="350" b="1" i="1" spc="45" dirty="0">
                <a:latin typeface="Times New Roman" panose="02020603050405020304"/>
                <a:cs typeface="Times New Roman" panose="02020603050405020304"/>
              </a:rPr>
              <a:t>Savonius</a:t>
            </a:r>
            <a:r>
              <a:rPr sz="350" b="1" i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" b="1" i="1" spc="40" dirty="0">
                <a:latin typeface="Times New Roman" panose="02020603050405020304"/>
                <a:cs typeface="Times New Roman" panose="02020603050405020304"/>
              </a:rPr>
              <a:t>type</a:t>
            </a:r>
            <a:endParaRPr sz="350">
              <a:latin typeface="Times New Roman" panose="02020603050405020304"/>
              <a:cs typeface="Times New Roman" panose="02020603050405020304"/>
            </a:endParaRPr>
          </a:p>
          <a:p>
            <a:pPr marL="12700" marR="5080" algn="just">
              <a:lnSpc>
                <a:spcPct val="106000"/>
              </a:lnSpc>
              <a:spcBef>
                <a:spcPts val="245"/>
              </a:spcBef>
            </a:pPr>
            <a:r>
              <a:rPr sz="500" i="1" spc="10" dirty="0">
                <a:latin typeface="Bookman Uralic"/>
                <a:cs typeface="Bookman Uralic"/>
              </a:rPr>
              <a:t>Savonius type </a:t>
            </a:r>
            <a:r>
              <a:rPr sz="500" spc="15" dirty="0">
                <a:latin typeface="Bookman Uralic"/>
                <a:cs typeface="Bookman Uralic"/>
              </a:rPr>
              <a:t>uses </a:t>
            </a:r>
            <a:r>
              <a:rPr sz="500" i="1" spc="10" dirty="0">
                <a:latin typeface="Bookman Uralic"/>
                <a:cs typeface="Bookman Uralic"/>
              </a:rPr>
              <a:t>drag forces </a:t>
            </a:r>
            <a:r>
              <a:rPr sz="500" spc="10" dirty="0">
                <a:latin typeface="Bookman Uralic"/>
                <a:cs typeface="Bookman Uralic"/>
              </a:rPr>
              <a:t>to  create rotation of </a:t>
            </a:r>
            <a:r>
              <a:rPr sz="500" spc="5" dirty="0">
                <a:latin typeface="Bookman Uralic"/>
                <a:cs typeface="Bookman Uralic"/>
              </a:rPr>
              <a:t>the </a:t>
            </a:r>
            <a:r>
              <a:rPr sz="500" spc="10" dirty="0">
                <a:latin typeface="Bookman Uralic"/>
                <a:cs typeface="Bookman Uralic"/>
              </a:rPr>
              <a:t>shaft. Savonius  windmill consists of </a:t>
            </a:r>
            <a:r>
              <a:rPr sz="500" spc="15" dirty="0">
                <a:latin typeface="Bookman Uralic"/>
                <a:cs typeface="Bookman Uralic"/>
              </a:rPr>
              <a:t>a </a:t>
            </a:r>
            <a:r>
              <a:rPr sz="500" spc="10" dirty="0">
                <a:latin typeface="Bookman Uralic"/>
                <a:cs typeface="Bookman Uralic"/>
              </a:rPr>
              <a:t>hollow circular  cylinder sliced in half, the two halves  being fixed to </a:t>
            </a:r>
            <a:r>
              <a:rPr sz="500" spc="15" dirty="0">
                <a:latin typeface="Bookman Uralic"/>
                <a:cs typeface="Bookman Uralic"/>
              </a:rPr>
              <a:t>a </a:t>
            </a:r>
            <a:r>
              <a:rPr sz="500" spc="10" dirty="0">
                <a:latin typeface="Bookman Uralic"/>
                <a:cs typeface="Bookman Uralic"/>
              </a:rPr>
              <a:t>vertical axis with </a:t>
            </a:r>
            <a:r>
              <a:rPr sz="500" spc="15" dirty="0">
                <a:latin typeface="Bookman Uralic"/>
                <a:cs typeface="Bookman Uralic"/>
              </a:rPr>
              <a:t>a  gap </a:t>
            </a:r>
            <a:r>
              <a:rPr sz="500" spc="10" dirty="0">
                <a:latin typeface="Bookman Uralic"/>
                <a:cs typeface="Bookman Uralic"/>
              </a:rPr>
              <a:t>in</a:t>
            </a:r>
            <a:r>
              <a:rPr sz="500" spc="-10" dirty="0">
                <a:latin typeface="Bookman Uralic"/>
                <a:cs typeface="Bookman Uralic"/>
              </a:rPr>
              <a:t> </a:t>
            </a:r>
            <a:r>
              <a:rPr sz="500" spc="15" dirty="0">
                <a:latin typeface="Bookman Uralic"/>
                <a:cs typeface="Bookman Uralic"/>
              </a:rPr>
              <a:t>between</a:t>
            </a:r>
            <a:endParaRPr sz="500">
              <a:latin typeface="Bookman Uralic"/>
              <a:cs typeface="Bookman Uralic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00302" y="1386540"/>
            <a:ext cx="1248410" cy="51435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4290" algn="ctr">
              <a:lnSpc>
                <a:spcPct val="100000"/>
              </a:lnSpc>
              <a:spcBef>
                <a:spcPts val="225"/>
              </a:spcBef>
            </a:pPr>
            <a:r>
              <a:rPr sz="300" b="1" i="1" spc="10" dirty="0">
                <a:latin typeface="Times New Roman" panose="02020603050405020304"/>
                <a:cs typeface="Times New Roman" panose="02020603050405020304"/>
              </a:rPr>
              <a:t>Darrieus</a:t>
            </a:r>
            <a:r>
              <a:rPr sz="300" b="1" i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" b="1" i="1" spc="10" dirty="0">
                <a:latin typeface="Times New Roman" panose="02020603050405020304"/>
                <a:cs typeface="Times New Roman" panose="02020603050405020304"/>
              </a:rPr>
              <a:t>type</a:t>
            </a:r>
            <a:endParaRPr sz="300">
              <a:latin typeface="Times New Roman" panose="02020603050405020304"/>
              <a:cs typeface="Times New Roman" panose="02020603050405020304"/>
            </a:endParaRPr>
          </a:p>
          <a:p>
            <a:pPr marL="12700" marR="5080" algn="just">
              <a:lnSpc>
                <a:spcPct val="106000"/>
              </a:lnSpc>
              <a:spcBef>
                <a:spcPts val="195"/>
              </a:spcBef>
            </a:pPr>
            <a:r>
              <a:rPr sz="500" i="1" spc="10" dirty="0">
                <a:latin typeface="Bookman Uralic"/>
                <a:cs typeface="Bookman Uralic"/>
              </a:rPr>
              <a:t>Darrieus type </a:t>
            </a:r>
            <a:r>
              <a:rPr sz="500" spc="15" dirty="0">
                <a:latin typeface="Bookman Uralic"/>
                <a:cs typeface="Bookman Uralic"/>
              </a:rPr>
              <a:t>uses </a:t>
            </a:r>
            <a:r>
              <a:rPr sz="500" i="1" spc="5" dirty="0">
                <a:latin typeface="Bookman Uralic"/>
                <a:cs typeface="Bookman Uralic"/>
              </a:rPr>
              <a:t>lift </a:t>
            </a:r>
            <a:r>
              <a:rPr sz="500" i="1" spc="10" dirty="0">
                <a:latin typeface="Bookman Uralic"/>
                <a:cs typeface="Bookman Uralic"/>
              </a:rPr>
              <a:t>forces </a:t>
            </a:r>
            <a:r>
              <a:rPr sz="500" spc="10" dirty="0">
                <a:latin typeface="Bookman Uralic"/>
                <a:cs typeface="Bookman Uralic"/>
              </a:rPr>
              <a:t>to  create </a:t>
            </a:r>
            <a:r>
              <a:rPr sz="500" spc="5" dirty="0">
                <a:latin typeface="Bookman Uralic"/>
                <a:cs typeface="Bookman Uralic"/>
              </a:rPr>
              <a:t>the </a:t>
            </a:r>
            <a:r>
              <a:rPr sz="500" spc="10" dirty="0">
                <a:latin typeface="Bookman Uralic"/>
                <a:cs typeface="Bookman Uralic"/>
              </a:rPr>
              <a:t>rotation of </a:t>
            </a:r>
            <a:r>
              <a:rPr sz="500" spc="5" dirty="0">
                <a:latin typeface="Bookman Uralic"/>
                <a:cs typeface="Bookman Uralic"/>
              </a:rPr>
              <a:t>the </a:t>
            </a:r>
            <a:r>
              <a:rPr sz="500" spc="10" dirty="0">
                <a:latin typeface="Bookman Uralic"/>
                <a:cs typeface="Bookman Uralic"/>
              </a:rPr>
              <a:t>shaft.  </a:t>
            </a:r>
            <a:r>
              <a:rPr sz="500" i="1" spc="10" dirty="0">
                <a:latin typeface="Bookman Uralic"/>
                <a:cs typeface="Bookman Uralic"/>
              </a:rPr>
              <a:t>Darrieus </a:t>
            </a:r>
            <a:r>
              <a:rPr sz="500" spc="10" dirty="0">
                <a:latin typeface="Bookman Uralic"/>
                <a:cs typeface="Bookman Uralic"/>
              </a:rPr>
              <a:t>type requires </a:t>
            </a:r>
            <a:r>
              <a:rPr sz="500" spc="15" dirty="0">
                <a:latin typeface="Bookman Uralic"/>
                <a:cs typeface="Bookman Uralic"/>
              </a:rPr>
              <a:t>much </a:t>
            </a:r>
            <a:r>
              <a:rPr sz="500" spc="10" dirty="0">
                <a:latin typeface="Bookman Uralic"/>
                <a:cs typeface="Bookman Uralic"/>
              </a:rPr>
              <a:t>less  surface area. It </a:t>
            </a:r>
            <a:r>
              <a:rPr sz="500" spc="5" dirty="0">
                <a:latin typeface="Bookman Uralic"/>
                <a:cs typeface="Bookman Uralic"/>
              </a:rPr>
              <a:t>is </a:t>
            </a:r>
            <a:r>
              <a:rPr sz="500" spc="15" dirty="0">
                <a:latin typeface="Bookman Uralic"/>
                <a:cs typeface="Bookman Uralic"/>
              </a:rPr>
              <a:t>shaped </a:t>
            </a:r>
            <a:r>
              <a:rPr sz="500" spc="5" dirty="0">
                <a:latin typeface="Bookman Uralic"/>
                <a:cs typeface="Bookman Uralic"/>
              </a:rPr>
              <a:t>like </a:t>
            </a:r>
            <a:r>
              <a:rPr sz="500" spc="15" dirty="0">
                <a:latin typeface="Bookman Uralic"/>
                <a:cs typeface="Bookman Uralic"/>
              </a:rPr>
              <a:t>an egg  beater and </a:t>
            </a:r>
            <a:r>
              <a:rPr sz="500" spc="10" dirty="0">
                <a:latin typeface="Bookman Uralic"/>
                <a:cs typeface="Bookman Uralic"/>
              </a:rPr>
              <a:t>has two or </a:t>
            </a:r>
            <a:r>
              <a:rPr sz="500" spc="5" dirty="0">
                <a:latin typeface="Bookman Uralic"/>
                <a:cs typeface="Bookman Uralic"/>
              </a:rPr>
              <a:t>three</a:t>
            </a:r>
            <a:r>
              <a:rPr sz="500" spc="90" dirty="0">
                <a:latin typeface="Bookman Uralic"/>
                <a:cs typeface="Bookman Uralic"/>
              </a:rPr>
              <a:t> </a:t>
            </a:r>
            <a:r>
              <a:rPr sz="500" spc="10" dirty="0">
                <a:latin typeface="Bookman Uralic"/>
                <a:cs typeface="Bookman Uralic"/>
              </a:rPr>
              <a:t>blades</a:t>
            </a:r>
            <a:endParaRPr sz="500">
              <a:latin typeface="Bookman Uralic"/>
              <a:cs typeface="Bookman Uralic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400302" y="1875790"/>
            <a:ext cx="719455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15" dirty="0">
                <a:latin typeface="Bookman Uralic"/>
                <a:cs typeface="Bookman Uralic"/>
              </a:rPr>
              <a:t>shaped </a:t>
            </a:r>
            <a:r>
              <a:rPr sz="500" spc="5" dirty="0">
                <a:latin typeface="Bookman Uralic"/>
                <a:cs typeface="Bookman Uralic"/>
              </a:rPr>
              <a:t>like</a:t>
            </a:r>
            <a:r>
              <a:rPr sz="500" spc="-50" dirty="0">
                <a:latin typeface="Bookman Uralic"/>
                <a:cs typeface="Bookman Uralic"/>
              </a:rPr>
              <a:t> </a:t>
            </a:r>
            <a:r>
              <a:rPr sz="500" spc="10" dirty="0">
                <a:latin typeface="Bookman Uralic"/>
                <a:cs typeface="Bookman Uralic"/>
              </a:rPr>
              <a:t>aerofoils.</a:t>
            </a:r>
            <a:endParaRPr sz="500">
              <a:latin typeface="Bookman Uralic"/>
              <a:cs typeface="Bookman Uralic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462530" y="1876170"/>
            <a:ext cx="711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52</a:t>
            </a:r>
            <a:endParaRPr sz="350">
              <a:latin typeface="Carlito"/>
              <a:cs typeface="Carlito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35" y="0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5085" y="1385620"/>
            <a:ext cx="364490" cy="417195"/>
            <a:chOff x="785085" y="1385620"/>
            <a:chExt cx="364490" cy="417195"/>
          </a:xfrm>
        </p:grpSpPr>
        <p:sp>
          <p:nvSpPr>
            <p:cNvPr id="3" name="object 3"/>
            <p:cNvSpPr/>
            <p:nvPr/>
          </p:nvSpPr>
          <p:spPr>
            <a:xfrm>
              <a:off x="790039" y="1418488"/>
              <a:ext cx="338455" cy="265430"/>
            </a:xfrm>
            <a:custGeom>
              <a:avLst/>
              <a:gdLst/>
              <a:ahLst/>
              <a:cxnLst/>
              <a:rect l="l" t="t" r="r" b="b"/>
              <a:pathLst>
                <a:path w="338455" h="265430">
                  <a:moveTo>
                    <a:pt x="171783" y="0"/>
                  </a:moveTo>
                  <a:lnTo>
                    <a:pt x="338374" y="55073"/>
                  </a:lnTo>
                </a:path>
                <a:path w="338455" h="265430">
                  <a:moveTo>
                    <a:pt x="158318" y="26228"/>
                  </a:moveTo>
                  <a:lnTo>
                    <a:pt x="311831" y="106749"/>
                  </a:lnTo>
                </a:path>
                <a:path w="338455" h="265430">
                  <a:moveTo>
                    <a:pt x="158318" y="26228"/>
                  </a:moveTo>
                  <a:lnTo>
                    <a:pt x="154271" y="32485"/>
                  </a:lnTo>
                  <a:lnTo>
                    <a:pt x="149872" y="38530"/>
                  </a:lnTo>
                  <a:lnTo>
                    <a:pt x="145126" y="44352"/>
                  </a:lnTo>
                  <a:lnTo>
                    <a:pt x="140039" y="49943"/>
                  </a:lnTo>
                </a:path>
                <a:path w="338455" h="265430">
                  <a:moveTo>
                    <a:pt x="274588" y="152507"/>
                  </a:moveTo>
                  <a:lnTo>
                    <a:pt x="275826" y="153452"/>
                  </a:lnTo>
                </a:path>
                <a:path w="338455" h="265430">
                  <a:moveTo>
                    <a:pt x="140039" y="49943"/>
                  </a:moveTo>
                  <a:lnTo>
                    <a:pt x="274588" y="152507"/>
                  </a:lnTo>
                </a:path>
                <a:path w="338455" h="265430">
                  <a:moveTo>
                    <a:pt x="229394" y="191546"/>
                  </a:moveTo>
                  <a:lnTo>
                    <a:pt x="231450" y="193773"/>
                  </a:lnTo>
                </a:path>
                <a:path w="338455" h="265430">
                  <a:moveTo>
                    <a:pt x="117508" y="70411"/>
                  </a:moveTo>
                  <a:lnTo>
                    <a:pt x="229394" y="191546"/>
                  </a:lnTo>
                </a:path>
                <a:path w="338455" h="265430">
                  <a:moveTo>
                    <a:pt x="177703" y="222806"/>
                  </a:moveTo>
                  <a:lnTo>
                    <a:pt x="180031" y="226474"/>
                  </a:lnTo>
                </a:path>
                <a:path w="338455" h="265430">
                  <a:moveTo>
                    <a:pt x="91402" y="87016"/>
                  </a:moveTo>
                  <a:lnTo>
                    <a:pt x="177703" y="222806"/>
                  </a:lnTo>
                </a:path>
                <a:path w="338455" h="265430">
                  <a:moveTo>
                    <a:pt x="121099" y="245457"/>
                  </a:moveTo>
                  <a:lnTo>
                    <a:pt x="123155" y="250572"/>
                  </a:lnTo>
                </a:path>
                <a:path w="338455" h="265430">
                  <a:moveTo>
                    <a:pt x="62523" y="99249"/>
                  </a:moveTo>
                  <a:lnTo>
                    <a:pt x="121099" y="245457"/>
                  </a:lnTo>
                </a:path>
                <a:path w="338455" h="265430">
                  <a:moveTo>
                    <a:pt x="62523" y="99249"/>
                  </a:moveTo>
                  <a:lnTo>
                    <a:pt x="23870" y="107946"/>
                  </a:lnTo>
                  <a:lnTo>
                    <a:pt x="7985" y="109209"/>
                  </a:lnTo>
                  <a:lnTo>
                    <a:pt x="0" y="109262"/>
                  </a:lnTo>
                </a:path>
                <a:path w="338455" h="265430">
                  <a:moveTo>
                    <a:pt x="61284" y="258942"/>
                  </a:moveTo>
                  <a:lnTo>
                    <a:pt x="62523" y="265325"/>
                  </a:lnTo>
                </a:path>
                <a:path w="338455" h="265430">
                  <a:moveTo>
                    <a:pt x="31744" y="106742"/>
                  </a:moveTo>
                  <a:lnTo>
                    <a:pt x="61284" y="258942"/>
                  </a:lnTo>
                </a:path>
              </a:pathLst>
            </a:custGeom>
            <a:ln w="945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90039" y="1527750"/>
              <a:ext cx="0" cy="161290"/>
            </a:xfrm>
            <a:custGeom>
              <a:avLst/>
              <a:gdLst/>
              <a:ahLst/>
              <a:cxnLst/>
              <a:rect l="l" t="t" r="r" b="b"/>
              <a:pathLst>
                <a:path h="161289">
                  <a:moveTo>
                    <a:pt x="0" y="0"/>
                  </a:moveTo>
                  <a:lnTo>
                    <a:pt x="0" y="161035"/>
                  </a:lnTo>
                </a:path>
              </a:pathLst>
            </a:custGeom>
            <a:ln w="990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90039" y="1390520"/>
              <a:ext cx="354965" cy="407034"/>
            </a:xfrm>
            <a:custGeom>
              <a:avLst/>
              <a:gdLst/>
              <a:ahLst/>
              <a:cxnLst/>
              <a:rect l="l" t="t" r="r" b="b"/>
              <a:pathLst>
                <a:path w="354965" h="407035">
                  <a:moveTo>
                    <a:pt x="140039" y="77911"/>
                  </a:moveTo>
                  <a:lnTo>
                    <a:pt x="111350" y="103002"/>
                  </a:lnTo>
                  <a:lnTo>
                    <a:pt x="77322" y="121801"/>
                  </a:lnTo>
                  <a:lnTo>
                    <a:pt x="70007" y="124686"/>
                  </a:lnTo>
                  <a:lnTo>
                    <a:pt x="62523" y="127217"/>
                  </a:lnTo>
                </a:path>
                <a:path w="354965" h="407035">
                  <a:moveTo>
                    <a:pt x="180031" y="0"/>
                  </a:moveTo>
                  <a:lnTo>
                    <a:pt x="354556" y="27968"/>
                  </a:lnTo>
                </a:path>
                <a:path w="354965" h="407035">
                  <a:moveTo>
                    <a:pt x="180031" y="0"/>
                  </a:moveTo>
                  <a:lnTo>
                    <a:pt x="166400" y="40238"/>
                  </a:lnTo>
                  <a:lnTo>
                    <a:pt x="159994" y="51548"/>
                  </a:lnTo>
                  <a:lnTo>
                    <a:pt x="158318" y="54196"/>
                  </a:lnTo>
                </a:path>
                <a:path w="354965" h="407035">
                  <a:moveTo>
                    <a:pt x="180031" y="254442"/>
                  </a:moveTo>
                  <a:lnTo>
                    <a:pt x="239879" y="348614"/>
                  </a:lnTo>
                </a:path>
                <a:path w="354965" h="407035">
                  <a:moveTo>
                    <a:pt x="164089" y="380714"/>
                  </a:moveTo>
                  <a:lnTo>
                    <a:pt x="239879" y="348614"/>
                  </a:lnTo>
                </a:path>
                <a:path w="354965" h="407035">
                  <a:moveTo>
                    <a:pt x="123155" y="278540"/>
                  </a:moveTo>
                  <a:lnTo>
                    <a:pt x="164089" y="380714"/>
                  </a:lnTo>
                </a:path>
                <a:path w="354965" h="407035">
                  <a:moveTo>
                    <a:pt x="62523" y="293293"/>
                  </a:moveTo>
                  <a:lnTo>
                    <a:pt x="83311" y="400380"/>
                  </a:lnTo>
                </a:path>
                <a:path w="354965" h="407035">
                  <a:moveTo>
                    <a:pt x="0" y="298265"/>
                  </a:moveTo>
                  <a:lnTo>
                    <a:pt x="0" y="407002"/>
                  </a:lnTo>
                  <a:lnTo>
                    <a:pt x="83311" y="400380"/>
                  </a:lnTo>
                </a:path>
              </a:pathLst>
            </a:custGeom>
            <a:ln w="945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1205525" y="1510748"/>
            <a:ext cx="35560" cy="69215"/>
          </a:xfrm>
          <a:custGeom>
            <a:avLst/>
            <a:gdLst/>
            <a:ahLst/>
            <a:cxnLst/>
            <a:rect l="l" t="t" r="r" b="b"/>
            <a:pathLst>
              <a:path w="35559" h="69215">
                <a:moveTo>
                  <a:pt x="0" y="68858"/>
                </a:moveTo>
                <a:lnTo>
                  <a:pt x="35335" y="0"/>
                </a:lnTo>
              </a:path>
            </a:pathLst>
          </a:custGeom>
          <a:ln w="971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01870" y="1418488"/>
            <a:ext cx="160655" cy="161290"/>
          </a:xfrm>
          <a:custGeom>
            <a:avLst/>
            <a:gdLst/>
            <a:ahLst/>
            <a:cxnLst/>
            <a:rect l="l" t="t" r="r" b="b"/>
            <a:pathLst>
              <a:path w="160655" h="161290">
                <a:moveTo>
                  <a:pt x="45944" y="502"/>
                </a:moveTo>
                <a:lnTo>
                  <a:pt x="160621" y="18877"/>
                </a:lnTo>
              </a:path>
              <a:path w="160655" h="161290">
                <a:moveTo>
                  <a:pt x="42725" y="0"/>
                </a:moveTo>
                <a:lnTo>
                  <a:pt x="45944" y="502"/>
                </a:lnTo>
              </a:path>
              <a:path w="160655" h="161290">
                <a:moveTo>
                  <a:pt x="28029" y="55576"/>
                </a:moveTo>
                <a:lnTo>
                  <a:pt x="138990" y="92259"/>
                </a:lnTo>
              </a:path>
              <a:path w="160655" h="161290">
                <a:moveTo>
                  <a:pt x="26543" y="55073"/>
                </a:moveTo>
                <a:lnTo>
                  <a:pt x="28029" y="55576"/>
                </a:lnTo>
              </a:path>
              <a:path w="160655" h="161290">
                <a:moveTo>
                  <a:pt x="0" y="106749"/>
                </a:moveTo>
                <a:lnTo>
                  <a:pt x="103654" y="161118"/>
                </a:lnTo>
              </a:path>
            </a:pathLst>
          </a:custGeom>
          <a:ln w="945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21489" y="1571941"/>
            <a:ext cx="136525" cy="123825"/>
          </a:xfrm>
          <a:custGeom>
            <a:avLst/>
            <a:gdLst/>
            <a:ahLst/>
            <a:cxnLst/>
            <a:rect l="l" t="t" r="r" b="b"/>
            <a:pathLst>
              <a:path w="136525" h="123825">
                <a:moveTo>
                  <a:pt x="76938" y="123617"/>
                </a:moveTo>
                <a:lnTo>
                  <a:pt x="136068" y="69893"/>
                </a:lnTo>
              </a:path>
              <a:path w="136525" h="123825">
                <a:moveTo>
                  <a:pt x="44376" y="0"/>
                </a:moveTo>
                <a:lnTo>
                  <a:pt x="136068" y="69893"/>
                </a:lnTo>
              </a:path>
              <a:path w="136525" h="123825">
                <a:moveTo>
                  <a:pt x="0" y="40320"/>
                </a:moveTo>
                <a:lnTo>
                  <a:pt x="76938" y="123617"/>
                </a:lnTo>
              </a:path>
            </a:pathLst>
          </a:custGeom>
          <a:ln w="945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62492" y="1361690"/>
            <a:ext cx="7620" cy="76200"/>
          </a:xfrm>
          <a:custGeom>
            <a:avLst/>
            <a:gdLst/>
            <a:ahLst/>
            <a:cxnLst/>
            <a:rect l="l" t="t" r="r" b="b"/>
            <a:pathLst>
              <a:path w="7619" h="76200">
                <a:moveTo>
                  <a:pt x="3673" y="-4950"/>
                </a:moveTo>
                <a:lnTo>
                  <a:pt x="3673" y="80626"/>
                </a:lnTo>
              </a:path>
            </a:pathLst>
          </a:custGeom>
          <a:ln w="1724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" name="object 10"/>
          <p:cNvGrpSpPr/>
          <p:nvPr/>
        </p:nvGrpSpPr>
        <p:grpSpPr>
          <a:xfrm>
            <a:off x="305329" y="921375"/>
            <a:ext cx="489584" cy="474345"/>
            <a:chOff x="305329" y="921375"/>
            <a:chExt cx="489584" cy="474345"/>
          </a:xfrm>
        </p:grpSpPr>
        <p:sp>
          <p:nvSpPr>
            <p:cNvPr id="11" name="object 11"/>
            <p:cNvSpPr/>
            <p:nvPr/>
          </p:nvSpPr>
          <p:spPr>
            <a:xfrm>
              <a:off x="317567" y="952129"/>
              <a:ext cx="473075" cy="438784"/>
            </a:xfrm>
            <a:custGeom>
              <a:avLst/>
              <a:gdLst/>
              <a:ahLst/>
              <a:cxnLst/>
              <a:rect l="l" t="t" r="r" b="b"/>
              <a:pathLst>
                <a:path w="473075" h="438784">
                  <a:moveTo>
                    <a:pt x="440726" y="246012"/>
                  </a:moveTo>
                  <a:lnTo>
                    <a:pt x="448604" y="244807"/>
                  </a:lnTo>
                  <a:lnTo>
                    <a:pt x="456527" y="243984"/>
                  </a:lnTo>
                  <a:lnTo>
                    <a:pt x="464486" y="243545"/>
                  </a:lnTo>
                  <a:lnTo>
                    <a:pt x="472471" y="243492"/>
                  </a:lnTo>
                </a:path>
                <a:path w="473075" h="438784">
                  <a:moveTo>
                    <a:pt x="409948" y="253504"/>
                  </a:moveTo>
                  <a:lnTo>
                    <a:pt x="417474" y="251073"/>
                  </a:lnTo>
                  <a:lnTo>
                    <a:pt x="425120" y="249013"/>
                  </a:lnTo>
                  <a:lnTo>
                    <a:pt x="432875" y="247325"/>
                  </a:lnTo>
                  <a:lnTo>
                    <a:pt x="440726" y="246012"/>
                  </a:lnTo>
                  <a:lnTo>
                    <a:pt x="409948" y="87451"/>
                  </a:lnTo>
                </a:path>
                <a:path w="473075" h="438784">
                  <a:moveTo>
                    <a:pt x="381068" y="265737"/>
                  </a:moveTo>
                  <a:lnTo>
                    <a:pt x="388015" y="262157"/>
                  </a:lnTo>
                  <a:lnTo>
                    <a:pt x="395152" y="258923"/>
                  </a:lnTo>
                  <a:lnTo>
                    <a:pt x="402467" y="256038"/>
                  </a:lnTo>
                  <a:lnTo>
                    <a:pt x="409948" y="253504"/>
                  </a:lnTo>
                </a:path>
                <a:path w="473075" h="438784">
                  <a:moveTo>
                    <a:pt x="347326" y="97201"/>
                  </a:moveTo>
                  <a:lnTo>
                    <a:pt x="308382" y="0"/>
                  </a:lnTo>
                </a:path>
                <a:path w="473075" h="438784">
                  <a:moveTo>
                    <a:pt x="349323" y="102151"/>
                  </a:moveTo>
                  <a:lnTo>
                    <a:pt x="347326" y="97201"/>
                  </a:lnTo>
                </a:path>
                <a:path w="473075" h="438784">
                  <a:moveTo>
                    <a:pt x="308382" y="0"/>
                  </a:moveTo>
                  <a:lnTo>
                    <a:pt x="232591" y="32100"/>
                  </a:lnTo>
                </a:path>
                <a:path w="473075" h="438784">
                  <a:moveTo>
                    <a:pt x="290202" y="122777"/>
                  </a:moveTo>
                  <a:lnTo>
                    <a:pt x="232591" y="32100"/>
                  </a:lnTo>
                </a:path>
                <a:path w="473075" h="438784">
                  <a:moveTo>
                    <a:pt x="292439" y="126302"/>
                  </a:moveTo>
                  <a:lnTo>
                    <a:pt x="290202" y="122777"/>
                  </a:lnTo>
                </a:path>
                <a:path w="473075" h="438784">
                  <a:moveTo>
                    <a:pt x="239113" y="156903"/>
                  </a:moveTo>
                  <a:lnTo>
                    <a:pt x="164090" y="75676"/>
                  </a:lnTo>
                </a:path>
                <a:path w="473075" h="438784">
                  <a:moveTo>
                    <a:pt x="241029" y="159003"/>
                  </a:moveTo>
                  <a:lnTo>
                    <a:pt x="239113" y="156903"/>
                  </a:lnTo>
                </a:path>
                <a:path w="473075" h="438784">
                  <a:moveTo>
                    <a:pt x="164090" y="75676"/>
                  </a:moveTo>
                  <a:lnTo>
                    <a:pt x="104952" y="129377"/>
                  </a:lnTo>
                </a:path>
                <a:path w="473075" h="438784">
                  <a:moveTo>
                    <a:pt x="195587" y="198528"/>
                  </a:moveTo>
                  <a:lnTo>
                    <a:pt x="104952" y="129377"/>
                  </a:lnTo>
                </a:path>
                <a:path w="473075" h="438784">
                  <a:moveTo>
                    <a:pt x="196644" y="199278"/>
                  </a:moveTo>
                  <a:lnTo>
                    <a:pt x="195587" y="198528"/>
                  </a:lnTo>
                </a:path>
                <a:path w="473075" h="438784">
                  <a:moveTo>
                    <a:pt x="314161" y="326526"/>
                  </a:moveTo>
                  <a:lnTo>
                    <a:pt x="318205" y="320268"/>
                  </a:lnTo>
                  <a:lnTo>
                    <a:pt x="322604" y="314224"/>
                  </a:lnTo>
                  <a:lnTo>
                    <a:pt x="327351" y="308402"/>
                  </a:lnTo>
                  <a:lnTo>
                    <a:pt x="332440" y="302810"/>
                  </a:lnTo>
                </a:path>
                <a:path w="473075" h="438784">
                  <a:moveTo>
                    <a:pt x="309356" y="334596"/>
                  </a:moveTo>
                  <a:lnTo>
                    <a:pt x="310858" y="331858"/>
                  </a:lnTo>
                  <a:lnTo>
                    <a:pt x="312460" y="329166"/>
                  </a:lnTo>
                  <a:lnTo>
                    <a:pt x="314161" y="326526"/>
                  </a:lnTo>
                </a:path>
                <a:path w="473075" h="438784">
                  <a:moveTo>
                    <a:pt x="160648" y="246004"/>
                  </a:moveTo>
                  <a:lnTo>
                    <a:pt x="56985" y="191628"/>
                  </a:lnTo>
                  <a:lnTo>
                    <a:pt x="21644" y="260495"/>
                  </a:lnTo>
                </a:path>
                <a:path w="473075" h="438784">
                  <a:moveTo>
                    <a:pt x="332440" y="302810"/>
                  </a:moveTo>
                  <a:lnTo>
                    <a:pt x="196644" y="199278"/>
                  </a:lnTo>
                </a:path>
                <a:path w="473075" h="438784">
                  <a:moveTo>
                    <a:pt x="314161" y="326526"/>
                  </a:moveTo>
                  <a:lnTo>
                    <a:pt x="160648" y="246004"/>
                  </a:lnTo>
                </a:path>
                <a:path w="473075" h="438784">
                  <a:moveTo>
                    <a:pt x="134121" y="297680"/>
                  </a:moveTo>
                  <a:lnTo>
                    <a:pt x="21644" y="260495"/>
                  </a:lnTo>
                </a:path>
                <a:path w="473075" h="438784">
                  <a:moveTo>
                    <a:pt x="381068" y="265737"/>
                  </a:moveTo>
                  <a:lnTo>
                    <a:pt x="292439" y="126302"/>
                  </a:lnTo>
                </a:path>
                <a:path w="473075" h="438784">
                  <a:moveTo>
                    <a:pt x="354971" y="282342"/>
                  </a:moveTo>
                  <a:lnTo>
                    <a:pt x="241029" y="159003"/>
                  </a:lnTo>
                </a:path>
                <a:path w="473075" h="438784">
                  <a:moveTo>
                    <a:pt x="289665" y="409560"/>
                  </a:moveTo>
                  <a:lnTo>
                    <a:pt x="289727" y="402302"/>
                  </a:lnTo>
                  <a:lnTo>
                    <a:pt x="290211" y="395071"/>
                  </a:lnTo>
                  <a:lnTo>
                    <a:pt x="291118" y="387874"/>
                  </a:lnTo>
                  <a:lnTo>
                    <a:pt x="292447" y="380722"/>
                  </a:lnTo>
                </a:path>
                <a:path w="473075" h="438784">
                  <a:moveTo>
                    <a:pt x="292447" y="438391"/>
                  </a:moveTo>
                  <a:lnTo>
                    <a:pt x="291118" y="431238"/>
                  </a:lnTo>
                  <a:lnTo>
                    <a:pt x="290211" y="424043"/>
                  </a:lnTo>
                  <a:lnTo>
                    <a:pt x="289727" y="416813"/>
                  </a:lnTo>
                  <a:lnTo>
                    <a:pt x="289665" y="409560"/>
                  </a:lnTo>
                </a:path>
                <a:path w="473075" h="438784">
                  <a:moveTo>
                    <a:pt x="135871" y="298258"/>
                  </a:moveTo>
                  <a:lnTo>
                    <a:pt x="134121" y="297680"/>
                  </a:lnTo>
                </a:path>
                <a:path w="473075" h="438784">
                  <a:moveTo>
                    <a:pt x="300695" y="352761"/>
                  </a:moveTo>
                  <a:lnTo>
                    <a:pt x="135871" y="298258"/>
                  </a:lnTo>
                </a:path>
                <a:path w="473075" h="438784">
                  <a:moveTo>
                    <a:pt x="121241" y="353294"/>
                  </a:moveTo>
                  <a:lnTo>
                    <a:pt x="117881" y="352754"/>
                  </a:lnTo>
                </a:path>
                <a:path w="473075" h="438784">
                  <a:moveTo>
                    <a:pt x="292447" y="380722"/>
                  </a:moveTo>
                  <a:lnTo>
                    <a:pt x="121241" y="353294"/>
                  </a:lnTo>
                </a:path>
                <a:path w="473075" h="438784">
                  <a:moveTo>
                    <a:pt x="117881" y="352754"/>
                  </a:moveTo>
                  <a:lnTo>
                    <a:pt x="0" y="333876"/>
                  </a:lnTo>
                </a:path>
                <a:path w="473075" h="438784">
                  <a:moveTo>
                    <a:pt x="117279" y="409560"/>
                  </a:moveTo>
                  <a:lnTo>
                    <a:pt x="112407" y="409560"/>
                  </a:lnTo>
                </a:path>
                <a:path w="473075" h="438784">
                  <a:moveTo>
                    <a:pt x="289665" y="409560"/>
                  </a:moveTo>
                  <a:lnTo>
                    <a:pt x="117279" y="409560"/>
                  </a:lnTo>
                </a:path>
              </a:pathLst>
            </a:custGeom>
            <a:ln w="945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10279" y="1286006"/>
              <a:ext cx="7620" cy="76200"/>
            </a:xfrm>
            <a:custGeom>
              <a:avLst/>
              <a:gdLst/>
              <a:ahLst/>
              <a:cxnLst/>
              <a:rect l="l" t="t" r="r" b="b"/>
              <a:pathLst>
                <a:path w="7620" h="76200">
                  <a:moveTo>
                    <a:pt x="3644" y="-4950"/>
                  </a:moveTo>
                  <a:lnTo>
                    <a:pt x="3644" y="80634"/>
                  </a:lnTo>
                </a:path>
              </a:pathLst>
            </a:custGeom>
            <a:ln w="1718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10279" y="1054281"/>
              <a:ext cx="417830" cy="307975"/>
            </a:xfrm>
            <a:custGeom>
              <a:avLst/>
              <a:gdLst/>
              <a:ahLst/>
              <a:cxnLst/>
              <a:rect l="l" t="t" r="r" b="b"/>
              <a:pathLst>
                <a:path w="417830" h="307975">
                  <a:moveTo>
                    <a:pt x="119696" y="307408"/>
                  </a:moveTo>
                  <a:lnTo>
                    <a:pt x="0" y="307408"/>
                  </a:lnTo>
                </a:path>
                <a:path w="417830" h="307975">
                  <a:moveTo>
                    <a:pt x="307984" y="250609"/>
                  </a:moveTo>
                  <a:lnTo>
                    <a:pt x="310378" y="244369"/>
                  </a:lnTo>
                  <a:lnTo>
                    <a:pt x="313276" y="238302"/>
                  </a:lnTo>
                  <a:lnTo>
                    <a:pt x="316644" y="232444"/>
                  </a:lnTo>
                </a:path>
                <a:path w="417830" h="307975">
                  <a:moveTo>
                    <a:pt x="299736" y="278570"/>
                  </a:moveTo>
                  <a:lnTo>
                    <a:pt x="301181" y="271435"/>
                  </a:lnTo>
                  <a:lnTo>
                    <a:pt x="303039" y="264390"/>
                  </a:lnTo>
                  <a:lnTo>
                    <a:pt x="305308" y="257445"/>
                  </a:lnTo>
                  <a:lnTo>
                    <a:pt x="307984" y="250609"/>
                  </a:lnTo>
                </a:path>
                <a:path w="417830" h="307975">
                  <a:moveTo>
                    <a:pt x="362259" y="180190"/>
                  </a:moveTo>
                  <a:lnTo>
                    <a:pt x="368414" y="175569"/>
                  </a:lnTo>
                  <a:lnTo>
                    <a:pt x="374822" y="171258"/>
                  </a:lnTo>
                  <a:lnTo>
                    <a:pt x="381473" y="167262"/>
                  </a:lnTo>
                  <a:lnTo>
                    <a:pt x="388356" y="163585"/>
                  </a:lnTo>
                </a:path>
                <a:path w="417830" h="307975">
                  <a:moveTo>
                    <a:pt x="417236" y="151352"/>
                  </a:moveTo>
                  <a:lnTo>
                    <a:pt x="356612" y="0"/>
                  </a:lnTo>
                </a:path>
                <a:path w="417830" h="307975">
                  <a:moveTo>
                    <a:pt x="339728" y="200658"/>
                  </a:moveTo>
                  <a:lnTo>
                    <a:pt x="344907" y="195136"/>
                  </a:lnTo>
                  <a:lnTo>
                    <a:pt x="350393" y="189879"/>
                  </a:lnTo>
                  <a:lnTo>
                    <a:pt x="356180" y="184895"/>
                  </a:lnTo>
                  <a:lnTo>
                    <a:pt x="362259" y="180190"/>
                  </a:lnTo>
                </a:path>
              </a:pathLst>
            </a:custGeom>
            <a:ln w="945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06727" y="925879"/>
              <a:ext cx="83820" cy="6985"/>
            </a:xfrm>
            <a:custGeom>
              <a:avLst/>
              <a:gdLst/>
              <a:ahLst/>
              <a:cxnLst/>
              <a:rect l="l" t="t" r="r" b="b"/>
              <a:pathLst>
                <a:path w="83820" h="6984">
                  <a:moveTo>
                    <a:pt x="-4503" y="3300"/>
                  </a:moveTo>
                  <a:lnTo>
                    <a:pt x="87815" y="3300"/>
                  </a:lnTo>
                </a:path>
              </a:pathLst>
            </a:custGeom>
            <a:ln w="1560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706727" y="932479"/>
              <a:ext cx="20955" cy="107314"/>
            </a:xfrm>
            <a:custGeom>
              <a:avLst/>
              <a:gdLst/>
              <a:ahLst/>
              <a:cxnLst/>
              <a:rect l="l" t="t" r="r" b="b"/>
              <a:pathLst>
                <a:path w="20954" h="107315">
                  <a:moveTo>
                    <a:pt x="19566" y="100801"/>
                  </a:moveTo>
                  <a:lnTo>
                    <a:pt x="0" y="0"/>
                  </a:lnTo>
                </a:path>
                <a:path w="20954" h="107315">
                  <a:moveTo>
                    <a:pt x="20788" y="107102"/>
                  </a:moveTo>
                  <a:lnTo>
                    <a:pt x="19566" y="100801"/>
                  </a:lnTo>
                </a:path>
              </a:pathLst>
            </a:custGeom>
            <a:ln w="945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/>
          <p:nvPr/>
        </p:nvSpPr>
        <p:spPr>
          <a:xfrm>
            <a:off x="481658" y="1612262"/>
            <a:ext cx="77470" cy="127000"/>
          </a:xfrm>
          <a:custGeom>
            <a:avLst/>
            <a:gdLst/>
            <a:ahLst/>
            <a:cxnLst/>
            <a:rect l="l" t="t" r="r" b="b"/>
            <a:pathLst>
              <a:path w="77470" h="127000">
                <a:moveTo>
                  <a:pt x="76938" y="0"/>
                </a:moveTo>
                <a:lnTo>
                  <a:pt x="0" y="83296"/>
                </a:lnTo>
                <a:lnTo>
                  <a:pt x="68500" y="126872"/>
                </a:lnTo>
              </a:path>
            </a:pathLst>
          </a:custGeom>
          <a:ln w="966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67742" y="1610035"/>
            <a:ext cx="52069" cy="31750"/>
          </a:xfrm>
          <a:custGeom>
            <a:avLst/>
            <a:gdLst/>
            <a:ahLst/>
            <a:cxnLst/>
            <a:rect l="l" t="t" r="r" b="b"/>
            <a:pathLst>
              <a:path w="52069" h="31750">
                <a:moveTo>
                  <a:pt x="51691" y="0"/>
                </a:moveTo>
                <a:lnTo>
                  <a:pt x="39456" y="8738"/>
                </a:lnTo>
                <a:lnTo>
                  <a:pt x="26752" y="16867"/>
                </a:lnTo>
                <a:lnTo>
                  <a:pt x="13595" y="24378"/>
                </a:lnTo>
                <a:lnTo>
                  <a:pt x="0" y="31260"/>
                </a:lnTo>
              </a:path>
            </a:pathLst>
          </a:custGeom>
          <a:ln w="924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51324" y="1663946"/>
            <a:ext cx="60325" cy="13970"/>
          </a:xfrm>
          <a:custGeom>
            <a:avLst/>
            <a:gdLst/>
            <a:ahLst/>
            <a:cxnLst/>
            <a:rect l="l" t="t" r="r" b="b"/>
            <a:pathLst>
              <a:path w="60325" h="13969">
                <a:moveTo>
                  <a:pt x="59815" y="0"/>
                </a:moveTo>
                <a:lnTo>
                  <a:pt x="45166" y="4435"/>
                </a:lnTo>
                <a:lnTo>
                  <a:pt x="30300" y="8165"/>
                </a:lnTo>
                <a:lnTo>
                  <a:pt x="15238" y="11184"/>
                </a:lnTo>
                <a:lnTo>
                  <a:pt x="0" y="13485"/>
                </a:lnTo>
              </a:path>
            </a:pathLst>
          </a:custGeom>
          <a:ln w="904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29035" y="1675983"/>
            <a:ext cx="61594" cy="5715"/>
          </a:xfrm>
          <a:custGeom>
            <a:avLst/>
            <a:gdLst/>
            <a:ahLst/>
            <a:cxnLst/>
            <a:rect l="l" t="t" r="r" b="b"/>
            <a:pathLst>
              <a:path w="61595" h="5714">
                <a:moveTo>
                  <a:pt x="61004" y="5475"/>
                </a:moveTo>
                <a:lnTo>
                  <a:pt x="45645" y="5187"/>
                </a:lnTo>
                <a:lnTo>
                  <a:pt x="30344" y="4177"/>
                </a:lnTo>
                <a:lnTo>
                  <a:pt x="15122" y="2448"/>
                </a:lnTo>
                <a:lnTo>
                  <a:pt x="0" y="0"/>
                </a:lnTo>
              </a:path>
            </a:pathLst>
          </a:custGeom>
          <a:ln w="900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064627" y="1418991"/>
            <a:ext cx="83185" cy="152400"/>
          </a:xfrm>
          <a:custGeom>
            <a:avLst/>
            <a:gdLst/>
            <a:ahLst/>
            <a:cxnLst/>
            <a:rect l="l" t="t" r="r" b="b"/>
            <a:pathLst>
              <a:path w="83184" h="152400">
                <a:moveTo>
                  <a:pt x="83188" y="0"/>
                </a:moveTo>
                <a:lnTo>
                  <a:pt x="79935" y="14087"/>
                </a:lnTo>
                <a:lnTo>
                  <a:pt x="75871" y="27975"/>
                </a:lnTo>
                <a:lnTo>
                  <a:pt x="70985" y="41644"/>
                </a:lnTo>
                <a:lnTo>
                  <a:pt x="65272" y="55073"/>
                </a:lnTo>
              </a:path>
              <a:path w="83184" h="152400">
                <a:moveTo>
                  <a:pt x="37243" y="106247"/>
                </a:moveTo>
                <a:lnTo>
                  <a:pt x="28941" y="118350"/>
                </a:lnTo>
                <a:lnTo>
                  <a:pt x="19959" y="130023"/>
                </a:lnTo>
                <a:lnTo>
                  <a:pt x="10307" y="141247"/>
                </a:lnTo>
                <a:lnTo>
                  <a:pt x="0" y="152005"/>
                </a:lnTo>
              </a:path>
            </a:pathLst>
          </a:custGeom>
          <a:ln w="945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64893" y="1033281"/>
            <a:ext cx="61594" cy="16510"/>
          </a:xfrm>
          <a:custGeom>
            <a:avLst/>
            <a:gdLst/>
            <a:ahLst/>
            <a:cxnLst/>
            <a:rect l="l" t="t" r="r" b="b"/>
            <a:pathLst>
              <a:path w="61595" h="16509">
                <a:moveTo>
                  <a:pt x="0" y="16050"/>
                </a:moveTo>
                <a:lnTo>
                  <a:pt x="14980" y="10905"/>
                </a:lnTo>
                <a:lnTo>
                  <a:pt x="30223" y="6506"/>
                </a:lnTo>
                <a:lnTo>
                  <a:pt x="45704" y="2866"/>
                </a:lnTo>
                <a:lnTo>
                  <a:pt x="61400" y="0"/>
                </a:lnTo>
              </a:path>
            </a:pathLst>
          </a:custGeom>
          <a:ln w="905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56681" y="1074907"/>
            <a:ext cx="51435" cy="34290"/>
          </a:xfrm>
          <a:custGeom>
            <a:avLst/>
            <a:gdLst/>
            <a:ahLst/>
            <a:cxnLst/>
            <a:rect l="l" t="t" r="r" b="b"/>
            <a:pathLst>
              <a:path w="51434" h="34290">
                <a:moveTo>
                  <a:pt x="0" y="34125"/>
                </a:moveTo>
                <a:lnTo>
                  <a:pt x="12003" y="24648"/>
                </a:lnTo>
                <a:lnTo>
                  <a:pt x="24531" y="15797"/>
                </a:lnTo>
                <a:lnTo>
                  <a:pt x="37566" y="7578"/>
                </a:lnTo>
                <a:lnTo>
                  <a:pt x="51088" y="0"/>
                </a:lnTo>
              </a:path>
            </a:pathLst>
          </a:custGeom>
          <a:ln w="928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38809" y="1183509"/>
            <a:ext cx="49530" cy="121920"/>
          </a:xfrm>
          <a:custGeom>
            <a:avLst/>
            <a:gdLst/>
            <a:ahLst/>
            <a:cxnLst/>
            <a:rect l="l" t="t" r="r" b="b"/>
            <a:pathLst>
              <a:path w="49529" h="121919">
                <a:moveTo>
                  <a:pt x="39612" y="14737"/>
                </a:moveTo>
                <a:lnTo>
                  <a:pt x="42560" y="9750"/>
                </a:lnTo>
                <a:lnTo>
                  <a:pt x="45672" y="4875"/>
                </a:lnTo>
                <a:lnTo>
                  <a:pt x="48958" y="0"/>
                </a:lnTo>
              </a:path>
              <a:path w="49529" h="121919">
                <a:moveTo>
                  <a:pt x="0" y="121914"/>
                </a:moveTo>
                <a:lnTo>
                  <a:pt x="2454" y="107901"/>
                </a:lnTo>
                <a:lnTo>
                  <a:pt x="5714" y="94045"/>
                </a:lnTo>
                <a:lnTo>
                  <a:pt x="9774" y="80364"/>
                </a:lnTo>
                <a:lnTo>
                  <a:pt x="14629" y="66878"/>
                </a:lnTo>
              </a:path>
            </a:pathLst>
          </a:custGeom>
          <a:ln w="945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90039" y="1027256"/>
            <a:ext cx="64135" cy="5080"/>
          </a:xfrm>
          <a:custGeom>
            <a:avLst/>
            <a:gdLst/>
            <a:ahLst/>
            <a:cxnLst/>
            <a:rect l="l" t="t" r="r" b="b"/>
            <a:pathLst>
              <a:path w="64134" h="5080">
                <a:moveTo>
                  <a:pt x="0" y="99"/>
                </a:moveTo>
                <a:lnTo>
                  <a:pt x="16098" y="0"/>
                </a:lnTo>
                <a:lnTo>
                  <a:pt x="32154" y="708"/>
                </a:lnTo>
                <a:lnTo>
                  <a:pt x="48143" y="2219"/>
                </a:lnTo>
                <a:lnTo>
                  <a:pt x="64042" y="4524"/>
                </a:lnTo>
              </a:path>
            </a:pathLst>
          </a:custGeom>
          <a:ln w="900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916332" y="1046481"/>
            <a:ext cx="219075" cy="201295"/>
          </a:xfrm>
          <a:custGeom>
            <a:avLst/>
            <a:gdLst/>
            <a:ahLst/>
            <a:cxnLst/>
            <a:rect l="l" t="t" r="r" b="b"/>
            <a:pathLst>
              <a:path w="219075" h="201294">
                <a:moveTo>
                  <a:pt x="0" y="0"/>
                </a:moveTo>
                <a:lnTo>
                  <a:pt x="15146" y="5046"/>
                </a:lnTo>
                <a:lnTo>
                  <a:pt x="29945" y="10837"/>
                </a:lnTo>
                <a:lnTo>
                  <a:pt x="44374" y="17360"/>
                </a:lnTo>
                <a:lnTo>
                  <a:pt x="58411" y="24600"/>
                </a:lnTo>
              </a:path>
              <a:path w="219075" h="201294">
                <a:moveTo>
                  <a:pt x="111085" y="58201"/>
                </a:moveTo>
                <a:lnTo>
                  <a:pt x="123313" y="67763"/>
                </a:lnTo>
                <a:lnTo>
                  <a:pt x="134934" y="77889"/>
                </a:lnTo>
                <a:lnTo>
                  <a:pt x="145930" y="88576"/>
                </a:lnTo>
                <a:lnTo>
                  <a:pt x="156287" y="99826"/>
                </a:lnTo>
              </a:path>
              <a:path w="219075" h="201294">
                <a:moveTo>
                  <a:pt x="192572" y="147977"/>
                </a:moveTo>
                <a:lnTo>
                  <a:pt x="200323" y="160758"/>
                </a:lnTo>
                <a:lnTo>
                  <a:pt x="207300" y="173886"/>
                </a:lnTo>
                <a:lnTo>
                  <a:pt x="213483" y="187338"/>
                </a:lnTo>
                <a:lnTo>
                  <a:pt x="218851" y="201093"/>
                </a:lnTo>
              </a:path>
            </a:pathLst>
          </a:custGeom>
          <a:ln w="945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150540" y="1303939"/>
            <a:ext cx="5080" cy="57785"/>
          </a:xfrm>
          <a:custGeom>
            <a:avLst/>
            <a:gdLst/>
            <a:ahLst/>
            <a:cxnLst/>
            <a:rect l="l" t="t" r="r" b="b"/>
            <a:pathLst>
              <a:path w="5080" h="57784">
                <a:moveTo>
                  <a:pt x="0" y="0"/>
                </a:moveTo>
                <a:lnTo>
                  <a:pt x="2354" y="14348"/>
                </a:lnTo>
                <a:lnTo>
                  <a:pt x="3849" y="28771"/>
                </a:lnTo>
                <a:lnTo>
                  <a:pt x="4493" y="43246"/>
                </a:lnTo>
                <a:lnTo>
                  <a:pt x="4293" y="57751"/>
                </a:lnTo>
              </a:path>
            </a:pathLst>
          </a:custGeom>
          <a:ln w="990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34846" y="1361690"/>
            <a:ext cx="235585" cy="299720"/>
          </a:xfrm>
          <a:custGeom>
            <a:avLst/>
            <a:gdLst/>
            <a:ahLst/>
            <a:cxnLst/>
            <a:rect l="l" t="t" r="r" b="b"/>
            <a:pathLst>
              <a:path w="235584" h="299719">
                <a:moveTo>
                  <a:pt x="235190" y="299525"/>
                </a:moveTo>
                <a:lnTo>
                  <a:pt x="220854" y="294607"/>
                </a:lnTo>
                <a:lnTo>
                  <a:pt x="206837" y="289028"/>
                </a:lnTo>
                <a:lnTo>
                  <a:pt x="193157" y="282794"/>
                </a:lnTo>
                <a:lnTo>
                  <a:pt x="179833" y="275915"/>
                </a:lnTo>
              </a:path>
              <a:path w="235584" h="299719">
                <a:moveTo>
                  <a:pt x="129677" y="244144"/>
                </a:moveTo>
                <a:lnTo>
                  <a:pt x="117963" y="235158"/>
                </a:lnTo>
                <a:lnTo>
                  <a:pt x="106792" y="225644"/>
                </a:lnTo>
                <a:lnTo>
                  <a:pt x="96178" y="215618"/>
                </a:lnTo>
                <a:lnTo>
                  <a:pt x="86135" y="205091"/>
                </a:lnTo>
              </a:path>
              <a:path w="235584" h="299719">
                <a:moveTo>
                  <a:pt x="50452" y="159828"/>
                </a:moveTo>
                <a:lnTo>
                  <a:pt x="42687" y="147758"/>
                </a:lnTo>
                <a:lnTo>
                  <a:pt x="35633" y="135353"/>
                </a:lnTo>
                <a:lnTo>
                  <a:pt x="29296" y="122630"/>
                </a:lnTo>
                <a:lnTo>
                  <a:pt x="23686" y="109607"/>
                </a:lnTo>
              </a:path>
              <a:path w="235584" h="299719">
                <a:moveTo>
                  <a:pt x="6679" y="55823"/>
                </a:moveTo>
                <a:lnTo>
                  <a:pt x="3799" y="41996"/>
                </a:lnTo>
                <a:lnTo>
                  <a:pt x="1726" y="28069"/>
                </a:lnTo>
                <a:lnTo>
                  <a:pt x="459" y="14063"/>
                </a:lnTo>
                <a:lnTo>
                  <a:pt x="0" y="0"/>
                </a:lnTo>
              </a:path>
            </a:pathLst>
          </a:custGeom>
          <a:ln w="945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87768" y="1150658"/>
            <a:ext cx="25400" cy="33020"/>
          </a:xfrm>
          <a:custGeom>
            <a:avLst/>
            <a:gdLst/>
            <a:ahLst/>
            <a:cxnLst/>
            <a:rect l="l" t="t" r="r" b="b"/>
            <a:pathLst>
              <a:path w="25400" h="33019">
                <a:moveTo>
                  <a:pt x="0" y="32850"/>
                </a:moveTo>
                <a:lnTo>
                  <a:pt x="5837" y="24332"/>
                </a:lnTo>
                <a:lnTo>
                  <a:pt x="12015" y="16003"/>
                </a:lnTo>
                <a:lnTo>
                  <a:pt x="18533" y="7885"/>
                </a:lnTo>
                <a:lnTo>
                  <a:pt x="25387" y="0"/>
                </a:lnTo>
              </a:path>
            </a:pathLst>
          </a:custGeom>
          <a:ln w="956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22520" y="1571941"/>
            <a:ext cx="92075" cy="70485"/>
          </a:xfrm>
          <a:custGeom>
            <a:avLst/>
            <a:gdLst/>
            <a:ahLst/>
            <a:cxnLst/>
            <a:rect l="l" t="t" r="r" b="b"/>
            <a:pathLst>
              <a:path w="92075" h="70485">
                <a:moveTo>
                  <a:pt x="91691" y="0"/>
                </a:moveTo>
                <a:lnTo>
                  <a:pt x="0" y="69893"/>
                </a:lnTo>
              </a:path>
            </a:pathLst>
          </a:custGeom>
          <a:ln w="933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17567" y="1390520"/>
            <a:ext cx="354965" cy="348615"/>
          </a:xfrm>
          <a:custGeom>
            <a:avLst/>
            <a:gdLst/>
            <a:ahLst/>
            <a:cxnLst/>
            <a:rect l="l" t="t" r="r" b="b"/>
            <a:pathLst>
              <a:path w="354965" h="348614">
                <a:moveTo>
                  <a:pt x="134121" y="83041"/>
                </a:moveTo>
                <a:lnTo>
                  <a:pt x="21644" y="120227"/>
                </a:lnTo>
              </a:path>
              <a:path w="354965" h="348614">
                <a:moveTo>
                  <a:pt x="117881" y="27968"/>
                </a:moveTo>
                <a:lnTo>
                  <a:pt x="0" y="46845"/>
                </a:lnTo>
                <a:lnTo>
                  <a:pt x="21644" y="120227"/>
                </a:lnTo>
              </a:path>
              <a:path w="354965" h="348614">
                <a:moveTo>
                  <a:pt x="160648" y="134717"/>
                </a:moveTo>
                <a:lnTo>
                  <a:pt x="56985" y="189086"/>
                </a:lnTo>
                <a:lnTo>
                  <a:pt x="104952" y="251314"/>
                </a:lnTo>
              </a:path>
              <a:path w="354965" h="348614">
                <a:moveTo>
                  <a:pt x="167731" y="130997"/>
                </a:moveTo>
                <a:lnTo>
                  <a:pt x="160648" y="134717"/>
                </a:lnTo>
              </a:path>
              <a:path w="354965" h="348614">
                <a:moveTo>
                  <a:pt x="314161" y="54196"/>
                </a:moveTo>
                <a:lnTo>
                  <a:pt x="167731" y="130997"/>
                </a:lnTo>
              </a:path>
              <a:path w="354965" h="348614">
                <a:moveTo>
                  <a:pt x="140965" y="80776"/>
                </a:moveTo>
                <a:lnTo>
                  <a:pt x="134121" y="83041"/>
                </a:lnTo>
              </a:path>
              <a:path w="354965" h="348614">
                <a:moveTo>
                  <a:pt x="300695" y="27968"/>
                </a:moveTo>
                <a:lnTo>
                  <a:pt x="140965" y="80776"/>
                </a:lnTo>
              </a:path>
              <a:path w="354965" h="348614">
                <a:moveTo>
                  <a:pt x="123958" y="26993"/>
                </a:moveTo>
                <a:lnTo>
                  <a:pt x="117881" y="27968"/>
                </a:lnTo>
              </a:path>
              <a:path w="354965" h="348614">
                <a:moveTo>
                  <a:pt x="292447" y="0"/>
                </a:moveTo>
                <a:lnTo>
                  <a:pt x="123958" y="26993"/>
                </a:lnTo>
              </a:path>
              <a:path w="354965" h="348614">
                <a:moveTo>
                  <a:pt x="246957" y="215314"/>
                </a:moveTo>
                <a:lnTo>
                  <a:pt x="241029" y="221741"/>
                </a:lnTo>
              </a:path>
              <a:path w="354965" h="348614">
                <a:moveTo>
                  <a:pt x="354971" y="98379"/>
                </a:moveTo>
                <a:lnTo>
                  <a:pt x="246957" y="215314"/>
                </a:lnTo>
              </a:path>
              <a:path w="354965" h="348614">
                <a:moveTo>
                  <a:pt x="292439" y="254442"/>
                </a:moveTo>
                <a:lnTo>
                  <a:pt x="232591" y="348614"/>
                </a:lnTo>
              </a:path>
              <a:path w="354965" h="348614">
                <a:moveTo>
                  <a:pt x="203414" y="176260"/>
                </a:moveTo>
                <a:lnTo>
                  <a:pt x="196644" y="181421"/>
                </a:lnTo>
              </a:path>
              <a:path w="354965" h="348614">
                <a:moveTo>
                  <a:pt x="332440" y="77911"/>
                </a:moveTo>
                <a:lnTo>
                  <a:pt x="203414" y="176260"/>
                </a:lnTo>
              </a:path>
            </a:pathLst>
          </a:custGeom>
          <a:ln w="945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58294" y="1525230"/>
            <a:ext cx="31750" cy="2540"/>
          </a:xfrm>
          <a:custGeom>
            <a:avLst/>
            <a:gdLst/>
            <a:ahLst/>
            <a:cxnLst/>
            <a:rect l="l" t="t" r="r" b="b"/>
            <a:pathLst>
              <a:path w="31750" h="2540">
                <a:moveTo>
                  <a:pt x="31744" y="2520"/>
                </a:moveTo>
                <a:lnTo>
                  <a:pt x="23760" y="2466"/>
                </a:lnTo>
                <a:lnTo>
                  <a:pt x="15801" y="2027"/>
                </a:lnTo>
                <a:lnTo>
                  <a:pt x="7877" y="1204"/>
                </a:lnTo>
                <a:lnTo>
                  <a:pt x="0" y="0"/>
                </a:lnTo>
              </a:path>
            </a:pathLst>
          </a:custGeom>
          <a:ln w="900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10007" y="1390520"/>
            <a:ext cx="148590" cy="400685"/>
          </a:xfrm>
          <a:custGeom>
            <a:avLst/>
            <a:gdLst/>
            <a:ahLst/>
            <a:cxnLst/>
            <a:rect l="l" t="t" r="r" b="b"/>
            <a:pathLst>
              <a:path w="148590" h="400685">
                <a:moveTo>
                  <a:pt x="119027" y="285463"/>
                </a:moveTo>
                <a:lnTo>
                  <a:pt x="117508" y="293293"/>
                </a:lnTo>
              </a:path>
              <a:path w="148590" h="400685">
                <a:moveTo>
                  <a:pt x="148287" y="134710"/>
                </a:moveTo>
                <a:lnTo>
                  <a:pt x="119027" y="285463"/>
                </a:lnTo>
              </a:path>
              <a:path w="148590" h="400685">
                <a:moveTo>
                  <a:pt x="117508" y="293293"/>
                </a:moveTo>
                <a:lnTo>
                  <a:pt x="96719" y="400380"/>
                </a:lnTo>
              </a:path>
              <a:path w="148590" h="400685">
                <a:moveTo>
                  <a:pt x="88628" y="114984"/>
                </a:moveTo>
                <a:lnTo>
                  <a:pt x="56452" y="93675"/>
                </a:lnTo>
                <a:lnTo>
                  <a:pt x="25765" y="60453"/>
                </a:lnTo>
                <a:lnTo>
                  <a:pt x="5579" y="21131"/>
                </a:lnTo>
                <a:lnTo>
                  <a:pt x="1453" y="7136"/>
                </a:lnTo>
                <a:lnTo>
                  <a:pt x="8" y="0"/>
                </a:lnTo>
              </a:path>
              <a:path w="148590" h="400685">
                <a:moveTo>
                  <a:pt x="60029" y="270695"/>
                </a:moveTo>
                <a:lnTo>
                  <a:pt x="56884" y="278540"/>
                </a:lnTo>
              </a:path>
              <a:path w="148590" h="400685">
                <a:moveTo>
                  <a:pt x="117508" y="127217"/>
                </a:moveTo>
                <a:lnTo>
                  <a:pt x="60029" y="270695"/>
                </a:lnTo>
              </a:path>
              <a:path w="148590" h="400685">
                <a:moveTo>
                  <a:pt x="56884" y="278540"/>
                </a:moveTo>
                <a:lnTo>
                  <a:pt x="15942" y="380714"/>
                </a:lnTo>
                <a:lnTo>
                  <a:pt x="96719" y="400380"/>
                </a:lnTo>
              </a:path>
              <a:path w="148590" h="400685">
                <a:moveTo>
                  <a:pt x="4672" y="247084"/>
                </a:moveTo>
                <a:lnTo>
                  <a:pt x="0" y="254442"/>
                </a:lnTo>
              </a:path>
              <a:path w="148590" h="400685">
                <a:moveTo>
                  <a:pt x="88628" y="114984"/>
                </a:moveTo>
                <a:lnTo>
                  <a:pt x="4672" y="247084"/>
                </a:lnTo>
              </a:path>
              <a:path w="148590" h="400685">
                <a:moveTo>
                  <a:pt x="148287" y="134710"/>
                </a:moveTo>
                <a:lnTo>
                  <a:pt x="110027" y="124686"/>
                </a:lnTo>
                <a:lnTo>
                  <a:pt x="95575" y="118565"/>
                </a:lnTo>
                <a:lnTo>
                  <a:pt x="88628" y="114984"/>
                </a:lnTo>
              </a:path>
            </a:pathLst>
          </a:custGeom>
          <a:ln w="945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150127" y="1361690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4705" y="0"/>
                </a:moveTo>
                <a:lnTo>
                  <a:pt x="119712" y="0"/>
                </a:lnTo>
              </a:path>
              <a:path w="120015">
                <a:moveTo>
                  <a:pt x="0" y="0"/>
                </a:moveTo>
                <a:lnTo>
                  <a:pt x="4705" y="0"/>
                </a:lnTo>
              </a:path>
            </a:pathLst>
          </a:custGeom>
          <a:ln w="945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930078" y="1151408"/>
            <a:ext cx="332740" cy="153670"/>
          </a:xfrm>
          <a:custGeom>
            <a:avLst/>
            <a:gdLst/>
            <a:ahLst/>
            <a:cxnLst/>
            <a:rect l="l" t="t" r="r" b="b"/>
            <a:pathLst>
              <a:path w="332740" h="153669">
                <a:moveTo>
                  <a:pt x="220461" y="152530"/>
                </a:moveTo>
                <a:lnTo>
                  <a:pt x="332413" y="134597"/>
                </a:lnTo>
              </a:path>
              <a:path w="332740" h="153669">
                <a:moveTo>
                  <a:pt x="214517" y="153475"/>
                </a:moveTo>
                <a:lnTo>
                  <a:pt x="220461" y="152530"/>
                </a:lnTo>
              </a:path>
              <a:path w="332740" h="153669">
                <a:moveTo>
                  <a:pt x="18278" y="127247"/>
                </a:moveTo>
                <a:lnTo>
                  <a:pt x="171792" y="46725"/>
                </a:lnTo>
              </a:path>
              <a:path w="332740" h="153669">
                <a:moveTo>
                  <a:pt x="0" y="103532"/>
                </a:moveTo>
                <a:lnTo>
                  <a:pt x="135787" y="0"/>
                </a:lnTo>
              </a:path>
              <a:path w="332740" h="153669">
                <a:moveTo>
                  <a:pt x="0" y="103532"/>
                </a:moveTo>
                <a:lnTo>
                  <a:pt x="5087" y="109123"/>
                </a:lnTo>
                <a:lnTo>
                  <a:pt x="9832" y="114945"/>
                </a:lnTo>
                <a:lnTo>
                  <a:pt x="14231" y="120989"/>
                </a:lnTo>
                <a:lnTo>
                  <a:pt x="18278" y="127247"/>
                </a:lnTo>
              </a:path>
            </a:pathLst>
          </a:custGeom>
          <a:ln w="945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948357" y="1249810"/>
            <a:ext cx="201930" cy="140970"/>
          </a:xfrm>
          <a:custGeom>
            <a:avLst/>
            <a:gdLst/>
            <a:ahLst/>
            <a:cxnLst/>
            <a:rect l="l" t="t" r="r" b="b"/>
            <a:pathLst>
              <a:path w="201930" h="140969">
                <a:moveTo>
                  <a:pt x="24487" y="111879"/>
                </a:moveTo>
                <a:lnTo>
                  <a:pt x="201769" y="111879"/>
                </a:lnTo>
              </a:path>
              <a:path w="201930" h="140969">
                <a:moveTo>
                  <a:pt x="21713" y="83041"/>
                </a:moveTo>
                <a:lnTo>
                  <a:pt x="196238" y="55073"/>
                </a:lnTo>
              </a:path>
              <a:path w="201930" h="140969">
                <a:moveTo>
                  <a:pt x="24487" y="111879"/>
                </a:moveTo>
                <a:lnTo>
                  <a:pt x="24429" y="119133"/>
                </a:lnTo>
                <a:lnTo>
                  <a:pt x="23945" y="126362"/>
                </a:lnTo>
                <a:lnTo>
                  <a:pt x="23039" y="133558"/>
                </a:lnTo>
                <a:lnTo>
                  <a:pt x="21713" y="140710"/>
                </a:lnTo>
              </a:path>
              <a:path w="201930" h="140969">
                <a:moveTo>
                  <a:pt x="21713" y="83041"/>
                </a:moveTo>
                <a:lnTo>
                  <a:pt x="23039" y="90193"/>
                </a:lnTo>
                <a:lnTo>
                  <a:pt x="23945" y="97390"/>
                </a:lnTo>
                <a:lnTo>
                  <a:pt x="24429" y="104621"/>
                </a:lnTo>
                <a:lnTo>
                  <a:pt x="24487" y="111879"/>
                </a:lnTo>
              </a:path>
              <a:path w="201930" h="140969">
                <a:moveTo>
                  <a:pt x="13465" y="55081"/>
                </a:moveTo>
                <a:lnTo>
                  <a:pt x="180056" y="0"/>
                </a:lnTo>
              </a:path>
              <a:path w="201930" h="140969">
                <a:moveTo>
                  <a:pt x="13465" y="55081"/>
                </a:moveTo>
                <a:lnTo>
                  <a:pt x="16138" y="61916"/>
                </a:lnTo>
                <a:lnTo>
                  <a:pt x="18406" y="68861"/>
                </a:lnTo>
                <a:lnTo>
                  <a:pt x="20266" y="75906"/>
                </a:lnTo>
                <a:lnTo>
                  <a:pt x="21713" y="83041"/>
                </a:lnTo>
              </a:path>
              <a:path w="201930" h="140969">
                <a:moveTo>
                  <a:pt x="0" y="28845"/>
                </a:moveTo>
                <a:lnTo>
                  <a:pt x="3937" y="35155"/>
                </a:lnTo>
                <a:lnTo>
                  <a:pt x="7497" y="41637"/>
                </a:lnTo>
                <a:lnTo>
                  <a:pt x="10675" y="48281"/>
                </a:lnTo>
                <a:lnTo>
                  <a:pt x="13465" y="55081"/>
                </a:lnTo>
              </a:path>
            </a:pathLst>
          </a:custGeom>
          <a:ln w="945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101870" y="1143758"/>
            <a:ext cx="160655" cy="142875"/>
          </a:xfrm>
          <a:custGeom>
            <a:avLst/>
            <a:gdLst/>
            <a:ahLst/>
            <a:cxnLst/>
            <a:rect l="l" t="t" r="r" b="b"/>
            <a:pathLst>
              <a:path w="160655" h="142875">
                <a:moveTo>
                  <a:pt x="160621" y="142247"/>
                </a:moveTo>
                <a:lnTo>
                  <a:pt x="138990" y="68866"/>
                </a:lnTo>
              </a:path>
              <a:path w="160655" h="142875">
                <a:moveTo>
                  <a:pt x="33313" y="103817"/>
                </a:moveTo>
                <a:lnTo>
                  <a:pt x="138990" y="68866"/>
                </a:lnTo>
              </a:path>
              <a:path w="160655" h="142875">
                <a:moveTo>
                  <a:pt x="26543" y="106052"/>
                </a:moveTo>
                <a:lnTo>
                  <a:pt x="33313" y="103817"/>
                </a:lnTo>
              </a:path>
              <a:path w="160655" h="142875">
                <a:moveTo>
                  <a:pt x="7034" y="50700"/>
                </a:moveTo>
                <a:lnTo>
                  <a:pt x="103654" y="0"/>
                </a:lnTo>
              </a:path>
              <a:path w="160655" h="142875">
                <a:moveTo>
                  <a:pt x="0" y="54376"/>
                </a:moveTo>
                <a:lnTo>
                  <a:pt x="7034" y="50700"/>
                </a:lnTo>
              </a:path>
            </a:pathLst>
          </a:custGeom>
          <a:ln w="945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852562" y="929929"/>
            <a:ext cx="102870" cy="124460"/>
          </a:xfrm>
          <a:custGeom>
            <a:avLst/>
            <a:gdLst/>
            <a:ahLst/>
            <a:cxnLst/>
            <a:rect l="l" t="t" r="r" b="b"/>
            <a:pathLst>
              <a:path w="102869" h="124459">
                <a:moveTo>
                  <a:pt x="63769" y="116552"/>
                </a:moveTo>
                <a:lnTo>
                  <a:pt x="102532" y="19800"/>
                </a:lnTo>
              </a:path>
              <a:path w="102869" h="124459">
                <a:moveTo>
                  <a:pt x="60632" y="124352"/>
                </a:moveTo>
                <a:lnTo>
                  <a:pt x="63769" y="116552"/>
                </a:lnTo>
              </a:path>
              <a:path w="102869" h="124459">
                <a:moveTo>
                  <a:pt x="102532" y="19800"/>
                </a:moveTo>
                <a:lnTo>
                  <a:pt x="21284" y="0"/>
                </a:lnTo>
              </a:path>
              <a:path w="102869" h="124459">
                <a:moveTo>
                  <a:pt x="1519" y="101851"/>
                </a:moveTo>
                <a:lnTo>
                  <a:pt x="21284" y="0"/>
                </a:lnTo>
              </a:path>
              <a:path w="102869" h="124459">
                <a:moveTo>
                  <a:pt x="0" y="109652"/>
                </a:moveTo>
                <a:lnTo>
                  <a:pt x="1519" y="101851"/>
                </a:lnTo>
              </a:path>
            </a:pathLst>
          </a:custGeom>
          <a:ln w="945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90039" y="925879"/>
            <a:ext cx="0" cy="269875"/>
          </a:xfrm>
          <a:custGeom>
            <a:avLst/>
            <a:gdLst/>
            <a:ahLst/>
            <a:cxnLst/>
            <a:rect l="l" t="t" r="r" b="b"/>
            <a:pathLst>
              <a:path h="269875">
                <a:moveTo>
                  <a:pt x="0" y="0"/>
                </a:moveTo>
                <a:lnTo>
                  <a:pt x="0" y="269742"/>
                </a:lnTo>
              </a:path>
            </a:pathLst>
          </a:custGeom>
          <a:ln w="990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90039" y="1039581"/>
            <a:ext cx="231775" cy="215900"/>
          </a:xfrm>
          <a:custGeom>
            <a:avLst/>
            <a:gdLst/>
            <a:ahLst/>
            <a:cxnLst/>
            <a:rect l="l" t="t" r="r" b="b"/>
            <a:pathLst>
              <a:path w="231775" h="215900">
                <a:moveTo>
                  <a:pt x="117508" y="194891"/>
                </a:moveTo>
                <a:lnTo>
                  <a:pt x="231450" y="71551"/>
                </a:lnTo>
              </a:path>
              <a:path w="231775" h="215900">
                <a:moveTo>
                  <a:pt x="117508" y="194891"/>
                </a:moveTo>
                <a:lnTo>
                  <a:pt x="123587" y="199595"/>
                </a:lnTo>
                <a:lnTo>
                  <a:pt x="129374" y="204579"/>
                </a:lnTo>
                <a:lnTo>
                  <a:pt x="134860" y="209836"/>
                </a:lnTo>
                <a:lnTo>
                  <a:pt x="140039" y="215359"/>
                </a:lnTo>
              </a:path>
              <a:path w="231775" h="215900">
                <a:moveTo>
                  <a:pt x="91402" y="178285"/>
                </a:moveTo>
                <a:lnTo>
                  <a:pt x="98290" y="181962"/>
                </a:lnTo>
                <a:lnTo>
                  <a:pt x="104941" y="185958"/>
                </a:lnTo>
                <a:lnTo>
                  <a:pt x="111350" y="190269"/>
                </a:lnTo>
                <a:lnTo>
                  <a:pt x="117508" y="194891"/>
                </a:lnTo>
              </a:path>
              <a:path w="231775" h="215900">
                <a:moveTo>
                  <a:pt x="31744" y="158560"/>
                </a:moveTo>
                <a:lnTo>
                  <a:pt x="62523" y="0"/>
                </a:lnTo>
              </a:path>
              <a:path w="231775" h="215900">
                <a:moveTo>
                  <a:pt x="31744" y="158560"/>
                </a:moveTo>
                <a:lnTo>
                  <a:pt x="39599" y="159873"/>
                </a:lnTo>
                <a:lnTo>
                  <a:pt x="47353" y="161561"/>
                </a:lnTo>
                <a:lnTo>
                  <a:pt x="54998" y="163622"/>
                </a:lnTo>
                <a:lnTo>
                  <a:pt x="62523" y="166053"/>
                </a:lnTo>
              </a:path>
              <a:path w="231775" h="215900">
                <a:moveTo>
                  <a:pt x="0" y="156040"/>
                </a:moveTo>
                <a:lnTo>
                  <a:pt x="7985" y="156093"/>
                </a:lnTo>
                <a:lnTo>
                  <a:pt x="15946" y="156532"/>
                </a:lnTo>
                <a:lnTo>
                  <a:pt x="23870" y="157355"/>
                </a:lnTo>
                <a:lnTo>
                  <a:pt x="31744" y="158560"/>
                </a:lnTo>
              </a:path>
              <a:path w="231775" h="215900">
                <a:moveTo>
                  <a:pt x="91402" y="178285"/>
                </a:moveTo>
                <a:lnTo>
                  <a:pt x="180031" y="38850"/>
                </a:lnTo>
              </a:path>
              <a:path w="231775" h="215900">
                <a:moveTo>
                  <a:pt x="62523" y="166053"/>
                </a:moveTo>
                <a:lnTo>
                  <a:pt x="123155" y="14700"/>
                </a:lnTo>
              </a:path>
              <a:path w="231775" h="215900">
                <a:moveTo>
                  <a:pt x="62523" y="166053"/>
                </a:moveTo>
                <a:lnTo>
                  <a:pt x="70007" y="168586"/>
                </a:lnTo>
                <a:lnTo>
                  <a:pt x="77322" y="171472"/>
                </a:lnTo>
                <a:lnTo>
                  <a:pt x="84456" y="174706"/>
                </a:lnTo>
                <a:lnTo>
                  <a:pt x="91402" y="178285"/>
                </a:lnTo>
              </a:path>
            </a:pathLst>
          </a:custGeom>
          <a:ln w="945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970070" y="984230"/>
            <a:ext cx="235585" cy="167640"/>
          </a:xfrm>
          <a:custGeom>
            <a:avLst/>
            <a:gdLst/>
            <a:ahLst/>
            <a:cxnLst/>
            <a:rect l="l" t="t" r="r" b="b"/>
            <a:pathLst>
              <a:path w="235584" h="167640">
                <a:moveTo>
                  <a:pt x="235454" y="159528"/>
                </a:moveTo>
                <a:lnTo>
                  <a:pt x="187486" y="97276"/>
                </a:lnTo>
              </a:path>
              <a:path w="235584" h="167640">
                <a:moveTo>
                  <a:pt x="102548" y="162078"/>
                </a:moveTo>
                <a:lnTo>
                  <a:pt x="187486" y="97276"/>
                </a:lnTo>
              </a:path>
              <a:path w="235584" h="167640">
                <a:moveTo>
                  <a:pt x="95795" y="167178"/>
                </a:moveTo>
                <a:lnTo>
                  <a:pt x="102548" y="162078"/>
                </a:lnTo>
              </a:path>
              <a:path w="235584" h="167640">
                <a:moveTo>
                  <a:pt x="128357" y="43575"/>
                </a:moveTo>
                <a:lnTo>
                  <a:pt x="59848" y="0"/>
                </a:lnTo>
              </a:path>
              <a:path w="235584" h="167640">
                <a:moveTo>
                  <a:pt x="57346" y="120452"/>
                </a:moveTo>
                <a:lnTo>
                  <a:pt x="128357" y="43575"/>
                </a:lnTo>
              </a:path>
              <a:path w="235584" h="167640">
                <a:moveTo>
                  <a:pt x="51418" y="126902"/>
                </a:moveTo>
                <a:lnTo>
                  <a:pt x="57346" y="120452"/>
                </a:lnTo>
              </a:path>
              <a:path w="235584" h="167640">
                <a:moveTo>
                  <a:pt x="4672" y="86851"/>
                </a:moveTo>
                <a:lnTo>
                  <a:pt x="59848" y="0"/>
                </a:lnTo>
              </a:path>
              <a:path w="235584" h="167640">
                <a:moveTo>
                  <a:pt x="0" y="94201"/>
                </a:moveTo>
                <a:lnTo>
                  <a:pt x="4672" y="86851"/>
                </a:lnTo>
              </a:path>
            </a:pathLst>
          </a:custGeom>
          <a:ln w="945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522094" y="1838808"/>
            <a:ext cx="466090" cy="977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0" b="1" i="1" spc="30" dirty="0">
                <a:latin typeface="Times New Roman" panose="02020603050405020304"/>
                <a:cs typeface="Times New Roman" panose="02020603050405020304"/>
              </a:rPr>
              <a:t>Multi blade</a:t>
            </a:r>
            <a:r>
              <a:rPr sz="450" b="1" i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50" b="1" i="1" spc="25" dirty="0">
                <a:latin typeface="Times New Roman" panose="02020603050405020304"/>
                <a:cs typeface="Times New Roman" panose="02020603050405020304"/>
              </a:rPr>
              <a:t>type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1520806" y="938194"/>
            <a:ext cx="1003300" cy="860425"/>
            <a:chOff x="1520806" y="938194"/>
            <a:chExt cx="1003300" cy="860425"/>
          </a:xfrm>
        </p:grpSpPr>
        <p:sp>
          <p:nvSpPr>
            <p:cNvPr id="43" name="object 43"/>
            <p:cNvSpPr/>
            <p:nvPr/>
          </p:nvSpPr>
          <p:spPr>
            <a:xfrm>
              <a:off x="1523981" y="941369"/>
              <a:ext cx="996950" cy="854075"/>
            </a:xfrm>
            <a:custGeom>
              <a:avLst/>
              <a:gdLst/>
              <a:ahLst/>
              <a:cxnLst/>
              <a:rect l="l" t="t" r="r" b="b"/>
              <a:pathLst>
                <a:path w="996950" h="854075">
                  <a:moveTo>
                    <a:pt x="252837" y="428944"/>
                  </a:moveTo>
                  <a:lnTo>
                    <a:pt x="271427" y="853453"/>
                  </a:lnTo>
                </a:path>
                <a:path w="996950" h="854075">
                  <a:moveTo>
                    <a:pt x="394424" y="463598"/>
                  </a:moveTo>
                  <a:lnTo>
                    <a:pt x="271427" y="853453"/>
                  </a:lnTo>
                </a:path>
                <a:path w="996950" h="854075">
                  <a:moveTo>
                    <a:pt x="252837" y="428944"/>
                  </a:moveTo>
                  <a:lnTo>
                    <a:pt x="394424" y="463598"/>
                  </a:lnTo>
                </a:path>
                <a:path w="996950" h="854075">
                  <a:moveTo>
                    <a:pt x="438464" y="198450"/>
                  </a:moveTo>
                  <a:lnTo>
                    <a:pt x="0" y="0"/>
                  </a:lnTo>
                </a:path>
                <a:path w="996950" h="854075">
                  <a:moveTo>
                    <a:pt x="332638" y="286132"/>
                  </a:moveTo>
                  <a:lnTo>
                    <a:pt x="0" y="0"/>
                  </a:lnTo>
                </a:path>
                <a:path w="996950" h="854075">
                  <a:moveTo>
                    <a:pt x="438464" y="198450"/>
                  </a:moveTo>
                  <a:lnTo>
                    <a:pt x="332638" y="286132"/>
                  </a:lnTo>
                </a:path>
                <a:path w="996950" h="854075">
                  <a:moveTo>
                    <a:pt x="576564" y="454934"/>
                  </a:moveTo>
                  <a:lnTo>
                    <a:pt x="996453" y="228884"/>
                  </a:lnTo>
                </a:path>
                <a:path w="996950" h="854075">
                  <a:moveTo>
                    <a:pt x="540803" y="332568"/>
                  </a:moveTo>
                  <a:lnTo>
                    <a:pt x="996453" y="228884"/>
                  </a:lnTo>
                </a:path>
              </a:pathLst>
            </a:custGeom>
            <a:ln w="600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1775768" y="1138788"/>
              <a:ext cx="327985" cy="269194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1844431" y="1813572"/>
            <a:ext cx="279400" cy="996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50" b="1" i="1" spc="45" dirty="0">
                <a:latin typeface="Times New Roman" panose="02020603050405020304"/>
                <a:cs typeface="Times New Roman" panose="02020603050405020304"/>
              </a:rPr>
              <a:t>Sail</a:t>
            </a:r>
            <a:r>
              <a:rPr sz="450" b="1" i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50" b="1" i="1" spc="45" dirty="0">
                <a:latin typeface="Times New Roman" panose="02020603050405020304"/>
                <a:cs typeface="Times New Roman" panose="02020603050405020304"/>
              </a:rPr>
              <a:t>type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89305" marR="5080" indent="-777240">
              <a:lnSpc>
                <a:spcPct val="100000"/>
              </a:lnSpc>
              <a:spcBef>
                <a:spcPts val="105"/>
              </a:spcBef>
            </a:pPr>
            <a:r>
              <a:rPr dirty="0"/>
              <a:t>Horizontal axis wind </a:t>
            </a:r>
            <a:r>
              <a:rPr spc="-5" dirty="0"/>
              <a:t>turbines  </a:t>
            </a:r>
            <a:r>
              <a:rPr dirty="0"/>
              <a:t>(HAWT)</a:t>
            </a:r>
            <a:endParaRPr dirty="0"/>
          </a:p>
        </p:txBody>
      </p:sp>
      <p:sp>
        <p:nvSpPr>
          <p:cNvPr id="47" name="object 47"/>
          <p:cNvSpPr txBox="1"/>
          <p:nvPr/>
        </p:nvSpPr>
        <p:spPr>
          <a:xfrm>
            <a:off x="125984" y="416179"/>
            <a:ext cx="2476500" cy="4718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6000"/>
              </a:lnSpc>
              <a:spcBef>
                <a:spcPts val="95"/>
              </a:spcBef>
            </a:pPr>
            <a:r>
              <a:rPr sz="550" spc="20" dirty="0">
                <a:latin typeface="Bookman Uralic"/>
                <a:cs typeface="Bookman Uralic"/>
              </a:rPr>
              <a:t>Commonly </a:t>
            </a:r>
            <a:r>
              <a:rPr sz="550" spc="15" dirty="0">
                <a:latin typeface="Bookman Uralic"/>
                <a:cs typeface="Bookman Uralic"/>
              </a:rPr>
              <a:t>found horizontal </a:t>
            </a:r>
            <a:r>
              <a:rPr sz="550" spc="10" dirty="0">
                <a:latin typeface="Bookman Uralic"/>
                <a:cs typeface="Bookman Uralic"/>
              </a:rPr>
              <a:t>axis </a:t>
            </a:r>
            <a:r>
              <a:rPr sz="550" spc="15" dirty="0">
                <a:latin typeface="Bookman Uralic"/>
                <a:cs typeface="Bookman Uralic"/>
              </a:rPr>
              <a:t>wind </a:t>
            </a:r>
            <a:r>
              <a:rPr sz="550" spc="20" dirty="0">
                <a:latin typeface="Bookman Uralic"/>
                <a:cs typeface="Bookman Uralic"/>
              </a:rPr>
              <a:t>turbines </a:t>
            </a:r>
            <a:r>
              <a:rPr sz="550" spc="15" dirty="0">
                <a:latin typeface="Bookman Uralic"/>
                <a:cs typeface="Bookman Uralic"/>
              </a:rPr>
              <a:t>are </a:t>
            </a:r>
            <a:r>
              <a:rPr sz="550" b="1" i="1" spc="15" dirty="0">
                <a:latin typeface="TeX Gyre Bonum"/>
                <a:cs typeface="TeX Gyre Bonum"/>
              </a:rPr>
              <a:t>multi-blade  type</a:t>
            </a:r>
            <a:r>
              <a:rPr sz="550" spc="15" dirty="0">
                <a:latin typeface="Bookman Uralic"/>
                <a:cs typeface="Bookman Uralic"/>
              </a:rPr>
              <a:t>, </a:t>
            </a:r>
            <a:r>
              <a:rPr sz="550" b="1" i="1" spc="15" dirty="0">
                <a:latin typeface="TeX Gyre Bonum"/>
                <a:cs typeface="TeX Gyre Bonum"/>
              </a:rPr>
              <a:t>sail type </a:t>
            </a:r>
            <a:r>
              <a:rPr sz="550" spc="15" dirty="0">
                <a:latin typeface="Bookman Uralic"/>
                <a:cs typeface="Bookman Uralic"/>
              </a:rPr>
              <a:t>and </a:t>
            </a:r>
            <a:r>
              <a:rPr sz="550" b="1" i="1" spc="15" dirty="0">
                <a:latin typeface="TeX Gyre Bonum"/>
                <a:cs typeface="TeX Gyre Bonum"/>
              </a:rPr>
              <a:t>propeller type</a:t>
            </a:r>
            <a:r>
              <a:rPr sz="550" spc="15" dirty="0">
                <a:latin typeface="Bookman Uralic"/>
                <a:cs typeface="Bookman Uralic"/>
              </a:rPr>
              <a:t>. </a:t>
            </a:r>
            <a:r>
              <a:rPr sz="550" spc="20" dirty="0">
                <a:latin typeface="Bookman Uralic"/>
                <a:cs typeface="Bookman Uralic"/>
              </a:rPr>
              <a:t>Both </a:t>
            </a:r>
            <a:r>
              <a:rPr sz="550" spc="15" dirty="0">
                <a:latin typeface="Bookman Uralic"/>
                <a:cs typeface="Bookman Uralic"/>
              </a:rPr>
              <a:t>the multi-blade and </a:t>
            </a:r>
            <a:r>
              <a:rPr sz="550" spc="10" dirty="0">
                <a:latin typeface="Bookman Uralic"/>
                <a:cs typeface="Bookman Uralic"/>
              </a:rPr>
              <a:t>sail-  </a:t>
            </a:r>
            <a:r>
              <a:rPr sz="550" spc="15" dirty="0">
                <a:latin typeface="Bookman Uralic"/>
                <a:cs typeface="Bookman Uralic"/>
              </a:rPr>
              <a:t>type wind turbines </a:t>
            </a:r>
            <a:r>
              <a:rPr sz="550" spc="20" dirty="0">
                <a:latin typeface="Bookman Uralic"/>
                <a:cs typeface="Bookman Uralic"/>
              </a:rPr>
              <a:t>run </a:t>
            </a:r>
            <a:r>
              <a:rPr sz="550" spc="10" dirty="0">
                <a:latin typeface="Bookman Uralic"/>
                <a:cs typeface="Bookman Uralic"/>
              </a:rPr>
              <a:t>at </a:t>
            </a:r>
            <a:r>
              <a:rPr sz="550" spc="15" dirty="0">
                <a:latin typeface="Bookman Uralic"/>
                <a:cs typeface="Bookman Uralic"/>
              </a:rPr>
              <a:t>low speeds </a:t>
            </a:r>
            <a:r>
              <a:rPr sz="550" spc="10" dirty="0">
                <a:latin typeface="Bookman Uralic"/>
                <a:cs typeface="Bookman Uralic"/>
              </a:rPr>
              <a:t>of </a:t>
            </a:r>
            <a:r>
              <a:rPr sz="550" spc="20" dirty="0">
                <a:latin typeface="Bookman Uralic"/>
                <a:cs typeface="Bookman Uralic"/>
              </a:rPr>
              <a:t>60 </a:t>
            </a:r>
            <a:r>
              <a:rPr sz="550" spc="15" dirty="0">
                <a:latin typeface="Bookman Uralic"/>
                <a:cs typeface="Bookman Uralic"/>
              </a:rPr>
              <a:t>to </a:t>
            </a:r>
            <a:r>
              <a:rPr sz="550" spc="20" dirty="0">
                <a:latin typeface="Bookman Uralic"/>
                <a:cs typeface="Bookman Uralic"/>
              </a:rPr>
              <a:t>80 </a:t>
            </a:r>
            <a:r>
              <a:rPr sz="550" i="1" spc="15" dirty="0">
                <a:latin typeface="Bookman Uralic"/>
                <a:cs typeface="Bookman Uralic"/>
              </a:rPr>
              <a:t>rpm</a:t>
            </a:r>
            <a:r>
              <a:rPr sz="550" spc="15" dirty="0">
                <a:latin typeface="Bookman Uralic"/>
                <a:cs typeface="Bookman Uralic"/>
              </a:rPr>
              <a:t>. </a:t>
            </a:r>
            <a:r>
              <a:rPr sz="550" spc="10" dirty="0">
                <a:latin typeface="Bookman Uralic"/>
                <a:cs typeface="Bookman Uralic"/>
              </a:rPr>
              <a:t>The  </a:t>
            </a:r>
            <a:r>
              <a:rPr sz="550" spc="15" dirty="0">
                <a:latin typeface="Bookman Uralic"/>
                <a:cs typeface="Bookman Uralic"/>
              </a:rPr>
              <a:t>propeller </a:t>
            </a:r>
            <a:r>
              <a:rPr sz="550" spc="10" dirty="0">
                <a:latin typeface="Bookman Uralic"/>
                <a:cs typeface="Bookman Uralic"/>
              </a:rPr>
              <a:t>type </a:t>
            </a:r>
            <a:r>
              <a:rPr sz="550" spc="15" dirty="0">
                <a:latin typeface="Bookman Uralic"/>
                <a:cs typeface="Bookman Uralic"/>
              </a:rPr>
              <a:t>has </a:t>
            </a:r>
            <a:r>
              <a:rPr sz="550" spc="20" dirty="0">
                <a:latin typeface="Bookman Uralic"/>
                <a:cs typeface="Bookman Uralic"/>
              </a:rPr>
              <a:t>two </a:t>
            </a:r>
            <a:r>
              <a:rPr sz="550" spc="10" dirty="0">
                <a:latin typeface="Bookman Uralic"/>
                <a:cs typeface="Bookman Uralic"/>
              </a:rPr>
              <a:t>or </a:t>
            </a:r>
            <a:r>
              <a:rPr sz="550" spc="15" dirty="0">
                <a:latin typeface="Bookman Uralic"/>
                <a:cs typeface="Bookman Uralic"/>
              </a:rPr>
              <a:t>three </a:t>
            </a:r>
            <a:r>
              <a:rPr sz="550" spc="10" dirty="0">
                <a:latin typeface="Bookman Uralic"/>
                <a:cs typeface="Bookman Uralic"/>
              </a:rPr>
              <a:t>aerofoil </a:t>
            </a:r>
            <a:r>
              <a:rPr sz="550" spc="15" dirty="0">
                <a:latin typeface="Bookman Uralic"/>
                <a:cs typeface="Bookman Uralic"/>
              </a:rPr>
              <a:t>blades and </a:t>
            </a:r>
            <a:r>
              <a:rPr sz="550" spc="20" dirty="0">
                <a:latin typeface="Bookman Uralic"/>
                <a:cs typeface="Bookman Uralic"/>
              </a:rPr>
              <a:t>run </a:t>
            </a:r>
            <a:r>
              <a:rPr sz="550" spc="10" dirty="0">
                <a:latin typeface="Bookman Uralic"/>
                <a:cs typeface="Bookman Uralic"/>
              </a:rPr>
              <a:t>at </a:t>
            </a:r>
            <a:r>
              <a:rPr sz="550" spc="15" dirty="0">
                <a:latin typeface="Bookman Uralic"/>
                <a:cs typeface="Bookman Uralic"/>
              </a:rPr>
              <a:t>speeds </a:t>
            </a:r>
            <a:r>
              <a:rPr sz="550" spc="5" dirty="0">
                <a:latin typeface="Bookman Uralic"/>
                <a:cs typeface="Bookman Uralic"/>
              </a:rPr>
              <a:t>of  </a:t>
            </a:r>
            <a:r>
              <a:rPr sz="550" spc="20" dirty="0">
                <a:latin typeface="Bookman Uralic"/>
                <a:cs typeface="Bookman Uralic"/>
              </a:rPr>
              <a:t>300 </a:t>
            </a:r>
            <a:r>
              <a:rPr sz="550" spc="15" dirty="0">
                <a:latin typeface="Bookman Uralic"/>
                <a:cs typeface="Bookman Uralic"/>
              </a:rPr>
              <a:t>to </a:t>
            </a:r>
            <a:r>
              <a:rPr sz="550" spc="20" dirty="0">
                <a:latin typeface="Bookman Uralic"/>
                <a:cs typeface="Bookman Uralic"/>
              </a:rPr>
              <a:t>400</a:t>
            </a:r>
            <a:r>
              <a:rPr sz="550" spc="-10" dirty="0">
                <a:latin typeface="Bookman Uralic"/>
                <a:cs typeface="Bookman Uralic"/>
              </a:rPr>
              <a:t> </a:t>
            </a:r>
            <a:r>
              <a:rPr sz="550" i="1" spc="15" dirty="0">
                <a:latin typeface="Bookman Uralic"/>
                <a:cs typeface="Bookman Uralic"/>
              </a:rPr>
              <a:t>rpm</a:t>
            </a:r>
            <a:r>
              <a:rPr sz="550" spc="15" dirty="0">
                <a:latin typeface="Bookman Uralic"/>
                <a:cs typeface="Bookman Uralic"/>
              </a:rPr>
              <a:t>.</a:t>
            </a:r>
            <a:endParaRPr sz="550">
              <a:latin typeface="Bookman Uralic"/>
              <a:cs typeface="Bookman Uralic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462022" y="1877060"/>
            <a:ext cx="711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51</a:t>
            </a:r>
            <a:endParaRPr sz="350">
              <a:latin typeface="Carlito"/>
              <a:cs typeface="Carlito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0" y="965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9786" y="53086"/>
            <a:ext cx="2020570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b="1" spc="10" dirty="0">
                <a:solidFill>
                  <a:srgbClr val="FF0000"/>
                </a:solidFill>
                <a:latin typeface="Bookman Uralic"/>
                <a:cs typeface="Bookman Uralic"/>
              </a:rPr>
              <a:t>Comparing </a:t>
            </a:r>
            <a:r>
              <a:rPr sz="1150" b="1" spc="5" dirty="0">
                <a:solidFill>
                  <a:srgbClr val="FF0000"/>
                </a:solidFill>
                <a:latin typeface="Bookman Uralic"/>
                <a:cs typeface="Bookman Uralic"/>
              </a:rPr>
              <a:t>HWT </a:t>
            </a:r>
            <a:r>
              <a:rPr sz="1150" b="1" spc="10" dirty="0">
                <a:solidFill>
                  <a:srgbClr val="FF0000"/>
                </a:solidFill>
                <a:latin typeface="Bookman Uralic"/>
                <a:cs typeface="Bookman Uralic"/>
              </a:rPr>
              <a:t>and</a:t>
            </a:r>
            <a:r>
              <a:rPr sz="1150" b="1" spc="-45" dirty="0">
                <a:solidFill>
                  <a:srgbClr val="FF0000"/>
                </a:solidFill>
                <a:latin typeface="Bookman Uralic"/>
                <a:cs typeface="Bookman Uralic"/>
              </a:rPr>
              <a:t> </a:t>
            </a:r>
            <a:r>
              <a:rPr sz="1150" b="1" spc="10" dirty="0">
                <a:solidFill>
                  <a:srgbClr val="FF0000"/>
                </a:solidFill>
                <a:latin typeface="Bookman Uralic"/>
                <a:cs typeface="Bookman Uralic"/>
              </a:rPr>
              <a:t>VWT</a:t>
            </a:r>
            <a:endParaRPr sz="1150">
              <a:latin typeface="Bookman Uralic"/>
              <a:cs typeface="Bookman Uralic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32249" y="333417"/>
          <a:ext cx="2463800" cy="1546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5305"/>
                <a:gridCol w="855980"/>
                <a:gridCol w="1068070"/>
              </a:tblGrid>
              <a:tr h="181229"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450" b="1" i="1" spc="10" dirty="0">
                          <a:latin typeface="TeX Gyre Bonum"/>
                          <a:cs typeface="TeX Gyre Bonum"/>
                        </a:rPr>
                        <a:t>Parameter</a:t>
                      </a:r>
                      <a:endParaRPr sz="450">
                        <a:latin typeface="TeX Gyre Bonum"/>
                        <a:cs typeface="TeX Gyre Bonum"/>
                      </a:endParaRPr>
                    </a:p>
                  </a:txBody>
                  <a:tcPr marL="0" marR="0" marT="565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450" b="1" i="1" spc="10" dirty="0">
                          <a:latin typeface="TeX Gyre Bonum"/>
                          <a:cs typeface="TeX Gyre Bonum"/>
                        </a:rPr>
                        <a:t>HWT</a:t>
                      </a:r>
                      <a:endParaRPr sz="450">
                        <a:latin typeface="TeX Gyre Bonum"/>
                        <a:cs typeface="TeX Gyre Bonum"/>
                      </a:endParaRPr>
                    </a:p>
                  </a:txBody>
                  <a:tcPr marL="0" marR="0" marT="565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450" b="1" i="1" spc="10" dirty="0">
                          <a:latin typeface="TeX Gyre Bonum"/>
                          <a:cs typeface="TeX Gyre Bonum"/>
                        </a:rPr>
                        <a:t>VWT</a:t>
                      </a:r>
                      <a:endParaRPr sz="450">
                        <a:latin typeface="TeX Gyre Bonum"/>
                        <a:cs typeface="TeX Gyre Bonum"/>
                      </a:endParaRPr>
                    </a:p>
                  </a:txBody>
                  <a:tcPr marL="0" marR="0" marT="565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7319"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450" b="1" i="1" spc="5" dirty="0">
                          <a:latin typeface="TeX Gyre Bonum"/>
                          <a:cs typeface="TeX Gyre Bonum"/>
                        </a:rPr>
                        <a:t>Tip </a:t>
                      </a:r>
                      <a:r>
                        <a:rPr sz="450" b="1" i="1" spc="10" dirty="0">
                          <a:latin typeface="TeX Gyre Bonum"/>
                          <a:cs typeface="TeX Gyre Bonum"/>
                        </a:rPr>
                        <a:t>speed</a:t>
                      </a:r>
                      <a:r>
                        <a:rPr sz="450" b="1" i="1" spc="-25" dirty="0">
                          <a:latin typeface="TeX Gyre Bonum"/>
                          <a:cs typeface="TeX Gyre Bonum"/>
                        </a:rPr>
                        <a:t> </a:t>
                      </a:r>
                      <a:r>
                        <a:rPr sz="450" b="1" i="1" spc="10" dirty="0">
                          <a:latin typeface="TeX Gyre Bonum"/>
                          <a:cs typeface="TeX Gyre Bonum"/>
                        </a:rPr>
                        <a:t>ratio</a:t>
                      </a:r>
                      <a:endParaRPr sz="450">
                        <a:latin typeface="TeX Gyre Bonum"/>
                        <a:cs typeface="TeX Gyre Bonum"/>
                      </a:endParaRPr>
                    </a:p>
                  </a:txBody>
                  <a:tcPr marL="0" marR="0" marT="393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450" spc="5" dirty="0">
                          <a:latin typeface="Bookman Uralic"/>
                          <a:cs typeface="Bookman Uralic"/>
                        </a:rPr>
                        <a:t>High </a:t>
                      </a:r>
                      <a:r>
                        <a:rPr sz="450" spc="10" dirty="0">
                          <a:latin typeface="Bookman Uralic"/>
                          <a:cs typeface="Bookman Uralic"/>
                        </a:rPr>
                        <a:t>and hence</a:t>
                      </a:r>
                      <a:r>
                        <a:rPr sz="450" spc="-10" dirty="0">
                          <a:latin typeface="Bookman Uralic"/>
                          <a:cs typeface="Bookman Uralic"/>
                        </a:rPr>
                        <a:t> </a:t>
                      </a:r>
                      <a:r>
                        <a:rPr sz="450" spc="5" dirty="0">
                          <a:latin typeface="Bookman Uralic"/>
                          <a:cs typeface="Bookman Uralic"/>
                        </a:rPr>
                        <a:t>noisy.</a:t>
                      </a:r>
                      <a:endParaRPr sz="450">
                        <a:latin typeface="Bookman Uralic"/>
                        <a:cs typeface="Bookman Uralic"/>
                      </a:endParaRPr>
                    </a:p>
                  </a:txBody>
                  <a:tcPr marL="0" marR="0" marT="393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450" spc="10" dirty="0">
                          <a:latin typeface="Bookman Uralic"/>
                          <a:cs typeface="Bookman Uralic"/>
                        </a:rPr>
                        <a:t>Low and hence </a:t>
                      </a:r>
                      <a:r>
                        <a:rPr sz="450" spc="5" dirty="0">
                          <a:latin typeface="Bookman Uralic"/>
                          <a:cs typeface="Bookman Uralic"/>
                        </a:rPr>
                        <a:t>less</a:t>
                      </a:r>
                      <a:r>
                        <a:rPr sz="450" spc="-35" dirty="0">
                          <a:latin typeface="Bookman Uralic"/>
                          <a:cs typeface="Bookman Uralic"/>
                        </a:rPr>
                        <a:t> </a:t>
                      </a:r>
                      <a:r>
                        <a:rPr sz="450" spc="5" dirty="0">
                          <a:latin typeface="Bookman Uralic"/>
                          <a:cs typeface="Bookman Uralic"/>
                        </a:rPr>
                        <a:t>noisy.</a:t>
                      </a:r>
                      <a:endParaRPr sz="450">
                        <a:latin typeface="Bookman Uralic"/>
                        <a:cs typeface="Bookman Uralic"/>
                      </a:endParaRPr>
                    </a:p>
                  </a:txBody>
                  <a:tcPr marL="0" marR="0" marT="393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43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1590">
                        <a:lnSpc>
                          <a:spcPct val="100000"/>
                        </a:lnSpc>
                      </a:pPr>
                      <a:r>
                        <a:rPr sz="450" b="1" i="1" spc="5" dirty="0">
                          <a:latin typeface="TeX Gyre Bonum"/>
                          <a:cs typeface="TeX Gyre Bonum"/>
                        </a:rPr>
                        <a:t>Application</a:t>
                      </a:r>
                      <a:endParaRPr sz="450">
                        <a:latin typeface="TeX Gyre Bonum"/>
                        <a:cs typeface="TeX Gyre Bonum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5" marR="16510" indent="-5080">
                        <a:lnSpc>
                          <a:spcPct val="104000"/>
                        </a:lnSpc>
                        <a:spcBef>
                          <a:spcPts val="270"/>
                        </a:spcBef>
                      </a:pPr>
                      <a:r>
                        <a:rPr sz="450" spc="5" dirty="0">
                          <a:latin typeface="Bookman Uralic"/>
                          <a:cs typeface="Bookman Uralic"/>
                        </a:rPr>
                        <a:t>Large scale electricity  generation.</a:t>
                      </a:r>
                      <a:endParaRPr sz="450">
                        <a:latin typeface="Bookman Uralic"/>
                        <a:cs typeface="Bookman Uralic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2225">
                        <a:lnSpc>
                          <a:spcPct val="100000"/>
                        </a:lnSpc>
                      </a:pPr>
                      <a:r>
                        <a:rPr sz="450" spc="10" dirty="0">
                          <a:latin typeface="Bookman Uralic"/>
                          <a:cs typeface="Bookman Uralic"/>
                        </a:rPr>
                        <a:t>Small </a:t>
                      </a:r>
                      <a:r>
                        <a:rPr sz="450" spc="5" dirty="0">
                          <a:latin typeface="Bookman Uralic"/>
                          <a:cs typeface="Bookman Uralic"/>
                        </a:rPr>
                        <a:t>scale electricity</a:t>
                      </a:r>
                      <a:r>
                        <a:rPr sz="450" spc="-30" dirty="0">
                          <a:latin typeface="Bookman Uralic"/>
                          <a:cs typeface="Bookman Uralic"/>
                        </a:rPr>
                        <a:t> </a:t>
                      </a:r>
                      <a:r>
                        <a:rPr sz="450" spc="5" dirty="0">
                          <a:latin typeface="Bookman Uralic"/>
                          <a:cs typeface="Bookman Uralic"/>
                        </a:rPr>
                        <a:t>generation.</a:t>
                      </a:r>
                      <a:endParaRPr sz="450">
                        <a:latin typeface="Bookman Uralic"/>
                        <a:cs typeface="Bookman Ural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86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159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450" b="1" i="1" spc="10" dirty="0">
                          <a:latin typeface="TeX Gyre Bonum"/>
                          <a:cs typeface="TeX Gyre Bonum"/>
                        </a:rPr>
                        <a:t>Yawing</a:t>
                      </a:r>
                      <a:endParaRPr sz="450">
                        <a:latin typeface="TeX Gyre Bonum"/>
                        <a:cs typeface="TeX Gyre Bonum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5" marR="16510" algn="just">
                        <a:lnSpc>
                          <a:spcPct val="104000"/>
                        </a:lnSpc>
                        <a:spcBef>
                          <a:spcPts val="400"/>
                        </a:spcBef>
                      </a:pPr>
                      <a:r>
                        <a:rPr sz="450" spc="5" dirty="0">
                          <a:latin typeface="Bookman Uralic"/>
                          <a:cs typeface="Bookman Uralic"/>
                        </a:rPr>
                        <a:t>Yawing is required, as  HWTs are </a:t>
                      </a:r>
                      <a:r>
                        <a:rPr sz="450" spc="10" dirty="0">
                          <a:latin typeface="Bookman Uralic"/>
                          <a:cs typeface="Bookman Uralic"/>
                        </a:rPr>
                        <a:t>dependent </a:t>
                      </a:r>
                      <a:r>
                        <a:rPr sz="450" spc="5" dirty="0">
                          <a:latin typeface="Bookman Uralic"/>
                          <a:cs typeface="Bookman Uralic"/>
                        </a:rPr>
                        <a:t>of  wind direction.</a:t>
                      </a:r>
                      <a:endParaRPr sz="450">
                        <a:latin typeface="Bookman Uralic"/>
                        <a:cs typeface="Bookman Uralic"/>
                      </a:endParaRPr>
                    </a:p>
                  </a:txBody>
                  <a:tcPr marL="0" marR="0" marT="508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" marR="18415" indent="-5080" algn="just">
                        <a:lnSpc>
                          <a:spcPct val="104000"/>
                        </a:lnSpc>
                        <a:spcBef>
                          <a:spcPts val="400"/>
                        </a:spcBef>
                      </a:pPr>
                      <a:r>
                        <a:rPr sz="450" spc="5" dirty="0">
                          <a:latin typeface="Bookman Uralic"/>
                          <a:cs typeface="Bookman Uralic"/>
                        </a:rPr>
                        <a:t>Yawing is not required, as </a:t>
                      </a:r>
                      <a:r>
                        <a:rPr sz="450" spc="10" dirty="0">
                          <a:latin typeface="Bookman Uralic"/>
                          <a:cs typeface="Bookman Uralic"/>
                        </a:rPr>
                        <a:t>HWTs  </a:t>
                      </a:r>
                      <a:r>
                        <a:rPr sz="450" spc="5" dirty="0">
                          <a:latin typeface="Bookman Uralic"/>
                          <a:cs typeface="Bookman Uralic"/>
                        </a:rPr>
                        <a:t>are independent of wind direction,  </a:t>
                      </a:r>
                      <a:r>
                        <a:rPr sz="450" spc="10" dirty="0">
                          <a:latin typeface="Bookman Uralic"/>
                          <a:cs typeface="Bookman Uralic"/>
                        </a:rPr>
                        <a:t>but </a:t>
                      </a:r>
                      <a:r>
                        <a:rPr sz="450" spc="5" dirty="0">
                          <a:latin typeface="Bookman Uralic"/>
                          <a:cs typeface="Bookman Uralic"/>
                        </a:rPr>
                        <a:t>are affected by wind</a:t>
                      </a:r>
                      <a:r>
                        <a:rPr sz="450" spc="-25" dirty="0">
                          <a:latin typeface="Bookman Uralic"/>
                          <a:cs typeface="Bookman Uralic"/>
                        </a:rPr>
                        <a:t> </a:t>
                      </a:r>
                      <a:r>
                        <a:rPr sz="450" spc="5" dirty="0">
                          <a:latin typeface="Bookman Uralic"/>
                          <a:cs typeface="Bookman Uralic"/>
                        </a:rPr>
                        <a:t>speed.</a:t>
                      </a:r>
                      <a:endParaRPr sz="450">
                        <a:latin typeface="Bookman Uralic"/>
                        <a:cs typeface="Bookman Uralic"/>
                      </a:endParaRPr>
                    </a:p>
                  </a:txBody>
                  <a:tcPr marL="0" marR="0" marT="508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7319"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450" b="1" i="1" spc="10" dirty="0">
                          <a:latin typeface="TeX Gyre Bonum"/>
                          <a:cs typeface="TeX Gyre Bonum"/>
                        </a:rPr>
                        <a:t>Torque</a:t>
                      </a:r>
                      <a:endParaRPr sz="450">
                        <a:latin typeface="TeX Gyre Bonum"/>
                        <a:cs typeface="TeX Gyre Bonum"/>
                      </a:endParaRPr>
                    </a:p>
                  </a:txBody>
                  <a:tcPr marL="0" marR="0" marT="400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450" spc="5" dirty="0">
                          <a:latin typeface="Bookman Uralic"/>
                          <a:cs typeface="Bookman Uralic"/>
                        </a:rPr>
                        <a:t>Low.</a:t>
                      </a:r>
                      <a:endParaRPr sz="450">
                        <a:latin typeface="Bookman Uralic"/>
                        <a:cs typeface="Bookman Uralic"/>
                      </a:endParaRPr>
                    </a:p>
                  </a:txBody>
                  <a:tcPr marL="0" marR="0" marT="400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450" spc="5" dirty="0">
                          <a:latin typeface="Bookman Uralic"/>
                          <a:cs typeface="Bookman Uralic"/>
                        </a:rPr>
                        <a:t>More at lower wind</a:t>
                      </a:r>
                      <a:r>
                        <a:rPr sz="450" spc="-10" dirty="0">
                          <a:latin typeface="Bookman Uralic"/>
                          <a:cs typeface="Bookman Uralic"/>
                        </a:rPr>
                        <a:t> </a:t>
                      </a:r>
                      <a:r>
                        <a:rPr sz="450" spc="5" dirty="0">
                          <a:latin typeface="Bookman Uralic"/>
                          <a:cs typeface="Bookman Uralic"/>
                        </a:rPr>
                        <a:t>speeds.</a:t>
                      </a:r>
                      <a:endParaRPr sz="450">
                        <a:latin typeface="Bookman Uralic"/>
                        <a:cs typeface="Bookman Uralic"/>
                      </a:endParaRPr>
                    </a:p>
                  </a:txBody>
                  <a:tcPr marL="0" marR="0" marT="400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43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1590">
                        <a:lnSpc>
                          <a:spcPct val="100000"/>
                        </a:lnSpc>
                      </a:pPr>
                      <a:r>
                        <a:rPr sz="450" b="1" i="1" spc="10" dirty="0">
                          <a:latin typeface="TeX Gyre Bonum"/>
                          <a:cs typeface="TeX Gyre Bonum"/>
                        </a:rPr>
                        <a:t>Maintenance</a:t>
                      </a:r>
                      <a:endParaRPr sz="450">
                        <a:latin typeface="TeX Gyre Bonum"/>
                        <a:cs typeface="TeX Gyre Bonum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1590">
                        <a:lnSpc>
                          <a:spcPct val="100000"/>
                        </a:lnSpc>
                      </a:pPr>
                      <a:r>
                        <a:rPr sz="450" spc="5" dirty="0">
                          <a:latin typeface="Bookman Uralic"/>
                          <a:cs typeface="Bookman Uralic"/>
                        </a:rPr>
                        <a:t>Difficult.</a:t>
                      </a:r>
                      <a:endParaRPr sz="450">
                        <a:latin typeface="Bookman Uralic"/>
                        <a:cs typeface="Bookman Uralic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" marR="19685" indent="-5080">
                        <a:lnSpc>
                          <a:spcPct val="104000"/>
                        </a:lnSpc>
                        <a:spcBef>
                          <a:spcPts val="275"/>
                        </a:spcBef>
                      </a:pPr>
                      <a:r>
                        <a:rPr sz="450" spc="5" dirty="0">
                          <a:latin typeface="Bookman Uralic"/>
                          <a:cs typeface="Bookman Uralic"/>
                        </a:rPr>
                        <a:t>Easier, as </a:t>
                      </a:r>
                      <a:r>
                        <a:rPr sz="450" spc="10" dirty="0">
                          <a:latin typeface="Bookman Uralic"/>
                          <a:cs typeface="Bookman Uralic"/>
                        </a:rPr>
                        <a:t>heavy components </a:t>
                      </a:r>
                      <a:r>
                        <a:rPr sz="450" spc="5" dirty="0">
                          <a:latin typeface="Bookman Uralic"/>
                          <a:cs typeface="Bookman Uralic"/>
                        </a:rPr>
                        <a:t>can  be located at the </a:t>
                      </a:r>
                      <a:r>
                        <a:rPr sz="450" spc="10" dirty="0">
                          <a:latin typeface="Bookman Uralic"/>
                          <a:cs typeface="Bookman Uralic"/>
                        </a:rPr>
                        <a:t>ground</a:t>
                      </a:r>
                      <a:r>
                        <a:rPr sz="450" spc="-30" dirty="0">
                          <a:latin typeface="Bookman Uralic"/>
                          <a:cs typeface="Bookman Uralic"/>
                        </a:rPr>
                        <a:t> </a:t>
                      </a:r>
                      <a:r>
                        <a:rPr sz="450" spc="5" dirty="0">
                          <a:latin typeface="Bookman Uralic"/>
                          <a:cs typeface="Bookman Uralic"/>
                        </a:rPr>
                        <a:t>level.</a:t>
                      </a:r>
                      <a:endParaRPr sz="450">
                        <a:latin typeface="Bookman Uralic"/>
                        <a:cs typeface="Bookman Uralic"/>
                      </a:endParaRPr>
                    </a:p>
                  </a:txBody>
                  <a:tcPr marL="0" marR="0" marT="349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87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159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450" b="1" i="1" spc="5" dirty="0">
                          <a:latin typeface="TeX Gyre Bonum"/>
                          <a:cs typeface="TeX Gyre Bonum"/>
                        </a:rPr>
                        <a:t>Stability</a:t>
                      </a:r>
                      <a:endParaRPr sz="450">
                        <a:latin typeface="TeX Gyre Bonum"/>
                        <a:cs typeface="TeX Gyre Bonum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5" marR="19050" indent="-5080" algn="just">
                        <a:lnSpc>
                          <a:spcPct val="104000"/>
                        </a:lnSpc>
                        <a:spcBef>
                          <a:spcPts val="400"/>
                        </a:spcBef>
                      </a:pPr>
                      <a:r>
                        <a:rPr sz="450" spc="5" dirty="0">
                          <a:latin typeface="Bookman Uralic"/>
                          <a:cs typeface="Bookman Uralic"/>
                        </a:rPr>
                        <a:t>More stable </a:t>
                      </a:r>
                      <a:r>
                        <a:rPr sz="450" spc="10" dirty="0">
                          <a:latin typeface="Bookman Uralic"/>
                          <a:cs typeface="Bookman Uralic"/>
                        </a:rPr>
                        <a:t>and hence  </a:t>
                      </a:r>
                      <a:r>
                        <a:rPr sz="450" spc="5" dirty="0">
                          <a:latin typeface="Bookman Uralic"/>
                          <a:cs typeface="Bookman Uralic"/>
                        </a:rPr>
                        <a:t>large sized turbines can be  constructed.</a:t>
                      </a:r>
                      <a:endParaRPr sz="450">
                        <a:latin typeface="Bookman Uralic"/>
                        <a:cs typeface="Bookman Uralic"/>
                      </a:endParaRPr>
                    </a:p>
                  </a:txBody>
                  <a:tcPr marL="0" marR="0" marT="508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222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450" spc="5" dirty="0">
                          <a:latin typeface="Bookman Uralic"/>
                          <a:cs typeface="Bookman Uralic"/>
                        </a:rPr>
                        <a:t>Less</a:t>
                      </a:r>
                      <a:r>
                        <a:rPr sz="450" dirty="0">
                          <a:latin typeface="Bookman Uralic"/>
                          <a:cs typeface="Bookman Uralic"/>
                        </a:rPr>
                        <a:t> </a:t>
                      </a:r>
                      <a:r>
                        <a:rPr sz="450" spc="5" dirty="0">
                          <a:latin typeface="Bookman Uralic"/>
                          <a:cs typeface="Bookman Uralic"/>
                        </a:rPr>
                        <a:t>stable.</a:t>
                      </a:r>
                      <a:endParaRPr sz="450">
                        <a:latin typeface="Bookman Uralic"/>
                        <a:cs typeface="Bookman Ural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462530" y="1877060"/>
            <a:ext cx="711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54</a:t>
            </a:r>
            <a:endParaRPr sz="35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35" y="965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924" y="31242"/>
            <a:ext cx="208978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sng" dirty="0">
                <a:uFill>
                  <a:solidFill>
                    <a:srgbClr val="FF0000"/>
                  </a:solidFill>
                </a:uFill>
              </a:rPr>
              <a:t>Performance of wind</a:t>
            </a:r>
            <a:r>
              <a:rPr u="sng" spc="-50" dirty="0">
                <a:uFill>
                  <a:solidFill>
                    <a:srgbClr val="FF0000"/>
                  </a:solidFill>
                </a:uFill>
              </a:rPr>
              <a:t> </a:t>
            </a:r>
            <a:r>
              <a:rPr u="sng" spc="-5" dirty="0">
                <a:uFill>
                  <a:solidFill>
                    <a:srgbClr val="FF0000"/>
                  </a:solidFill>
                </a:uFill>
              </a:rPr>
              <a:t>turbines</a:t>
            </a:r>
            <a:endParaRPr u="sng" spc="-5" dirty="0">
              <a:uFill>
                <a:solidFill>
                  <a:srgbClr val="FF0000"/>
                </a:solidFill>
              </a:u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63010" y="282374"/>
            <a:ext cx="889635" cy="760730"/>
            <a:chOff x="1563010" y="282374"/>
            <a:chExt cx="889635" cy="760730"/>
          </a:xfrm>
        </p:grpSpPr>
        <p:sp>
          <p:nvSpPr>
            <p:cNvPr id="4" name="object 4"/>
            <p:cNvSpPr/>
            <p:nvPr/>
          </p:nvSpPr>
          <p:spPr>
            <a:xfrm>
              <a:off x="1567455" y="286819"/>
              <a:ext cx="879475" cy="750570"/>
            </a:xfrm>
            <a:custGeom>
              <a:avLst/>
              <a:gdLst/>
              <a:ahLst/>
              <a:cxnLst/>
              <a:rect l="l" t="t" r="r" b="b"/>
              <a:pathLst>
                <a:path w="879475" h="750569">
                  <a:moveTo>
                    <a:pt x="0" y="750354"/>
                  </a:moveTo>
                  <a:lnTo>
                    <a:pt x="879442" y="750354"/>
                  </a:lnTo>
                </a:path>
                <a:path w="879475" h="750569">
                  <a:moveTo>
                    <a:pt x="0" y="750354"/>
                  </a:moveTo>
                  <a:lnTo>
                    <a:pt x="0" y="0"/>
                  </a:lnTo>
                </a:path>
              </a:pathLst>
            </a:custGeom>
            <a:ln w="88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88659" y="1031960"/>
              <a:ext cx="763270" cy="0"/>
            </a:xfrm>
            <a:custGeom>
              <a:avLst/>
              <a:gdLst/>
              <a:ahLst/>
              <a:cxnLst/>
              <a:rect l="l" t="t" r="r" b="b"/>
              <a:pathLst>
                <a:path w="763269">
                  <a:moveTo>
                    <a:pt x="0" y="0"/>
                  </a:moveTo>
                  <a:lnTo>
                    <a:pt x="8864" y="0"/>
                  </a:lnTo>
                </a:path>
                <a:path w="763269">
                  <a:moveTo>
                    <a:pt x="125635" y="0"/>
                  </a:moveTo>
                  <a:lnTo>
                    <a:pt x="134499" y="0"/>
                  </a:lnTo>
                </a:path>
                <a:path w="763269">
                  <a:moveTo>
                    <a:pt x="251264" y="0"/>
                  </a:moveTo>
                  <a:lnTo>
                    <a:pt x="260128" y="0"/>
                  </a:lnTo>
                </a:path>
                <a:path w="763269">
                  <a:moveTo>
                    <a:pt x="376929" y="0"/>
                  </a:moveTo>
                  <a:lnTo>
                    <a:pt x="385793" y="0"/>
                  </a:lnTo>
                </a:path>
                <a:path w="763269">
                  <a:moveTo>
                    <a:pt x="502505" y="0"/>
                  </a:moveTo>
                  <a:lnTo>
                    <a:pt x="511370" y="0"/>
                  </a:lnTo>
                </a:path>
                <a:path w="763269">
                  <a:moveTo>
                    <a:pt x="628156" y="0"/>
                  </a:moveTo>
                  <a:lnTo>
                    <a:pt x="637020" y="0"/>
                  </a:lnTo>
                </a:path>
                <a:path w="763269">
                  <a:moveTo>
                    <a:pt x="753806" y="0"/>
                  </a:moveTo>
                  <a:lnTo>
                    <a:pt x="762671" y="0"/>
                  </a:lnTo>
                </a:path>
              </a:pathLst>
            </a:custGeom>
            <a:ln w="104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567455" y="286819"/>
              <a:ext cx="10795" cy="625475"/>
            </a:xfrm>
            <a:custGeom>
              <a:avLst/>
              <a:gdLst/>
              <a:ahLst/>
              <a:cxnLst/>
              <a:rect l="l" t="t" r="r" b="b"/>
              <a:pathLst>
                <a:path w="10794" h="625475">
                  <a:moveTo>
                    <a:pt x="0" y="625299"/>
                  </a:moveTo>
                  <a:lnTo>
                    <a:pt x="10467" y="625299"/>
                  </a:lnTo>
                </a:path>
                <a:path w="10794" h="625475">
                  <a:moveTo>
                    <a:pt x="0" y="500243"/>
                  </a:moveTo>
                  <a:lnTo>
                    <a:pt x="10467" y="500243"/>
                  </a:lnTo>
                </a:path>
                <a:path w="10794" h="625475">
                  <a:moveTo>
                    <a:pt x="0" y="375188"/>
                  </a:moveTo>
                  <a:lnTo>
                    <a:pt x="10467" y="375188"/>
                  </a:lnTo>
                </a:path>
                <a:path w="10794" h="625475">
                  <a:moveTo>
                    <a:pt x="0" y="250132"/>
                  </a:moveTo>
                  <a:lnTo>
                    <a:pt x="10467" y="250132"/>
                  </a:lnTo>
                </a:path>
                <a:path w="10794" h="625475">
                  <a:moveTo>
                    <a:pt x="0" y="125070"/>
                  </a:moveTo>
                  <a:lnTo>
                    <a:pt x="10467" y="125070"/>
                  </a:lnTo>
                </a:path>
                <a:path w="10794" h="625475">
                  <a:moveTo>
                    <a:pt x="0" y="0"/>
                  </a:moveTo>
                  <a:lnTo>
                    <a:pt x="10467" y="0"/>
                  </a:lnTo>
                </a:path>
              </a:pathLst>
            </a:custGeom>
            <a:ln w="88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771220" y="571663"/>
            <a:ext cx="304800" cy="965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50" spc="10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450" spc="5" dirty="0">
                <a:latin typeface="Times New Roman" panose="02020603050405020304"/>
                <a:cs typeface="Times New Roman" panose="02020603050405020304"/>
              </a:rPr>
              <a:t>ulti-blade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49822" y="633286"/>
            <a:ext cx="237490" cy="167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810">
              <a:lnSpc>
                <a:spcPct val="103000"/>
              </a:lnSpc>
              <a:spcBef>
                <a:spcPts val="95"/>
              </a:spcBef>
            </a:pPr>
            <a:r>
              <a:rPr sz="450" spc="10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450" spc="5" dirty="0">
                <a:latin typeface="Times New Roman" panose="02020603050405020304"/>
                <a:cs typeface="Times New Roman" panose="02020603050405020304"/>
              </a:rPr>
              <a:t>arrieu</a:t>
            </a:r>
            <a:r>
              <a:rPr sz="450" dirty="0">
                <a:latin typeface="Times New Roman" panose="02020603050405020304"/>
                <a:cs typeface="Times New Roman" panose="02020603050405020304"/>
              </a:rPr>
              <a:t>s  </a:t>
            </a:r>
            <a:r>
              <a:rPr sz="450" spc="5" dirty="0">
                <a:latin typeface="Times New Roman" panose="02020603050405020304"/>
                <a:cs typeface="Times New Roman" panose="02020603050405020304"/>
              </a:rPr>
              <a:t>(3 blad</a:t>
            </a:r>
            <a:r>
              <a:rPr sz="45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450" spc="5" dirty="0">
                <a:latin typeface="Times New Roman" panose="02020603050405020304"/>
                <a:cs typeface="Times New Roman" panose="02020603050405020304"/>
              </a:rPr>
              <a:t>)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34694" y="314265"/>
            <a:ext cx="468630" cy="965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50" spc="5" dirty="0">
                <a:latin typeface="Times New Roman" panose="02020603050405020304"/>
                <a:cs typeface="Times New Roman" panose="02020603050405020304"/>
              </a:rPr>
              <a:t>Propeller (2</a:t>
            </a:r>
            <a:r>
              <a:rPr sz="45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50" spc="5" dirty="0">
                <a:latin typeface="Times New Roman" panose="02020603050405020304"/>
                <a:cs typeface="Times New Roman" panose="02020603050405020304"/>
              </a:rPr>
              <a:t>blade)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99932" y="451813"/>
            <a:ext cx="273685" cy="965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50" spc="5" dirty="0">
                <a:latin typeface="Times New Roman" panose="02020603050405020304"/>
                <a:cs typeface="Times New Roman" panose="02020603050405020304"/>
              </a:rPr>
              <a:t>Ideal</a:t>
            </a:r>
            <a:r>
              <a:rPr sz="4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50" spc="5" dirty="0">
                <a:latin typeface="Times New Roman" panose="02020603050405020304"/>
                <a:cs typeface="Times New Roman" panose="02020603050405020304"/>
              </a:rPr>
              <a:t>rotor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86666" y="706093"/>
            <a:ext cx="242570" cy="965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50" spc="5" dirty="0">
                <a:latin typeface="Times New Roman" panose="02020603050405020304"/>
                <a:cs typeface="Times New Roman" panose="02020603050405020304"/>
              </a:rPr>
              <a:t>Savonius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26722" y="1024982"/>
            <a:ext cx="944880" cy="1524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490"/>
              </a:lnSpc>
              <a:spcBef>
                <a:spcPts val="110"/>
              </a:spcBef>
            </a:pPr>
            <a:r>
              <a:rPr sz="450" spc="5" dirty="0">
                <a:latin typeface="Times New Roman" panose="02020603050405020304"/>
                <a:cs typeface="Times New Roman" panose="02020603050405020304"/>
              </a:rPr>
              <a:t>0  1 2 3 4  5  6</a:t>
            </a:r>
            <a:r>
              <a:rPr sz="450" spc="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50" spc="5" dirty="0">
                <a:latin typeface="Times New Roman" panose="02020603050405020304"/>
                <a:cs typeface="Times New Roman" panose="02020603050405020304"/>
              </a:rPr>
              <a:t>7</a:t>
            </a:r>
            <a:endParaRPr sz="450">
              <a:latin typeface="Times New Roman" panose="02020603050405020304"/>
              <a:cs typeface="Times New Roman" panose="02020603050405020304"/>
            </a:endParaRPr>
          </a:p>
          <a:p>
            <a:pPr marL="458470">
              <a:lnSpc>
                <a:spcPts val="490"/>
              </a:lnSpc>
            </a:pPr>
            <a:r>
              <a:rPr sz="450" i="1" spc="5" dirty="0">
                <a:latin typeface="Times New Roman" panose="02020603050405020304"/>
                <a:cs typeface="Times New Roman" panose="02020603050405020304"/>
              </a:rPr>
              <a:t>Tip speed</a:t>
            </a:r>
            <a:r>
              <a:rPr sz="450" i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50" i="1" spc="5" dirty="0">
                <a:latin typeface="Times New Roman" panose="02020603050405020304"/>
                <a:cs typeface="Times New Roman" panose="02020603050405020304"/>
              </a:rPr>
              <a:t>ratio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362342" y="1119249"/>
            <a:ext cx="86995" cy="32384"/>
            <a:chOff x="2362342" y="1119249"/>
            <a:chExt cx="86995" cy="32384"/>
          </a:xfrm>
        </p:grpSpPr>
        <p:sp>
          <p:nvSpPr>
            <p:cNvPr id="14" name="object 14"/>
            <p:cNvSpPr/>
            <p:nvPr/>
          </p:nvSpPr>
          <p:spPr>
            <a:xfrm>
              <a:off x="2365199" y="1135131"/>
              <a:ext cx="71120" cy="0"/>
            </a:xfrm>
            <a:custGeom>
              <a:avLst/>
              <a:gdLst/>
              <a:ahLst/>
              <a:cxnLst/>
              <a:rect l="l" t="t" r="r" b="b"/>
              <a:pathLst>
                <a:path w="71119">
                  <a:moveTo>
                    <a:pt x="0" y="0"/>
                  </a:moveTo>
                  <a:lnTo>
                    <a:pt x="71061" y="0"/>
                  </a:lnTo>
                </a:path>
              </a:pathLst>
            </a:custGeom>
            <a:ln w="52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433011" y="1119249"/>
              <a:ext cx="16510" cy="32384"/>
            </a:xfrm>
            <a:custGeom>
              <a:avLst/>
              <a:gdLst/>
              <a:ahLst/>
              <a:cxnLst/>
              <a:rect l="l" t="t" r="r" b="b"/>
              <a:pathLst>
                <a:path w="16510" h="32384">
                  <a:moveTo>
                    <a:pt x="0" y="0"/>
                  </a:moveTo>
                  <a:lnTo>
                    <a:pt x="0" y="31763"/>
                  </a:lnTo>
                  <a:lnTo>
                    <a:pt x="15955" y="158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465470" y="483077"/>
            <a:ext cx="99695" cy="4711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50" spc="5" dirty="0">
                <a:latin typeface="Times New Roman" panose="02020603050405020304"/>
                <a:cs typeface="Times New Roman" panose="02020603050405020304"/>
              </a:rPr>
              <a:t>0.4</a:t>
            </a:r>
            <a:endParaRPr sz="4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450" spc="5" dirty="0">
                <a:latin typeface="Times New Roman" panose="02020603050405020304"/>
                <a:cs typeface="Times New Roman" panose="02020603050405020304"/>
              </a:rPr>
              <a:t>0.3</a:t>
            </a:r>
            <a:endParaRPr sz="4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450" spc="5" dirty="0">
                <a:latin typeface="Times New Roman" panose="02020603050405020304"/>
                <a:cs typeface="Times New Roman" panose="02020603050405020304"/>
              </a:rPr>
              <a:t>0.2</a:t>
            </a:r>
            <a:endParaRPr sz="4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450" spc="5" dirty="0">
                <a:latin typeface="Times New Roman" panose="02020603050405020304"/>
                <a:cs typeface="Times New Roman" panose="02020603050405020304"/>
              </a:rPr>
              <a:t>0.1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65470" y="235076"/>
            <a:ext cx="99695" cy="965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50" spc="5" dirty="0">
                <a:latin typeface="Times New Roman" panose="02020603050405020304"/>
                <a:cs typeface="Times New Roman" panose="02020603050405020304"/>
              </a:rPr>
              <a:t>0.6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404922" y="286819"/>
            <a:ext cx="1088390" cy="755015"/>
            <a:chOff x="1404922" y="286819"/>
            <a:chExt cx="1088390" cy="755015"/>
          </a:xfrm>
        </p:grpSpPr>
        <p:sp>
          <p:nvSpPr>
            <p:cNvPr id="19" name="object 19"/>
            <p:cNvSpPr/>
            <p:nvPr/>
          </p:nvSpPr>
          <p:spPr>
            <a:xfrm>
              <a:off x="1714025" y="393139"/>
              <a:ext cx="628650" cy="471170"/>
            </a:xfrm>
            <a:custGeom>
              <a:avLst/>
              <a:gdLst/>
              <a:ahLst/>
              <a:cxnLst/>
              <a:rect l="l" t="t" r="r" b="b"/>
              <a:pathLst>
                <a:path w="628650" h="471169">
                  <a:moveTo>
                    <a:pt x="142389" y="83372"/>
                  </a:moveTo>
                  <a:lnTo>
                    <a:pt x="119356" y="8308"/>
                  </a:lnTo>
                </a:path>
                <a:path w="628650" h="471169">
                  <a:moveTo>
                    <a:pt x="139279" y="18896"/>
                  </a:moveTo>
                  <a:lnTo>
                    <a:pt x="119356" y="8308"/>
                  </a:lnTo>
                  <a:lnTo>
                    <a:pt x="108756" y="28161"/>
                  </a:lnTo>
                </a:path>
                <a:path w="628650" h="471169">
                  <a:moveTo>
                    <a:pt x="69104" y="255323"/>
                  </a:moveTo>
                  <a:lnTo>
                    <a:pt x="29318" y="307425"/>
                  </a:lnTo>
                </a:path>
                <a:path w="628650" h="471169">
                  <a:moveTo>
                    <a:pt x="26267" y="285176"/>
                  </a:moveTo>
                  <a:lnTo>
                    <a:pt x="29318" y="307425"/>
                  </a:lnTo>
                  <a:lnTo>
                    <a:pt x="51671" y="304396"/>
                  </a:lnTo>
                </a:path>
                <a:path w="628650" h="471169">
                  <a:moveTo>
                    <a:pt x="83759" y="387673"/>
                  </a:moveTo>
                  <a:lnTo>
                    <a:pt x="0" y="471038"/>
                  </a:lnTo>
                </a:path>
                <a:path w="628650" h="471169">
                  <a:moveTo>
                    <a:pt x="0" y="448583"/>
                  </a:moveTo>
                  <a:lnTo>
                    <a:pt x="0" y="471038"/>
                  </a:lnTo>
                  <a:lnTo>
                    <a:pt x="22566" y="471038"/>
                  </a:lnTo>
                </a:path>
                <a:path w="628650" h="471169">
                  <a:moveTo>
                    <a:pt x="628200" y="276161"/>
                  </a:moveTo>
                  <a:lnTo>
                    <a:pt x="605153" y="209464"/>
                  </a:lnTo>
                </a:path>
                <a:path w="628650" h="471169">
                  <a:moveTo>
                    <a:pt x="625393" y="219324"/>
                  </a:moveTo>
                  <a:lnTo>
                    <a:pt x="605153" y="209464"/>
                  </a:lnTo>
                  <a:lnTo>
                    <a:pt x="595255" y="229648"/>
                  </a:lnTo>
                </a:path>
                <a:path w="628650" h="471169">
                  <a:moveTo>
                    <a:pt x="460666" y="0"/>
                  </a:moveTo>
                  <a:lnTo>
                    <a:pt x="439688" y="75034"/>
                  </a:lnTo>
                </a:path>
                <a:path w="628650" h="471169">
                  <a:moveTo>
                    <a:pt x="428607" y="55513"/>
                  </a:moveTo>
                  <a:lnTo>
                    <a:pt x="439688" y="75034"/>
                  </a:lnTo>
                  <a:lnTo>
                    <a:pt x="459337" y="63983"/>
                  </a:lnTo>
                </a:path>
              </a:pathLst>
            </a:custGeom>
            <a:ln w="53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577922" y="442770"/>
              <a:ext cx="911225" cy="594995"/>
            </a:xfrm>
            <a:custGeom>
              <a:avLst/>
              <a:gdLst/>
              <a:ahLst/>
              <a:cxnLst/>
              <a:rect l="l" t="t" r="r" b="b"/>
              <a:pathLst>
                <a:path w="911225" h="594994">
                  <a:moveTo>
                    <a:pt x="177986" y="594403"/>
                  </a:moveTo>
                  <a:lnTo>
                    <a:pt x="164953" y="529246"/>
                  </a:lnTo>
                  <a:lnTo>
                    <a:pt x="147692" y="464663"/>
                  </a:lnTo>
                  <a:lnTo>
                    <a:pt x="130258" y="426419"/>
                  </a:lnTo>
                  <a:lnTo>
                    <a:pt x="107664" y="413725"/>
                  </a:lnTo>
                  <a:lnTo>
                    <a:pt x="100277" y="413776"/>
                  </a:lnTo>
                  <a:lnTo>
                    <a:pt x="60914" y="445750"/>
                  </a:lnTo>
                  <a:lnTo>
                    <a:pt x="38525" y="491746"/>
                  </a:lnTo>
                  <a:lnTo>
                    <a:pt x="11720" y="558877"/>
                  </a:lnTo>
                  <a:lnTo>
                    <a:pt x="0" y="594403"/>
                  </a:lnTo>
                </a:path>
                <a:path w="911225" h="594994">
                  <a:moveTo>
                    <a:pt x="230329" y="563139"/>
                  </a:moveTo>
                  <a:lnTo>
                    <a:pt x="224180" y="516886"/>
                  </a:lnTo>
                  <a:lnTo>
                    <a:pt x="216617" y="471667"/>
                  </a:lnTo>
                  <a:lnTo>
                    <a:pt x="207750" y="426955"/>
                  </a:lnTo>
                  <a:lnTo>
                    <a:pt x="197687" y="382224"/>
                  </a:lnTo>
                  <a:lnTo>
                    <a:pt x="187593" y="341925"/>
                  </a:lnTo>
                  <a:lnTo>
                    <a:pt x="175792" y="302315"/>
                  </a:lnTo>
                  <a:lnTo>
                    <a:pt x="161162" y="265255"/>
                  </a:lnTo>
                  <a:lnTo>
                    <a:pt x="140394" y="233037"/>
                  </a:lnTo>
                  <a:lnTo>
                    <a:pt x="108005" y="211018"/>
                  </a:lnTo>
                  <a:lnTo>
                    <a:pt x="96398" y="211339"/>
                  </a:lnTo>
                  <a:lnTo>
                    <a:pt x="61983" y="243515"/>
                  </a:lnTo>
                  <a:lnTo>
                    <a:pt x="47150" y="278639"/>
                  </a:lnTo>
                  <a:lnTo>
                    <a:pt x="35075" y="324385"/>
                  </a:lnTo>
                  <a:lnTo>
                    <a:pt x="24220" y="376614"/>
                  </a:lnTo>
                  <a:lnTo>
                    <a:pt x="14935" y="432528"/>
                  </a:lnTo>
                  <a:lnTo>
                    <a:pt x="7570" y="489329"/>
                  </a:lnTo>
                  <a:lnTo>
                    <a:pt x="2475" y="544220"/>
                  </a:lnTo>
                  <a:lnTo>
                    <a:pt x="0" y="594403"/>
                  </a:lnTo>
                </a:path>
                <a:path w="911225" h="594994">
                  <a:moveTo>
                    <a:pt x="889880" y="203398"/>
                  </a:moveTo>
                  <a:lnTo>
                    <a:pt x="869758" y="185353"/>
                  </a:lnTo>
                  <a:lnTo>
                    <a:pt x="843527" y="165248"/>
                  </a:lnTo>
                  <a:lnTo>
                    <a:pt x="814195" y="148522"/>
                  </a:lnTo>
                  <a:lnTo>
                    <a:pt x="784765" y="140613"/>
                  </a:lnTo>
                  <a:lnTo>
                    <a:pt x="775884" y="140751"/>
                  </a:lnTo>
                  <a:lnTo>
                    <a:pt x="707469" y="173418"/>
                  </a:lnTo>
                  <a:lnTo>
                    <a:pt x="672143" y="209102"/>
                  </a:lnTo>
                  <a:lnTo>
                    <a:pt x="643949" y="247911"/>
                  </a:lnTo>
                  <a:lnTo>
                    <a:pt x="621885" y="283448"/>
                  </a:lnTo>
                </a:path>
                <a:path w="911225" h="594994">
                  <a:moveTo>
                    <a:pt x="910859" y="87931"/>
                  </a:moveTo>
                  <a:lnTo>
                    <a:pt x="908790" y="85843"/>
                  </a:lnTo>
                  <a:lnTo>
                    <a:pt x="906057" y="83358"/>
                  </a:lnTo>
                  <a:lnTo>
                    <a:pt x="903398" y="80916"/>
                  </a:lnTo>
                  <a:lnTo>
                    <a:pt x="859936" y="45821"/>
                  </a:lnTo>
                  <a:lnTo>
                    <a:pt x="815651" y="20280"/>
                  </a:lnTo>
                  <a:lnTo>
                    <a:pt x="769551" y="4828"/>
                  </a:lnTo>
                  <a:lnTo>
                    <a:pt x="720647" y="0"/>
                  </a:lnTo>
                  <a:lnTo>
                    <a:pt x="672596" y="5004"/>
                  </a:lnTo>
                  <a:lnTo>
                    <a:pt x="624342" y="17124"/>
                  </a:lnTo>
                  <a:lnTo>
                    <a:pt x="578929" y="33866"/>
                  </a:lnTo>
                  <a:lnTo>
                    <a:pt x="539398" y="52740"/>
                  </a:lnTo>
                  <a:lnTo>
                    <a:pt x="508792" y="71255"/>
                  </a:lnTo>
                </a:path>
              </a:pathLst>
            </a:custGeom>
            <a:ln w="88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420878" y="299539"/>
              <a:ext cx="0" cy="71120"/>
            </a:xfrm>
            <a:custGeom>
              <a:avLst/>
              <a:gdLst/>
              <a:ahLst/>
              <a:cxnLst/>
              <a:rect l="l" t="t" r="r" b="b"/>
              <a:pathLst>
                <a:path h="71120">
                  <a:moveTo>
                    <a:pt x="0" y="70659"/>
                  </a:moveTo>
                  <a:lnTo>
                    <a:pt x="0" y="0"/>
                  </a:lnTo>
                </a:path>
              </a:pathLst>
            </a:custGeom>
            <a:ln w="53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404922" y="286819"/>
              <a:ext cx="32384" cy="16510"/>
            </a:xfrm>
            <a:custGeom>
              <a:avLst/>
              <a:gdLst/>
              <a:ahLst/>
              <a:cxnLst/>
              <a:rect l="l" t="t" r="r" b="b"/>
              <a:pathLst>
                <a:path w="32384" h="16510">
                  <a:moveTo>
                    <a:pt x="15955" y="0"/>
                  </a:moveTo>
                  <a:lnTo>
                    <a:pt x="0" y="15881"/>
                  </a:lnTo>
                  <a:lnTo>
                    <a:pt x="31911" y="15881"/>
                  </a:lnTo>
                  <a:lnTo>
                    <a:pt x="159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1378871" y="358014"/>
            <a:ext cx="186055" cy="965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50" i="1" spc="10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450" i="1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50" spc="5" dirty="0">
                <a:latin typeface="Times New Roman" panose="02020603050405020304"/>
                <a:cs typeface="Times New Roman" panose="02020603050405020304"/>
              </a:rPr>
              <a:t>0.5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18283" y="387065"/>
            <a:ext cx="45085" cy="71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i="1" dirty="0">
                <a:latin typeface="Times New Roman" panose="02020603050405020304"/>
                <a:cs typeface="Times New Roman" panose="02020603050405020304"/>
              </a:rPr>
              <a:t>p</a:t>
            </a:r>
            <a:endParaRPr sz="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3733" y="266191"/>
            <a:ext cx="1136015" cy="830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6000"/>
              </a:lnSpc>
              <a:spcBef>
                <a:spcPts val="95"/>
              </a:spcBef>
              <a:tabLst>
                <a:tab pos="577850" algn="l"/>
                <a:tab pos="1017905" algn="l"/>
              </a:tabLst>
            </a:pPr>
            <a:r>
              <a:rPr sz="500" spc="10" dirty="0">
                <a:latin typeface="Bookman Uralic"/>
                <a:cs typeface="Bookman Uralic"/>
              </a:rPr>
              <a:t>The </a:t>
            </a:r>
            <a:r>
              <a:rPr sz="500" b="1" i="1" spc="10" dirty="0">
                <a:latin typeface="TeX Gyre Bonum"/>
                <a:cs typeface="TeX Gyre Bonum"/>
              </a:rPr>
              <a:t>tip-speed ratio </a:t>
            </a:r>
            <a:r>
              <a:rPr sz="500" i="1" spc="5" dirty="0">
                <a:latin typeface="Bookman Uralic"/>
                <a:cs typeface="Bookman Uralic"/>
              </a:rPr>
              <a:t>is the ratio </a:t>
            </a:r>
            <a:r>
              <a:rPr sz="500" i="1" spc="10" dirty="0">
                <a:latin typeface="Bookman Uralic"/>
                <a:cs typeface="Bookman Uralic"/>
              </a:rPr>
              <a:t>of  </a:t>
            </a:r>
            <a:r>
              <a:rPr sz="500" i="1" spc="5" dirty="0">
                <a:latin typeface="Bookman Uralic"/>
                <a:cs typeface="Bookman Uralic"/>
              </a:rPr>
              <a:t>the </a:t>
            </a:r>
            <a:r>
              <a:rPr sz="500" i="1" spc="10" dirty="0">
                <a:latin typeface="Bookman Uralic"/>
                <a:cs typeface="Bookman Uralic"/>
              </a:rPr>
              <a:t>rotational speed of </a:t>
            </a:r>
            <a:r>
              <a:rPr sz="500" i="1" spc="5" dirty="0">
                <a:latin typeface="Bookman Uralic"/>
                <a:cs typeface="Bookman Uralic"/>
              </a:rPr>
              <a:t>the </a:t>
            </a:r>
            <a:r>
              <a:rPr sz="500" i="1" spc="10" dirty="0">
                <a:latin typeface="Bookman Uralic"/>
                <a:cs typeface="Bookman Uralic"/>
              </a:rPr>
              <a:t>blade  </a:t>
            </a:r>
            <a:r>
              <a:rPr sz="500" i="1" dirty="0">
                <a:latin typeface="Bookman Uralic"/>
                <a:cs typeface="Bookman Uralic"/>
              </a:rPr>
              <a:t>to </a:t>
            </a:r>
            <a:r>
              <a:rPr sz="500" i="1" spc="5" dirty="0">
                <a:latin typeface="Bookman Uralic"/>
                <a:cs typeface="Bookman Uralic"/>
              </a:rPr>
              <a:t>the </a:t>
            </a:r>
            <a:r>
              <a:rPr sz="500" i="1" spc="10" dirty="0">
                <a:latin typeface="Bookman Uralic"/>
                <a:cs typeface="Bookman Uralic"/>
              </a:rPr>
              <a:t>wind speed</a:t>
            </a:r>
            <a:r>
              <a:rPr sz="500" spc="10" dirty="0">
                <a:latin typeface="Bookman Uralic"/>
                <a:cs typeface="Bookman Uralic"/>
              </a:rPr>
              <a:t>. The larger this  ratio, the faster </a:t>
            </a:r>
            <a:r>
              <a:rPr sz="500" spc="5" dirty="0">
                <a:latin typeface="Bookman Uralic"/>
                <a:cs typeface="Bookman Uralic"/>
              </a:rPr>
              <a:t>the </a:t>
            </a:r>
            <a:r>
              <a:rPr sz="500" spc="10" dirty="0">
                <a:latin typeface="Bookman Uralic"/>
                <a:cs typeface="Bookman Uralic"/>
              </a:rPr>
              <a:t>rotation of  the wind turbine rotor </a:t>
            </a:r>
            <a:r>
              <a:rPr sz="500" spc="5" dirty="0">
                <a:latin typeface="Bookman Uralic"/>
                <a:cs typeface="Bookman Uralic"/>
              </a:rPr>
              <a:t>at </a:t>
            </a:r>
            <a:r>
              <a:rPr sz="500" spc="15" dirty="0">
                <a:latin typeface="Bookman Uralic"/>
                <a:cs typeface="Bookman Uralic"/>
              </a:rPr>
              <a:t>a </a:t>
            </a:r>
            <a:r>
              <a:rPr sz="500" spc="10" dirty="0">
                <a:latin typeface="Bookman Uralic"/>
                <a:cs typeface="Bookman Uralic"/>
              </a:rPr>
              <a:t>given  wind</a:t>
            </a:r>
            <a:r>
              <a:rPr sz="500" spc="180" dirty="0">
                <a:latin typeface="Bookman Uralic"/>
                <a:cs typeface="Bookman Uralic"/>
              </a:rPr>
              <a:t> </a:t>
            </a:r>
            <a:r>
              <a:rPr sz="500" spc="15" dirty="0">
                <a:latin typeface="Bookman Uralic"/>
                <a:cs typeface="Bookman Uralic"/>
              </a:rPr>
              <a:t>speed. </a:t>
            </a:r>
            <a:r>
              <a:rPr sz="500" spc="5" dirty="0">
                <a:latin typeface="Bookman Uralic"/>
                <a:cs typeface="Bookman Uralic"/>
              </a:rPr>
              <a:t>Lift-type </a:t>
            </a:r>
            <a:r>
              <a:rPr sz="500" spc="10" dirty="0">
                <a:latin typeface="Bookman Uralic"/>
                <a:cs typeface="Bookman Uralic"/>
              </a:rPr>
              <a:t>wind  turbines have </a:t>
            </a:r>
            <a:r>
              <a:rPr sz="500" spc="15" dirty="0">
                <a:latin typeface="Bookman Uralic"/>
                <a:cs typeface="Bookman Uralic"/>
              </a:rPr>
              <a:t>maximum </a:t>
            </a:r>
            <a:r>
              <a:rPr sz="500" spc="5" dirty="0">
                <a:latin typeface="Bookman Uralic"/>
                <a:cs typeface="Bookman Uralic"/>
              </a:rPr>
              <a:t>tip-  </a:t>
            </a:r>
            <a:r>
              <a:rPr sz="500" spc="15" dirty="0">
                <a:latin typeface="Bookman Uralic"/>
                <a:cs typeface="Bookman Uralic"/>
              </a:rPr>
              <a:t>speed </a:t>
            </a:r>
            <a:r>
              <a:rPr sz="500" spc="10" dirty="0">
                <a:latin typeface="Bookman Uralic"/>
                <a:cs typeface="Bookman Uralic"/>
              </a:rPr>
              <a:t>ratios of around 10, while  d</a:t>
            </a:r>
            <a:r>
              <a:rPr sz="500" spc="5" dirty="0">
                <a:latin typeface="Bookman Uralic"/>
                <a:cs typeface="Bookman Uralic"/>
              </a:rPr>
              <a:t>r</a:t>
            </a:r>
            <a:r>
              <a:rPr sz="500" spc="20" dirty="0">
                <a:latin typeface="Bookman Uralic"/>
                <a:cs typeface="Bookman Uralic"/>
              </a:rPr>
              <a:t>a</a:t>
            </a:r>
            <a:r>
              <a:rPr sz="500" spc="15" dirty="0">
                <a:latin typeface="Bookman Uralic"/>
                <a:cs typeface="Bookman Uralic"/>
              </a:rPr>
              <a:t>g</a:t>
            </a:r>
            <a:r>
              <a:rPr sz="500" spc="10" dirty="0">
                <a:latin typeface="Bookman Uralic"/>
                <a:cs typeface="Bookman Uralic"/>
              </a:rPr>
              <a:t>-t</a:t>
            </a:r>
            <a:r>
              <a:rPr sz="500" spc="15" dirty="0">
                <a:latin typeface="Bookman Uralic"/>
                <a:cs typeface="Bookman Uralic"/>
              </a:rPr>
              <a:t>y</a:t>
            </a:r>
            <a:r>
              <a:rPr sz="500" spc="-5" dirty="0">
                <a:latin typeface="Bookman Uralic"/>
                <a:cs typeface="Bookman Uralic"/>
              </a:rPr>
              <a:t>p</a:t>
            </a:r>
            <a:r>
              <a:rPr sz="500" spc="10" dirty="0">
                <a:latin typeface="Bookman Uralic"/>
                <a:cs typeface="Bookman Uralic"/>
              </a:rPr>
              <a:t>e</a:t>
            </a:r>
            <a:r>
              <a:rPr sz="500" dirty="0">
                <a:latin typeface="Bookman Uralic"/>
                <a:cs typeface="Bookman Uralic"/>
              </a:rPr>
              <a:t>	</a:t>
            </a:r>
            <a:r>
              <a:rPr sz="500" spc="5" dirty="0">
                <a:latin typeface="Bookman Uralic"/>
                <a:cs typeface="Bookman Uralic"/>
              </a:rPr>
              <a:t>r</a:t>
            </a:r>
            <a:r>
              <a:rPr sz="500" spc="20" dirty="0">
                <a:latin typeface="Bookman Uralic"/>
                <a:cs typeface="Bookman Uralic"/>
              </a:rPr>
              <a:t>a</a:t>
            </a:r>
            <a:r>
              <a:rPr sz="500" spc="10" dirty="0">
                <a:latin typeface="Bookman Uralic"/>
                <a:cs typeface="Bookman Uralic"/>
              </a:rPr>
              <a:t>t</a:t>
            </a:r>
            <a:r>
              <a:rPr sz="500" dirty="0">
                <a:latin typeface="Bookman Uralic"/>
                <a:cs typeface="Bookman Uralic"/>
              </a:rPr>
              <a:t>i</a:t>
            </a:r>
            <a:r>
              <a:rPr sz="500" spc="15" dirty="0">
                <a:latin typeface="Bookman Uralic"/>
                <a:cs typeface="Bookman Uralic"/>
              </a:rPr>
              <a:t>os</a:t>
            </a:r>
            <a:r>
              <a:rPr sz="500" dirty="0">
                <a:latin typeface="Bookman Uralic"/>
                <a:cs typeface="Bookman Uralic"/>
              </a:rPr>
              <a:t>	</a:t>
            </a:r>
            <a:r>
              <a:rPr sz="500" spc="20" dirty="0">
                <a:latin typeface="Bookman Uralic"/>
                <a:cs typeface="Bookman Uralic"/>
              </a:rPr>
              <a:t>a</a:t>
            </a:r>
            <a:r>
              <a:rPr sz="500" spc="-10" dirty="0">
                <a:latin typeface="Bookman Uralic"/>
                <a:cs typeface="Bookman Uralic"/>
              </a:rPr>
              <a:t>r</a:t>
            </a:r>
            <a:r>
              <a:rPr sz="500" spc="10" dirty="0">
                <a:latin typeface="Bookman Uralic"/>
                <a:cs typeface="Bookman Uralic"/>
              </a:rPr>
              <a:t>e  approximately</a:t>
            </a:r>
            <a:r>
              <a:rPr sz="500" spc="-5" dirty="0">
                <a:latin typeface="Bookman Uralic"/>
                <a:cs typeface="Bookman Uralic"/>
              </a:rPr>
              <a:t> </a:t>
            </a:r>
            <a:r>
              <a:rPr sz="500" spc="10" dirty="0">
                <a:latin typeface="Bookman Uralic"/>
                <a:cs typeface="Bookman Uralic"/>
              </a:rPr>
              <a:t>1.</a:t>
            </a:r>
            <a:endParaRPr sz="500">
              <a:latin typeface="Bookman Uralic"/>
              <a:cs typeface="Bookman Ural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8333" y="1189989"/>
            <a:ext cx="2391410" cy="186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30480">
              <a:lnSpc>
                <a:spcPct val="106000"/>
              </a:lnSpc>
              <a:spcBef>
                <a:spcPts val="90"/>
              </a:spcBef>
            </a:pPr>
            <a:r>
              <a:rPr sz="500" spc="10" dirty="0">
                <a:latin typeface="Bookman Uralic"/>
                <a:cs typeface="Bookman Uralic"/>
              </a:rPr>
              <a:t>The coefficient of performance </a:t>
            </a:r>
            <a:r>
              <a:rPr sz="500" spc="5" dirty="0">
                <a:latin typeface="Bookman Uralic"/>
                <a:cs typeface="Bookman Uralic"/>
              </a:rPr>
              <a:t>is </a:t>
            </a:r>
            <a:r>
              <a:rPr sz="500" spc="10" dirty="0">
                <a:latin typeface="Bookman Uralic"/>
                <a:cs typeface="Bookman Uralic"/>
              </a:rPr>
              <a:t>defined </a:t>
            </a:r>
            <a:r>
              <a:rPr sz="500" spc="15" dirty="0">
                <a:latin typeface="Bookman Uralic"/>
                <a:cs typeface="Bookman Uralic"/>
              </a:rPr>
              <a:t>as </a:t>
            </a:r>
            <a:r>
              <a:rPr sz="500" i="1" spc="5" dirty="0">
                <a:latin typeface="Bookman Uralic"/>
                <a:cs typeface="Bookman Uralic"/>
              </a:rPr>
              <a:t>the ratio </a:t>
            </a:r>
            <a:r>
              <a:rPr sz="500" i="1" spc="10" dirty="0">
                <a:latin typeface="Bookman Uralic"/>
                <a:cs typeface="Bookman Uralic"/>
              </a:rPr>
              <a:t>of </a:t>
            </a:r>
            <a:r>
              <a:rPr sz="500" i="1" spc="5" dirty="0">
                <a:latin typeface="Bookman Uralic"/>
                <a:cs typeface="Bookman Uralic"/>
              </a:rPr>
              <a:t>the </a:t>
            </a:r>
            <a:r>
              <a:rPr sz="500" i="1" spc="10" dirty="0">
                <a:latin typeface="Bookman Uralic"/>
                <a:cs typeface="Bookman Uralic"/>
              </a:rPr>
              <a:t>power  delivered by </a:t>
            </a:r>
            <a:r>
              <a:rPr sz="500" i="1" spc="5" dirty="0">
                <a:latin typeface="Bookman Uralic"/>
                <a:cs typeface="Bookman Uralic"/>
              </a:rPr>
              <a:t>the rotor, </a:t>
            </a:r>
            <a:r>
              <a:rPr sz="500" b="1" i="1" spc="10" dirty="0">
                <a:latin typeface="TeX Gyre Bonum"/>
                <a:cs typeface="TeX Gyre Bonum"/>
              </a:rPr>
              <a:t>P</a:t>
            </a:r>
            <a:r>
              <a:rPr sz="500" i="1" spc="10" dirty="0">
                <a:latin typeface="Bookman Uralic"/>
                <a:cs typeface="Bookman Uralic"/>
              </a:rPr>
              <a:t>, </a:t>
            </a:r>
            <a:r>
              <a:rPr sz="500" i="1" dirty="0">
                <a:latin typeface="Bookman Uralic"/>
                <a:cs typeface="Bookman Uralic"/>
              </a:rPr>
              <a:t>to </a:t>
            </a:r>
            <a:r>
              <a:rPr sz="500" i="1" spc="5" dirty="0">
                <a:latin typeface="Bookman Uralic"/>
                <a:cs typeface="Bookman Uralic"/>
              </a:rPr>
              <a:t>the </a:t>
            </a:r>
            <a:r>
              <a:rPr sz="500" i="1" spc="15" dirty="0">
                <a:latin typeface="Bookman Uralic"/>
                <a:cs typeface="Bookman Uralic"/>
              </a:rPr>
              <a:t>maximum power </a:t>
            </a:r>
            <a:r>
              <a:rPr sz="500" i="1" spc="10" dirty="0">
                <a:latin typeface="Bookman Uralic"/>
                <a:cs typeface="Bookman Uralic"/>
              </a:rPr>
              <a:t>available, </a:t>
            </a:r>
            <a:r>
              <a:rPr sz="500" i="1" spc="5" dirty="0">
                <a:latin typeface="Bookman Uralic"/>
                <a:cs typeface="Bookman Uralic"/>
              </a:rPr>
              <a:t>P</a:t>
            </a:r>
            <a:r>
              <a:rPr sz="525" b="1" i="1" spc="7" baseline="-24000" dirty="0">
                <a:latin typeface="TeX Gyre Bonum"/>
                <a:cs typeface="TeX Gyre Bonum"/>
              </a:rPr>
              <a:t>t</a:t>
            </a:r>
            <a:r>
              <a:rPr sz="500" i="1" spc="5" dirty="0">
                <a:latin typeface="Bookman Uralic"/>
                <a:cs typeface="Bookman Uralic"/>
              </a:rPr>
              <a:t>,</a:t>
            </a:r>
            <a:r>
              <a:rPr sz="500" i="1" spc="20" dirty="0">
                <a:latin typeface="Bookman Uralic"/>
                <a:cs typeface="Bookman Uralic"/>
              </a:rPr>
              <a:t> </a:t>
            </a:r>
            <a:r>
              <a:rPr sz="500" i="1" spc="10" dirty="0">
                <a:latin typeface="Bookman Uralic"/>
                <a:cs typeface="Bookman Uralic"/>
              </a:rPr>
              <a:t>in the</a:t>
            </a:r>
            <a:endParaRPr sz="500">
              <a:latin typeface="Bookman Uralic"/>
              <a:cs typeface="Bookman Ural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3893" y="1470025"/>
            <a:ext cx="1534795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i="1" spc="5" dirty="0">
                <a:latin typeface="Bookman Uralic"/>
                <a:cs typeface="Bookman Uralic"/>
              </a:rPr>
              <a:t>wind </a:t>
            </a:r>
            <a:r>
              <a:rPr sz="500" spc="15" dirty="0">
                <a:latin typeface="Bookman Uralic"/>
                <a:cs typeface="Bookman Uralic"/>
              </a:rPr>
              <a:t>and </a:t>
            </a:r>
            <a:r>
              <a:rPr sz="500" spc="5" dirty="0">
                <a:latin typeface="Bookman Uralic"/>
                <a:cs typeface="Bookman Uralic"/>
              </a:rPr>
              <a:t>is </a:t>
            </a:r>
            <a:r>
              <a:rPr sz="500" spc="15" dirty="0">
                <a:latin typeface="Bookman Uralic"/>
                <a:cs typeface="Bookman Uralic"/>
              </a:rPr>
              <a:t>given </a:t>
            </a:r>
            <a:r>
              <a:rPr sz="500" spc="10" dirty="0">
                <a:latin typeface="Bookman Uralic"/>
                <a:cs typeface="Bookman Uralic"/>
              </a:rPr>
              <a:t>by the following</a:t>
            </a:r>
            <a:r>
              <a:rPr sz="500" dirty="0">
                <a:latin typeface="Bookman Uralic"/>
                <a:cs typeface="Bookman Uralic"/>
              </a:rPr>
              <a:t> </a:t>
            </a:r>
            <a:r>
              <a:rPr sz="500" spc="10" dirty="0">
                <a:latin typeface="Bookman Uralic"/>
                <a:cs typeface="Bookman Uralic"/>
              </a:rPr>
              <a:t>expression.</a:t>
            </a:r>
            <a:endParaRPr sz="500">
              <a:latin typeface="Bookman Uralic"/>
              <a:cs typeface="Bookman Uralic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871267" y="1469505"/>
            <a:ext cx="398145" cy="0"/>
          </a:xfrm>
          <a:custGeom>
            <a:avLst/>
            <a:gdLst/>
            <a:ahLst/>
            <a:cxnLst/>
            <a:rect l="l" t="t" r="r" b="b"/>
            <a:pathLst>
              <a:path w="398144">
                <a:moveTo>
                  <a:pt x="0" y="0"/>
                </a:moveTo>
                <a:lnTo>
                  <a:pt x="64430" y="0"/>
                </a:lnTo>
              </a:path>
              <a:path w="398144">
                <a:moveTo>
                  <a:pt x="172400" y="0"/>
                </a:moveTo>
                <a:lnTo>
                  <a:pt x="397856" y="0"/>
                </a:lnTo>
              </a:path>
            </a:pathLst>
          </a:custGeom>
          <a:ln w="323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2040603" y="1542086"/>
            <a:ext cx="59055" cy="1054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b="1" spc="10" dirty="0">
                <a:latin typeface="Times New Roman" panose="02020603050405020304"/>
                <a:cs typeface="Times New Roman" panose="02020603050405020304"/>
              </a:rPr>
              <a:t>2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900012" y="1504452"/>
            <a:ext cx="36195" cy="71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00" b="1" i="1" dirty="0">
                <a:latin typeface="Times New Roman" panose="02020603050405020304"/>
                <a:cs typeface="Times New Roman" panose="02020603050405020304"/>
              </a:rPr>
              <a:t>t</a:t>
            </a:r>
            <a:endParaRPr sz="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870408" y="1365311"/>
            <a:ext cx="66675" cy="1054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b="1" i="1" spc="15" dirty="0">
                <a:latin typeface="Times New Roman" panose="02020603050405020304"/>
                <a:cs typeface="Times New Roman" panose="02020603050405020304"/>
              </a:rPr>
              <a:t>P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204601" y="1360866"/>
            <a:ext cx="232410" cy="2317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20"/>
              </a:spcBef>
            </a:pPr>
            <a:r>
              <a:rPr sz="500" b="1" i="1" spc="15" dirty="0">
                <a:latin typeface="Times New Roman" panose="02020603050405020304"/>
                <a:cs typeface="Times New Roman" panose="02020603050405020304"/>
              </a:rPr>
              <a:t>P</a:t>
            </a:r>
            <a:endParaRPr sz="500">
              <a:latin typeface="Times New Roman" panose="02020603050405020304"/>
              <a:cs typeface="Times New Roman" panose="02020603050405020304"/>
            </a:endParaRPr>
          </a:p>
          <a:p>
            <a:pPr marL="38100">
              <a:lnSpc>
                <a:spcPct val="100000"/>
              </a:lnSpc>
              <a:spcBef>
                <a:spcPts val="400"/>
              </a:spcBef>
            </a:pPr>
            <a:r>
              <a:rPr sz="500" b="1" i="1" spc="15" dirty="0">
                <a:latin typeface="Times New Roman" panose="02020603050405020304"/>
                <a:cs typeface="Times New Roman" panose="02020603050405020304"/>
              </a:rPr>
              <a:t>ρAV</a:t>
            </a:r>
            <a:r>
              <a:rPr sz="500" b="1" i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50" b="1" baseline="46000" dirty="0">
                <a:latin typeface="Times New Roman" panose="02020603050405020304"/>
                <a:cs typeface="Times New Roman" panose="02020603050405020304"/>
              </a:rPr>
              <a:t>3</a:t>
            </a:r>
            <a:endParaRPr sz="450" baseline="46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670282" y="1488768"/>
            <a:ext cx="475615" cy="1054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500" b="1" i="1" spc="40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450" b="1" i="1" spc="60" baseline="-28000" dirty="0">
                <a:latin typeface="Times New Roman" panose="02020603050405020304"/>
                <a:cs typeface="Times New Roman" panose="02020603050405020304"/>
              </a:rPr>
              <a:t>p </a:t>
            </a:r>
            <a:r>
              <a:rPr sz="500" b="1" spc="10" dirty="0">
                <a:latin typeface="Symbol" panose="05050102010706020507"/>
                <a:cs typeface="Symbol" panose="05050102010706020507"/>
              </a:rPr>
              <a:t></a:t>
            </a:r>
            <a:r>
              <a:rPr sz="5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b="1" i="1" spc="22" baseline="-44000" dirty="0">
                <a:latin typeface="Times New Roman" panose="02020603050405020304"/>
                <a:cs typeface="Times New Roman" panose="02020603050405020304"/>
              </a:rPr>
              <a:t>P  </a:t>
            </a:r>
            <a:r>
              <a:rPr sz="500" b="1" spc="10" dirty="0">
                <a:latin typeface="Symbol" panose="05050102010706020507"/>
                <a:cs typeface="Symbol" panose="05050102010706020507"/>
              </a:rPr>
              <a:t></a:t>
            </a:r>
            <a:r>
              <a:rPr sz="500" b="1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b="1" u="sng" spc="15" baseline="-39000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1</a:t>
            </a:r>
            <a:endParaRPr sz="750" baseline="-39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1983" y="1582673"/>
            <a:ext cx="2461260" cy="266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 algn="just">
              <a:lnSpc>
                <a:spcPct val="105000"/>
              </a:lnSpc>
              <a:spcBef>
                <a:spcPts val="95"/>
              </a:spcBef>
            </a:pPr>
            <a:r>
              <a:rPr sz="500" spc="10" dirty="0">
                <a:latin typeface="Bookman Uralic"/>
                <a:cs typeface="Bookman Uralic"/>
              </a:rPr>
              <a:t>It </a:t>
            </a:r>
            <a:r>
              <a:rPr sz="500" spc="5" dirty="0">
                <a:latin typeface="Bookman Uralic"/>
                <a:cs typeface="Bookman Uralic"/>
              </a:rPr>
              <a:t>is </a:t>
            </a:r>
            <a:r>
              <a:rPr sz="500" spc="15" dirty="0">
                <a:latin typeface="Bookman Uralic"/>
                <a:cs typeface="Bookman Uralic"/>
              </a:rPr>
              <a:t>seen </a:t>
            </a:r>
            <a:r>
              <a:rPr sz="500" spc="10" dirty="0">
                <a:latin typeface="Bookman Uralic"/>
                <a:cs typeface="Bookman Uralic"/>
              </a:rPr>
              <a:t>that </a:t>
            </a:r>
            <a:r>
              <a:rPr sz="500" spc="5" dirty="0">
                <a:latin typeface="Bookman Uralic"/>
                <a:cs typeface="Bookman Uralic"/>
              </a:rPr>
              <a:t>the </a:t>
            </a:r>
            <a:r>
              <a:rPr sz="500" spc="10" dirty="0">
                <a:latin typeface="Bookman Uralic"/>
                <a:cs typeface="Bookman Uralic"/>
              </a:rPr>
              <a:t>values of tip speed for </a:t>
            </a:r>
            <a:r>
              <a:rPr sz="500" spc="5" dirty="0">
                <a:latin typeface="Bookman Uralic"/>
                <a:cs typeface="Bookman Uralic"/>
              </a:rPr>
              <a:t>the </a:t>
            </a:r>
            <a:r>
              <a:rPr sz="500" spc="10" dirty="0">
                <a:latin typeface="Bookman Uralic"/>
                <a:cs typeface="Bookman Uralic"/>
              </a:rPr>
              <a:t>multi-blade </a:t>
            </a:r>
            <a:r>
              <a:rPr sz="500" spc="15" dirty="0">
                <a:latin typeface="Bookman Uralic"/>
                <a:cs typeface="Bookman Uralic"/>
              </a:rPr>
              <a:t>and </a:t>
            </a:r>
            <a:r>
              <a:rPr sz="500" i="1" spc="10" dirty="0">
                <a:latin typeface="Bookman Uralic"/>
                <a:cs typeface="Bookman Uralic"/>
              </a:rPr>
              <a:t>Savonius  </a:t>
            </a:r>
            <a:r>
              <a:rPr sz="500" spc="15" dirty="0">
                <a:latin typeface="Bookman Uralic"/>
                <a:cs typeface="Bookman Uralic"/>
              </a:rPr>
              <a:t>types </a:t>
            </a:r>
            <a:r>
              <a:rPr sz="500" spc="5" dirty="0">
                <a:latin typeface="Bookman Uralic"/>
                <a:cs typeface="Bookman Uralic"/>
              </a:rPr>
              <a:t>are </a:t>
            </a:r>
            <a:r>
              <a:rPr sz="500" spc="15" dirty="0">
                <a:latin typeface="Bookman Uralic"/>
                <a:cs typeface="Bookman Uralic"/>
              </a:rPr>
              <a:t>much </a:t>
            </a:r>
            <a:r>
              <a:rPr sz="500" spc="10" dirty="0">
                <a:latin typeface="Bookman Uralic"/>
                <a:cs typeface="Bookman Uralic"/>
              </a:rPr>
              <a:t>lower than </a:t>
            </a:r>
            <a:r>
              <a:rPr sz="500" spc="5" dirty="0">
                <a:latin typeface="Bookman Uralic"/>
                <a:cs typeface="Bookman Uralic"/>
              </a:rPr>
              <a:t>the </a:t>
            </a:r>
            <a:r>
              <a:rPr sz="500" spc="10" dirty="0">
                <a:latin typeface="Bookman Uralic"/>
                <a:cs typeface="Bookman Uralic"/>
              </a:rPr>
              <a:t>values for </a:t>
            </a:r>
            <a:r>
              <a:rPr sz="500" spc="5" dirty="0">
                <a:latin typeface="Bookman Uralic"/>
                <a:cs typeface="Bookman Uralic"/>
              </a:rPr>
              <a:t>the </a:t>
            </a:r>
            <a:r>
              <a:rPr sz="500" spc="10" dirty="0">
                <a:latin typeface="Bookman Uralic"/>
                <a:cs typeface="Bookman Uralic"/>
              </a:rPr>
              <a:t>propeller </a:t>
            </a:r>
            <a:r>
              <a:rPr sz="500" spc="15" dirty="0">
                <a:latin typeface="Bookman Uralic"/>
                <a:cs typeface="Bookman Uralic"/>
              </a:rPr>
              <a:t>and </a:t>
            </a:r>
            <a:r>
              <a:rPr sz="500" spc="5" dirty="0">
                <a:latin typeface="Bookman Uralic"/>
                <a:cs typeface="Bookman Uralic"/>
              </a:rPr>
              <a:t>the </a:t>
            </a:r>
            <a:r>
              <a:rPr sz="500" i="1" spc="10" dirty="0">
                <a:latin typeface="Bookman Uralic"/>
                <a:cs typeface="Bookman Uralic"/>
              </a:rPr>
              <a:t>Darrieus  </a:t>
            </a:r>
            <a:r>
              <a:rPr sz="500" spc="10" dirty="0">
                <a:latin typeface="Bookman Uralic"/>
                <a:cs typeface="Bookman Uralic"/>
              </a:rPr>
              <a:t>types.</a:t>
            </a:r>
            <a:r>
              <a:rPr sz="500" spc="30" dirty="0">
                <a:latin typeface="Bookman Uralic"/>
                <a:cs typeface="Bookman Uralic"/>
              </a:rPr>
              <a:t> </a:t>
            </a:r>
            <a:r>
              <a:rPr sz="500" spc="10" dirty="0">
                <a:latin typeface="Bookman Uralic"/>
                <a:cs typeface="Bookman Uralic"/>
              </a:rPr>
              <a:t>It</a:t>
            </a:r>
            <a:r>
              <a:rPr sz="500" spc="40" dirty="0">
                <a:latin typeface="Bookman Uralic"/>
                <a:cs typeface="Bookman Uralic"/>
              </a:rPr>
              <a:t> </a:t>
            </a:r>
            <a:r>
              <a:rPr sz="500" spc="5" dirty="0">
                <a:latin typeface="Bookman Uralic"/>
                <a:cs typeface="Bookman Uralic"/>
              </a:rPr>
              <a:t>is</a:t>
            </a:r>
            <a:r>
              <a:rPr sz="500" spc="35" dirty="0">
                <a:latin typeface="Bookman Uralic"/>
                <a:cs typeface="Bookman Uralic"/>
              </a:rPr>
              <a:t> </a:t>
            </a:r>
            <a:r>
              <a:rPr sz="500" spc="10" dirty="0">
                <a:latin typeface="Bookman Uralic"/>
                <a:cs typeface="Bookman Uralic"/>
              </a:rPr>
              <a:t>also</a:t>
            </a:r>
            <a:r>
              <a:rPr sz="500" spc="40" dirty="0">
                <a:latin typeface="Bookman Uralic"/>
                <a:cs typeface="Bookman Uralic"/>
              </a:rPr>
              <a:t> </a:t>
            </a:r>
            <a:r>
              <a:rPr sz="500" spc="10" dirty="0">
                <a:latin typeface="Bookman Uralic"/>
                <a:cs typeface="Bookman Uralic"/>
              </a:rPr>
              <a:t>seen</a:t>
            </a:r>
            <a:r>
              <a:rPr sz="500" spc="35" dirty="0">
                <a:latin typeface="Bookman Uralic"/>
                <a:cs typeface="Bookman Uralic"/>
              </a:rPr>
              <a:t> </a:t>
            </a:r>
            <a:r>
              <a:rPr sz="500" spc="10" dirty="0">
                <a:latin typeface="Bookman Uralic"/>
                <a:cs typeface="Bookman Uralic"/>
              </a:rPr>
              <a:t>that</a:t>
            </a:r>
            <a:r>
              <a:rPr sz="500" spc="40" dirty="0">
                <a:latin typeface="Bookman Uralic"/>
                <a:cs typeface="Bookman Uralic"/>
              </a:rPr>
              <a:t> </a:t>
            </a:r>
            <a:r>
              <a:rPr sz="500" spc="5" dirty="0">
                <a:latin typeface="Bookman Uralic"/>
                <a:cs typeface="Bookman Uralic"/>
              </a:rPr>
              <a:t>the</a:t>
            </a:r>
            <a:r>
              <a:rPr sz="500" spc="50" dirty="0">
                <a:latin typeface="Bookman Uralic"/>
                <a:cs typeface="Bookman Uralic"/>
              </a:rPr>
              <a:t> </a:t>
            </a:r>
            <a:r>
              <a:rPr sz="500" spc="10" dirty="0">
                <a:latin typeface="Bookman Uralic"/>
                <a:cs typeface="Bookman Uralic"/>
              </a:rPr>
              <a:t>highest</a:t>
            </a:r>
            <a:r>
              <a:rPr sz="500" spc="40" dirty="0">
                <a:latin typeface="Bookman Uralic"/>
                <a:cs typeface="Bookman Uralic"/>
              </a:rPr>
              <a:t> </a:t>
            </a:r>
            <a:r>
              <a:rPr sz="500" spc="10" dirty="0">
                <a:latin typeface="Bookman Uralic"/>
                <a:cs typeface="Bookman Uralic"/>
              </a:rPr>
              <a:t>values</a:t>
            </a:r>
            <a:r>
              <a:rPr sz="500" spc="40" dirty="0">
                <a:latin typeface="Bookman Uralic"/>
                <a:cs typeface="Bookman Uralic"/>
              </a:rPr>
              <a:t> </a:t>
            </a:r>
            <a:r>
              <a:rPr sz="500" spc="10" dirty="0">
                <a:latin typeface="Bookman Uralic"/>
                <a:cs typeface="Bookman Uralic"/>
              </a:rPr>
              <a:t>of</a:t>
            </a:r>
            <a:r>
              <a:rPr sz="500" spc="20" dirty="0">
                <a:latin typeface="Bookman Uralic"/>
                <a:cs typeface="Bookman Uralic"/>
              </a:rPr>
              <a:t> </a:t>
            </a:r>
            <a:r>
              <a:rPr sz="500" i="1" spc="5" dirty="0">
                <a:latin typeface="Bookman Uralic"/>
                <a:cs typeface="Bookman Uralic"/>
              </a:rPr>
              <a:t>C</a:t>
            </a:r>
            <a:r>
              <a:rPr sz="525" i="1" spc="7" baseline="-16000" dirty="0">
                <a:latin typeface="Bookman Uralic"/>
                <a:cs typeface="Bookman Uralic"/>
              </a:rPr>
              <a:t>p</a:t>
            </a:r>
            <a:r>
              <a:rPr sz="525" i="1" spc="127" baseline="-16000" dirty="0">
                <a:latin typeface="Bookman Uralic"/>
                <a:cs typeface="Bookman Uralic"/>
              </a:rPr>
              <a:t> </a:t>
            </a:r>
            <a:r>
              <a:rPr sz="500" spc="10" dirty="0">
                <a:latin typeface="Bookman Uralic"/>
                <a:cs typeface="Bookman Uralic"/>
              </a:rPr>
              <a:t>are</a:t>
            </a:r>
            <a:r>
              <a:rPr sz="500" spc="50" dirty="0">
                <a:latin typeface="Bookman Uralic"/>
                <a:cs typeface="Bookman Uralic"/>
              </a:rPr>
              <a:t> </a:t>
            </a:r>
            <a:r>
              <a:rPr sz="500" spc="10" dirty="0">
                <a:latin typeface="Bookman Uralic"/>
                <a:cs typeface="Bookman Uralic"/>
              </a:rPr>
              <a:t>obtained</a:t>
            </a:r>
            <a:r>
              <a:rPr sz="500" spc="35" dirty="0">
                <a:latin typeface="Bookman Uralic"/>
                <a:cs typeface="Bookman Uralic"/>
              </a:rPr>
              <a:t> </a:t>
            </a:r>
            <a:r>
              <a:rPr sz="500" spc="10" dirty="0">
                <a:latin typeface="Bookman Uralic"/>
                <a:cs typeface="Bookman Uralic"/>
              </a:rPr>
              <a:t>with</a:t>
            </a:r>
            <a:r>
              <a:rPr sz="500" spc="35" dirty="0">
                <a:latin typeface="Bookman Uralic"/>
                <a:cs typeface="Bookman Uralic"/>
              </a:rPr>
              <a:t> </a:t>
            </a:r>
            <a:r>
              <a:rPr sz="500" spc="10" dirty="0">
                <a:latin typeface="Bookman Uralic"/>
                <a:cs typeface="Bookman Uralic"/>
              </a:rPr>
              <a:t>the</a:t>
            </a:r>
            <a:endParaRPr sz="500">
              <a:latin typeface="Bookman Uralic"/>
              <a:cs typeface="Bookman Uralic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41273" y="1844421"/>
            <a:ext cx="498475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10" dirty="0">
                <a:latin typeface="Bookman Uralic"/>
                <a:cs typeface="Bookman Uralic"/>
              </a:rPr>
              <a:t>propeller</a:t>
            </a:r>
            <a:r>
              <a:rPr sz="500" spc="-40" dirty="0">
                <a:latin typeface="Bookman Uralic"/>
                <a:cs typeface="Bookman Uralic"/>
              </a:rPr>
              <a:t> </a:t>
            </a:r>
            <a:r>
              <a:rPr sz="500" spc="10" dirty="0">
                <a:latin typeface="Bookman Uralic"/>
                <a:cs typeface="Bookman Uralic"/>
              </a:rPr>
              <a:t>type.</a:t>
            </a:r>
            <a:endParaRPr sz="500">
              <a:latin typeface="Bookman Uralic"/>
              <a:cs typeface="Bookman Uralic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462022" y="1876170"/>
            <a:ext cx="711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55</a:t>
            </a:r>
            <a:endParaRPr sz="350">
              <a:latin typeface="Carlito"/>
              <a:cs typeface="Carlito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0" y="0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62530" y="1876170"/>
            <a:ext cx="711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58</a:t>
            </a:r>
            <a:endParaRPr sz="350">
              <a:latin typeface="Carlito"/>
              <a:cs typeface="Carlito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11556" y="0"/>
            <a:ext cx="2705735" cy="2035175"/>
            <a:chOff x="-11556" y="0"/>
            <a:chExt cx="2705735" cy="2035175"/>
          </a:xfrm>
        </p:grpSpPr>
        <p:sp>
          <p:nvSpPr>
            <p:cNvPr id="4" name="object 4"/>
            <p:cNvSpPr/>
            <p:nvPr/>
          </p:nvSpPr>
          <p:spPr>
            <a:xfrm>
              <a:off x="201168" y="89915"/>
              <a:ext cx="2368295" cy="1831848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35" y="0"/>
              <a:ext cx="2681605" cy="2011045"/>
            </a:xfrm>
            <a:custGeom>
              <a:avLst/>
              <a:gdLst/>
              <a:ahLst/>
              <a:cxnLst/>
              <a:rect l="l" t="t" r="r" b="b"/>
              <a:pathLst>
                <a:path w="2681605" h="2011045">
                  <a:moveTo>
                    <a:pt x="0" y="2010790"/>
                  </a:moveTo>
                  <a:lnTo>
                    <a:pt x="2681351" y="2010790"/>
                  </a:lnTo>
                  <a:lnTo>
                    <a:pt x="2681351" y="0"/>
                  </a:lnTo>
                  <a:lnTo>
                    <a:pt x="0" y="0"/>
                  </a:lnTo>
                  <a:lnTo>
                    <a:pt x="0" y="201079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62022" y="1877060"/>
            <a:ext cx="711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57</a:t>
            </a:r>
            <a:endParaRPr sz="350">
              <a:latin typeface="Carlito"/>
              <a:cs typeface="Carlito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12192" y="0"/>
            <a:ext cx="2705735" cy="2035175"/>
            <a:chOff x="-12192" y="0"/>
            <a:chExt cx="2705735" cy="2035175"/>
          </a:xfrm>
        </p:grpSpPr>
        <p:sp>
          <p:nvSpPr>
            <p:cNvPr id="4" name="object 4"/>
            <p:cNvSpPr/>
            <p:nvPr/>
          </p:nvSpPr>
          <p:spPr>
            <a:xfrm>
              <a:off x="156971" y="22860"/>
              <a:ext cx="2412492" cy="1965960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965"/>
              <a:ext cx="2681605" cy="2010410"/>
            </a:xfrm>
            <a:custGeom>
              <a:avLst/>
              <a:gdLst/>
              <a:ahLst/>
              <a:cxnLst/>
              <a:rect l="l" t="t" r="r" b="b"/>
              <a:pathLst>
                <a:path w="2681605" h="2010410">
                  <a:moveTo>
                    <a:pt x="0" y="2010410"/>
                  </a:moveTo>
                  <a:lnTo>
                    <a:pt x="2681351" y="2010410"/>
                  </a:lnTo>
                  <a:lnTo>
                    <a:pt x="2681351" y="0"/>
                  </a:lnTo>
                  <a:lnTo>
                    <a:pt x="0" y="0"/>
                  </a:lnTo>
                  <a:lnTo>
                    <a:pt x="0" y="201041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object 3"/>
          <p:cNvGrpSpPr/>
          <p:nvPr/>
        </p:nvGrpSpPr>
        <p:grpSpPr>
          <a:xfrm>
            <a:off x="-184151" y="-1279612"/>
            <a:ext cx="3291897" cy="3321806"/>
            <a:chOff x="-142957" y="-698319"/>
            <a:chExt cx="2824562" cy="2709694"/>
          </a:xfrm>
        </p:grpSpPr>
        <p:sp>
          <p:nvSpPr>
            <p:cNvPr id="5" name="object 4"/>
            <p:cNvSpPr/>
            <p:nvPr/>
          </p:nvSpPr>
          <p:spPr>
            <a:xfrm>
              <a:off x="-142957" y="-698319"/>
              <a:ext cx="2707914" cy="2635523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p/>
          </p:txBody>
        </p:sp>
        <p:sp>
          <p:nvSpPr>
            <p:cNvPr id="6" name="object 5"/>
            <p:cNvSpPr/>
            <p:nvPr/>
          </p:nvSpPr>
          <p:spPr>
            <a:xfrm>
              <a:off x="0" y="965"/>
              <a:ext cx="2681605" cy="2010410"/>
            </a:xfrm>
            <a:custGeom>
              <a:avLst/>
              <a:gdLst/>
              <a:ahLst/>
              <a:cxnLst/>
              <a:rect l="l" t="t" r="r" b="b"/>
              <a:pathLst>
                <a:path w="2681605" h="2010410">
                  <a:moveTo>
                    <a:pt x="0" y="2010410"/>
                  </a:moveTo>
                  <a:lnTo>
                    <a:pt x="2681351" y="2010410"/>
                  </a:lnTo>
                  <a:lnTo>
                    <a:pt x="2681351" y="0"/>
                  </a:lnTo>
                  <a:lnTo>
                    <a:pt x="0" y="0"/>
                  </a:lnTo>
                  <a:lnTo>
                    <a:pt x="0" y="201041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62530" y="1877060"/>
            <a:ext cx="711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60</a:t>
            </a:r>
            <a:endParaRPr sz="350">
              <a:latin typeface="Carlito"/>
              <a:cs typeface="Carlito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11556" y="0"/>
            <a:ext cx="2705735" cy="2035175"/>
            <a:chOff x="-11556" y="0"/>
            <a:chExt cx="2705735" cy="2035175"/>
          </a:xfrm>
        </p:grpSpPr>
        <p:sp>
          <p:nvSpPr>
            <p:cNvPr id="4" name="object 4"/>
            <p:cNvSpPr/>
            <p:nvPr/>
          </p:nvSpPr>
          <p:spPr>
            <a:xfrm>
              <a:off x="245364" y="67056"/>
              <a:ext cx="2257043" cy="1944623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35" y="965"/>
              <a:ext cx="2681605" cy="2010410"/>
            </a:xfrm>
            <a:custGeom>
              <a:avLst/>
              <a:gdLst/>
              <a:ahLst/>
              <a:cxnLst/>
              <a:rect l="l" t="t" r="r" b="b"/>
              <a:pathLst>
                <a:path w="2681605" h="2010410">
                  <a:moveTo>
                    <a:pt x="0" y="2010410"/>
                  </a:moveTo>
                  <a:lnTo>
                    <a:pt x="2681351" y="2010410"/>
                  </a:lnTo>
                  <a:lnTo>
                    <a:pt x="2681351" y="0"/>
                  </a:lnTo>
                  <a:lnTo>
                    <a:pt x="0" y="0"/>
                  </a:lnTo>
                  <a:lnTo>
                    <a:pt x="0" y="201041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62022" y="1876170"/>
            <a:ext cx="711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61</a:t>
            </a:r>
            <a:endParaRPr sz="350">
              <a:latin typeface="Carlito"/>
              <a:cs typeface="Carlito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12192" y="0"/>
            <a:ext cx="2705735" cy="2035175"/>
            <a:chOff x="-12192" y="0"/>
            <a:chExt cx="2705735" cy="2035175"/>
          </a:xfrm>
        </p:grpSpPr>
        <p:sp>
          <p:nvSpPr>
            <p:cNvPr id="4" name="object 4"/>
            <p:cNvSpPr/>
            <p:nvPr/>
          </p:nvSpPr>
          <p:spPr>
            <a:xfrm>
              <a:off x="201167" y="179831"/>
              <a:ext cx="2301240" cy="1653539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2681605" cy="2011045"/>
            </a:xfrm>
            <a:custGeom>
              <a:avLst/>
              <a:gdLst/>
              <a:ahLst/>
              <a:cxnLst/>
              <a:rect l="l" t="t" r="r" b="b"/>
              <a:pathLst>
                <a:path w="2681605" h="2011045">
                  <a:moveTo>
                    <a:pt x="0" y="2010790"/>
                  </a:moveTo>
                  <a:lnTo>
                    <a:pt x="2681351" y="2010790"/>
                  </a:lnTo>
                  <a:lnTo>
                    <a:pt x="2681351" y="0"/>
                  </a:lnTo>
                  <a:lnTo>
                    <a:pt x="0" y="0"/>
                  </a:lnTo>
                  <a:lnTo>
                    <a:pt x="0" y="201079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15559</Words>
  <Application>WPS Presentation</Application>
  <PresentationFormat>Custom</PresentationFormat>
  <Paragraphs>530</Paragraphs>
  <Slides>45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61" baseType="lpstr">
      <vt:lpstr>Arial</vt:lpstr>
      <vt:lpstr>SimSun</vt:lpstr>
      <vt:lpstr>Wingdings</vt:lpstr>
      <vt:lpstr>Bookman Uralic</vt:lpstr>
      <vt:lpstr>Segoe Print</vt:lpstr>
      <vt:lpstr>Times New Roman</vt:lpstr>
      <vt:lpstr>Carlito</vt:lpstr>
      <vt:lpstr>Wingdings</vt:lpstr>
      <vt:lpstr>Calibri</vt:lpstr>
      <vt:lpstr>Microsoft YaHei</vt:lpstr>
      <vt:lpstr>Arial Unicode MS</vt:lpstr>
      <vt:lpstr>Arial</vt:lpstr>
      <vt:lpstr>Trebuchet MS</vt:lpstr>
      <vt:lpstr>TeX Gyre Bonum</vt:lpstr>
      <vt:lpstr>Symbol</vt:lpstr>
      <vt:lpstr>Office Theme</vt:lpstr>
      <vt:lpstr>PowerPoint 演示文稿</vt:lpstr>
      <vt:lpstr>PowerPoint 演示文稿</vt:lpstr>
      <vt:lpstr>After successful completion of this course, students will be able to</vt:lpstr>
      <vt:lpstr>Energy from the wind</vt:lpstr>
      <vt:lpstr>What Makes Wind?</vt:lpstr>
      <vt:lpstr>PowerPoint 演示文稿</vt:lpstr>
      <vt:lpstr>Wind Power Plant</vt:lpstr>
      <vt:lpstr>What is Wind Energy?</vt:lpstr>
      <vt:lpstr>Parts of wind turbine</vt:lpstr>
      <vt:lpstr>yaw pitch and roll</vt:lpstr>
      <vt:lpstr>Why Wind Energy?</vt:lpstr>
      <vt:lpstr>Why Wind Energy?</vt:lpstr>
      <vt:lpstr>History of Wind Energy</vt:lpstr>
      <vt:lpstr>History of Wind Energy</vt:lpstr>
      <vt:lpstr>Why Such Growth? …costs are low!</vt:lpstr>
      <vt:lpstr>Is Wind Energy Truly Sustainable?</vt:lpstr>
      <vt:lpstr>Advantages of Wind Energy</vt:lpstr>
      <vt:lpstr>PowerPoint 演示文稿</vt:lpstr>
      <vt:lpstr>Merits and demerits of wind turbines</vt:lpstr>
      <vt:lpstr>Impacts of Wind Power: Noise</vt:lpstr>
      <vt:lpstr>Installation of Wind Turbines</vt:lpstr>
      <vt:lpstr>Offshore Wind Farms</vt:lpstr>
      <vt:lpstr>Common Misunderstandings</vt:lpstr>
      <vt:lpstr>Turbines: Different sizes &amp; Applications</vt:lpstr>
      <vt:lpstr>PowerPoint 演示文稿</vt:lpstr>
      <vt:lpstr>PowerPoint 演示文稿</vt:lpstr>
      <vt:lpstr>Different Types of Wind Turbines</vt:lpstr>
      <vt:lpstr>PowerPoint 演示文稿</vt:lpstr>
      <vt:lpstr>PowerPoint 演示文稿</vt:lpstr>
      <vt:lpstr>Wind Turbine Power</vt:lpstr>
      <vt:lpstr>PowerPoint 演示文稿</vt:lpstr>
      <vt:lpstr>PowerPoint 演示文稿</vt:lpstr>
      <vt:lpstr>PowerPoint 演示文稿</vt:lpstr>
      <vt:lpstr>PowerPoint 演示文稿</vt:lpstr>
      <vt:lpstr>Components of wind turbine</vt:lpstr>
      <vt:lpstr>Upwind and downwind machines</vt:lpstr>
      <vt:lpstr>(VAWT)</vt:lpstr>
      <vt:lpstr>Horizontal axis wind turbines  (HAWT)</vt:lpstr>
      <vt:lpstr>PowerPoint 演示文稿</vt:lpstr>
      <vt:lpstr>Performance of wind turbines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ME403  Advanced Energy Engineering</dc:title>
  <dc:creator>HP</dc:creator>
  <cp:lastModifiedBy>tssig</cp:lastModifiedBy>
  <cp:revision>9</cp:revision>
  <dcterms:created xsi:type="dcterms:W3CDTF">2022-09-26T19:00:00Z</dcterms:created>
  <dcterms:modified xsi:type="dcterms:W3CDTF">2023-11-14T13:53:14Z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2018-10-24T03:30:00Z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2022-09-27T03:30:00Z</vt:filetime>
  </property>
  <property fmtid="{D5CDD505-2E9C-101B-9397-08002B2CF9AE}" pid="5" name="ICV">
    <vt:lpwstr>D9AF0E105B724238B5D0B908DFCDD7D8</vt:lpwstr>
  </property>
  <property fmtid="{D5CDD505-2E9C-101B-9397-08002B2CF9AE}" pid="6" name="KSOProductBuildVer">
    <vt:lpwstr>1033-12.2.0.13306</vt:lpwstr>
  </property>
</Properties>
</file>