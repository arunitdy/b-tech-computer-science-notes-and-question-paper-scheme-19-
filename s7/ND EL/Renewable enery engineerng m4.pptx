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2679700" cy="2012950"/>
  <p:notesSz cx="2679700" cy="20129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220" d="100"/>
          <a:sy n="220" d="100"/>
        </p:scale>
        <p:origin x="-1722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1453" y="624014"/>
            <a:ext cx="2283142" cy="422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2907" y="1127252"/>
            <a:ext cx="1880235" cy="503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6FC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6FC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4302" y="462978"/>
            <a:ext cx="1168431" cy="1328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383315" y="462978"/>
            <a:ext cx="1168431" cy="1328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006FC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0914" y="93980"/>
            <a:ext cx="2286000" cy="384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006FC0"/>
                </a:solidFill>
                <a:latin typeface="Bookman Uralic"/>
                <a:cs typeface="Bookman Ural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7682" y="512106"/>
            <a:ext cx="2418715" cy="127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3257" y="1872043"/>
            <a:ext cx="859536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4302" y="1872043"/>
            <a:ext cx="617791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33956" y="1872043"/>
            <a:ext cx="617791" cy="100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8.jpe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5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7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07717" y="42417"/>
            <a:ext cx="256540" cy="196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i="1" spc="10" dirty="0">
                <a:latin typeface="Times New Roman" panose="02020603050405020304"/>
                <a:cs typeface="Times New Roman" panose="02020603050405020304"/>
              </a:rPr>
              <a:t>L-</a:t>
            </a:r>
            <a:r>
              <a:rPr sz="500" b="1" i="1" spc="-3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500" b="1" i="1" spc="10" dirty="0">
                <a:latin typeface="Times New Roman" panose="02020603050405020304"/>
                <a:cs typeface="Times New Roman" panose="02020603050405020304"/>
              </a:rPr>
              <a:t>-P-C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ct val="100000"/>
              </a:lnSpc>
              <a:spcBef>
                <a:spcPts val="50"/>
              </a:spcBef>
            </a:pPr>
            <a:r>
              <a:rPr sz="550" b="1" i="1" spc="1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3-0-0-3</a:t>
            </a:r>
            <a:endParaRPr sz="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357" y="193930"/>
            <a:ext cx="2392680" cy="7258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en-US" sz="1450" b="1" i="1" spc="5" dirty="0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Renewable </a:t>
            </a:r>
            <a:r>
              <a:rPr sz="1450" b="1" i="1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Energy</a:t>
            </a:r>
            <a:r>
              <a:rPr sz="1450" b="1" i="1" spc="25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endParaRPr sz="1450">
              <a:latin typeface="Times New Roman" panose="02020603050405020304"/>
              <a:cs typeface="Times New Roman" panose="02020603050405020304"/>
            </a:endParaRPr>
          </a:p>
          <a:p>
            <a:pPr marL="5080" algn="ctr">
              <a:lnSpc>
                <a:spcPct val="100000"/>
              </a:lnSpc>
              <a:spcBef>
                <a:spcPts val="190"/>
              </a:spcBef>
            </a:pPr>
            <a:r>
              <a:rPr sz="1400" b="1" i="1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Module -</a:t>
            </a:r>
            <a:r>
              <a:rPr sz="1400" b="1" i="1" spc="-15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i="1" spc="5" dirty="0">
                <a:solidFill>
                  <a:srgbClr val="1F487C"/>
                </a:solidFill>
                <a:latin typeface="Times New Roman" panose="02020603050405020304"/>
                <a:cs typeface="Times New Roman" panose="02020603050405020304"/>
              </a:rPr>
              <a:t>IV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8" name="object 8"/>
            <p:cNvSpPr/>
            <p:nvPr/>
          </p:nvSpPr>
          <p:spPr>
            <a:xfrm>
              <a:off x="291083" y="714756"/>
              <a:ext cx="2121408" cy="835151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5389" y="1876170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4" name="object 4"/>
            <p:cNvSpPr/>
            <p:nvPr/>
          </p:nvSpPr>
          <p:spPr>
            <a:xfrm>
              <a:off x="156972" y="804671"/>
              <a:ext cx="2412491" cy="113995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78308" y="67055"/>
              <a:ext cx="2368296" cy="760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709" y="80213"/>
            <a:ext cx="12280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Course</a:t>
            </a:r>
            <a:r>
              <a:rPr sz="1300" b="1" i="1" spc="-6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Outcomes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1938" y="1916988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</a:t>
            </a:r>
            <a:endParaRPr sz="35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168" y="467402"/>
          <a:ext cx="2568574" cy="1430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"/>
                <a:gridCol w="2048510"/>
                <a:gridCol w="370839"/>
              </a:tblGrid>
              <a:tr h="207899">
                <a:tc>
                  <a:txBody>
                    <a:bodyPr/>
                    <a:lstStyle/>
                    <a:p>
                      <a:pPr marL="34925" marR="27305" indent="10160">
                        <a:lnSpc>
                          <a:spcPct val="123000"/>
                        </a:lnSpc>
                        <a:spcBef>
                          <a:spcPts val="195"/>
                        </a:spcBef>
                      </a:pPr>
                      <a:r>
                        <a:rPr sz="400" b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r>
                        <a:rPr sz="400" b="1" spc="-5" dirty="0">
                          <a:latin typeface="Times New Roman" panose="02020603050405020304"/>
                          <a:cs typeface="Times New Roman" panose="02020603050405020304"/>
                        </a:rPr>
                        <a:t>l</a:t>
                      </a:r>
                      <a:r>
                        <a:rPr sz="400" b="1" dirty="0">
                          <a:latin typeface="Times New Roman" panose="02020603050405020304"/>
                          <a:cs typeface="Times New Roman" panose="02020603050405020304"/>
                        </a:rPr>
                        <a:t>.  </a:t>
                      </a:r>
                      <a:r>
                        <a:rPr sz="400" b="1" spc="5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DESCRIPTION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 marR="36195" indent="101600">
                        <a:lnSpc>
                          <a:spcPct val="127000"/>
                        </a:lnSpc>
                        <a:spcBef>
                          <a:spcPts val="90"/>
                        </a:spcBef>
                      </a:pPr>
                      <a:r>
                        <a:rPr sz="450" b="1" spc="10" dirty="0">
                          <a:latin typeface="Times New Roman" panose="02020603050405020304"/>
                          <a:cs typeface="Times New Roman" panose="02020603050405020304"/>
                        </a:rPr>
                        <a:t>PO  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M</a:t>
                      </a:r>
                      <a:r>
                        <a:rPr sz="450" b="1" spc="-5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PP</a:t>
                      </a:r>
                      <a:r>
                        <a:rPr sz="450" b="1" spc="-5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2700">
                        <a:lnSpc>
                          <a:spcPct val="106000"/>
                        </a:lnSpc>
                        <a:spcBef>
                          <a:spcPts val="8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Discuss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compare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layout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working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principles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steam, hydro,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nuclear,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gas turbine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diesel power</a:t>
                      </a:r>
                      <a:r>
                        <a:rPr sz="500" spc="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plants.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0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2065">
                        <a:lnSpc>
                          <a:spcPct val="106000"/>
                        </a:lnSpc>
                        <a:spcBef>
                          <a:spcPts val="8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Describe 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use 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solar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components used in the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</a:t>
                      </a:r>
                      <a:r>
                        <a:rPr sz="500" spc="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production.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9525">
                        <a:lnSpc>
                          <a:spcPct val="106000"/>
                        </a:lnSpc>
                        <a:spcBef>
                          <a:spcPts val="8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Appreciate 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need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wind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components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used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in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generation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know the</a:t>
                      </a:r>
                      <a:r>
                        <a:rPr sz="500" spc="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classifications.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1430">
                        <a:lnSpc>
                          <a:spcPct val="106000"/>
                        </a:lnSpc>
                        <a:spcBef>
                          <a:spcPts val="85"/>
                        </a:spcBef>
                      </a:pP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Acquire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knowledge about the concept </a:t>
                      </a:r>
                      <a:r>
                        <a:rPr sz="500" b="1" spc="15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power generation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from 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biomass energy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resources and their </a:t>
                      </a:r>
                      <a:r>
                        <a:rPr sz="500" b="1" dirty="0">
                          <a:latin typeface="Times New Roman" panose="02020603050405020304"/>
                          <a:cs typeface="Times New Roman" panose="02020603050405020304"/>
                        </a:rPr>
                        <a:t>future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prospects </a:t>
                      </a:r>
                      <a:r>
                        <a:rPr sz="500" b="1" spc="5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5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b="1" spc="10" dirty="0">
                          <a:latin typeface="Times New Roman" panose="02020603050405020304"/>
                          <a:cs typeface="Times New Roman" panose="02020603050405020304"/>
                        </a:rPr>
                        <a:t>economics.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2700">
                        <a:lnSpc>
                          <a:spcPct val="106000"/>
                        </a:lnSpc>
                        <a:spcBef>
                          <a:spcPts val="85"/>
                        </a:spcBef>
                      </a:pP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Describe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principles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applications of power generation from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various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sources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Hydrogen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conversion</a:t>
                      </a:r>
                      <a:r>
                        <a:rPr sz="5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systems.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5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9525" algn="just">
                        <a:lnSpc>
                          <a:spcPct val="106000"/>
                        </a:lnSpc>
                        <a:spcBef>
                          <a:spcPts val="140"/>
                        </a:spcBef>
                      </a:pP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Understand energy scenario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environmental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effects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energy 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conversion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become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aware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of different </a:t>
                      </a:r>
                      <a:r>
                        <a:rPr sz="500" spc="10" dirty="0">
                          <a:latin typeface="Times New Roman" panose="02020603050405020304"/>
                          <a:cs typeface="Times New Roman" panose="02020603050405020304"/>
                        </a:rPr>
                        <a:t>renewable energy sources 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and 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choose </a:t>
                      </a:r>
                      <a:r>
                        <a:rPr sz="500" spc="5" dirty="0">
                          <a:latin typeface="Times New Roman" panose="02020603050405020304"/>
                          <a:cs typeface="Times New Roman" panose="02020603050405020304"/>
                        </a:rPr>
                        <a:t>sustainable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energy for</a:t>
                      </a:r>
                      <a:r>
                        <a:rPr sz="500" spc="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500" dirty="0">
                          <a:latin typeface="Times New Roman" panose="02020603050405020304"/>
                          <a:cs typeface="Times New Roman" panose="02020603050405020304"/>
                        </a:rPr>
                        <a:t>future.</a:t>
                      </a: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450" b="1" spc="5" dirty="0">
                          <a:latin typeface="Times New Roman" panose="02020603050405020304"/>
                          <a:cs typeface="Times New Roman" panose="02020603050405020304"/>
                        </a:rPr>
                        <a:t>PO1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733" y="311658"/>
            <a:ext cx="2376805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0" i="1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After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successful completion </a:t>
            </a:r>
            <a:r>
              <a:rPr sz="700" b="0" i="1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this course, students </a:t>
            </a:r>
            <a:r>
              <a:rPr sz="700" b="0" i="1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700" b="0" i="1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able</a:t>
            </a:r>
            <a:r>
              <a:rPr sz="700" b="0" i="1" spc="-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b="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2446" y="1845360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6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35" y="75946"/>
            <a:ext cx="163766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eX Gyre Bonum"/>
                <a:cs typeface="TeX Gyre Bonum"/>
              </a:rPr>
              <a:t>Biomass </a:t>
            </a:r>
            <a:r>
              <a:rPr sz="1300" i="1" spc="-5" dirty="0">
                <a:latin typeface="TeX Gyre Bonum"/>
                <a:cs typeface="TeX Gyre Bonum"/>
              </a:rPr>
              <a:t>to</a:t>
            </a:r>
            <a:r>
              <a:rPr sz="1300" i="1" spc="-60" dirty="0">
                <a:latin typeface="TeX Gyre Bonum"/>
                <a:cs typeface="TeX Gyre Bonum"/>
              </a:rPr>
              <a:t> </a:t>
            </a:r>
            <a:r>
              <a:rPr sz="1300" i="1" spc="-10" dirty="0">
                <a:latin typeface="TeX Gyre Bonum"/>
                <a:cs typeface="TeX Gyre Bonum"/>
              </a:rPr>
              <a:t>Energy</a:t>
            </a:r>
            <a:endParaRPr sz="1300">
              <a:latin typeface="TeX Gyre Bonum"/>
              <a:cs typeface="TeX Gyre Bon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619" y="355854"/>
            <a:ext cx="2454910" cy="121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" indent="-72390">
              <a:lnSpc>
                <a:spcPts val="765"/>
              </a:lnSpc>
              <a:spcBef>
                <a:spcPts val="105"/>
              </a:spcBef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i="1" dirty="0">
                <a:latin typeface="Bookman Uralic"/>
                <a:cs typeface="Bookman Uralic"/>
              </a:rPr>
              <a:t>The Sun </a:t>
            </a:r>
            <a:r>
              <a:rPr sz="700" i="1" spc="-5" dirty="0">
                <a:latin typeface="Bookman Uralic"/>
                <a:cs typeface="Bookman Uralic"/>
              </a:rPr>
              <a:t>is the </a:t>
            </a:r>
            <a:r>
              <a:rPr sz="700" i="1" dirty="0">
                <a:latin typeface="Bookman Uralic"/>
                <a:cs typeface="Bookman Uralic"/>
              </a:rPr>
              <a:t>direct or </a:t>
            </a:r>
            <a:r>
              <a:rPr sz="700" i="1" spc="-5" dirty="0">
                <a:latin typeface="Bookman Uralic"/>
                <a:cs typeface="Bookman Uralic"/>
              </a:rPr>
              <a:t>indirect </a:t>
            </a:r>
            <a:r>
              <a:rPr sz="700" i="1" dirty="0">
                <a:latin typeface="Bookman Uralic"/>
                <a:cs typeface="Bookman Uralic"/>
              </a:rPr>
              <a:t>source </a:t>
            </a:r>
            <a:r>
              <a:rPr sz="700" i="1" spc="-5" dirty="0">
                <a:latin typeface="Bookman Uralic"/>
                <a:cs typeface="Bookman Uralic"/>
              </a:rPr>
              <a:t>of </a:t>
            </a:r>
            <a:r>
              <a:rPr sz="700" i="1" dirty="0">
                <a:latin typeface="Bookman Uralic"/>
                <a:cs typeface="Bookman Uralic"/>
              </a:rPr>
              <a:t>nearly </a:t>
            </a:r>
            <a:r>
              <a:rPr sz="700" i="1" spc="-5" dirty="0">
                <a:latin typeface="Bookman Uralic"/>
                <a:cs typeface="Bookman Uralic"/>
              </a:rPr>
              <a:t>all</a:t>
            </a:r>
            <a:r>
              <a:rPr sz="700" i="1" spc="70" dirty="0">
                <a:latin typeface="Bookman Uralic"/>
                <a:cs typeface="Bookman Uralic"/>
              </a:rPr>
              <a:t> </a:t>
            </a:r>
            <a:r>
              <a:rPr sz="700" i="1" spc="-5" dirty="0">
                <a:latin typeface="Bookman Uralic"/>
                <a:cs typeface="Bookman Uralic"/>
              </a:rPr>
              <a:t>our</a:t>
            </a:r>
            <a:endParaRPr sz="700">
              <a:latin typeface="Bookman Uralic"/>
              <a:cs typeface="Bookman Uralic"/>
            </a:endParaRPr>
          </a:p>
          <a:p>
            <a:pPr marL="12700">
              <a:lnSpc>
                <a:spcPts val="765"/>
              </a:lnSpc>
            </a:pPr>
            <a:r>
              <a:rPr sz="700" b="1" i="1" dirty="0">
                <a:latin typeface="TeX Gyre Bonum"/>
                <a:cs typeface="TeX Gyre Bonum"/>
              </a:rPr>
              <a:t>energy </a:t>
            </a:r>
            <a:r>
              <a:rPr sz="700" i="1" dirty="0">
                <a:latin typeface="Bookman Uralic"/>
                <a:cs typeface="Bookman Uralic"/>
              </a:rPr>
              <a:t>on</a:t>
            </a:r>
            <a:r>
              <a:rPr sz="700" i="1" spc="-60" dirty="0">
                <a:latin typeface="Bookman Uralic"/>
                <a:cs typeface="Bookman Uralic"/>
              </a:rPr>
              <a:t> </a:t>
            </a:r>
            <a:r>
              <a:rPr sz="700" i="1" dirty="0">
                <a:latin typeface="Bookman Uralic"/>
                <a:cs typeface="Bookman Uralic"/>
              </a:rPr>
              <a:t>earth.</a:t>
            </a:r>
            <a:endParaRPr sz="700">
              <a:latin typeface="Bookman Uralic"/>
              <a:cs typeface="Bookman Uralic"/>
            </a:endParaRPr>
          </a:p>
          <a:p>
            <a:pPr marL="84455" indent="-72390">
              <a:lnSpc>
                <a:spcPct val="100000"/>
              </a:lnSpc>
              <a:spcBef>
                <a:spcPts val="530"/>
              </a:spcBef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i="1" dirty="0">
                <a:latin typeface="Bookman Uralic"/>
                <a:cs typeface="Bookman Uralic"/>
              </a:rPr>
              <a:t>Energy </a:t>
            </a:r>
            <a:r>
              <a:rPr sz="700" i="1" spc="-5" dirty="0">
                <a:latin typeface="Bookman Uralic"/>
                <a:cs typeface="Bookman Uralic"/>
              </a:rPr>
              <a:t>can </a:t>
            </a:r>
            <a:r>
              <a:rPr sz="700" b="1" i="1" dirty="0">
                <a:latin typeface="TeX Gyre Bonum"/>
                <a:cs typeface="TeX Gyre Bonum"/>
              </a:rPr>
              <a:t>change </a:t>
            </a:r>
            <a:r>
              <a:rPr sz="700" i="1" spc="5" dirty="0">
                <a:latin typeface="Bookman Uralic"/>
                <a:cs typeface="Bookman Uralic"/>
              </a:rPr>
              <a:t>from one </a:t>
            </a:r>
            <a:r>
              <a:rPr sz="700" i="1" spc="10" dirty="0">
                <a:latin typeface="Bookman Uralic"/>
                <a:cs typeface="Bookman Uralic"/>
              </a:rPr>
              <a:t>form </a:t>
            </a:r>
            <a:r>
              <a:rPr sz="700" i="1" spc="-5" dirty="0">
                <a:latin typeface="Bookman Uralic"/>
                <a:cs typeface="Bookman Uralic"/>
              </a:rPr>
              <a:t>to</a:t>
            </a:r>
            <a:r>
              <a:rPr sz="700" i="1" spc="-145" dirty="0">
                <a:latin typeface="Bookman Uralic"/>
                <a:cs typeface="Bookman Uralic"/>
              </a:rPr>
              <a:t> </a:t>
            </a:r>
            <a:r>
              <a:rPr sz="700" i="1" dirty="0">
                <a:latin typeface="Bookman Uralic"/>
                <a:cs typeface="Bookman Uralic"/>
              </a:rPr>
              <a:t>another.</a:t>
            </a:r>
            <a:endParaRPr sz="700">
              <a:latin typeface="Bookman Uralic"/>
              <a:cs typeface="Bookman Uralic"/>
            </a:endParaRPr>
          </a:p>
          <a:p>
            <a:pPr marL="84455" indent="-72390">
              <a:lnSpc>
                <a:spcPts val="760"/>
              </a:lnSpc>
              <a:spcBef>
                <a:spcPts val="530"/>
              </a:spcBef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i="1" spc="-5" dirty="0">
                <a:latin typeface="Bookman Uralic"/>
                <a:cs typeface="Bookman Uralic"/>
              </a:rPr>
              <a:t>Plants capture </a:t>
            </a:r>
            <a:r>
              <a:rPr sz="700" i="1" dirty="0">
                <a:latin typeface="Bookman Uralic"/>
                <a:cs typeface="Bookman Uralic"/>
              </a:rPr>
              <a:t>solar energy </a:t>
            </a:r>
            <a:r>
              <a:rPr sz="700" i="1" spc="-5" dirty="0">
                <a:latin typeface="Bookman Uralic"/>
                <a:cs typeface="Bookman Uralic"/>
              </a:rPr>
              <a:t>through</a:t>
            </a:r>
            <a:r>
              <a:rPr sz="700" i="1" spc="65" dirty="0">
                <a:latin typeface="Bookman Uralic"/>
                <a:cs typeface="Bookman Uralic"/>
              </a:rPr>
              <a:t> </a:t>
            </a:r>
            <a:r>
              <a:rPr sz="700" b="1" i="1" dirty="0">
                <a:latin typeface="TeX Gyre Bonum"/>
                <a:cs typeface="TeX Gyre Bonum"/>
              </a:rPr>
              <a:t>photosynthesis</a:t>
            </a:r>
            <a:endParaRPr sz="700">
              <a:latin typeface="TeX Gyre Bonum"/>
              <a:cs typeface="TeX Gyre Bonum"/>
            </a:endParaRPr>
          </a:p>
          <a:p>
            <a:pPr marL="12700">
              <a:lnSpc>
                <a:spcPts val="760"/>
              </a:lnSpc>
            </a:pPr>
            <a:r>
              <a:rPr sz="700" i="1" spc="-5" dirty="0">
                <a:latin typeface="Bookman Uralic"/>
                <a:cs typeface="Bookman Uralic"/>
              </a:rPr>
              <a:t>to make </a:t>
            </a:r>
            <a:r>
              <a:rPr sz="700" i="1" spc="5" dirty="0">
                <a:latin typeface="Bookman Uralic"/>
                <a:cs typeface="Bookman Uralic"/>
              </a:rPr>
              <a:t>food, a </a:t>
            </a:r>
            <a:r>
              <a:rPr sz="700" i="1" spc="-5" dirty="0">
                <a:latin typeface="Bookman Uralic"/>
                <a:cs typeface="Bookman Uralic"/>
              </a:rPr>
              <a:t>type </a:t>
            </a:r>
            <a:r>
              <a:rPr sz="700" i="1" dirty="0">
                <a:latin typeface="Bookman Uralic"/>
                <a:cs typeface="Bookman Uralic"/>
              </a:rPr>
              <a:t>of </a:t>
            </a:r>
            <a:r>
              <a:rPr sz="700" i="1" spc="-5" dirty="0">
                <a:latin typeface="Bookman Uralic"/>
                <a:cs typeface="Bookman Uralic"/>
              </a:rPr>
              <a:t>chemical</a:t>
            </a:r>
            <a:r>
              <a:rPr sz="700" i="1" spc="25" dirty="0">
                <a:latin typeface="Bookman Uralic"/>
                <a:cs typeface="Bookman Uralic"/>
              </a:rPr>
              <a:t> </a:t>
            </a:r>
            <a:r>
              <a:rPr sz="700" i="1" dirty="0">
                <a:latin typeface="Bookman Uralic"/>
                <a:cs typeface="Bookman Uralic"/>
              </a:rPr>
              <a:t>energy.</a:t>
            </a:r>
            <a:endParaRPr sz="700">
              <a:latin typeface="Bookman Uralic"/>
              <a:cs typeface="Bookman Ural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Bookman Uralic"/>
              <a:cs typeface="Bookman Uralic"/>
            </a:endParaRPr>
          </a:p>
          <a:p>
            <a:pPr marL="12700" marR="5080">
              <a:lnSpc>
                <a:spcPts val="680"/>
              </a:lnSpc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b="1" i="1" dirty="0">
                <a:latin typeface="TeX Gyre Bonum"/>
                <a:cs typeface="TeX Gyre Bonum"/>
              </a:rPr>
              <a:t>Biomass </a:t>
            </a:r>
            <a:r>
              <a:rPr sz="700" i="1" spc="-10" dirty="0">
                <a:latin typeface="Bookman Uralic"/>
                <a:cs typeface="Bookman Uralic"/>
              </a:rPr>
              <a:t>is </a:t>
            </a:r>
            <a:r>
              <a:rPr sz="700" i="1" spc="5" dirty="0">
                <a:latin typeface="Bookman Uralic"/>
                <a:cs typeface="Bookman Uralic"/>
              </a:rPr>
              <a:t>a </a:t>
            </a:r>
            <a:r>
              <a:rPr sz="700" i="1" spc="-5" dirty="0">
                <a:latin typeface="Bookman Uralic"/>
                <a:cs typeface="Bookman Uralic"/>
              </a:rPr>
              <a:t>name </a:t>
            </a:r>
            <a:r>
              <a:rPr sz="700" i="1" dirty="0">
                <a:latin typeface="Bookman Uralic"/>
                <a:cs typeface="Bookman Uralic"/>
              </a:rPr>
              <a:t>for </a:t>
            </a:r>
            <a:r>
              <a:rPr sz="700" i="1" spc="-5" dirty="0">
                <a:latin typeface="Bookman Uralic"/>
                <a:cs typeface="Bookman Uralic"/>
              </a:rPr>
              <a:t>plant </a:t>
            </a:r>
            <a:r>
              <a:rPr sz="700" i="1" dirty="0">
                <a:latin typeface="Bookman Uralic"/>
                <a:cs typeface="Bookman Uralic"/>
              </a:rPr>
              <a:t>and </a:t>
            </a:r>
            <a:r>
              <a:rPr sz="700" i="1" spc="-5" dirty="0">
                <a:latin typeface="Bookman Uralic"/>
                <a:cs typeface="Bookman Uralic"/>
              </a:rPr>
              <a:t>animal waste </a:t>
            </a:r>
            <a:r>
              <a:rPr sz="700" i="1" dirty="0">
                <a:latin typeface="Bookman Uralic"/>
                <a:cs typeface="Bookman Uralic"/>
              </a:rPr>
              <a:t>used  </a:t>
            </a:r>
            <a:r>
              <a:rPr sz="700" i="1" spc="-5" dirty="0">
                <a:latin typeface="Bookman Uralic"/>
                <a:cs typeface="Bookman Uralic"/>
              </a:rPr>
              <a:t>as </a:t>
            </a:r>
            <a:r>
              <a:rPr sz="700" i="1" dirty="0">
                <a:latin typeface="Bookman Uralic"/>
                <a:cs typeface="Bookman Uralic"/>
              </a:rPr>
              <a:t>an </a:t>
            </a:r>
            <a:r>
              <a:rPr sz="700" i="1" spc="5" dirty="0">
                <a:latin typeface="Bookman Uralic"/>
                <a:cs typeface="Bookman Uralic"/>
              </a:rPr>
              <a:t>energy source </a:t>
            </a:r>
            <a:r>
              <a:rPr sz="700" i="1" dirty="0">
                <a:latin typeface="Bookman Uralic"/>
                <a:cs typeface="Bookman Uralic"/>
              </a:rPr>
              <a:t>or</a:t>
            </a:r>
            <a:r>
              <a:rPr sz="700" i="1" spc="-55" dirty="0">
                <a:latin typeface="Bookman Uralic"/>
                <a:cs typeface="Bookman Uralic"/>
              </a:rPr>
              <a:t> </a:t>
            </a:r>
            <a:r>
              <a:rPr sz="700" i="1" spc="5" dirty="0">
                <a:latin typeface="Bookman Uralic"/>
                <a:cs typeface="Bookman Uralic"/>
              </a:rPr>
              <a:t>fuel.</a:t>
            </a:r>
            <a:endParaRPr sz="700">
              <a:latin typeface="Bookman Uralic"/>
              <a:cs typeface="Bookman Uralic"/>
            </a:endParaRPr>
          </a:p>
          <a:p>
            <a:pPr marL="12700" marR="5080">
              <a:lnSpc>
                <a:spcPts val="670"/>
              </a:lnSpc>
              <a:spcBef>
                <a:spcPts val="715"/>
              </a:spcBef>
              <a:buSzPct val="86000"/>
              <a:buFont typeface="Wingdings" panose="05000000000000000000"/>
              <a:buChar char=""/>
              <a:tabLst>
                <a:tab pos="85090" algn="l"/>
              </a:tabLst>
            </a:pPr>
            <a:r>
              <a:rPr sz="700" b="1" i="1" spc="-5" dirty="0">
                <a:latin typeface="TeX Gyre Bonum"/>
                <a:cs typeface="TeX Gyre Bonum"/>
              </a:rPr>
              <a:t>Biofuels </a:t>
            </a:r>
            <a:r>
              <a:rPr sz="700" i="1" dirty="0">
                <a:latin typeface="Bookman Uralic"/>
                <a:cs typeface="Bookman Uralic"/>
              </a:rPr>
              <a:t>are liquid </a:t>
            </a:r>
            <a:r>
              <a:rPr sz="700" i="1" spc="-5" dirty="0">
                <a:latin typeface="Bookman Uralic"/>
                <a:cs typeface="Bookman Uralic"/>
              </a:rPr>
              <a:t>and gas </a:t>
            </a:r>
            <a:r>
              <a:rPr sz="700" i="1" dirty="0">
                <a:latin typeface="Bookman Uralic"/>
                <a:cs typeface="Bookman Uralic"/>
              </a:rPr>
              <a:t>fuels used for  </a:t>
            </a:r>
            <a:r>
              <a:rPr sz="700" i="1" spc="-5" dirty="0">
                <a:latin typeface="Bookman Uralic"/>
                <a:cs typeface="Bookman Uralic"/>
              </a:rPr>
              <a:t>transportation, </a:t>
            </a:r>
            <a:r>
              <a:rPr sz="700" i="1" dirty="0">
                <a:latin typeface="Bookman Uralic"/>
                <a:cs typeface="Bookman Uralic"/>
              </a:rPr>
              <a:t>heat and</a:t>
            </a:r>
            <a:r>
              <a:rPr sz="700" i="1" spc="5" dirty="0">
                <a:latin typeface="Bookman Uralic"/>
                <a:cs typeface="Bookman Uralic"/>
              </a:rPr>
              <a:t> </a:t>
            </a:r>
            <a:r>
              <a:rPr sz="700" i="1" spc="-5" dirty="0">
                <a:latin typeface="Bookman Uralic"/>
                <a:cs typeface="Bookman Uralic"/>
              </a:rPr>
              <a:t>electricity.</a:t>
            </a:r>
            <a:endParaRPr sz="700">
              <a:latin typeface="Bookman Uralic"/>
              <a:cs typeface="Bookman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219" y="130885"/>
            <a:ext cx="14109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eX Gyre Bonum"/>
                <a:cs typeface="TeX Gyre Bonum"/>
              </a:rPr>
              <a:t>Biomass</a:t>
            </a:r>
            <a:r>
              <a:rPr sz="1300" i="1" spc="-90" dirty="0">
                <a:latin typeface="TeX Gyre Bonum"/>
                <a:cs typeface="TeX Gyre Bonum"/>
              </a:rPr>
              <a:t> </a:t>
            </a:r>
            <a:r>
              <a:rPr sz="1300" i="1" spc="-5" dirty="0">
                <a:latin typeface="TeX Gyre Bonum"/>
                <a:cs typeface="TeX Gyre Bonum"/>
              </a:rPr>
              <a:t>Energy</a:t>
            </a:r>
            <a:endParaRPr sz="1300">
              <a:latin typeface="TeX Gyre Bonum"/>
              <a:cs typeface="TeX Gyre Bon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234" y="398779"/>
            <a:ext cx="2432050" cy="1196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 marR="5080" indent="-100965" algn="just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700" i="1" dirty="0">
                <a:latin typeface="Bookman Uralic"/>
                <a:cs typeface="Bookman Uralic"/>
              </a:rPr>
              <a:t>Energy </a:t>
            </a:r>
            <a:r>
              <a:rPr sz="700" i="1" spc="-5" dirty="0">
                <a:latin typeface="Bookman Uralic"/>
                <a:cs typeface="Bookman Uralic"/>
              </a:rPr>
              <a:t>obtained </a:t>
            </a:r>
            <a:r>
              <a:rPr sz="700" i="1" spc="5" dirty="0">
                <a:latin typeface="Bookman Uralic"/>
                <a:cs typeface="Bookman Uralic"/>
              </a:rPr>
              <a:t>from </a:t>
            </a:r>
            <a:r>
              <a:rPr sz="700" i="1" spc="-5" dirty="0">
                <a:latin typeface="Bookman Uralic"/>
                <a:cs typeface="Bookman Uralic"/>
              </a:rPr>
              <a:t>organic matter </a:t>
            </a:r>
            <a:r>
              <a:rPr sz="700" i="1" dirty="0">
                <a:latin typeface="Bookman Uralic"/>
                <a:cs typeface="Bookman Uralic"/>
              </a:rPr>
              <a:t>derived from  biological organisms (plants and</a:t>
            </a:r>
            <a:r>
              <a:rPr sz="700" i="1" spc="-5" dirty="0">
                <a:latin typeface="Bookman Uralic"/>
                <a:cs typeface="Bookman Uralic"/>
              </a:rPr>
              <a:t> </a:t>
            </a:r>
            <a:r>
              <a:rPr sz="700" i="1" dirty="0">
                <a:latin typeface="Bookman Uralic"/>
                <a:cs typeface="Bookman Uralic"/>
              </a:rPr>
              <a:t>animals).</a:t>
            </a:r>
            <a:endParaRPr sz="700">
              <a:latin typeface="Bookman Uralic"/>
              <a:cs typeface="Bookman Uralic"/>
            </a:endParaRPr>
          </a:p>
          <a:p>
            <a:pPr marL="113030" indent="-100965">
              <a:lnSpc>
                <a:spcPct val="10000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700" i="1" dirty="0">
                <a:latin typeface="Bookman Uralic"/>
                <a:cs typeface="Bookman Uralic"/>
              </a:rPr>
              <a:t>Classified </a:t>
            </a:r>
            <a:r>
              <a:rPr sz="700" i="1" spc="-5" dirty="0">
                <a:latin typeface="Bookman Uralic"/>
                <a:cs typeface="Bookman Uralic"/>
              </a:rPr>
              <a:t>in to </a:t>
            </a:r>
            <a:r>
              <a:rPr sz="700" i="1" spc="5" dirty="0">
                <a:latin typeface="Bookman Uralic"/>
                <a:cs typeface="Bookman Uralic"/>
              </a:rPr>
              <a:t>2</a:t>
            </a:r>
            <a:r>
              <a:rPr sz="700" i="1" spc="-5" dirty="0">
                <a:latin typeface="Bookman Uralic"/>
                <a:cs typeface="Bookman Uralic"/>
              </a:rPr>
              <a:t> categories</a:t>
            </a:r>
            <a:endParaRPr sz="700">
              <a:latin typeface="Bookman Uralic"/>
              <a:cs typeface="Bookman Uralic"/>
            </a:endParaRPr>
          </a:p>
          <a:p>
            <a:pPr marL="276225" lvl="1" indent="-104775">
              <a:lnSpc>
                <a:spcPct val="100000"/>
              </a:lnSpc>
              <a:spcBef>
                <a:spcPts val="535"/>
              </a:spcBef>
              <a:buFont typeface="Wingdings" panose="05000000000000000000"/>
              <a:buChar char=""/>
              <a:tabLst>
                <a:tab pos="276860" algn="l"/>
              </a:tabLst>
            </a:pPr>
            <a:r>
              <a:rPr sz="550" i="1" spc="10" dirty="0">
                <a:latin typeface="Bookman Uralic"/>
                <a:cs typeface="Bookman Uralic"/>
              </a:rPr>
              <a:t>Biomass </a:t>
            </a:r>
            <a:r>
              <a:rPr sz="550" i="1" spc="20" dirty="0">
                <a:latin typeface="Bookman Uralic"/>
                <a:cs typeface="Bookman Uralic"/>
              </a:rPr>
              <a:t>from </a:t>
            </a:r>
            <a:r>
              <a:rPr sz="550" i="1" spc="5" dirty="0">
                <a:latin typeface="Bookman Uralic"/>
                <a:cs typeface="Bookman Uralic"/>
              </a:rPr>
              <a:t>cultivated </a:t>
            </a:r>
            <a:r>
              <a:rPr sz="550" i="1" spc="15" dirty="0">
                <a:latin typeface="Bookman Uralic"/>
                <a:cs typeface="Bookman Uralic"/>
              </a:rPr>
              <a:t>fields, crops and</a:t>
            </a:r>
            <a:r>
              <a:rPr sz="550" i="1" spc="35" dirty="0">
                <a:latin typeface="Bookman Uralic"/>
                <a:cs typeface="Bookman Uralic"/>
              </a:rPr>
              <a:t> </a:t>
            </a:r>
            <a:r>
              <a:rPr sz="550" i="1" spc="15" dirty="0">
                <a:latin typeface="Bookman Uralic"/>
                <a:cs typeface="Bookman Uralic"/>
              </a:rPr>
              <a:t>forests.</a:t>
            </a:r>
            <a:endParaRPr sz="550">
              <a:latin typeface="Bookman Uralic"/>
              <a:cs typeface="Bookman Uralic"/>
            </a:endParaRPr>
          </a:p>
          <a:p>
            <a:pPr marL="276225" marR="8255" lvl="1" indent="-104140">
              <a:lnSpc>
                <a:spcPct val="106000"/>
              </a:lnSpc>
              <a:spcBef>
                <a:spcPts val="505"/>
              </a:spcBef>
              <a:buFont typeface="Wingdings" panose="05000000000000000000"/>
              <a:buChar char=""/>
              <a:tabLst>
                <a:tab pos="276860" algn="l"/>
              </a:tabLst>
            </a:pPr>
            <a:r>
              <a:rPr sz="550" i="1" spc="15" dirty="0">
                <a:latin typeface="Bookman Uralic"/>
                <a:cs typeface="Bookman Uralic"/>
              </a:rPr>
              <a:t>Biomass </a:t>
            </a:r>
            <a:r>
              <a:rPr sz="550" i="1" spc="20" dirty="0">
                <a:latin typeface="Bookman Uralic"/>
                <a:cs typeface="Bookman Uralic"/>
              </a:rPr>
              <a:t>from </a:t>
            </a:r>
            <a:r>
              <a:rPr sz="550" i="1" spc="15" dirty="0">
                <a:latin typeface="Bookman Uralic"/>
                <a:cs typeface="Bookman Uralic"/>
              </a:rPr>
              <a:t>municipal waste, animal dung, </a:t>
            </a:r>
            <a:r>
              <a:rPr sz="550" i="1" spc="10" dirty="0">
                <a:latin typeface="Bookman Uralic"/>
                <a:cs typeface="Bookman Uralic"/>
              </a:rPr>
              <a:t>agricultural  </a:t>
            </a:r>
            <a:r>
              <a:rPr sz="550" i="1" spc="5" dirty="0">
                <a:latin typeface="Bookman Uralic"/>
                <a:cs typeface="Bookman Uralic"/>
              </a:rPr>
              <a:t>waste </a:t>
            </a:r>
            <a:r>
              <a:rPr sz="550" i="1" spc="15" dirty="0">
                <a:latin typeface="Bookman Uralic"/>
                <a:cs typeface="Bookman Uralic"/>
              </a:rPr>
              <a:t>and fisheries</a:t>
            </a:r>
            <a:r>
              <a:rPr sz="550" i="1" spc="50" dirty="0">
                <a:latin typeface="Bookman Uralic"/>
                <a:cs typeface="Bookman Uralic"/>
              </a:rPr>
              <a:t> </a:t>
            </a:r>
            <a:r>
              <a:rPr sz="550" i="1" spc="5" dirty="0">
                <a:latin typeface="Bookman Uralic"/>
                <a:cs typeface="Bookman Uralic"/>
              </a:rPr>
              <a:t>waste.</a:t>
            </a:r>
            <a:endParaRPr sz="550">
              <a:latin typeface="Bookman Uralic"/>
              <a:cs typeface="Bookman Uralic"/>
            </a:endParaRPr>
          </a:p>
          <a:p>
            <a:pPr marL="113030" marR="6350" indent="-100965" algn="just">
              <a:lnSpc>
                <a:spcPct val="101000"/>
              </a:lnSpc>
              <a:spcBef>
                <a:spcPts val="525"/>
              </a:spcBef>
              <a:buFont typeface="Arial" panose="020B0604020202020204"/>
              <a:buChar char="•"/>
              <a:tabLst>
                <a:tab pos="113030" algn="l"/>
              </a:tabLst>
            </a:pPr>
            <a:r>
              <a:rPr sz="700" i="1" dirty="0">
                <a:latin typeface="Bookman Uralic"/>
                <a:cs typeface="Bookman Uralic"/>
              </a:rPr>
              <a:t>Biomass </a:t>
            </a:r>
            <a:r>
              <a:rPr sz="700" i="1" spc="-5" dirty="0">
                <a:latin typeface="Bookman Uralic"/>
                <a:cs typeface="Bookman Uralic"/>
              </a:rPr>
              <a:t>energy may </a:t>
            </a:r>
            <a:r>
              <a:rPr sz="700" i="1" dirty="0">
                <a:latin typeface="Bookman Uralic"/>
                <a:cs typeface="Bookman Uralic"/>
              </a:rPr>
              <a:t>be </a:t>
            </a:r>
            <a:r>
              <a:rPr sz="700" i="1" spc="-5" dirty="0">
                <a:latin typeface="Bookman Uralic"/>
                <a:cs typeface="Bookman Uralic"/>
              </a:rPr>
              <a:t>transformed </a:t>
            </a:r>
            <a:r>
              <a:rPr sz="700" i="1" dirty="0">
                <a:latin typeface="Bookman Uralic"/>
                <a:cs typeface="Bookman Uralic"/>
              </a:rPr>
              <a:t>by </a:t>
            </a:r>
            <a:r>
              <a:rPr sz="700" i="1" spc="-5" dirty="0">
                <a:latin typeface="Bookman Uralic"/>
                <a:cs typeface="Bookman Uralic"/>
              </a:rPr>
              <a:t>chemical </a:t>
            </a:r>
            <a:r>
              <a:rPr sz="700" i="1" dirty="0">
                <a:latin typeface="Bookman Uralic"/>
                <a:cs typeface="Bookman Uralic"/>
              </a:rPr>
              <a:t>or  biological processes </a:t>
            </a:r>
            <a:r>
              <a:rPr sz="700" i="1" spc="-5" dirty="0">
                <a:latin typeface="Bookman Uralic"/>
                <a:cs typeface="Bookman Uralic"/>
              </a:rPr>
              <a:t>to </a:t>
            </a:r>
            <a:r>
              <a:rPr sz="700" i="1" dirty="0">
                <a:latin typeface="Bookman Uralic"/>
                <a:cs typeface="Bookman Uralic"/>
              </a:rPr>
              <a:t>produce </a:t>
            </a:r>
            <a:r>
              <a:rPr sz="700" i="1" spc="-5" dirty="0">
                <a:latin typeface="Bookman Uralic"/>
                <a:cs typeface="Bookman Uralic"/>
              </a:rPr>
              <a:t>biofuels </a:t>
            </a:r>
            <a:r>
              <a:rPr sz="700" i="1" dirty="0">
                <a:latin typeface="Bookman Uralic"/>
                <a:cs typeface="Bookman Uralic"/>
              </a:rPr>
              <a:t>like </a:t>
            </a:r>
            <a:r>
              <a:rPr sz="700" i="1" spc="-5" dirty="0">
                <a:latin typeface="Bookman Uralic"/>
                <a:cs typeface="Bookman Uralic"/>
              </a:rPr>
              <a:t>methane,  </a:t>
            </a:r>
            <a:r>
              <a:rPr sz="700" i="1" dirty="0">
                <a:latin typeface="Bookman Uralic"/>
                <a:cs typeface="Bookman Uralic"/>
              </a:rPr>
              <a:t>producer gas, ethanol and charcoal</a:t>
            </a:r>
            <a:r>
              <a:rPr sz="700" i="1" spc="-40" dirty="0">
                <a:latin typeface="Bookman Uralic"/>
                <a:cs typeface="Bookman Uralic"/>
              </a:rPr>
              <a:t> </a:t>
            </a:r>
            <a:r>
              <a:rPr sz="700" i="1" spc="-5" dirty="0">
                <a:latin typeface="Bookman Uralic"/>
                <a:cs typeface="Bookman Uralic"/>
              </a:rPr>
              <a:t>etc.</a:t>
            </a:r>
            <a:endParaRPr sz="70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4882" y="1876170"/>
            <a:ext cx="4826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7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046" y="89407"/>
            <a:ext cx="169163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Useful forms of</a:t>
            </a:r>
            <a:r>
              <a:rPr sz="1050" spc="-55" dirty="0"/>
              <a:t> </a:t>
            </a:r>
            <a:r>
              <a:rPr sz="1050" dirty="0"/>
              <a:t>biomass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10490" y="333375"/>
            <a:ext cx="2426970" cy="9880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780" marR="5080" indent="-132715" algn="just">
              <a:lnSpc>
                <a:spcPct val="106000"/>
              </a:lnSpc>
              <a:spcBef>
                <a:spcPts val="90"/>
              </a:spcBef>
            </a:pPr>
            <a:r>
              <a:rPr sz="500" b="1" i="1" spc="10" dirty="0">
                <a:latin typeface="TeX Gyre Bonum"/>
                <a:cs typeface="TeX Gyre Bonum"/>
              </a:rPr>
              <a:t>b.</a:t>
            </a:r>
            <a:r>
              <a:rPr sz="500" b="1" i="1" spc="190" dirty="0">
                <a:latin typeface="TeX Gyre Bonum"/>
                <a:cs typeface="TeX Gyre Bonum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Biodiesel </a:t>
            </a:r>
            <a:r>
              <a:rPr sz="500" dirty="0">
                <a:latin typeface="Georgia" panose="02040502050405020303"/>
                <a:cs typeface="Georgia" panose="02040502050405020303"/>
              </a:rPr>
              <a:t>–</a:t>
            </a:r>
            <a:r>
              <a:rPr sz="500" dirty="0">
                <a:latin typeface="Bookman Uralic"/>
                <a:cs typeface="Bookman Uralic"/>
              </a:rPr>
              <a:t>Biodiesel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10" dirty="0">
                <a:latin typeface="Bookman Uralic"/>
                <a:cs typeface="Bookman Uralic"/>
              </a:rPr>
              <a:t>be produced from different </a:t>
            </a:r>
            <a:r>
              <a:rPr sz="500" i="1" spc="10" dirty="0">
                <a:latin typeface="Bookman Uralic"/>
                <a:cs typeface="Bookman Uralic"/>
              </a:rPr>
              <a:t>feedstocks</a:t>
            </a:r>
            <a:r>
              <a:rPr sz="500" spc="10" dirty="0">
                <a:latin typeface="Bookman Uralic"/>
                <a:cs typeface="Bookman Uralic"/>
              </a:rPr>
              <a:t>,  </a:t>
            </a:r>
            <a:r>
              <a:rPr sz="500" spc="15" dirty="0">
                <a:latin typeface="Bookman Uralic"/>
                <a:cs typeface="Bookman Uralic"/>
              </a:rPr>
              <a:t>such as </a:t>
            </a:r>
            <a:r>
              <a:rPr sz="500" spc="5" dirty="0">
                <a:latin typeface="Bookman Uralic"/>
                <a:cs typeface="Bookman Uralic"/>
              </a:rPr>
              <a:t>oil </a:t>
            </a:r>
            <a:r>
              <a:rPr sz="500" spc="10" dirty="0">
                <a:latin typeface="Bookman Uralic"/>
                <a:cs typeface="Bookman Uralic"/>
              </a:rPr>
              <a:t>feedstock (eg. </a:t>
            </a:r>
            <a:r>
              <a:rPr sz="500" b="1" i="1" spc="10" dirty="0">
                <a:latin typeface="TeX Gyre Bonum"/>
                <a:cs typeface="TeX Gyre Bonum"/>
              </a:rPr>
              <a:t>rapeseed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soybean oils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jatropha</a:t>
            </a:r>
            <a:r>
              <a:rPr sz="500" spc="10" dirty="0">
                <a:latin typeface="Bookman Uralic"/>
                <a:cs typeface="Bookman Uralic"/>
              </a:rPr>
              <a:t>,  </a:t>
            </a:r>
            <a:r>
              <a:rPr sz="500" b="1" i="1" spc="15" dirty="0">
                <a:latin typeface="TeX Gyre Bonum"/>
                <a:cs typeface="TeX Gyre Bonum"/>
              </a:rPr>
              <a:t>palm </a:t>
            </a:r>
            <a:r>
              <a:rPr sz="500" b="1" i="1" spc="10" dirty="0">
                <a:latin typeface="TeX Gyre Bonum"/>
                <a:cs typeface="TeX Gyre Bonum"/>
              </a:rPr>
              <a:t>oil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5" dirty="0">
                <a:latin typeface="TeX Gyre Bonum"/>
                <a:cs typeface="TeX Gyre Bonum"/>
              </a:rPr>
              <a:t>hemp</a:t>
            </a:r>
            <a:r>
              <a:rPr sz="500" spc="15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algae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canola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5" dirty="0">
                <a:latin typeface="TeX Gyre Bonum"/>
                <a:cs typeface="TeX Gyre Bonum"/>
              </a:rPr>
              <a:t>flax</a:t>
            </a:r>
            <a:r>
              <a:rPr sz="500" spc="5" dirty="0">
                <a:latin typeface="Bookman Uralic"/>
                <a:cs typeface="Bookman Uralic"/>
              </a:rPr>
              <a:t>,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b="1" i="1" spc="10" dirty="0">
                <a:latin typeface="TeX Gyre Bonum"/>
                <a:cs typeface="TeX Gyre Bonum"/>
              </a:rPr>
              <a:t>mustard</a:t>
            </a:r>
            <a:r>
              <a:rPr sz="500" spc="10" dirty="0">
                <a:latin typeface="Bookman Uralic"/>
                <a:cs typeface="Bookman Uralic"/>
              </a:rPr>
              <a:t>), </a:t>
            </a:r>
            <a:r>
              <a:rPr sz="500" b="1" i="1" spc="10" dirty="0">
                <a:latin typeface="TeX Gyre Bonum"/>
                <a:cs typeface="TeX Gyre Bonum"/>
              </a:rPr>
              <a:t>animal </a:t>
            </a:r>
            <a:r>
              <a:rPr sz="500" b="1" i="1" spc="190" dirty="0">
                <a:latin typeface="TeX Gyre Bonum"/>
                <a:cs typeface="TeX Gyre Bonum"/>
              </a:rPr>
              <a:t> </a:t>
            </a:r>
            <a:r>
              <a:rPr sz="500" b="1" i="1" spc="5" dirty="0">
                <a:latin typeface="TeX Gyre Bonum"/>
                <a:cs typeface="TeX Gyre Bonum"/>
              </a:rPr>
              <a:t>fats</a:t>
            </a:r>
            <a:r>
              <a:rPr sz="500" spc="5" dirty="0">
                <a:latin typeface="Bookman Uralic"/>
                <a:cs typeface="Bookman Uralic"/>
              </a:rPr>
              <a:t>, </a:t>
            </a:r>
            <a:r>
              <a:rPr sz="500" spc="10" dirty="0">
                <a:latin typeface="Bookman Uralic"/>
                <a:cs typeface="Bookman Uralic"/>
              </a:rPr>
              <a:t>and/or </a:t>
            </a:r>
            <a:r>
              <a:rPr sz="500" b="1" i="1" spc="15" dirty="0">
                <a:latin typeface="TeX Gyre Bonum"/>
                <a:cs typeface="TeX Gyre Bonum"/>
              </a:rPr>
              <a:t>waste </a:t>
            </a:r>
            <a:r>
              <a:rPr sz="500" b="1" i="1" spc="10" dirty="0">
                <a:latin typeface="TeX Gyre Bonum"/>
                <a:cs typeface="TeX Gyre Bonum"/>
              </a:rPr>
              <a:t>vegetable oil</a:t>
            </a:r>
            <a:r>
              <a:rPr sz="500" spc="10" dirty="0">
                <a:latin typeface="Bookman Uralic"/>
                <a:cs typeface="Bookman Uralic"/>
              </a:rPr>
              <a:t>. </a:t>
            </a:r>
            <a:r>
              <a:rPr sz="500" spc="15" dirty="0">
                <a:latin typeface="Bookman Uralic"/>
                <a:cs typeface="Bookman Uralic"/>
              </a:rPr>
              <a:t>Recycled </a:t>
            </a:r>
            <a:r>
              <a:rPr sz="500" b="1" i="1" spc="15" dirty="0">
                <a:latin typeface="TeX Gyre Bonum"/>
                <a:cs typeface="TeX Gyre Bonum"/>
              </a:rPr>
              <a:t>restaurant </a:t>
            </a:r>
            <a:r>
              <a:rPr sz="500" b="1" i="1" spc="10" dirty="0">
                <a:latin typeface="TeX Gyre Bonum"/>
                <a:cs typeface="TeX Gyre Bonum"/>
              </a:rPr>
              <a:t>oil </a:t>
            </a:r>
            <a:r>
              <a:rPr sz="500" spc="5" dirty="0">
                <a:latin typeface="Bookman Uralic"/>
                <a:cs typeface="Bookman Uralic"/>
              </a:rPr>
              <a:t>is  </a:t>
            </a:r>
            <a:r>
              <a:rPr sz="500" spc="10" dirty="0">
                <a:latin typeface="Bookman Uralic"/>
                <a:cs typeface="Bookman Uralic"/>
              </a:rPr>
              <a:t>also one of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5" dirty="0">
                <a:latin typeface="Bookman Uralic"/>
                <a:cs typeface="Bookman Uralic"/>
              </a:rPr>
              <a:t>most </a:t>
            </a:r>
            <a:r>
              <a:rPr sz="500" spc="10" dirty="0">
                <a:latin typeface="Bookman Uralic"/>
                <a:cs typeface="Bookman Uralic"/>
              </a:rPr>
              <a:t>important </a:t>
            </a:r>
            <a:r>
              <a:rPr sz="500" spc="15" dirty="0">
                <a:latin typeface="Bookman Uralic"/>
                <a:cs typeface="Bookman Uralic"/>
              </a:rPr>
              <a:t>sources </a:t>
            </a:r>
            <a:r>
              <a:rPr sz="500" spc="10" dirty="0">
                <a:latin typeface="Bookman Uralic"/>
                <a:cs typeface="Bookman Uralic"/>
              </a:rPr>
              <a:t>of biodiesel. The </a:t>
            </a:r>
            <a:r>
              <a:rPr sz="500" spc="15" dirty="0">
                <a:latin typeface="Bookman Uralic"/>
                <a:cs typeface="Bookman Uralic"/>
              </a:rPr>
              <a:t>most  common </a:t>
            </a:r>
            <a:r>
              <a:rPr sz="500" spc="10" dirty="0">
                <a:latin typeface="Bookman Uralic"/>
                <a:cs typeface="Bookman Uralic"/>
              </a:rPr>
              <a:t>production </a:t>
            </a:r>
            <a:r>
              <a:rPr sz="500" spc="15" dirty="0">
                <a:latin typeface="Bookman Uralic"/>
                <a:cs typeface="Bookman Uralic"/>
              </a:rPr>
              <a:t>method </a:t>
            </a:r>
            <a:r>
              <a:rPr sz="500" spc="10" dirty="0">
                <a:latin typeface="Bookman Uralic"/>
                <a:cs typeface="Bookman Uralic"/>
              </a:rPr>
              <a:t>for converting vegetable </a:t>
            </a:r>
            <a:r>
              <a:rPr sz="500" spc="5" dirty="0">
                <a:latin typeface="Bookman Uralic"/>
                <a:cs typeface="Bookman Uralic"/>
              </a:rPr>
              <a:t>oil </a:t>
            </a:r>
            <a:r>
              <a:rPr sz="500" spc="15" dirty="0">
                <a:latin typeface="Bookman Uralic"/>
                <a:cs typeface="Bookman Uralic"/>
              </a:rPr>
              <a:t>and  </a:t>
            </a:r>
            <a:r>
              <a:rPr sz="500" spc="10" dirty="0">
                <a:latin typeface="Bookman Uralic"/>
                <a:cs typeface="Bookman Uralic"/>
              </a:rPr>
              <a:t>animal fats </a:t>
            </a:r>
            <a:r>
              <a:rPr sz="500" spc="5" dirty="0">
                <a:latin typeface="Bookman Uralic"/>
                <a:cs typeface="Bookman Uralic"/>
              </a:rPr>
              <a:t>into </a:t>
            </a:r>
            <a:r>
              <a:rPr sz="500" spc="10" dirty="0">
                <a:latin typeface="Bookman Uralic"/>
                <a:cs typeface="Bookman Uralic"/>
              </a:rPr>
              <a:t>bio-diesel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b="1" i="1" spc="10" dirty="0">
                <a:latin typeface="TeX Gyre Bonum"/>
                <a:cs typeface="TeX Gyre Bonum"/>
              </a:rPr>
              <a:t>transesterification</a:t>
            </a:r>
            <a:r>
              <a:rPr sz="500" spc="10" dirty="0">
                <a:latin typeface="Bookman Uralic"/>
                <a:cs typeface="Bookman Uralic"/>
              </a:rPr>
              <a:t>. The purpose  of the </a:t>
            </a:r>
            <a:r>
              <a:rPr sz="500" i="1" spc="5" dirty="0">
                <a:latin typeface="Bookman Uralic"/>
                <a:cs typeface="Bookman Uralic"/>
              </a:rPr>
              <a:t>transesterification </a:t>
            </a:r>
            <a:r>
              <a:rPr sz="500" spc="10" dirty="0">
                <a:latin typeface="Bookman Uralic"/>
                <a:cs typeface="Bookman Uralic"/>
              </a:rPr>
              <a:t>process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to lower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viscosity of </a:t>
            </a:r>
            <a:r>
              <a:rPr sz="500" spc="5" dirty="0">
                <a:latin typeface="Bookman Uralic"/>
                <a:cs typeface="Bookman Uralic"/>
              </a:rPr>
              <a:t>the  </a:t>
            </a:r>
            <a:r>
              <a:rPr sz="500" spc="15" dirty="0">
                <a:latin typeface="Bookman Uralic"/>
                <a:cs typeface="Bookman Uralic"/>
              </a:rPr>
              <a:t>raw </a:t>
            </a:r>
            <a:r>
              <a:rPr sz="500" spc="5" dirty="0">
                <a:latin typeface="Bookman Uralic"/>
                <a:cs typeface="Bookman Uralic"/>
              </a:rPr>
              <a:t>oil </a:t>
            </a:r>
            <a:r>
              <a:rPr sz="500" spc="10" dirty="0">
                <a:latin typeface="Bookman Uralic"/>
                <a:cs typeface="Bookman Uralic"/>
              </a:rPr>
              <a:t>to allow proper atomization of </a:t>
            </a:r>
            <a:r>
              <a:rPr sz="500" spc="5" dirty="0">
                <a:latin typeface="Bookman Uralic"/>
                <a:cs typeface="Bookman Uralic"/>
              </a:rPr>
              <a:t>the fuel. </a:t>
            </a:r>
            <a:r>
              <a:rPr sz="500" spc="10" dirty="0">
                <a:latin typeface="Bookman Uralic"/>
                <a:cs typeface="Bookman Uralic"/>
              </a:rPr>
              <a:t>Biodiesel can be  </a:t>
            </a:r>
            <a:r>
              <a:rPr sz="500" spc="15" dirty="0">
                <a:latin typeface="Bookman Uralic"/>
                <a:cs typeface="Bookman Uralic"/>
              </a:rPr>
              <a:t>used </a:t>
            </a:r>
            <a:r>
              <a:rPr sz="500" spc="10" dirty="0">
                <a:latin typeface="Bookman Uralic"/>
                <a:cs typeface="Bookman Uralic"/>
              </a:rPr>
              <a:t>to power engines (diesel engines), either alone, </a:t>
            </a:r>
            <a:r>
              <a:rPr sz="500" spc="15" dirty="0">
                <a:latin typeface="Bookman Uralic"/>
                <a:cs typeface="Bookman Uralic"/>
              </a:rPr>
              <a:t>as </a:t>
            </a:r>
            <a:r>
              <a:rPr sz="500" spc="10" dirty="0">
                <a:latin typeface="Bookman Uralic"/>
                <a:cs typeface="Bookman Uralic"/>
              </a:rPr>
              <a:t>pure  biodiesel or mixed with petroleum diesel in various ratios.  </a:t>
            </a:r>
            <a:r>
              <a:rPr sz="500" spc="15" dirty="0">
                <a:latin typeface="Bookman Uralic"/>
                <a:cs typeface="Bookman Uralic"/>
              </a:rPr>
              <a:t>Compared </a:t>
            </a:r>
            <a:r>
              <a:rPr sz="500" spc="5" dirty="0">
                <a:latin typeface="Bookman Uralic"/>
                <a:cs typeface="Bookman Uralic"/>
              </a:rPr>
              <a:t>to </a:t>
            </a:r>
            <a:r>
              <a:rPr sz="500" spc="10" dirty="0">
                <a:latin typeface="Bookman Uralic"/>
                <a:cs typeface="Bookman Uralic"/>
              </a:rPr>
              <a:t>petroleum </a:t>
            </a:r>
            <a:r>
              <a:rPr sz="500" spc="5" dirty="0">
                <a:latin typeface="Bookman Uralic"/>
                <a:cs typeface="Bookman Uralic"/>
              </a:rPr>
              <a:t>diesel, </a:t>
            </a:r>
            <a:r>
              <a:rPr sz="500" spc="10" dirty="0">
                <a:latin typeface="Bookman Uralic"/>
                <a:cs typeface="Bookman Uralic"/>
              </a:rPr>
              <a:t>biodiesel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biodegradable </a:t>
            </a:r>
            <a:r>
              <a:rPr sz="500" spc="15" dirty="0">
                <a:latin typeface="Bookman Uralic"/>
                <a:cs typeface="Bookman Uralic"/>
              </a:rPr>
              <a:t>and  </a:t>
            </a:r>
            <a:r>
              <a:rPr sz="500" spc="10" dirty="0">
                <a:latin typeface="Bookman Uralic"/>
                <a:cs typeface="Bookman Uralic"/>
              </a:rPr>
              <a:t>non-toxic.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50338" y="1877694"/>
            <a:ext cx="838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b="1" spc="-10" dirty="0">
                <a:latin typeface="Bookman Uralic"/>
                <a:cs typeface="Bookman Uralic"/>
              </a:rPr>
              <a:t>10</a:t>
            </a:r>
            <a:endParaRPr sz="350">
              <a:latin typeface="Bookman Uralic"/>
              <a:cs typeface="Bookman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87" y="46990"/>
            <a:ext cx="169163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Useful forms of</a:t>
            </a:r>
            <a:r>
              <a:rPr sz="1050" spc="-55" dirty="0"/>
              <a:t> </a:t>
            </a:r>
            <a:r>
              <a:rPr sz="1050" dirty="0"/>
              <a:t>biomass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48234" y="267080"/>
            <a:ext cx="2388870" cy="1690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marR="5080" indent="-100965" algn="just">
              <a:lnSpc>
                <a:spcPct val="106000"/>
              </a:lnSpc>
              <a:spcBef>
                <a:spcPts val="95"/>
              </a:spcBef>
              <a:buAutoNum type="arabicPeriod" startAt="4"/>
              <a:tabLst>
                <a:tab pos="113030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Bio-fuel </a:t>
            </a:r>
            <a:r>
              <a:rPr sz="500" spc="-60" dirty="0">
                <a:latin typeface="Georgia" panose="02040502050405020303"/>
                <a:cs typeface="Georgia" panose="02040502050405020303"/>
              </a:rPr>
              <a:t>– </a:t>
            </a:r>
            <a:r>
              <a:rPr sz="500" spc="10" dirty="0">
                <a:latin typeface="Bookman Uralic"/>
                <a:cs typeface="Bookman Uralic"/>
              </a:rPr>
              <a:t>The two </a:t>
            </a:r>
            <a:r>
              <a:rPr sz="500" spc="15" dirty="0">
                <a:latin typeface="Bookman Uralic"/>
                <a:cs typeface="Bookman Uralic"/>
              </a:rPr>
              <a:t>most common </a:t>
            </a:r>
            <a:r>
              <a:rPr sz="500" spc="10" dirty="0">
                <a:latin typeface="Bookman Uralic"/>
                <a:cs typeface="Bookman Uralic"/>
              </a:rPr>
              <a:t>types of bio-fuels are </a:t>
            </a:r>
            <a:r>
              <a:rPr sz="500" b="1" i="1" spc="10" dirty="0">
                <a:latin typeface="TeX Gyre Bonum"/>
                <a:cs typeface="TeX Gyre Bonum"/>
              </a:rPr>
              <a:t>ethanol </a:t>
            </a:r>
            <a:r>
              <a:rPr sz="500" spc="15" dirty="0">
                <a:latin typeface="Bookman Uralic"/>
                <a:cs typeface="Bookman Uralic"/>
              </a:rPr>
              <a:t>and  </a:t>
            </a:r>
            <a:r>
              <a:rPr sz="500" b="1" i="1" spc="10" dirty="0">
                <a:latin typeface="TeX Gyre Bonum"/>
                <a:cs typeface="TeX Gyre Bonum"/>
              </a:rPr>
              <a:t>biodiesel</a:t>
            </a:r>
            <a:r>
              <a:rPr sz="500" spc="10" dirty="0">
                <a:latin typeface="Bookman Uralic"/>
                <a:cs typeface="Bookman Uralic"/>
              </a:rPr>
              <a:t>. These fuels </a:t>
            </a:r>
            <a:r>
              <a:rPr sz="500" spc="5" dirty="0">
                <a:latin typeface="Bookman Uralic"/>
                <a:cs typeface="Bookman Uralic"/>
              </a:rPr>
              <a:t>are </a:t>
            </a:r>
            <a:r>
              <a:rPr sz="500" spc="10" dirty="0">
                <a:latin typeface="Bookman Uralic"/>
                <a:cs typeface="Bookman Uralic"/>
              </a:rPr>
              <a:t>usually blended with the petroleum fuels  </a:t>
            </a:r>
            <a:r>
              <a:rPr sz="500" spc="15" dirty="0">
                <a:latin typeface="Bookman Uralic"/>
                <a:cs typeface="Bookman Uralic"/>
              </a:rPr>
              <a:t>such as </a:t>
            </a:r>
            <a:r>
              <a:rPr sz="500" spc="10" dirty="0">
                <a:latin typeface="Bookman Uralic"/>
                <a:cs typeface="Bookman Uralic"/>
              </a:rPr>
              <a:t>petrol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diesel </a:t>
            </a:r>
            <a:r>
              <a:rPr sz="500" spc="5" dirty="0">
                <a:latin typeface="Bookman Uralic"/>
                <a:cs typeface="Bookman Uralic"/>
              </a:rPr>
              <a:t>fuel, </a:t>
            </a:r>
            <a:r>
              <a:rPr sz="500" spc="10" dirty="0">
                <a:latin typeface="Bookman Uralic"/>
                <a:cs typeface="Bookman Uralic"/>
              </a:rPr>
              <a:t>but they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10" dirty="0">
                <a:latin typeface="Bookman Uralic"/>
                <a:cs typeface="Bookman Uralic"/>
              </a:rPr>
              <a:t>also </a:t>
            </a:r>
            <a:r>
              <a:rPr sz="500" spc="5" dirty="0">
                <a:latin typeface="Bookman Uralic"/>
                <a:cs typeface="Bookman Uralic"/>
              </a:rPr>
              <a:t>be </a:t>
            </a:r>
            <a:r>
              <a:rPr sz="500" spc="15" dirty="0">
                <a:latin typeface="Bookman Uralic"/>
                <a:cs typeface="Bookman Uralic"/>
              </a:rPr>
              <a:t>used on </a:t>
            </a:r>
            <a:r>
              <a:rPr sz="500" spc="10" dirty="0">
                <a:latin typeface="Bookman Uralic"/>
                <a:cs typeface="Bookman Uralic"/>
              </a:rPr>
              <a:t>their  own. </a:t>
            </a:r>
            <a:r>
              <a:rPr sz="500" i="1" spc="10" dirty="0">
                <a:latin typeface="Bookman Uralic"/>
                <a:cs typeface="Bookman Uralic"/>
              </a:rPr>
              <a:t>Ethanol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i="1" spc="10" dirty="0">
                <a:latin typeface="Bookman Uralic"/>
                <a:cs typeface="Bookman Uralic"/>
              </a:rPr>
              <a:t>biodiesel </a:t>
            </a:r>
            <a:r>
              <a:rPr sz="500" spc="10" dirty="0">
                <a:latin typeface="Bookman Uralic"/>
                <a:cs typeface="Bookman Uralic"/>
              </a:rPr>
              <a:t>are usually </a:t>
            </a:r>
            <a:r>
              <a:rPr sz="500" spc="15" dirty="0">
                <a:latin typeface="Bookman Uralic"/>
                <a:cs typeface="Bookman Uralic"/>
              </a:rPr>
              <a:t>more </a:t>
            </a:r>
            <a:r>
              <a:rPr sz="500" spc="10" dirty="0">
                <a:latin typeface="Bookman Uralic"/>
                <a:cs typeface="Bookman Uralic"/>
              </a:rPr>
              <a:t>expensive than </a:t>
            </a:r>
            <a:r>
              <a:rPr sz="500" spc="5" dirty="0">
                <a:latin typeface="Bookman Uralic"/>
                <a:cs typeface="Bookman Uralic"/>
              </a:rPr>
              <a:t>the  </a:t>
            </a:r>
            <a:r>
              <a:rPr sz="500" spc="10" dirty="0">
                <a:latin typeface="Bookman Uralic"/>
                <a:cs typeface="Bookman Uralic"/>
              </a:rPr>
              <a:t>fossil fuels but </a:t>
            </a:r>
            <a:r>
              <a:rPr sz="500" spc="15" dirty="0">
                <a:latin typeface="Bookman Uralic"/>
                <a:cs typeface="Bookman Uralic"/>
              </a:rPr>
              <a:t>they </a:t>
            </a:r>
            <a:r>
              <a:rPr sz="500" spc="10" dirty="0">
                <a:latin typeface="Bookman Uralic"/>
                <a:cs typeface="Bookman Uralic"/>
              </a:rPr>
              <a:t>are </a:t>
            </a:r>
            <a:r>
              <a:rPr sz="500" spc="15" dirty="0">
                <a:latin typeface="Bookman Uralic"/>
                <a:cs typeface="Bookman Uralic"/>
              </a:rPr>
              <a:t>cleaner </a:t>
            </a:r>
            <a:r>
              <a:rPr sz="500" spc="10" dirty="0">
                <a:latin typeface="Bookman Uralic"/>
                <a:cs typeface="Bookman Uralic"/>
              </a:rPr>
              <a:t>fuels with less</a:t>
            </a:r>
            <a:r>
              <a:rPr sz="500" spc="-10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pollution.</a:t>
            </a:r>
            <a:endParaRPr sz="500">
              <a:latin typeface="Bookman Uralic"/>
              <a:cs typeface="Bookman Uralic"/>
            </a:endParaRPr>
          </a:p>
          <a:p>
            <a:pPr marL="245745" marR="5080" lvl="1" indent="-132715" algn="just">
              <a:lnSpc>
                <a:spcPct val="106000"/>
              </a:lnSpc>
              <a:spcBef>
                <a:spcPts val="505"/>
              </a:spcBef>
              <a:buAutoNum type="alphaLcPeriod"/>
              <a:tabLst>
                <a:tab pos="245745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Ethanol </a:t>
            </a:r>
            <a:r>
              <a:rPr sz="500" spc="10" dirty="0">
                <a:latin typeface="Bookman Uralic"/>
                <a:cs typeface="Bookman Uralic"/>
              </a:rPr>
              <a:t>(</a:t>
            </a:r>
            <a:r>
              <a:rPr sz="500" b="1" i="1" spc="10" dirty="0">
                <a:latin typeface="TeX Gyre Bonum"/>
                <a:cs typeface="TeX Gyre Bonum"/>
              </a:rPr>
              <a:t>ethyl alcohol</a:t>
            </a:r>
            <a:r>
              <a:rPr sz="500" spc="10" dirty="0">
                <a:latin typeface="Bookman Uralic"/>
                <a:cs typeface="Bookman Uralic"/>
              </a:rPr>
              <a:t>) </a:t>
            </a:r>
            <a:r>
              <a:rPr sz="500" spc="-60" dirty="0">
                <a:latin typeface="Georgia" panose="02040502050405020303"/>
                <a:cs typeface="Georgia" panose="02040502050405020303"/>
              </a:rPr>
              <a:t>– </a:t>
            </a:r>
            <a:r>
              <a:rPr sz="500" b="1" i="1" spc="10" dirty="0">
                <a:latin typeface="TeX Gyre Bonum"/>
                <a:cs typeface="TeX Gyre Bonum"/>
              </a:rPr>
              <a:t>Methanol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ethanol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propanol </a:t>
            </a:r>
            <a:r>
              <a:rPr sz="500" spc="15" dirty="0">
                <a:latin typeface="Bookman Uralic"/>
                <a:cs typeface="Bookman Uralic"/>
              </a:rPr>
              <a:t>and  </a:t>
            </a:r>
            <a:r>
              <a:rPr sz="500" b="1" i="1" spc="10" dirty="0">
                <a:latin typeface="TeX Gyre Bonum"/>
                <a:cs typeface="TeX Gyre Bonum"/>
              </a:rPr>
              <a:t>butanol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10" dirty="0">
                <a:latin typeface="Bookman Uralic"/>
                <a:cs typeface="Bookman Uralic"/>
              </a:rPr>
              <a:t>be </a:t>
            </a:r>
            <a:r>
              <a:rPr sz="500" spc="15" dirty="0">
                <a:latin typeface="Bookman Uralic"/>
                <a:cs typeface="Bookman Uralic"/>
              </a:rPr>
              <a:t>used as an </a:t>
            </a:r>
            <a:r>
              <a:rPr sz="500" spc="10" dirty="0">
                <a:latin typeface="Bookman Uralic"/>
                <a:cs typeface="Bookman Uralic"/>
              </a:rPr>
              <a:t>alternative </a:t>
            </a:r>
            <a:r>
              <a:rPr sz="500" spc="5" dirty="0">
                <a:latin typeface="Bookman Uralic"/>
                <a:cs typeface="Bookman Uralic"/>
              </a:rPr>
              <a:t>fuel. </a:t>
            </a:r>
            <a:r>
              <a:rPr sz="500" spc="10" dirty="0">
                <a:latin typeface="Bookman Uralic"/>
                <a:cs typeface="Bookman Uralic"/>
              </a:rPr>
              <a:t>Ethanol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the </a:t>
            </a:r>
            <a:r>
              <a:rPr sz="500" spc="15" dirty="0">
                <a:latin typeface="Bookman Uralic"/>
                <a:cs typeface="Bookman Uralic"/>
              </a:rPr>
              <a:t>most  </a:t>
            </a:r>
            <a:r>
              <a:rPr sz="500" spc="10" dirty="0">
                <a:latin typeface="Bookman Uralic"/>
                <a:cs typeface="Bookman Uralic"/>
              </a:rPr>
              <a:t>widely </a:t>
            </a:r>
            <a:r>
              <a:rPr sz="500" spc="15" dirty="0">
                <a:latin typeface="Bookman Uralic"/>
                <a:cs typeface="Bookman Uralic"/>
              </a:rPr>
              <a:t>used </a:t>
            </a:r>
            <a:r>
              <a:rPr sz="500" spc="10" dirty="0">
                <a:latin typeface="Bookman Uralic"/>
                <a:cs typeface="Bookman Uralic"/>
              </a:rPr>
              <a:t>alcohol, primarily </a:t>
            </a:r>
            <a:r>
              <a:rPr sz="500" spc="15" dirty="0">
                <a:latin typeface="Bookman Uralic"/>
                <a:cs typeface="Bookman Uralic"/>
              </a:rPr>
              <a:t>as a </a:t>
            </a:r>
            <a:r>
              <a:rPr sz="500" spc="10" dirty="0">
                <a:latin typeface="Bookman Uralic"/>
                <a:cs typeface="Bookman Uralic"/>
              </a:rPr>
              <a:t>fuel for transportation or </a:t>
            </a:r>
            <a:r>
              <a:rPr sz="500" spc="20" dirty="0">
                <a:latin typeface="Bookman Uralic"/>
                <a:cs typeface="Bookman Uralic"/>
              </a:rPr>
              <a:t>as  </a:t>
            </a:r>
            <a:r>
              <a:rPr sz="500" spc="15" dirty="0">
                <a:latin typeface="Bookman Uralic"/>
                <a:cs typeface="Bookman Uralic"/>
              </a:rPr>
              <a:t>a fuel </a:t>
            </a:r>
            <a:r>
              <a:rPr sz="500" spc="10" dirty="0">
                <a:latin typeface="Bookman Uralic"/>
                <a:cs typeface="Bookman Uralic"/>
              </a:rPr>
              <a:t>additive because </a:t>
            </a:r>
            <a:r>
              <a:rPr sz="500" spc="5" dirty="0">
                <a:latin typeface="Bookman Uralic"/>
                <a:cs typeface="Bookman Uralic"/>
              </a:rPr>
              <a:t>it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10" dirty="0">
                <a:latin typeface="Bookman Uralic"/>
                <a:cs typeface="Bookman Uralic"/>
              </a:rPr>
              <a:t>be produced in large quantities  from </a:t>
            </a:r>
            <a:r>
              <a:rPr sz="500" b="1" i="1" spc="10" dirty="0">
                <a:latin typeface="TeX Gyre Bonum"/>
                <a:cs typeface="TeX Gyre Bonum"/>
              </a:rPr>
              <a:t>fermenting</a:t>
            </a:r>
            <a:r>
              <a:rPr sz="500" b="1" i="1" spc="190" dirty="0">
                <a:latin typeface="TeX Gyre Bonum"/>
                <a:cs typeface="TeX Gyre Bonum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plant-based material. Ethanol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10" dirty="0">
                <a:latin typeface="Bookman Uralic"/>
                <a:cs typeface="Bookman Uralic"/>
              </a:rPr>
              <a:t>be  </a:t>
            </a:r>
            <a:r>
              <a:rPr sz="500" spc="15" dirty="0">
                <a:latin typeface="Bookman Uralic"/>
                <a:cs typeface="Bookman Uralic"/>
              </a:rPr>
              <a:t>combined </a:t>
            </a:r>
            <a:r>
              <a:rPr sz="500" spc="10" dirty="0">
                <a:latin typeface="Bookman Uralic"/>
                <a:cs typeface="Bookman Uralic"/>
              </a:rPr>
              <a:t>with petrol in </a:t>
            </a:r>
            <a:r>
              <a:rPr sz="500" spc="15" dirty="0">
                <a:latin typeface="Bookman Uralic"/>
                <a:cs typeface="Bookman Uralic"/>
              </a:rPr>
              <a:t>any </a:t>
            </a:r>
            <a:r>
              <a:rPr sz="500" spc="10" dirty="0">
                <a:latin typeface="Bookman Uralic"/>
                <a:cs typeface="Bookman Uralic"/>
              </a:rPr>
              <a:t>concentration </a:t>
            </a:r>
            <a:r>
              <a:rPr sz="500" spc="15" dirty="0">
                <a:latin typeface="Bookman Uralic"/>
                <a:cs typeface="Bookman Uralic"/>
              </a:rPr>
              <a:t>up </a:t>
            </a:r>
            <a:r>
              <a:rPr sz="500" spc="10" dirty="0">
                <a:latin typeface="Bookman Uralic"/>
                <a:cs typeface="Bookman Uralic"/>
              </a:rPr>
              <a:t>to pure ethanol.  Bio-ethanol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5" dirty="0">
                <a:latin typeface="Bookman Uralic"/>
                <a:cs typeface="Bookman Uralic"/>
              </a:rPr>
              <a:t>be </a:t>
            </a:r>
            <a:r>
              <a:rPr sz="500" spc="10" dirty="0">
                <a:latin typeface="Bookman Uralic"/>
                <a:cs typeface="Bookman Uralic"/>
              </a:rPr>
              <a:t>produced from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variety of </a:t>
            </a:r>
            <a:r>
              <a:rPr sz="500" i="1" spc="10" dirty="0">
                <a:latin typeface="Bookman Uralic"/>
                <a:cs typeface="Bookman Uralic"/>
              </a:rPr>
              <a:t>feedstocks</a:t>
            </a:r>
            <a:r>
              <a:rPr sz="500" spc="10" dirty="0">
                <a:latin typeface="Bookman Uralic"/>
                <a:cs typeface="Bookman Uralic"/>
              </a:rPr>
              <a:t>,  </a:t>
            </a:r>
            <a:r>
              <a:rPr sz="500" spc="5" dirty="0">
                <a:latin typeface="Bookman Uralic"/>
                <a:cs typeface="Bookman Uralic"/>
              </a:rPr>
              <a:t>including </a:t>
            </a:r>
            <a:r>
              <a:rPr sz="500" spc="15" dirty="0">
                <a:latin typeface="Bookman Uralic"/>
                <a:cs typeface="Bookman Uralic"/>
              </a:rPr>
              <a:t>sugarcane, </a:t>
            </a:r>
            <a:r>
              <a:rPr sz="500" spc="10" dirty="0">
                <a:latin typeface="Bookman Uralic"/>
                <a:cs typeface="Bookman Uralic"/>
              </a:rPr>
              <a:t>corn, </a:t>
            </a:r>
            <a:r>
              <a:rPr sz="500" spc="15" dirty="0">
                <a:latin typeface="Bookman Uralic"/>
                <a:cs typeface="Bookman Uralic"/>
              </a:rPr>
              <a:t>sugar </a:t>
            </a:r>
            <a:r>
              <a:rPr sz="500" spc="10" dirty="0">
                <a:latin typeface="Bookman Uralic"/>
                <a:cs typeface="Bookman Uralic"/>
              </a:rPr>
              <a:t>beet, cassava, </a:t>
            </a:r>
            <a:r>
              <a:rPr sz="500" spc="15" dirty="0">
                <a:latin typeface="Bookman Uralic"/>
                <a:cs typeface="Bookman Uralic"/>
              </a:rPr>
              <a:t>sweet </a:t>
            </a:r>
            <a:r>
              <a:rPr sz="500" spc="10" dirty="0">
                <a:latin typeface="Bookman Uralic"/>
                <a:cs typeface="Bookman Uralic"/>
              </a:rPr>
              <a:t>sorghum,  sunflower, potatoes, hemp, or cotton seeds, or derived from  cellulose waste. The starches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sugars </a:t>
            </a:r>
            <a:r>
              <a:rPr sz="500" spc="5" dirty="0">
                <a:latin typeface="Bookman Uralic"/>
                <a:cs typeface="Bookman Uralic"/>
              </a:rPr>
              <a:t>in </a:t>
            </a:r>
            <a:r>
              <a:rPr sz="500" spc="10" dirty="0">
                <a:latin typeface="Bookman Uralic"/>
                <a:cs typeface="Bookman Uralic"/>
              </a:rPr>
              <a:t>these plants </a:t>
            </a:r>
            <a:r>
              <a:rPr sz="500" spc="5" dirty="0">
                <a:latin typeface="Bookman Uralic"/>
                <a:cs typeface="Bookman Uralic"/>
              </a:rPr>
              <a:t>are  </a:t>
            </a:r>
            <a:r>
              <a:rPr sz="500" spc="10" dirty="0">
                <a:latin typeface="Bookman Uralic"/>
                <a:cs typeface="Bookman Uralic"/>
              </a:rPr>
              <a:t>fermented,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ethanol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then obtained by </a:t>
            </a:r>
            <a:r>
              <a:rPr sz="500" spc="5" dirty="0">
                <a:latin typeface="Bookman Uralic"/>
                <a:cs typeface="Bookman Uralic"/>
              </a:rPr>
              <a:t>distillation.  </a:t>
            </a:r>
            <a:r>
              <a:rPr sz="500" spc="10" dirty="0">
                <a:latin typeface="Bookman Uralic"/>
                <a:cs typeface="Bookman Uralic"/>
              </a:rPr>
              <a:t>Ethanol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clean-burning, particulate-free fuel source. </a:t>
            </a:r>
            <a:r>
              <a:rPr sz="500" spc="15" dirty="0">
                <a:latin typeface="Bookman Uralic"/>
                <a:cs typeface="Bookman Uralic"/>
              </a:rPr>
              <a:t>When  </a:t>
            </a:r>
            <a:r>
              <a:rPr sz="500" spc="10" dirty="0">
                <a:latin typeface="Bookman Uralic"/>
                <a:cs typeface="Bookman Uralic"/>
              </a:rPr>
              <a:t>burnt with oxygen,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5" dirty="0">
                <a:latin typeface="Bookman Uralic"/>
                <a:cs typeface="Bookman Uralic"/>
              </a:rPr>
              <a:t>end </a:t>
            </a:r>
            <a:r>
              <a:rPr sz="500" spc="10" dirty="0">
                <a:latin typeface="Bookman Uralic"/>
                <a:cs typeface="Bookman Uralic"/>
              </a:rPr>
              <a:t>product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carbon </a:t>
            </a:r>
            <a:r>
              <a:rPr sz="500" spc="10" dirty="0">
                <a:latin typeface="Bookman Uralic"/>
                <a:cs typeface="Bookman Uralic"/>
              </a:rPr>
              <a:t>dioxide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water.  But, </a:t>
            </a:r>
            <a:r>
              <a:rPr sz="500" spc="15" dirty="0">
                <a:latin typeface="Bookman Uralic"/>
                <a:cs typeface="Bookman Uralic"/>
              </a:rPr>
              <a:t>ethanol has a </a:t>
            </a:r>
            <a:r>
              <a:rPr sz="500" spc="10" dirty="0">
                <a:latin typeface="Bookman Uralic"/>
                <a:cs typeface="Bookman Uralic"/>
              </a:rPr>
              <a:t>lower </a:t>
            </a:r>
            <a:r>
              <a:rPr sz="500" spc="15" dirty="0">
                <a:latin typeface="Bookman Uralic"/>
                <a:cs typeface="Bookman Uralic"/>
              </a:rPr>
              <a:t>heat </a:t>
            </a:r>
            <a:r>
              <a:rPr sz="500" spc="10" dirty="0">
                <a:latin typeface="Bookman Uralic"/>
                <a:cs typeface="Bookman Uralic"/>
              </a:rPr>
              <a:t>of</a:t>
            </a:r>
            <a:r>
              <a:rPr sz="500" spc="-9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combustion.</a:t>
            </a:r>
            <a:endParaRPr sz="500">
              <a:latin typeface="Bookman Uralic"/>
              <a:cs typeface="Bookman Uralic"/>
            </a:endParaRPr>
          </a:p>
          <a:p>
            <a:pPr marR="8255" algn="r">
              <a:lnSpc>
                <a:spcPct val="100000"/>
              </a:lnSpc>
              <a:spcBef>
                <a:spcPts val="140"/>
              </a:spcBef>
            </a:pPr>
            <a:r>
              <a:rPr sz="350" b="1" spc="-5" dirty="0">
                <a:latin typeface="Bookman Uralic"/>
                <a:cs typeface="Bookman Uralic"/>
              </a:rPr>
              <a:t>9</a:t>
            </a:r>
            <a:endParaRPr sz="35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882" y="56134"/>
            <a:ext cx="20320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10" dirty="0">
                <a:solidFill>
                  <a:srgbClr val="006FC0"/>
                </a:solidFill>
                <a:latin typeface="TeX Gyre Bonum"/>
                <a:cs typeface="TeX Gyre Bonum"/>
              </a:rPr>
              <a:t>Photosynthesis</a:t>
            </a:r>
            <a:r>
              <a:rPr sz="1300" b="1" i="1" spc="-75" dirty="0">
                <a:solidFill>
                  <a:srgbClr val="006FC0"/>
                </a:solidFill>
                <a:latin typeface="TeX Gyre Bonum"/>
                <a:cs typeface="TeX Gyre Bonum"/>
              </a:rPr>
              <a:t> </a:t>
            </a:r>
            <a:r>
              <a:rPr sz="1300" b="1" i="1" spc="-10" dirty="0">
                <a:solidFill>
                  <a:srgbClr val="006FC0"/>
                </a:solidFill>
                <a:latin typeface="TeX Gyre Bonum"/>
                <a:cs typeface="TeX Gyre Bonum"/>
              </a:rPr>
              <a:t>Process</a:t>
            </a:r>
            <a:endParaRPr sz="1300">
              <a:latin typeface="TeX Gyre Bonum"/>
              <a:cs typeface="TeX Gyre Bon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12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34112" y="312420"/>
              <a:ext cx="2458212" cy="165353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519" y="89407"/>
            <a:ext cx="20320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10" dirty="0">
                <a:solidFill>
                  <a:srgbClr val="006FC0"/>
                </a:solidFill>
                <a:latin typeface="TeX Gyre Bonum"/>
                <a:cs typeface="TeX Gyre Bonum"/>
              </a:rPr>
              <a:t>Photosynthesis</a:t>
            </a:r>
            <a:r>
              <a:rPr sz="1300" b="1" i="1" spc="-75" dirty="0">
                <a:solidFill>
                  <a:srgbClr val="006FC0"/>
                </a:solidFill>
                <a:latin typeface="TeX Gyre Bonum"/>
                <a:cs typeface="TeX Gyre Bonum"/>
              </a:rPr>
              <a:t> </a:t>
            </a:r>
            <a:r>
              <a:rPr sz="1300" b="1" i="1" spc="-10" dirty="0">
                <a:solidFill>
                  <a:srgbClr val="006FC0"/>
                </a:solidFill>
                <a:latin typeface="TeX Gyre Bonum"/>
                <a:cs typeface="TeX Gyre Bonum"/>
              </a:rPr>
              <a:t>Process</a:t>
            </a:r>
            <a:endParaRPr sz="1300">
              <a:latin typeface="TeX Gyre Bonum"/>
              <a:cs typeface="TeX Gyre Bon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13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24968" y="379476"/>
              <a:ext cx="2453623" cy="144017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306" y="23876"/>
            <a:ext cx="21062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i="1" spc="-10" dirty="0">
                <a:latin typeface="TeX Gyre Bonum"/>
                <a:cs typeface="TeX Gyre Bonum"/>
              </a:rPr>
              <a:t>Useful </a:t>
            </a:r>
            <a:r>
              <a:rPr sz="1300" i="1" spc="-5" dirty="0">
                <a:latin typeface="TeX Gyre Bonum"/>
                <a:cs typeface="TeX Gyre Bonum"/>
              </a:rPr>
              <a:t>forms of</a:t>
            </a:r>
            <a:r>
              <a:rPr sz="1300" i="1" spc="-65" dirty="0">
                <a:latin typeface="TeX Gyre Bonum"/>
                <a:cs typeface="TeX Gyre Bonum"/>
              </a:rPr>
              <a:t> </a:t>
            </a:r>
            <a:r>
              <a:rPr sz="1300" i="1" spc="-10" dirty="0">
                <a:latin typeface="TeX Gyre Bonum"/>
                <a:cs typeface="TeX Gyre Bonum"/>
              </a:rPr>
              <a:t>biomass</a:t>
            </a:r>
            <a:endParaRPr sz="1300">
              <a:latin typeface="TeX Gyre Bonum"/>
              <a:cs typeface="TeX Gyre Bon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50338" y="1877694"/>
            <a:ext cx="838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b="1" spc="-10" dirty="0">
                <a:latin typeface="Bookman Uralic"/>
                <a:cs typeface="Bookman Uralic"/>
              </a:rPr>
              <a:t>16</a:t>
            </a:r>
            <a:endParaRPr sz="350">
              <a:latin typeface="Bookman Uralic"/>
              <a:cs typeface="Bookman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0582" y="463288"/>
            <a:ext cx="2523490" cy="1374140"/>
            <a:chOff x="100582" y="463288"/>
            <a:chExt cx="2523490" cy="1374140"/>
          </a:xfrm>
        </p:grpSpPr>
        <p:sp>
          <p:nvSpPr>
            <p:cNvPr id="5" name="object 5"/>
            <p:cNvSpPr/>
            <p:nvPr/>
          </p:nvSpPr>
          <p:spPr>
            <a:xfrm>
              <a:off x="100582" y="463288"/>
              <a:ext cx="2522984" cy="1373901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760" y="467994"/>
              <a:ext cx="2502407" cy="13533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0363" y="466598"/>
          <a:ext cx="2503169" cy="13535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39"/>
                <a:gridCol w="808990"/>
                <a:gridCol w="447040"/>
                <a:gridCol w="692785"/>
                <a:gridCol w="424815"/>
              </a:tblGrid>
              <a:tr h="244221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Sl.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  <a:p>
                      <a:pPr marL="76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500" b="1" dirty="0">
                          <a:latin typeface="Bookman Uralic"/>
                          <a:cs typeface="Bookman Uralic"/>
                        </a:rPr>
                        <a:t>N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o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500" b="1" spc="15" dirty="0">
                          <a:latin typeface="Bookman Uralic"/>
                          <a:cs typeface="Bookman Uralic"/>
                        </a:rPr>
                        <a:t>Biomass</a:t>
                      </a:r>
                      <a:r>
                        <a:rPr sz="500" b="1" spc="-1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b="1" spc="10" dirty="0">
                          <a:latin typeface="Bookman Uralic"/>
                          <a:cs typeface="Bookman Uralic"/>
                        </a:rPr>
                        <a:t>source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810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" marR="52705" indent="27305">
                        <a:lnSpc>
                          <a:spcPct val="106000"/>
                        </a:lnSpc>
                        <a:spcBef>
                          <a:spcPts val="310"/>
                        </a:spcBef>
                      </a:pPr>
                      <a:r>
                        <a:rPr sz="500" b="1" spc="10" dirty="0">
                          <a:latin typeface="Bookman Uralic"/>
                          <a:cs typeface="Bookman Uralic"/>
                        </a:rPr>
                        <a:t>Bio-fuel  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p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rodu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c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e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d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9369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 marR="141605" indent="-3175">
                        <a:lnSpc>
                          <a:spcPct val="106000"/>
                        </a:lnSpc>
                        <a:spcBef>
                          <a:spcPts val="310"/>
                        </a:spcBef>
                      </a:pPr>
                      <a:r>
                        <a:rPr sz="500" b="1" dirty="0">
                          <a:latin typeface="Bookman Uralic"/>
                          <a:cs typeface="Bookman Uralic"/>
                        </a:rPr>
                        <a:t>C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onv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e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r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si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o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n  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t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ec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h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n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o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l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o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g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y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9369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marR="46355" algn="ctr">
                        <a:lnSpc>
                          <a:spcPts val="640"/>
                        </a:lnSpc>
                        <a:spcBef>
                          <a:spcPts val="15"/>
                        </a:spcBef>
                      </a:pPr>
                      <a:r>
                        <a:rPr sz="500" b="1" dirty="0">
                          <a:latin typeface="Bookman Uralic"/>
                          <a:cs typeface="Bookman Uralic"/>
                        </a:rPr>
                        <a:t>A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v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a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il</a:t>
                      </a:r>
                      <a:r>
                        <a:rPr sz="500" b="1" spc="5" dirty="0">
                          <a:latin typeface="Bookman Uralic"/>
                          <a:cs typeface="Bookman Uralic"/>
                        </a:rPr>
                        <a:t>a</a:t>
                      </a:r>
                      <a:r>
                        <a:rPr sz="500" b="1" spc="-5" dirty="0">
                          <a:latin typeface="Bookman Uralic"/>
                          <a:cs typeface="Bookman Uralic"/>
                        </a:rPr>
                        <a:t>b</a:t>
                      </a:r>
                      <a:r>
                        <a:rPr sz="500" b="1" dirty="0">
                          <a:latin typeface="Bookman Uralic"/>
                          <a:cs typeface="Bookman Uralic"/>
                        </a:rPr>
                        <a:t>le  </a:t>
                      </a:r>
                      <a:r>
                        <a:rPr sz="500" b="1" spc="15" dirty="0">
                          <a:latin typeface="Bookman Uralic"/>
                          <a:cs typeface="Bookman Uralic"/>
                        </a:rPr>
                        <a:t>energy  </a:t>
                      </a:r>
                      <a:r>
                        <a:rPr sz="500" b="1" spc="10" dirty="0">
                          <a:latin typeface="Bookman Uralic"/>
                          <a:cs typeface="Bookman Uralic"/>
                        </a:rPr>
                        <a:t>(MJ/kg)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190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</a:tcPr>
                </a:tc>
              </a:tr>
              <a:tr h="2255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1.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190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13970">
                        <a:lnSpc>
                          <a:spcPct val="106000"/>
                        </a:lnSpc>
                        <a:spcBef>
                          <a:spcPts val="23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Wood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chips,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saw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mill 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dust, forest</a:t>
                      </a:r>
                      <a:r>
                        <a:rPr sz="500" spc="-2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residues.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2984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Direct</a:t>
                      </a:r>
                      <a:r>
                        <a:rPr sz="500" spc="-2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heat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190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Incineration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190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5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16 </a:t>
                      </a:r>
                      <a:r>
                        <a:rPr sz="500" spc="-60" dirty="0">
                          <a:latin typeface="Georgia" panose="02040502050405020303"/>
                          <a:cs typeface="Georgia" panose="02040502050405020303"/>
                        </a:rPr>
                        <a:t>–</a:t>
                      </a:r>
                      <a:r>
                        <a:rPr sz="500" spc="-45" dirty="0">
                          <a:latin typeface="Georgia" panose="02040502050405020303"/>
                          <a:cs typeface="Georgia" panose="02040502050405020303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20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190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40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2.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17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Wood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chips,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saw</a:t>
                      </a:r>
                      <a:r>
                        <a:rPr sz="500" spc="14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mill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dust, forest</a:t>
                      </a:r>
                      <a:r>
                        <a:rPr sz="500" spc="-3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residues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Gas,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  <a:p>
                      <a:pPr marL="247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Oil,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  <a:p>
                      <a:pPr marL="24765">
                        <a:lnSpc>
                          <a:spcPts val="520"/>
                        </a:lnSpc>
                        <a:spcBef>
                          <a:spcPts val="3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Char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810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5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Pyrolysis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17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40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40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  <a:p>
                      <a:pPr marL="1270" algn="ctr">
                        <a:lnSpc>
                          <a:spcPts val="520"/>
                        </a:lnSpc>
                        <a:spcBef>
                          <a:spcPts val="3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20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810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2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3.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Sugarcane</a:t>
                      </a:r>
                      <a:r>
                        <a:rPr sz="500" spc="-1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crops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Ethanol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Fermentation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26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746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28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4.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Animal</a:t>
                      </a:r>
                      <a:r>
                        <a:rPr sz="50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waste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Biogas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Anaerobic</a:t>
                      </a:r>
                      <a:r>
                        <a:rPr sz="500" spc="-2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digestion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4 </a:t>
                      </a:r>
                      <a:r>
                        <a:rPr sz="500" spc="-60" dirty="0">
                          <a:latin typeface="Georgia" panose="02040502050405020303"/>
                          <a:cs typeface="Georgia" panose="02040502050405020303"/>
                        </a:rPr>
                        <a:t>–</a:t>
                      </a:r>
                      <a:r>
                        <a:rPr sz="500" spc="-55" dirty="0">
                          <a:latin typeface="Georgia" panose="02040502050405020303"/>
                          <a:cs typeface="Georgia" panose="02040502050405020303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8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28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5.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Municipal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sewage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Biogas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Anaerobic</a:t>
                      </a:r>
                      <a:r>
                        <a:rPr sz="500" spc="-2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digestion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2 </a:t>
                      </a:r>
                      <a:r>
                        <a:rPr sz="500" spc="-60" dirty="0">
                          <a:latin typeface="Georgia" panose="02040502050405020303"/>
                          <a:cs typeface="Georgia" panose="02040502050405020303"/>
                        </a:rPr>
                        <a:t>–</a:t>
                      </a:r>
                      <a:r>
                        <a:rPr sz="500" spc="-55" dirty="0">
                          <a:latin typeface="Georgia" panose="02040502050405020303"/>
                          <a:cs typeface="Georgia" panose="02040502050405020303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4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28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5" dirty="0">
                          <a:latin typeface="Bookman Uralic"/>
                          <a:cs typeface="Bookman Uralic"/>
                        </a:rPr>
                        <a:t>6.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Vegetable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oil</a:t>
                      </a:r>
                      <a:r>
                        <a:rPr sz="500" spc="-5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sewage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Biodiesel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Transesterification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38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43815" marB="0">
                    <a:lnL w="3175">
                      <a:solidFill>
                        <a:srgbClr val="BD4A47"/>
                      </a:solidFill>
                      <a:prstDash val="solid"/>
                    </a:lnL>
                    <a:lnR w="3175">
                      <a:solidFill>
                        <a:srgbClr val="BD4A47"/>
                      </a:solidFill>
                      <a:prstDash val="solid"/>
                    </a:lnR>
                    <a:lnT w="3175">
                      <a:solidFill>
                        <a:srgbClr val="BD4A47"/>
                      </a:solidFill>
                      <a:prstDash val="solid"/>
                    </a:lnT>
                    <a:lnB w="3175">
                      <a:solidFill>
                        <a:srgbClr val="BD4A4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26619" y="243281"/>
            <a:ext cx="2475230" cy="187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15" dirty="0">
                <a:latin typeface="Bookman Uralic"/>
                <a:cs typeface="Bookman Uralic"/>
              </a:rPr>
              <a:t>The energy </a:t>
            </a:r>
            <a:r>
              <a:rPr sz="500" spc="10" dirty="0">
                <a:latin typeface="Bookman Uralic"/>
                <a:cs typeface="Bookman Uralic"/>
              </a:rPr>
              <a:t>available from various biomass resources </a:t>
            </a:r>
            <a:r>
              <a:rPr sz="500" spc="5" dirty="0">
                <a:latin typeface="Bookman Uralic"/>
                <a:cs typeface="Bookman Uralic"/>
              </a:rPr>
              <a:t>are </a:t>
            </a:r>
            <a:r>
              <a:rPr sz="500" spc="10" dirty="0">
                <a:latin typeface="Bookman Uralic"/>
                <a:cs typeface="Bookman Uralic"/>
              </a:rPr>
              <a:t>listed in</a:t>
            </a:r>
            <a:r>
              <a:rPr sz="500" spc="6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the</a:t>
            </a:r>
            <a:endParaRPr sz="500">
              <a:latin typeface="Bookman Uralic"/>
              <a:cs typeface="Bookman Uralic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500" spc="10" dirty="0">
                <a:latin typeface="Bookman Uralic"/>
                <a:cs typeface="Bookman Uralic"/>
              </a:rPr>
              <a:t>table</a:t>
            </a:r>
            <a:r>
              <a:rPr sz="500" spc="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below.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271" y="62865"/>
            <a:ext cx="2101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Composition of urban</a:t>
            </a:r>
            <a:r>
              <a:rPr sz="1300" b="1" i="1" spc="-7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00" b="1" i="1" spc="-5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garbage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022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15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425195" y="291084"/>
              <a:ext cx="1943100" cy="1653539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97358"/>
            <a:ext cx="241427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Biomass – Merits </a:t>
            </a:r>
            <a:r>
              <a:rPr sz="1150" b="1" spc="15" dirty="0">
                <a:solidFill>
                  <a:srgbClr val="006FC0"/>
                </a:solidFill>
                <a:latin typeface="Bookman Uralic"/>
                <a:cs typeface="Bookman Uralic"/>
              </a:rPr>
              <a:t>and</a:t>
            </a:r>
            <a:r>
              <a:rPr sz="1150" b="1" spc="-60" dirty="0">
                <a:solidFill>
                  <a:srgbClr val="006FC0"/>
                </a:solidFill>
                <a:latin typeface="Bookman Uralic"/>
                <a:cs typeface="Bookman Uralic"/>
              </a:rPr>
              <a:t> </a:t>
            </a: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demerits</a:t>
            </a:r>
            <a:endParaRPr sz="115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18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237815" y="335280"/>
              <a:ext cx="2235493" cy="1563624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9829" y="1877694"/>
            <a:ext cx="838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b="1" spc="-10" dirty="0">
                <a:latin typeface="Bookman Uralic"/>
                <a:cs typeface="Bookman Uralic"/>
              </a:rPr>
              <a:t>19</a:t>
            </a:r>
            <a:endParaRPr sz="35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27" y="10744"/>
            <a:ext cx="2588895" cy="188722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"/>
              </a:spcBef>
            </a:pPr>
            <a:r>
              <a:rPr sz="450" b="1" i="1" spc="10" dirty="0">
                <a:solidFill>
                  <a:srgbClr val="006FC0"/>
                </a:solidFill>
                <a:latin typeface="TeX Gyre Bonum"/>
                <a:cs typeface="TeX Gyre Bonum"/>
              </a:rPr>
              <a:t>Advantages </a:t>
            </a:r>
            <a:r>
              <a:rPr sz="450" b="1" i="1" spc="5" dirty="0">
                <a:solidFill>
                  <a:srgbClr val="006FC0"/>
                </a:solidFill>
                <a:latin typeface="TeX Gyre Bonum"/>
                <a:cs typeface="TeX Gyre Bonum"/>
              </a:rPr>
              <a:t>of biomass</a:t>
            </a:r>
            <a:r>
              <a:rPr sz="450" b="1" i="1" spc="15" dirty="0">
                <a:solidFill>
                  <a:srgbClr val="006FC0"/>
                </a:solidFill>
                <a:latin typeface="TeX Gyre Bonum"/>
                <a:cs typeface="TeX Gyre Bonum"/>
              </a:rPr>
              <a:t> </a:t>
            </a:r>
            <a:r>
              <a:rPr sz="450" b="1" i="1" spc="10" dirty="0">
                <a:solidFill>
                  <a:srgbClr val="006FC0"/>
                </a:solidFill>
                <a:latin typeface="TeX Gyre Bonum"/>
                <a:cs typeface="TeX Gyre Bonum"/>
              </a:rPr>
              <a:t>energy</a:t>
            </a:r>
            <a:endParaRPr sz="450">
              <a:latin typeface="TeX Gyre Bonum"/>
              <a:cs typeface="TeX Gyre Bonum"/>
            </a:endParaRPr>
          </a:p>
          <a:p>
            <a:pPr marL="82550" marR="6985" indent="-70485">
              <a:lnSpc>
                <a:spcPct val="104000"/>
              </a:lnSpc>
              <a:spcBef>
                <a:spcPts val="80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Plants </a:t>
            </a:r>
            <a:r>
              <a:rPr sz="450" spc="10" dirty="0">
                <a:latin typeface="Bookman Uralic"/>
                <a:cs typeface="Bookman Uralic"/>
              </a:rPr>
              <a:t>ensure a continuous </a:t>
            </a:r>
            <a:r>
              <a:rPr sz="450" spc="5" dirty="0">
                <a:latin typeface="Bookman Uralic"/>
                <a:cs typeface="Bookman Uralic"/>
              </a:rPr>
              <a:t>supply of </a:t>
            </a:r>
            <a:r>
              <a:rPr sz="450" spc="10" dirty="0">
                <a:latin typeface="Bookman Uralic"/>
                <a:cs typeface="Bookman Uralic"/>
              </a:rPr>
              <a:t>energy due to </a:t>
            </a:r>
            <a:r>
              <a:rPr sz="450" spc="5" dirty="0">
                <a:latin typeface="Bookman Uralic"/>
                <a:cs typeface="Bookman Uralic"/>
              </a:rPr>
              <a:t>their </a:t>
            </a:r>
            <a:r>
              <a:rPr sz="450" spc="10" dirty="0">
                <a:latin typeface="Bookman Uralic"/>
                <a:cs typeface="Bookman Uralic"/>
              </a:rPr>
              <a:t>continuous growth and  hence </a:t>
            </a:r>
            <a:r>
              <a:rPr sz="450" spc="5" dirty="0">
                <a:latin typeface="Bookman Uralic"/>
                <a:cs typeface="Bookman Uralic"/>
              </a:rPr>
              <a:t>it is </a:t>
            </a:r>
            <a:r>
              <a:rPr sz="450" spc="10" dirty="0">
                <a:latin typeface="Bookman Uralic"/>
                <a:cs typeface="Bookman Uralic"/>
              </a:rPr>
              <a:t>a </a:t>
            </a:r>
            <a:r>
              <a:rPr sz="450" spc="5" dirty="0">
                <a:latin typeface="Bookman Uralic"/>
                <a:cs typeface="Bookman Uralic"/>
              </a:rPr>
              <a:t>renewable source of</a:t>
            </a:r>
            <a:r>
              <a:rPr sz="450" spc="-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energy.</a:t>
            </a:r>
            <a:endParaRPr sz="450">
              <a:latin typeface="Bookman Uralic"/>
              <a:cs typeface="Bookman Uralic"/>
            </a:endParaRPr>
          </a:p>
          <a:p>
            <a:pPr marL="82550" marR="5080" indent="-70485">
              <a:lnSpc>
                <a:spcPct val="104000"/>
              </a:lnSpc>
              <a:spcBef>
                <a:spcPts val="85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The cost </a:t>
            </a:r>
            <a:r>
              <a:rPr sz="450" spc="10" dirty="0">
                <a:latin typeface="Bookman Uralic"/>
                <a:cs typeface="Bookman Uralic"/>
              </a:rPr>
              <a:t>of </a:t>
            </a:r>
            <a:r>
              <a:rPr sz="450" spc="5" dirty="0">
                <a:latin typeface="Bookman Uralic"/>
                <a:cs typeface="Bookman Uralic"/>
              </a:rPr>
              <a:t>obtaining bio-energy </a:t>
            </a:r>
            <a:r>
              <a:rPr sz="450" spc="10" dirty="0">
                <a:latin typeface="Bookman Uralic"/>
                <a:cs typeface="Bookman Uralic"/>
              </a:rPr>
              <a:t>through </a:t>
            </a:r>
            <a:r>
              <a:rPr sz="450" spc="5" dirty="0">
                <a:latin typeface="Bookman Uralic"/>
                <a:cs typeface="Bookman Uralic"/>
              </a:rPr>
              <a:t>energy-plantations is less </a:t>
            </a:r>
            <a:r>
              <a:rPr sz="450" spc="10" dirty="0">
                <a:latin typeface="Bookman Uralic"/>
                <a:cs typeface="Bookman Uralic"/>
              </a:rPr>
              <a:t>than </a:t>
            </a:r>
            <a:r>
              <a:rPr sz="450" spc="5" dirty="0">
                <a:latin typeface="Bookman Uralic"/>
                <a:cs typeface="Bookman Uralic"/>
              </a:rPr>
              <a:t>the cost </a:t>
            </a:r>
            <a:r>
              <a:rPr sz="450" spc="15" dirty="0">
                <a:latin typeface="Bookman Uralic"/>
                <a:cs typeface="Bookman Uralic"/>
              </a:rPr>
              <a:t>of  </a:t>
            </a:r>
            <a:r>
              <a:rPr sz="450" spc="5" dirty="0">
                <a:latin typeface="Bookman Uralic"/>
                <a:cs typeface="Bookman Uralic"/>
              </a:rPr>
              <a:t>obtaining </a:t>
            </a:r>
            <a:r>
              <a:rPr sz="450" spc="10" dirty="0">
                <a:latin typeface="Bookman Uralic"/>
                <a:cs typeface="Bookman Uralic"/>
              </a:rPr>
              <a:t>energy </a:t>
            </a:r>
            <a:r>
              <a:rPr sz="450" spc="5" dirty="0">
                <a:latin typeface="Bookman Uralic"/>
                <a:cs typeface="Bookman Uralic"/>
              </a:rPr>
              <a:t>from </a:t>
            </a:r>
            <a:r>
              <a:rPr sz="450" dirty="0">
                <a:latin typeface="Bookman Uralic"/>
                <a:cs typeface="Bookman Uralic"/>
              </a:rPr>
              <a:t>fossil</a:t>
            </a:r>
            <a:r>
              <a:rPr sz="450" spc="-1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fuels.</a:t>
            </a:r>
            <a:endParaRPr sz="450">
              <a:latin typeface="Bookman Uralic"/>
              <a:cs typeface="Bookman Uralic"/>
            </a:endParaRPr>
          </a:p>
          <a:p>
            <a:pPr marL="82550" marR="5715" indent="-70485">
              <a:lnSpc>
                <a:spcPct val="105000"/>
              </a:lnSpc>
              <a:spcBef>
                <a:spcPts val="80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The production of biogas (particularly from </a:t>
            </a:r>
            <a:r>
              <a:rPr sz="450" spc="10" dirty="0">
                <a:latin typeface="Bookman Uralic"/>
                <a:cs typeface="Bookman Uralic"/>
              </a:rPr>
              <a:t>animal </a:t>
            </a:r>
            <a:r>
              <a:rPr sz="450" spc="5" dirty="0">
                <a:latin typeface="Bookman Uralic"/>
                <a:cs typeface="Bookman Uralic"/>
              </a:rPr>
              <a:t>wastes) </a:t>
            </a:r>
            <a:r>
              <a:rPr sz="450" spc="10" dirty="0">
                <a:latin typeface="Bookman Uralic"/>
                <a:cs typeface="Bookman Uralic"/>
              </a:rPr>
              <a:t>has </a:t>
            </a:r>
            <a:r>
              <a:rPr sz="450" spc="5" dirty="0">
                <a:latin typeface="Bookman Uralic"/>
                <a:cs typeface="Bookman Uralic"/>
              </a:rPr>
              <a:t>additional value in  intensive agricultural systems as </a:t>
            </a:r>
            <a:r>
              <a:rPr sz="450" spc="10" dirty="0">
                <a:latin typeface="Bookman Uralic"/>
                <a:cs typeface="Bookman Uralic"/>
              </a:rPr>
              <a:t>a method </a:t>
            </a:r>
            <a:r>
              <a:rPr sz="450" spc="5" dirty="0">
                <a:latin typeface="Bookman Uralic"/>
                <a:cs typeface="Bookman Uralic"/>
              </a:rPr>
              <a:t>of avoiding</a:t>
            </a:r>
            <a:r>
              <a:rPr sz="450" spc="-2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pollution.</a:t>
            </a:r>
            <a:endParaRPr sz="450">
              <a:latin typeface="Bookman Uralic"/>
              <a:cs typeface="Bookman Uralic"/>
            </a:endParaRPr>
          </a:p>
          <a:p>
            <a:pPr marL="82550" marR="6985" indent="-70485">
              <a:lnSpc>
                <a:spcPct val="104000"/>
              </a:lnSpc>
              <a:spcBef>
                <a:spcPts val="85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The forestry </a:t>
            </a:r>
            <a:r>
              <a:rPr sz="450" spc="10" dirty="0">
                <a:latin typeface="Bookman Uralic"/>
                <a:cs typeface="Bookman Uralic"/>
              </a:rPr>
              <a:t>and </a:t>
            </a:r>
            <a:r>
              <a:rPr sz="450" spc="5" dirty="0">
                <a:latin typeface="Bookman Uralic"/>
                <a:cs typeface="Bookman Uralic"/>
              </a:rPr>
              <a:t>agricultural industries that supply feed stocks also provide  substantial </a:t>
            </a:r>
            <a:r>
              <a:rPr sz="450" spc="10" dirty="0">
                <a:latin typeface="Bookman Uralic"/>
                <a:cs typeface="Bookman Uralic"/>
              </a:rPr>
              <a:t>economic development </a:t>
            </a:r>
            <a:r>
              <a:rPr sz="450" spc="5" dirty="0">
                <a:latin typeface="Bookman Uralic"/>
                <a:cs typeface="Bookman Uralic"/>
              </a:rPr>
              <a:t>opportunities in rural</a:t>
            </a:r>
            <a:r>
              <a:rPr sz="450" spc="-5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areas.</a:t>
            </a:r>
            <a:endParaRPr sz="450">
              <a:latin typeface="Bookman Uralic"/>
              <a:cs typeface="Bookman Uralic"/>
            </a:endParaRPr>
          </a:p>
          <a:p>
            <a:pPr marL="82550" marR="5715" indent="-70485">
              <a:lnSpc>
                <a:spcPct val="104000"/>
              </a:lnSpc>
              <a:spcBef>
                <a:spcPts val="85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The pollutant emissions from combustion of biomass are </a:t>
            </a:r>
            <a:r>
              <a:rPr sz="450" spc="10" dirty="0">
                <a:latin typeface="Bookman Uralic"/>
                <a:cs typeface="Bookman Uralic"/>
              </a:rPr>
              <a:t>usually </a:t>
            </a:r>
            <a:r>
              <a:rPr sz="450" spc="5" dirty="0">
                <a:latin typeface="Bookman Uralic"/>
                <a:cs typeface="Bookman Uralic"/>
              </a:rPr>
              <a:t>lower </a:t>
            </a:r>
            <a:r>
              <a:rPr sz="450" spc="10" dirty="0">
                <a:latin typeface="Bookman Uralic"/>
                <a:cs typeface="Bookman Uralic"/>
              </a:rPr>
              <a:t>than </a:t>
            </a:r>
            <a:r>
              <a:rPr sz="450" spc="5" dirty="0">
                <a:latin typeface="Bookman Uralic"/>
                <a:cs typeface="Bookman Uralic"/>
              </a:rPr>
              <a:t>those  from </a:t>
            </a:r>
            <a:r>
              <a:rPr sz="450" dirty="0">
                <a:latin typeface="Bookman Uralic"/>
                <a:cs typeface="Bookman Uralic"/>
              </a:rPr>
              <a:t>fossil</a:t>
            </a:r>
            <a:r>
              <a:rPr sz="450" spc="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fuels.</a:t>
            </a:r>
            <a:endParaRPr sz="450">
              <a:latin typeface="Bookman Uralic"/>
              <a:cs typeface="Bookman Uralic"/>
            </a:endParaRPr>
          </a:p>
          <a:p>
            <a:pPr marL="82550" marR="5715" indent="-70485">
              <a:lnSpc>
                <a:spcPct val="104000"/>
              </a:lnSpc>
              <a:spcBef>
                <a:spcPts val="95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Commercial </a:t>
            </a:r>
            <a:r>
              <a:rPr sz="450" spc="10" dirty="0">
                <a:latin typeface="Bookman Uralic"/>
                <a:cs typeface="Bookman Uralic"/>
              </a:rPr>
              <a:t>use </a:t>
            </a:r>
            <a:r>
              <a:rPr sz="450" spc="5" dirty="0">
                <a:latin typeface="Bookman Uralic"/>
                <a:cs typeface="Bookman Uralic"/>
              </a:rPr>
              <a:t>of biomass </a:t>
            </a:r>
            <a:r>
              <a:rPr sz="450" spc="10" dirty="0">
                <a:latin typeface="Bookman Uralic"/>
                <a:cs typeface="Bookman Uralic"/>
              </a:rPr>
              <a:t>may </a:t>
            </a:r>
            <a:r>
              <a:rPr sz="450" spc="5" dirty="0">
                <a:latin typeface="Bookman Uralic"/>
                <a:cs typeface="Bookman Uralic"/>
              </a:rPr>
              <a:t>avoid </a:t>
            </a:r>
            <a:r>
              <a:rPr sz="450" spc="10" dirty="0">
                <a:latin typeface="Bookman Uralic"/>
                <a:cs typeface="Bookman Uralic"/>
              </a:rPr>
              <a:t>or </a:t>
            </a:r>
            <a:r>
              <a:rPr sz="450" spc="5" dirty="0">
                <a:latin typeface="Bookman Uralic"/>
                <a:cs typeface="Bookman Uralic"/>
              </a:rPr>
              <a:t>reduce </a:t>
            </a:r>
            <a:r>
              <a:rPr sz="450" spc="10" dirty="0">
                <a:latin typeface="Bookman Uralic"/>
                <a:cs typeface="Bookman Uralic"/>
              </a:rPr>
              <a:t>the </a:t>
            </a:r>
            <a:r>
              <a:rPr sz="450" spc="5" dirty="0">
                <a:latin typeface="Bookman Uralic"/>
                <a:cs typeface="Bookman Uralic"/>
              </a:rPr>
              <a:t>problems </a:t>
            </a:r>
            <a:r>
              <a:rPr sz="450" spc="10" dirty="0">
                <a:latin typeface="Bookman Uralic"/>
                <a:cs typeface="Bookman Uralic"/>
              </a:rPr>
              <a:t>of </a:t>
            </a:r>
            <a:r>
              <a:rPr sz="450" spc="5" dirty="0">
                <a:latin typeface="Bookman Uralic"/>
                <a:cs typeface="Bookman Uralic"/>
              </a:rPr>
              <a:t>waste disposal in  </a:t>
            </a:r>
            <a:r>
              <a:rPr sz="450" spc="10" dirty="0">
                <a:latin typeface="Bookman Uralic"/>
                <a:cs typeface="Bookman Uralic"/>
              </a:rPr>
              <a:t>other </a:t>
            </a:r>
            <a:r>
              <a:rPr sz="450" spc="5" dirty="0">
                <a:latin typeface="Bookman Uralic"/>
                <a:cs typeface="Bookman Uralic"/>
              </a:rPr>
              <a:t>industries, particularly municipal solid waste in urban</a:t>
            </a:r>
            <a:r>
              <a:rPr sz="450" spc="-4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centers.</a:t>
            </a:r>
            <a:endParaRPr sz="450">
              <a:latin typeface="Bookman Uralic"/>
              <a:cs typeface="Bookman Uralic"/>
            </a:endParaRPr>
          </a:p>
          <a:p>
            <a:pPr marL="82550" marR="6985" indent="-70485">
              <a:lnSpc>
                <a:spcPct val="104000"/>
              </a:lnSpc>
              <a:spcBef>
                <a:spcPts val="85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Varying capacity can be installed; </a:t>
            </a:r>
            <a:r>
              <a:rPr sz="450" spc="10" dirty="0">
                <a:latin typeface="Bookman Uralic"/>
                <a:cs typeface="Bookman Uralic"/>
              </a:rPr>
              <a:t>any </a:t>
            </a:r>
            <a:r>
              <a:rPr sz="450" spc="5" dirty="0">
                <a:latin typeface="Bookman Uralic"/>
                <a:cs typeface="Bookman Uralic"/>
              </a:rPr>
              <a:t>capacity can be operated, </a:t>
            </a:r>
            <a:r>
              <a:rPr sz="450" spc="10" dirty="0">
                <a:latin typeface="Bookman Uralic"/>
                <a:cs typeface="Bookman Uralic"/>
              </a:rPr>
              <a:t>even </a:t>
            </a:r>
            <a:r>
              <a:rPr sz="450" spc="5" dirty="0">
                <a:latin typeface="Bookman Uralic"/>
                <a:cs typeface="Bookman Uralic"/>
              </a:rPr>
              <a:t>at lower loads,  with </a:t>
            </a:r>
            <a:r>
              <a:rPr sz="450" spc="10" dirty="0">
                <a:latin typeface="Bookman Uralic"/>
                <a:cs typeface="Bookman Uralic"/>
              </a:rPr>
              <a:t>no </a:t>
            </a:r>
            <a:r>
              <a:rPr sz="450" spc="5" dirty="0">
                <a:latin typeface="Bookman Uralic"/>
                <a:cs typeface="Bookman Uralic"/>
              </a:rPr>
              <a:t>seasonality</a:t>
            </a:r>
            <a:r>
              <a:rPr sz="450" spc="-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involved.</a:t>
            </a:r>
            <a:endParaRPr sz="450">
              <a:latin typeface="Bookman Uralic"/>
              <a:cs typeface="Bookman Uralic"/>
            </a:endParaRPr>
          </a:p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450" b="1" i="1" spc="10" dirty="0">
                <a:solidFill>
                  <a:srgbClr val="006FC0"/>
                </a:solidFill>
                <a:latin typeface="TeX Gyre Bonum"/>
                <a:cs typeface="TeX Gyre Bonum"/>
              </a:rPr>
              <a:t>Disadvantages </a:t>
            </a:r>
            <a:r>
              <a:rPr sz="450" b="1" i="1" spc="5" dirty="0">
                <a:solidFill>
                  <a:srgbClr val="006FC0"/>
                </a:solidFill>
                <a:latin typeface="TeX Gyre Bonum"/>
                <a:cs typeface="TeX Gyre Bonum"/>
              </a:rPr>
              <a:t>of biomass </a:t>
            </a:r>
            <a:r>
              <a:rPr sz="450" b="1" i="1" spc="10" dirty="0">
                <a:solidFill>
                  <a:srgbClr val="006FC0"/>
                </a:solidFill>
                <a:latin typeface="TeX Gyre Bonum"/>
                <a:cs typeface="TeX Gyre Bonum"/>
              </a:rPr>
              <a:t>energy</a:t>
            </a:r>
            <a:endParaRPr sz="450">
              <a:latin typeface="TeX Gyre Bonum"/>
              <a:cs typeface="TeX Gyre Bonum"/>
            </a:endParaRPr>
          </a:p>
          <a:p>
            <a:pPr marL="82550" indent="-7048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83185" algn="l"/>
              </a:tabLst>
            </a:pPr>
            <a:r>
              <a:rPr sz="450" spc="10" dirty="0">
                <a:latin typeface="Bookman Uralic"/>
                <a:cs typeface="Bookman Uralic"/>
              </a:rPr>
              <a:t>Biomass </a:t>
            </a:r>
            <a:r>
              <a:rPr sz="450" spc="5" dirty="0">
                <a:latin typeface="Bookman Uralic"/>
                <a:cs typeface="Bookman Uralic"/>
              </a:rPr>
              <a:t>source is often of </a:t>
            </a:r>
            <a:r>
              <a:rPr sz="450" spc="10" dirty="0">
                <a:latin typeface="Bookman Uralic"/>
                <a:cs typeface="Bookman Uralic"/>
              </a:rPr>
              <a:t>low energy</a:t>
            </a:r>
            <a:r>
              <a:rPr sz="450" spc="-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density.</a:t>
            </a:r>
            <a:endParaRPr sz="450">
              <a:latin typeface="Bookman Uralic"/>
              <a:cs typeface="Bookman Uralic"/>
            </a:endParaRPr>
          </a:p>
          <a:p>
            <a:pPr marL="82550" indent="-7048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83185" algn="l"/>
              </a:tabLst>
            </a:pPr>
            <a:r>
              <a:rPr sz="450" spc="10" dirty="0">
                <a:latin typeface="Bookman Uralic"/>
                <a:cs typeface="Bookman Uralic"/>
              </a:rPr>
              <a:t>Methane </a:t>
            </a:r>
            <a:r>
              <a:rPr sz="450" spc="5" dirty="0">
                <a:latin typeface="Bookman Uralic"/>
                <a:cs typeface="Bookman Uralic"/>
              </a:rPr>
              <a:t>gases produced using biomass is harmful to the </a:t>
            </a:r>
            <a:r>
              <a:rPr sz="450" spc="25" dirty="0">
                <a:latin typeface="Georgia" panose="02040502050405020303"/>
                <a:cs typeface="Georgia" panose="02040502050405020303"/>
              </a:rPr>
              <a:t>Earth’s </a:t>
            </a:r>
            <a:r>
              <a:rPr sz="450" spc="10" dirty="0">
                <a:latin typeface="Bookman Uralic"/>
                <a:cs typeface="Bookman Uralic"/>
              </a:rPr>
              <a:t>ozone</a:t>
            </a:r>
            <a:r>
              <a:rPr sz="450" spc="5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layer.</a:t>
            </a:r>
            <a:endParaRPr sz="450">
              <a:latin typeface="Bookman Uralic"/>
              <a:cs typeface="Bookman Uralic"/>
            </a:endParaRPr>
          </a:p>
          <a:p>
            <a:pPr marL="82550" indent="-7048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Capacity is </a:t>
            </a:r>
            <a:r>
              <a:rPr sz="450" spc="10" dirty="0">
                <a:latin typeface="Bookman Uralic"/>
                <a:cs typeface="Bookman Uralic"/>
              </a:rPr>
              <a:t>determined </a:t>
            </a:r>
            <a:r>
              <a:rPr sz="450" spc="5" dirty="0">
                <a:latin typeface="Bookman Uralic"/>
                <a:cs typeface="Bookman Uralic"/>
              </a:rPr>
              <a:t>by availability of biomass </a:t>
            </a:r>
            <a:r>
              <a:rPr sz="450" spc="10" dirty="0">
                <a:latin typeface="Bookman Uralic"/>
                <a:cs typeface="Bookman Uralic"/>
              </a:rPr>
              <a:t>and </a:t>
            </a:r>
            <a:r>
              <a:rPr sz="450" spc="5" dirty="0">
                <a:latin typeface="Bookman Uralic"/>
                <a:cs typeface="Bookman Uralic"/>
              </a:rPr>
              <a:t>not suitable </a:t>
            </a:r>
            <a:r>
              <a:rPr sz="450" dirty="0">
                <a:latin typeface="Bookman Uralic"/>
                <a:cs typeface="Bookman Uralic"/>
              </a:rPr>
              <a:t>for </a:t>
            </a:r>
            <a:r>
              <a:rPr sz="450" spc="5" dirty="0">
                <a:latin typeface="Bookman Uralic"/>
                <a:cs typeface="Bookman Uralic"/>
              </a:rPr>
              <a:t>varying</a:t>
            </a:r>
            <a:r>
              <a:rPr sz="450" spc="-1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loads.</a:t>
            </a:r>
            <a:endParaRPr sz="450">
              <a:latin typeface="Bookman Uralic"/>
              <a:cs typeface="Bookman Uralic"/>
            </a:endParaRPr>
          </a:p>
          <a:p>
            <a:pPr marL="82550" indent="-7048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It is not feasible to set </a:t>
            </a:r>
            <a:r>
              <a:rPr sz="450" spc="10" dirty="0">
                <a:latin typeface="Bookman Uralic"/>
                <a:cs typeface="Bookman Uralic"/>
              </a:rPr>
              <a:t>up </a:t>
            </a:r>
            <a:r>
              <a:rPr sz="450" spc="5" dirty="0">
                <a:latin typeface="Bookman Uralic"/>
                <a:cs typeface="Bookman Uralic"/>
              </a:rPr>
              <a:t>at all</a:t>
            </a:r>
            <a:r>
              <a:rPr sz="450" spc="-3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locations.</a:t>
            </a:r>
            <a:endParaRPr sz="450">
              <a:latin typeface="Bookman Uralic"/>
              <a:cs typeface="Bookman Uralic"/>
            </a:endParaRPr>
          </a:p>
          <a:p>
            <a:pPr marL="82550" indent="-7048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Transportation of biogas </a:t>
            </a:r>
            <a:r>
              <a:rPr sz="450" spc="10" dirty="0">
                <a:latin typeface="Bookman Uralic"/>
                <a:cs typeface="Bookman Uralic"/>
              </a:rPr>
              <a:t>through </a:t>
            </a:r>
            <a:r>
              <a:rPr sz="450" spc="5" dirty="0">
                <a:latin typeface="Bookman Uralic"/>
                <a:cs typeface="Bookman Uralic"/>
              </a:rPr>
              <a:t>pipe over long distances is </a:t>
            </a:r>
            <a:r>
              <a:rPr sz="450" dirty="0">
                <a:latin typeface="Bookman Uralic"/>
                <a:cs typeface="Bookman Uralic"/>
              </a:rPr>
              <a:t>difficult.</a:t>
            </a:r>
            <a:endParaRPr sz="450">
              <a:latin typeface="Bookman Uralic"/>
              <a:cs typeface="Bookman Uralic"/>
            </a:endParaRPr>
          </a:p>
          <a:p>
            <a:pPr marL="82550" indent="-7048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83185" algn="l"/>
              </a:tabLst>
            </a:pPr>
            <a:r>
              <a:rPr sz="450" spc="5" dirty="0">
                <a:latin typeface="Bookman Uralic"/>
                <a:cs typeface="Bookman Uralic"/>
              </a:rPr>
              <a:t>Crops which are </a:t>
            </a:r>
            <a:r>
              <a:rPr sz="450" spc="10" dirty="0">
                <a:latin typeface="Bookman Uralic"/>
                <a:cs typeface="Bookman Uralic"/>
              </a:rPr>
              <a:t>used </a:t>
            </a:r>
            <a:r>
              <a:rPr sz="450" spc="5" dirty="0">
                <a:latin typeface="Bookman Uralic"/>
                <a:cs typeface="Bookman Uralic"/>
              </a:rPr>
              <a:t>to produce biomass </a:t>
            </a:r>
            <a:r>
              <a:rPr sz="450" spc="10" dirty="0">
                <a:latin typeface="Bookman Uralic"/>
                <a:cs typeface="Bookman Uralic"/>
              </a:rPr>
              <a:t>energy </a:t>
            </a:r>
            <a:r>
              <a:rPr sz="450" spc="5" dirty="0">
                <a:latin typeface="Bookman Uralic"/>
                <a:cs typeface="Bookman Uralic"/>
              </a:rPr>
              <a:t>are seasonal.</a:t>
            </a:r>
            <a:endParaRPr sz="450">
              <a:latin typeface="Bookman Uralic"/>
              <a:cs typeface="Bookman Uralic"/>
            </a:endParaRPr>
          </a:p>
          <a:p>
            <a:pPr marL="82550" indent="-7048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83185" algn="l"/>
              </a:tabLst>
            </a:pPr>
            <a:r>
              <a:rPr sz="450" spc="10" dirty="0">
                <a:latin typeface="Bookman Uralic"/>
                <a:cs typeface="Bookman Uralic"/>
              </a:rPr>
              <a:t>A</a:t>
            </a:r>
            <a:r>
              <a:rPr sz="450" spc="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large</a:t>
            </a:r>
            <a:r>
              <a:rPr sz="450" spc="2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number</a:t>
            </a:r>
            <a:r>
              <a:rPr sz="450" spc="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of</a:t>
            </a:r>
            <a:r>
              <a:rPr sz="450" spc="1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trees</a:t>
            </a:r>
            <a:r>
              <a:rPr sz="450" spc="1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are</a:t>
            </a:r>
            <a:r>
              <a:rPr sz="450" spc="3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being</a:t>
            </a:r>
            <a:r>
              <a:rPr sz="450" spc="1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cut</a:t>
            </a:r>
            <a:r>
              <a:rPr sz="450" spc="1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down</a:t>
            </a:r>
            <a:r>
              <a:rPr sz="450" spc="2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in</a:t>
            </a:r>
            <a:r>
              <a:rPr sz="450" spc="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order</a:t>
            </a:r>
            <a:r>
              <a:rPr sz="450" spc="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to</a:t>
            </a:r>
            <a:r>
              <a:rPr sz="450" spc="1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produce</a:t>
            </a:r>
            <a:r>
              <a:rPr sz="450" spc="25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power.</a:t>
            </a:r>
            <a:r>
              <a:rPr sz="450" spc="25" dirty="0">
                <a:latin typeface="Bookman Uralic"/>
                <a:cs typeface="Bookman Uralic"/>
              </a:rPr>
              <a:t> </a:t>
            </a:r>
            <a:r>
              <a:rPr sz="450" spc="10" dirty="0">
                <a:latin typeface="Bookman Uralic"/>
                <a:cs typeface="Bookman Uralic"/>
              </a:rPr>
              <a:t>Continuing</a:t>
            </a:r>
            <a:r>
              <a:rPr sz="450" spc="20" dirty="0">
                <a:latin typeface="Bookman Uralic"/>
                <a:cs typeface="Bookman Uralic"/>
              </a:rPr>
              <a:t> </a:t>
            </a:r>
            <a:r>
              <a:rPr sz="450" spc="5" dirty="0">
                <a:latin typeface="Bookman Uralic"/>
                <a:cs typeface="Bookman Uralic"/>
              </a:rPr>
              <a:t>to</a:t>
            </a:r>
            <a:endParaRPr sz="45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626" y="1844548"/>
            <a:ext cx="2108200" cy="97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50" spc="5" dirty="0">
                <a:latin typeface="Bookman Uralic"/>
                <a:cs typeface="Bookman Uralic"/>
              </a:rPr>
              <a:t>operate </a:t>
            </a:r>
            <a:r>
              <a:rPr sz="450" spc="10" dirty="0">
                <a:latin typeface="Bookman Uralic"/>
                <a:cs typeface="Bookman Uralic"/>
              </a:rPr>
              <a:t>on </a:t>
            </a:r>
            <a:r>
              <a:rPr sz="450" spc="5" dirty="0">
                <a:latin typeface="Bookman Uralic"/>
                <a:cs typeface="Bookman Uralic"/>
              </a:rPr>
              <a:t>such </a:t>
            </a:r>
            <a:r>
              <a:rPr sz="450" spc="10" dirty="0">
                <a:latin typeface="Bookman Uralic"/>
                <a:cs typeface="Bookman Uralic"/>
              </a:rPr>
              <a:t>a </a:t>
            </a:r>
            <a:r>
              <a:rPr sz="450" spc="5" dirty="0">
                <a:latin typeface="Bookman Uralic"/>
                <a:cs typeface="Bookman Uralic"/>
              </a:rPr>
              <a:t>large scale will </a:t>
            </a:r>
            <a:r>
              <a:rPr sz="450" spc="10" dirty="0">
                <a:latin typeface="Bookman Uralic"/>
                <a:cs typeface="Bookman Uralic"/>
              </a:rPr>
              <a:t>eventually </a:t>
            </a:r>
            <a:r>
              <a:rPr sz="450" spc="5" dirty="0">
                <a:latin typeface="Bookman Uralic"/>
                <a:cs typeface="Bookman Uralic"/>
              </a:rPr>
              <a:t>result in the deforestation.</a:t>
            </a:r>
            <a:endParaRPr sz="450">
              <a:latin typeface="Bookman Uralic"/>
              <a:cs typeface="Bookman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3905" marR="5080" indent="-408940">
              <a:lnSpc>
                <a:spcPct val="103000"/>
              </a:lnSpc>
              <a:spcBef>
                <a:spcPts val="90"/>
              </a:spcBef>
            </a:pPr>
            <a:r>
              <a:rPr sz="1150" spc="15" dirty="0"/>
              <a:t>Biomass</a:t>
            </a:r>
            <a:r>
              <a:rPr sz="1150" spc="-85" dirty="0"/>
              <a:t> </a:t>
            </a:r>
            <a:r>
              <a:rPr sz="1150" spc="10" dirty="0"/>
              <a:t>Conversion  Processes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22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67640" y="469391"/>
              <a:ext cx="2412491" cy="1461388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731" y="4064"/>
            <a:ext cx="23387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Biomass conversion</a:t>
            </a:r>
            <a:r>
              <a:rPr sz="1050" spc="-130" dirty="0"/>
              <a:t> </a:t>
            </a:r>
            <a:r>
              <a:rPr sz="1050" dirty="0"/>
              <a:t>technologies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2449829" y="1878583"/>
            <a:ext cx="838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b="1" spc="-10" dirty="0">
                <a:latin typeface="Bookman Uralic"/>
                <a:cs typeface="Bookman Uralic"/>
              </a:rPr>
              <a:t>21</a:t>
            </a:r>
            <a:endParaRPr sz="35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4772" y="381134"/>
            <a:ext cx="0" cy="401320"/>
          </a:xfrm>
          <a:custGeom>
            <a:avLst/>
            <a:gdLst/>
            <a:ahLst/>
            <a:cxnLst/>
            <a:rect l="l" t="t" r="r" b="b"/>
            <a:pathLst>
              <a:path h="401320">
                <a:moveTo>
                  <a:pt x="0" y="0"/>
                </a:moveTo>
                <a:lnTo>
                  <a:pt x="0" y="401093"/>
                </a:lnTo>
              </a:path>
            </a:pathLst>
          </a:custGeom>
          <a:ln w="75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7314" y="346606"/>
            <a:ext cx="676910" cy="69850"/>
          </a:xfrm>
          <a:prstGeom prst="rect">
            <a:avLst/>
          </a:prstGeom>
          <a:ln w="591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Thermo-chemical</a:t>
            </a:r>
            <a:r>
              <a:rPr sz="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40" dirty="0">
                <a:latin typeface="Times New Roman" panose="02020603050405020304"/>
                <a:cs typeface="Times New Roman" panose="02020603050405020304"/>
              </a:rPr>
              <a:t>conversion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1597" y="221501"/>
            <a:ext cx="864869" cy="320040"/>
            <a:chOff x="551597" y="221501"/>
            <a:chExt cx="864869" cy="320040"/>
          </a:xfrm>
        </p:grpSpPr>
        <p:sp>
          <p:nvSpPr>
            <p:cNvPr id="7" name="object 7"/>
            <p:cNvSpPr/>
            <p:nvPr/>
          </p:nvSpPr>
          <p:spPr>
            <a:xfrm>
              <a:off x="554772" y="381379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22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7179" y="368419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5" h="26035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23598" y="225311"/>
              <a:ext cx="89535" cy="312420"/>
            </a:xfrm>
            <a:custGeom>
              <a:avLst/>
              <a:gdLst/>
              <a:ahLst/>
              <a:cxnLst/>
              <a:rect l="l" t="t" r="r" b="b"/>
              <a:pathLst>
                <a:path w="89534" h="312420">
                  <a:moveTo>
                    <a:pt x="88963" y="156068"/>
                  </a:moveTo>
                  <a:lnTo>
                    <a:pt x="0" y="156068"/>
                  </a:lnTo>
                </a:path>
                <a:path w="89534" h="312420">
                  <a:moveTo>
                    <a:pt x="88963" y="0"/>
                  </a:moveTo>
                  <a:lnTo>
                    <a:pt x="88963" y="312185"/>
                  </a:lnTo>
                </a:path>
              </a:pathLst>
            </a:custGeom>
            <a:ln w="6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05103" y="293929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5"/>
              </a:spcBef>
            </a:pPr>
            <a:r>
              <a:rPr sz="300" spc="35" dirty="0">
                <a:latin typeface="Times New Roman" panose="02020603050405020304"/>
                <a:cs typeface="Times New Roman" panose="02020603050405020304"/>
              </a:rPr>
              <a:t>Pyrolysis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09386" y="315790"/>
            <a:ext cx="92710" cy="234950"/>
            <a:chOff x="1409386" y="315790"/>
            <a:chExt cx="92710" cy="234950"/>
          </a:xfrm>
        </p:grpSpPr>
        <p:sp>
          <p:nvSpPr>
            <p:cNvPr id="12" name="object 12"/>
            <p:cNvSpPr/>
            <p:nvPr/>
          </p:nvSpPr>
          <p:spPr>
            <a:xfrm>
              <a:off x="1412561" y="328751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84949" y="315790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5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12561" y="433124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84949" y="420163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12561" y="537497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84949" y="524536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05103" y="398302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65"/>
              </a:spcBef>
            </a:pPr>
            <a:r>
              <a:rPr sz="300" spc="35" dirty="0">
                <a:latin typeface="Times New Roman" panose="02020603050405020304"/>
                <a:cs typeface="Times New Roman" panose="02020603050405020304"/>
              </a:rPr>
              <a:t>Gasification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5103" y="502675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Liquefaction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68216" y="315790"/>
            <a:ext cx="92710" cy="234950"/>
            <a:chOff x="1968216" y="315790"/>
            <a:chExt cx="92710" cy="234950"/>
          </a:xfrm>
        </p:grpSpPr>
        <p:sp>
          <p:nvSpPr>
            <p:cNvPr id="21" name="object 21"/>
            <p:cNvSpPr/>
            <p:nvPr/>
          </p:nvSpPr>
          <p:spPr>
            <a:xfrm>
              <a:off x="1971391" y="328751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43779" y="315790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5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71391" y="433124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43779" y="420163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971391" y="537497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043779" y="524536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063932" y="189556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65"/>
              </a:spcBef>
            </a:pPr>
            <a:r>
              <a:rPr sz="300" spc="35" dirty="0">
                <a:latin typeface="Times New Roman" panose="02020603050405020304"/>
                <a:cs typeface="Times New Roman" panose="02020603050405020304"/>
              </a:rPr>
              <a:t>Electric</a:t>
            </a:r>
            <a:r>
              <a:rPr sz="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45" dirty="0">
                <a:latin typeface="Times New Roman" panose="02020603050405020304"/>
                <a:cs typeface="Times New Roman" panose="02020603050405020304"/>
              </a:rPr>
              <a:t>power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63932" y="293929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64770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Char, </a:t>
            </a:r>
            <a:r>
              <a:rPr sz="300" spc="25" dirty="0">
                <a:latin typeface="Times New Roman" panose="02020603050405020304"/>
                <a:cs typeface="Times New Roman" panose="02020603050405020304"/>
              </a:rPr>
              <a:t>oil,</a:t>
            </a:r>
            <a:r>
              <a:rPr sz="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40" dirty="0">
                <a:latin typeface="Times New Roman" panose="02020603050405020304"/>
                <a:cs typeface="Times New Roman" panose="02020603050405020304"/>
              </a:rPr>
              <a:t>biogas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63932" y="398302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Producer</a:t>
            </a:r>
            <a:r>
              <a:rPr sz="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40" dirty="0">
                <a:latin typeface="Times New Roman" panose="02020603050405020304"/>
                <a:cs typeface="Times New Roman" panose="02020603050405020304"/>
              </a:rPr>
              <a:t>gas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63932" y="502675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Liquid</a:t>
            </a:r>
            <a:r>
              <a:rPr sz="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35" dirty="0">
                <a:latin typeface="Times New Roman" panose="02020603050405020304"/>
                <a:cs typeface="Times New Roman" panose="02020603050405020304"/>
              </a:rPr>
              <a:t>fuel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09386" y="211418"/>
            <a:ext cx="92710" cy="26034"/>
            <a:chOff x="1409386" y="211418"/>
            <a:chExt cx="92710" cy="26034"/>
          </a:xfrm>
        </p:grpSpPr>
        <p:sp>
          <p:nvSpPr>
            <p:cNvPr id="32" name="object 32"/>
            <p:cNvSpPr/>
            <p:nvPr/>
          </p:nvSpPr>
          <p:spPr>
            <a:xfrm>
              <a:off x="1412561" y="224378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484949" y="211418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5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505103" y="189556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5"/>
              </a:spcBef>
            </a:pPr>
            <a:r>
              <a:rPr sz="300" spc="45" dirty="0">
                <a:latin typeface="Times New Roman" panose="02020603050405020304"/>
                <a:cs typeface="Times New Roman" panose="02020603050405020304"/>
              </a:rPr>
              <a:t>Combustion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51597" y="211418"/>
            <a:ext cx="1508760" cy="985519"/>
            <a:chOff x="551597" y="211418"/>
            <a:chExt cx="1508760" cy="985519"/>
          </a:xfrm>
        </p:grpSpPr>
        <p:sp>
          <p:nvSpPr>
            <p:cNvPr id="36" name="object 36"/>
            <p:cNvSpPr/>
            <p:nvPr/>
          </p:nvSpPr>
          <p:spPr>
            <a:xfrm>
              <a:off x="554772" y="1183567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22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27179" y="1170606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5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71391" y="224378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043779" y="211418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5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47314" y="1148779"/>
            <a:ext cx="676910" cy="69850"/>
          </a:xfrm>
          <a:prstGeom prst="rect">
            <a:avLst/>
          </a:prstGeom>
          <a:ln w="591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Agro-chemical</a:t>
            </a:r>
            <a:r>
              <a:rPr sz="3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40" dirty="0">
                <a:latin typeface="Times New Roman" panose="02020603050405020304"/>
                <a:cs typeface="Times New Roman" panose="02020603050405020304"/>
              </a:rPr>
              <a:t>conversion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20988" y="1170606"/>
            <a:ext cx="180975" cy="26034"/>
            <a:chOff x="1320988" y="1170606"/>
            <a:chExt cx="180975" cy="26034"/>
          </a:xfrm>
        </p:grpSpPr>
        <p:sp>
          <p:nvSpPr>
            <p:cNvPr id="42" name="object 42"/>
            <p:cNvSpPr/>
            <p:nvPr/>
          </p:nvSpPr>
          <p:spPr>
            <a:xfrm>
              <a:off x="1324163" y="1183567"/>
              <a:ext cx="165100" cy="0"/>
            </a:xfrm>
            <a:custGeom>
              <a:avLst/>
              <a:gdLst/>
              <a:ahLst/>
              <a:cxnLst/>
              <a:rect l="l" t="t" r="r" b="b"/>
              <a:pathLst>
                <a:path w="165100">
                  <a:moveTo>
                    <a:pt x="0" y="0"/>
                  </a:moveTo>
                  <a:lnTo>
                    <a:pt x="164490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485326" y="1170606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505103" y="1148779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5"/>
              </a:spcBef>
            </a:pPr>
            <a:r>
              <a:rPr sz="300" spc="35" dirty="0">
                <a:latin typeface="Times New Roman" panose="02020603050405020304"/>
                <a:cs typeface="Times New Roman" panose="02020603050405020304"/>
              </a:rPr>
              <a:t>Transesterification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68216" y="1170606"/>
            <a:ext cx="92710" cy="26034"/>
            <a:chOff x="1968216" y="1170606"/>
            <a:chExt cx="92710" cy="26034"/>
          </a:xfrm>
        </p:grpSpPr>
        <p:sp>
          <p:nvSpPr>
            <p:cNvPr id="46" name="object 46"/>
            <p:cNvSpPr/>
            <p:nvPr/>
          </p:nvSpPr>
          <p:spPr>
            <a:xfrm>
              <a:off x="1971391" y="1183567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43779" y="1170606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2063932" y="1148779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65"/>
              </a:spcBef>
            </a:pPr>
            <a:r>
              <a:rPr sz="300" spc="35" dirty="0">
                <a:latin typeface="Times New Roman" panose="02020603050405020304"/>
                <a:cs typeface="Times New Roman" panose="02020603050405020304"/>
              </a:rPr>
              <a:t>Bio-diesel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4513" y="747680"/>
            <a:ext cx="356235" cy="69850"/>
          </a:xfrm>
          <a:prstGeom prst="rect">
            <a:avLst/>
          </a:prstGeom>
          <a:ln w="5987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5"/>
              </a:spcBef>
            </a:pPr>
            <a:r>
              <a:rPr sz="300" spc="45" dirty="0">
                <a:latin typeface="Times New Roman" panose="02020603050405020304"/>
                <a:cs typeface="Times New Roman" panose="02020603050405020304"/>
              </a:rPr>
              <a:t>Biomass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65784" y="782473"/>
            <a:ext cx="946785" cy="104775"/>
          </a:xfrm>
          <a:custGeom>
            <a:avLst/>
            <a:gdLst/>
            <a:ahLst/>
            <a:cxnLst/>
            <a:rect l="l" t="t" r="r" b="b"/>
            <a:pathLst>
              <a:path w="946785" h="104775">
                <a:moveTo>
                  <a:pt x="88988" y="0"/>
                </a:moveTo>
                <a:lnTo>
                  <a:pt x="0" y="0"/>
                </a:lnTo>
              </a:path>
              <a:path w="946785" h="104775">
                <a:moveTo>
                  <a:pt x="946777" y="0"/>
                </a:moveTo>
                <a:lnTo>
                  <a:pt x="946777" y="104372"/>
                </a:lnTo>
              </a:path>
            </a:pathLst>
          </a:custGeom>
          <a:ln w="67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505103" y="643327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Anaerobic</a:t>
            </a:r>
            <a:r>
              <a:rPr sz="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35" dirty="0">
                <a:latin typeface="Times New Roman" panose="02020603050405020304"/>
                <a:cs typeface="Times New Roman" panose="02020603050405020304"/>
              </a:rPr>
              <a:t>digestion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409386" y="665140"/>
            <a:ext cx="92710" cy="234950"/>
            <a:chOff x="1409386" y="665140"/>
            <a:chExt cx="92710" cy="234950"/>
          </a:xfrm>
        </p:grpSpPr>
        <p:sp>
          <p:nvSpPr>
            <p:cNvPr id="53" name="object 53"/>
            <p:cNvSpPr/>
            <p:nvPr/>
          </p:nvSpPr>
          <p:spPr>
            <a:xfrm>
              <a:off x="1412561" y="782473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484949" y="769512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412561" y="88684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484949" y="873885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412561" y="678100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484949" y="665140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505103" y="747680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52070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Aerobic</a:t>
            </a:r>
            <a:r>
              <a:rPr sz="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35" dirty="0">
                <a:latin typeface="Times New Roman" panose="02020603050405020304"/>
                <a:cs typeface="Times New Roman" panose="02020603050405020304"/>
              </a:rPr>
              <a:t>digestion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05103" y="852053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Fermentation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408751" y="665140"/>
            <a:ext cx="652145" cy="121285"/>
            <a:chOff x="1408751" y="665140"/>
            <a:chExt cx="652145" cy="121285"/>
          </a:xfrm>
        </p:grpSpPr>
        <p:sp>
          <p:nvSpPr>
            <p:cNvPr id="62" name="object 62"/>
            <p:cNvSpPr/>
            <p:nvPr/>
          </p:nvSpPr>
          <p:spPr>
            <a:xfrm>
              <a:off x="1412561" y="678100"/>
              <a:ext cx="635000" cy="104775"/>
            </a:xfrm>
            <a:custGeom>
              <a:avLst/>
              <a:gdLst/>
              <a:ahLst/>
              <a:cxnLst/>
              <a:rect l="l" t="t" r="r" b="b"/>
              <a:pathLst>
                <a:path w="635000" h="104775">
                  <a:moveTo>
                    <a:pt x="0" y="0"/>
                  </a:moveTo>
                  <a:lnTo>
                    <a:pt x="0" y="104372"/>
                  </a:lnTo>
                </a:path>
                <a:path w="635000" h="104775">
                  <a:moveTo>
                    <a:pt x="558829" y="0"/>
                  </a:moveTo>
                  <a:lnTo>
                    <a:pt x="634545" y="0"/>
                  </a:lnTo>
                </a:path>
              </a:pathLst>
            </a:custGeom>
            <a:ln w="67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043779" y="665140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647314" y="747680"/>
            <a:ext cx="676910" cy="69850"/>
          </a:xfrm>
          <a:prstGeom prst="rect">
            <a:avLst/>
          </a:prstGeom>
          <a:ln w="591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Bio-chemical</a:t>
            </a:r>
            <a:r>
              <a:rPr sz="3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spc="40" dirty="0">
                <a:latin typeface="Times New Roman" panose="02020603050405020304"/>
                <a:cs typeface="Times New Roman" panose="02020603050405020304"/>
              </a:rPr>
              <a:t>conversion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51597" y="769512"/>
            <a:ext cx="866140" cy="26034"/>
            <a:chOff x="551597" y="769512"/>
            <a:chExt cx="866140" cy="26034"/>
          </a:xfrm>
        </p:grpSpPr>
        <p:sp>
          <p:nvSpPr>
            <p:cNvPr id="66" name="object 66"/>
            <p:cNvSpPr/>
            <p:nvPr/>
          </p:nvSpPr>
          <p:spPr>
            <a:xfrm>
              <a:off x="554772" y="782473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22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27179" y="769512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5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325230" y="782473"/>
              <a:ext cx="89535" cy="0"/>
            </a:xfrm>
            <a:custGeom>
              <a:avLst/>
              <a:gdLst/>
              <a:ahLst/>
              <a:cxnLst/>
              <a:rect l="l" t="t" r="r" b="b"/>
              <a:pathLst>
                <a:path w="89534">
                  <a:moveTo>
                    <a:pt x="0" y="0"/>
                  </a:moveTo>
                  <a:lnTo>
                    <a:pt x="88963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2063932" y="643327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65"/>
              </a:spcBef>
            </a:pPr>
            <a:r>
              <a:rPr sz="300" spc="45" dirty="0">
                <a:latin typeface="Times New Roman" panose="02020603050405020304"/>
                <a:cs typeface="Times New Roman" panose="02020603050405020304"/>
              </a:rPr>
              <a:t>Methane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968216" y="769512"/>
            <a:ext cx="92710" cy="26034"/>
            <a:chOff x="1968216" y="769512"/>
            <a:chExt cx="92710" cy="26034"/>
          </a:xfrm>
        </p:grpSpPr>
        <p:sp>
          <p:nvSpPr>
            <p:cNvPr id="71" name="object 71"/>
            <p:cNvSpPr/>
            <p:nvPr/>
          </p:nvSpPr>
          <p:spPr>
            <a:xfrm>
              <a:off x="1971391" y="782473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043779" y="769512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2063932" y="747680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65"/>
              </a:spcBef>
            </a:pPr>
            <a:r>
              <a:rPr sz="300" spc="45" dirty="0">
                <a:latin typeface="Times New Roman" panose="02020603050405020304"/>
                <a:cs typeface="Times New Roman" panose="02020603050405020304"/>
              </a:rPr>
              <a:t>Compost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968216" y="873885"/>
            <a:ext cx="92710" cy="26034"/>
            <a:chOff x="1968216" y="873885"/>
            <a:chExt cx="92710" cy="26034"/>
          </a:xfrm>
        </p:grpSpPr>
        <p:sp>
          <p:nvSpPr>
            <p:cNvPr id="75" name="object 75"/>
            <p:cNvSpPr/>
            <p:nvPr/>
          </p:nvSpPr>
          <p:spPr>
            <a:xfrm>
              <a:off x="1971391" y="886846"/>
              <a:ext cx="76200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5716" y="0"/>
                  </a:lnTo>
                </a:path>
              </a:pathLst>
            </a:custGeom>
            <a:ln w="58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043779" y="873885"/>
              <a:ext cx="17145" cy="26034"/>
            </a:xfrm>
            <a:custGeom>
              <a:avLst/>
              <a:gdLst/>
              <a:ahLst/>
              <a:cxnLst/>
              <a:rect l="l" t="t" r="r" b="b"/>
              <a:pathLst>
                <a:path w="17144" h="26034">
                  <a:moveTo>
                    <a:pt x="0" y="0"/>
                  </a:moveTo>
                  <a:lnTo>
                    <a:pt x="0" y="25921"/>
                  </a:lnTo>
                  <a:lnTo>
                    <a:pt x="16574" y="12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2063932" y="852053"/>
            <a:ext cx="462915" cy="69850"/>
          </a:xfrm>
          <a:prstGeom prst="rect">
            <a:avLst/>
          </a:prstGeom>
          <a:ln w="5949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65"/>
              </a:spcBef>
            </a:pPr>
            <a:r>
              <a:rPr sz="300" spc="40" dirty="0">
                <a:latin typeface="Times New Roman" panose="02020603050405020304"/>
                <a:cs typeface="Times New Roman" panose="02020603050405020304"/>
              </a:rPr>
              <a:t>Ethanol</a:t>
            </a:r>
            <a:endParaRPr sz="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54772" y="782473"/>
            <a:ext cx="0" cy="401320"/>
          </a:xfrm>
          <a:custGeom>
            <a:avLst/>
            <a:gdLst/>
            <a:ahLst/>
            <a:cxnLst/>
            <a:rect l="l" t="t" r="r" b="b"/>
            <a:pathLst>
              <a:path h="401319">
                <a:moveTo>
                  <a:pt x="0" y="0"/>
                </a:moveTo>
                <a:lnTo>
                  <a:pt x="0" y="401093"/>
                </a:lnTo>
              </a:path>
            </a:pathLst>
          </a:custGeom>
          <a:ln w="75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81178" y="1203334"/>
            <a:ext cx="2544445" cy="6667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89230" algn="ctr">
              <a:lnSpc>
                <a:spcPct val="100000"/>
              </a:lnSpc>
              <a:spcBef>
                <a:spcPts val="225"/>
              </a:spcBef>
            </a:pPr>
            <a:r>
              <a:rPr sz="300" b="1" i="1" spc="45" dirty="0">
                <a:latin typeface="Times New Roman" panose="02020603050405020304"/>
                <a:cs typeface="Times New Roman" panose="02020603050405020304"/>
              </a:rPr>
              <a:t>Biomass</a:t>
            </a:r>
            <a:r>
              <a:rPr sz="300" b="1" i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" b="1" i="1" spc="40" dirty="0">
                <a:latin typeface="Times New Roman" panose="02020603050405020304"/>
                <a:cs typeface="Times New Roman" panose="02020603050405020304"/>
              </a:rPr>
              <a:t>conversion</a:t>
            </a:r>
            <a:endParaRPr sz="300">
              <a:latin typeface="Times New Roman" panose="02020603050405020304"/>
              <a:cs typeface="Times New Roman" panose="02020603050405020304"/>
            </a:endParaRPr>
          </a:p>
          <a:p>
            <a:pPr marL="96520" marR="5715" indent="-83820" algn="just">
              <a:lnSpc>
                <a:spcPct val="100000"/>
              </a:lnSpc>
              <a:spcBef>
                <a:spcPts val="190"/>
              </a:spcBef>
              <a:buFont typeface="Wingdings" panose="05000000000000000000"/>
              <a:buChar char=""/>
              <a:tabLst>
                <a:tab pos="96520" algn="l"/>
              </a:tabLst>
            </a:pPr>
            <a:r>
              <a:rPr sz="500" spc="-5" dirty="0">
                <a:latin typeface="Bookman Uralic"/>
                <a:cs typeface="Bookman Uralic"/>
              </a:rPr>
              <a:t>Biomass can </a:t>
            </a:r>
            <a:r>
              <a:rPr sz="500" spc="-10" dirty="0">
                <a:latin typeface="Bookman Uralic"/>
                <a:cs typeface="Bookman Uralic"/>
              </a:rPr>
              <a:t>be </a:t>
            </a:r>
            <a:r>
              <a:rPr sz="500" spc="-5" dirty="0">
                <a:latin typeface="Bookman Uralic"/>
                <a:cs typeface="Bookman Uralic"/>
              </a:rPr>
              <a:t>converted into different forms </a:t>
            </a:r>
            <a:r>
              <a:rPr sz="500" dirty="0">
                <a:latin typeface="Bookman Uralic"/>
                <a:cs typeface="Bookman Uralic"/>
              </a:rPr>
              <a:t>of </a:t>
            </a:r>
            <a:r>
              <a:rPr sz="500" spc="-5" dirty="0">
                <a:latin typeface="Bookman Uralic"/>
                <a:cs typeface="Bookman Uralic"/>
              </a:rPr>
              <a:t>energy </a:t>
            </a:r>
            <a:r>
              <a:rPr sz="500" spc="-10" dirty="0">
                <a:latin typeface="Bookman Uralic"/>
                <a:cs typeface="Bookman Uralic"/>
              </a:rPr>
              <a:t>by </a:t>
            </a:r>
            <a:r>
              <a:rPr sz="500" spc="-5" dirty="0">
                <a:latin typeface="Bookman Uralic"/>
                <a:cs typeface="Bookman Uralic"/>
              </a:rPr>
              <a:t>using various  </a:t>
            </a:r>
            <a:r>
              <a:rPr sz="500" dirty="0">
                <a:latin typeface="Bookman Uralic"/>
                <a:cs typeface="Bookman Uralic"/>
              </a:rPr>
              <a:t>processes.</a:t>
            </a:r>
            <a:endParaRPr sz="500">
              <a:latin typeface="Bookman Uralic"/>
              <a:cs typeface="Bookman Uralic"/>
            </a:endParaRPr>
          </a:p>
          <a:p>
            <a:pPr marL="96520" marR="5715" indent="-83820" algn="just">
              <a:lnSpc>
                <a:spcPct val="99000"/>
              </a:lnSpc>
              <a:spcBef>
                <a:spcPts val="90"/>
              </a:spcBef>
              <a:buFont typeface="Wingdings" panose="05000000000000000000"/>
              <a:buChar char=""/>
              <a:tabLst>
                <a:tab pos="96520" algn="l"/>
              </a:tabLst>
            </a:pPr>
            <a:r>
              <a:rPr sz="500" dirty="0">
                <a:latin typeface="Bookman Uralic"/>
                <a:cs typeface="Bookman Uralic"/>
              </a:rPr>
              <a:t>For </a:t>
            </a:r>
            <a:r>
              <a:rPr sz="500" spc="-5" dirty="0">
                <a:latin typeface="Bookman Uralic"/>
                <a:cs typeface="Bookman Uralic"/>
              </a:rPr>
              <a:t>the production </a:t>
            </a:r>
            <a:r>
              <a:rPr sz="500" dirty="0">
                <a:latin typeface="Bookman Uralic"/>
                <a:cs typeface="Bookman Uralic"/>
              </a:rPr>
              <a:t>of </a:t>
            </a:r>
            <a:r>
              <a:rPr sz="500" spc="-5" dirty="0">
                <a:latin typeface="Bookman Uralic"/>
                <a:cs typeface="Bookman Uralic"/>
              </a:rPr>
              <a:t>energy from biomass, the </a:t>
            </a:r>
            <a:r>
              <a:rPr sz="500" dirty="0">
                <a:latin typeface="Bookman Uralic"/>
                <a:cs typeface="Bookman Uralic"/>
              </a:rPr>
              <a:t>term </a:t>
            </a:r>
            <a:r>
              <a:rPr sz="500" b="1" i="1" spc="-5" dirty="0">
                <a:latin typeface="TeX Gyre Bonum"/>
                <a:cs typeface="TeX Gyre Bonum"/>
              </a:rPr>
              <a:t>feedstock </a:t>
            </a:r>
            <a:r>
              <a:rPr sz="500" dirty="0">
                <a:latin typeface="Bookman Uralic"/>
                <a:cs typeface="Bookman Uralic"/>
              </a:rPr>
              <a:t>is </a:t>
            </a:r>
            <a:r>
              <a:rPr sz="500" spc="-5" dirty="0">
                <a:latin typeface="Bookman Uralic"/>
                <a:cs typeface="Bookman Uralic"/>
              </a:rPr>
              <a:t>used </a:t>
            </a:r>
            <a:r>
              <a:rPr sz="500" spc="-15" dirty="0">
                <a:latin typeface="Bookman Uralic"/>
                <a:cs typeface="Bookman Uralic"/>
              </a:rPr>
              <a:t>to  </a:t>
            </a:r>
            <a:r>
              <a:rPr sz="500" spc="-5" dirty="0">
                <a:latin typeface="Bookman Uralic"/>
                <a:cs typeface="Bookman Uralic"/>
              </a:rPr>
              <a:t>refer </a:t>
            </a:r>
            <a:r>
              <a:rPr sz="500" dirty="0">
                <a:latin typeface="Bookman Uralic"/>
                <a:cs typeface="Bookman Uralic"/>
              </a:rPr>
              <a:t>to </a:t>
            </a:r>
            <a:r>
              <a:rPr sz="500" spc="-5" dirty="0">
                <a:latin typeface="Bookman Uralic"/>
                <a:cs typeface="Bookman Uralic"/>
              </a:rPr>
              <a:t>whatever type </a:t>
            </a:r>
            <a:r>
              <a:rPr sz="500" dirty="0">
                <a:latin typeface="Bookman Uralic"/>
                <a:cs typeface="Bookman Uralic"/>
              </a:rPr>
              <a:t>of </a:t>
            </a:r>
            <a:r>
              <a:rPr sz="500" spc="-5" dirty="0">
                <a:latin typeface="Bookman Uralic"/>
                <a:cs typeface="Bookman Uralic"/>
              </a:rPr>
              <a:t>organic material (wood, plants, animal residues, etc.)  </a:t>
            </a:r>
            <a:r>
              <a:rPr sz="500" dirty="0">
                <a:latin typeface="Bookman Uralic"/>
                <a:cs typeface="Bookman Uralic"/>
              </a:rPr>
              <a:t>which</a:t>
            </a:r>
            <a:r>
              <a:rPr sz="500" spc="-30" dirty="0">
                <a:latin typeface="Bookman Uralic"/>
                <a:cs typeface="Bookman Uralic"/>
              </a:rPr>
              <a:t> </a:t>
            </a:r>
            <a:r>
              <a:rPr sz="500" dirty="0">
                <a:latin typeface="Bookman Uralic"/>
                <a:cs typeface="Bookman Uralic"/>
              </a:rPr>
              <a:t>can</a:t>
            </a:r>
            <a:r>
              <a:rPr sz="500" spc="-15" dirty="0">
                <a:latin typeface="Bookman Uralic"/>
                <a:cs typeface="Bookman Uralic"/>
              </a:rPr>
              <a:t> </a:t>
            </a:r>
            <a:r>
              <a:rPr sz="500" spc="-5" dirty="0">
                <a:latin typeface="Bookman Uralic"/>
                <a:cs typeface="Bookman Uralic"/>
              </a:rPr>
              <a:t>be </a:t>
            </a:r>
            <a:r>
              <a:rPr sz="500" dirty="0">
                <a:latin typeface="Bookman Uralic"/>
                <a:cs typeface="Bookman Uralic"/>
              </a:rPr>
              <a:t>used</a:t>
            </a:r>
            <a:r>
              <a:rPr sz="500" spc="-40" dirty="0">
                <a:latin typeface="Bookman Uralic"/>
                <a:cs typeface="Bookman Uralic"/>
              </a:rPr>
              <a:t> </a:t>
            </a:r>
            <a:r>
              <a:rPr sz="500" dirty="0">
                <a:latin typeface="Bookman Uralic"/>
                <a:cs typeface="Bookman Uralic"/>
              </a:rPr>
              <a:t>to produce</a:t>
            </a:r>
            <a:r>
              <a:rPr sz="500" spc="-40" dirty="0">
                <a:latin typeface="Bookman Uralic"/>
                <a:cs typeface="Bookman Uralic"/>
              </a:rPr>
              <a:t> </a:t>
            </a:r>
            <a:r>
              <a:rPr sz="500" dirty="0">
                <a:latin typeface="Bookman Uralic"/>
                <a:cs typeface="Bookman Uralic"/>
              </a:rPr>
              <a:t>a </a:t>
            </a:r>
            <a:r>
              <a:rPr sz="500" spc="-5" dirty="0">
                <a:latin typeface="Bookman Uralic"/>
                <a:cs typeface="Bookman Uralic"/>
              </a:rPr>
              <a:t>form</a:t>
            </a:r>
            <a:r>
              <a:rPr sz="500" spc="-10" dirty="0">
                <a:latin typeface="Bookman Uralic"/>
                <a:cs typeface="Bookman Uralic"/>
              </a:rPr>
              <a:t> </a:t>
            </a:r>
            <a:r>
              <a:rPr sz="500" dirty="0">
                <a:latin typeface="Bookman Uralic"/>
                <a:cs typeface="Bookman Uralic"/>
              </a:rPr>
              <a:t>of</a:t>
            </a:r>
            <a:r>
              <a:rPr sz="500" spc="-25" dirty="0">
                <a:latin typeface="Bookman Uralic"/>
                <a:cs typeface="Bookman Uralic"/>
              </a:rPr>
              <a:t> </a:t>
            </a:r>
            <a:r>
              <a:rPr sz="500" dirty="0">
                <a:latin typeface="Bookman Uralic"/>
                <a:cs typeface="Bookman Uralic"/>
              </a:rPr>
              <a:t>energy.</a:t>
            </a:r>
            <a:endParaRPr sz="500">
              <a:latin typeface="Bookman Uralic"/>
              <a:cs typeface="Bookman Uralic"/>
            </a:endParaRPr>
          </a:p>
          <a:p>
            <a:pPr marL="96520" marR="5080" indent="-83820" algn="just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96520" algn="l"/>
              </a:tabLst>
            </a:pPr>
            <a:r>
              <a:rPr sz="500" spc="-5" dirty="0">
                <a:latin typeface="Bookman Uralic"/>
                <a:cs typeface="Bookman Uralic"/>
              </a:rPr>
              <a:t>Biomass </a:t>
            </a:r>
            <a:r>
              <a:rPr sz="500" dirty="0">
                <a:latin typeface="Bookman Uralic"/>
                <a:cs typeface="Bookman Uralic"/>
              </a:rPr>
              <a:t>can </a:t>
            </a:r>
            <a:r>
              <a:rPr sz="500" spc="-10" dirty="0">
                <a:latin typeface="Bookman Uralic"/>
                <a:cs typeface="Bookman Uralic"/>
              </a:rPr>
              <a:t>be </a:t>
            </a:r>
            <a:r>
              <a:rPr sz="500" spc="-5" dirty="0">
                <a:latin typeface="Bookman Uralic"/>
                <a:cs typeface="Bookman Uralic"/>
              </a:rPr>
              <a:t>converted into three main products, viz., </a:t>
            </a:r>
            <a:r>
              <a:rPr sz="500" b="1" i="1" spc="-5" dirty="0">
                <a:latin typeface="TeX Gyre Bonum"/>
                <a:cs typeface="TeX Gyre Bonum"/>
              </a:rPr>
              <a:t>power </a:t>
            </a:r>
            <a:r>
              <a:rPr sz="500" dirty="0">
                <a:latin typeface="Bookman Uralic"/>
                <a:cs typeface="Bookman Uralic"/>
              </a:rPr>
              <a:t>or </a:t>
            </a:r>
            <a:r>
              <a:rPr sz="500" b="1" i="1" dirty="0">
                <a:latin typeface="TeX Gyre Bonum"/>
                <a:cs typeface="TeX Gyre Bonum"/>
              </a:rPr>
              <a:t>heat  </a:t>
            </a:r>
            <a:r>
              <a:rPr sz="500" b="1" i="1" spc="-5" dirty="0">
                <a:latin typeface="TeX Gyre Bonum"/>
                <a:cs typeface="TeX Gyre Bonum"/>
              </a:rPr>
              <a:t>generation</a:t>
            </a:r>
            <a:r>
              <a:rPr sz="500" spc="-5" dirty="0">
                <a:latin typeface="Bookman Uralic"/>
                <a:cs typeface="Bookman Uralic"/>
              </a:rPr>
              <a:t>, </a:t>
            </a:r>
            <a:r>
              <a:rPr sz="500" b="1" i="1" spc="-5" dirty="0">
                <a:latin typeface="TeX Gyre Bonum"/>
                <a:cs typeface="TeX Gyre Bonum"/>
              </a:rPr>
              <a:t>transportation fuels </a:t>
            </a:r>
            <a:r>
              <a:rPr sz="500" spc="-5" dirty="0">
                <a:latin typeface="Bookman Uralic"/>
                <a:cs typeface="Bookman Uralic"/>
              </a:rPr>
              <a:t>(such as ethanol) and</a:t>
            </a:r>
            <a:r>
              <a:rPr sz="500" spc="5" dirty="0">
                <a:latin typeface="Bookman Uralic"/>
                <a:cs typeface="Bookman Uralic"/>
              </a:rPr>
              <a:t> </a:t>
            </a:r>
            <a:r>
              <a:rPr sz="500" b="1" i="1" spc="-5" dirty="0">
                <a:latin typeface="TeX Gyre Bonum"/>
                <a:cs typeface="TeX Gyre Bonum"/>
              </a:rPr>
              <a:t>chemical</a:t>
            </a:r>
            <a:endParaRPr sz="500">
              <a:latin typeface="TeX Gyre Bonum"/>
              <a:cs typeface="TeX Gyre Bonum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4998" y="1842008"/>
            <a:ext cx="960755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i="1" dirty="0">
                <a:latin typeface="TeX Gyre Bonum"/>
                <a:cs typeface="TeX Gyre Bonum"/>
              </a:rPr>
              <a:t>feedstock </a:t>
            </a:r>
            <a:r>
              <a:rPr sz="500" dirty="0">
                <a:latin typeface="Bookman Uralic"/>
                <a:cs typeface="Bookman Uralic"/>
              </a:rPr>
              <a:t>(such</a:t>
            </a:r>
            <a:r>
              <a:rPr sz="500" spc="-120" dirty="0">
                <a:latin typeface="Bookman Uralic"/>
                <a:cs typeface="Bookman Uralic"/>
              </a:rPr>
              <a:t> </a:t>
            </a:r>
            <a:r>
              <a:rPr sz="500" spc="-5" dirty="0">
                <a:latin typeface="Bookman Uralic"/>
                <a:cs typeface="Bookman Uralic"/>
              </a:rPr>
              <a:t>as </a:t>
            </a:r>
            <a:r>
              <a:rPr sz="500" dirty="0">
                <a:latin typeface="Bookman Uralic"/>
                <a:cs typeface="Bookman Uralic"/>
              </a:rPr>
              <a:t>methane).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649" y="51562"/>
            <a:ext cx="2204085" cy="384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Agrochemical Conversion</a:t>
            </a:r>
            <a:r>
              <a:rPr sz="1150" b="1" spc="-85" dirty="0">
                <a:solidFill>
                  <a:srgbClr val="006FC0"/>
                </a:solidFill>
                <a:latin typeface="Bookman Uralic"/>
                <a:cs typeface="Bookman Uralic"/>
              </a:rPr>
              <a:t> </a:t>
            </a:r>
            <a:r>
              <a:rPr sz="1150" b="1" spc="5" dirty="0">
                <a:solidFill>
                  <a:srgbClr val="006FC0"/>
                </a:solidFill>
                <a:latin typeface="Bookman Uralic"/>
                <a:cs typeface="Bookman Uralic"/>
              </a:rPr>
              <a:t>of</a:t>
            </a:r>
            <a:endParaRPr sz="1150">
              <a:latin typeface="Bookman Uralic"/>
              <a:cs typeface="Bookman Uralic"/>
            </a:endParaRPr>
          </a:p>
          <a:p>
            <a:pPr marL="635" algn="ctr">
              <a:lnSpc>
                <a:spcPct val="100000"/>
              </a:lnSpc>
              <a:spcBef>
                <a:spcPts val="35"/>
              </a:spcBef>
            </a:pP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Biomass</a:t>
            </a:r>
            <a:endParaRPr sz="115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24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1556" y="0"/>
            <a:ext cx="2705735" cy="2035175"/>
            <a:chOff x="-11556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11252" y="438937"/>
              <a:ext cx="2458212" cy="1459865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5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467" rIns="0" bIns="0" rtlCol="0">
            <a:spAutoFit/>
          </a:bodyPr>
          <a:lstStyle/>
          <a:p>
            <a:pPr marL="812165" marR="5080" indent="-711835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Agro-chemical conversion of  biomass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206756" y="613359"/>
            <a:ext cx="2182495" cy="4279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14935" indent="-102870">
              <a:lnSpc>
                <a:spcPct val="100000"/>
              </a:lnSpc>
              <a:spcBef>
                <a:spcPts val="485"/>
              </a:spcBef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15" dirty="0">
                <a:latin typeface="Bookman Uralic"/>
                <a:cs typeface="Bookman Uralic"/>
              </a:rPr>
              <a:t>Agro-chemical conversion can take </a:t>
            </a:r>
            <a:r>
              <a:rPr sz="550" spc="20" dirty="0">
                <a:latin typeface="Bookman Uralic"/>
                <a:cs typeface="Bookman Uralic"/>
              </a:rPr>
              <a:t>two</a:t>
            </a:r>
            <a:r>
              <a:rPr sz="550" spc="-15" dirty="0">
                <a:latin typeface="Bookman Uralic"/>
                <a:cs typeface="Bookman Uralic"/>
              </a:rPr>
              <a:t> </a:t>
            </a:r>
            <a:r>
              <a:rPr sz="550" spc="15" dirty="0">
                <a:latin typeface="Bookman Uralic"/>
                <a:cs typeface="Bookman Uralic"/>
              </a:rPr>
              <a:t>pathways.</a:t>
            </a:r>
            <a:endParaRPr sz="550">
              <a:latin typeface="Bookman Uralic"/>
              <a:cs typeface="Bookman Uralic"/>
            </a:endParaRPr>
          </a:p>
          <a:p>
            <a:pPr marL="280670" lvl="1" indent="-13462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281305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Straight Vegetable Oil (SVO)/Pure Plant Oil</a:t>
            </a:r>
            <a:r>
              <a:rPr sz="550" b="1" i="1" spc="40" dirty="0">
                <a:latin typeface="TeX Gyre Bonum"/>
                <a:cs typeface="TeX Gyre Bonum"/>
              </a:rPr>
              <a:t> </a:t>
            </a:r>
            <a:r>
              <a:rPr sz="550" b="1" i="1" spc="10" dirty="0">
                <a:latin typeface="TeX Gyre Bonum"/>
                <a:cs typeface="TeX Gyre Bonum"/>
              </a:rPr>
              <a:t>(PPO)</a:t>
            </a:r>
            <a:endParaRPr sz="550">
              <a:latin typeface="TeX Gyre Bonum"/>
              <a:cs typeface="TeX Gyre Bonum"/>
            </a:endParaRPr>
          </a:p>
          <a:p>
            <a:pPr marL="248920" lvl="1" indent="-102870">
              <a:lnSpc>
                <a:spcPct val="100000"/>
              </a:lnSpc>
              <a:spcBef>
                <a:spcPts val="345"/>
              </a:spcBef>
              <a:buAutoNum type="arabicPeriod"/>
              <a:tabLst>
                <a:tab pos="248920" algn="l"/>
              </a:tabLst>
            </a:pPr>
            <a:r>
              <a:rPr sz="600" b="1" i="1" spc="-15" dirty="0">
                <a:latin typeface="TeX Gyre Bonum"/>
                <a:cs typeface="TeX Gyre Bonum"/>
              </a:rPr>
              <a:t>Transesterification</a:t>
            </a:r>
            <a:endParaRPr sz="600">
              <a:latin typeface="TeX Gyre Bonum"/>
              <a:cs typeface="TeX Gyre Bon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869" y="49529"/>
            <a:ext cx="150685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u="sng" spc="10" dirty="0">
                <a:uFill>
                  <a:solidFill>
                    <a:srgbClr val="006FC0"/>
                  </a:solidFill>
                </a:uFill>
              </a:rPr>
              <a:t>Transesterification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104394" y="326262"/>
            <a:ext cx="1582420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790" marR="5080" indent="-85725" algn="just">
              <a:lnSpc>
                <a:spcPct val="106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98425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Transesterification</a:t>
            </a:r>
            <a:r>
              <a:rPr sz="500" b="1" i="1" spc="190" dirty="0">
                <a:latin typeface="TeX Gyre Bonum"/>
                <a:cs typeface="TeX Gyre Bonum"/>
              </a:rPr>
              <a:t> </a:t>
            </a:r>
            <a:r>
              <a:rPr sz="500" i="1" spc="5" dirty="0">
                <a:latin typeface="Bookman Uralic"/>
                <a:cs typeface="Bookman Uralic"/>
              </a:rPr>
              <a:t>is the </a:t>
            </a:r>
            <a:r>
              <a:rPr sz="500" i="1" spc="10" dirty="0">
                <a:latin typeface="Bookman Uralic"/>
                <a:cs typeface="Bookman Uralic"/>
              </a:rPr>
              <a:t>reaction of  triglycerides </a:t>
            </a:r>
            <a:r>
              <a:rPr sz="500" i="1" spc="5" dirty="0">
                <a:latin typeface="Bookman Uralic"/>
                <a:cs typeface="Bookman Uralic"/>
              </a:rPr>
              <a:t>(fat/oil) </a:t>
            </a:r>
            <a:r>
              <a:rPr sz="500" i="1" spc="15" dirty="0">
                <a:latin typeface="Bookman Uralic"/>
                <a:cs typeface="Bookman Uralic"/>
              </a:rPr>
              <a:t>in  </a:t>
            </a:r>
            <a:r>
              <a:rPr sz="500" i="1" spc="5" dirty="0">
                <a:latin typeface="Bookman Uralic"/>
                <a:cs typeface="Bookman Uralic"/>
              </a:rPr>
              <a:t>the </a:t>
            </a:r>
            <a:r>
              <a:rPr sz="500" i="1" spc="10" dirty="0">
                <a:latin typeface="Bookman Uralic"/>
                <a:cs typeface="Bookman Uralic"/>
              </a:rPr>
              <a:t>presence of  </a:t>
            </a:r>
            <a:r>
              <a:rPr sz="500" b="1" i="1" spc="10" dirty="0">
                <a:latin typeface="TeX Gyre Bonum"/>
                <a:cs typeface="TeX Gyre Bonum"/>
              </a:rPr>
              <a:t>catalyst</a:t>
            </a:r>
            <a:r>
              <a:rPr sz="500" b="1" i="1" spc="190" dirty="0">
                <a:latin typeface="TeX Gyre Bonum"/>
                <a:cs typeface="TeX Gyre Bonum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(sodium hydroxide or sodium  methoxide)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b="1" i="1" spc="10" dirty="0">
                <a:latin typeface="TeX Gyre Bonum"/>
                <a:cs typeface="TeX Gyre Bonum"/>
              </a:rPr>
              <a:t>alcohol </a:t>
            </a:r>
            <a:r>
              <a:rPr sz="500" i="1" spc="10" dirty="0">
                <a:latin typeface="Bookman Uralic"/>
                <a:cs typeface="Bookman Uralic"/>
              </a:rPr>
              <a:t>producing </a:t>
            </a:r>
            <a:r>
              <a:rPr sz="500" b="1" i="1" spc="10" dirty="0">
                <a:latin typeface="TeX Gyre Bonum"/>
                <a:cs typeface="TeX Gyre Bonum"/>
              </a:rPr>
              <a:t>biodiesel  </a:t>
            </a:r>
            <a:r>
              <a:rPr sz="500" i="1" spc="15" dirty="0">
                <a:latin typeface="Bookman Uralic"/>
                <a:cs typeface="Bookman Uralic"/>
              </a:rPr>
              <a:t>and</a:t>
            </a:r>
            <a:r>
              <a:rPr sz="500" i="1" spc="5" dirty="0">
                <a:latin typeface="Bookman Uralic"/>
                <a:cs typeface="Bookman Uralic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glycerin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54" y="882495"/>
            <a:ext cx="50736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500" b="1" spc="-60" dirty="0">
                <a:latin typeface="Times New Roman" panose="02020603050405020304"/>
                <a:cs typeface="Times New Roman" panose="02020603050405020304"/>
              </a:rPr>
              <a:t>Triglyceride </a:t>
            </a:r>
            <a:r>
              <a:rPr sz="500" b="1" spc="-7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500" b="1" spc="-70" dirty="0">
                <a:latin typeface="Times New Roman" panose="02020603050405020304"/>
                <a:cs typeface="Times New Roman" panose="02020603050405020304"/>
              </a:rPr>
              <a:t> Methanol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040" y="869315"/>
            <a:ext cx="1109345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2865">
              <a:lnSpc>
                <a:spcPts val="515"/>
              </a:lnSpc>
              <a:spcBef>
                <a:spcPts val="125"/>
              </a:spcBef>
            </a:pPr>
            <a:r>
              <a:rPr sz="500" b="1" spc="-90" dirty="0">
                <a:latin typeface="Times New Roman" panose="02020603050405020304"/>
                <a:cs typeface="Times New Roman" panose="02020603050405020304"/>
              </a:rPr>
              <a:t>NaOH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375920">
              <a:lnSpc>
                <a:spcPts val="430"/>
              </a:lnSpc>
            </a:pPr>
            <a:r>
              <a:rPr sz="500" b="1" spc="-60" dirty="0">
                <a:latin typeface="Times New Roman" panose="02020603050405020304"/>
                <a:cs typeface="Times New Roman" panose="02020603050405020304"/>
              </a:rPr>
              <a:t>Fatty acid </a:t>
            </a:r>
            <a:r>
              <a:rPr sz="500" b="1" spc="-65" dirty="0">
                <a:latin typeface="Times New Roman" panose="02020603050405020304"/>
                <a:cs typeface="Times New Roman" panose="02020603050405020304"/>
              </a:rPr>
              <a:t>methyl </a:t>
            </a:r>
            <a:r>
              <a:rPr sz="500" b="1" spc="-55" dirty="0">
                <a:latin typeface="Times New Roman" panose="02020603050405020304"/>
                <a:cs typeface="Times New Roman" panose="02020603050405020304"/>
              </a:rPr>
              <a:t>ester </a:t>
            </a:r>
            <a:r>
              <a:rPr sz="500" b="1" spc="-7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5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spc="-60" dirty="0">
                <a:latin typeface="Times New Roman" panose="02020603050405020304"/>
                <a:cs typeface="Times New Roman" panose="02020603050405020304"/>
              </a:rPr>
              <a:t>Glycerin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28575">
              <a:lnSpc>
                <a:spcPts val="515"/>
              </a:lnSpc>
            </a:pPr>
            <a:r>
              <a:rPr sz="500" b="1" spc="-55" dirty="0">
                <a:latin typeface="Times New Roman" panose="02020603050405020304"/>
                <a:cs typeface="Times New Roman" panose="02020603050405020304"/>
              </a:rPr>
              <a:t>(Catalyst)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0" b="1" i="1" spc="-35" dirty="0">
                <a:latin typeface="Times New Roman" panose="02020603050405020304"/>
                <a:cs typeface="Times New Roman" panose="02020603050405020304"/>
              </a:rPr>
              <a:t>Transesterification</a:t>
            </a:r>
            <a:endParaRPr sz="3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1" y="826452"/>
            <a:ext cx="1789430" cy="297815"/>
            <a:chOff x="53276" y="828992"/>
            <a:chExt cx="1789430" cy="297815"/>
          </a:xfrm>
        </p:grpSpPr>
        <p:sp>
          <p:nvSpPr>
            <p:cNvPr id="7" name="object 7"/>
            <p:cNvSpPr/>
            <p:nvPr/>
          </p:nvSpPr>
          <p:spPr>
            <a:xfrm>
              <a:off x="616199" y="941348"/>
              <a:ext cx="474980" cy="0"/>
            </a:xfrm>
            <a:custGeom>
              <a:avLst/>
              <a:gdLst/>
              <a:ahLst/>
              <a:cxnLst/>
              <a:rect l="l" t="t" r="r" b="b"/>
              <a:pathLst>
                <a:path w="474980">
                  <a:moveTo>
                    <a:pt x="0" y="0"/>
                  </a:moveTo>
                  <a:lnTo>
                    <a:pt x="474590" y="0"/>
                  </a:lnTo>
                </a:path>
              </a:pathLst>
            </a:custGeom>
            <a:ln w="7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88510" y="925307"/>
              <a:ext cx="11430" cy="32384"/>
            </a:xfrm>
            <a:custGeom>
              <a:avLst/>
              <a:gdLst/>
              <a:ahLst/>
              <a:cxnLst/>
              <a:rect l="l" t="t" r="r" b="b"/>
              <a:pathLst>
                <a:path w="11430" h="32384">
                  <a:moveTo>
                    <a:pt x="0" y="0"/>
                  </a:moveTo>
                  <a:lnTo>
                    <a:pt x="0" y="32082"/>
                  </a:lnTo>
                  <a:lnTo>
                    <a:pt x="11349" y="16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674" y="834390"/>
              <a:ext cx="1778635" cy="287020"/>
            </a:xfrm>
            <a:custGeom>
              <a:avLst/>
              <a:gdLst/>
              <a:ahLst/>
              <a:cxnLst/>
              <a:rect l="l" t="t" r="r" b="b"/>
              <a:pathLst>
                <a:path w="1778635" h="287019">
                  <a:moveTo>
                    <a:pt x="0" y="286511"/>
                  </a:moveTo>
                  <a:lnTo>
                    <a:pt x="1778508" y="286511"/>
                  </a:lnTo>
                  <a:lnTo>
                    <a:pt x="1778508" y="0"/>
                  </a:lnTo>
                  <a:lnTo>
                    <a:pt x="0" y="0"/>
                  </a:lnTo>
                  <a:lnTo>
                    <a:pt x="0" y="286511"/>
                  </a:lnTo>
                  <a:close/>
                </a:path>
              </a:pathLst>
            </a:custGeom>
            <a:ln w="10670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917904" y="420129"/>
            <a:ext cx="645795" cy="15176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290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Biomass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10" dirty="0">
                <a:latin typeface="Times New Roman" panose="02020603050405020304"/>
                <a:cs typeface="Times New Roman" panose="02020603050405020304"/>
              </a:rPr>
              <a:t>feedstock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7904" y="705334"/>
            <a:ext cx="645795" cy="15176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290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Oil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10" dirty="0">
                <a:latin typeface="Times New Roman" panose="02020603050405020304"/>
                <a:cs typeface="Times New Roman" panose="02020603050405020304"/>
              </a:rPr>
              <a:t>extraction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7904" y="990533"/>
            <a:ext cx="645795" cy="15176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90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Transesterification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7904" y="1277881"/>
            <a:ext cx="645795" cy="15176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Separation of</a:t>
            </a:r>
            <a:r>
              <a:rPr sz="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10" dirty="0">
                <a:latin typeface="Times New Roman" panose="02020603050405020304"/>
                <a:cs typeface="Times New Roman" panose="02020603050405020304"/>
              </a:rPr>
              <a:t>biodiesel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4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10" dirty="0">
                <a:latin typeface="Times New Roman" panose="02020603050405020304"/>
                <a:cs typeface="Times New Roman" panose="02020603050405020304"/>
              </a:rPr>
              <a:t>glycerin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17904" y="1560899"/>
            <a:ext cx="645795" cy="15176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290"/>
              </a:spcBef>
            </a:pPr>
            <a:r>
              <a:rPr sz="450" spc="10" dirty="0">
                <a:latin typeface="Times New Roman" panose="02020603050405020304"/>
                <a:cs typeface="Times New Roman" panose="02020603050405020304"/>
              </a:rPr>
              <a:t>Biodiesel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24132" y="568509"/>
            <a:ext cx="33020" cy="988694"/>
            <a:chOff x="2224132" y="568509"/>
            <a:chExt cx="33020" cy="988694"/>
          </a:xfrm>
        </p:grpSpPr>
        <p:sp>
          <p:nvSpPr>
            <p:cNvPr id="16" name="object 16"/>
            <p:cNvSpPr/>
            <p:nvPr/>
          </p:nvSpPr>
          <p:spPr>
            <a:xfrm>
              <a:off x="2240521" y="571367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40">
                  <a:moveTo>
                    <a:pt x="0" y="0"/>
                  </a:moveTo>
                  <a:lnTo>
                    <a:pt x="0" y="116460"/>
                  </a:lnTo>
                </a:path>
              </a:pathLst>
            </a:custGeom>
            <a:ln w="54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24132" y="684550"/>
              <a:ext cx="33020" cy="16510"/>
            </a:xfrm>
            <a:custGeom>
              <a:avLst/>
              <a:gdLst/>
              <a:ahLst/>
              <a:cxnLst/>
              <a:rect l="l" t="t" r="r" b="b"/>
              <a:pathLst>
                <a:path w="33019" h="16509">
                  <a:moveTo>
                    <a:pt x="32778" y="0"/>
                  </a:moveTo>
                  <a:lnTo>
                    <a:pt x="0" y="0"/>
                  </a:lnTo>
                  <a:lnTo>
                    <a:pt x="16389" y="16462"/>
                  </a:lnTo>
                  <a:lnTo>
                    <a:pt x="327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240521" y="856573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40">
                  <a:moveTo>
                    <a:pt x="0" y="0"/>
                  </a:moveTo>
                  <a:lnTo>
                    <a:pt x="0" y="116460"/>
                  </a:lnTo>
                </a:path>
              </a:pathLst>
            </a:custGeom>
            <a:ln w="54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24132" y="969756"/>
              <a:ext cx="33020" cy="16510"/>
            </a:xfrm>
            <a:custGeom>
              <a:avLst/>
              <a:gdLst/>
              <a:ahLst/>
              <a:cxnLst/>
              <a:rect l="l" t="t" r="r" b="b"/>
              <a:pathLst>
                <a:path w="33019" h="16509">
                  <a:moveTo>
                    <a:pt x="32778" y="0"/>
                  </a:moveTo>
                  <a:lnTo>
                    <a:pt x="0" y="0"/>
                  </a:lnTo>
                  <a:lnTo>
                    <a:pt x="16389" y="16462"/>
                  </a:lnTo>
                  <a:lnTo>
                    <a:pt x="327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240521" y="1143928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40">
                  <a:moveTo>
                    <a:pt x="0" y="0"/>
                  </a:moveTo>
                  <a:lnTo>
                    <a:pt x="0" y="116460"/>
                  </a:lnTo>
                </a:path>
              </a:pathLst>
            </a:custGeom>
            <a:ln w="54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24132" y="1257096"/>
              <a:ext cx="33020" cy="16510"/>
            </a:xfrm>
            <a:custGeom>
              <a:avLst/>
              <a:gdLst/>
              <a:ahLst/>
              <a:cxnLst/>
              <a:rect l="l" t="t" r="r" b="b"/>
              <a:pathLst>
                <a:path w="33019" h="16509">
                  <a:moveTo>
                    <a:pt x="32778" y="0"/>
                  </a:moveTo>
                  <a:lnTo>
                    <a:pt x="0" y="0"/>
                  </a:lnTo>
                  <a:lnTo>
                    <a:pt x="16389" y="16462"/>
                  </a:lnTo>
                  <a:lnTo>
                    <a:pt x="327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240521" y="1426954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h="116840">
                  <a:moveTo>
                    <a:pt x="0" y="0"/>
                  </a:moveTo>
                  <a:lnTo>
                    <a:pt x="0" y="116460"/>
                  </a:lnTo>
                </a:path>
              </a:pathLst>
            </a:custGeom>
            <a:ln w="54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24132" y="1540122"/>
              <a:ext cx="33020" cy="16510"/>
            </a:xfrm>
            <a:custGeom>
              <a:avLst/>
              <a:gdLst/>
              <a:ahLst/>
              <a:cxnLst/>
              <a:rect l="l" t="t" r="r" b="b"/>
              <a:pathLst>
                <a:path w="33019" h="16509">
                  <a:moveTo>
                    <a:pt x="32778" y="0"/>
                  </a:moveTo>
                  <a:lnTo>
                    <a:pt x="0" y="0"/>
                  </a:lnTo>
                  <a:lnTo>
                    <a:pt x="16389" y="16462"/>
                  </a:lnTo>
                  <a:lnTo>
                    <a:pt x="327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889765" y="1704290"/>
            <a:ext cx="701675" cy="9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b="1" i="1" spc="10" dirty="0">
                <a:latin typeface="Times New Roman" panose="02020603050405020304"/>
                <a:cs typeface="Times New Roman" panose="02020603050405020304"/>
              </a:rPr>
              <a:t>Transesterification</a:t>
            </a:r>
            <a:r>
              <a:rPr sz="450" b="1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4239" y="1116584"/>
            <a:ext cx="1560195" cy="346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 marR="5080" indent="-66040" algn="just">
              <a:lnSpc>
                <a:spcPct val="105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78740" algn="l"/>
              </a:tabLst>
            </a:pPr>
            <a:r>
              <a:rPr sz="500" spc="10" dirty="0">
                <a:latin typeface="Bookman Uralic"/>
                <a:cs typeface="Bookman Uralic"/>
              </a:rPr>
              <a:t>The heavier, co-product, glycerol settles out  </a:t>
            </a:r>
            <a:r>
              <a:rPr sz="500" spc="15" dirty="0">
                <a:latin typeface="Bookman Uralic"/>
                <a:cs typeface="Bookman Uralic"/>
              </a:rPr>
              <a:t>and may </a:t>
            </a:r>
            <a:r>
              <a:rPr sz="500" spc="5" dirty="0">
                <a:latin typeface="Bookman Uralic"/>
                <a:cs typeface="Bookman Uralic"/>
              </a:rPr>
              <a:t>be </a:t>
            </a:r>
            <a:r>
              <a:rPr sz="500" spc="15" dirty="0">
                <a:latin typeface="Bookman Uralic"/>
                <a:cs typeface="Bookman Uralic"/>
              </a:rPr>
              <a:t>used as </a:t>
            </a:r>
            <a:r>
              <a:rPr sz="500" spc="5" dirty="0">
                <a:latin typeface="Bookman Uralic"/>
                <a:cs typeface="Bookman Uralic"/>
              </a:rPr>
              <a:t>it is </a:t>
            </a:r>
            <a:r>
              <a:rPr sz="500" spc="10" dirty="0">
                <a:latin typeface="Bookman Uralic"/>
                <a:cs typeface="Bookman Uralic"/>
              </a:rPr>
              <a:t>or </a:t>
            </a:r>
            <a:r>
              <a:rPr sz="500" spc="5" dirty="0">
                <a:latin typeface="Bookman Uralic"/>
                <a:cs typeface="Bookman Uralic"/>
              </a:rPr>
              <a:t>it </a:t>
            </a:r>
            <a:r>
              <a:rPr sz="500" spc="15" dirty="0">
                <a:latin typeface="Bookman Uralic"/>
                <a:cs typeface="Bookman Uralic"/>
              </a:rPr>
              <a:t>may </a:t>
            </a:r>
            <a:r>
              <a:rPr sz="500" spc="10" dirty="0">
                <a:latin typeface="Bookman Uralic"/>
                <a:cs typeface="Bookman Uralic"/>
              </a:rPr>
              <a:t>be  purified for use in other industries, </a:t>
            </a:r>
            <a:r>
              <a:rPr sz="500" spc="15" dirty="0">
                <a:latin typeface="Bookman Uralic"/>
                <a:cs typeface="Bookman Uralic"/>
              </a:rPr>
              <a:t>eg. </a:t>
            </a:r>
            <a:r>
              <a:rPr sz="500" spc="5" dirty="0">
                <a:latin typeface="Bookman Uralic"/>
                <a:cs typeface="Bookman Uralic"/>
              </a:rPr>
              <a:t>the  </a:t>
            </a:r>
            <a:r>
              <a:rPr sz="500" spc="10" dirty="0">
                <a:latin typeface="Bookman Uralic"/>
                <a:cs typeface="Bookman Uralic"/>
              </a:rPr>
              <a:t>pharmaceutical, cosmetics,</a:t>
            </a:r>
            <a:r>
              <a:rPr sz="500" spc="-2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etc.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4239" y="1518920"/>
            <a:ext cx="1559560" cy="26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 marR="5080" indent="-66040" algn="just">
              <a:lnSpc>
                <a:spcPct val="105000"/>
              </a:lnSpc>
              <a:spcBef>
                <a:spcPts val="95"/>
              </a:spcBef>
              <a:buFont typeface="Wingdings" panose="05000000000000000000"/>
              <a:buChar char=""/>
              <a:tabLst>
                <a:tab pos="78740" algn="l"/>
              </a:tabLst>
            </a:pPr>
            <a:r>
              <a:rPr sz="500" spc="10" dirty="0">
                <a:latin typeface="Bookman Uralic"/>
                <a:cs typeface="Bookman Uralic"/>
              </a:rPr>
              <a:t>The key factors </a:t>
            </a:r>
            <a:r>
              <a:rPr sz="500" spc="5" dirty="0">
                <a:latin typeface="Bookman Uralic"/>
                <a:cs typeface="Bookman Uralic"/>
              </a:rPr>
              <a:t>regulating </a:t>
            </a:r>
            <a:r>
              <a:rPr sz="500" i="1" spc="5" dirty="0">
                <a:latin typeface="Bookman Uralic"/>
                <a:cs typeface="Bookman Uralic"/>
              </a:rPr>
              <a:t>transesterification  </a:t>
            </a:r>
            <a:r>
              <a:rPr sz="500" spc="10" dirty="0">
                <a:latin typeface="Bookman Uralic"/>
                <a:cs typeface="Bookman Uralic"/>
              </a:rPr>
              <a:t>are temperature (&gt;240 </a:t>
            </a:r>
            <a:r>
              <a:rPr sz="500" spc="5" dirty="0">
                <a:latin typeface="Times New Roman" panose="02020603050405020304"/>
                <a:cs typeface="Times New Roman" panose="02020603050405020304"/>
              </a:rPr>
              <a:t>°</a:t>
            </a:r>
            <a:r>
              <a:rPr sz="500" i="1" spc="5" dirty="0">
                <a:latin typeface="Bookman Uralic"/>
                <a:cs typeface="Bookman Uralic"/>
              </a:rPr>
              <a:t>C</a:t>
            </a:r>
            <a:r>
              <a:rPr sz="500" spc="5" dirty="0">
                <a:latin typeface="Bookman Uralic"/>
                <a:cs typeface="Bookman Uralic"/>
              </a:rPr>
              <a:t>), </a:t>
            </a:r>
            <a:r>
              <a:rPr sz="500" spc="10" dirty="0">
                <a:latin typeface="Bookman Uralic"/>
                <a:cs typeface="Bookman Uralic"/>
              </a:rPr>
              <a:t>pressure (&gt;5  </a:t>
            </a:r>
            <a:r>
              <a:rPr sz="500" i="1" spc="5" dirty="0">
                <a:latin typeface="Bookman Uralic"/>
                <a:cs typeface="Bookman Uralic"/>
              </a:rPr>
              <a:t>bars</a:t>
            </a:r>
            <a:r>
              <a:rPr sz="500" spc="5" dirty="0">
                <a:latin typeface="Bookman Uralic"/>
                <a:cs typeface="Bookman Uralic"/>
              </a:rPr>
              <a:t>), </a:t>
            </a:r>
            <a:r>
              <a:rPr sz="500" spc="10" dirty="0">
                <a:latin typeface="Bookman Uralic"/>
                <a:cs typeface="Bookman Uralic"/>
              </a:rPr>
              <a:t>reaction time </a:t>
            </a:r>
            <a:r>
              <a:rPr sz="500" spc="15" dirty="0">
                <a:latin typeface="Bookman Uralic"/>
                <a:cs typeface="Bookman Uralic"/>
              </a:rPr>
              <a:t>and</a:t>
            </a:r>
            <a:r>
              <a:rPr sz="500" spc="-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mixing.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146" y="85090"/>
            <a:ext cx="150685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/>
              <a:t>Transesterification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90805" y="311785"/>
            <a:ext cx="2480945" cy="1508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0490" indent="-85725" algn="just">
              <a:lnSpc>
                <a:spcPct val="100000"/>
              </a:lnSpc>
              <a:spcBef>
                <a:spcPts val="125"/>
              </a:spcBef>
              <a:buFont typeface="Wingdings" panose="05000000000000000000"/>
              <a:buChar char=""/>
              <a:tabLst>
                <a:tab pos="111125" algn="l"/>
              </a:tabLst>
            </a:pPr>
            <a:r>
              <a:rPr sz="500" spc="10" dirty="0">
                <a:latin typeface="Bookman Uralic"/>
                <a:cs typeface="Bookman Uralic"/>
              </a:rPr>
              <a:t>Biodiesel </a:t>
            </a:r>
            <a:r>
              <a:rPr sz="500" spc="5" dirty="0">
                <a:latin typeface="Bookman Uralic"/>
                <a:cs typeface="Bookman Uralic"/>
              </a:rPr>
              <a:t>(</a:t>
            </a:r>
            <a:r>
              <a:rPr sz="500" b="1" i="1" spc="5" dirty="0">
                <a:latin typeface="TeX Gyre Bonum"/>
                <a:cs typeface="TeX Gyre Bonum"/>
              </a:rPr>
              <a:t>fatty </a:t>
            </a:r>
            <a:r>
              <a:rPr sz="500" b="1" i="1" spc="10" dirty="0">
                <a:latin typeface="TeX Gyre Bonum"/>
                <a:cs typeface="TeX Gyre Bonum"/>
              </a:rPr>
              <a:t>acid methyl esters</a:t>
            </a:r>
            <a:r>
              <a:rPr sz="500" spc="10" dirty="0">
                <a:latin typeface="Bookman Uralic"/>
                <a:cs typeface="Bookman Uralic"/>
              </a:rPr>
              <a:t>)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10" dirty="0">
                <a:latin typeface="Bookman Uralic"/>
                <a:cs typeface="Bookman Uralic"/>
              </a:rPr>
              <a:t>be produced from</a:t>
            </a:r>
            <a:r>
              <a:rPr sz="500" spc="114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vegetable</a:t>
            </a:r>
            <a:endParaRPr sz="500">
              <a:latin typeface="Bookman Uralic"/>
              <a:cs typeface="Bookman Uralic"/>
            </a:endParaRPr>
          </a:p>
          <a:p>
            <a:pPr marL="110490" algn="just">
              <a:lnSpc>
                <a:spcPct val="100000"/>
              </a:lnSpc>
              <a:spcBef>
                <a:spcPts val="40"/>
              </a:spcBef>
            </a:pPr>
            <a:r>
              <a:rPr sz="500" spc="5" dirty="0">
                <a:latin typeface="Bookman Uralic"/>
                <a:cs typeface="Bookman Uralic"/>
              </a:rPr>
              <a:t>oil, </a:t>
            </a:r>
            <a:r>
              <a:rPr sz="500" spc="10" dirty="0">
                <a:latin typeface="Bookman Uralic"/>
                <a:cs typeface="Bookman Uralic"/>
              </a:rPr>
              <a:t>animal oil/fats,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waste cooking</a:t>
            </a:r>
            <a:r>
              <a:rPr sz="500" spc="-30" dirty="0">
                <a:latin typeface="Bookman Uralic"/>
                <a:cs typeface="Bookman Uralic"/>
              </a:rPr>
              <a:t> </a:t>
            </a:r>
            <a:r>
              <a:rPr sz="500" spc="5" dirty="0">
                <a:latin typeface="Bookman Uralic"/>
                <a:cs typeface="Bookman Uralic"/>
              </a:rPr>
              <a:t>oil.</a:t>
            </a:r>
            <a:endParaRPr sz="500">
              <a:latin typeface="Bookman Uralic"/>
              <a:cs typeface="Bookman Uralic"/>
            </a:endParaRPr>
          </a:p>
          <a:p>
            <a:pPr marL="110490" marR="17780" indent="-85725" algn="just">
              <a:lnSpc>
                <a:spcPct val="106000"/>
              </a:lnSpc>
              <a:spcBef>
                <a:spcPts val="310"/>
              </a:spcBef>
              <a:buFont typeface="Wingdings" panose="05000000000000000000"/>
              <a:buChar char=""/>
              <a:tabLst>
                <a:tab pos="111125" algn="l"/>
              </a:tabLst>
            </a:pPr>
            <a:r>
              <a:rPr sz="500" spc="10" dirty="0">
                <a:latin typeface="Bookman Uralic"/>
                <a:cs typeface="Bookman Uralic"/>
              </a:rPr>
              <a:t>Biodiesel has substantially different properties than </a:t>
            </a:r>
            <a:r>
              <a:rPr sz="500" spc="15" dirty="0">
                <a:latin typeface="Bookman Uralic"/>
                <a:cs typeface="Bookman Uralic"/>
              </a:rPr>
              <a:t>SVO and </a:t>
            </a:r>
            <a:r>
              <a:rPr sz="500" spc="10" dirty="0">
                <a:latin typeface="Bookman Uralic"/>
                <a:cs typeface="Bookman Uralic"/>
              </a:rPr>
              <a:t>results </a:t>
            </a:r>
            <a:r>
              <a:rPr sz="500" spc="5" dirty="0">
                <a:latin typeface="Bookman Uralic"/>
                <a:cs typeface="Bookman Uralic"/>
              </a:rPr>
              <a:t>in  </a:t>
            </a:r>
            <a:r>
              <a:rPr sz="500" spc="10" dirty="0">
                <a:latin typeface="Bookman Uralic"/>
                <a:cs typeface="Bookman Uralic"/>
              </a:rPr>
              <a:t>better engine performance. In particular, biodiesel has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lower </a:t>
            </a:r>
            <a:r>
              <a:rPr sz="500" spc="5" dirty="0">
                <a:latin typeface="Bookman Uralic"/>
                <a:cs typeface="Bookman Uralic"/>
              </a:rPr>
              <a:t>boiling  </a:t>
            </a:r>
            <a:r>
              <a:rPr sz="500" spc="10" dirty="0">
                <a:latin typeface="Bookman Uralic"/>
                <a:cs typeface="Bookman Uralic"/>
              </a:rPr>
              <a:t>point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viscosity than</a:t>
            </a:r>
            <a:r>
              <a:rPr sz="500" spc="-2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SVO.</a:t>
            </a:r>
            <a:endParaRPr sz="500">
              <a:latin typeface="Bookman Uralic"/>
              <a:cs typeface="Bookman Uralic"/>
            </a:endParaRPr>
          </a:p>
          <a:p>
            <a:pPr marL="110490" marR="17780" indent="-85725" algn="just">
              <a:lnSpc>
                <a:spcPct val="105000"/>
              </a:lnSpc>
              <a:spcBef>
                <a:spcPts val="320"/>
              </a:spcBef>
              <a:buFont typeface="Wingdings" panose="05000000000000000000"/>
              <a:buChar char=""/>
              <a:tabLst>
                <a:tab pos="111125" algn="l"/>
              </a:tabLst>
            </a:pPr>
            <a:r>
              <a:rPr sz="500" spc="10" dirty="0">
                <a:latin typeface="Bookman Uralic"/>
                <a:cs typeface="Bookman Uralic"/>
              </a:rPr>
              <a:t>Biodiesel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biodegradable, non-toxic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essentially free from sulphur.  Biodiesel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5" dirty="0">
                <a:latin typeface="Bookman Uralic"/>
                <a:cs typeface="Bookman Uralic"/>
              </a:rPr>
              <a:t>be </a:t>
            </a:r>
            <a:r>
              <a:rPr sz="500" spc="15" dirty="0">
                <a:latin typeface="Bookman Uralic"/>
                <a:cs typeface="Bookman Uralic"/>
              </a:rPr>
              <a:t>used </a:t>
            </a:r>
            <a:r>
              <a:rPr sz="500" spc="10" dirty="0">
                <a:latin typeface="Bookman Uralic"/>
                <a:cs typeface="Bookman Uralic"/>
              </a:rPr>
              <a:t>in pure form or </a:t>
            </a:r>
            <a:r>
              <a:rPr sz="500" spc="15" dirty="0">
                <a:latin typeface="Bookman Uralic"/>
                <a:cs typeface="Bookman Uralic"/>
              </a:rPr>
              <a:t>may </a:t>
            </a:r>
            <a:r>
              <a:rPr sz="500" spc="10" dirty="0">
                <a:latin typeface="Bookman Uralic"/>
                <a:cs typeface="Bookman Uralic"/>
              </a:rPr>
              <a:t>be </a:t>
            </a:r>
            <a:r>
              <a:rPr sz="500" spc="15" dirty="0">
                <a:latin typeface="Bookman Uralic"/>
                <a:cs typeface="Bookman Uralic"/>
              </a:rPr>
              <a:t>blended </a:t>
            </a:r>
            <a:r>
              <a:rPr sz="500" spc="10" dirty="0">
                <a:latin typeface="Bookman Uralic"/>
                <a:cs typeface="Bookman Uralic"/>
              </a:rPr>
              <a:t>with petroleum  diesel </a:t>
            </a:r>
            <a:r>
              <a:rPr sz="500" spc="15" dirty="0">
                <a:latin typeface="Bookman Uralic"/>
                <a:cs typeface="Bookman Uralic"/>
              </a:rPr>
              <a:t>at any </a:t>
            </a:r>
            <a:r>
              <a:rPr sz="500" spc="10" dirty="0">
                <a:latin typeface="Bookman Uralic"/>
                <a:cs typeface="Bookman Uralic"/>
              </a:rPr>
              <a:t>concentration for </a:t>
            </a:r>
            <a:r>
              <a:rPr sz="500" spc="15" dirty="0">
                <a:latin typeface="Bookman Uralic"/>
                <a:cs typeface="Bookman Uralic"/>
              </a:rPr>
              <a:t>use </a:t>
            </a:r>
            <a:r>
              <a:rPr sz="500" spc="10" dirty="0">
                <a:latin typeface="Bookman Uralic"/>
                <a:cs typeface="Bookman Uralic"/>
              </a:rPr>
              <a:t>in </a:t>
            </a:r>
            <a:r>
              <a:rPr sz="500" spc="15" dirty="0">
                <a:latin typeface="Bookman Uralic"/>
                <a:cs typeface="Bookman Uralic"/>
              </a:rPr>
              <a:t>most modern </a:t>
            </a:r>
            <a:r>
              <a:rPr sz="500" spc="10" dirty="0">
                <a:latin typeface="Bookman Uralic"/>
                <a:cs typeface="Bookman Uralic"/>
              </a:rPr>
              <a:t>diesel</a:t>
            </a:r>
            <a:r>
              <a:rPr sz="500" spc="-9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engines.</a:t>
            </a:r>
            <a:endParaRPr sz="500">
              <a:latin typeface="Bookman Uralic"/>
              <a:cs typeface="Bookman Uralic"/>
            </a:endParaRPr>
          </a:p>
          <a:p>
            <a:pPr marL="110490" marR="17780" indent="-85725" algn="just">
              <a:lnSpc>
                <a:spcPct val="105000"/>
              </a:lnSpc>
              <a:spcBef>
                <a:spcPts val="325"/>
              </a:spcBef>
              <a:buFont typeface="Wingdings" panose="05000000000000000000"/>
              <a:buChar char=""/>
              <a:tabLst>
                <a:tab pos="111125" algn="l"/>
              </a:tabLst>
            </a:pPr>
            <a:r>
              <a:rPr sz="500" spc="10" dirty="0">
                <a:latin typeface="Bookman Uralic"/>
                <a:cs typeface="Bookman Uralic"/>
              </a:rPr>
              <a:t>Biodiesel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5" dirty="0">
                <a:latin typeface="Bookman Uralic"/>
                <a:cs typeface="Bookman Uralic"/>
              </a:rPr>
              <a:t>be </a:t>
            </a:r>
            <a:r>
              <a:rPr sz="500" spc="10" dirty="0">
                <a:latin typeface="Bookman Uralic"/>
                <a:cs typeface="Bookman Uralic"/>
              </a:rPr>
              <a:t>produced from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variety of feedstock, </a:t>
            </a:r>
            <a:r>
              <a:rPr sz="500" spc="15" dirty="0">
                <a:latin typeface="Bookman Uralic"/>
                <a:cs typeface="Bookman Uralic"/>
              </a:rPr>
              <a:t>such as </a:t>
            </a:r>
            <a:r>
              <a:rPr sz="500" b="1" i="1" spc="10" dirty="0">
                <a:latin typeface="TeX Gyre Bonum"/>
                <a:cs typeface="TeX Gyre Bonum"/>
              </a:rPr>
              <a:t>oil  feedstock </a:t>
            </a:r>
            <a:r>
              <a:rPr sz="500" spc="10" dirty="0">
                <a:latin typeface="Bookman Uralic"/>
                <a:cs typeface="Bookman Uralic"/>
              </a:rPr>
              <a:t>(</a:t>
            </a:r>
            <a:r>
              <a:rPr sz="500" b="1" i="1" spc="10" dirty="0">
                <a:latin typeface="TeX Gyre Bonum"/>
                <a:cs typeface="TeX Gyre Bonum"/>
              </a:rPr>
              <a:t>rapeseed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soybean oils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jatropha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5" dirty="0">
                <a:latin typeface="TeX Gyre Bonum"/>
                <a:cs typeface="TeX Gyre Bonum"/>
              </a:rPr>
              <a:t>palm </a:t>
            </a:r>
            <a:r>
              <a:rPr sz="500" b="1" i="1" spc="10" dirty="0">
                <a:latin typeface="TeX Gyre Bonum"/>
                <a:cs typeface="TeX Gyre Bonum"/>
              </a:rPr>
              <a:t>oil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5" dirty="0">
                <a:latin typeface="TeX Gyre Bonum"/>
                <a:cs typeface="TeX Gyre Bonum"/>
              </a:rPr>
              <a:t>hemp,  </a:t>
            </a:r>
            <a:r>
              <a:rPr sz="500" b="1" i="1" spc="10" dirty="0">
                <a:latin typeface="TeX Gyre Bonum"/>
                <a:cs typeface="TeX Gyre Bonum"/>
              </a:rPr>
              <a:t>algae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canola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b="1" i="1" spc="10" dirty="0">
                <a:latin typeface="TeX Gyre Bonum"/>
                <a:cs typeface="TeX Gyre Bonum"/>
              </a:rPr>
              <a:t>flax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b="1" i="1" spc="10" dirty="0">
                <a:latin typeface="TeX Gyre Bonum"/>
                <a:cs typeface="TeX Gyre Bonum"/>
              </a:rPr>
              <a:t>mustard</a:t>
            </a:r>
            <a:r>
              <a:rPr sz="500" spc="10" dirty="0">
                <a:latin typeface="Bookman Uralic"/>
                <a:cs typeface="Bookman Uralic"/>
              </a:rPr>
              <a:t>), </a:t>
            </a:r>
            <a:r>
              <a:rPr sz="500" b="1" i="1" spc="10" dirty="0">
                <a:latin typeface="TeX Gyre Bonum"/>
                <a:cs typeface="TeX Gyre Bonum"/>
              </a:rPr>
              <a:t>animal </a:t>
            </a:r>
            <a:r>
              <a:rPr sz="500" b="1" i="1" spc="5" dirty="0">
                <a:latin typeface="TeX Gyre Bonum"/>
                <a:cs typeface="TeX Gyre Bonum"/>
              </a:rPr>
              <a:t>fats</a:t>
            </a:r>
            <a:r>
              <a:rPr sz="500" spc="5" dirty="0">
                <a:latin typeface="Bookman Uralic"/>
                <a:cs typeface="Bookman Uralic"/>
              </a:rPr>
              <a:t>, </a:t>
            </a:r>
            <a:r>
              <a:rPr sz="500" spc="10" dirty="0">
                <a:latin typeface="Bookman Uralic"/>
                <a:cs typeface="Bookman Uralic"/>
              </a:rPr>
              <a:t>and/or </a:t>
            </a:r>
            <a:r>
              <a:rPr sz="500" b="1" i="1" spc="15" dirty="0">
                <a:latin typeface="TeX Gyre Bonum"/>
                <a:cs typeface="TeX Gyre Bonum"/>
              </a:rPr>
              <a:t>waste  </a:t>
            </a:r>
            <a:r>
              <a:rPr sz="500" b="1" i="1" spc="10" dirty="0">
                <a:latin typeface="TeX Gyre Bonum"/>
                <a:cs typeface="TeX Gyre Bonum"/>
              </a:rPr>
              <a:t>vegetable oil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  <a:p>
            <a:pPr marL="110490" marR="17780" indent="-85725" algn="just">
              <a:lnSpc>
                <a:spcPct val="106000"/>
              </a:lnSpc>
              <a:spcBef>
                <a:spcPts val="315"/>
              </a:spcBef>
              <a:buFont typeface="Wingdings" panose="05000000000000000000"/>
              <a:buChar char=""/>
              <a:tabLst>
                <a:tab pos="111125" algn="l"/>
              </a:tabLst>
            </a:pPr>
            <a:r>
              <a:rPr sz="500" spc="10" dirty="0">
                <a:latin typeface="Bookman Uralic"/>
                <a:cs typeface="Bookman Uralic"/>
              </a:rPr>
              <a:t>Biodiesel produces no net output of carbon in the form of carbon  dioxide</a:t>
            </a:r>
            <a:r>
              <a:rPr sz="500" spc="5" dirty="0">
                <a:latin typeface="Bookman Uralic"/>
                <a:cs typeface="Bookman Uralic"/>
              </a:rPr>
              <a:t> (CO</a:t>
            </a:r>
            <a:r>
              <a:rPr sz="525" spc="7" baseline="-16000" dirty="0">
                <a:latin typeface="Bookman Uralic"/>
                <a:cs typeface="Bookman Uralic"/>
              </a:rPr>
              <a:t>2</a:t>
            </a:r>
            <a:r>
              <a:rPr sz="500" spc="5" dirty="0">
                <a:latin typeface="Bookman Uralic"/>
                <a:cs typeface="Bookman Uralic"/>
              </a:rPr>
              <a:t>).</a:t>
            </a:r>
            <a:endParaRPr sz="500">
              <a:latin typeface="Bookman Uralic"/>
              <a:cs typeface="Bookman Uralic"/>
            </a:endParaRPr>
          </a:p>
          <a:p>
            <a:pPr marL="110490" indent="-85725" algn="just">
              <a:lnSpc>
                <a:spcPct val="100000"/>
              </a:lnSpc>
              <a:spcBef>
                <a:spcPts val="345"/>
              </a:spcBef>
              <a:buFont typeface="Wingdings" panose="05000000000000000000"/>
              <a:buChar char=""/>
              <a:tabLst>
                <a:tab pos="111125" algn="l"/>
              </a:tabLst>
            </a:pPr>
            <a:r>
              <a:rPr sz="500" spc="15" dirty="0">
                <a:latin typeface="Bookman Uralic"/>
                <a:cs typeface="Bookman Uralic"/>
              </a:rPr>
              <a:t>Two methods </a:t>
            </a:r>
            <a:r>
              <a:rPr sz="500" spc="10" dirty="0">
                <a:latin typeface="Bookman Uralic"/>
                <a:cs typeface="Bookman Uralic"/>
              </a:rPr>
              <a:t>that </a:t>
            </a:r>
            <a:r>
              <a:rPr sz="500" spc="5" dirty="0">
                <a:latin typeface="Bookman Uralic"/>
                <a:cs typeface="Bookman Uralic"/>
              </a:rPr>
              <a:t>are </a:t>
            </a:r>
            <a:r>
              <a:rPr sz="500" spc="10" dirty="0">
                <a:latin typeface="Bookman Uralic"/>
                <a:cs typeface="Bookman Uralic"/>
              </a:rPr>
              <a:t>commonly applied for biodiesel synthesis</a:t>
            </a:r>
            <a:r>
              <a:rPr sz="500" spc="75" dirty="0">
                <a:latin typeface="Bookman Uralic"/>
                <a:cs typeface="Bookman Uralic"/>
              </a:rPr>
              <a:t> </a:t>
            </a:r>
            <a:r>
              <a:rPr sz="500" spc="5" dirty="0">
                <a:latin typeface="Bookman Uralic"/>
                <a:cs typeface="Bookman Uralic"/>
              </a:rPr>
              <a:t>are</a:t>
            </a:r>
            <a:endParaRPr sz="500">
              <a:latin typeface="Bookman Uralic"/>
              <a:cs typeface="Bookman Uralic"/>
            </a:endParaRPr>
          </a:p>
          <a:p>
            <a:pPr marL="110490" algn="just">
              <a:lnSpc>
                <a:spcPct val="100000"/>
              </a:lnSpc>
              <a:spcBef>
                <a:spcPts val="40"/>
              </a:spcBef>
            </a:pPr>
            <a:r>
              <a:rPr sz="500" b="1" spc="10" dirty="0">
                <a:latin typeface="Bookman Uralic"/>
                <a:cs typeface="Bookman Uralic"/>
              </a:rPr>
              <a:t>transesterification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b="1" spc="10" dirty="0">
                <a:latin typeface="Bookman Uralic"/>
                <a:cs typeface="Bookman Uralic"/>
              </a:rPr>
              <a:t>esterification</a:t>
            </a:r>
            <a:r>
              <a:rPr sz="500" b="1" spc="-35" dirty="0">
                <a:latin typeface="Bookman Uralic"/>
                <a:cs typeface="Bookman Uralic"/>
              </a:rPr>
              <a:t> </a:t>
            </a:r>
            <a:r>
              <a:rPr sz="500" b="1" spc="15" dirty="0">
                <a:latin typeface="Bookman Uralic"/>
                <a:cs typeface="Bookman Uralic"/>
              </a:rPr>
              <a:t>processes</a:t>
            </a:r>
            <a:r>
              <a:rPr sz="500" spc="15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30250" marR="5080" indent="-718185">
              <a:lnSpc>
                <a:spcPct val="103000"/>
              </a:lnSpc>
              <a:spcBef>
                <a:spcPts val="85"/>
              </a:spcBef>
            </a:pPr>
            <a:r>
              <a:rPr sz="1150" spc="10" dirty="0"/>
              <a:t>Thermo-chemical conversion  of</a:t>
            </a:r>
            <a:r>
              <a:rPr sz="1150" spc="-5" dirty="0"/>
              <a:t> </a:t>
            </a:r>
            <a:r>
              <a:rPr sz="1150" spc="10" dirty="0"/>
              <a:t>biomass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135128" y="477774"/>
            <a:ext cx="2491105" cy="149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40" marR="5080" indent="-117475" algn="just">
              <a:lnSpc>
                <a:spcPct val="99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130175" algn="l"/>
              </a:tabLst>
            </a:pPr>
            <a:r>
              <a:rPr sz="650" spc="-5" dirty="0">
                <a:latin typeface="Bookman Uralic"/>
                <a:cs typeface="Bookman Uralic"/>
              </a:rPr>
              <a:t>Thermo-chemical conversion of biomass uses heat and  catalysts in order </a:t>
            </a:r>
            <a:r>
              <a:rPr sz="650" dirty="0">
                <a:latin typeface="Bookman Uralic"/>
                <a:cs typeface="Bookman Uralic"/>
              </a:rPr>
              <a:t>to </a:t>
            </a:r>
            <a:r>
              <a:rPr sz="650" spc="-5" dirty="0">
                <a:latin typeface="Bookman Uralic"/>
                <a:cs typeface="Bookman Uralic"/>
              </a:rPr>
              <a:t>convert biomass </a:t>
            </a:r>
            <a:r>
              <a:rPr sz="650" dirty="0">
                <a:latin typeface="Bookman Uralic"/>
                <a:cs typeface="Bookman Uralic"/>
              </a:rPr>
              <a:t>into </a:t>
            </a:r>
            <a:r>
              <a:rPr sz="650" spc="-5" dirty="0">
                <a:latin typeface="Bookman Uralic"/>
                <a:cs typeface="Bookman Uralic"/>
              </a:rPr>
              <a:t>thermal energy,  gas or liquid which can be used either directly for the  generation of electric </a:t>
            </a:r>
            <a:r>
              <a:rPr sz="650" spc="-10" dirty="0">
                <a:latin typeface="Bookman Uralic"/>
                <a:cs typeface="Bookman Uralic"/>
              </a:rPr>
              <a:t>power </a:t>
            </a:r>
            <a:r>
              <a:rPr sz="650" spc="-5" dirty="0">
                <a:latin typeface="Bookman Uralic"/>
                <a:cs typeface="Bookman Uralic"/>
              </a:rPr>
              <a:t>and heat, or it can </a:t>
            </a:r>
            <a:r>
              <a:rPr sz="650" spc="-10" dirty="0">
                <a:latin typeface="Bookman Uralic"/>
                <a:cs typeface="Bookman Uralic"/>
              </a:rPr>
              <a:t>be </a:t>
            </a:r>
            <a:r>
              <a:rPr sz="650" spc="-5" dirty="0">
                <a:latin typeface="Bookman Uralic"/>
                <a:cs typeface="Bookman Uralic"/>
              </a:rPr>
              <a:t>further  processed into fuel and</a:t>
            </a:r>
            <a:r>
              <a:rPr sz="650" spc="-20" dirty="0">
                <a:latin typeface="Bookman Uralic"/>
                <a:cs typeface="Bookman Uralic"/>
              </a:rPr>
              <a:t> </a:t>
            </a:r>
            <a:r>
              <a:rPr sz="650" spc="-5" dirty="0">
                <a:latin typeface="Bookman Uralic"/>
                <a:cs typeface="Bookman Uralic"/>
              </a:rPr>
              <a:t>chemicals.</a:t>
            </a:r>
            <a:endParaRPr sz="650">
              <a:latin typeface="Bookman Uralic"/>
              <a:cs typeface="Bookman Uralic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 panose="05000000000000000000"/>
              <a:buChar char=""/>
            </a:pPr>
            <a:endParaRPr sz="650">
              <a:latin typeface="Bookman Uralic"/>
              <a:cs typeface="Bookman Uralic"/>
            </a:endParaRPr>
          </a:p>
          <a:p>
            <a:pPr marL="129540" marR="5080" indent="-117475" algn="just">
              <a:lnSpc>
                <a:spcPct val="100000"/>
              </a:lnSpc>
              <a:buFont typeface="Wingdings" panose="05000000000000000000"/>
              <a:buChar char=""/>
              <a:tabLst>
                <a:tab pos="130175" algn="l"/>
              </a:tabLst>
            </a:pPr>
            <a:r>
              <a:rPr sz="650" spc="-5" dirty="0">
                <a:latin typeface="Bookman Uralic"/>
                <a:cs typeface="Bookman Uralic"/>
              </a:rPr>
              <a:t>Thermo-chemical conversion of biomass can take place </a:t>
            </a:r>
            <a:r>
              <a:rPr sz="650" spc="-15" dirty="0">
                <a:latin typeface="Bookman Uralic"/>
                <a:cs typeface="Bookman Uralic"/>
              </a:rPr>
              <a:t>by  </a:t>
            </a:r>
            <a:r>
              <a:rPr sz="650" dirty="0">
                <a:latin typeface="Bookman Uralic"/>
                <a:cs typeface="Bookman Uralic"/>
              </a:rPr>
              <a:t>the </a:t>
            </a:r>
            <a:r>
              <a:rPr sz="650" spc="-5" dirty="0">
                <a:latin typeface="Bookman Uralic"/>
                <a:cs typeface="Bookman Uralic"/>
              </a:rPr>
              <a:t>pathways categorized as </a:t>
            </a:r>
            <a:r>
              <a:rPr sz="650" b="1" i="1" spc="-5" dirty="0">
                <a:latin typeface="TeX Gyre Bonum"/>
                <a:cs typeface="TeX Gyre Bonum"/>
              </a:rPr>
              <a:t>direct combustion</a:t>
            </a:r>
            <a:r>
              <a:rPr sz="650" spc="-5" dirty="0">
                <a:latin typeface="Bookman Uralic"/>
                <a:cs typeface="Bookman Uralic"/>
              </a:rPr>
              <a:t>,  </a:t>
            </a:r>
            <a:r>
              <a:rPr sz="650" b="1" i="1" spc="-5" dirty="0">
                <a:latin typeface="TeX Gyre Bonum"/>
                <a:cs typeface="TeX Gyre Bonum"/>
              </a:rPr>
              <a:t>pyrolysis</a:t>
            </a:r>
            <a:r>
              <a:rPr sz="650" spc="-5" dirty="0">
                <a:latin typeface="Bookman Uralic"/>
                <a:cs typeface="Bookman Uralic"/>
              </a:rPr>
              <a:t>, </a:t>
            </a:r>
            <a:r>
              <a:rPr sz="650" b="1" i="1" spc="-5" dirty="0">
                <a:latin typeface="TeX Gyre Bonum"/>
                <a:cs typeface="TeX Gyre Bonum"/>
              </a:rPr>
              <a:t>gasification</a:t>
            </a:r>
            <a:r>
              <a:rPr sz="650" spc="-5" dirty="0">
                <a:latin typeface="Bookman Uralic"/>
                <a:cs typeface="Bookman Uralic"/>
              </a:rPr>
              <a:t>, and</a:t>
            </a:r>
            <a:r>
              <a:rPr sz="650" spc="-35" dirty="0">
                <a:latin typeface="Bookman Uralic"/>
                <a:cs typeface="Bookman Uralic"/>
              </a:rPr>
              <a:t> </a:t>
            </a:r>
            <a:r>
              <a:rPr sz="650" b="1" i="1" spc="-5" dirty="0">
                <a:latin typeface="TeX Gyre Bonum"/>
                <a:cs typeface="TeX Gyre Bonum"/>
              </a:rPr>
              <a:t>liquefaction</a:t>
            </a:r>
            <a:r>
              <a:rPr sz="650" spc="-5" dirty="0">
                <a:latin typeface="Bookman Uralic"/>
                <a:cs typeface="Bookman Uralic"/>
              </a:rPr>
              <a:t>.</a:t>
            </a:r>
            <a:endParaRPr sz="650">
              <a:latin typeface="Bookman Uralic"/>
              <a:cs typeface="Bookman Ural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 panose="05000000000000000000"/>
              <a:buChar char=""/>
            </a:pPr>
            <a:endParaRPr sz="650">
              <a:latin typeface="Bookman Uralic"/>
              <a:cs typeface="Bookman Uralic"/>
            </a:endParaRPr>
          </a:p>
          <a:p>
            <a:pPr marL="129540" marR="5080" indent="-117475" algn="just">
              <a:lnSpc>
                <a:spcPct val="99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130175" algn="l"/>
              </a:tabLst>
            </a:pPr>
            <a:r>
              <a:rPr sz="650" spc="-5" dirty="0">
                <a:latin typeface="Bookman Uralic"/>
                <a:cs typeface="Bookman Uralic"/>
              </a:rPr>
              <a:t>By using </a:t>
            </a:r>
            <a:r>
              <a:rPr sz="650" dirty="0">
                <a:latin typeface="Bookman Uralic"/>
                <a:cs typeface="Bookman Uralic"/>
              </a:rPr>
              <a:t>these </a:t>
            </a:r>
            <a:r>
              <a:rPr sz="650" spc="-5" dirty="0">
                <a:latin typeface="Bookman Uralic"/>
                <a:cs typeface="Bookman Uralic"/>
              </a:rPr>
              <a:t>processes, </a:t>
            </a:r>
            <a:r>
              <a:rPr sz="650" dirty="0">
                <a:latin typeface="Bookman Uralic"/>
                <a:cs typeface="Bookman Uralic"/>
              </a:rPr>
              <a:t>the </a:t>
            </a:r>
            <a:r>
              <a:rPr sz="650" spc="-10" dirty="0">
                <a:latin typeface="Bookman Uralic"/>
                <a:cs typeface="Bookman Uralic"/>
              </a:rPr>
              <a:t>biomass </a:t>
            </a:r>
            <a:r>
              <a:rPr sz="650" spc="-5" dirty="0">
                <a:latin typeface="Bookman Uralic"/>
                <a:cs typeface="Bookman Uralic"/>
              </a:rPr>
              <a:t>can </a:t>
            </a:r>
            <a:r>
              <a:rPr sz="650" spc="-10" dirty="0">
                <a:latin typeface="Bookman Uralic"/>
                <a:cs typeface="Bookman Uralic"/>
              </a:rPr>
              <a:t>be </a:t>
            </a:r>
            <a:r>
              <a:rPr sz="650" spc="-5" dirty="0">
                <a:latin typeface="Bookman Uralic"/>
                <a:cs typeface="Bookman Uralic"/>
              </a:rPr>
              <a:t>converted  into either a solid fuel, liquid fuel or gaseous fuel which  can </a:t>
            </a:r>
            <a:r>
              <a:rPr sz="650" spc="-10" dirty="0">
                <a:latin typeface="Bookman Uralic"/>
                <a:cs typeface="Bookman Uralic"/>
              </a:rPr>
              <a:t>be </a:t>
            </a:r>
            <a:r>
              <a:rPr sz="650" spc="-5" dirty="0">
                <a:latin typeface="Bookman Uralic"/>
                <a:cs typeface="Bookman Uralic"/>
              </a:rPr>
              <a:t>further used for </a:t>
            </a:r>
            <a:r>
              <a:rPr sz="650" dirty="0">
                <a:latin typeface="Bookman Uralic"/>
                <a:cs typeface="Bookman Uralic"/>
              </a:rPr>
              <a:t>the </a:t>
            </a:r>
            <a:r>
              <a:rPr sz="650" spc="-5" dirty="0">
                <a:latin typeface="Bookman Uralic"/>
                <a:cs typeface="Bookman Uralic"/>
              </a:rPr>
              <a:t>generation of electricity, heat,  chemicals and</a:t>
            </a:r>
            <a:r>
              <a:rPr sz="650" spc="-15" dirty="0">
                <a:latin typeface="Bookman Uralic"/>
                <a:cs typeface="Bookman Uralic"/>
              </a:rPr>
              <a:t> </a:t>
            </a:r>
            <a:r>
              <a:rPr sz="650" spc="-5" dirty="0">
                <a:latin typeface="Bookman Uralic"/>
                <a:cs typeface="Bookman Uralic"/>
              </a:rPr>
              <a:t>fuels.</a:t>
            </a:r>
            <a:endParaRPr sz="650">
              <a:latin typeface="Bookman Uralic"/>
              <a:cs typeface="Bookman Uralic"/>
            </a:endParaRPr>
          </a:p>
          <a:p>
            <a:pPr marR="6985" algn="r">
              <a:lnSpc>
                <a:spcPct val="100000"/>
              </a:lnSpc>
              <a:spcBef>
                <a:spcPts val="310"/>
              </a:spcBef>
            </a:pPr>
            <a:r>
              <a:rPr sz="350" b="1" spc="-10" dirty="0">
                <a:latin typeface="Bookman Uralic"/>
                <a:cs typeface="Bookman Uralic"/>
              </a:rPr>
              <a:t>30</a:t>
            </a:r>
            <a:endParaRPr sz="35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367" y="25399"/>
            <a:ext cx="21101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/>
              <a:t>Direct </a:t>
            </a:r>
            <a:r>
              <a:rPr sz="1050" dirty="0"/>
              <a:t>combustion of</a:t>
            </a:r>
            <a:r>
              <a:rPr sz="1050" spc="-30" dirty="0"/>
              <a:t> </a:t>
            </a:r>
            <a:r>
              <a:rPr sz="1050" dirty="0"/>
              <a:t>biomass</a:t>
            </a:r>
            <a:endParaRPr sz="1050"/>
          </a:p>
        </p:txBody>
      </p:sp>
      <p:grpSp>
        <p:nvGrpSpPr>
          <p:cNvPr id="3" name="object 3"/>
          <p:cNvGrpSpPr/>
          <p:nvPr/>
        </p:nvGrpSpPr>
        <p:grpSpPr>
          <a:xfrm>
            <a:off x="1509661" y="354395"/>
            <a:ext cx="34290" cy="101600"/>
            <a:chOff x="1509661" y="354395"/>
            <a:chExt cx="34290" cy="101600"/>
          </a:xfrm>
        </p:grpSpPr>
        <p:sp>
          <p:nvSpPr>
            <p:cNvPr id="4" name="object 4"/>
            <p:cNvSpPr/>
            <p:nvPr/>
          </p:nvSpPr>
          <p:spPr>
            <a:xfrm>
              <a:off x="1526719" y="366596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h="89534">
                  <a:moveTo>
                    <a:pt x="0" y="89380"/>
                  </a:moveTo>
                  <a:lnTo>
                    <a:pt x="0" y="0"/>
                  </a:lnTo>
                </a:path>
              </a:pathLst>
            </a:custGeom>
            <a:ln w="5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09661" y="354395"/>
              <a:ext cx="34290" cy="15240"/>
            </a:xfrm>
            <a:custGeom>
              <a:avLst/>
              <a:gdLst/>
              <a:ahLst/>
              <a:cxnLst/>
              <a:rect l="l" t="t" r="r" b="b"/>
              <a:pathLst>
                <a:path w="34290" h="15239">
                  <a:moveTo>
                    <a:pt x="17058" y="0"/>
                  </a:moveTo>
                  <a:lnTo>
                    <a:pt x="0" y="15232"/>
                  </a:lnTo>
                  <a:lnTo>
                    <a:pt x="34117" y="15232"/>
                  </a:lnTo>
                  <a:lnTo>
                    <a:pt x="170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487311" y="792922"/>
            <a:ext cx="74236" cy="18691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3451" y="750389"/>
            <a:ext cx="17145" cy="30480"/>
          </a:xfrm>
          <a:custGeom>
            <a:avLst/>
            <a:gdLst/>
            <a:ahLst/>
            <a:cxnLst/>
            <a:rect l="l" t="t" r="r" b="b"/>
            <a:pathLst>
              <a:path w="17144" h="30479">
                <a:moveTo>
                  <a:pt x="0" y="0"/>
                </a:moveTo>
                <a:lnTo>
                  <a:pt x="0" y="30465"/>
                </a:lnTo>
                <a:lnTo>
                  <a:pt x="17050" y="152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70095" y="750389"/>
            <a:ext cx="17145" cy="30480"/>
          </a:xfrm>
          <a:custGeom>
            <a:avLst/>
            <a:gdLst/>
            <a:ahLst/>
            <a:cxnLst/>
            <a:rect l="l" t="t" r="r" b="b"/>
            <a:pathLst>
              <a:path w="17144" h="30479">
                <a:moveTo>
                  <a:pt x="0" y="0"/>
                </a:moveTo>
                <a:lnTo>
                  <a:pt x="0" y="30465"/>
                </a:lnTo>
                <a:lnTo>
                  <a:pt x="17058" y="152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1630795" y="470884"/>
            <a:ext cx="611505" cy="385445"/>
            <a:chOff x="1630795" y="470884"/>
            <a:chExt cx="611505" cy="385445"/>
          </a:xfrm>
        </p:grpSpPr>
        <p:sp>
          <p:nvSpPr>
            <p:cNvPr id="10" name="object 10"/>
            <p:cNvSpPr/>
            <p:nvPr/>
          </p:nvSpPr>
          <p:spPr>
            <a:xfrm>
              <a:off x="1757726" y="688871"/>
              <a:ext cx="484049" cy="1672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62143" y="480314"/>
              <a:ext cx="0" cy="236854"/>
            </a:xfrm>
            <a:custGeom>
              <a:avLst/>
              <a:gdLst/>
              <a:ahLst/>
              <a:cxnLst/>
              <a:rect l="l" t="t" r="r" b="b"/>
              <a:pathLst>
                <a:path h="236854">
                  <a:moveTo>
                    <a:pt x="0" y="0"/>
                  </a:moveTo>
                  <a:lnTo>
                    <a:pt x="0" y="236343"/>
                  </a:lnTo>
                </a:path>
              </a:pathLst>
            </a:custGeom>
            <a:ln w="5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45084" y="713612"/>
              <a:ext cx="34290" cy="15240"/>
            </a:xfrm>
            <a:custGeom>
              <a:avLst/>
              <a:gdLst/>
              <a:ahLst/>
              <a:cxnLst/>
              <a:rect l="l" t="t" r="r" b="b"/>
              <a:pathLst>
                <a:path w="34289" h="15240">
                  <a:moveTo>
                    <a:pt x="34117" y="0"/>
                  </a:moveTo>
                  <a:lnTo>
                    <a:pt x="0" y="0"/>
                  </a:lnTo>
                  <a:lnTo>
                    <a:pt x="17058" y="15232"/>
                  </a:lnTo>
                  <a:lnTo>
                    <a:pt x="34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33335" y="473742"/>
              <a:ext cx="270510" cy="231775"/>
            </a:xfrm>
            <a:custGeom>
              <a:avLst/>
              <a:gdLst/>
              <a:ahLst/>
              <a:cxnLst/>
              <a:rect l="l" t="t" r="r" b="b"/>
              <a:pathLst>
                <a:path w="270510" h="231775">
                  <a:moveTo>
                    <a:pt x="128807" y="6389"/>
                  </a:moveTo>
                  <a:lnTo>
                    <a:pt x="0" y="6389"/>
                  </a:lnTo>
                </a:path>
                <a:path w="270510" h="231775">
                  <a:moveTo>
                    <a:pt x="242057" y="15232"/>
                  </a:moveTo>
                  <a:lnTo>
                    <a:pt x="135441" y="15232"/>
                  </a:lnTo>
                </a:path>
                <a:path w="270510" h="231775">
                  <a:moveTo>
                    <a:pt x="152499" y="30465"/>
                  </a:moveTo>
                  <a:lnTo>
                    <a:pt x="135441" y="15232"/>
                  </a:lnTo>
                  <a:lnTo>
                    <a:pt x="152499" y="0"/>
                  </a:lnTo>
                </a:path>
                <a:path w="270510" h="231775">
                  <a:moveTo>
                    <a:pt x="253192" y="136095"/>
                  </a:moveTo>
                  <a:lnTo>
                    <a:pt x="253192" y="231301"/>
                  </a:lnTo>
                </a:path>
                <a:path w="270510" h="231775">
                  <a:moveTo>
                    <a:pt x="270250" y="216068"/>
                  </a:moveTo>
                  <a:lnTo>
                    <a:pt x="253192" y="231301"/>
                  </a:lnTo>
                  <a:lnTo>
                    <a:pt x="236133" y="216068"/>
                  </a:lnTo>
                </a:path>
              </a:pathLst>
            </a:custGeom>
            <a:ln w="5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56085" y="699552"/>
          <a:ext cx="1017905" cy="132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"/>
                <a:gridCol w="283845"/>
                <a:gridCol w="116204"/>
                <a:gridCol w="398145"/>
                <a:gridCol w="10223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450" spc="20" dirty="0">
                          <a:latin typeface="Times New Roman" panose="02020603050405020304"/>
                          <a:cs typeface="Times New Roman" panose="02020603050405020304"/>
                        </a:rPr>
                        <a:t>Storage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450" spc="20" dirty="0">
                          <a:latin typeface="Times New Roman" panose="02020603050405020304"/>
                          <a:cs typeface="Times New Roman" panose="02020603050405020304"/>
                        </a:rPr>
                        <a:t>Pretreatment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965067" y="529880"/>
            <a:ext cx="404495" cy="93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2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450" spc="20" dirty="0">
                <a:latin typeface="Times New Roman" panose="02020603050405020304"/>
                <a:cs typeface="Times New Roman" panose="02020603050405020304"/>
              </a:rPr>
              <a:t>urnac</a:t>
            </a:r>
            <a:r>
              <a:rPr sz="450" spc="15" dirty="0">
                <a:latin typeface="Times New Roman" panose="02020603050405020304"/>
                <a:cs typeface="Times New Roman" panose="02020603050405020304"/>
              </a:rPr>
              <a:t>e/Boiler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2221" y="268070"/>
            <a:ext cx="229235" cy="93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20" dirty="0">
                <a:latin typeface="Times New Roman" panose="02020603050405020304"/>
                <a:cs typeface="Times New Roman" panose="02020603050405020304"/>
              </a:rPr>
              <a:t>Exhau</a:t>
            </a:r>
            <a:r>
              <a:rPr sz="450" spc="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50" spc="10" dirty="0">
                <a:latin typeface="Times New Roman" panose="02020603050405020304"/>
                <a:cs typeface="Times New Roman" panose="02020603050405020304"/>
              </a:rPr>
              <a:t>t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2750" y="750389"/>
            <a:ext cx="17145" cy="30480"/>
          </a:xfrm>
          <a:custGeom>
            <a:avLst/>
            <a:gdLst/>
            <a:ahLst/>
            <a:cxnLst/>
            <a:rect l="l" t="t" r="r" b="b"/>
            <a:pathLst>
              <a:path w="17145" h="30479">
                <a:moveTo>
                  <a:pt x="0" y="0"/>
                </a:moveTo>
                <a:lnTo>
                  <a:pt x="0" y="30465"/>
                </a:lnTo>
                <a:lnTo>
                  <a:pt x="17058" y="152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9066" y="712351"/>
            <a:ext cx="243204" cy="93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0" spc="25" dirty="0">
                <a:latin typeface="Times New Roman" panose="02020603050405020304"/>
                <a:cs typeface="Times New Roman" panose="02020603050405020304"/>
              </a:rPr>
              <a:t>Bioma</a:t>
            </a:r>
            <a:r>
              <a:rPr sz="450" spc="15" dirty="0">
                <a:latin typeface="Times New Roman" panose="02020603050405020304"/>
                <a:cs typeface="Times New Roman" panose="02020603050405020304"/>
              </a:rPr>
              <a:t>ss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2691" y="413503"/>
            <a:ext cx="262255" cy="207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8740">
              <a:lnSpc>
                <a:spcPct val="133000"/>
              </a:lnSpc>
              <a:spcBef>
                <a:spcPts val="100"/>
              </a:spcBef>
            </a:pPr>
            <a:r>
              <a:rPr sz="450" spc="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50" spc="15" dirty="0">
                <a:latin typeface="Times New Roman" panose="02020603050405020304"/>
                <a:cs typeface="Times New Roman" panose="02020603050405020304"/>
              </a:rPr>
              <a:t>team  </a:t>
            </a:r>
            <a:r>
              <a:rPr sz="450" spc="20" dirty="0">
                <a:latin typeface="Times New Roman" panose="02020603050405020304"/>
                <a:cs typeface="Times New Roman" panose="02020603050405020304"/>
              </a:rPr>
              <a:t>Turbine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34950" y="754078"/>
            <a:ext cx="127000" cy="30480"/>
            <a:chOff x="2234950" y="754078"/>
            <a:chExt cx="127000" cy="30480"/>
          </a:xfrm>
        </p:grpSpPr>
        <p:sp>
          <p:nvSpPr>
            <p:cNvPr id="21" name="object 21"/>
            <p:cNvSpPr/>
            <p:nvPr/>
          </p:nvSpPr>
          <p:spPr>
            <a:xfrm>
              <a:off x="2237490" y="769311"/>
              <a:ext cx="111125" cy="0"/>
            </a:xfrm>
            <a:custGeom>
              <a:avLst/>
              <a:gdLst/>
              <a:ahLst/>
              <a:cxnLst/>
              <a:rect l="l" t="t" r="r" b="b"/>
              <a:pathLst>
                <a:path w="111125">
                  <a:moveTo>
                    <a:pt x="0" y="0"/>
                  </a:moveTo>
                  <a:lnTo>
                    <a:pt x="110722" y="0"/>
                  </a:lnTo>
                </a:path>
              </a:pathLst>
            </a:custGeom>
            <a:ln w="50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44817" y="754078"/>
              <a:ext cx="17145" cy="30480"/>
            </a:xfrm>
            <a:custGeom>
              <a:avLst/>
              <a:gdLst/>
              <a:ahLst/>
              <a:cxnLst/>
              <a:rect l="l" t="t" r="r" b="b"/>
              <a:pathLst>
                <a:path w="17144" h="30479">
                  <a:moveTo>
                    <a:pt x="0" y="0"/>
                  </a:moveTo>
                  <a:lnTo>
                    <a:pt x="0" y="30465"/>
                  </a:lnTo>
                  <a:lnTo>
                    <a:pt x="17058" y="15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1375641" y="566832"/>
            <a:ext cx="106680" cy="30480"/>
          </a:xfrm>
          <a:custGeom>
            <a:avLst/>
            <a:gdLst/>
            <a:ahLst/>
            <a:cxnLst/>
            <a:rect l="l" t="t" r="r" b="b"/>
            <a:pathLst>
              <a:path w="106680" h="30479">
                <a:moveTo>
                  <a:pt x="0" y="15232"/>
                </a:moveTo>
                <a:lnTo>
                  <a:pt x="106615" y="15232"/>
                </a:lnTo>
              </a:path>
              <a:path w="106680" h="30479">
                <a:moveTo>
                  <a:pt x="89557" y="0"/>
                </a:moveTo>
                <a:lnTo>
                  <a:pt x="106615" y="15232"/>
                </a:lnTo>
                <a:lnTo>
                  <a:pt x="89557" y="30465"/>
                </a:lnTo>
              </a:path>
            </a:pathLst>
          </a:custGeom>
          <a:ln w="538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0827" y="847261"/>
            <a:ext cx="2665730" cy="112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7640" marR="1145540" indent="-53340">
              <a:lnSpc>
                <a:spcPct val="135000"/>
              </a:lnSpc>
              <a:spcBef>
                <a:spcPts val="100"/>
              </a:spcBef>
            </a:pPr>
            <a:r>
              <a:rPr sz="450" spc="25" dirty="0">
                <a:latin typeface="Times New Roman" panose="02020603050405020304"/>
                <a:cs typeface="Times New Roman" panose="02020603050405020304"/>
              </a:rPr>
              <a:t>Ash  Co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697865">
              <a:lnSpc>
                <a:spcPts val="530"/>
              </a:lnSpc>
            </a:pPr>
            <a:r>
              <a:rPr sz="450" b="1" i="1" spc="20" dirty="0">
                <a:latin typeface="Times New Roman" panose="02020603050405020304"/>
                <a:cs typeface="Times New Roman" panose="02020603050405020304"/>
              </a:rPr>
              <a:t>Direct combustion/Steam turbine</a:t>
            </a:r>
            <a:r>
              <a:rPr sz="450" b="1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2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00">
              <a:latin typeface="Times New Roman" panose="02020603050405020304"/>
              <a:cs typeface="Times New Roman" panose="02020603050405020304"/>
            </a:endParaRPr>
          </a:p>
          <a:p>
            <a:pPr marL="120650" indent="-70485" algn="just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"/>
              <a:tabLst>
                <a:tab pos="121285" algn="l"/>
              </a:tabLst>
            </a:pPr>
            <a:r>
              <a:rPr sz="500" spc="10" dirty="0">
                <a:latin typeface="Bookman Uralic"/>
                <a:cs typeface="Bookman Uralic"/>
              </a:rPr>
              <a:t>In direct combustion, biomass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burned in </a:t>
            </a:r>
            <a:r>
              <a:rPr sz="500" spc="15" dirty="0">
                <a:latin typeface="Bookman Uralic"/>
                <a:cs typeface="Bookman Uralic"/>
              </a:rPr>
              <a:t>presence </a:t>
            </a:r>
            <a:r>
              <a:rPr sz="500" spc="10" dirty="0">
                <a:latin typeface="Bookman Uralic"/>
                <a:cs typeface="Bookman Uralic"/>
              </a:rPr>
              <a:t>of </a:t>
            </a:r>
            <a:r>
              <a:rPr sz="500" b="1" i="1" spc="15" dirty="0">
                <a:latin typeface="TeX Gyre Bonum"/>
                <a:cs typeface="TeX Gyre Bonum"/>
              </a:rPr>
              <a:t>excess</a:t>
            </a:r>
            <a:r>
              <a:rPr sz="500" b="1" i="1" spc="-50" dirty="0">
                <a:latin typeface="TeX Gyre Bonum"/>
                <a:cs typeface="TeX Gyre Bonum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oxygen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  <a:p>
            <a:pPr marL="120650" marR="43180" indent="-70485" algn="just">
              <a:lnSpc>
                <a:spcPct val="106000"/>
              </a:lnSpc>
              <a:spcBef>
                <a:spcPts val="310"/>
              </a:spcBef>
              <a:buFont typeface="Wingdings" panose="05000000000000000000"/>
              <a:buChar char=""/>
              <a:tabLst>
                <a:tab pos="121285" algn="l"/>
              </a:tabLst>
            </a:pPr>
            <a:r>
              <a:rPr sz="500" spc="10" dirty="0">
                <a:latin typeface="Bookman Uralic"/>
                <a:cs typeface="Bookman Uralic"/>
              </a:rPr>
              <a:t>The products from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combustion of biomass are heat, </a:t>
            </a:r>
            <a:r>
              <a:rPr sz="500" spc="5" dirty="0">
                <a:latin typeface="Bookman Uralic"/>
                <a:cs typeface="Bookman Uralic"/>
              </a:rPr>
              <a:t>light, </a:t>
            </a:r>
            <a:r>
              <a:rPr sz="500" spc="15" dirty="0">
                <a:latin typeface="Bookman Uralic"/>
                <a:cs typeface="Bookman Uralic"/>
              </a:rPr>
              <a:t>and  </a:t>
            </a:r>
            <a:r>
              <a:rPr sz="500" spc="10" dirty="0">
                <a:latin typeface="Bookman Uralic"/>
                <a:cs typeface="Bookman Uralic"/>
              </a:rPr>
              <a:t>byproducts </a:t>
            </a:r>
            <a:r>
              <a:rPr sz="500" spc="15" dirty="0">
                <a:latin typeface="Bookman Uralic"/>
                <a:cs typeface="Bookman Uralic"/>
              </a:rPr>
              <a:t>at </a:t>
            </a:r>
            <a:r>
              <a:rPr sz="500" spc="10" dirty="0">
                <a:latin typeface="Bookman Uralic"/>
                <a:cs typeface="Bookman Uralic"/>
              </a:rPr>
              <a:t>temperatures around </a:t>
            </a:r>
            <a:r>
              <a:rPr sz="500" spc="5" dirty="0">
                <a:latin typeface="Bookman Uralic"/>
                <a:cs typeface="Bookman Uralic"/>
              </a:rPr>
              <a:t>800°</a:t>
            </a:r>
            <a:r>
              <a:rPr sz="500" i="1" spc="5" dirty="0">
                <a:latin typeface="Bookman Uralic"/>
                <a:cs typeface="Bookman Uralic"/>
              </a:rPr>
              <a:t>C</a:t>
            </a:r>
            <a:r>
              <a:rPr sz="500" spc="5" dirty="0">
                <a:latin typeface="Georgia" panose="02040502050405020303"/>
                <a:cs typeface="Georgia" panose="02040502050405020303"/>
              </a:rPr>
              <a:t>–</a:t>
            </a:r>
            <a:r>
              <a:rPr sz="500" spc="5" dirty="0">
                <a:latin typeface="Bookman Uralic"/>
                <a:cs typeface="Bookman Uralic"/>
              </a:rPr>
              <a:t>1000°</a:t>
            </a:r>
            <a:r>
              <a:rPr sz="500" i="1" spc="5" dirty="0">
                <a:latin typeface="Bookman Uralic"/>
                <a:cs typeface="Bookman Uralic"/>
              </a:rPr>
              <a:t>C</a:t>
            </a:r>
            <a:r>
              <a:rPr sz="500" spc="5" dirty="0">
                <a:latin typeface="Bookman Uralic"/>
                <a:cs typeface="Bookman Uralic"/>
              </a:rPr>
              <a:t>. </a:t>
            </a:r>
            <a:r>
              <a:rPr sz="500" spc="10" dirty="0">
                <a:latin typeface="Bookman Uralic"/>
                <a:cs typeface="Bookman Uralic"/>
              </a:rPr>
              <a:t>This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result of the  </a:t>
            </a:r>
            <a:r>
              <a:rPr sz="500" b="1" i="1" spc="10" dirty="0">
                <a:latin typeface="TeX Gyre Bonum"/>
                <a:cs typeface="TeX Gyre Bonum"/>
              </a:rPr>
              <a:t>exothermic reaction </a:t>
            </a:r>
            <a:r>
              <a:rPr sz="500" spc="10" dirty="0">
                <a:latin typeface="Bookman Uralic"/>
                <a:cs typeface="Bookman Uralic"/>
              </a:rPr>
              <a:t>between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b="1" i="1" spc="10" dirty="0">
                <a:latin typeface="TeX Gyre Bonum"/>
                <a:cs typeface="TeX Gyre Bonum"/>
              </a:rPr>
              <a:t>carbon </a:t>
            </a:r>
            <a:r>
              <a:rPr sz="500" spc="10" dirty="0">
                <a:latin typeface="Bookman Uralic"/>
                <a:cs typeface="Bookman Uralic"/>
              </a:rPr>
              <a:t>and </a:t>
            </a:r>
            <a:r>
              <a:rPr sz="500" b="1" i="1" spc="10" dirty="0">
                <a:latin typeface="TeX Gyre Bonum"/>
                <a:cs typeface="TeX Gyre Bonum"/>
              </a:rPr>
              <a:t>oxygen </a:t>
            </a:r>
            <a:r>
              <a:rPr sz="500" spc="10" dirty="0">
                <a:latin typeface="Bookman Uralic"/>
                <a:cs typeface="Bookman Uralic"/>
              </a:rPr>
              <a:t>in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fuel that </a:t>
            </a:r>
            <a:r>
              <a:rPr sz="500" spc="180" dirty="0">
                <a:latin typeface="Bookman Uralic"/>
                <a:cs typeface="Bookman Uralic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releases a </a:t>
            </a:r>
            <a:r>
              <a:rPr sz="500" spc="10" dirty="0">
                <a:latin typeface="Bookman Uralic"/>
                <a:cs typeface="Bookman Uralic"/>
              </a:rPr>
              <a:t>significant </a:t>
            </a:r>
            <a:r>
              <a:rPr sz="500" spc="15" dirty="0">
                <a:latin typeface="Bookman Uralic"/>
                <a:cs typeface="Bookman Uralic"/>
              </a:rPr>
              <a:t>amount </a:t>
            </a:r>
            <a:r>
              <a:rPr sz="500" spc="10" dirty="0">
                <a:latin typeface="Bookman Uralic"/>
                <a:cs typeface="Bookman Uralic"/>
              </a:rPr>
              <a:t>of </a:t>
            </a:r>
            <a:r>
              <a:rPr sz="500" spc="15" dirty="0">
                <a:latin typeface="Bookman Uralic"/>
                <a:cs typeface="Bookman Uralic"/>
              </a:rPr>
              <a:t>heat, </a:t>
            </a:r>
            <a:r>
              <a:rPr sz="500" spc="10" dirty="0">
                <a:latin typeface="Bookman Uralic"/>
                <a:cs typeface="Bookman Uralic"/>
              </a:rPr>
              <a:t>while forming </a:t>
            </a:r>
            <a:r>
              <a:rPr sz="500" b="1" i="1" spc="15" dirty="0">
                <a:latin typeface="TeX Gyre Bonum"/>
                <a:cs typeface="TeX Gyre Bonum"/>
              </a:rPr>
              <a:t>water</a:t>
            </a:r>
            <a:r>
              <a:rPr sz="500" b="1" i="1" spc="-125" dirty="0">
                <a:latin typeface="TeX Gyre Bonum"/>
                <a:cs typeface="TeX Gyre Bonum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b="1" i="1" spc="10" dirty="0">
                <a:latin typeface="TeX Gyre Bonum"/>
                <a:cs typeface="TeX Gyre Bonum"/>
              </a:rPr>
              <a:t>CO</a:t>
            </a:r>
            <a:r>
              <a:rPr sz="525" b="1" i="1" spc="15" baseline="-16000" dirty="0">
                <a:latin typeface="TeX Gyre Bonum"/>
                <a:cs typeface="TeX Gyre Bonum"/>
              </a:rPr>
              <a:t>2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  <a:p>
            <a:pPr marL="120650" marR="43180" indent="-70485" algn="just">
              <a:lnSpc>
                <a:spcPct val="105000"/>
              </a:lnSpc>
              <a:spcBef>
                <a:spcPts val="315"/>
              </a:spcBef>
              <a:buFont typeface="Wingdings" panose="05000000000000000000"/>
              <a:buChar char=""/>
              <a:tabLst>
                <a:tab pos="121285" algn="l"/>
              </a:tabLst>
            </a:pPr>
            <a:r>
              <a:rPr sz="500" spc="10" dirty="0">
                <a:latin typeface="Bookman Uralic"/>
                <a:cs typeface="Bookman Uralic"/>
              </a:rPr>
              <a:t>Energy produced </a:t>
            </a:r>
            <a:r>
              <a:rPr sz="500" spc="15" dirty="0">
                <a:latin typeface="Bookman Uralic"/>
                <a:cs typeface="Bookman Uralic"/>
              </a:rPr>
              <a:t>by </a:t>
            </a:r>
            <a:r>
              <a:rPr sz="500" spc="10" dirty="0">
                <a:latin typeface="Bookman Uralic"/>
                <a:cs typeface="Bookman Uralic"/>
              </a:rPr>
              <a:t>combustion of biomass </a:t>
            </a:r>
            <a:r>
              <a:rPr sz="500" spc="15" dirty="0">
                <a:latin typeface="Bookman Uralic"/>
                <a:cs typeface="Bookman Uralic"/>
              </a:rPr>
              <a:t>can </a:t>
            </a:r>
            <a:r>
              <a:rPr sz="500" spc="5" dirty="0">
                <a:latin typeface="Bookman Uralic"/>
                <a:cs typeface="Bookman Uralic"/>
              </a:rPr>
              <a:t>be </a:t>
            </a:r>
            <a:r>
              <a:rPr sz="500" spc="10" dirty="0">
                <a:latin typeface="Bookman Uralic"/>
                <a:cs typeface="Bookman Uralic"/>
              </a:rPr>
              <a:t>utilized in the </a:t>
            </a:r>
            <a:r>
              <a:rPr sz="500" spc="18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generation of electricity, or </a:t>
            </a:r>
            <a:r>
              <a:rPr sz="500" spc="15" dirty="0">
                <a:latin typeface="Bookman Uralic"/>
                <a:cs typeface="Bookman Uralic"/>
              </a:rPr>
              <a:t>used </a:t>
            </a:r>
            <a:r>
              <a:rPr sz="500" spc="10" dirty="0">
                <a:latin typeface="Bookman Uralic"/>
                <a:cs typeface="Bookman Uralic"/>
              </a:rPr>
              <a:t>directly for stoves, boilers, </a:t>
            </a:r>
            <a:r>
              <a:rPr sz="500" spc="5" dirty="0">
                <a:latin typeface="Bookman Uralic"/>
                <a:cs typeface="Bookman Uralic"/>
              </a:rPr>
              <a:t>district </a:t>
            </a:r>
            <a:r>
              <a:rPr sz="500" spc="10" dirty="0">
                <a:latin typeface="Bookman Uralic"/>
                <a:cs typeface="Bookman Uralic"/>
              </a:rPr>
              <a:t>heating  (heat and/or cooling to multiple buildings from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central source),</a:t>
            </a:r>
            <a:r>
              <a:rPr sz="500" spc="-30" dirty="0">
                <a:latin typeface="Bookman Uralic"/>
                <a:cs typeface="Bookman Uralic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etc.</a:t>
            </a:r>
            <a:endParaRPr sz="500">
              <a:latin typeface="Bookman Uralic"/>
              <a:cs typeface="Bookman Uralic"/>
            </a:endParaRPr>
          </a:p>
          <a:p>
            <a:pPr marR="45720" algn="r">
              <a:lnSpc>
                <a:spcPct val="100000"/>
              </a:lnSpc>
              <a:spcBef>
                <a:spcPts val="115"/>
              </a:spcBef>
            </a:pPr>
            <a:r>
              <a:rPr sz="350" b="1" spc="-10" dirty="0">
                <a:latin typeface="Bookman Uralic"/>
                <a:cs typeface="Bookman Uralic"/>
              </a:rPr>
              <a:t>31</a:t>
            </a:r>
            <a:endParaRPr sz="350">
              <a:latin typeface="Bookman Uralic"/>
              <a:cs typeface="Bookman Uralic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541920" y="926491"/>
          <a:ext cx="633095" cy="107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765"/>
                <a:gridCol w="346710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450" spc="20" dirty="0">
                          <a:latin typeface="Times New Roman" panose="02020603050405020304"/>
                          <a:cs typeface="Times New Roman" panose="02020603050405020304"/>
                        </a:rPr>
                        <a:t>Condenser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300"/>
                        </a:lnSpc>
                      </a:pPr>
                      <a:r>
                        <a:rPr sz="450" spc="20" dirty="0">
                          <a:latin typeface="Times New Roman" panose="02020603050405020304"/>
                          <a:cs typeface="Times New Roman" panose="02020603050405020304"/>
                        </a:rPr>
                        <a:t>ndensate</a:t>
                      </a:r>
                      <a:endParaRPr sz="4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26" name="object 26"/>
          <p:cNvGrpSpPr/>
          <p:nvPr/>
        </p:nvGrpSpPr>
        <p:grpSpPr>
          <a:xfrm>
            <a:off x="1979165" y="851667"/>
            <a:ext cx="34290" cy="75565"/>
            <a:chOff x="1979165" y="851667"/>
            <a:chExt cx="34290" cy="75565"/>
          </a:xfrm>
        </p:grpSpPr>
        <p:sp>
          <p:nvSpPr>
            <p:cNvPr id="27" name="object 27"/>
            <p:cNvSpPr/>
            <p:nvPr/>
          </p:nvSpPr>
          <p:spPr>
            <a:xfrm>
              <a:off x="1996223" y="851667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0"/>
                  </a:moveTo>
                  <a:lnTo>
                    <a:pt x="0" y="63209"/>
                  </a:lnTo>
                </a:path>
              </a:pathLst>
            </a:custGeom>
            <a:ln w="5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79165" y="911831"/>
              <a:ext cx="34290" cy="15240"/>
            </a:xfrm>
            <a:custGeom>
              <a:avLst/>
              <a:gdLst/>
              <a:ahLst/>
              <a:cxnLst/>
              <a:rect l="l" t="t" r="r" b="b"/>
              <a:pathLst>
                <a:path w="34289" h="15240">
                  <a:moveTo>
                    <a:pt x="34117" y="0"/>
                  </a:moveTo>
                  <a:lnTo>
                    <a:pt x="0" y="0"/>
                  </a:lnTo>
                  <a:lnTo>
                    <a:pt x="17058" y="15232"/>
                  </a:lnTo>
                  <a:lnTo>
                    <a:pt x="34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027117" y="664748"/>
            <a:ext cx="501650" cy="208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95"/>
              </a:spcBef>
            </a:pPr>
            <a:r>
              <a:rPr sz="450" spc="15" dirty="0">
                <a:latin typeface="Times New Roman" panose="02020603050405020304"/>
                <a:cs typeface="Times New Roman" panose="02020603050405020304"/>
              </a:rPr>
              <a:t>Electricity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450" spc="20" dirty="0">
                <a:latin typeface="Times New Roman" panose="02020603050405020304"/>
                <a:cs typeface="Times New Roman" panose="02020603050405020304"/>
              </a:rPr>
              <a:t>Generator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31" name="object 31"/>
            <p:cNvSpPr/>
            <p:nvPr/>
          </p:nvSpPr>
          <p:spPr>
            <a:xfrm>
              <a:off x="1491181" y="447190"/>
              <a:ext cx="142240" cy="381000"/>
            </a:xfrm>
            <a:custGeom>
              <a:avLst/>
              <a:gdLst/>
              <a:ahLst/>
              <a:cxnLst/>
              <a:rect l="l" t="t" r="r" b="b"/>
              <a:pathLst>
                <a:path w="142239" h="381000">
                  <a:moveTo>
                    <a:pt x="142154" y="0"/>
                  </a:moveTo>
                  <a:lnTo>
                    <a:pt x="0" y="12144"/>
                  </a:lnTo>
                  <a:lnTo>
                    <a:pt x="0" y="325287"/>
                  </a:lnTo>
                  <a:lnTo>
                    <a:pt x="35538" y="380260"/>
                  </a:lnTo>
                  <a:lnTo>
                    <a:pt x="75499" y="380824"/>
                  </a:lnTo>
                  <a:lnTo>
                    <a:pt x="111038" y="325858"/>
                  </a:lnTo>
                  <a:lnTo>
                    <a:pt x="111038" y="158676"/>
                  </a:lnTo>
                  <a:lnTo>
                    <a:pt x="84344" y="117456"/>
                  </a:lnTo>
                  <a:lnTo>
                    <a:pt x="142154" y="65882"/>
                  </a:lnTo>
                  <a:lnTo>
                    <a:pt x="1421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491181" y="447190"/>
              <a:ext cx="697230" cy="381000"/>
            </a:xfrm>
            <a:custGeom>
              <a:avLst/>
              <a:gdLst/>
              <a:ahLst/>
              <a:cxnLst/>
              <a:rect l="l" t="t" r="r" b="b"/>
              <a:pathLst>
                <a:path w="697230" h="381000">
                  <a:moveTo>
                    <a:pt x="111038" y="325858"/>
                  </a:moveTo>
                  <a:lnTo>
                    <a:pt x="75499" y="380824"/>
                  </a:lnTo>
                  <a:lnTo>
                    <a:pt x="35538" y="380260"/>
                  </a:lnTo>
                  <a:lnTo>
                    <a:pt x="0" y="325287"/>
                  </a:lnTo>
                  <a:lnTo>
                    <a:pt x="0" y="12144"/>
                  </a:lnTo>
                  <a:lnTo>
                    <a:pt x="142154" y="0"/>
                  </a:lnTo>
                  <a:lnTo>
                    <a:pt x="142154" y="65882"/>
                  </a:lnTo>
                  <a:lnTo>
                    <a:pt x="84344" y="117456"/>
                  </a:lnTo>
                  <a:lnTo>
                    <a:pt x="111038" y="158676"/>
                  </a:lnTo>
                  <a:lnTo>
                    <a:pt x="111038" y="325858"/>
                  </a:lnTo>
                  <a:close/>
                </a:path>
                <a:path w="697230" h="381000">
                  <a:moveTo>
                    <a:pt x="646722" y="322120"/>
                  </a:moveTo>
                  <a:lnTo>
                    <a:pt x="650118" y="327233"/>
                  </a:lnTo>
                  <a:lnTo>
                    <a:pt x="658489" y="329363"/>
                  </a:lnTo>
                  <a:lnTo>
                    <a:pt x="665360" y="326867"/>
                  </a:lnTo>
                  <a:lnTo>
                    <a:pt x="668124" y="325858"/>
                  </a:lnTo>
                  <a:lnTo>
                    <a:pt x="670415" y="324187"/>
                  </a:lnTo>
                  <a:lnTo>
                    <a:pt x="671757" y="322120"/>
                  </a:lnTo>
                  <a:lnTo>
                    <a:pt x="675153" y="317008"/>
                  </a:lnTo>
                  <a:lnTo>
                    <a:pt x="683524" y="314885"/>
                  </a:lnTo>
                  <a:lnTo>
                    <a:pt x="690395" y="317374"/>
                  </a:lnTo>
                  <a:lnTo>
                    <a:pt x="693159" y="318383"/>
                  </a:lnTo>
                  <a:lnTo>
                    <a:pt x="695450" y="320054"/>
                  </a:lnTo>
                  <a:lnTo>
                    <a:pt x="696792" y="322120"/>
                  </a:lnTo>
                </a:path>
              </a:pathLst>
            </a:custGeom>
            <a:ln w="8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0" y="0"/>
              <a:ext cx="2681605" cy="2011045"/>
            </a:xfrm>
            <a:custGeom>
              <a:avLst/>
              <a:gdLst/>
              <a:ahLst/>
              <a:cxnLst/>
              <a:rect l="l" t="t" r="r" b="b"/>
              <a:pathLst>
                <a:path w="2681605" h="2011045">
                  <a:moveTo>
                    <a:pt x="0" y="2010790"/>
                  </a:moveTo>
                  <a:lnTo>
                    <a:pt x="2681351" y="201079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79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926" y="92709"/>
            <a:ext cx="234251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/>
              <a:t>Direct combustion of</a:t>
            </a:r>
            <a:r>
              <a:rPr sz="1150" spc="-55" dirty="0"/>
              <a:t> </a:t>
            </a:r>
            <a:r>
              <a:rPr sz="1150" spc="10" dirty="0"/>
              <a:t>biomass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104394" y="362838"/>
            <a:ext cx="155892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2550" indent="-70485">
              <a:lnSpc>
                <a:spcPct val="100000"/>
              </a:lnSpc>
              <a:spcBef>
                <a:spcPts val="125"/>
              </a:spcBef>
              <a:buFont typeface="Wingdings" panose="05000000000000000000"/>
              <a:buChar char=""/>
              <a:tabLst>
                <a:tab pos="83185" algn="l"/>
              </a:tabLst>
            </a:pPr>
            <a:r>
              <a:rPr sz="500" spc="10" dirty="0">
                <a:latin typeface="Bookman Uralic"/>
                <a:cs typeface="Bookman Uralic"/>
              </a:rPr>
              <a:t>In </a:t>
            </a:r>
            <a:r>
              <a:rPr sz="500" i="1" spc="10" dirty="0">
                <a:latin typeface="Bookman Uralic"/>
                <a:cs typeface="Bookman Uralic"/>
              </a:rPr>
              <a:t>fluidised </a:t>
            </a:r>
            <a:r>
              <a:rPr sz="500" i="1" spc="15" dirty="0">
                <a:latin typeface="Bookman Uralic"/>
                <a:cs typeface="Bookman Uralic"/>
              </a:rPr>
              <a:t>bed </a:t>
            </a:r>
            <a:r>
              <a:rPr sz="500" i="1" spc="10" dirty="0">
                <a:latin typeface="Bookman Uralic"/>
                <a:cs typeface="Bookman Uralic"/>
              </a:rPr>
              <a:t>combustion </a:t>
            </a:r>
            <a:r>
              <a:rPr sz="500" spc="10" dirty="0">
                <a:latin typeface="Bookman Uralic"/>
                <a:cs typeface="Bookman Uralic"/>
              </a:rPr>
              <a:t>of </a:t>
            </a:r>
            <a:r>
              <a:rPr sz="500" spc="15" dirty="0">
                <a:latin typeface="Bookman Uralic"/>
                <a:cs typeface="Bookman Uralic"/>
              </a:rPr>
              <a:t>biomass,</a:t>
            </a:r>
            <a:r>
              <a:rPr sz="500" spc="2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the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394" y="443611"/>
            <a:ext cx="1560830" cy="8394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2550" marR="5715">
              <a:lnSpc>
                <a:spcPct val="106000"/>
              </a:lnSpc>
              <a:spcBef>
                <a:spcPts val="90"/>
              </a:spcBef>
            </a:pPr>
            <a:r>
              <a:rPr sz="500" spc="10" dirty="0">
                <a:latin typeface="Bookman Uralic"/>
                <a:cs typeface="Bookman Uralic"/>
              </a:rPr>
              <a:t>biomass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fed into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bed of hot </a:t>
            </a:r>
            <a:r>
              <a:rPr sz="500" spc="5" dirty="0">
                <a:latin typeface="Bookman Uralic"/>
                <a:cs typeface="Bookman Uralic"/>
              </a:rPr>
              <a:t>inert  </a:t>
            </a:r>
            <a:r>
              <a:rPr sz="500" spc="10" dirty="0">
                <a:latin typeface="Bookman Uralic"/>
                <a:cs typeface="Bookman Uralic"/>
              </a:rPr>
              <a:t>particles, </a:t>
            </a:r>
            <a:r>
              <a:rPr sz="500" spc="15" dirty="0">
                <a:latin typeface="Bookman Uralic"/>
                <a:cs typeface="Bookman Uralic"/>
              </a:rPr>
              <a:t>such as</a:t>
            </a:r>
            <a:r>
              <a:rPr sz="500" spc="-2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sand.</a:t>
            </a:r>
            <a:endParaRPr sz="500">
              <a:latin typeface="Bookman Uralic"/>
              <a:cs typeface="Bookman Uralic"/>
            </a:endParaRPr>
          </a:p>
          <a:p>
            <a:pPr marL="82550" marR="5715" indent="-70485" algn="just">
              <a:lnSpc>
                <a:spcPct val="105000"/>
              </a:lnSpc>
              <a:spcBef>
                <a:spcPts val="355"/>
              </a:spcBef>
              <a:buFont typeface="Wingdings" panose="05000000000000000000"/>
              <a:buChar char=""/>
              <a:tabLst>
                <a:tab pos="83185" algn="l"/>
              </a:tabLst>
            </a:pPr>
            <a:r>
              <a:rPr sz="500" spc="10" dirty="0">
                <a:latin typeface="Bookman Uralic"/>
                <a:cs typeface="Bookman Uralic"/>
              </a:rPr>
              <a:t>The biomass-particle mix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suspended </a:t>
            </a:r>
            <a:r>
              <a:rPr sz="500" spc="10" dirty="0">
                <a:latin typeface="Bookman Uralic"/>
                <a:cs typeface="Bookman Uralic"/>
              </a:rPr>
              <a:t>by  </a:t>
            </a:r>
            <a:r>
              <a:rPr sz="500" spc="15" dirty="0">
                <a:latin typeface="Bookman Uralic"/>
                <a:cs typeface="Bookman Uralic"/>
              </a:rPr>
              <a:t>an </a:t>
            </a:r>
            <a:r>
              <a:rPr sz="500" spc="10" dirty="0">
                <a:latin typeface="Bookman Uralic"/>
                <a:cs typeface="Bookman Uralic"/>
              </a:rPr>
              <a:t>upward flow of combustion air within </a:t>
            </a:r>
            <a:r>
              <a:rPr sz="500" spc="5" dirty="0">
                <a:latin typeface="Bookman Uralic"/>
                <a:cs typeface="Bookman Uralic"/>
              </a:rPr>
              <a:t>the  </a:t>
            </a:r>
            <a:r>
              <a:rPr sz="500" spc="10" dirty="0">
                <a:latin typeface="Bookman Uralic"/>
                <a:cs typeface="Bookman Uralic"/>
              </a:rPr>
              <a:t>bed.</a:t>
            </a:r>
            <a:endParaRPr sz="500">
              <a:latin typeface="Bookman Uralic"/>
              <a:cs typeface="Bookman Uralic"/>
            </a:endParaRPr>
          </a:p>
          <a:p>
            <a:pPr marL="82550" marR="5080" indent="-70485" algn="just">
              <a:lnSpc>
                <a:spcPct val="106000"/>
              </a:lnSpc>
              <a:spcBef>
                <a:spcPts val="350"/>
              </a:spcBef>
              <a:buFont typeface="Wingdings" panose="05000000000000000000"/>
              <a:buChar char=""/>
              <a:tabLst>
                <a:tab pos="83185" algn="l"/>
              </a:tabLst>
            </a:pPr>
            <a:r>
              <a:rPr sz="500" spc="10" dirty="0">
                <a:latin typeface="Bookman Uralic"/>
                <a:cs typeface="Bookman Uralic"/>
              </a:rPr>
              <a:t>At sufficient flow rates,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bed </a:t>
            </a:r>
            <a:r>
              <a:rPr sz="500" spc="15" dirty="0">
                <a:latin typeface="Bookman Uralic"/>
                <a:cs typeface="Bookman Uralic"/>
              </a:rPr>
              <a:t>acts as a  </a:t>
            </a:r>
            <a:r>
              <a:rPr sz="500" i="1" spc="10" dirty="0">
                <a:latin typeface="Bookman Uralic"/>
                <a:cs typeface="Bookman Uralic"/>
              </a:rPr>
              <a:t>fluid </a:t>
            </a:r>
            <a:r>
              <a:rPr sz="500" spc="10" dirty="0">
                <a:latin typeface="Bookman Uralic"/>
                <a:cs typeface="Bookman Uralic"/>
              </a:rPr>
              <a:t>resulting in rapid mixing of particles.  The operating temperature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0" dirty="0">
                <a:latin typeface="Bookman Uralic"/>
                <a:cs typeface="Bookman Uralic"/>
              </a:rPr>
              <a:t>normally  controlled within the range 750°</a:t>
            </a:r>
            <a:r>
              <a:rPr sz="500" i="1" spc="10" dirty="0">
                <a:latin typeface="Bookman Uralic"/>
                <a:cs typeface="Bookman Uralic"/>
              </a:rPr>
              <a:t>C </a:t>
            </a:r>
            <a:r>
              <a:rPr sz="500" spc="-60" dirty="0">
                <a:latin typeface="Georgia" panose="02040502050405020303"/>
                <a:cs typeface="Georgia" panose="02040502050405020303"/>
              </a:rPr>
              <a:t>–</a:t>
            </a:r>
            <a:r>
              <a:rPr sz="500" spc="-45" dirty="0">
                <a:latin typeface="Georgia" panose="02040502050405020303"/>
                <a:cs typeface="Georgia" panose="02040502050405020303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950°</a:t>
            </a:r>
            <a:r>
              <a:rPr sz="500" i="1" spc="10" dirty="0">
                <a:latin typeface="Bookman Uralic"/>
                <a:cs typeface="Bookman Uralic"/>
              </a:rPr>
              <a:t>C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98" y="1757616"/>
            <a:ext cx="2522220" cy="2159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754505" algn="l"/>
              </a:tabLst>
            </a:pPr>
            <a:r>
              <a:rPr sz="750" spc="15" baseline="6000" dirty="0">
                <a:latin typeface="Bookman Uralic"/>
                <a:cs typeface="Bookman Uralic"/>
              </a:rPr>
              <a:t>reduced.	</a:t>
            </a:r>
            <a:r>
              <a:rPr sz="500" b="1" i="1" spc="-20" dirty="0">
                <a:latin typeface="Times New Roman" panose="02020603050405020304"/>
                <a:cs typeface="Times New Roman" panose="02020603050405020304"/>
              </a:rPr>
              <a:t>Fluidised </a:t>
            </a:r>
            <a:r>
              <a:rPr sz="500" b="1" i="1" spc="-25" dirty="0">
                <a:latin typeface="Times New Roman" panose="02020603050405020304"/>
                <a:cs typeface="Times New Roman" panose="02020603050405020304"/>
              </a:rPr>
              <a:t>bed</a:t>
            </a:r>
            <a:r>
              <a:rPr sz="500" b="1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-25" dirty="0">
                <a:latin typeface="Times New Roman" panose="02020603050405020304"/>
                <a:cs typeface="Times New Roman" panose="02020603050405020304"/>
              </a:rPr>
              <a:t>combustion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R="17780" algn="r">
              <a:lnSpc>
                <a:spcPct val="100000"/>
              </a:lnSpc>
              <a:spcBef>
                <a:spcPts val="450"/>
              </a:spcBef>
            </a:pPr>
            <a:r>
              <a:rPr sz="350" b="1" spc="-10" dirty="0">
                <a:latin typeface="Bookman Uralic"/>
                <a:cs typeface="Bookman Uralic"/>
              </a:rPr>
              <a:t>34</a:t>
            </a:r>
            <a:endParaRPr sz="350">
              <a:latin typeface="Bookman Uralic"/>
              <a:cs typeface="Bookman Ural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51527" y="544268"/>
            <a:ext cx="516890" cy="1151255"/>
            <a:chOff x="2051527" y="544268"/>
            <a:chExt cx="516890" cy="1151255"/>
          </a:xfrm>
        </p:grpSpPr>
        <p:sp>
          <p:nvSpPr>
            <p:cNvPr id="7" name="object 7"/>
            <p:cNvSpPr/>
            <p:nvPr/>
          </p:nvSpPr>
          <p:spPr>
            <a:xfrm>
              <a:off x="2056289" y="548713"/>
              <a:ext cx="507365" cy="970280"/>
            </a:xfrm>
            <a:custGeom>
              <a:avLst/>
              <a:gdLst/>
              <a:ahLst/>
              <a:cxnLst/>
              <a:rect l="l" t="t" r="r" b="b"/>
              <a:pathLst>
                <a:path w="507364" h="970280">
                  <a:moveTo>
                    <a:pt x="176702" y="969735"/>
                  </a:moveTo>
                  <a:lnTo>
                    <a:pt x="291922" y="844161"/>
                  </a:lnTo>
                </a:path>
                <a:path w="507364" h="970280">
                  <a:moveTo>
                    <a:pt x="291922" y="844161"/>
                  </a:moveTo>
                  <a:lnTo>
                    <a:pt x="291922" y="630676"/>
                  </a:lnTo>
                </a:path>
                <a:path w="507364" h="970280">
                  <a:moveTo>
                    <a:pt x="291922" y="588823"/>
                  </a:moveTo>
                  <a:lnTo>
                    <a:pt x="291922" y="75374"/>
                  </a:lnTo>
                </a:path>
                <a:path w="507364" h="970280">
                  <a:moveTo>
                    <a:pt x="0" y="844161"/>
                  </a:moveTo>
                  <a:lnTo>
                    <a:pt x="115241" y="969735"/>
                  </a:lnTo>
                </a:path>
                <a:path w="507364" h="970280">
                  <a:moveTo>
                    <a:pt x="0" y="844161"/>
                  </a:moveTo>
                  <a:lnTo>
                    <a:pt x="0" y="0"/>
                  </a:lnTo>
                  <a:lnTo>
                    <a:pt x="507084" y="0"/>
                  </a:lnTo>
                </a:path>
                <a:path w="507364" h="970280">
                  <a:moveTo>
                    <a:pt x="291922" y="75374"/>
                  </a:moveTo>
                  <a:lnTo>
                    <a:pt x="358930" y="75374"/>
                  </a:lnTo>
                </a:path>
                <a:path w="507364" h="970280">
                  <a:moveTo>
                    <a:pt x="358930" y="145089"/>
                  </a:moveTo>
                  <a:lnTo>
                    <a:pt x="358930" y="75374"/>
                  </a:lnTo>
                </a:path>
                <a:path w="507364" h="970280">
                  <a:moveTo>
                    <a:pt x="507084" y="151613"/>
                  </a:moveTo>
                  <a:lnTo>
                    <a:pt x="507084" y="0"/>
                  </a:lnTo>
                </a:path>
                <a:path w="507364" h="970280">
                  <a:moveTo>
                    <a:pt x="457459" y="353449"/>
                  </a:moveTo>
                  <a:lnTo>
                    <a:pt x="507084" y="151613"/>
                  </a:lnTo>
                </a:path>
                <a:path w="507364" h="970280">
                  <a:moveTo>
                    <a:pt x="358930" y="145089"/>
                  </a:moveTo>
                  <a:lnTo>
                    <a:pt x="410647" y="355650"/>
                  </a:lnTo>
                </a:path>
              </a:pathLst>
            </a:custGeom>
            <a:ln w="9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66936" y="904364"/>
              <a:ext cx="0" cy="210820"/>
            </a:xfrm>
            <a:custGeom>
              <a:avLst/>
              <a:gdLst/>
              <a:ahLst/>
              <a:cxnLst/>
              <a:rect l="l" t="t" r="r" b="b"/>
              <a:pathLst>
                <a:path h="210819">
                  <a:moveTo>
                    <a:pt x="0" y="0"/>
                  </a:moveTo>
                  <a:lnTo>
                    <a:pt x="0" y="210356"/>
                  </a:lnTo>
                </a:path>
              </a:pathLst>
            </a:custGeom>
            <a:ln w="86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348211" y="902163"/>
              <a:ext cx="165735" cy="320675"/>
            </a:xfrm>
            <a:custGeom>
              <a:avLst/>
              <a:gdLst/>
              <a:ahLst/>
              <a:cxnLst/>
              <a:rect l="l" t="t" r="r" b="b"/>
              <a:pathLst>
                <a:path w="165735" h="320675">
                  <a:moveTo>
                    <a:pt x="0" y="235373"/>
                  </a:moveTo>
                  <a:lnTo>
                    <a:pt x="118724" y="212557"/>
                  </a:lnTo>
                </a:path>
                <a:path w="165735" h="320675">
                  <a:moveTo>
                    <a:pt x="118724" y="320132"/>
                  </a:moveTo>
                  <a:lnTo>
                    <a:pt x="118724" y="254417"/>
                  </a:lnTo>
                </a:path>
                <a:path w="165735" h="320675">
                  <a:moveTo>
                    <a:pt x="0" y="277226"/>
                  </a:moveTo>
                  <a:lnTo>
                    <a:pt x="118724" y="254417"/>
                  </a:lnTo>
                </a:path>
                <a:path w="165735" h="320675">
                  <a:moveTo>
                    <a:pt x="165536" y="320132"/>
                  </a:moveTo>
                  <a:lnTo>
                    <a:pt x="165536" y="0"/>
                  </a:lnTo>
                </a:path>
              </a:pathLst>
            </a:custGeom>
            <a:ln w="9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56289" y="1028696"/>
              <a:ext cx="291950" cy="242785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056289" y="1028696"/>
              <a:ext cx="292100" cy="243204"/>
            </a:xfrm>
            <a:custGeom>
              <a:avLst/>
              <a:gdLst/>
              <a:ahLst/>
              <a:cxnLst/>
              <a:rect l="l" t="t" r="r" b="b"/>
              <a:pathLst>
                <a:path w="292100" h="243205">
                  <a:moveTo>
                    <a:pt x="0" y="242785"/>
                  </a:moveTo>
                  <a:lnTo>
                    <a:pt x="291950" y="242785"/>
                  </a:lnTo>
                  <a:lnTo>
                    <a:pt x="291950" y="0"/>
                  </a:lnTo>
                  <a:lnTo>
                    <a:pt x="0" y="0"/>
                  </a:lnTo>
                  <a:lnTo>
                    <a:pt x="0" y="242785"/>
                  </a:lnTo>
                  <a:close/>
                </a:path>
              </a:pathLst>
            </a:custGeom>
            <a:ln w="91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67203" y="1518449"/>
              <a:ext cx="70116" cy="1765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431155" y="1367954"/>
            <a:ext cx="118745" cy="10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3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h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66936" y="1222296"/>
            <a:ext cx="46990" cy="44450"/>
          </a:xfrm>
          <a:custGeom>
            <a:avLst/>
            <a:gdLst/>
            <a:ahLst/>
            <a:cxnLst/>
            <a:rect l="l" t="t" r="r" b="b"/>
            <a:pathLst>
              <a:path w="46989" h="44450">
                <a:moveTo>
                  <a:pt x="0" y="0"/>
                </a:moveTo>
                <a:lnTo>
                  <a:pt x="23442" y="44139"/>
                </a:lnTo>
                <a:lnTo>
                  <a:pt x="46811" y="0"/>
                </a:lnTo>
              </a:path>
            </a:pathLst>
          </a:custGeom>
          <a:ln w="90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11275" y="1677429"/>
            <a:ext cx="382905" cy="10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Combustion</a:t>
            </a:r>
            <a:r>
              <a:rPr sz="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air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76337" y="392103"/>
            <a:ext cx="219710" cy="10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Flue</a:t>
            </a:r>
            <a:r>
              <a:rPr sz="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gas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8515" y="474726"/>
            <a:ext cx="533400" cy="911860"/>
            <a:chOff x="1988515" y="474726"/>
            <a:chExt cx="533400" cy="911860"/>
          </a:xfrm>
        </p:grpSpPr>
        <p:sp>
          <p:nvSpPr>
            <p:cNvPr id="18" name="object 18"/>
            <p:cNvSpPr/>
            <p:nvPr/>
          </p:nvSpPr>
          <p:spPr>
            <a:xfrm>
              <a:off x="2056289" y="1272280"/>
              <a:ext cx="292100" cy="31115"/>
            </a:xfrm>
            <a:custGeom>
              <a:avLst/>
              <a:gdLst/>
              <a:ahLst/>
              <a:cxnLst/>
              <a:rect l="l" t="t" r="r" b="b"/>
              <a:pathLst>
                <a:path w="292100" h="31115">
                  <a:moveTo>
                    <a:pt x="291950" y="0"/>
                  </a:moveTo>
                  <a:lnTo>
                    <a:pt x="0" y="0"/>
                  </a:lnTo>
                  <a:lnTo>
                    <a:pt x="0" y="30947"/>
                  </a:lnTo>
                  <a:lnTo>
                    <a:pt x="291950" y="30947"/>
                  </a:lnTo>
                  <a:lnTo>
                    <a:pt x="29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56289" y="1272280"/>
              <a:ext cx="462915" cy="111125"/>
            </a:xfrm>
            <a:custGeom>
              <a:avLst/>
              <a:gdLst/>
              <a:ahLst/>
              <a:cxnLst/>
              <a:rect l="l" t="t" r="r" b="b"/>
              <a:pathLst>
                <a:path w="462914" h="111125">
                  <a:moveTo>
                    <a:pt x="0" y="30947"/>
                  </a:moveTo>
                  <a:lnTo>
                    <a:pt x="291950" y="30947"/>
                  </a:lnTo>
                  <a:lnTo>
                    <a:pt x="291950" y="0"/>
                  </a:lnTo>
                  <a:lnTo>
                    <a:pt x="0" y="0"/>
                  </a:lnTo>
                  <a:lnTo>
                    <a:pt x="0" y="30947"/>
                  </a:lnTo>
                  <a:close/>
                </a:path>
                <a:path w="462914" h="111125">
                  <a:moveTo>
                    <a:pt x="434089" y="110904"/>
                  </a:moveTo>
                  <a:lnTo>
                    <a:pt x="462508" y="92983"/>
                  </a:lnTo>
                  <a:lnTo>
                    <a:pt x="443754" y="92999"/>
                  </a:lnTo>
                  <a:lnTo>
                    <a:pt x="443682" y="13255"/>
                  </a:lnTo>
                  <a:lnTo>
                    <a:pt x="424351" y="13278"/>
                  </a:lnTo>
                  <a:lnTo>
                    <a:pt x="424423" y="93023"/>
                  </a:lnTo>
                  <a:lnTo>
                    <a:pt x="405670" y="93039"/>
                  </a:lnTo>
                  <a:lnTo>
                    <a:pt x="434089" y="110904"/>
                  </a:lnTo>
                  <a:close/>
                </a:path>
              </a:pathLst>
            </a:custGeom>
            <a:ln w="5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458137" y="477583"/>
              <a:ext cx="57150" cy="97790"/>
            </a:xfrm>
            <a:custGeom>
              <a:avLst/>
              <a:gdLst/>
              <a:ahLst/>
              <a:cxnLst/>
              <a:rect l="l" t="t" r="r" b="b"/>
              <a:pathLst>
                <a:path w="57150" h="97790">
                  <a:moveTo>
                    <a:pt x="28418" y="0"/>
                  </a:moveTo>
                  <a:lnTo>
                    <a:pt x="0" y="17841"/>
                  </a:lnTo>
                  <a:lnTo>
                    <a:pt x="18753" y="17841"/>
                  </a:lnTo>
                  <a:lnTo>
                    <a:pt x="18681" y="97617"/>
                  </a:lnTo>
                  <a:lnTo>
                    <a:pt x="38012" y="97617"/>
                  </a:lnTo>
                  <a:lnTo>
                    <a:pt x="38084" y="17920"/>
                  </a:lnTo>
                  <a:lnTo>
                    <a:pt x="56837" y="17920"/>
                  </a:lnTo>
                  <a:lnTo>
                    <a:pt x="284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91373" y="477583"/>
              <a:ext cx="523875" cy="892175"/>
            </a:xfrm>
            <a:custGeom>
              <a:avLst/>
              <a:gdLst/>
              <a:ahLst/>
              <a:cxnLst/>
              <a:rect l="l" t="t" r="r" b="b"/>
              <a:pathLst>
                <a:path w="523875" h="892175">
                  <a:moveTo>
                    <a:pt x="495182" y="0"/>
                  </a:moveTo>
                  <a:lnTo>
                    <a:pt x="523601" y="17920"/>
                  </a:lnTo>
                  <a:lnTo>
                    <a:pt x="504848" y="17920"/>
                  </a:lnTo>
                  <a:lnTo>
                    <a:pt x="504775" y="97617"/>
                  </a:lnTo>
                  <a:lnTo>
                    <a:pt x="485445" y="97617"/>
                  </a:lnTo>
                  <a:lnTo>
                    <a:pt x="485517" y="17841"/>
                  </a:lnTo>
                  <a:lnTo>
                    <a:pt x="466763" y="17841"/>
                  </a:lnTo>
                  <a:lnTo>
                    <a:pt x="495182" y="0"/>
                  </a:lnTo>
                  <a:close/>
                </a:path>
                <a:path w="523875" h="892175">
                  <a:moveTo>
                    <a:pt x="0" y="456490"/>
                  </a:moveTo>
                  <a:lnTo>
                    <a:pt x="113603" y="456490"/>
                  </a:lnTo>
                  <a:lnTo>
                    <a:pt x="113603" y="544911"/>
                  </a:lnTo>
                </a:path>
                <a:path w="523875" h="892175">
                  <a:moveTo>
                    <a:pt x="98023" y="527934"/>
                  </a:moveTo>
                  <a:lnTo>
                    <a:pt x="113603" y="544911"/>
                  </a:lnTo>
                  <a:lnTo>
                    <a:pt x="129183" y="527934"/>
                  </a:lnTo>
                </a:path>
                <a:path w="523875" h="892175">
                  <a:moveTo>
                    <a:pt x="0" y="891964"/>
                  </a:moveTo>
                  <a:lnTo>
                    <a:pt x="105489" y="891964"/>
                  </a:lnTo>
                  <a:lnTo>
                    <a:pt x="105489" y="832277"/>
                  </a:lnTo>
                </a:path>
                <a:path w="523875" h="892175">
                  <a:moveTo>
                    <a:pt x="121069" y="849254"/>
                  </a:moveTo>
                  <a:lnTo>
                    <a:pt x="105489" y="832277"/>
                  </a:lnTo>
                  <a:lnTo>
                    <a:pt x="89909" y="849254"/>
                  </a:lnTo>
                </a:path>
              </a:pathLst>
            </a:custGeom>
            <a:ln w="5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-79121" y="1311033"/>
            <a:ext cx="1889125" cy="468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2550" indent="-70485">
              <a:lnSpc>
                <a:spcPts val="600"/>
              </a:lnSpc>
              <a:spcBef>
                <a:spcPts val="125"/>
              </a:spcBef>
              <a:buFont typeface="Wingdings" panose="05000000000000000000"/>
              <a:buChar char=""/>
              <a:tabLst>
                <a:tab pos="83185" algn="l"/>
              </a:tabLst>
            </a:pPr>
            <a:r>
              <a:rPr sz="750" spc="15" baseline="6000" dirty="0">
                <a:latin typeface="Bookman Uralic"/>
                <a:cs typeface="Bookman Uralic"/>
              </a:rPr>
              <a:t>The rapid mixing </a:t>
            </a:r>
            <a:r>
              <a:rPr sz="750" spc="22" baseline="6000" dirty="0">
                <a:latin typeface="Bookman Uralic"/>
                <a:cs typeface="Bookman Uralic"/>
              </a:rPr>
              <a:t>and </a:t>
            </a:r>
            <a:r>
              <a:rPr sz="750" spc="15" baseline="6000" dirty="0">
                <a:latin typeface="Bookman Uralic"/>
                <a:cs typeface="Bookman Uralic"/>
              </a:rPr>
              <a:t>turbulence within </a:t>
            </a:r>
            <a:r>
              <a:rPr sz="750" spc="7" baseline="6000" dirty="0">
                <a:latin typeface="Bookman Uralic"/>
                <a:cs typeface="Bookman Uralic"/>
              </a:rPr>
              <a:t>the</a:t>
            </a:r>
            <a:r>
              <a:rPr sz="750" spc="60" baseline="6000" dirty="0">
                <a:latin typeface="Bookman Uralic"/>
                <a:cs typeface="Bookman Uralic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Bottom bed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82550">
              <a:lnSpc>
                <a:spcPct val="100000"/>
              </a:lnSpc>
            </a:pPr>
            <a:r>
              <a:rPr sz="500" spc="10" dirty="0">
                <a:latin typeface="Bookman Uralic"/>
                <a:cs typeface="Bookman Uralic"/>
              </a:rPr>
              <a:t>fluidized </a:t>
            </a:r>
            <a:r>
              <a:rPr sz="500" spc="15" dirty="0">
                <a:latin typeface="Bookman Uralic"/>
                <a:cs typeface="Bookman Uralic"/>
              </a:rPr>
              <a:t>bed </a:t>
            </a:r>
            <a:r>
              <a:rPr sz="500" spc="10" dirty="0">
                <a:latin typeface="Bookman Uralic"/>
                <a:cs typeface="Bookman Uralic"/>
              </a:rPr>
              <a:t>enables efficient combustion</a:t>
            </a:r>
            <a:r>
              <a:rPr sz="500" spc="15" dirty="0">
                <a:latin typeface="Bookman Uralic"/>
                <a:cs typeface="Bookman Uralic"/>
              </a:rPr>
              <a:t> </a:t>
            </a:r>
            <a:r>
              <a:rPr sz="500" dirty="0">
                <a:latin typeface="Bookman Uralic"/>
                <a:cs typeface="Bookman Uralic"/>
              </a:rPr>
              <a:t>to</a:t>
            </a:r>
            <a:endParaRPr sz="500">
              <a:latin typeface="Bookman Uralic"/>
              <a:cs typeface="Bookman Uralic"/>
            </a:endParaRPr>
          </a:p>
          <a:p>
            <a:pPr marL="82550">
              <a:lnSpc>
                <a:spcPct val="100000"/>
              </a:lnSpc>
              <a:spcBef>
                <a:spcPts val="35"/>
              </a:spcBef>
            </a:pPr>
            <a:r>
              <a:rPr sz="500" spc="10" dirty="0">
                <a:latin typeface="Bookman Uralic"/>
                <a:cs typeface="Bookman Uralic"/>
              </a:rPr>
              <a:t>be </a:t>
            </a:r>
            <a:r>
              <a:rPr sz="500" spc="15" dirty="0">
                <a:latin typeface="Bookman Uralic"/>
                <a:cs typeface="Bookman Uralic"/>
              </a:rPr>
              <a:t>achieved </a:t>
            </a:r>
            <a:r>
              <a:rPr sz="500" spc="10" dirty="0">
                <a:latin typeface="Bookman Uralic"/>
                <a:cs typeface="Bookman Uralic"/>
              </a:rPr>
              <a:t>with high </a:t>
            </a:r>
            <a:r>
              <a:rPr sz="500" spc="15" dirty="0">
                <a:latin typeface="Bookman Uralic"/>
                <a:cs typeface="Bookman Uralic"/>
              </a:rPr>
              <a:t>heat</a:t>
            </a:r>
            <a:r>
              <a:rPr sz="500" spc="-5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releases.</a:t>
            </a:r>
            <a:endParaRPr sz="500">
              <a:latin typeface="Bookman Uralic"/>
              <a:cs typeface="Bookman Uralic"/>
            </a:endParaRPr>
          </a:p>
          <a:p>
            <a:pPr marL="82550" marR="333375" indent="-83185" algn="r">
              <a:lnSpc>
                <a:spcPct val="100000"/>
              </a:lnSpc>
              <a:spcBef>
                <a:spcPts val="385"/>
              </a:spcBef>
              <a:buFont typeface="Wingdings" panose="05000000000000000000"/>
              <a:buChar char=""/>
              <a:tabLst>
                <a:tab pos="83185" algn="l"/>
              </a:tabLst>
            </a:pPr>
            <a:r>
              <a:rPr sz="500" spc="15" dirty="0">
                <a:latin typeface="Bookman Uralic"/>
                <a:cs typeface="Bookman Uralic"/>
              </a:rPr>
              <a:t>As a </a:t>
            </a:r>
            <a:r>
              <a:rPr sz="500" spc="10" dirty="0">
                <a:latin typeface="Bookman Uralic"/>
                <a:cs typeface="Bookman Uralic"/>
              </a:rPr>
              <a:t>result  of  better  </a:t>
            </a:r>
            <a:r>
              <a:rPr sz="500" spc="15" dirty="0">
                <a:latin typeface="Bookman Uralic"/>
                <a:cs typeface="Bookman Uralic"/>
              </a:rPr>
              <a:t>heat </a:t>
            </a:r>
            <a:r>
              <a:rPr sz="500" spc="10" dirty="0">
                <a:latin typeface="Bookman Uralic"/>
                <a:cs typeface="Bookman Uralic"/>
              </a:rPr>
              <a:t>transfer  in </a:t>
            </a:r>
            <a:r>
              <a:rPr sz="500" spc="15" dirty="0">
                <a:latin typeface="Bookman Uralic"/>
                <a:cs typeface="Bookman Uralic"/>
              </a:rPr>
              <a:t>FBC,</a:t>
            </a:r>
            <a:endParaRPr sz="500">
              <a:latin typeface="Bookman Uralic"/>
              <a:cs typeface="Bookman Uralic"/>
            </a:endParaRPr>
          </a:p>
          <a:p>
            <a:pPr marR="335280" algn="r">
              <a:lnSpc>
                <a:spcPct val="100000"/>
              </a:lnSpc>
              <a:spcBef>
                <a:spcPts val="35"/>
              </a:spcBef>
            </a:pPr>
            <a:r>
              <a:rPr sz="500" spc="10" dirty="0">
                <a:latin typeface="Bookman Uralic"/>
                <a:cs typeface="Bookman Uralic"/>
              </a:rPr>
              <a:t>the unit </a:t>
            </a:r>
            <a:r>
              <a:rPr sz="500" spc="5" dirty="0">
                <a:latin typeface="Bookman Uralic"/>
                <a:cs typeface="Bookman Uralic"/>
              </a:rPr>
              <a:t>size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hence the capital </a:t>
            </a:r>
            <a:r>
              <a:rPr sz="500" spc="15" dirty="0">
                <a:latin typeface="Bookman Uralic"/>
                <a:cs typeface="Bookman Uralic"/>
              </a:rPr>
              <a:t>costs</a:t>
            </a:r>
            <a:r>
              <a:rPr sz="500" spc="105" dirty="0">
                <a:latin typeface="Bookman Uralic"/>
                <a:cs typeface="Bookman Uralic"/>
              </a:rPr>
              <a:t> </a:t>
            </a:r>
            <a:r>
              <a:rPr sz="500" spc="5" dirty="0">
                <a:latin typeface="Bookman Uralic"/>
                <a:cs typeface="Bookman Uralic"/>
              </a:rPr>
              <a:t>are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50410" y="875159"/>
            <a:ext cx="341630" cy="10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0" dirty="0">
                <a:latin typeface="Times New Roman" panose="02020603050405020304"/>
                <a:cs typeface="Times New Roman" panose="02020603050405020304"/>
              </a:rPr>
              <a:t>Fluidized</a:t>
            </a:r>
            <a:r>
              <a:rPr sz="5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bed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19294" y="1079949"/>
            <a:ext cx="135704" cy="1130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809804" y="985666"/>
            <a:ext cx="224790" cy="100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25" dirty="0">
                <a:latin typeface="Times New Roman" panose="02020603050405020304"/>
                <a:cs typeface="Times New Roman" panose="02020603050405020304"/>
              </a:rPr>
              <a:t>Bioma</a:t>
            </a:r>
            <a:r>
              <a:rPr sz="500" spc="-20" dirty="0">
                <a:latin typeface="Times New Roman" panose="02020603050405020304"/>
                <a:cs typeface="Times New Roman" panose="02020603050405020304"/>
              </a:rPr>
              <a:t>ss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3" y="75437"/>
            <a:ext cx="234251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Direct combustion of</a:t>
            </a:r>
            <a:r>
              <a:rPr sz="1150" b="1" spc="-55" dirty="0">
                <a:solidFill>
                  <a:srgbClr val="006FC0"/>
                </a:solidFill>
                <a:latin typeface="Bookman Uralic"/>
                <a:cs typeface="Bookman Uralic"/>
              </a:rPr>
              <a:t> </a:t>
            </a: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biomass</a:t>
            </a:r>
            <a:endParaRPr sz="115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1557" y="1836521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33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34112" y="303276"/>
              <a:ext cx="2412492" cy="1662683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6" y="335280"/>
            <a:ext cx="2502408" cy="151942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36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026" y="103124"/>
            <a:ext cx="12528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i="1" spc="-5" dirty="0">
                <a:solidFill>
                  <a:srgbClr val="006FC0"/>
                </a:solidFill>
                <a:latin typeface="TeX Gyre Bonum"/>
                <a:cs typeface="TeX Gyre Bonum"/>
              </a:rPr>
              <a:t>C</a:t>
            </a:r>
            <a:r>
              <a:rPr sz="1300" b="1" i="1" spc="-15" dirty="0">
                <a:solidFill>
                  <a:srgbClr val="006FC0"/>
                </a:solidFill>
                <a:latin typeface="TeX Gyre Bonum"/>
                <a:cs typeface="TeX Gyre Bonum"/>
              </a:rPr>
              <a:t>a</a:t>
            </a:r>
            <a:r>
              <a:rPr sz="1300" b="1" i="1" spc="-5" dirty="0">
                <a:solidFill>
                  <a:srgbClr val="006FC0"/>
                </a:solidFill>
                <a:latin typeface="TeX Gyre Bonum"/>
                <a:cs typeface="TeX Gyre Bonum"/>
              </a:rPr>
              <a:t>rbo</a:t>
            </a:r>
            <a:r>
              <a:rPr sz="1300" b="1" i="1" spc="-15" dirty="0">
                <a:solidFill>
                  <a:srgbClr val="006FC0"/>
                </a:solidFill>
                <a:latin typeface="TeX Gyre Bonum"/>
                <a:cs typeface="TeX Gyre Bonum"/>
              </a:rPr>
              <a:t>n</a:t>
            </a:r>
            <a:r>
              <a:rPr sz="1300" b="1" i="1" spc="-5" dirty="0">
                <a:solidFill>
                  <a:srgbClr val="006FC0"/>
                </a:solidFill>
                <a:latin typeface="TeX Gyre Bonum"/>
                <a:cs typeface="TeX Gyre Bonum"/>
              </a:rPr>
              <a:t>i</a:t>
            </a:r>
            <a:r>
              <a:rPr sz="1300" b="1" i="1" spc="-10" dirty="0">
                <a:solidFill>
                  <a:srgbClr val="006FC0"/>
                </a:solidFill>
                <a:latin typeface="TeX Gyre Bonum"/>
                <a:cs typeface="TeX Gyre Bonum"/>
              </a:rPr>
              <a:t>s</a:t>
            </a:r>
            <a:r>
              <a:rPr sz="1300" b="1" i="1" spc="-15" dirty="0">
                <a:solidFill>
                  <a:srgbClr val="006FC0"/>
                </a:solidFill>
                <a:latin typeface="TeX Gyre Bonum"/>
                <a:cs typeface="TeX Gyre Bonum"/>
              </a:rPr>
              <a:t>a</a:t>
            </a:r>
            <a:r>
              <a:rPr sz="1300" b="1" i="1" spc="-5" dirty="0">
                <a:solidFill>
                  <a:srgbClr val="006FC0"/>
                </a:solidFill>
                <a:latin typeface="TeX Gyre Bonum"/>
                <a:cs typeface="TeX Gyre Bonum"/>
              </a:rPr>
              <a:t>tion</a:t>
            </a:r>
            <a:endParaRPr sz="1300">
              <a:latin typeface="TeX Gyre Bonum"/>
              <a:cs typeface="TeX Gyre Bon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861" y="39115"/>
            <a:ext cx="8026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/>
              <a:t>Pyrolysis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-20422" y="1098296"/>
            <a:ext cx="2614930" cy="875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" marR="73660" indent="-83820" algn="just">
              <a:lnSpc>
                <a:spcPct val="106000"/>
              </a:lnSpc>
              <a:spcBef>
                <a:spcPts val="90"/>
              </a:spcBef>
              <a:buFont typeface="Wingdings" panose="05000000000000000000"/>
              <a:buChar char=""/>
              <a:tabLst>
                <a:tab pos="121920" algn="l"/>
              </a:tabLst>
            </a:pPr>
            <a:r>
              <a:rPr sz="500" spc="10" dirty="0">
                <a:latin typeface="Bookman Uralic"/>
                <a:cs typeface="Bookman Uralic"/>
              </a:rPr>
              <a:t>The basic thermo-chemical process to convert biomass </a:t>
            </a:r>
            <a:r>
              <a:rPr sz="500" spc="5" dirty="0">
                <a:latin typeface="Bookman Uralic"/>
                <a:cs typeface="Bookman Uralic"/>
              </a:rPr>
              <a:t>into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more  valuable and/or convenient product </a:t>
            </a:r>
            <a:r>
              <a:rPr sz="500" spc="5" dirty="0">
                <a:latin typeface="Bookman Uralic"/>
                <a:cs typeface="Bookman Uralic"/>
              </a:rPr>
              <a:t>is </a:t>
            </a:r>
            <a:r>
              <a:rPr sz="500" spc="15" dirty="0">
                <a:latin typeface="Bookman Uralic"/>
                <a:cs typeface="Bookman Uralic"/>
              </a:rPr>
              <a:t>known as</a:t>
            </a:r>
            <a:r>
              <a:rPr sz="500" spc="-20" dirty="0">
                <a:latin typeface="Bookman Uralic"/>
                <a:cs typeface="Bookman Uralic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pyrolysis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  <a:p>
            <a:pPr marL="121920" marR="72390" indent="-83820" algn="just">
              <a:lnSpc>
                <a:spcPct val="105000"/>
              </a:lnSpc>
              <a:spcBef>
                <a:spcPts val="315"/>
              </a:spcBef>
              <a:buFont typeface="Wingdings" panose="05000000000000000000"/>
              <a:buChar char=""/>
              <a:tabLst>
                <a:tab pos="121920" algn="l"/>
              </a:tabLst>
            </a:pPr>
            <a:r>
              <a:rPr sz="500" spc="10" dirty="0">
                <a:latin typeface="Bookman Uralic"/>
                <a:cs typeface="Bookman Uralic"/>
              </a:rPr>
              <a:t>The products of pyrolysis are </a:t>
            </a:r>
            <a:r>
              <a:rPr sz="500" spc="5" dirty="0">
                <a:latin typeface="Bookman Uralic"/>
                <a:cs typeface="Bookman Uralic"/>
              </a:rPr>
              <a:t>three </a:t>
            </a:r>
            <a:r>
              <a:rPr sz="500" spc="10" dirty="0">
                <a:latin typeface="Bookman Uralic"/>
                <a:cs typeface="Bookman Uralic"/>
              </a:rPr>
              <a:t>types of fuels, usually,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b="1" i="1" spc="10" dirty="0">
                <a:latin typeface="TeX Gyre Bonum"/>
                <a:cs typeface="TeX Gyre Bonum"/>
              </a:rPr>
              <a:t>gas mixture  </a:t>
            </a:r>
            <a:r>
              <a:rPr sz="500" spc="5" dirty="0">
                <a:latin typeface="Bookman Uralic"/>
                <a:cs typeface="Bookman Uralic"/>
              </a:rPr>
              <a:t>(H</a:t>
            </a:r>
            <a:r>
              <a:rPr sz="525" spc="7" baseline="-16000" dirty="0">
                <a:latin typeface="Bookman Uralic"/>
                <a:cs typeface="Bookman Uralic"/>
              </a:rPr>
              <a:t>2</a:t>
            </a:r>
            <a:r>
              <a:rPr sz="500" spc="5" dirty="0">
                <a:latin typeface="Bookman Uralic"/>
                <a:cs typeface="Bookman Uralic"/>
              </a:rPr>
              <a:t>, </a:t>
            </a:r>
            <a:r>
              <a:rPr sz="500" spc="15" dirty="0">
                <a:latin typeface="Bookman Uralic"/>
                <a:cs typeface="Bookman Uralic"/>
              </a:rPr>
              <a:t>CO, </a:t>
            </a:r>
            <a:r>
              <a:rPr sz="500" spc="10" dirty="0">
                <a:latin typeface="Bookman Uralic"/>
                <a:cs typeface="Bookman Uralic"/>
              </a:rPr>
              <a:t>CO</a:t>
            </a:r>
            <a:r>
              <a:rPr sz="525" spc="15" baseline="-16000" dirty="0">
                <a:latin typeface="Bookman Uralic"/>
                <a:cs typeface="Bookman Uralic"/>
              </a:rPr>
              <a:t>2</a:t>
            </a:r>
            <a:r>
              <a:rPr sz="500" spc="10" dirty="0">
                <a:latin typeface="Bookman Uralic"/>
                <a:cs typeface="Bookman Uralic"/>
              </a:rPr>
              <a:t>, CH</a:t>
            </a:r>
            <a:r>
              <a:rPr sz="525" spc="15" baseline="-16000" dirty="0">
                <a:latin typeface="Bookman Uralic"/>
                <a:cs typeface="Bookman Uralic"/>
              </a:rPr>
              <a:t>4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N</a:t>
            </a:r>
            <a:r>
              <a:rPr sz="525" spc="15" baseline="-16000" dirty="0">
                <a:latin typeface="Bookman Uralic"/>
                <a:cs typeface="Bookman Uralic"/>
              </a:rPr>
              <a:t>2</a:t>
            </a:r>
            <a:r>
              <a:rPr sz="500" spc="10" dirty="0">
                <a:latin typeface="Bookman Uralic"/>
                <a:cs typeface="Bookman Uralic"/>
              </a:rPr>
              <a:t>, </a:t>
            </a:r>
            <a:r>
              <a:rPr sz="500" spc="15" dirty="0">
                <a:latin typeface="Bookman Uralic"/>
                <a:cs typeface="Bookman Uralic"/>
              </a:rPr>
              <a:t>an </a:t>
            </a:r>
            <a:r>
              <a:rPr sz="500" b="1" i="1" spc="10" dirty="0">
                <a:latin typeface="TeX Gyre Bonum"/>
                <a:cs typeface="TeX Gyre Bonum"/>
              </a:rPr>
              <a:t>oil-like liquid </a:t>
            </a:r>
            <a:r>
              <a:rPr sz="500" spc="5" dirty="0">
                <a:latin typeface="Bookman Uralic"/>
                <a:cs typeface="Bookman Uralic"/>
              </a:rPr>
              <a:t>(</a:t>
            </a:r>
            <a:r>
              <a:rPr sz="500" b="1" i="1" spc="5" dirty="0">
                <a:latin typeface="TeX Gyre Bonum"/>
                <a:cs typeface="TeX Gyre Bonum"/>
              </a:rPr>
              <a:t>bio-oil</a:t>
            </a:r>
            <a:r>
              <a:rPr sz="500" spc="5" dirty="0">
                <a:latin typeface="Bookman Uralic"/>
                <a:cs typeface="Bookman Uralic"/>
              </a:rPr>
              <a:t>- </a:t>
            </a:r>
            <a:r>
              <a:rPr sz="500" spc="15" dirty="0">
                <a:latin typeface="Bookman Uralic"/>
                <a:cs typeface="Bookman Uralic"/>
              </a:rPr>
              <a:t>a </a:t>
            </a:r>
            <a:r>
              <a:rPr sz="500" spc="10" dirty="0">
                <a:latin typeface="Bookman Uralic"/>
                <a:cs typeface="Bookman Uralic"/>
              </a:rPr>
              <a:t>water-soluble  phase </a:t>
            </a:r>
            <a:r>
              <a:rPr sz="500" spc="5" dirty="0">
                <a:latin typeface="Bookman Uralic"/>
                <a:cs typeface="Bookman Uralic"/>
              </a:rPr>
              <a:t>including </a:t>
            </a:r>
            <a:r>
              <a:rPr sz="500" spc="10" dirty="0">
                <a:latin typeface="Bookman Uralic"/>
                <a:cs typeface="Bookman Uralic"/>
              </a:rPr>
              <a:t>acetic acid, acetone, </a:t>
            </a:r>
            <a:r>
              <a:rPr sz="500" b="1" i="1" spc="10" dirty="0">
                <a:latin typeface="TeX Gyre Bonum"/>
                <a:cs typeface="TeX Gyre Bonum"/>
              </a:rPr>
              <a:t>methanol </a:t>
            </a:r>
            <a:r>
              <a:rPr sz="500" spc="15" dirty="0">
                <a:latin typeface="Bookman Uralic"/>
                <a:cs typeface="Bookman Uralic"/>
              </a:rPr>
              <a:t>and a non-aqueous  phase </a:t>
            </a:r>
            <a:r>
              <a:rPr sz="500" spc="10" dirty="0">
                <a:latin typeface="Bookman Uralic"/>
                <a:cs typeface="Bookman Uralic"/>
              </a:rPr>
              <a:t>including oil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tar) </a:t>
            </a:r>
            <a:r>
              <a:rPr sz="500" spc="15" dirty="0">
                <a:latin typeface="Bookman Uralic"/>
                <a:cs typeface="Bookman Uralic"/>
              </a:rPr>
              <a:t>and a </a:t>
            </a:r>
            <a:r>
              <a:rPr sz="500" b="1" i="1" spc="10" dirty="0">
                <a:latin typeface="TeX Gyre Bonum"/>
                <a:cs typeface="TeX Gyre Bonum"/>
              </a:rPr>
              <a:t>nearly pure carbon</a:t>
            </a:r>
            <a:r>
              <a:rPr sz="500" b="1" i="1" spc="-50" dirty="0">
                <a:latin typeface="TeX Gyre Bonum"/>
                <a:cs typeface="TeX Gyre Bonum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char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  <a:p>
            <a:pPr marL="121920" marR="71120" indent="-83820" algn="just">
              <a:lnSpc>
                <a:spcPct val="105000"/>
              </a:lnSpc>
              <a:spcBef>
                <a:spcPts val="335"/>
              </a:spcBef>
              <a:buFont typeface="Wingdings" panose="05000000000000000000"/>
              <a:buChar char=""/>
              <a:tabLst>
                <a:tab pos="121920" algn="l"/>
              </a:tabLst>
            </a:pPr>
            <a:r>
              <a:rPr sz="500" spc="10" dirty="0">
                <a:latin typeface="Bookman Uralic"/>
                <a:cs typeface="Bookman Uralic"/>
              </a:rPr>
              <a:t>The distribution of these products </a:t>
            </a:r>
            <a:r>
              <a:rPr sz="500" spc="15" dirty="0">
                <a:latin typeface="Bookman Uralic"/>
                <a:cs typeface="Bookman Uralic"/>
              </a:rPr>
              <a:t>depends </a:t>
            </a:r>
            <a:r>
              <a:rPr sz="500" spc="10" dirty="0">
                <a:latin typeface="Bookman Uralic"/>
                <a:cs typeface="Bookman Uralic"/>
              </a:rPr>
              <a:t>upon the </a:t>
            </a:r>
            <a:r>
              <a:rPr sz="500" b="1" i="1" spc="10" dirty="0">
                <a:latin typeface="TeX Gyre Bonum"/>
                <a:cs typeface="TeX Gyre Bonum"/>
              </a:rPr>
              <a:t>type of feedstock</a:t>
            </a:r>
            <a:r>
              <a:rPr sz="500" spc="10" dirty="0">
                <a:latin typeface="Bookman Uralic"/>
                <a:cs typeface="Bookman Uralic"/>
              </a:rPr>
              <a:t>,  the </a:t>
            </a:r>
            <a:r>
              <a:rPr sz="500" b="1" i="1" spc="10" dirty="0">
                <a:latin typeface="TeX Gyre Bonum"/>
                <a:cs typeface="TeX Gyre Bonum"/>
              </a:rPr>
              <a:t>temperature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b="1" i="1" spc="10" dirty="0">
                <a:latin typeface="TeX Gyre Bonum"/>
                <a:cs typeface="TeX Gyre Bonum"/>
              </a:rPr>
              <a:t>pressure </a:t>
            </a:r>
            <a:r>
              <a:rPr sz="500" spc="10" dirty="0">
                <a:latin typeface="Bookman Uralic"/>
                <a:cs typeface="Bookman Uralic"/>
              </a:rPr>
              <a:t>during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process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5" dirty="0">
                <a:latin typeface="Bookman Uralic"/>
                <a:cs typeface="Bookman Uralic"/>
              </a:rPr>
              <a:t>its </a:t>
            </a:r>
            <a:r>
              <a:rPr sz="500" spc="10" dirty="0">
                <a:latin typeface="Bookman Uralic"/>
                <a:cs typeface="Bookman Uralic"/>
              </a:rPr>
              <a:t>duration </a:t>
            </a:r>
            <a:r>
              <a:rPr sz="500" spc="15" dirty="0">
                <a:latin typeface="Bookman Uralic"/>
                <a:cs typeface="Bookman Uralic"/>
              </a:rPr>
              <a:t>and  </a:t>
            </a:r>
            <a:r>
              <a:rPr sz="500" spc="10" dirty="0">
                <a:latin typeface="Bookman Uralic"/>
                <a:cs typeface="Bookman Uralic"/>
              </a:rPr>
              <a:t>the </a:t>
            </a:r>
            <a:r>
              <a:rPr sz="500" b="1" i="1" spc="10" dirty="0">
                <a:latin typeface="TeX Gyre Bonum"/>
                <a:cs typeface="TeX Gyre Bonum"/>
              </a:rPr>
              <a:t>heating</a:t>
            </a:r>
            <a:r>
              <a:rPr sz="500" b="1" i="1" spc="-15" dirty="0">
                <a:latin typeface="TeX Gyre Bonum"/>
                <a:cs typeface="TeX Gyre Bonum"/>
              </a:rPr>
              <a:t> </a:t>
            </a:r>
            <a:r>
              <a:rPr sz="500" b="1" i="1" spc="10" dirty="0">
                <a:latin typeface="TeX Gyre Bonum"/>
                <a:cs typeface="TeX Gyre Bonum"/>
              </a:rPr>
              <a:t>rate</a:t>
            </a:r>
            <a:r>
              <a:rPr sz="500" spc="10" dirty="0">
                <a:latin typeface="Bookman Uralic"/>
                <a:cs typeface="Bookman Uralic"/>
              </a:rPr>
              <a:t>.</a:t>
            </a:r>
            <a:endParaRPr sz="500">
              <a:latin typeface="Bookman Uralic"/>
              <a:cs typeface="Bookman Uralic"/>
            </a:endParaRPr>
          </a:p>
          <a:p>
            <a:pPr marR="30480" algn="r">
              <a:lnSpc>
                <a:spcPts val="360"/>
              </a:lnSpc>
            </a:pPr>
            <a:r>
              <a:rPr sz="350" b="1" spc="-10" dirty="0">
                <a:latin typeface="Bookman Uralic"/>
                <a:cs typeface="Bookman Uralic"/>
              </a:rPr>
              <a:t>37</a:t>
            </a:r>
            <a:endParaRPr sz="350">
              <a:latin typeface="Bookman Uralic"/>
              <a:cs typeface="Bookman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4132" y="505919"/>
            <a:ext cx="1074420" cy="250825"/>
            <a:chOff x="584132" y="505919"/>
            <a:chExt cx="1074420" cy="250825"/>
          </a:xfrm>
        </p:grpSpPr>
        <p:sp>
          <p:nvSpPr>
            <p:cNvPr id="5" name="object 5"/>
            <p:cNvSpPr/>
            <p:nvPr/>
          </p:nvSpPr>
          <p:spPr>
            <a:xfrm>
              <a:off x="868799" y="511316"/>
              <a:ext cx="783905" cy="239830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89212" y="511316"/>
              <a:ext cx="1063625" cy="240029"/>
            </a:xfrm>
            <a:custGeom>
              <a:avLst/>
              <a:gdLst/>
              <a:ahLst/>
              <a:cxnLst/>
              <a:rect l="l" t="t" r="r" b="b"/>
              <a:pathLst>
                <a:path w="1063625" h="240029">
                  <a:moveTo>
                    <a:pt x="410231" y="239830"/>
                  </a:moveTo>
                  <a:lnTo>
                    <a:pt x="932783" y="239830"/>
                  </a:lnTo>
                  <a:lnTo>
                    <a:pt x="983656" y="230407"/>
                  </a:lnTo>
                  <a:lnTo>
                    <a:pt x="1025204" y="204709"/>
                  </a:lnTo>
                  <a:lnTo>
                    <a:pt x="1053219" y="166593"/>
                  </a:lnTo>
                  <a:lnTo>
                    <a:pt x="1063492" y="119915"/>
                  </a:lnTo>
                  <a:lnTo>
                    <a:pt x="1053219" y="73237"/>
                  </a:lnTo>
                  <a:lnTo>
                    <a:pt x="1025204" y="35120"/>
                  </a:lnTo>
                  <a:lnTo>
                    <a:pt x="983656" y="9422"/>
                  </a:lnTo>
                  <a:lnTo>
                    <a:pt x="932783" y="0"/>
                  </a:lnTo>
                  <a:lnTo>
                    <a:pt x="410231" y="0"/>
                  </a:lnTo>
                  <a:lnTo>
                    <a:pt x="359377" y="9422"/>
                  </a:lnTo>
                  <a:lnTo>
                    <a:pt x="317850" y="35120"/>
                  </a:lnTo>
                  <a:lnTo>
                    <a:pt x="289853" y="73237"/>
                  </a:lnTo>
                  <a:lnTo>
                    <a:pt x="279587" y="119915"/>
                  </a:lnTo>
                  <a:lnTo>
                    <a:pt x="289853" y="166593"/>
                  </a:lnTo>
                  <a:lnTo>
                    <a:pt x="317850" y="204709"/>
                  </a:lnTo>
                  <a:lnTo>
                    <a:pt x="359377" y="230407"/>
                  </a:lnTo>
                  <a:lnTo>
                    <a:pt x="410231" y="239830"/>
                  </a:lnTo>
                  <a:close/>
                </a:path>
                <a:path w="1063625" h="240029">
                  <a:moveTo>
                    <a:pt x="0" y="119915"/>
                  </a:moveTo>
                  <a:lnTo>
                    <a:pt x="254892" y="119915"/>
                  </a:lnTo>
                </a:path>
              </a:pathLst>
            </a:custGeom>
            <a:ln w="106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9237" y="608895"/>
              <a:ext cx="24765" cy="45085"/>
            </a:xfrm>
            <a:custGeom>
              <a:avLst/>
              <a:gdLst/>
              <a:ahLst/>
              <a:cxnLst/>
              <a:rect l="l" t="t" r="r" b="b"/>
              <a:pathLst>
                <a:path w="24765" h="45084">
                  <a:moveTo>
                    <a:pt x="0" y="0"/>
                  </a:moveTo>
                  <a:lnTo>
                    <a:pt x="0" y="44673"/>
                  </a:lnTo>
                  <a:lnTo>
                    <a:pt x="24335" y="22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4430" y="571151"/>
            <a:ext cx="28003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35" dirty="0">
                <a:latin typeface="Times New Roman" panose="02020603050405020304"/>
                <a:cs typeface="Times New Roman" panose="02020603050405020304"/>
              </a:rPr>
              <a:t>Biomass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8384" y="309864"/>
            <a:ext cx="397510" cy="644525"/>
          </a:xfrm>
          <a:custGeom>
            <a:avLst/>
            <a:gdLst/>
            <a:ahLst/>
            <a:cxnLst/>
            <a:rect l="l" t="t" r="r" b="b"/>
            <a:pathLst>
              <a:path w="397510" h="644525">
                <a:moveTo>
                  <a:pt x="274415" y="0"/>
                </a:moveTo>
                <a:lnTo>
                  <a:pt x="274415" y="84794"/>
                </a:lnTo>
                <a:lnTo>
                  <a:pt x="243904" y="56814"/>
                </a:lnTo>
                <a:lnTo>
                  <a:pt x="31432" y="251844"/>
                </a:lnTo>
                <a:lnTo>
                  <a:pt x="0" y="223010"/>
                </a:lnTo>
                <a:lnTo>
                  <a:pt x="212563" y="27988"/>
                </a:lnTo>
                <a:lnTo>
                  <a:pt x="182052" y="0"/>
                </a:lnTo>
                <a:lnTo>
                  <a:pt x="274415" y="0"/>
                </a:lnTo>
                <a:close/>
              </a:path>
              <a:path w="397510" h="644525">
                <a:moveTo>
                  <a:pt x="274415" y="643935"/>
                </a:moveTo>
                <a:lnTo>
                  <a:pt x="274415" y="559141"/>
                </a:lnTo>
                <a:lnTo>
                  <a:pt x="243904" y="587121"/>
                </a:lnTo>
                <a:lnTo>
                  <a:pt x="31432" y="392091"/>
                </a:lnTo>
                <a:lnTo>
                  <a:pt x="0" y="420925"/>
                </a:lnTo>
                <a:lnTo>
                  <a:pt x="212563" y="615947"/>
                </a:lnTo>
                <a:lnTo>
                  <a:pt x="182052" y="643935"/>
                </a:lnTo>
                <a:lnTo>
                  <a:pt x="274415" y="643935"/>
                </a:lnTo>
                <a:close/>
              </a:path>
              <a:path w="397510" h="644525">
                <a:moveTo>
                  <a:pt x="397197" y="321367"/>
                </a:moveTo>
                <a:lnTo>
                  <a:pt x="331935" y="261413"/>
                </a:lnTo>
                <a:lnTo>
                  <a:pt x="331935" y="300985"/>
                </a:lnTo>
                <a:lnTo>
                  <a:pt x="31432" y="300985"/>
                </a:lnTo>
                <a:lnTo>
                  <a:pt x="31432" y="341757"/>
                </a:lnTo>
                <a:lnTo>
                  <a:pt x="331935" y="341757"/>
                </a:lnTo>
                <a:lnTo>
                  <a:pt x="331935" y="381328"/>
                </a:lnTo>
                <a:lnTo>
                  <a:pt x="397197" y="321367"/>
                </a:lnTo>
                <a:close/>
              </a:path>
            </a:pathLst>
          </a:custGeom>
          <a:ln w="63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019044" y="235384"/>
            <a:ext cx="29210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35" dirty="0">
                <a:latin typeface="Times New Roman" panose="02020603050405020304"/>
                <a:cs typeface="Times New Roman" panose="02020603050405020304"/>
              </a:rPr>
              <a:t>Charcoal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65239" y="571151"/>
            <a:ext cx="23495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35" dirty="0">
                <a:latin typeface="Times New Roman" panose="02020603050405020304"/>
                <a:cs typeface="Times New Roman" panose="02020603050405020304"/>
              </a:rPr>
              <a:t>Bio</a:t>
            </a:r>
            <a:r>
              <a:rPr sz="500" spc="2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500" spc="25" dirty="0">
                <a:latin typeface="Times New Roman" panose="02020603050405020304"/>
                <a:cs typeface="Times New Roman" panose="02020603050405020304"/>
              </a:rPr>
              <a:t>oil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23560" y="894930"/>
            <a:ext cx="230504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35" dirty="0">
                <a:latin typeface="Times New Roman" panose="02020603050405020304"/>
                <a:cs typeface="Times New Roman" panose="02020603050405020304"/>
              </a:rPr>
              <a:t>Bioga</a:t>
            </a:r>
            <a:r>
              <a:rPr sz="500" spc="30" dirty="0">
                <a:latin typeface="Times New Roman" panose="02020603050405020304"/>
                <a:cs typeface="Times New Roman" panose="02020603050405020304"/>
              </a:rPr>
              <a:t>s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563" y="746392"/>
            <a:ext cx="895985" cy="315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500" spc="30" dirty="0">
                <a:latin typeface="Times New Roman" panose="02020603050405020304"/>
                <a:cs typeface="Times New Roman" panose="02020603050405020304"/>
              </a:rPr>
              <a:t>Pyrolysis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500" spc="35" dirty="0">
                <a:latin typeface="Times New Roman" panose="02020603050405020304"/>
                <a:cs typeface="Times New Roman" panose="02020603050405020304"/>
              </a:rPr>
              <a:t>(Heating </a:t>
            </a:r>
            <a:r>
              <a:rPr sz="500" spc="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500" spc="25" dirty="0">
                <a:latin typeface="Times New Roman" panose="02020603050405020304"/>
                <a:cs typeface="Times New Roman" panose="02020603050405020304"/>
              </a:rPr>
              <a:t>inert</a:t>
            </a:r>
            <a:r>
              <a:rPr sz="5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35" dirty="0">
                <a:latin typeface="Times New Roman" panose="02020603050405020304"/>
                <a:cs typeface="Times New Roman" panose="02020603050405020304"/>
              </a:rPr>
              <a:t>atmosphere)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7780" algn="ctr">
              <a:lnSpc>
                <a:spcPct val="100000"/>
              </a:lnSpc>
              <a:spcBef>
                <a:spcPts val="405"/>
              </a:spcBef>
            </a:pPr>
            <a:r>
              <a:rPr sz="500" b="1" i="1" spc="30" dirty="0">
                <a:latin typeface="Times New Roman" panose="02020603050405020304"/>
                <a:cs typeface="Times New Roman" panose="02020603050405020304"/>
              </a:rPr>
              <a:t>Pyrolysis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3562" y="80899"/>
            <a:ext cx="10572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06FC0"/>
                </a:solidFill>
                <a:latin typeface="Bookman Uralic"/>
                <a:cs typeface="Bookman Uralic"/>
              </a:rPr>
              <a:t>Gasification</a:t>
            </a:r>
            <a:endParaRPr sz="1300">
              <a:latin typeface="Bookman Uralic"/>
              <a:cs typeface="Bookman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056" y="291084"/>
            <a:ext cx="2546604" cy="16108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07361" y="1893824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40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546" y="89407"/>
            <a:ext cx="8032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06FC0"/>
                </a:solidFill>
                <a:latin typeface="Bookman Uralic"/>
                <a:cs typeface="Bookman Uralic"/>
              </a:rPr>
              <a:t>Pyrolysis</a:t>
            </a:r>
            <a:endParaRPr sz="1300">
              <a:latin typeface="Bookman Uralic"/>
              <a:cs typeface="Bookman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055" y="339852"/>
            <a:ext cx="2546604" cy="15910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62022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39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2330" y="-763"/>
            <a:ext cx="95948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b="1" spc="15" dirty="0">
                <a:solidFill>
                  <a:srgbClr val="006FC0"/>
                </a:solidFill>
                <a:latin typeface="Bookman Uralic"/>
                <a:cs typeface="Bookman Uralic"/>
              </a:rPr>
              <a:t>G</a:t>
            </a:r>
            <a:r>
              <a:rPr sz="1150" b="1" spc="5" dirty="0">
                <a:solidFill>
                  <a:srgbClr val="006FC0"/>
                </a:solidFill>
                <a:latin typeface="Bookman Uralic"/>
                <a:cs typeface="Bookman Uralic"/>
              </a:rPr>
              <a:t>asif</a:t>
            </a: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icat</a:t>
            </a:r>
            <a:r>
              <a:rPr sz="1150" b="1" dirty="0">
                <a:solidFill>
                  <a:srgbClr val="006FC0"/>
                </a:solidFill>
                <a:latin typeface="Bookman Uralic"/>
                <a:cs typeface="Bookman Uralic"/>
              </a:rPr>
              <a:t>i</a:t>
            </a: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on</a:t>
            </a:r>
            <a:endParaRPr sz="1150">
              <a:latin typeface="Bookman Uralic"/>
              <a:cs typeface="Bookman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9484" y="233299"/>
            <a:ext cx="2257043" cy="16840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42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" y="142112"/>
            <a:ext cx="24422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Biomass</a:t>
            </a:r>
            <a:r>
              <a:rPr sz="1050" spc="25" dirty="0"/>
              <a:t> </a:t>
            </a:r>
            <a:r>
              <a:rPr sz="1050" spc="-5" dirty="0"/>
              <a:t>gasification-classification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48234" y="536194"/>
            <a:ext cx="2387600" cy="1112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10" dirty="0">
                <a:latin typeface="Bookman Uralic"/>
                <a:cs typeface="Bookman Uralic"/>
              </a:rPr>
              <a:t>Gasifiers are broadly classified </a:t>
            </a:r>
            <a:r>
              <a:rPr sz="500" spc="15" dirty="0">
                <a:latin typeface="Bookman Uralic"/>
                <a:cs typeface="Bookman Uralic"/>
              </a:rPr>
              <a:t>as </a:t>
            </a:r>
            <a:r>
              <a:rPr sz="500" spc="5" dirty="0">
                <a:latin typeface="Bookman Uralic"/>
                <a:cs typeface="Bookman Uralic"/>
              </a:rPr>
              <a:t>:</a:t>
            </a:r>
            <a:r>
              <a:rPr sz="500" spc="-45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-</a:t>
            </a:r>
            <a:endParaRPr sz="500">
              <a:latin typeface="Bookman Uralic"/>
              <a:cs typeface="Bookman Uralic"/>
            </a:endParaRPr>
          </a:p>
          <a:p>
            <a:pPr>
              <a:lnSpc>
                <a:spcPct val="100000"/>
              </a:lnSpc>
            </a:pPr>
            <a:endParaRPr sz="550">
              <a:latin typeface="Bookman Uralic"/>
              <a:cs typeface="Bookman Uralic"/>
            </a:endParaRPr>
          </a:p>
          <a:p>
            <a:pPr marL="113030" marR="5715" indent="-100965" algn="just">
              <a:lnSpc>
                <a:spcPct val="105000"/>
              </a:lnSpc>
              <a:buAutoNum type="arabicPeriod"/>
              <a:tabLst>
                <a:tab pos="113030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Fixed-bed gasifier </a:t>
            </a:r>
            <a:r>
              <a:rPr sz="500" spc="-60" dirty="0">
                <a:latin typeface="Georgia" panose="02040502050405020303"/>
                <a:cs typeface="Georgia" panose="02040502050405020303"/>
              </a:rPr>
              <a:t>– </a:t>
            </a:r>
            <a:r>
              <a:rPr sz="500" spc="10" dirty="0">
                <a:latin typeface="Bookman Uralic"/>
                <a:cs typeface="Bookman Uralic"/>
              </a:rPr>
              <a:t>The fixed-bed gasifiers are further classified  as, depending </a:t>
            </a:r>
            <a:r>
              <a:rPr sz="500" spc="15" dirty="0">
                <a:latin typeface="Bookman Uralic"/>
                <a:cs typeface="Bookman Uralic"/>
              </a:rPr>
              <a:t>upon </a:t>
            </a:r>
            <a:r>
              <a:rPr sz="500" spc="5" dirty="0">
                <a:latin typeface="Bookman Uralic"/>
                <a:cs typeface="Bookman Uralic"/>
              </a:rPr>
              <a:t>the </a:t>
            </a:r>
            <a:r>
              <a:rPr sz="500" spc="10" dirty="0">
                <a:latin typeface="Bookman Uralic"/>
                <a:cs typeface="Bookman Uralic"/>
              </a:rPr>
              <a:t>depending </a:t>
            </a:r>
            <a:r>
              <a:rPr sz="500" spc="15" dirty="0">
                <a:latin typeface="Bookman Uralic"/>
                <a:cs typeface="Bookman Uralic"/>
              </a:rPr>
              <a:t>on </a:t>
            </a:r>
            <a:r>
              <a:rPr sz="500" spc="5" dirty="0">
                <a:latin typeface="Bookman Uralic"/>
                <a:cs typeface="Bookman Uralic"/>
              </a:rPr>
              <a:t>the relative </a:t>
            </a:r>
            <a:r>
              <a:rPr sz="500" spc="10" dirty="0">
                <a:latin typeface="Bookman Uralic"/>
                <a:cs typeface="Bookman Uralic"/>
              </a:rPr>
              <a:t>directions of </a:t>
            </a:r>
            <a:r>
              <a:rPr sz="500" spc="5" dirty="0">
                <a:latin typeface="Bookman Uralic"/>
                <a:cs typeface="Bookman Uralic"/>
              </a:rPr>
              <a:t>the  </a:t>
            </a:r>
            <a:r>
              <a:rPr sz="500" spc="10" dirty="0">
                <a:latin typeface="Bookman Uralic"/>
                <a:cs typeface="Bookman Uralic"/>
              </a:rPr>
              <a:t>solid flow </a:t>
            </a:r>
            <a:r>
              <a:rPr sz="500" spc="15" dirty="0">
                <a:latin typeface="Bookman Uralic"/>
                <a:cs typeface="Bookman Uralic"/>
              </a:rPr>
              <a:t>and </a:t>
            </a:r>
            <a:r>
              <a:rPr sz="500" spc="10" dirty="0">
                <a:latin typeface="Bookman Uralic"/>
                <a:cs typeface="Bookman Uralic"/>
              </a:rPr>
              <a:t>the</a:t>
            </a:r>
            <a:r>
              <a:rPr sz="500" spc="-20" dirty="0">
                <a:latin typeface="Bookman Uralic"/>
                <a:cs typeface="Bookman Uralic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gas.</a:t>
            </a:r>
            <a:endParaRPr sz="500">
              <a:latin typeface="Bookman Uralic"/>
              <a:cs typeface="Bookman Uralic"/>
            </a:endParaRPr>
          </a:p>
          <a:p>
            <a:pPr marL="247015" lvl="1" indent="-100965">
              <a:lnSpc>
                <a:spcPct val="100000"/>
              </a:lnSpc>
              <a:spcBef>
                <a:spcPts val="360"/>
              </a:spcBef>
              <a:buAutoNum type="alphaLcParenBoth"/>
              <a:tabLst>
                <a:tab pos="247650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Downdraft</a:t>
            </a:r>
            <a:endParaRPr sz="500">
              <a:latin typeface="TeX Gyre Bonum"/>
              <a:cs typeface="TeX Gyre Bonum"/>
            </a:endParaRPr>
          </a:p>
          <a:p>
            <a:pPr marL="247015" lvl="1" indent="-100965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247650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Updraft</a:t>
            </a:r>
            <a:r>
              <a:rPr sz="500" spc="10" dirty="0">
                <a:latin typeface="Bookman Uralic"/>
                <a:cs typeface="Bookman Uralic"/>
              </a:rPr>
              <a:t>,</a:t>
            </a:r>
            <a:r>
              <a:rPr sz="500" dirty="0">
                <a:latin typeface="Bookman Uralic"/>
                <a:cs typeface="Bookman Uralic"/>
              </a:rPr>
              <a:t> </a:t>
            </a:r>
            <a:r>
              <a:rPr sz="500" spc="15" dirty="0">
                <a:latin typeface="Bookman Uralic"/>
                <a:cs typeface="Bookman Uralic"/>
              </a:rPr>
              <a:t>and</a:t>
            </a:r>
            <a:endParaRPr sz="500">
              <a:latin typeface="Bookman Uralic"/>
              <a:cs typeface="Bookman Uralic"/>
            </a:endParaRPr>
          </a:p>
          <a:p>
            <a:pPr marL="247015" lvl="1" indent="-100965">
              <a:lnSpc>
                <a:spcPct val="100000"/>
              </a:lnSpc>
              <a:spcBef>
                <a:spcPts val="35"/>
              </a:spcBef>
              <a:buAutoNum type="alphaLcParenBoth"/>
              <a:tabLst>
                <a:tab pos="247650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Cross-draft</a:t>
            </a:r>
            <a:endParaRPr sz="500">
              <a:latin typeface="TeX Gyre Bonum"/>
              <a:cs typeface="TeX Gyre Bonum"/>
            </a:endParaRPr>
          </a:p>
          <a:p>
            <a:pPr marL="113030">
              <a:lnSpc>
                <a:spcPct val="100000"/>
              </a:lnSpc>
              <a:spcBef>
                <a:spcPts val="355"/>
              </a:spcBef>
            </a:pPr>
            <a:r>
              <a:rPr sz="500" spc="10" dirty="0">
                <a:latin typeface="Bookman Uralic"/>
                <a:cs typeface="Bookman Uralic"/>
              </a:rPr>
              <a:t>The fixed </a:t>
            </a:r>
            <a:r>
              <a:rPr sz="500" spc="15" dirty="0">
                <a:latin typeface="Bookman Uralic"/>
                <a:cs typeface="Bookman Uralic"/>
              </a:rPr>
              <a:t>bed </a:t>
            </a:r>
            <a:r>
              <a:rPr sz="500" spc="10" dirty="0">
                <a:latin typeface="Bookman Uralic"/>
                <a:cs typeface="Bookman Uralic"/>
              </a:rPr>
              <a:t>gasifiers </a:t>
            </a:r>
            <a:r>
              <a:rPr sz="500" spc="5" dirty="0">
                <a:latin typeface="Bookman Uralic"/>
                <a:cs typeface="Bookman Uralic"/>
              </a:rPr>
              <a:t>are </a:t>
            </a:r>
            <a:r>
              <a:rPr sz="500" spc="10" dirty="0">
                <a:latin typeface="Bookman Uralic"/>
                <a:cs typeface="Bookman Uralic"/>
              </a:rPr>
              <a:t>suitable for small-scale applications (&lt;</a:t>
            </a:r>
            <a:r>
              <a:rPr sz="500" spc="140" dirty="0">
                <a:latin typeface="Bookman Uralic"/>
                <a:cs typeface="Bookman Uralic"/>
              </a:rPr>
              <a:t> </a:t>
            </a:r>
            <a:r>
              <a:rPr sz="500" spc="10" dirty="0">
                <a:latin typeface="Bookman Uralic"/>
                <a:cs typeface="Bookman Uralic"/>
              </a:rPr>
              <a:t>10</a:t>
            </a:r>
            <a:endParaRPr sz="500">
              <a:latin typeface="Bookman Uralic"/>
              <a:cs typeface="Bookman Uralic"/>
            </a:endParaRPr>
          </a:p>
          <a:p>
            <a:pPr marL="113030">
              <a:lnSpc>
                <a:spcPct val="100000"/>
              </a:lnSpc>
              <a:spcBef>
                <a:spcPts val="35"/>
              </a:spcBef>
            </a:pPr>
            <a:r>
              <a:rPr sz="500" i="1" spc="10" dirty="0">
                <a:latin typeface="Bookman Uralic"/>
                <a:cs typeface="Bookman Uralic"/>
              </a:rPr>
              <a:t>MW</a:t>
            </a:r>
            <a:r>
              <a:rPr sz="500" spc="10" dirty="0">
                <a:latin typeface="Bookman Uralic"/>
                <a:cs typeface="Bookman Uralic"/>
              </a:rPr>
              <a:t>).</a:t>
            </a:r>
            <a:endParaRPr sz="500">
              <a:latin typeface="Bookman Uralic"/>
              <a:cs typeface="Bookman Uralic"/>
            </a:endParaRPr>
          </a:p>
          <a:p>
            <a:pPr marL="113030" marR="5080" indent="-100965" algn="just">
              <a:lnSpc>
                <a:spcPct val="106000"/>
              </a:lnSpc>
              <a:spcBef>
                <a:spcPts val="310"/>
              </a:spcBef>
              <a:buAutoNum type="arabicPeriod" startAt="2"/>
              <a:tabLst>
                <a:tab pos="113030" algn="l"/>
              </a:tabLst>
            </a:pPr>
            <a:r>
              <a:rPr sz="500" b="1" i="1" spc="10" dirty="0">
                <a:latin typeface="TeX Gyre Bonum"/>
                <a:cs typeface="TeX Gyre Bonum"/>
              </a:rPr>
              <a:t>Fluidized</a:t>
            </a:r>
            <a:r>
              <a:rPr sz="500" spc="10" dirty="0">
                <a:latin typeface="Bookman Uralic"/>
                <a:cs typeface="Bookman Uralic"/>
              </a:rPr>
              <a:t>-</a:t>
            </a:r>
            <a:r>
              <a:rPr sz="500" b="1" i="1" spc="10" dirty="0">
                <a:latin typeface="TeX Gyre Bonum"/>
                <a:cs typeface="TeX Gyre Bonum"/>
              </a:rPr>
              <a:t>bed gasifier </a:t>
            </a:r>
            <a:r>
              <a:rPr sz="500" spc="-60" dirty="0">
                <a:latin typeface="Georgia" panose="02040502050405020303"/>
                <a:cs typeface="Georgia" panose="02040502050405020303"/>
              </a:rPr>
              <a:t>– </a:t>
            </a:r>
            <a:r>
              <a:rPr sz="500" spc="10" dirty="0">
                <a:latin typeface="Bookman Uralic"/>
                <a:cs typeface="Bookman Uralic"/>
              </a:rPr>
              <a:t>The </a:t>
            </a:r>
            <a:r>
              <a:rPr sz="500" spc="5" dirty="0">
                <a:latin typeface="Bookman Uralic"/>
                <a:cs typeface="Bookman Uralic"/>
              </a:rPr>
              <a:t>fluidized </a:t>
            </a:r>
            <a:r>
              <a:rPr sz="500" spc="15" dirty="0">
                <a:latin typeface="Bookman Uralic"/>
                <a:cs typeface="Bookman Uralic"/>
              </a:rPr>
              <a:t>bed </a:t>
            </a:r>
            <a:r>
              <a:rPr sz="500" spc="10" dirty="0">
                <a:latin typeface="Bookman Uralic"/>
                <a:cs typeface="Bookman Uralic"/>
              </a:rPr>
              <a:t>configurations </a:t>
            </a:r>
            <a:r>
              <a:rPr sz="500" spc="5" dirty="0">
                <a:latin typeface="Bookman Uralic"/>
                <a:cs typeface="Bookman Uralic"/>
              </a:rPr>
              <a:t>are </a:t>
            </a:r>
            <a:r>
              <a:rPr sz="500" spc="15" dirty="0">
                <a:latin typeface="Bookman Uralic"/>
                <a:cs typeface="Bookman Uralic"/>
              </a:rPr>
              <a:t>cost  </a:t>
            </a:r>
            <a:r>
              <a:rPr sz="500" spc="10" dirty="0">
                <a:latin typeface="Bookman Uralic"/>
                <a:cs typeface="Bookman Uralic"/>
              </a:rPr>
              <a:t>effective in large-scale applications that </a:t>
            </a:r>
            <a:r>
              <a:rPr sz="500" spc="15" dirty="0">
                <a:latin typeface="Bookman Uralic"/>
                <a:cs typeface="Bookman Uralic"/>
              </a:rPr>
              <a:t>generate over </a:t>
            </a:r>
            <a:r>
              <a:rPr sz="500" spc="10" dirty="0">
                <a:latin typeface="Bookman Uralic"/>
                <a:cs typeface="Bookman Uralic"/>
              </a:rPr>
              <a:t>15</a:t>
            </a:r>
            <a:r>
              <a:rPr sz="500" spc="-85" dirty="0">
                <a:latin typeface="Bookman Uralic"/>
                <a:cs typeface="Bookman Uralic"/>
              </a:rPr>
              <a:t> </a:t>
            </a:r>
            <a:r>
              <a:rPr sz="500" i="1" spc="15" dirty="0">
                <a:latin typeface="Bookman Uralic"/>
                <a:cs typeface="Bookman Uralic"/>
              </a:rPr>
              <a:t>MW.</a:t>
            </a:r>
            <a:endParaRPr sz="50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078" y="95249"/>
            <a:ext cx="2063114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Fixed Bed cross </a:t>
            </a:r>
            <a:r>
              <a:rPr sz="1050" spc="-5" dirty="0"/>
              <a:t>draft</a:t>
            </a:r>
            <a:r>
              <a:rPr sz="1050" spc="-50" dirty="0"/>
              <a:t> </a:t>
            </a:r>
            <a:r>
              <a:rPr sz="1050" spc="-5" dirty="0"/>
              <a:t>gasifier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46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5279"/>
            <a:ext cx="2680970" cy="1609725"/>
            <a:chOff x="0" y="335279"/>
            <a:chExt cx="2680970" cy="1609725"/>
          </a:xfrm>
        </p:grpSpPr>
        <p:sp>
          <p:nvSpPr>
            <p:cNvPr id="5" name="object 5"/>
            <p:cNvSpPr/>
            <p:nvPr/>
          </p:nvSpPr>
          <p:spPr>
            <a:xfrm>
              <a:off x="0" y="335279"/>
              <a:ext cx="2680716" cy="1609344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85512" y="554063"/>
              <a:ext cx="422275" cy="1113790"/>
            </a:xfrm>
            <a:custGeom>
              <a:avLst/>
              <a:gdLst/>
              <a:ahLst/>
              <a:cxnLst/>
              <a:rect l="l" t="t" r="r" b="b"/>
              <a:pathLst>
                <a:path w="422275" h="1113789">
                  <a:moveTo>
                    <a:pt x="35546" y="45167"/>
                  </a:moveTo>
                  <a:lnTo>
                    <a:pt x="104714" y="13713"/>
                  </a:lnTo>
                </a:path>
                <a:path w="422275" h="1113789">
                  <a:moveTo>
                    <a:pt x="421809" y="164466"/>
                  </a:moveTo>
                  <a:lnTo>
                    <a:pt x="421809" y="91744"/>
                  </a:lnTo>
                  <a:lnTo>
                    <a:pt x="386263" y="66082"/>
                  </a:lnTo>
                  <a:lnTo>
                    <a:pt x="386263" y="45167"/>
                  </a:lnTo>
                  <a:lnTo>
                    <a:pt x="342502" y="24569"/>
                  </a:lnTo>
                  <a:lnTo>
                    <a:pt x="297405" y="10127"/>
                  </a:lnTo>
                  <a:lnTo>
                    <a:pt x="251386" y="1912"/>
                  </a:lnTo>
                  <a:lnTo>
                    <a:pt x="204857" y="0"/>
                  </a:lnTo>
                  <a:lnTo>
                    <a:pt x="158232" y="4462"/>
                  </a:lnTo>
                </a:path>
                <a:path w="422275" h="1113789">
                  <a:moveTo>
                    <a:pt x="0" y="164466"/>
                  </a:moveTo>
                  <a:lnTo>
                    <a:pt x="0" y="91744"/>
                  </a:lnTo>
                  <a:lnTo>
                    <a:pt x="35546" y="66082"/>
                  </a:lnTo>
                  <a:lnTo>
                    <a:pt x="35546" y="45167"/>
                  </a:lnTo>
                </a:path>
                <a:path w="422275" h="1113789">
                  <a:moveTo>
                    <a:pt x="421809" y="164466"/>
                  </a:moveTo>
                  <a:lnTo>
                    <a:pt x="403972" y="164466"/>
                  </a:lnTo>
                </a:path>
                <a:path w="422275" h="1113789">
                  <a:moveTo>
                    <a:pt x="17843" y="164466"/>
                  </a:moveTo>
                  <a:lnTo>
                    <a:pt x="0" y="164466"/>
                  </a:lnTo>
                </a:path>
                <a:path w="422275" h="1113789">
                  <a:moveTo>
                    <a:pt x="402550" y="126657"/>
                  </a:moveTo>
                  <a:lnTo>
                    <a:pt x="402550" y="270090"/>
                  </a:lnTo>
                </a:path>
                <a:path w="422275" h="1113789">
                  <a:moveTo>
                    <a:pt x="18152" y="1112746"/>
                  </a:moveTo>
                  <a:lnTo>
                    <a:pt x="402550" y="1112746"/>
                  </a:lnTo>
                </a:path>
                <a:path w="422275" h="1113789">
                  <a:moveTo>
                    <a:pt x="17843" y="957890"/>
                  </a:moveTo>
                  <a:lnTo>
                    <a:pt x="17843" y="1113164"/>
                  </a:lnTo>
                </a:path>
                <a:path w="422275" h="1113789">
                  <a:moveTo>
                    <a:pt x="96696" y="957890"/>
                  </a:moveTo>
                  <a:lnTo>
                    <a:pt x="335589" y="957890"/>
                  </a:lnTo>
                </a:path>
              </a:pathLst>
            </a:custGeom>
            <a:ln w="8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24295" y="1597431"/>
              <a:ext cx="318524" cy="643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03356" y="718530"/>
              <a:ext cx="0" cy="102870"/>
            </a:xfrm>
            <a:custGeom>
              <a:avLst/>
              <a:gdLst/>
              <a:ahLst/>
              <a:cxnLst/>
              <a:rect l="l" t="t" r="r" b="b"/>
              <a:pathLst>
                <a:path h="102869">
                  <a:moveTo>
                    <a:pt x="0" y="102405"/>
                  </a:moveTo>
                  <a:lnTo>
                    <a:pt x="0" y="0"/>
                  </a:lnTo>
                </a:path>
              </a:pathLst>
            </a:custGeom>
            <a:ln w="7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03356" y="775937"/>
              <a:ext cx="384706" cy="73601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03356" y="775937"/>
              <a:ext cx="384810" cy="890905"/>
            </a:xfrm>
            <a:custGeom>
              <a:avLst/>
              <a:gdLst/>
              <a:ahLst/>
              <a:cxnLst/>
              <a:rect l="l" t="t" r="r" b="b"/>
              <a:pathLst>
                <a:path w="384810" h="890905">
                  <a:moveTo>
                    <a:pt x="42656" y="592471"/>
                  </a:moveTo>
                  <a:lnTo>
                    <a:pt x="66166" y="543835"/>
                  </a:lnTo>
                  <a:lnTo>
                    <a:pt x="92181" y="499024"/>
                  </a:lnTo>
                  <a:lnTo>
                    <a:pt x="120654" y="458082"/>
                  </a:lnTo>
                  <a:lnTo>
                    <a:pt x="151535" y="421054"/>
                  </a:lnTo>
                  <a:lnTo>
                    <a:pt x="184777" y="387983"/>
                  </a:lnTo>
                  <a:lnTo>
                    <a:pt x="220332" y="358913"/>
                  </a:lnTo>
                  <a:lnTo>
                    <a:pt x="258150" y="333888"/>
                  </a:lnTo>
                  <a:lnTo>
                    <a:pt x="298185" y="312951"/>
                  </a:lnTo>
                  <a:lnTo>
                    <a:pt x="340386" y="296146"/>
                  </a:lnTo>
                  <a:lnTo>
                    <a:pt x="384706" y="283516"/>
                  </a:lnTo>
                  <a:lnTo>
                    <a:pt x="384706" y="48216"/>
                  </a:lnTo>
                  <a:lnTo>
                    <a:pt x="340910" y="27459"/>
                  </a:lnTo>
                  <a:lnTo>
                    <a:pt x="293498" y="12497"/>
                  </a:lnTo>
                  <a:lnTo>
                    <a:pt x="243664" y="3341"/>
                  </a:lnTo>
                  <a:lnTo>
                    <a:pt x="192604" y="0"/>
                  </a:lnTo>
                  <a:lnTo>
                    <a:pt x="141512" y="2484"/>
                  </a:lnTo>
                  <a:lnTo>
                    <a:pt x="91584" y="10805"/>
                  </a:lnTo>
                  <a:lnTo>
                    <a:pt x="44015" y="24973"/>
                  </a:lnTo>
                  <a:lnTo>
                    <a:pt x="0" y="44998"/>
                  </a:lnTo>
                  <a:lnTo>
                    <a:pt x="0" y="736017"/>
                  </a:lnTo>
                  <a:lnTo>
                    <a:pt x="78852" y="736017"/>
                  </a:lnTo>
                  <a:lnTo>
                    <a:pt x="61459" y="726445"/>
                  </a:lnTo>
                  <a:lnTo>
                    <a:pt x="46415" y="707113"/>
                  </a:lnTo>
                  <a:lnTo>
                    <a:pt x="35300" y="680782"/>
                  </a:lnTo>
                  <a:lnTo>
                    <a:pt x="29696" y="650215"/>
                  </a:lnTo>
                  <a:lnTo>
                    <a:pt x="29582" y="632715"/>
                  </a:lnTo>
                  <a:lnTo>
                    <a:pt x="31794" y="616854"/>
                  </a:lnTo>
                  <a:lnTo>
                    <a:pt x="36197" y="603238"/>
                  </a:lnTo>
                  <a:lnTo>
                    <a:pt x="42656" y="592471"/>
                  </a:lnTo>
                  <a:close/>
                </a:path>
                <a:path w="384810" h="890905">
                  <a:moveTo>
                    <a:pt x="384706" y="890872"/>
                  </a:moveTo>
                  <a:lnTo>
                    <a:pt x="384706" y="631946"/>
                  </a:lnTo>
                </a:path>
              </a:pathLst>
            </a:custGeom>
            <a:ln w="8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84201" y="1276654"/>
              <a:ext cx="146836" cy="1360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21101" y="1330954"/>
              <a:ext cx="0" cy="181610"/>
            </a:xfrm>
            <a:custGeom>
              <a:avLst/>
              <a:gdLst/>
              <a:ahLst/>
              <a:cxnLst/>
              <a:rect l="l" t="t" r="r" b="b"/>
              <a:pathLst>
                <a:path h="181609">
                  <a:moveTo>
                    <a:pt x="0" y="181000"/>
                  </a:moveTo>
                  <a:lnTo>
                    <a:pt x="0" y="0"/>
                  </a:lnTo>
                </a:path>
              </a:pathLst>
            </a:custGeom>
            <a:ln w="7721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43745" y="1332837"/>
              <a:ext cx="173740" cy="1221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43745" y="1332837"/>
              <a:ext cx="173990" cy="122555"/>
            </a:xfrm>
            <a:custGeom>
              <a:avLst/>
              <a:gdLst/>
              <a:ahLst/>
              <a:cxnLst/>
              <a:rect l="l" t="t" r="r" b="b"/>
              <a:pathLst>
                <a:path w="173989" h="122555">
                  <a:moveTo>
                    <a:pt x="173740" y="122171"/>
                  </a:moveTo>
                  <a:lnTo>
                    <a:pt x="173740" y="0"/>
                  </a:lnTo>
                  <a:lnTo>
                    <a:pt x="127793" y="2175"/>
                  </a:lnTo>
                  <a:lnTo>
                    <a:pt x="83265" y="12981"/>
                  </a:lnTo>
                  <a:lnTo>
                    <a:pt x="40539" y="32285"/>
                  </a:lnTo>
                  <a:lnTo>
                    <a:pt x="0" y="59955"/>
                  </a:lnTo>
                  <a:lnTo>
                    <a:pt x="40298" y="88949"/>
                  </a:lnTo>
                  <a:lnTo>
                    <a:pt x="82974" y="109087"/>
                  </a:lnTo>
                  <a:lnTo>
                    <a:pt x="127597" y="120213"/>
                  </a:lnTo>
                  <a:lnTo>
                    <a:pt x="173734" y="122171"/>
                  </a:lnTo>
                  <a:close/>
                </a:path>
              </a:pathLst>
            </a:custGeom>
            <a:ln w="9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32938" y="1059454"/>
              <a:ext cx="355124" cy="4525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32938" y="1059454"/>
              <a:ext cx="355600" cy="452755"/>
            </a:xfrm>
            <a:custGeom>
              <a:avLst/>
              <a:gdLst/>
              <a:ahLst/>
              <a:cxnLst/>
              <a:rect l="l" t="t" r="r" b="b"/>
              <a:pathLst>
                <a:path w="355600" h="452755">
                  <a:moveTo>
                    <a:pt x="110799" y="331455"/>
                  </a:moveTo>
                  <a:lnTo>
                    <a:pt x="151944" y="360453"/>
                  </a:lnTo>
                  <a:lnTo>
                    <a:pt x="195512" y="380592"/>
                  </a:lnTo>
                  <a:lnTo>
                    <a:pt x="241064" y="391718"/>
                  </a:lnTo>
                  <a:lnTo>
                    <a:pt x="288163" y="393679"/>
                  </a:lnTo>
                  <a:lnTo>
                    <a:pt x="288163" y="452500"/>
                  </a:lnTo>
                  <a:lnTo>
                    <a:pt x="49269" y="452500"/>
                  </a:lnTo>
                  <a:lnTo>
                    <a:pt x="16832" y="423596"/>
                  </a:lnTo>
                  <a:lnTo>
                    <a:pt x="114" y="366698"/>
                  </a:lnTo>
                  <a:lnTo>
                    <a:pt x="0" y="349198"/>
                  </a:lnTo>
                  <a:lnTo>
                    <a:pt x="2211" y="333337"/>
                  </a:lnTo>
                  <a:lnTo>
                    <a:pt x="6615" y="319722"/>
                  </a:lnTo>
                  <a:lnTo>
                    <a:pt x="13073" y="308955"/>
                  </a:lnTo>
                  <a:lnTo>
                    <a:pt x="36583" y="260318"/>
                  </a:lnTo>
                  <a:lnTo>
                    <a:pt x="62598" y="215507"/>
                  </a:lnTo>
                  <a:lnTo>
                    <a:pt x="91071" y="174566"/>
                  </a:lnTo>
                  <a:lnTo>
                    <a:pt x="121953" y="137538"/>
                  </a:lnTo>
                  <a:lnTo>
                    <a:pt x="155195" y="104467"/>
                  </a:lnTo>
                  <a:lnTo>
                    <a:pt x="190749" y="75397"/>
                  </a:lnTo>
                  <a:lnTo>
                    <a:pt x="228568" y="50371"/>
                  </a:lnTo>
                  <a:lnTo>
                    <a:pt x="268602" y="29434"/>
                  </a:lnTo>
                  <a:lnTo>
                    <a:pt x="310803" y="12629"/>
                  </a:lnTo>
                  <a:lnTo>
                    <a:pt x="355124" y="0"/>
                  </a:lnTo>
                  <a:lnTo>
                    <a:pt x="355124" y="217200"/>
                  </a:lnTo>
                  <a:lnTo>
                    <a:pt x="288163" y="271500"/>
                  </a:lnTo>
                  <a:lnTo>
                    <a:pt x="241261" y="273679"/>
                  </a:lnTo>
                  <a:lnTo>
                    <a:pt x="195807" y="284486"/>
                  </a:lnTo>
                  <a:lnTo>
                    <a:pt x="152191" y="303790"/>
                  </a:lnTo>
                  <a:lnTo>
                    <a:pt x="110806" y="331463"/>
                  </a:lnTo>
                  <a:close/>
                </a:path>
              </a:pathLst>
            </a:custGeom>
            <a:ln w="84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52792" y="1371683"/>
              <a:ext cx="83247" cy="4072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52792" y="1371683"/>
              <a:ext cx="83820" cy="41275"/>
            </a:xfrm>
            <a:custGeom>
              <a:avLst/>
              <a:gdLst/>
              <a:ahLst/>
              <a:cxnLst/>
              <a:rect l="l" t="t" r="r" b="b"/>
              <a:pathLst>
                <a:path w="83819" h="41275">
                  <a:moveTo>
                    <a:pt x="83247" y="20360"/>
                  </a:moveTo>
                  <a:lnTo>
                    <a:pt x="79976" y="12434"/>
                  </a:lnTo>
                  <a:lnTo>
                    <a:pt x="71056" y="5962"/>
                  </a:lnTo>
                  <a:lnTo>
                    <a:pt x="57827" y="1599"/>
                  </a:lnTo>
                  <a:lnTo>
                    <a:pt x="41626" y="0"/>
                  </a:lnTo>
                  <a:lnTo>
                    <a:pt x="25423" y="1599"/>
                  </a:lnTo>
                  <a:lnTo>
                    <a:pt x="12191" y="5962"/>
                  </a:lnTo>
                  <a:lnTo>
                    <a:pt x="3271" y="12434"/>
                  </a:lnTo>
                  <a:lnTo>
                    <a:pt x="0" y="20360"/>
                  </a:lnTo>
                  <a:lnTo>
                    <a:pt x="3270" y="28286"/>
                  </a:lnTo>
                  <a:lnTo>
                    <a:pt x="12190" y="34758"/>
                  </a:lnTo>
                  <a:lnTo>
                    <a:pt x="25420" y="39121"/>
                  </a:lnTo>
                  <a:lnTo>
                    <a:pt x="41620" y="40721"/>
                  </a:lnTo>
                  <a:lnTo>
                    <a:pt x="57824" y="39121"/>
                  </a:lnTo>
                  <a:lnTo>
                    <a:pt x="71055" y="34758"/>
                  </a:lnTo>
                  <a:lnTo>
                    <a:pt x="79976" y="28286"/>
                  </a:lnTo>
                  <a:lnTo>
                    <a:pt x="83247" y="20360"/>
                  </a:lnTo>
                  <a:close/>
                </a:path>
              </a:pathLst>
            </a:custGeom>
            <a:ln w="9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21101" y="1511954"/>
              <a:ext cx="67310" cy="0"/>
            </a:xfrm>
            <a:custGeom>
              <a:avLst/>
              <a:gdLst/>
              <a:ahLst/>
              <a:cxnLst/>
              <a:rect l="l" t="t" r="r" b="b"/>
              <a:pathLst>
                <a:path w="67310">
                  <a:moveTo>
                    <a:pt x="0" y="0"/>
                  </a:moveTo>
                  <a:lnTo>
                    <a:pt x="66960" y="0"/>
                  </a:lnTo>
                </a:path>
              </a:pathLst>
            </a:custGeom>
            <a:ln w="965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59142" y="1365344"/>
              <a:ext cx="187325" cy="56515"/>
            </a:xfrm>
            <a:custGeom>
              <a:avLst/>
              <a:gdLst/>
              <a:ahLst/>
              <a:cxnLst/>
              <a:rect l="l" t="t" r="r" b="b"/>
              <a:pathLst>
                <a:path w="187325" h="56515">
                  <a:moveTo>
                    <a:pt x="140742" y="0"/>
                  </a:moveTo>
                  <a:lnTo>
                    <a:pt x="0" y="0"/>
                  </a:lnTo>
                  <a:lnTo>
                    <a:pt x="0" y="56110"/>
                  </a:lnTo>
                  <a:lnTo>
                    <a:pt x="140742" y="56110"/>
                  </a:lnTo>
                  <a:lnTo>
                    <a:pt x="186944" y="28059"/>
                  </a:lnTo>
                  <a:lnTo>
                    <a:pt x="1407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59142" y="1365344"/>
              <a:ext cx="187325" cy="56515"/>
            </a:xfrm>
            <a:custGeom>
              <a:avLst/>
              <a:gdLst/>
              <a:ahLst/>
              <a:cxnLst/>
              <a:rect l="l" t="t" r="r" b="b"/>
              <a:pathLst>
                <a:path w="187325" h="56515">
                  <a:moveTo>
                    <a:pt x="140742" y="0"/>
                  </a:moveTo>
                  <a:lnTo>
                    <a:pt x="0" y="0"/>
                  </a:lnTo>
                  <a:lnTo>
                    <a:pt x="0" y="56110"/>
                  </a:lnTo>
                  <a:lnTo>
                    <a:pt x="140742" y="56110"/>
                  </a:lnTo>
                  <a:lnTo>
                    <a:pt x="186944" y="28059"/>
                  </a:lnTo>
                  <a:lnTo>
                    <a:pt x="140742" y="0"/>
                  </a:lnTo>
                  <a:close/>
                </a:path>
              </a:pathLst>
            </a:custGeom>
            <a:ln w="94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916982" y="462153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h="102234">
                  <a:moveTo>
                    <a:pt x="0" y="0"/>
                  </a:moveTo>
                  <a:lnTo>
                    <a:pt x="0" y="101923"/>
                  </a:lnTo>
                </a:path>
              </a:pathLst>
            </a:custGeom>
            <a:ln w="46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03083" y="560617"/>
              <a:ext cx="27940" cy="17780"/>
            </a:xfrm>
            <a:custGeom>
              <a:avLst/>
              <a:gdLst/>
              <a:ahLst/>
              <a:cxnLst/>
              <a:rect l="l" t="t" r="r" b="b"/>
              <a:pathLst>
                <a:path w="27939" h="17779">
                  <a:moveTo>
                    <a:pt x="27798" y="0"/>
                  </a:moveTo>
                  <a:lnTo>
                    <a:pt x="0" y="0"/>
                  </a:lnTo>
                  <a:lnTo>
                    <a:pt x="13899" y="17376"/>
                  </a:lnTo>
                  <a:lnTo>
                    <a:pt x="27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767670" y="369331"/>
            <a:ext cx="30480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50" dirty="0">
                <a:latin typeface="Times New Roman" panose="02020603050405020304"/>
                <a:cs typeface="Times New Roman" panose="02020603050405020304"/>
              </a:rPr>
              <a:t>Biomass</a:t>
            </a:r>
            <a:r>
              <a:rPr sz="5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feed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86099" y="510234"/>
            <a:ext cx="380365" cy="452120"/>
            <a:chOff x="1886099" y="510234"/>
            <a:chExt cx="380365" cy="452120"/>
          </a:xfrm>
        </p:grpSpPr>
        <p:sp>
          <p:nvSpPr>
            <p:cNvPr id="26" name="object 26"/>
            <p:cNvSpPr/>
            <p:nvPr/>
          </p:nvSpPr>
          <p:spPr>
            <a:xfrm>
              <a:off x="1890226" y="514362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53415"/>
                  </a:moveTo>
                  <a:lnTo>
                    <a:pt x="0" y="9251"/>
                  </a:lnTo>
                </a:path>
                <a:path w="53975" h="53975">
                  <a:moveTo>
                    <a:pt x="53518" y="44164"/>
                  </a:moveTo>
                  <a:lnTo>
                    <a:pt x="53518" y="0"/>
                  </a:lnTo>
                </a:path>
              </a:pathLst>
            </a:custGeom>
            <a:ln w="86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93493" y="924468"/>
              <a:ext cx="69850" cy="34925"/>
            </a:xfrm>
            <a:custGeom>
              <a:avLst/>
              <a:gdLst/>
              <a:ahLst/>
              <a:cxnLst/>
              <a:rect l="l" t="t" r="r" b="b"/>
              <a:pathLst>
                <a:path w="69850" h="34925">
                  <a:moveTo>
                    <a:pt x="69528" y="17376"/>
                  </a:moveTo>
                  <a:lnTo>
                    <a:pt x="0" y="17376"/>
                  </a:lnTo>
                </a:path>
                <a:path w="69850" h="34925">
                  <a:moveTo>
                    <a:pt x="13899" y="34752"/>
                  </a:moveTo>
                  <a:lnTo>
                    <a:pt x="0" y="17376"/>
                  </a:lnTo>
                  <a:lnTo>
                    <a:pt x="13899" y="0"/>
                  </a:lnTo>
                </a:path>
              </a:pathLst>
            </a:custGeom>
            <a:ln w="5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258558" y="879510"/>
            <a:ext cx="328295" cy="348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5" dirty="0">
                <a:latin typeface="Times New Roman" panose="02020603050405020304"/>
                <a:cs typeface="Times New Roman" panose="02020603050405020304"/>
              </a:rPr>
              <a:t>Drying zone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 panose="02020603050405020304"/>
              <a:cs typeface="Times New Roman" panose="02020603050405020304"/>
            </a:endParaRPr>
          </a:p>
          <a:p>
            <a:pPr marL="13335">
              <a:lnSpc>
                <a:spcPct val="100000"/>
              </a:lnSpc>
            </a:pPr>
            <a:r>
              <a:rPr sz="500" spc="-40" dirty="0">
                <a:latin typeface="Times New Roman" panose="02020603050405020304"/>
                <a:cs typeface="Times New Roman" panose="02020603050405020304"/>
              </a:rPr>
              <a:t>Pyrolysis</a:t>
            </a:r>
            <a:r>
              <a:rPr sz="5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zone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752192" y="1162851"/>
            <a:ext cx="514350" cy="334010"/>
            <a:chOff x="1752192" y="1162851"/>
            <a:chExt cx="514350" cy="334010"/>
          </a:xfrm>
        </p:grpSpPr>
        <p:sp>
          <p:nvSpPr>
            <p:cNvPr id="30" name="object 30"/>
            <p:cNvSpPr/>
            <p:nvPr/>
          </p:nvSpPr>
          <p:spPr>
            <a:xfrm>
              <a:off x="2193493" y="1165391"/>
              <a:ext cx="69850" cy="34925"/>
            </a:xfrm>
            <a:custGeom>
              <a:avLst/>
              <a:gdLst/>
              <a:ahLst/>
              <a:cxnLst/>
              <a:rect l="l" t="t" r="r" b="b"/>
              <a:pathLst>
                <a:path w="69850" h="34925">
                  <a:moveTo>
                    <a:pt x="69528" y="17376"/>
                  </a:moveTo>
                  <a:lnTo>
                    <a:pt x="0" y="17376"/>
                  </a:lnTo>
                </a:path>
                <a:path w="69850" h="34925">
                  <a:moveTo>
                    <a:pt x="13899" y="34752"/>
                  </a:moveTo>
                  <a:lnTo>
                    <a:pt x="0" y="17376"/>
                  </a:lnTo>
                  <a:lnTo>
                    <a:pt x="13899" y="0"/>
                  </a:lnTo>
                </a:path>
              </a:pathLst>
            </a:custGeom>
            <a:ln w="5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52192" y="1360369"/>
              <a:ext cx="13970" cy="67945"/>
            </a:xfrm>
            <a:custGeom>
              <a:avLst/>
              <a:gdLst/>
              <a:ahLst/>
              <a:cxnLst/>
              <a:rect l="l" t="t" r="r" b="b"/>
              <a:pathLst>
                <a:path w="13969" h="67944">
                  <a:moveTo>
                    <a:pt x="13899" y="0"/>
                  </a:moveTo>
                  <a:lnTo>
                    <a:pt x="0" y="0"/>
                  </a:lnTo>
                  <a:lnTo>
                    <a:pt x="0" y="67875"/>
                  </a:lnTo>
                  <a:lnTo>
                    <a:pt x="13899" y="67875"/>
                  </a:lnTo>
                  <a:lnTo>
                    <a:pt x="13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084906" y="1404078"/>
              <a:ext cx="173990" cy="90170"/>
            </a:xfrm>
            <a:custGeom>
              <a:avLst/>
              <a:gdLst/>
              <a:ahLst/>
              <a:cxnLst/>
              <a:rect l="l" t="t" r="r" b="b"/>
              <a:pathLst>
                <a:path w="173989" h="90169">
                  <a:moveTo>
                    <a:pt x="173740" y="89776"/>
                  </a:moveTo>
                  <a:lnTo>
                    <a:pt x="85654" y="89776"/>
                  </a:lnTo>
                  <a:lnTo>
                    <a:pt x="85654" y="17376"/>
                  </a:lnTo>
                  <a:lnTo>
                    <a:pt x="0" y="17376"/>
                  </a:lnTo>
                </a:path>
                <a:path w="173989" h="90169">
                  <a:moveTo>
                    <a:pt x="13899" y="34752"/>
                  </a:moveTo>
                  <a:lnTo>
                    <a:pt x="0" y="17376"/>
                  </a:lnTo>
                  <a:lnTo>
                    <a:pt x="13899" y="0"/>
                  </a:lnTo>
                </a:path>
              </a:pathLst>
            </a:custGeom>
            <a:ln w="5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255791" y="1264156"/>
            <a:ext cx="387350" cy="2749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75565" marR="5080" indent="-63500">
              <a:lnSpc>
                <a:spcPct val="76000"/>
              </a:lnSpc>
              <a:spcBef>
                <a:spcPts val="250"/>
              </a:spcBef>
            </a:pPr>
            <a:r>
              <a:rPr sz="500" spc="-50" dirty="0">
                <a:latin typeface="Times New Roman" panose="02020603050405020304"/>
                <a:cs typeface="Times New Roman" panose="02020603050405020304"/>
              </a:rPr>
              <a:t>Combustion</a:t>
            </a:r>
            <a:r>
              <a:rPr sz="5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zone 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Producer</a:t>
            </a:r>
            <a:r>
              <a:rPr sz="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gas</a:t>
            </a: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34925">
              <a:lnSpc>
                <a:spcPct val="100000"/>
              </a:lnSpc>
              <a:spcBef>
                <a:spcPts val="300"/>
              </a:spcBef>
            </a:pPr>
            <a:r>
              <a:rPr sz="500" spc="-45" dirty="0">
                <a:latin typeface="Times New Roman" panose="02020603050405020304"/>
                <a:cs typeface="Times New Roman" panose="02020603050405020304"/>
              </a:rPr>
              <a:t>Reduction</a:t>
            </a:r>
            <a:r>
              <a:rPr sz="5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spc="-45" dirty="0">
                <a:latin typeface="Times New Roman" panose="02020603050405020304"/>
                <a:cs typeface="Times New Roman" panose="02020603050405020304"/>
              </a:rPr>
              <a:t>zone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13980" y="1319047"/>
            <a:ext cx="548005" cy="94615"/>
            <a:chOff x="1713980" y="1319047"/>
            <a:chExt cx="548005" cy="94615"/>
          </a:xfrm>
        </p:grpSpPr>
        <p:sp>
          <p:nvSpPr>
            <p:cNvPr id="35" name="object 35"/>
            <p:cNvSpPr/>
            <p:nvPr/>
          </p:nvSpPr>
          <p:spPr>
            <a:xfrm>
              <a:off x="1717155" y="1321904"/>
              <a:ext cx="541655" cy="88900"/>
            </a:xfrm>
            <a:custGeom>
              <a:avLst/>
              <a:gdLst/>
              <a:ahLst/>
              <a:cxnLst/>
              <a:rect l="l" t="t" r="r" b="b"/>
              <a:pathLst>
                <a:path w="541655" h="88900">
                  <a:moveTo>
                    <a:pt x="541491" y="0"/>
                  </a:moveTo>
                  <a:lnTo>
                    <a:pt x="432092" y="0"/>
                  </a:lnTo>
                  <a:lnTo>
                    <a:pt x="432092" y="71273"/>
                  </a:lnTo>
                  <a:lnTo>
                    <a:pt x="325718" y="71273"/>
                  </a:lnTo>
                </a:path>
                <a:path w="541655" h="88900">
                  <a:moveTo>
                    <a:pt x="339617" y="53897"/>
                  </a:moveTo>
                  <a:lnTo>
                    <a:pt x="325718" y="71273"/>
                  </a:lnTo>
                  <a:lnTo>
                    <a:pt x="339617" y="88649"/>
                  </a:lnTo>
                </a:path>
                <a:path w="541655" h="88900">
                  <a:moveTo>
                    <a:pt x="0" y="71499"/>
                  </a:moveTo>
                  <a:lnTo>
                    <a:pt x="81542" y="71499"/>
                  </a:lnTo>
                </a:path>
              </a:pathLst>
            </a:custGeom>
            <a:ln w="5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795917" y="1376027"/>
              <a:ext cx="13970" cy="34925"/>
            </a:xfrm>
            <a:custGeom>
              <a:avLst/>
              <a:gdLst/>
              <a:ahLst/>
              <a:cxnLst/>
              <a:rect l="l" t="t" r="r" b="b"/>
              <a:pathLst>
                <a:path w="13969" h="34925">
                  <a:moveTo>
                    <a:pt x="0" y="0"/>
                  </a:moveTo>
                  <a:lnTo>
                    <a:pt x="0" y="34752"/>
                  </a:lnTo>
                  <a:lnTo>
                    <a:pt x="13899" y="17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622773" y="1336556"/>
            <a:ext cx="9461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7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00" spc="-30" dirty="0">
                <a:latin typeface="Times New Roman" panose="02020603050405020304"/>
                <a:cs typeface="Times New Roman" panose="02020603050405020304"/>
              </a:rPr>
              <a:t>ir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70144" y="1653309"/>
            <a:ext cx="65468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b="1" i="1" spc="-45" dirty="0">
                <a:latin typeface="Times New Roman" panose="02020603050405020304"/>
                <a:cs typeface="Times New Roman" panose="02020603050405020304"/>
              </a:rPr>
              <a:t>Fixed-bed </a:t>
            </a:r>
            <a:r>
              <a:rPr sz="500" b="1" i="1" spc="-40" dirty="0">
                <a:latin typeface="Times New Roman" panose="02020603050405020304"/>
                <a:cs typeface="Times New Roman" panose="02020603050405020304"/>
              </a:rPr>
              <a:t>cross-draft</a:t>
            </a:r>
            <a:r>
              <a:rPr sz="500" b="1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00" b="1" i="1" spc="-40" dirty="0">
                <a:latin typeface="Times New Roman" panose="02020603050405020304"/>
                <a:cs typeface="Times New Roman" panose="02020603050405020304"/>
              </a:rPr>
              <a:t>gasifier</a:t>
            </a:r>
            <a:endParaRPr sz="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784" y="143002"/>
            <a:ext cx="20224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Fixed Bed </a:t>
            </a:r>
            <a:r>
              <a:rPr sz="1050" spc="-5" dirty="0"/>
              <a:t>downdraft</a:t>
            </a:r>
            <a:r>
              <a:rPr sz="1050" spc="-40" dirty="0"/>
              <a:t> </a:t>
            </a:r>
            <a:r>
              <a:rPr sz="1050" spc="-5" dirty="0"/>
              <a:t>gasifier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2474722" y="1900808"/>
            <a:ext cx="45720" cy="44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0"/>
              </a:lnSpc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45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446532"/>
            <a:ext cx="2680970" cy="1565275"/>
            <a:chOff x="0" y="446532"/>
            <a:chExt cx="2680970" cy="1565275"/>
          </a:xfrm>
        </p:grpSpPr>
        <p:sp>
          <p:nvSpPr>
            <p:cNvPr id="5" name="object 5"/>
            <p:cNvSpPr/>
            <p:nvPr/>
          </p:nvSpPr>
          <p:spPr>
            <a:xfrm>
              <a:off x="0" y="446532"/>
              <a:ext cx="2680715" cy="1565147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98197" y="1399047"/>
              <a:ext cx="407787" cy="618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98197" y="1399047"/>
              <a:ext cx="408305" cy="62230"/>
            </a:xfrm>
            <a:custGeom>
              <a:avLst/>
              <a:gdLst/>
              <a:ahLst/>
              <a:cxnLst/>
              <a:rect l="l" t="t" r="r" b="b"/>
              <a:pathLst>
                <a:path w="408305" h="62230">
                  <a:moveTo>
                    <a:pt x="406982" y="40269"/>
                  </a:moveTo>
                  <a:lnTo>
                    <a:pt x="306790" y="0"/>
                  </a:lnTo>
                  <a:lnTo>
                    <a:pt x="255703" y="7943"/>
                  </a:lnTo>
                  <a:lnTo>
                    <a:pt x="203516" y="10809"/>
                  </a:lnTo>
                  <a:lnTo>
                    <a:pt x="151317" y="8590"/>
                  </a:lnTo>
                  <a:lnTo>
                    <a:pt x="100192" y="1280"/>
                  </a:lnTo>
                  <a:lnTo>
                    <a:pt x="0" y="41557"/>
                  </a:lnTo>
                  <a:lnTo>
                    <a:pt x="0" y="61880"/>
                  </a:lnTo>
                  <a:lnTo>
                    <a:pt x="407787" y="61880"/>
                  </a:lnTo>
                  <a:lnTo>
                    <a:pt x="406982" y="40269"/>
                  </a:lnTo>
                  <a:close/>
                </a:path>
              </a:pathLst>
            </a:custGeom>
            <a:ln w="9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98197" y="949413"/>
              <a:ext cx="407787" cy="307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779283" y="563974"/>
              <a:ext cx="447675" cy="1042035"/>
            </a:xfrm>
            <a:custGeom>
              <a:avLst/>
              <a:gdLst/>
              <a:ahLst/>
              <a:cxnLst/>
              <a:rect l="l" t="t" r="r" b="b"/>
              <a:pathLst>
                <a:path w="447675" h="1042035">
                  <a:moveTo>
                    <a:pt x="18914" y="532565"/>
                  </a:moveTo>
                  <a:lnTo>
                    <a:pt x="119106" y="691826"/>
                  </a:lnTo>
                  <a:lnTo>
                    <a:pt x="170231" y="684516"/>
                  </a:lnTo>
                  <a:lnTo>
                    <a:pt x="222431" y="682298"/>
                  </a:lnTo>
                  <a:lnTo>
                    <a:pt x="274617" y="685166"/>
                  </a:lnTo>
                  <a:lnTo>
                    <a:pt x="325704" y="693114"/>
                  </a:lnTo>
                  <a:lnTo>
                    <a:pt x="426701" y="532565"/>
                  </a:lnTo>
                  <a:lnTo>
                    <a:pt x="426701" y="430258"/>
                  </a:lnTo>
                  <a:lnTo>
                    <a:pt x="385648" y="412702"/>
                  </a:lnTo>
                  <a:lnTo>
                    <a:pt x="341455" y="399436"/>
                  </a:lnTo>
                  <a:lnTo>
                    <a:pt x="295012" y="390465"/>
                  </a:lnTo>
                  <a:lnTo>
                    <a:pt x="247208" y="385798"/>
                  </a:lnTo>
                  <a:lnTo>
                    <a:pt x="198933" y="385439"/>
                  </a:lnTo>
                  <a:lnTo>
                    <a:pt x="151076" y="389396"/>
                  </a:lnTo>
                  <a:lnTo>
                    <a:pt x="104527" y="397676"/>
                  </a:lnTo>
                  <a:lnTo>
                    <a:pt x="60177" y="410285"/>
                  </a:lnTo>
                  <a:lnTo>
                    <a:pt x="18914" y="427229"/>
                  </a:lnTo>
                  <a:lnTo>
                    <a:pt x="18914" y="532565"/>
                  </a:lnTo>
                  <a:close/>
                </a:path>
                <a:path w="447675" h="1042035">
                  <a:moveTo>
                    <a:pt x="37685" y="42293"/>
                  </a:moveTo>
                  <a:lnTo>
                    <a:pt x="110996" y="12840"/>
                  </a:lnTo>
                </a:path>
                <a:path w="447675" h="1042035">
                  <a:moveTo>
                    <a:pt x="447123" y="154001"/>
                  </a:moveTo>
                  <a:lnTo>
                    <a:pt x="447123" y="85906"/>
                  </a:lnTo>
                  <a:lnTo>
                    <a:pt x="409437" y="61877"/>
                  </a:lnTo>
                  <a:lnTo>
                    <a:pt x="409437" y="42293"/>
                  </a:lnTo>
                  <a:lnTo>
                    <a:pt x="363050" y="23006"/>
                  </a:lnTo>
                  <a:lnTo>
                    <a:pt x="315248" y="9482"/>
                  </a:lnTo>
                  <a:lnTo>
                    <a:pt x="266468" y="1790"/>
                  </a:lnTo>
                  <a:lnTo>
                    <a:pt x="217147" y="0"/>
                  </a:lnTo>
                  <a:lnTo>
                    <a:pt x="167725" y="4178"/>
                  </a:lnTo>
                </a:path>
                <a:path w="447675" h="1042035">
                  <a:moveTo>
                    <a:pt x="0" y="154001"/>
                  </a:moveTo>
                  <a:lnTo>
                    <a:pt x="0" y="85906"/>
                  </a:lnTo>
                  <a:lnTo>
                    <a:pt x="37685" y="61877"/>
                  </a:lnTo>
                  <a:lnTo>
                    <a:pt x="37685" y="42293"/>
                  </a:lnTo>
                </a:path>
                <a:path w="447675" h="1042035">
                  <a:moveTo>
                    <a:pt x="447123" y="154001"/>
                  </a:moveTo>
                  <a:lnTo>
                    <a:pt x="428208" y="154001"/>
                  </a:lnTo>
                </a:path>
                <a:path w="447675" h="1042035">
                  <a:moveTo>
                    <a:pt x="18914" y="154001"/>
                  </a:moveTo>
                  <a:lnTo>
                    <a:pt x="0" y="154001"/>
                  </a:lnTo>
                </a:path>
                <a:path w="447675" h="1042035">
                  <a:moveTo>
                    <a:pt x="18914" y="118598"/>
                  </a:moveTo>
                  <a:lnTo>
                    <a:pt x="18914" y="759604"/>
                  </a:lnTo>
                </a:path>
                <a:path w="447675" h="1042035">
                  <a:moveTo>
                    <a:pt x="426701" y="118598"/>
                  </a:moveTo>
                  <a:lnTo>
                    <a:pt x="426701" y="227519"/>
                  </a:lnTo>
                  <a:lnTo>
                    <a:pt x="426701" y="759288"/>
                  </a:lnTo>
                </a:path>
                <a:path w="447675" h="1042035">
                  <a:moveTo>
                    <a:pt x="19241" y="1041955"/>
                  </a:moveTo>
                  <a:lnTo>
                    <a:pt x="426701" y="1041955"/>
                  </a:lnTo>
                </a:path>
                <a:path w="447675" h="1042035">
                  <a:moveTo>
                    <a:pt x="426701" y="424525"/>
                  </a:moveTo>
                  <a:lnTo>
                    <a:pt x="385353" y="407837"/>
                  </a:lnTo>
                  <a:lnTo>
                    <a:pt x="340940" y="395497"/>
                  </a:lnTo>
                  <a:lnTo>
                    <a:pt x="294350" y="387496"/>
                  </a:lnTo>
                  <a:lnTo>
                    <a:pt x="246472" y="383822"/>
                  </a:lnTo>
                  <a:lnTo>
                    <a:pt x="198198" y="384463"/>
                  </a:lnTo>
                  <a:lnTo>
                    <a:pt x="150415" y="389410"/>
                  </a:lnTo>
                  <a:lnTo>
                    <a:pt x="104014" y="398651"/>
                  </a:lnTo>
                  <a:lnTo>
                    <a:pt x="59883" y="412175"/>
                  </a:lnTo>
                  <a:lnTo>
                    <a:pt x="18914" y="429971"/>
                  </a:lnTo>
                </a:path>
                <a:path w="447675" h="1042035">
                  <a:moveTo>
                    <a:pt x="426701" y="433903"/>
                  </a:moveTo>
                  <a:lnTo>
                    <a:pt x="385648" y="416361"/>
                  </a:lnTo>
                  <a:lnTo>
                    <a:pt x="341455" y="403105"/>
                  </a:lnTo>
                  <a:lnTo>
                    <a:pt x="295012" y="394141"/>
                  </a:lnTo>
                  <a:lnTo>
                    <a:pt x="247208" y="389477"/>
                  </a:lnTo>
                  <a:lnTo>
                    <a:pt x="198933" y="389118"/>
                  </a:lnTo>
                  <a:lnTo>
                    <a:pt x="151076" y="393072"/>
                  </a:lnTo>
                  <a:lnTo>
                    <a:pt x="104527" y="401345"/>
                  </a:lnTo>
                  <a:lnTo>
                    <a:pt x="60177" y="413944"/>
                  </a:lnTo>
                  <a:lnTo>
                    <a:pt x="18914" y="430875"/>
                  </a:lnTo>
                </a:path>
              </a:pathLst>
            </a:custGeom>
            <a:ln w="86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98197" y="783388"/>
              <a:ext cx="407787" cy="2172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98197" y="783388"/>
              <a:ext cx="408305" cy="217804"/>
            </a:xfrm>
            <a:custGeom>
              <a:avLst/>
              <a:gdLst/>
              <a:ahLst/>
              <a:cxnLst/>
              <a:rect l="l" t="t" r="r" b="b"/>
              <a:pathLst>
                <a:path w="408305" h="217805">
                  <a:moveTo>
                    <a:pt x="407787" y="217299"/>
                  </a:moveTo>
                  <a:lnTo>
                    <a:pt x="407787" y="44788"/>
                  </a:lnTo>
                  <a:lnTo>
                    <a:pt x="366734" y="27244"/>
                  </a:lnTo>
                  <a:lnTo>
                    <a:pt x="322541" y="13986"/>
                  </a:lnTo>
                  <a:lnTo>
                    <a:pt x="276098" y="5021"/>
                  </a:lnTo>
                  <a:lnTo>
                    <a:pt x="228293" y="357"/>
                  </a:lnTo>
                  <a:lnTo>
                    <a:pt x="180018" y="0"/>
                  </a:lnTo>
                  <a:lnTo>
                    <a:pt x="132161" y="3956"/>
                  </a:lnTo>
                  <a:lnTo>
                    <a:pt x="85613" y="12232"/>
                  </a:lnTo>
                  <a:lnTo>
                    <a:pt x="41262" y="24837"/>
                  </a:lnTo>
                  <a:lnTo>
                    <a:pt x="0" y="41775"/>
                  </a:lnTo>
                  <a:lnTo>
                    <a:pt x="0" y="214271"/>
                  </a:lnTo>
                  <a:lnTo>
                    <a:pt x="41262" y="197332"/>
                  </a:lnTo>
                  <a:lnTo>
                    <a:pt x="85613" y="184728"/>
                  </a:lnTo>
                  <a:lnTo>
                    <a:pt x="132161" y="176452"/>
                  </a:lnTo>
                  <a:lnTo>
                    <a:pt x="180018" y="172497"/>
                  </a:lnTo>
                  <a:lnTo>
                    <a:pt x="228293" y="172855"/>
                  </a:lnTo>
                  <a:lnTo>
                    <a:pt x="276098" y="177522"/>
                  </a:lnTo>
                  <a:lnTo>
                    <a:pt x="322541" y="186489"/>
                  </a:lnTo>
                  <a:lnTo>
                    <a:pt x="366734" y="199750"/>
                  </a:lnTo>
                  <a:lnTo>
                    <a:pt x="407787" y="217299"/>
                  </a:lnTo>
                  <a:close/>
                </a:path>
              </a:pathLst>
            </a:custGeom>
            <a:ln w="8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86187" y="460964"/>
              <a:ext cx="64914" cy="1158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757163" y="369022"/>
            <a:ext cx="32131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10" dirty="0">
                <a:latin typeface="Times New Roman" panose="02020603050405020304"/>
                <a:cs typeface="Times New Roman" panose="02020603050405020304"/>
              </a:rPr>
              <a:t>Biomass</a:t>
            </a:r>
            <a:r>
              <a:rPr sz="4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feed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1588" y="850955"/>
            <a:ext cx="347345" cy="241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10" dirty="0">
                <a:latin typeface="Times New Roman" panose="02020603050405020304"/>
                <a:cs typeface="Times New Roman" panose="02020603050405020304"/>
              </a:rPr>
              <a:t>Drying</a:t>
            </a:r>
            <a:r>
              <a:rPr sz="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zone</a:t>
            </a:r>
            <a:endParaRPr sz="4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00">
              <a:latin typeface="Times New Roman" panose="02020603050405020304"/>
              <a:cs typeface="Times New Roman" panose="02020603050405020304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450" spc="-10" dirty="0">
                <a:latin typeface="Times New Roman" panose="02020603050405020304"/>
                <a:cs typeface="Times New Roman" panose="02020603050405020304"/>
              </a:rPr>
              <a:t>Pyrolysis</a:t>
            </a:r>
            <a:r>
              <a:rPr sz="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zone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20521" y="1241898"/>
            <a:ext cx="593725" cy="359410"/>
            <a:chOff x="1720521" y="1241898"/>
            <a:chExt cx="593725" cy="359410"/>
          </a:xfrm>
        </p:grpSpPr>
        <p:sp>
          <p:nvSpPr>
            <p:cNvPr id="16" name="object 16"/>
            <p:cNvSpPr/>
            <p:nvPr/>
          </p:nvSpPr>
          <p:spPr>
            <a:xfrm>
              <a:off x="1830808" y="1540964"/>
              <a:ext cx="337634" cy="602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98389" y="1246272"/>
              <a:ext cx="206598" cy="16358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94015" y="1241898"/>
              <a:ext cx="215347" cy="17233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98197" y="1460927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5">
                  <a:moveTo>
                    <a:pt x="0" y="0"/>
                  </a:moveTo>
                  <a:lnTo>
                    <a:pt x="407787" y="0"/>
                  </a:lnTo>
                </a:path>
              </a:pathLst>
            </a:custGeom>
            <a:ln w="903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69176" y="1460927"/>
              <a:ext cx="42545" cy="55244"/>
            </a:xfrm>
            <a:custGeom>
              <a:avLst/>
              <a:gdLst/>
              <a:ahLst/>
              <a:cxnLst/>
              <a:rect l="l" t="t" r="r" b="b"/>
              <a:pathLst>
                <a:path w="42544" h="55244">
                  <a:moveTo>
                    <a:pt x="0" y="0"/>
                  </a:moveTo>
                  <a:lnTo>
                    <a:pt x="0" y="54686"/>
                  </a:lnTo>
                  <a:lnTo>
                    <a:pt x="41928" y="54686"/>
                  </a:lnTo>
                </a:path>
              </a:pathLst>
            </a:custGeom>
            <a:ln w="5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08157" y="1499343"/>
              <a:ext cx="15240" cy="33020"/>
            </a:xfrm>
            <a:custGeom>
              <a:avLst/>
              <a:gdLst/>
              <a:ahLst/>
              <a:cxnLst/>
              <a:rect l="l" t="t" r="r" b="b"/>
              <a:pathLst>
                <a:path w="15239" h="33019">
                  <a:moveTo>
                    <a:pt x="0" y="0"/>
                  </a:moveTo>
                  <a:lnTo>
                    <a:pt x="0" y="32540"/>
                  </a:lnTo>
                  <a:lnTo>
                    <a:pt x="14733" y="16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976605" y="1460927"/>
              <a:ext cx="42545" cy="55244"/>
            </a:xfrm>
            <a:custGeom>
              <a:avLst/>
              <a:gdLst/>
              <a:ahLst/>
              <a:cxnLst/>
              <a:rect l="l" t="t" r="r" b="b"/>
              <a:pathLst>
                <a:path w="42544" h="55244">
                  <a:moveTo>
                    <a:pt x="0" y="0"/>
                  </a:moveTo>
                  <a:lnTo>
                    <a:pt x="0" y="54686"/>
                  </a:lnTo>
                  <a:lnTo>
                    <a:pt x="41928" y="54686"/>
                  </a:lnTo>
                </a:path>
              </a:pathLst>
            </a:custGeom>
            <a:ln w="5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15586" y="1499343"/>
              <a:ext cx="15240" cy="33020"/>
            </a:xfrm>
            <a:custGeom>
              <a:avLst/>
              <a:gdLst/>
              <a:ahLst/>
              <a:cxnLst/>
              <a:rect l="l" t="t" r="r" b="b"/>
              <a:pathLst>
                <a:path w="15239" h="33019">
                  <a:moveTo>
                    <a:pt x="0" y="0"/>
                  </a:moveTo>
                  <a:lnTo>
                    <a:pt x="0" y="32540"/>
                  </a:lnTo>
                  <a:lnTo>
                    <a:pt x="14733" y="16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95547" y="1460927"/>
              <a:ext cx="42545" cy="55244"/>
            </a:xfrm>
            <a:custGeom>
              <a:avLst/>
              <a:gdLst/>
              <a:ahLst/>
              <a:cxnLst/>
              <a:rect l="l" t="t" r="r" b="b"/>
              <a:pathLst>
                <a:path w="42544" h="55244">
                  <a:moveTo>
                    <a:pt x="0" y="0"/>
                  </a:moveTo>
                  <a:lnTo>
                    <a:pt x="0" y="54686"/>
                  </a:lnTo>
                  <a:lnTo>
                    <a:pt x="41928" y="54686"/>
                  </a:lnTo>
                </a:path>
              </a:pathLst>
            </a:custGeom>
            <a:ln w="5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34522" y="1499343"/>
              <a:ext cx="15240" cy="33020"/>
            </a:xfrm>
            <a:custGeom>
              <a:avLst/>
              <a:gdLst/>
              <a:ahLst/>
              <a:cxnLst/>
              <a:rect l="l" t="t" r="r" b="b"/>
              <a:pathLst>
                <a:path w="15239" h="33019">
                  <a:moveTo>
                    <a:pt x="0" y="0"/>
                  </a:moveTo>
                  <a:lnTo>
                    <a:pt x="0" y="32540"/>
                  </a:lnTo>
                  <a:lnTo>
                    <a:pt x="14739" y="16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723379" y="1349475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434" y="0"/>
                  </a:lnTo>
                </a:path>
              </a:pathLst>
            </a:custGeom>
            <a:ln w="5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06867" y="1333205"/>
              <a:ext cx="15240" cy="33020"/>
            </a:xfrm>
            <a:custGeom>
              <a:avLst/>
              <a:gdLst/>
              <a:ahLst/>
              <a:cxnLst/>
              <a:rect l="l" t="t" r="r" b="b"/>
              <a:pathLst>
                <a:path w="15239" h="33019">
                  <a:moveTo>
                    <a:pt x="0" y="0"/>
                  </a:moveTo>
                  <a:lnTo>
                    <a:pt x="0" y="32540"/>
                  </a:lnTo>
                  <a:lnTo>
                    <a:pt x="14733" y="16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738726" y="1322772"/>
              <a:ext cx="528320" cy="53975"/>
            </a:xfrm>
            <a:custGeom>
              <a:avLst/>
              <a:gdLst/>
              <a:ahLst/>
              <a:cxnLst/>
              <a:rect l="l" t="t" r="r" b="b"/>
              <a:pathLst>
                <a:path w="528319" h="53975">
                  <a:moveTo>
                    <a:pt x="0" y="1280"/>
                  </a:moveTo>
                  <a:lnTo>
                    <a:pt x="159663" y="0"/>
                  </a:lnTo>
                </a:path>
                <a:path w="528319" h="53975">
                  <a:moveTo>
                    <a:pt x="0" y="53413"/>
                  </a:moveTo>
                  <a:lnTo>
                    <a:pt x="159663" y="52125"/>
                  </a:lnTo>
                </a:path>
                <a:path w="528319" h="53975">
                  <a:moveTo>
                    <a:pt x="368328" y="1280"/>
                  </a:moveTo>
                  <a:lnTo>
                    <a:pt x="527991" y="0"/>
                  </a:lnTo>
                </a:path>
                <a:path w="528319" h="53975">
                  <a:moveTo>
                    <a:pt x="368328" y="53413"/>
                  </a:moveTo>
                  <a:lnTo>
                    <a:pt x="527991" y="52125"/>
                  </a:lnTo>
                </a:path>
              </a:pathLst>
            </a:custGeom>
            <a:ln w="86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24735" y="1349475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86468" y="0"/>
                  </a:moveTo>
                  <a:lnTo>
                    <a:pt x="0" y="0"/>
                  </a:lnTo>
                </a:path>
              </a:pathLst>
            </a:custGeom>
            <a:ln w="5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12949" y="1333205"/>
              <a:ext cx="15240" cy="33020"/>
            </a:xfrm>
            <a:custGeom>
              <a:avLst/>
              <a:gdLst/>
              <a:ahLst/>
              <a:cxnLst/>
              <a:rect l="l" t="t" r="r" b="b"/>
              <a:pathLst>
                <a:path w="15239" h="33019">
                  <a:moveTo>
                    <a:pt x="14733" y="0"/>
                  </a:moveTo>
                  <a:lnTo>
                    <a:pt x="0" y="16270"/>
                  </a:lnTo>
                  <a:lnTo>
                    <a:pt x="14733" y="32540"/>
                  </a:lnTo>
                  <a:lnTo>
                    <a:pt x="147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658001" y="1592477"/>
            <a:ext cx="68072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b="1" i="1" spc="-10" dirty="0">
                <a:latin typeface="Times New Roman" panose="02020603050405020304"/>
                <a:cs typeface="Times New Roman" panose="02020603050405020304"/>
              </a:rPr>
              <a:t>Fixed-bed downdraft</a:t>
            </a:r>
            <a:r>
              <a:rPr sz="450" b="1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10" dirty="0">
                <a:latin typeface="Times New Roman" panose="02020603050405020304"/>
                <a:cs typeface="Times New Roman" panose="02020603050405020304"/>
              </a:rPr>
              <a:t>gasifier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793435" y="891320"/>
            <a:ext cx="495934" cy="718820"/>
            <a:chOff x="1793435" y="891320"/>
            <a:chExt cx="495934" cy="718820"/>
          </a:xfrm>
        </p:grpSpPr>
        <p:sp>
          <p:nvSpPr>
            <p:cNvPr id="33" name="object 33"/>
            <p:cNvSpPr/>
            <p:nvPr/>
          </p:nvSpPr>
          <p:spPr>
            <a:xfrm>
              <a:off x="1798197" y="1375387"/>
              <a:ext cx="408305" cy="231140"/>
            </a:xfrm>
            <a:custGeom>
              <a:avLst/>
              <a:gdLst/>
              <a:ahLst/>
              <a:cxnLst/>
              <a:rect l="l" t="t" r="r" b="b"/>
              <a:pathLst>
                <a:path w="408305" h="231140">
                  <a:moveTo>
                    <a:pt x="407787" y="0"/>
                  </a:moveTo>
                  <a:lnTo>
                    <a:pt x="407787" y="123677"/>
                  </a:lnTo>
                </a:path>
                <a:path w="408305" h="231140">
                  <a:moveTo>
                    <a:pt x="0" y="323"/>
                  </a:moveTo>
                  <a:lnTo>
                    <a:pt x="327" y="230541"/>
                  </a:lnTo>
                </a:path>
                <a:path w="408305" h="231140">
                  <a:moveTo>
                    <a:pt x="0" y="65216"/>
                  </a:moveTo>
                  <a:lnTo>
                    <a:pt x="100192" y="24940"/>
                  </a:lnTo>
                </a:path>
                <a:path w="408305" h="231140">
                  <a:moveTo>
                    <a:pt x="306790" y="23659"/>
                  </a:moveTo>
                  <a:lnTo>
                    <a:pt x="406982" y="63928"/>
                  </a:lnTo>
                </a:path>
              </a:pathLst>
            </a:custGeom>
            <a:ln w="86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11891" y="893860"/>
              <a:ext cx="74930" cy="172720"/>
            </a:xfrm>
            <a:custGeom>
              <a:avLst/>
              <a:gdLst/>
              <a:ahLst/>
              <a:cxnLst/>
              <a:rect l="l" t="t" r="r" b="b"/>
              <a:pathLst>
                <a:path w="74930" h="172719">
                  <a:moveTo>
                    <a:pt x="73665" y="16270"/>
                  </a:moveTo>
                  <a:lnTo>
                    <a:pt x="0" y="16270"/>
                  </a:lnTo>
                </a:path>
                <a:path w="74930" h="172719">
                  <a:moveTo>
                    <a:pt x="14733" y="32540"/>
                  </a:moveTo>
                  <a:lnTo>
                    <a:pt x="0" y="16270"/>
                  </a:lnTo>
                  <a:lnTo>
                    <a:pt x="14733" y="0"/>
                  </a:lnTo>
                </a:path>
                <a:path w="74930" h="172719">
                  <a:moveTo>
                    <a:pt x="74415" y="156074"/>
                  </a:moveTo>
                  <a:lnTo>
                    <a:pt x="770" y="156074"/>
                  </a:lnTo>
                </a:path>
                <a:path w="74930" h="172719">
                  <a:moveTo>
                    <a:pt x="15503" y="172345"/>
                  </a:moveTo>
                  <a:lnTo>
                    <a:pt x="770" y="156074"/>
                  </a:lnTo>
                  <a:lnTo>
                    <a:pt x="15503" y="139804"/>
                  </a:lnTo>
                </a:path>
              </a:pathLst>
            </a:custGeom>
            <a:ln w="5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891017" y="1316875"/>
              <a:ext cx="218440" cy="64135"/>
            </a:xfrm>
            <a:custGeom>
              <a:avLst/>
              <a:gdLst/>
              <a:ahLst/>
              <a:cxnLst/>
              <a:rect l="l" t="t" r="r" b="b"/>
              <a:pathLst>
                <a:path w="218439" h="64134">
                  <a:moveTo>
                    <a:pt x="14732" y="0"/>
                  </a:moveTo>
                  <a:lnTo>
                    <a:pt x="0" y="0"/>
                  </a:lnTo>
                  <a:lnTo>
                    <a:pt x="0" y="63563"/>
                  </a:lnTo>
                  <a:lnTo>
                    <a:pt x="14732" y="63563"/>
                  </a:lnTo>
                  <a:lnTo>
                    <a:pt x="14732" y="0"/>
                  </a:lnTo>
                  <a:close/>
                </a:path>
                <a:path w="218439" h="64134">
                  <a:moveTo>
                    <a:pt x="218020" y="0"/>
                  </a:moveTo>
                  <a:lnTo>
                    <a:pt x="203288" y="0"/>
                  </a:lnTo>
                  <a:lnTo>
                    <a:pt x="203288" y="63563"/>
                  </a:lnTo>
                  <a:lnTo>
                    <a:pt x="218020" y="63563"/>
                  </a:lnTo>
                  <a:lnTo>
                    <a:pt x="2180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2279200" y="1230205"/>
            <a:ext cx="408940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10" dirty="0">
                <a:latin typeface="Times New Roman" panose="02020603050405020304"/>
                <a:cs typeface="Times New Roman" panose="02020603050405020304"/>
              </a:rPr>
              <a:t>Combustion</a:t>
            </a:r>
            <a:r>
              <a:rPr sz="4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zone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090172" y="1271995"/>
            <a:ext cx="188595" cy="177165"/>
          </a:xfrm>
          <a:custGeom>
            <a:avLst/>
            <a:gdLst/>
            <a:ahLst/>
            <a:cxnLst/>
            <a:rect l="l" t="t" r="r" b="b"/>
            <a:pathLst>
              <a:path w="188594" h="177165">
                <a:moveTo>
                  <a:pt x="187745" y="16270"/>
                </a:moveTo>
                <a:lnTo>
                  <a:pt x="21867" y="16270"/>
                </a:lnTo>
              </a:path>
              <a:path w="188594" h="177165">
                <a:moveTo>
                  <a:pt x="36600" y="32540"/>
                </a:moveTo>
                <a:lnTo>
                  <a:pt x="21867" y="16270"/>
                </a:lnTo>
                <a:lnTo>
                  <a:pt x="36600" y="0"/>
                </a:lnTo>
              </a:path>
              <a:path w="188594" h="177165">
                <a:moveTo>
                  <a:pt x="188154" y="160330"/>
                </a:moveTo>
                <a:lnTo>
                  <a:pt x="0" y="160330"/>
                </a:lnTo>
              </a:path>
              <a:path w="188594" h="177165">
                <a:moveTo>
                  <a:pt x="14733" y="176600"/>
                </a:moveTo>
                <a:lnTo>
                  <a:pt x="0" y="160330"/>
                </a:lnTo>
                <a:lnTo>
                  <a:pt x="14733" y="144060"/>
                </a:lnTo>
              </a:path>
            </a:pathLst>
          </a:custGeom>
          <a:ln w="51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358869" y="1521504"/>
            <a:ext cx="113664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50" spc="-15" dirty="0">
                <a:latin typeface="Times New Roman" panose="02020603050405020304"/>
                <a:cs typeface="Times New Roman" panose="02020603050405020304"/>
              </a:rPr>
              <a:t>h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133069" y="1494302"/>
            <a:ext cx="229235" cy="116205"/>
            <a:chOff x="2133069" y="1494302"/>
            <a:chExt cx="229235" cy="116205"/>
          </a:xfrm>
        </p:grpSpPr>
        <p:sp>
          <p:nvSpPr>
            <p:cNvPr id="40" name="object 40"/>
            <p:cNvSpPr/>
            <p:nvPr/>
          </p:nvSpPr>
          <p:spPr>
            <a:xfrm>
              <a:off x="2135927" y="1563294"/>
              <a:ext cx="223520" cy="33020"/>
            </a:xfrm>
            <a:custGeom>
              <a:avLst/>
              <a:gdLst/>
              <a:ahLst/>
              <a:cxnLst/>
              <a:rect l="l" t="t" r="r" b="b"/>
              <a:pathLst>
                <a:path w="223519" h="33019">
                  <a:moveTo>
                    <a:pt x="223500" y="16270"/>
                  </a:moveTo>
                  <a:lnTo>
                    <a:pt x="0" y="16270"/>
                  </a:lnTo>
                </a:path>
                <a:path w="223519" h="33019">
                  <a:moveTo>
                    <a:pt x="14733" y="32540"/>
                  </a:moveTo>
                  <a:lnTo>
                    <a:pt x="0" y="16270"/>
                  </a:lnTo>
                  <a:lnTo>
                    <a:pt x="14733" y="0"/>
                  </a:lnTo>
                </a:path>
              </a:pathLst>
            </a:custGeom>
            <a:ln w="51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205984" y="1562616"/>
              <a:ext cx="0" cy="43815"/>
            </a:xfrm>
            <a:custGeom>
              <a:avLst/>
              <a:gdLst/>
              <a:ahLst/>
              <a:cxnLst/>
              <a:rect l="l" t="t" r="r" b="b"/>
              <a:pathLst>
                <a:path h="43815">
                  <a:moveTo>
                    <a:pt x="0" y="0"/>
                  </a:moveTo>
                  <a:lnTo>
                    <a:pt x="0" y="43312"/>
                  </a:lnTo>
                </a:path>
              </a:pathLst>
            </a:custGeom>
            <a:ln w="8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212949" y="1530844"/>
              <a:ext cx="86995" cy="0"/>
            </a:xfrm>
            <a:custGeom>
              <a:avLst/>
              <a:gdLst/>
              <a:ahLst/>
              <a:cxnLst/>
              <a:rect l="l" t="t" r="r" b="b"/>
              <a:pathLst>
                <a:path w="86994">
                  <a:moveTo>
                    <a:pt x="0" y="0"/>
                  </a:moveTo>
                  <a:lnTo>
                    <a:pt x="86454" y="0"/>
                  </a:lnTo>
                </a:path>
              </a:pathLst>
            </a:custGeom>
            <a:ln w="54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296402" y="1514574"/>
              <a:ext cx="15240" cy="33020"/>
            </a:xfrm>
            <a:custGeom>
              <a:avLst/>
              <a:gdLst/>
              <a:ahLst/>
              <a:cxnLst/>
              <a:rect l="l" t="t" r="r" b="b"/>
              <a:pathLst>
                <a:path w="15239" h="33019">
                  <a:moveTo>
                    <a:pt x="0" y="0"/>
                  </a:moveTo>
                  <a:lnTo>
                    <a:pt x="0" y="32540"/>
                  </a:lnTo>
                  <a:lnTo>
                    <a:pt x="14801" y="16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205984" y="1499064"/>
              <a:ext cx="70485" cy="64135"/>
            </a:xfrm>
            <a:custGeom>
              <a:avLst/>
              <a:gdLst/>
              <a:ahLst/>
              <a:cxnLst/>
              <a:rect l="l" t="t" r="r" b="b"/>
              <a:pathLst>
                <a:path w="70485" h="64134">
                  <a:moveTo>
                    <a:pt x="0" y="0"/>
                  </a:moveTo>
                  <a:lnTo>
                    <a:pt x="69886" y="0"/>
                  </a:lnTo>
                </a:path>
                <a:path w="70485" h="64134">
                  <a:moveTo>
                    <a:pt x="0" y="63552"/>
                  </a:moveTo>
                  <a:lnTo>
                    <a:pt x="69886" y="63552"/>
                  </a:lnTo>
                </a:path>
              </a:pathLst>
            </a:custGeom>
            <a:ln w="86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624096" y="1292703"/>
            <a:ext cx="98425" cy="97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spc="-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ir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75040" y="1280273"/>
            <a:ext cx="366395" cy="2914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3020">
              <a:lnSpc>
                <a:spcPct val="132000"/>
              </a:lnSpc>
              <a:spcBef>
                <a:spcPts val="50"/>
              </a:spcBef>
            </a:pPr>
            <a:r>
              <a:rPr sz="450" spc="-10" dirty="0">
                <a:latin typeface="Times New Roman" panose="02020603050405020304"/>
                <a:cs typeface="Times New Roman" panose="02020603050405020304"/>
              </a:rPr>
              <a:t>Air  Reduction zone  Producer</a:t>
            </a:r>
            <a:r>
              <a:rPr sz="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10" dirty="0">
                <a:latin typeface="Times New Roman" panose="02020603050405020304"/>
                <a:cs typeface="Times New Roman" panose="02020603050405020304"/>
              </a:rPr>
              <a:t>gas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2226" y="131775"/>
            <a:ext cx="10991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06FC0"/>
                </a:solidFill>
                <a:latin typeface="Bookman Uralic"/>
                <a:cs typeface="Bookman Uralic"/>
              </a:rPr>
              <a:t>Liquefaction</a:t>
            </a:r>
            <a:endParaRPr sz="1300">
              <a:latin typeface="Bookman Uralic"/>
              <a:cs typeface="Bookman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916" y="416001"/>
            <a:ext cx="2452085" cy="130378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48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1718" y="86360"/>
            <a:ext cx="10985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06FC0"/>
                </a:solidFill>
                <a:latin typeface="Bookman Uralic"/>
                <a:cs typeface="Bookman Uralic"/>
              </a:rPr>
              <a:t>Liquefaction</a:t>
            </a:r>
            <a:endParaRPr sz="130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4722" y="1899920"/>
            <a:ext cx="45720" cy="44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0"/>
              </a:lnSpc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49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55" y="379475"/>
            <a:ext cx="2564883" cy="157276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38782" y="1022903"/>
            <a:ext cx="478790" cy="9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0" b="1" i="1" spc="-15" dirty="0">
                <a:latin typeface="Times New Roman" panose="02020603050405020304"/>
                <a:cs typeface="Times New Roman" panose="02020603050405020304"/>
              </a:rPr>
              <a:t>Liquefaction</a:t>
            </a:r>
            <a:r>
              <a:rPr sz="450" b="1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b="1" i="1" spc="-15" dirty="0">
                <a:latin typeface="Times New Roman" panose="02020603050405020304"/>
                <a:cs typeface="Times New Roman" panose="02020603050405020304"/>
              </a:rPr>
              <a:t>reactor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38133" y="348590"/>
            <a:ext cx="354330" cy="558800"/>
            <a:chOff x="2038133" y="348590"/>
            <a:chExt cx="354330" cy="558800"/>
          </a:xfrm>
        </p:grpSpPr>
        <p:sp>
          <p:nvSpPr>
            <p:cNvPr id="7" name="object 7"/>
            <p:cNvSpPr/>
            <p:nvPr/>
          </p:nvSpPr>
          <p:spPr>
            <a:xfrm>
              <a:off x="2042578" y="353035"/>
              <a:ext cx="271145" cy="549910"/>
            </a:xfrm>
            <a:custGeom>
              <a:avLst/>
              <a:gdLst/>
              <a:ahLst/>
              <a:cxnLst/>
              <a:rect l="l" t="t" r="r" b="b"/>
              <a:pathLst>
                <a:path w="271144" h="549910">
                  <a:moveTo>
                    <a:pt x="135291" y="0"/>
                  </a:moveTo>
                  <a:lnTo>
                    <a:pt x="92528" y="7878"/>
                  </a:lnTo>
                  <a:lnTo>
                    <a:pt x="55389" y="29817"/>
                  </a:lnTo>
                  <a:lnTo>
                    <a:pt x="26103" y="63271"/>
                  </a:lnTo>
                  <a:lnTo>
                    <a:pt x="6897" y="105694"/>
                  </a:lnTo>
                  <a:lnTo>
                    <a:pt x="0" y="154540"/>
                  </a:lnTo>
                  <a:lnTo>
                    <a:pt x="0" y="394923"/>
                  </a:lnTo>
                  <a:lnTo>
                    <a:pt x="6897" y="443768"/>
                  </a:lnTo>
                  <a:lnTo>
                    <a:pt x="26103" y="486189"/>
                  </a:lnTo>
                  <a:lnTo>
                    <a:pt x="55389" y="519640"/>
                  </a:lnTo>
                  <a:lnTo>
                    <a:pt x="92528" y="541578"/>
                  </a:lnTo>
                  <a:lnTo>
                    <a:pt x="135291" y="549456"/>
                  </a:lnTo>
                  <a:lnTo>
                    <a:pt x="178051" y="541578"/>
                  </a:lnTo>
                  <a:lnTo>
                    <a:pt x="215182" y="519640"/>
                  </a:lnTo>
                  <a:lnTo>
                    <a:pt x="244459" y="486189"/>
                  </a:lnTo>
                  <a:lnTo>
                    <a:pt x="263656" y="443768"/>
                  </a:lnTo>
                  <a:lnTo>
                    <a:pt x="270550" y="394923"/>
                  </a:lnTo>
                  <a:lnTo>
                    <a:pt x="270550" y="154540"/>
                  </a:lnTo>
                  <a:lnTo>
                    <a:pt x="263656" y="105694"/>
                  </a:lnTo>
                  <a:lnTo>
                    <a:pt x="244459" y="63271"/>
                  </a:lnTo>
                  <a:lnTo>
                    <a:pt x="215182" y="29817"/>
                  </a:lnTo>
                  <a:lnTo>
                    <a:pt x="178051" y="7878"/>
                  </a:lnTo>
                  <a:lnTo>
                    <a:pt x="135291" y="0"/>
                  </a:lnTo>
                  <a:close/>
                </a:path>
              </a:pathLst>
            </a:custGeom>
            <a:solidFill>
              <a:srgbClr val="D968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42578" y="353035"/>
              <a:ext cx="271145" cy="549910"/>
            </a:xfrm>
            <a:custGeom>
              <a:avLst/>
              <a:gdLst/>
              <a:ahLst/>
              <a:cxnLst/>
              <a:rect l="l" t="t" r="r" b="b"/>
              <a:pathLst>
                <a:path w="271144" h="549910">
                  <a:moveTo>
                    <a:pt x="135291" y="549456"/>
                  </a:moveTo>
                  <a:lnTo>
                    <a:pt x="178051" y="541578"/>
                  </a:lnTo>
                  <a:lnTo>
                    <a:pt x="215182" y="519640"/>
                  </a:lnTo>
                  <a:lnTo>
                    <a:pt x="244459" y="486189"/>
                  </a:lnTo>
                  <a:lnTo>
                    <a:pt x="263656" y="443768"/>
                  </a:lnTo>
                  <a:lnTo>
                    <a:pt x="270550" y="394923"/>
                  </a:lnTo>
                  <a:lnTo>
                    <a:pt x="270550" y="154540"/>
                  </a:lnTo>
                  <a:lnTo>
                    <a:pt x="263656" y="105694"/>
                  </a:lnTo>
                  <a:lnTo>
                    <a:pt x="244459" y="63271"/>
                  </a:lnTo>
                  <a:lnTo>
                    <a:pt x="215182" y="29817"/>
                  </a:lnTo>
                  <a:lnTo>
                    <a:pt x="178051" y="7878"/>
                  </a:lnTo>
                  <a:lnTo>
                    <a:pt x="135291" y="0"/>
                  </a:lnTo>
                  <a:lnTo>
                    <a:pt x="92528" y="7878"/>
                  </a:lnTo>
                  <a:lnTo>
                    <a:pt x="55389" y="29817"/>
                  </a:lnTo>
                  <a:lnTo>
                    <a:pt x="26103" y="63271"/>
                  </a:lnTo>
                  <a:lnTo>
                    <a:pt x="6897" y="105694"/>
                  </a:lnTo>
                  <a:lnTo>
                    <a:pt x="0" y="154540"/>
                  </a:lnTo>
                  <a:lnTo>
                    <a:pt x="0" y="394923"/>
                  </a:lnTo>
                  <a:lnTo>
                    <a:pt x="6897" y="443768"/>
                  </a:lnTo>
                  <a:lnTo>
                    <a:pt x="26103" y="486189"/>
                  </a:lnTo>
                  <a:lnTo>
                    <a:pt x="55389" y="519640"/>
                  </a:lnTo>
                  <a:lnTo>
                    <a:pt x="92528" y="541578"/>
                  </a:lnTo>
                  <a:lnTo>
                    <a:pt x="135291" y="549456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42578" y="464199"/>
              <a:ext cx="270550" cy="4379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042578" y="464199"/>
              <a:ext cx="271145" cy="438150"/>
            </a:xfrm>
            <a:custGeom>
              <a:avLst/>
              <a:gdLst/>
              <a:ahLst/>
              <a:cxnLst/>
              <a:rect l="l" t="t" r="r" b="b"/>
              <a:pathLst>
                <a:path w="271144" h="438150">
                  <a:moveTo>
                    <a:pt x="267209" y="8737"/>
                  </a:moveTo>
                  <a:lnTo>
                    <a:pt x="257455" y="6593"/>
                  </a:lnTo>
                  <a:lnTo>
                    <a:pt x="255851" y="5074"/>
                  </a:lnTo>
                  <a:lnTo>
                    <a:pt x="249571" y="4975"/>
                  </a:lnTo>
                  <a:lnTo>
                    <a:pt x="246431" y="4929"/>
                  </a:lnTo>
                  <a:lnTo>
                    <a:pt x="242155" y="5235"/>
                  </a:lnTo>
                  <a:lnTo>
                    <a:pt x="238481" y="5959"/>
                  </a:lnTo>
                  <a:lnTo>
                    <a:pt x="232722" y="7081"/>
                  </a:lnTo>
                  <a:lnTo>
                    <a:pt x="228452" y="9210"/>
                  </a:lnTo>
                  <a:lnTo>
                    <a:pt x="224524" y="8707"/>
                  </a:lnTo>
                  <a:lnTo>
                    <a:pt x="220929" y="8249"/>
                  </a:lnTo>
                  <a:lnTo>
                    <a:pt x="217616" y="5578"/>
                  </a:lnTo>
                  <a:lnTo>
                    <a:pt x="213447" y="5296"/>
                  </a:lnTo>
                  <a:lnTo>
                    <a:pt x="208930" y="4998"/>
                  </a:lnTo>
                  <a:lnTo>
                    <a:pt x="203412" y="7493"/>
                  </a:lnTo>
                  <a:lnTo>
                    <a:pt x="198595" y="7203"/>
                  </a:lnTo>
                  <a:lnTo>
                    <a:pt x="194072" y="6929"/>
                  </a:lnTo>
                  <a:lnTo>
                    <a:pt x="190176" y="4189"/>
                  </a:lnTo>
                  <a:lnTo>
                    <a:pt x="185653" y="4845"/>
                  </a:lnTo>
                  <a:lnTo>
                    <a:pt x="180462" y="5601"/>
                  </a:lnTo>
                  <a:lnTo>
                    <a:pt x="174442" y="10836"/>
                  </a:lnTo>
                  <a:lnTo>
                    <a:pt x="168911" y="9951"/>
                  </a:lnTo>
                  <a:lnTo>
                    <a:pt x="164227" y="9195"/>
                  </a:lnTo>
                  <a:lnTo>
                    <a:pt x="159884" y="4044"/>
                  </a:lnTo>
                  <a:lnTo>
                    <a:pt x="155094" y="3289"/>
                  </a:lnTo>
                  <a:lnTo>
                    <a:pt x="149455" y="2403"/>
                  </a:lnTo>
                  <a:lnTo>
                    <a:pt x="143182" y="7615"/>
                  </a:lnTo>
                  <a:lnTo>
                    <a:pt x="138365" y="7310"/>
                  </a:lnTo>
                  <a:lnTo>
                    <a:pt x="135104" y="7104"/>
                  </a:lnTo>
                  <a:lnTo>
                    <a:pt x="132505" y="4372"/>
                  </a:lnTo>
                  <a:lnTo>
                    <a:pt x="129138" y="3945"/>
                  </a:lnTo>
                  <a:lnTo>
                    <a:pt x="125063" y="3426"/>
                  </a:lnTo>
                  <a:lnTo>
                    <a:pt x="119871" y="6280"/>
                  </a:lnTo>
                  <a:lnTo>
                    <a:pt x="115201" y="6936"/>
                  </a:lnTo>
                  <a:lnTo>
                    <a:pt x="110632" y="7593"/>
                  </a:lnTo>
                  <a:lnTo>
                    <a:pt x="106569" y="6135"/>
                  </a:lnTo>
                  <a:lnTo>
                    <a:pt x="102260" y="4594"/>
                  </a:lnTo>
                  <a:lnTo>
                    <a:pt x="96120" y="2388"/>
                  </a:lnTo>
                  <a:lnTo>
                    <a:pt x="89486" y="0"/>
                  </a:lnTo>
                  <a:lnTo>
                    <a:pt x="83754" y="2144"/>
                  </a:lnTo>
                  <a:lnTo>
                    <a:pt x="80106" y="3510"/>
                  </a:lnTo>
                  <a:lnTo>
                    <a:pt x="76819" y="6707"/>
                  </a:lnTo>
                  <a:lnTo>
                    <a:pt x="72576" y="7333"/>
                  </a:lnTo>
                  <a:lnTo>
                    <a:pt x="67806" y="8035"/>
                  </a:lnTo>
                  <a:lnTo>
                    <a:pt x="61833" y="5479"/>
                  </a:lnTo>
                  <a:lnTo>
                    <a:pt x="57791" y="3884"/>
                  </a:lnTo>
                  <a:lnTo>
                    <a:pt x="55045" y="2793"/>
                  </a:lnTo>
                  <a:lnTo>
                    <a:pt x="53188" y="2144"/>
                  </a:lnTo>
                  <a:lnTo>
                    <a:pt x="50395" y="2693"/>
                  </a:lnTo>
                  <a:lnTo>
                    <a:pt x="46961" y="3373"/>
                  </a:lnTo>
                  <a:lnTo>
                    <a:pt x="42104" y="5853"/>
                  </a:lnTo>
                  <a:lnTo>
                    <a:pt x="38295" y="5677"/>
                  </a:lnTo>
                  <a:lnTo>
                    <a:pt x="33792" y="5479"/>
                  </a:lnTo>
                  <a:lnTo>
                    <a:pt x="30746" y="1572"/>
                  </a:lnTo>
                  <a:lnTo>
                    <a:pt x="26470" y="503"/>
                  </a:lnTo>
                  <a:lnTo>
                    <a:pt x="212" y="34422"/>
                  </a:lnTo>
                  <a:lnTo>
                    <a:pt x="0" y="43078"/>
                  </a:lnTo>
                  <a:lnTo>
                    <a:pt x="0" y="283462"/>
                  </a:lnTo>
                  <a:lnTo>
                    <a:pt x="6897" y="332306"/>
                  </a:lnTo>
                  <a:lnTo>
                    <a:pt x="26103" y="374727"/>
                  </a:lnTo>
                  <a:lnTo>
                    <a:pt x="55389" y="408179"/>
                  </a:lnTo>
                  <a:lnTo>
                    <a:pt x="92528" y="430116"/>
                  </a:lnTo>
                  <a:lnTo>
                    <a:pt x="135291" y="437994"/>
                  </a:lnTo>
                  <a:lnTo>
                    <a:pt x="178051" y="430116"/>
                  </a:lnTo>
                  <a:lnTo>
                    <a:pt x="215182" y="408179"/>
                  </a:lnTo>
                  <a:lnTo>
                    <a:pt x="244459" y="374727"/>
                  </a:lnTo>
                  <a:lnTo>
                    <a:pt x="263656" y="332306"/>
                  </a:lnTo>
                  <a:lnTo>
                    <a:pt x="270550" y="283462"/>
                  </a:lnTo>
                  <a:lnTo>
                    <a:pt x="270550" y="43078"/>
                  </a:lnTo>
                  <a:lnTo>
                    <a:pt x="270347" y="34422"/>
                  </a:lnTo>
                  <a:lnTo>
                    <a:pt x="269731" y="25799"/>
                  </a:lnTo>
                  <a:lnTo>
                    <a:pt x="268690" y="17230"/>
                  </a:lnTo>
                  <a:lnTo>
                    <a:pt x="267209" y="8737"/>
                  </a:lnTo>
                  <a:close/>
                </a:path>
              </a:pathLst>
            </a:custGeom>
            <a:ln w="8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28495" y="518159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>
                  <a:moveTo>
                    <a:pt x="60597" y="0"/>
                  </a:moveTo>
                  <a:lnTo>
                    <a:pt x="0" y="0"/>
                  </a:lnTo>
                </a:path>
              </a:pathLst>
            </a:custGeom>
            <a:ln w="5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16937" y="501676"/>
              <a:ext cx="14604" cy="33020"/>
            </a:xfrm>
            <a:custGeom>
              <a:avLst/>
              <a:gdLst/>
              <a:ahLst/>
              <a:cxnLst/>
              <a:rect l="l" t="t" r="r" b="b"/>
              <a:pathLst>
                <a:path w="14605" h="33020">
                  <a:moveTo>
                    <a:pt x="14431" y="0"/>
                  </a:moveTo>
                  <a:lnTo>
                    <a:pt x="0" y="16483"/>
                  </a:lnTo>
                  <a:lnTo>
                    <a:pt x="14431" y="32966"/>
                  </a:lnTo>
                  <a:lnTo>
                    <a:pt x="144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28495" y="629766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>
                  <a:moveTo>
                    <a:pt x="60597" y="0"/>
                  </a:moveTo>
                  <a:lnTo>
                    <a:pt x="0" y="0"/>
                  </a:lnTo>
                </a:path>
              </a:pathLst>
            </a:custGeom>
            <a:ln w="5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16937" y="613283"/>
              <a:ext cx="14604" cy="33020"/>
            </a:xfrm>
            <a:custGeom>
              <a:avLst/>
              <a:gdLst/>
              <a:ahLst/>
              <a:cxnLst/>
              <a:rect l="l" t="t" r="r" b="b"/>
              <a:pathLst>
                <a:path w="14605" h="33020">
                  <a:moveTo>
                    <a:pt x="14431" y="0"/>
                  </a:moveTo>
                  <a:lnTo>
                    <a:pt x="0" y="16483"/>
                  </a:lnTo>
                  <a:lnTo>
                    <a:pt x="14431" y="32966"/>
                  </a:lnTo>
                  <a:lnTo>
                    <a:pt x="144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28495" y="719906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>
                  <a:moveTo>
                    <a:pt x="60597" y="0"/>
                  </a:moveTo>
                  <a:lnTo>
                    <a:pt x="0" y="0"/>
                  </a:lnTo>
                </a:path>
              </a:pathLst>
            </a:custGeom>
            <a:ln w="5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16937" y="703423"/>
              <a:ext cx="14604" cy="33020"/>
            </a:xfrm>
            <a:custGeom>
              <a:avLst/>
              <a:gdLst/>
              <a:ahLst/>
              <a:cxnLst/>
              <a:rect l="l" t="t" r="r" b="b"/>
              <a:pathLst>
                <a:path w="14605" h="33020">
                  <a:moveTo>
                    <a:pt x="14431" y="0"/>
                  </a:moveTo>
                  <a:lnTo>
                    <a:pt x="0" y="16483"/>
                  </a:lnTo>
                  <a:lnTo>
                    <a:pt x="14431" y="32966"/>
                  </a:lnTo>
                  <a:lnTo>
                    <a:pt x="144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361081" y="432040"/>
            <a:ext cx="265430" cy="33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5560" indent="635">
              <a:lnSpc>
                <a:spcPct val="163000"/>
              </a:lnSpc>
              <a:spcBef>
                <a:spcPts val="95"/>
              </a:spcBef>
            </a:pPr>
            <a:r>
              <a:rPr sz="675" b="0" spc="-30" baseline="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0" b="0" spc="-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675" b="0" spc="-30" baseline="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675" b="0" spc="-112" baseline="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75" b="0" spc="-37" baseline="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  </a:t>
            </a:r>
            <a:r>
              <a:rPr sz="675" b="0" spc="-30" baseline="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NaCO</a:t>
            </a:r>
            <a:r>
              <a:rPr sz="300" b="0" spc="-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300">
              <a:latin typeface="Times New Roman" panose="02020603050405020304"/>
              <a:cs typeface="Times New Roman" panose="02020603050405020304"/>
            </a:endParaRPr>
          </a:p>
          <a:p>
            <a:pPr marL="42545">
              <a:lnSpc>
                <a:spcPct val="100000"/>
              </a:lnSpc>
              <a:spcBef>
                <a:spcPts val="130"/>
              </a:spcBef>
            </a:pPr>
            <a:r>
              <a:rPr sz="450" b="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Biomass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92403" y="475395"/>
            <a:ext cx="304800" cy="577215"/>
            <a:chOff x="1892403" y="475395"/>
            <a:chExt cx="304800" cy="577215"/>
          </a:xfrm>
        </p:grpSpPr>
        <p:sp>
          <p:nvSpPr>
            <p:cNvPr id="19" name="object 19"/>
            <p:cNvSpPr/>
            <p:nvPr/>
          </p:nvSpPr>
          <p:spPr>
            <a:xfrm>
              <a:off x="2162838" y="902347"/>
              <a:ext cx="30064" cy="8155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71296" y="479523"/>
              <a:ext cx="13153" cy="2639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71296" y="479522"/>
              <a:ext cx="13335" cy="264160"/>
            </a:xfrm>
            <a:custGeom>
              <a:avLst/>
              <a:gdLst/>
              <a:ahLst/>
              <a:cxnLst/>
              <a:rect l="l" t="t" r="r" b="b"/>
              <a:pathLst>
                <a:path w="13335" h="264159">
                  <a:moveTo>
                    <a:pt x="0" y="263994"/>
                  </a:moveTo>
                  <a:lnTo>
                    <a:pt x="13153" y="263994"/>
                  </a:lnTo>
                  <a:lnTo>
                    <a:pt x="13153" y="0"/>
                  </a:lnTo>
                  <a:lnTo>
                    <a:pt x="0" y="0"/>
                  </a:lnTo>
                  <a:lnTo>
                    <a:pt x="0" y="263994"/>
                  </a:lnTo>
                  <a:close/>
                </a:path>
              </a:pathLst>
            </a:custGeom>
            <a:ln w="80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58822" y="902347"/>
              <a:ext cx="38100" cy="81915"/>
            </a:xfrm>
            <a:custGeom>
              <a:avLst/>
              <a:gdLst/>
              <a:ahLst/>
              <a:cxnLst/>
              <a:rect l="l" t="t" r="r" b="b"/>
              <a:pathLst>
                <a:path w="38100" h="81915">
                  <a:moveTo>
                    <a:pt x="8013" y="0"/>
                  </a:moveTo>
                  <a:lnTo>
                    <a:pt x="0" y="0"/>
                  </a:lnTo>
                  <a:lnTo>
                    <a:pt x="0" y="81559"/>
                  </a:lnTo>
                  <a:lnTo>
                    <a:pt x="8013" y="81559"/>
                  </a:lnTo>
                  <a:lnTo>
                    <a:pt x="8013" y="0"/>
                  </a:lnTo>
                  <a:close/>
                </a:path>
                <a:path w="38100" h="81915">
                  <a:moveTo>
                    <a:pt x="38087" y="0"/>
                  </a:moveTo>
                  <a:lnTo>
                    <a:pt x="30060" y="0"/>
                  </a:lnTo>
                  <a:lnTo>
                    <a:pt x="30060" y="81559"/>
                  </a:lnTo>
                  <a:lnTo>
                    <a:pt x="38087" y="81559"/>
                  </a:lnTo>
                  <a:lnTo>
                    <a:pt x="38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67416" y="503134"/>
              <a:ext cx="75162" cy="343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967407" y="498563"/>
              <a:ext cx="75565" cy="43815"/>
            </a:xfrm>
            <a:custGeom>
              <a:avLst/>
              <a:gdLst/>
              <a:ahLst/>
              <a:cxnLst/>
              <a:rect l="l" t="t" r="r" b="b"/>
              <a:pathLst>
                <a:path w="75564" h="43815">
                  <a:moveTo>
                    <a:pt x="75158" y="34340"/>
                  </a:moveTo>
                  <a:lnTo>
                    <a:pt x="0" y="34340"/>
                  </a:lnTo>
                  <a:lnTo>
                    <a:pt x="0" y="43497"/>
                  </a:lnTo>
                  <a:lnTo>
                    <a:pt x="75158" y="43497"/>
                  </a:lnTo>
                  <a:lnTo>
                    <a:pt x="75158" y="34340"/>
                  </a:lnTo>
                  <a:close/>
                </a:path>
                <a:path w="75564" h="43815">
                  <a:moveTo>
                    <a:pt x="75158" y="0"/>
                  </a:moveTo>
                  <a:lnTo>
                    <a:pt x="0" y="0"/>
                  </a:lnTo>
                  <a:lnTo>
                    <a:pt x="0" y="9156"/>
                  </a:lnTo>
                  <a:lnTo>
                    <a:pt x="75158" y="9156"/>
                  </a:lnTo>
                  <a:lnTo>
                    <a:pt x="751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77870" y="983901"/>
              <a:ext cx="0" cy="55880"/>
            </a:xfrm>
            <a:custGeom>
              <a:avLst/>
              <a:gdLst/>
              <a:ahLst/>
              <a:cxnLst/>
              <a:rect l="l" t="t" r="r" b="b"/>
              <a:pathLst>
                <a:path h="55880">
                  <a:moveTo>
                    <a:pt x="0" y="0"/>
                  </a:moveTo>
                  <a:lnTo>
                    <a:pt x="0" y="55494"/>
                  </a:lnTo>
                </a:path>
              </a:pathLst>
            </a:custGeom>
            <a:ln w="4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63439" y="1036099"/>
              <a:ext cx="29209" cy="16510"/>
            </a:xfrm>
            <a:custGeom>
              <a:avLst/>
              <a:gdLst/>
              <a:ahLst/>
              <a:cxnLst/>
              <a:rect l="l" t="t" r="r" b="b"/>
              <a:pathLst>
                <a:path w="29210" h="16509">
                  <a:moveTo>
                    <a:pt x="28862" y="0"/>
                  </a:moveTo>
                  <a:lnTo>
                    <a:pt x="0" y="0"/>
                  </a:lnTo>
                  <a:lnTo>
                    <a:pt x="14431" y="16483"/>
                  </a:lnTo>
                  <a:lnTo>
                    <a:pt x="288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95260" y="520304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>
                  <a:moveTo>
                    <a:pt x="0" y="0"/>
                  </a:moveTo>
                  <a:lnTo>
                    <a:pt x="60610" y="0"/>
                  </a:lnTo>
                </a:path>
              </a:pathLst>
            </a:custGeom>
            <a:ln w="5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952985" y="503820"/>
              <a:ext cx="14604" cy="33020"/>
            </a:xfrm>
            <a:custGeom>
              <a:avLst/>
              <a:gdLst/>
              <a:ahLst/>
              <a:cxnLst/>
              <a:rect l="l" t="t" r="r" b="b"/>
              <a:pathLst>
                <a:path w="14605" h="33020">
                  <a:moveTo>
                    <a:pt x="0" y="0"/>
                  </a:moveTo>
                  <a:lnTo>
                    <a:pt x="0" y="32966"/>
                  </a:lnTo>
                  <a:lnTo>
                    <a:pt x="14431" y="16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642075" y="464724"/>
            <a:ext cx="260350" cy="172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07000"/>
              </a:lnSpc>
              <a:spcBef>
                <a:spcPts val="90"/>
              </a:spcBef>
            </a:pPr>
            <a:r>
              <a:rPr sz="450" spc="-2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50" spc="-15" dirty="0">
                <a:latin typeface="Times New Roman" panose="02020603050405020304"/>
                <a:cs typeface="Times New Roman" panose="02020603050405020304"/>
              </a:rPr>
              <a:t>re-treated  slurry</a:t>
            </a:r>
            <a:r>
              <a:rPr sz="4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50" spc="-15" dirty="0">
                <a:latin typeface="Times New Roman" panose="02020603050405020304"/>
                <a:cs typeface="Times New Roman" panose="02020603050405020304"/>
              </a:rPr>
              <a:t>inlet</a:t>
            </a:r>
            <a:endParaRPr sz="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0034" y="61976"/>
            <a:ext cx="12007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06FC0"/>
                </a:solidFill>
                <a:latin typeface="Bookman Uralic"/>
                <a:cs typeface="Bookman Uralic"/>
              </a:rPr>
              <a:t>F</a:t>
            </a:r>
            <a:r>
              <a:rPr sz="1300" b="1" spc="-5" dirty="0">
                <a:solidFill>
                  <a:srgbClr val="006FC0"/>
                </a:solidFill>
                <a:latin typeface="Bookman Uralic"/>
                <a:cs typeface="Bookman Uralic"/>
              </a:rPr>
              <a:t>erm</a:t>
            </a:r>
            <a:r>
              <a:rPr sz="1300" b="1" dirty="0">
                <a:solidFill>
                  <a:srgbClr val="006FC0"/>
                </a:solidFill>
                <a:latin typeface="Bookman Uralic"/>
                <a:cs typeface="Bookman Uralic"/>
              </a:rPr>
              <a:t>e</a:t>
            </a:r>
            <a:r>
              <a:rPr sz="1300" b="1" spc="-15" dirty="0">
                <a:solidFill>
                  <a:srgbClr val="006FC0"/>
                </a:solidFill>
                <a:latin typeface="Bookman Uralic"/>
                <a:cs typeface="Bookman Uralic"/>
              </a:rPr>
              <a:t>n</a:t>
            </a:r>
            <a:r>
              <a:rPr sz="1300" b="1" spc="-5" dirty="0">
                <a:solidFill>
                  <a:srgbClr val="006FC0"/>
                </a:solidFill>
                <a:latin typeface="Bookman Uralic"/>
                <a:cs typeface="Bookman Uralic"/>
              </a:rPr>
              <a:t>t</a:t>
            </a:r>
            <a:r>
              <a:rPr sz="1300" b="1" dirty="0">
                <a:solidFill>
                  <a:srgbClr val="006FC0"/>
                </a:solidFill>
                <a:latin typeface="Bookman Uralic"/>
                <a:cs typeface="Bookman Uralic"/>
              </a:rPr>
              <a:t>a</a:t>
            </a:r>
            <a:r>
              <a:rPr sz="1300" b="1" spc="-15" dirty="0">
                <a:solidFill>
                  <a:srgbClr val="006FC0"/>
                </a:solidFill>
                <a:latin typeface="Bookman Uralic"/>
                <a:cs typeface="Bookman Uralic"/>
              </a:rPr>
              <a:t>t</a:t>
            </a:r>
            <a:r>
              <a:rPr sz="1300" b="1" spc="-5" dirty="0">
                <a:solidFill>
                  <a:srgbClr val="006FC0"/>
                </a:solidFill>
                <a:latin typeface="Bookman Uralic"/>
                <a:cs typeface="Bookman Uralic"/>
              </a:rPr>
              <a:t>ion</a:t>
            </a:r>
            <a:endParaRPr sz="130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52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056" y="268224"/>
            <a:ext cx="2546604" cy="160934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46990"/>
            <a:ext cx="17214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06FC0"/>
                </a:solidFill>
                <a:latin typeface="Bookman Uralic"/>
                <a:cs typeface="Bookman Uralic"/>
              </a:rPr>
              <a:t>Anaerobic</a:t>
            </a:r>
            <a:r>
              <a:rPr sz="1300" b="1" spc="-105" dirty="0">
                <a:solidFill>
                  <a:srgbClr val="006FC0"/>
                </a:solidFill>
                <a:latin typeface="Bookman Uralic"/>
                <a:cs typeface="Bookman Uralic"/>
              </a:rPr>
              <a:t> </a:t>
            </a:r>
            <a:r>
              <a:rPr sz="1300" b="1" spc="-5" dirty="0">
                <a:solidFill>
                  <a:srgbClr val="006FC0"/>
                </a:solidFill>
                <a:latin typeface="Bookman Uralic"/>
                <a:cs typeface="Bookman Uralic"/>
              </a:rPr>
              <a:t>digestion</a:t>
            </a:r>
            <a:endParaRPr sz="1300">
              <a:latin typeface="Bookman Uralic"/>
              <a:cs typeface="Bookman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62022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51</a:t>
            </a:r>
            <a:endParaRPr sz="35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2192" y="0"/>
            <a:ext cx="2705735" cy="2035175"/>
            <a:chOff x="-12192" y="0"/>
            <a:chExt cx="2705735" cy="2035175"/>
          </a:xfrm>
        </p:grpSpPr>
        <p:sp>
          <p:nvSpPr>
            <p:cNvPr id="5" name="object 5"/>
            <p:cNvSpPr/>
            <p:nvPr/>
          </p:nvSpPr>
          <p:spPr>
            <a:xfrm>
              <a:off x="134112" y="268224"/>
              <a:ext cx="2435352" cy="1676400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65"/>
              <a:ext cx="2681605" cy="2010410"/>
            </a:xfrm>
            <a:custGeom>
              <a:avLst/>
              <a:gdLst/>
              <a:ahLst/>
              <a:cxnLst/>
              <a:rect l="l" t="t" r="r" b="b"/>
              <a:pathLst>
                <a:path w="2681605" h="2010410">
                  <a:moveTo>
                    <a:pt x="0" y="2010410"/>
                  </a:moveTo>
                  <a:lnTo>
                    <a:pt x="2681351" y="2010410"/>
                  </a:lnTo>
                  <a:lnTo>
                    <a:pt x="2681351" y="0"/>
                  </a:lnTo>
                  <a:lnTo>
                    <a:pt x="0" y="0"/>
                  </a:lnTo>
                  <a:lnTo>
                    <a:pt x="0" y="2010410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70" y="80213"/>
            <a:ext cx="1079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/>
              <a:t>Biogas</a:t>
            </a:r>
            <a:r>
              <a:rPr sz="1300" spc="-110" dirty="0"/>
              <a:t> </a:t>
            </a:r>
            <a:r>
              <a:rPr sz="1300" spc="-5" dirty="0"/>
              <a:t>plant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113919" y="332613"/>
            <a:ext cx="2501265" cy="1430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 marR="17780" indent="-100965" algn="just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125730" algn="l"/>
              </a:tabLst>
            </a:pPr>
            <a:r>
              <a:rPr sz="700" dirty="0">
                <a:latin typeface="Bookman Uralic"/>
                <a:cs typeface="Bookman Uralic"/>
              </a:rPr>
              <a:t>Biogas </a:t>
            </a:r>
            <a:r>
              <a:rPr sz="700" spc="-5" dirty="0">
                <a:latin typeface="Bookman Uralic"/>
                <a:cs typeface="Bookman Uralic"/>
              </a:rPr>
              <a:t>is </a:t>
            </a:r>
            <a:r>
              <a:rPr sz="700" dirty="0">
                <a:latin typeface="Bookman Uralic"/>
                <a:cs typeface="Bookman Uralic"/>
              </a:rPr>
              <a:t>a </a:t>
            </a:r>
            <a:r>
              <a:rPr sz="700" spc="-5" dirty="0">
                <a:latin typeface="Bookman Uralic"/>
                <a:cs typeface="Bookman Uralic"/>
              </a:rPr>
              <a:t>flammable </a:t>
            </a:r>
            <a:r>
              <a:rPr sz="700" dirty="0">
                <a:latin typeface="Bookman Uralic"/>
                <a:cs typeface="Bookman Uralic"/>
              </a:rPr>
              <a:t>fuel </a:t>
            </a:r>
            <a:r>
              <a:rPr sz="700" spc="-5" dirty="0">
                <a:latin typeface="Bookman Uralic"/>
                <a:cs typeface="Bookman Uralic"/>
              </a:rPr>
              <a:t>gas with 60% </a:t>
            </a:r>
            <a:r>
              <a:rPr sz="700" spc="5" dirty="0">
                <a:latin typeface="Bookman Uralic"/>
                <a:cs typeface="Bookman Uralic"/>
              </a:rPr>
              <a:t>CH</a:t>
            </a:r>
            <a:r>
              <a:rPr sz="675" spc="7" baseline="-19000" dirty="0">
                <a:latin typeface="Bookman Uralic"/>
                <a:cs typeface="Bookman Uralic"/>
              </a:rPr>
              <a:t>4 </a:t>
            </a:r>
            <a:r>
              <a:rPr sz="700" spc="-5" dirty="0">
                <a:latin typeface="Bookman Uralic"/>
                <a:cs typeface="Bookman Uralic"/>
              </a:rPr>
              <a:t>and  </a:t>
            </a:r>
            <a:r>
              <a:rPr sz="700" dirty="0">
                <a:latin typeface="Bookman Uralic"/>
                <a:cs typeface="Bookman Uralic"/>
              </a:rPr>
              <a:t>rest</a:t>
            </a:r>
            <a:r>
              <a:rPr sz="700" spc="-5" dirty="0">
                <a:latin typeface="Bookman Uralic"/>
                <a:cs typeface="Bookman Uralic"/>
              </a:rPr>
              <a:t> </a:t>
            </a:r>
            <a:r>
              <a:rPr sz="700" spc="5" dirty="0">
                <a:latin typeface="Bookman Uralic"/>
                <a:cs typeface="Bookman Uralic"/>
              </a:rPr>
              <a:t>CO</a:t>
            </a:r>
            <a:r>
              <a:rPr sz="675" spc="7" baseline="-19000" dirty="0">
                <a:latin typeface="Bookman Uralic"/>
                <a:cs typeface="Bookman Uralic"/>
              </a:rPr>
              <a:t>2</a:t>
            </a:r>
            <a:endParaRPr sz="675" baseline="-19000">
              <a:latin typeface="Bookman Uralic"/>
              <a:cs typeface="Bookman Uralic"/>
            </a:endParaRPr>
          </a:p>
          <a:p>
            <a:pPr marL="125730" marR="17780" indent="-100965" algn="just">
              <a:lnSpc>
                <a:spcPct val="101000"/>
              </a:lnSpc>
              <a:spcBef>
                <a:spcPts val="520"/>
              </a:spcBef>
              <a:buFont typeface="Arial" panose="020B0604020202020204"/>
              <a:buChar char="•"/>
              <a:tabLst>
                <a:tab pos="125730" algn="l"/>
              </a:tabLst>
            </a:pPr>
            <a:r>
              <a:rPr sz="700" spc="5" dirty="0">
                <a:latin typeface="Bookman Uralic"/>
                <a:cs typeface="Bookman Uralic"/>
              </a:rPr>
              <a:t>A </a:t>
            </a:r>
            <a:r>
              <a:rPr sz="700" dirty="0">
                <a:latin typeface="Bookman Uralic"/>
                <a:cs typeface="Bookman Uralic"/>
              </a:rPr>
              <a:t>biogas plant converts wet biomass into biogas </a:t>
            </a:r>
            <a:r>
              <a:rPr sz="700" spc="-10" dirty="0">
                <a:latin typeface="Bookman Uralic"/>
                <a:cs typeface="Bookman Uralic"/>
              </a:rPr>
              <a:t>by  </a:t>
            </a:r>
            <a:r>
              <a:rPr sz="700" dirty="0">
                <a:latin typeface="Bookman Uralic"/>
                <a:cs typeface="Bookman Uralic"/>
              </a:rPr>
              <a:t>the process of anaerobic</a:t>
            </a:r>
            <a:r>
              <a:rPr sz="700" spc="-45" dirty="0">
                <a:latin typeface="Bookman Uralic"/>
                <a:cs typeface="Bookman Uralic"/>
              </a:rPr>
              <a:t> </a:t>
            </a:r>
            <a:r>
              <a:rPr sz="700" dirty="0">
                <a:latin typeface="Bookman Uralic"/>
                <a:cs typeface="Bookman Uralic"/>
              </a:rPr>
              <a:t>fermentation.</a:t>
            </a:r>
            <a:endParaRPr sz="700">
              <a:latin typeface="Bookman Uralic"/>
              <a:cs typeface="Bookman Uralic"/>
            </a:endParaRPr>
          </a:p>
          <a:p>
            <a:pPr marL="125730" marR="17780" indent="-100965" algn="just">
              <a:lnSpc>
                <a:spcPct val="101000"/>
              </a:lnSpc>
              <a:spcBef>
                <a:spcPts val="505"/>
              </a:spcBef>
              <a:buFont typeface="Arial" panose="020B0604020202020204"/>
              <a:buChar char="•"/>
              <a:tabLst>
                <a:tab pos="125730" algn="l"/>
              </a:tabLst>
            </a:pPr>
            <a:r>
              <a:rPr sz="700" spc="-5" dirty="0">
                <a:latin typeface="Bookman Uralic"/>
                <a:cs typeface="Bookman Uralic"/>
              </a:rPr>
              <a:t>The </a:t>
            </a:r>
            <a:r>
              <a:rPr sz="700" dirty="0">
                <a:latin typeface="Bookman Uralic"/>
                <a:cs typeface="Bookman Uralic"/>
              </a:rPr>
              <a:t>anaerobe bacteria carries out digestion </a:t>
            </a:r>
            <a:r>
              <a:rPr sz="700" spc="-15" dirty="0">
                <a:latin typeface="Bookman Uralic"/>
                <a:cs typeface="Bookman Uralic"/>
              </a:rPr>
              <a:t>of  </a:t>
            </a:r>
            <a:r>
              <a:rPr sz="700" dirty="0">
                <a:latin typeface="Bookman Uralic"/>
                <a:cs typeface="Bookman Uralic"/>
              </a:rPr>
              <a:t>biomass </a:t>
            </a:r>
            <a:r>
              <a:rPr sz="700" spc="-5" dirty="0">
                <a:latin typeface="Bookman Uralic"/>
                <a:cs typeface="Bookman Uralic"/>
              </a:rPr>
              <a:t>without </a:t>
            </a:r>
            <a:r>
              <a:rPr sz="700" dirty="0">
                <a:latin typeface="Bookman Uralic"/>
                <a:cs typeface="Bookman Uralic"/>
              </a:rPr>
              <a:t>oxygen </a:t>
            </a:r>
            <a:r>
              <a:rPr sz="700" spc="-5" dirty="0">
                <a:latin typeface="Bookman Uralic"/>
                <a:cs typeface="Bookman Uralic"/>
              </a:rPr>
              <a:t>and produces methane </a:t>
            </a:r>
            <a:r>
              <a:rPr sz="700" dirty="0">
                <a:latin typeface="Bookman Uralic"/>
                <a:cs typeface="Bookman Uralic"/>
              </a:rPr>
              <a:t>and  carbon</a:t>
            </a:r>
            <a:r>
              <a:rPr sz="700" spc="-25" dirty="0">
                <a:latin typeface="Bookman Uralic"/>
                <a:cs typeface="Bookman Uralic"/>
              </a:rPr>
              <a:t> </a:t>
            </a:r>
            <a:r>
              <a:rPr sz="700" dirty="0">
                <a:latin typeface="Bookman Uralic"/>
                <a:cs typeface="Bookman Uralic"/>
              </a:rPr>
              <a:t>dioxide.</a:t>
            </a:r>
            <a:endParaRPr sz="700">
              <a:latin typeface="Bookman Uralic"/>
              <a:cs typeface="Bookman Uralic"/>
            </a:endParaRPr>
          </a:p>
          <a:p>
            <a:pPr marL="125730" indent="-100965">
              <a:lnSpc>
                <a:spcPct val="10000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125730" algn="l"/>
              </a:tabLst>
            </a:pPr>
            <a:r>
              <a:rPr sz="700" spc="-5" dirty="0">
                <a:latin typeface="Bookman Uralic"/>
                <a:cs typeface="Bookman Uralic"/>
              </a:rPr>
              <a:t>There </a:t>
            </a:r>
            <a:r>
              <a:rPr sz="700" dirty="0">
                <a:latin typeface="Bookman Uralic"/>
                <a:cs typeface="Bookman Uralic"/>
              </a:rPr>
              <a:t>are </a:t>
            </a:r>
            <a:r>
              <a:rPr sz="700" spc="5" dirty="0">
                <a:latin typeface="Bookman Uralic"/>
                <a:cs typeface="Bookman Uralic"/>
              </a:rPr>
              <a:t>2 </a:t>
            </a:r>
            <a:r>
              <a:rPr sz="700" dirty="0">
                <a:latin typeface="Bookman Uralic"/>
                <a:cs typeface="Bookman Uralic"/>
              </a:rPr>
              <a:t>types of biogas plant</a:t>
            </a:r>
            <a:r>
              <a:rPr sz="700" spc="-60" dirty="0">
                <a:latin typeface="Bookman Uralic"/>
                <a:cs typeface="Bookman Uralic"/>
              </a:rPr>
              <a:t> </a:t>
            </a:r>
            <a:r>
              <a:rPr sz="700" dirty="0">
                <a:latin typeface="Bookman Uralic"/>
                <a:cs typeface="Bookman Uralic"/>
              </a:rPr>
              <a:t>designs</a:t>
            </a:r>
            <a:endParaRPr sz="700">
              <a:latin typeface="Bookman Uralic"/>
              <a:cs typeface="Bookman Uralic"/>
            </a:endParaRPr>
          </a:p>
          <a:p>
            <a:pPr marL="444500" lvl="1" indent="-100965">
              <a:lnSpc>
                <a:spcPct val="100000"/>
              </a:lnSpc>
              <a:spcBef>
                <a:spcPts val="525"/>
              </a:spcBef>
              <a:buFont typeface="Wingdings" panose="05000000000000000000"/>
              <a:buChar char=""/>
              <a:tabLst>
                <a:tab pos="444500" algn="l"/>
              </a:tabLst>
            </a:pPr>
            <a:r>
              <a:rPr sz="700" dirty="0">
                <a:latin typeface="Bookman Uralic"/>
                <a:cs typeface="Bookman Uralic"/>
              </a:rPr>
              <a:t>Fixed dome</a:t>
            </a:r>
            <a:r>
              <a:rPr sz="700" spc="-25" dirty="0">
                <a:latin typeface="Bookman Uralic"/>
                <a:cs typeface="Bookman Uralic"/>
              </a:rPr>
              <a:t> </a:t>
            </a:r>
            <a:r>
              <a:rPr sz="700" dirty="0">
                <a:latin typeface="Bookman Uralic"/>
                <a:cs typeface="Bookman Uralic"/>
              </a:rPr>
              <a:t>type</a:t>
            </a:r>
            <a:endParaRPr sz="700">
              <a:latin typeface="Bookman Uralic"/>
              <a:cs typeface="Bookman Uralic"/>
            </a:endParaRPr>
          </a:p>
          <a:p>
            <a:pPr marL="444500" lvl="1" indent="-100965">
              <a:lnSpc>
                <a:spcPct val="100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444500" algn="l"/>
              </a:tabLst>
            </a:pPr>
            <a:r>
              <a:rPr sz="700" dirty="0">
                <a:latin typeface="Bookman Uralic"/>
                <a:cs typeface="Bookman Uralic"/>
              </a:rPr>
              <a:t>Floating </a:t>
            </a:r>
            <a:r>
              <a:rPr sz="700" spc="5" dirty="0">
                <a:latin typeface="Bookman Uralic"/>
                <a:cs typeface="Bookman Uralic"/>
              </a:rPr>
              <a:t>drum</a:t>
            </a:r>
            <a:r>
              <a:rPr sz="700" spc="-35" dirty="0">
                <a:latin typeface="Bookman Uralic"/>
                <a:cs typeface="Bookman Uralic"/>
              </a:rPr>
              <a:t> </a:t>
            </a:r>
            <a:r>
              <a:rPr sz="700" dirty="0">
                <a:latin typeface="Bookman Uralic"/>
                <a:cs typeface="Bookman Uralic"/>
              </a:rPr>
              <a:t>type</a:t>
            </a:r>
            <a:endParaRPr sz="700">
              <a:latin typeface="Bookman Uralic"/>
              <a:cs typeface="Bookman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2530" y="187706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54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249" y="61976"/>
            <a:ext cx="98425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/>
              <a:t>Biogas</a:t>
            </a:r>
            <a:r>
              <a:rPr sz="1150" spc="-55" dirty="0"/>
              <a:t> </a:t>
            </a:r>
            <a:r>
              <a:rPr sz="1150" spc="10" dirty="0"/>
              <a:t>plant</a:t>
            </a:r>
            <a:endParaRPr sz="1150"/>
          </a:p>
        </p:txBody>
      </p:sp>
      <p:sp>
        <p:nvSpPr>
          <p:cNvPr id="3" name="object 3"/>
          <p:cNvSpPr txBox="1"/>
          <p:nvPr/>
        </p:nvSpPr>
        <p:spPr>
          <a:xfrm>
            <a:off x="68478" y="310972"/>
            <a:ext cx="2569845" cy="13671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0" indent="-102235">
              <a:lnSpc>
                <a:spcPct val="100000"/>
              </a:lnSpc>
              <a:spcBef>
                <a:spcPts val="485"/>
              </a:spcBef>
              <a:buFont typeface="Wingdings" panose="05000000000000000000"/>
              <a:buChar char=""/>
              <a:tabLst>
                <a:tab pos="127635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Biogas </a:t>
            </a:r>
            <a:r>
              <a:rPr sz="550" spc="15" dirty="0">
                <a:latin typeface="Bookman Uralic"/>
                <a:cs typeface="Bookman Uralic"/>
              </a:rPr>
              <a:t>is </a:t>
            </a:r>
            <a:r>
              <a:rPr sz="550" spc="20" dirty="0">
                <a:latin typeface="Bookman Uralic"/>
                <a:cs typeface="Bookman Uralic"/>
              </a:rPr>
              <a:t>a </a:t>
            </a:r>
            <a:r>
              <a:rPr sz="550" spc="15" dirty="0">
                <a:latin typeface="Bookman Uralic"/>
                <a:cs typeface="Bookman Uralic"/>
              </a:rPr>
              <a:t>flammable fuel </a:t>
            </a:r>
            <a:r>
              <a:rPr sz="550" spc="10" dirty="0">
                <a:latin typeface="Bookman Uralic"/>
                <a:cs typeface="Bookman Uralic"/>
              </a:rPr>
              <a:t>gas </a:t>
            </a:r>
            <a:r>
              <a:rPr sz="550" spc="15" dirty="0">
                <a:latin typeface="Bookman Uralic"/>
                <a:cs typeface="Bookman Uralic"/>
              </a:rPr>
              <a:t>with </a:t>
            </a:r>
            <a:r>
              <a:rPr sz="550" spc="20" dirty="0">
                <a:latin typeface="Bookman Uralic"/>
                <a:cs typeface="Bookman Uralic"/>
              </a:rPr>
              <a:t>60% </a:t>
            </a:r>
            <a:r>
              <a:rPr sz="550" spc="15" dirty="0">
                <a:latin typeface="Bookman Uralic"/>
                <a:cs typeface="Bookman Uralic"/>
              </a:rPr>
              <a:t>CH</a:t>
            </a:r>
            <a:r>
              <a:rPr sz="600" spc="22" baseline="-21000" dirty="0">
                <a:latin typeface="Bookman Uralic"/>
                <a:cs typeface="Bookman Uralic"/>
              </a:rPr>
              <a:t>4 </a:t>
            </a:r>
            <a:r>
              <a:rPr sz="550" spc="15" dirty="0">
                <a:latin typeface="Bookman Uralic"/>
                <a:cs typeface="Bookman Uralic"/>
              </a:rPr>
              <a:t>and rest</a:t>
            </a:r>
            <a:r>
              <a:rPr sz="550" spc="-20" dirty="0">
                <a:latin typeface="Bookman Uralic"/>
                <a:cs typeface="Bookman Uralic"/>
              </a:rPr>
              <a:t> </a:t>
            </a:r>
            <a:r>
              <a:rPr sz="550" spc="10" dirty="0">
                <a:latin typeface="Bookman Uralic"/>
                <a:cs typeface="Bookman Uralic"/>
              </a:rPr>
              <a:t>CO</a:t>
            </a:r>
            <a:r>
              <a:rPr sz="600" spc="15" baseline="-21000" dirty="0">
                <a:latin typeface="Bookman Uralic"/>
                <a:cs typeface="Bookman Uralic"/>
              </a:rPr>
              <a:t>2</a:t>
            </a:r>
            <a:r>
              <a:rPr sz="550" spc="10" dirty="0">
                <a:latin typeface="Bookman Uralic"/>
                <a:cs typeface="Bookman Uralic"/>
              </a:rPr>
              <a:t>.</a:t>
            </a:r>
            <a:endParaRPr sz="550">
              <a:latin typeface="Bookman Uralic"/>
              <a:cs typeface="Bookman Uralic"/>
            </a:endParaRPr>
          </a:p>
          <a:p>
            <a:pPr marL="127000" indent="-102235">
              <a:lnSpc>
                <a:spcPts val="655"/>
              </a:lnSpc>
              <a:spcBef>
                <a:spcPts val="400"/>
              </a:spcBef>
              <a:buFont typeface="Wingdings" panose="05000000000000000000"/>
              <a:buChar char=""/>
              <a:tabLst>
                <a:tab pos="127635" algn="l"/>
              </a:tabLst>
            </a:pPr>
            <a:r>
              <a:rPr sz="550" spc="15" dirty="0">
                <a:latin typeface="Bookman Uralic"/>
                <a:cs typeface="Bookman Uralic"/>
              </a:rPr>
              <a:t>The </a:t>
            </a:r>
            <a:r>
              <a:rPr sz="550" spc="10" dirty="0">
                <a:latin typeface="Bookman Uralic"/>
                <a:cs typeface="Bookman Uralic"/>
              </a:rPr>
              <a:t>gas </a:t>
            </a:r>
            <a:r>
              <a:rPr sz="550" spc="20" dirty="0">
                <a:latin typeface="Bookman Uralic"/>
                <a:cs typeface="Bookman Uralic"/>
              </a:rPr>
              <a:t>can </a:t>
            </a:r>
            <a:r>
              <a:rPr sz="550" spc="15" dirty="0">
                <a:latin typeface="Bookman Uralic"/>
                <a:cs typeface="Bookman Uralic"/>
              </a:rPr>
              <a:t>be upgraded by removal </a:t>
            </a:r>
            <a:r>
              <a:rPr sz="550" spc="10" dirty="0">
                <a:latin typeface="Bookman Uralic"/>
                <a:cs typeface="Bookman Uralic"/>
              </a:rPr>
              <a:t>of </a:t>
            </a:r>
            <a:r>
              <a:rPr sz="550" spc="15" dirty="0">
                <a:latin typeface="Bookman Uralic"/>
                <a:cs typeface="Bookman Uralic"/>
              </a:rPr>
              <a:t>CO</a:t>
            </a:r>
            <a:r>
              <a:rPr sz="600" spc="22" baseline="-21000" dirty="0">
                <a:latin typeface="Bookman Uralic"/>
                <a:cs typeface="Bookman Uralic"/>
              </a:rPr>
              <a:t>2 </a:t>
            </a:r>
            <a:r>
              <a:rPr sz="550" spc="15" dirty="0">
                <a:latin typeface="Bookman Uralic"/>
                <a:cs typeface="Bookman Uralic"/>
              </a:rPr>
              <a:t>and the gas with</a:t>
            </a:r>
            <a:r>
              <a:rPr sz="550" spc="100" dirty="0">
                <a:latin typeface="Bookman Uralic"/>
                <a:cs typeface="Bookman Uralic"/>
              </a:rPr>
              <a:t> </a:t>
            </a:r>
            <a:r>
              <a:rPr sz="550" spc="20" dirty="0">
                <a:latin typeface="Bookman Uralic"/>
                <a:cs typeface="Bookman Uralic"/>
              </a:rPr>
              <a:t>high</a:t>
            </a:r>
            <a:endParaRPr sz="550">
              <a:latin typeface="Bookman Uralic"/>
              <a:cs typeface="Bookman Uralic"/>
            </a:endParaRPr>
          </a:p>
          <a:p>
            <a:pPr marL="127000">
              <a:lnSpc>
                <a:spcPts val="715"/>
              </a:lnSpc>
            </a:pPr>
            <a:r>
              <a:rPr sz="600" spc="-10" dirty="0">
                <a:latin typeface="Bookman Uralic"/>
                <a:cs typeface="Bookman Uralic"/>
              </a:rPr>
              <a:t>heating </a:t>
            </a:r>
            <a:r>
              <a:rPr sz="600" spc="-15" dirty="0">
                <a:latin typeface="Bookman Uralic"/>
                <a:cs typeface="Bookman Uralic"/>
              </a:rPr>
              <a:t>value can be used </a:t>
            </a:r>
            <a:r>
              <a:rPr sz="600" spc="-5" dirty="0">
                <a:latin typeface="Bookman Uralic"/>
                <a:cs typeface="Bookman Uralic"/>
              </a:rPr>
              <a:t>in </a:t>
            </a:r>
            <a:r>
              <a:rPr sz="600" spc="-10" dirty="0">
                <a:latin typeface="Bookman Uralic"/>
                <a:cs typeface="Bookman Uralic"/>
              </a:rPr>
              <a:t>I.C.</a:t>
            </a:r>
            <a:r>
              <a:rPr sz="600" spc="20" dirty="0">
                <a:latin typeface="Bookman Uralic"/>
                <a:cs typeface="Bookman Uralic"/>
              </a:rPr>
              <a:t> </a:t>
            </a:r>
            <a:r>
              <a:rPr sz="600" spc="-10" dirty="0">
                <a:latin typeface="Bookman Uralic"/>
                <a:cs typeface="Bookman Uralic"/>
              </a:rPr>
              <a:t>engine.</a:t>
            </a:r>
            <a:endParaRPr sz="600">
              <a:latin typeface="Bookman Uralic"/>
              <a:cs typeface="Bookman Uralic"/>
            </a:endParaRPr>
          </a:p>
          <a:p>
            <a:pPr marL="127000" marR="17780" indent="-102235">
              <a:lnSpc>
                <a:spcPct val="107000"/>
              </a:lnSpc>
              <a:spcBef>
                <a:spcPts val="340"/>
              </a:spcBef>
              <a:buFont typeface="Wingdings" panose="05000000000000000000"/>
              <a:buChar char=""/>
              <a:tabLst>
                <a:tab pos="127635" algn="l"/>
              </a:tabLst>
            </a:pPr>
            <a:r>
              <a:rPr sz="550" spc="15" dirty="0">
                <a:latin typeface="Bookman Uralic"/>
                <a:cs typeface="Bookman Uralic"/>
              </a:rPr>
              <a:t>The </a:t>
            </a:r>
            <a:r>
              <a:rPr sz="550" spc="20" dirty="0">
                <a:latin typeface="Bookman Uralic"/>
                <a:cs typeface="Bookman Uralic"/>
              </a:rPr>
              <a:t>main </a:t>
            </a:r>
            <a:r>
              <a:rPr sz="550" spc="10" dirty="0">
                <a:latin typeface="Bookman Uralic"/>
                <a:cs typeface="Bookman Uralic"/>
              </a:rPr>
              <a:t>applications of biogas are (i) cooking. (ii) </a:t>
            </a:r>
            <a:r>
              <a:rPr sz="550" spc="15" dirty="0">
                <a:latin typeface="Bookman Uralic"/>
                <a:cs typeface="Bookman Uralic"/>
              </a:rPr>
              <a:t>domestic  lighting and heating and </a:t>
            </a:r>
            <a:r>
              <a:rPr sz="550" spc="10" dirty="0">
                <a:latin typeface="Bookman Uralic"/>
                <a:cs typeface="Bookman Uralic"/>
              </a:rPr>
              <a:t>(iii) I.C.</a:t>
            </a:r>
            <a:r>
              <a:rPr sz="550" spc="-25" dirty="0">
                <a:latin typeface="Bookman Uralic"/>
                <a:cs typeface="Bookman Uralic"/>
              </a:rPr>
              <a:t> </a:t>
            </a:r>
            <a:r>
              <a:rPr sz="550" spc="15" dirty="0">
                <a:latin typeface="Bookman Uralic"/>
                <a:cs typeface="Bookman Uralic"/>
              </a:rPr>
              <a:t>engines.</a:t>
            </a:r>
            <a:endParaRPr sz="550">
              <a:latin typeface="Bookman Uralic"/>
              <a:cs typeface="Bookman Uralic"/>
            </a:endParaRPr>
          </a:p>
          <a:p>
            <a:pPr marL="127000" marR="20320" indent="-102235">
              <a:lnSpc>
                <a:spcPct val="106000"/>
              </a:lnSpc>
              <a:spcBef>
                <a:spcPts val="360"/>
              </a:spcBef>
              <a:buFont typeface="Wingdings" panose="05000000000000000000"/>
              <a:buChar char=""/>
              <a:tabLst>
                <a:tab pos="127635" algn="l"/>
              </a:tabLst>
            </a:pPr>
            <a:r>
              <a:rPr sz="550" b="1" i="1" spc="15" dirty="0">
                <a:latin typeface="TeX Gyre Bonum"/>
                <a:cs typeface="TeX Gyre Bonum"/>
              </a:rPr>
              <a:t>Biogas plant </a:t>
            </a:r>
            <a:r>
              <a:rPr sz="550" spc="15" dirty="0">
                <a:latin typeface="Bookman Uralic"/>
                <a:cs typeface="Bookman Uralic"/>
              </a:rPr>
              <a:t>(</a:t>
            </a:r>
            <a:r>
              <a:rPr sz="550" b="1" i="1" spc="15" dirty="0">
                <a:latin typeface="TeX Gyre Bonum"/>
                <a:cs typeface="TeX Gyre Bonum"/>
              </a:rPr>
              <a:t>biogas digester</a:t>
            </a:r>
            <a:r>
              <a:rPr sz="550" spc="15" dirty="0">
                <a:latin typeface="Bookman Uralic"/>
                <a:cs typeface="Bookman Uralic"/>
              </a:rPr>
              <a:t>) </a:t>
            </a:r>
            <a:r>
              <a:rPr sz="550" i="1" spc="10" dirty="0">
                <a:latin typeface="Bookman Uralic"/>
                <a:cs typeface="Bookman Uralic"/>
              </a:rPr>
              <a:t>converts </a:t>
            </a:r>
            <a:r>
              <a:rPr sz="550" i="1" spc="15" dirty="0">
                <a:latin typeface="Bookman Uralic"/>
                <a:cs typeface="Bookman Uralic"/>
              </a:rPr>
              <a:t>wet biomass </a:t>
            </a:r>
            <a:r>
              <a:rPr sz="550" i="1" spc="10" dirty="0">
                <a:latin typeface="Bookman Uralic"/>
                <a:cs typeface="Bookman Uralic"/>
              </a:rPr>
              <a:t>into biogas  (methane) </a:t>
            </a:r>
            <a:r>
              <a:rPr sz="550" i="1" spc="20" dirty="0">
                <a:latin typeface="Bookman Uralic"/>
                <a:cs typeface="Bookman Uralic"/>
              </a:rPr>
              <a:t>by </a:t>
            </a:r>
            <a:r>
              <a:rPr sz="550" i="1" spc="10" dirty="0">
                <a:latin typeface="Bookman Uralic"/>
                <a:cs typeface="Bookman Uralic"/>
              </a:rPr>
              <a:t>the </a:t>
            </a:r>
            <a:r>
              <a:rPr sz="550" i="1" spc="15" dirty="0">
                <a:latin typeface="Bookman Uralic"/>
                <a:cs typeface="Bookman Uralic"/>
              </a:rPr>
              <a:t>process </a:t>
            </a:r>
            <a:r>
              <a:rPr sz="550" i="1" spc="10" dirty="0">
                <a:latin typeface="Bookman Uralic"/>
                <a:cs typeface="Bookman Uralic"/>
              </a:rPr>
              <a:t>of anaerobic</a:t>
            </a:r>
            <a:r>
              <a:rPr sz="550" i="1" spc="90" dirty="0">
                <a:latin typeface="Bookman Uralic"/>
                <a:cs typeface="Bookman Uralic"/>
              </a:rPr>
              <a:t> </a:t>
            </a:r>
            <a:r>
              <a:rPr sz="550" i="1" spc="10" dirty="0">
                <a:latin typeface="Bookman Uralic"/>
                <a:cs typeface="Bookman Uralic"/>
              </a:rPr>
              <a:t>fermentation</a:t>
            </a:r>
            <a:r>
              <a:rPr sz="550" spc="10" dirty="0">
                <a:latin typeface="Bookman Uralic"/>
                <a:cs typeface="Bookman Uralic"/>
              </a:rPr>
              <a:t>.</a:t>
            </a:r>
            <a:endParaRPr sz="550">
              <a:latin typeface="Bookman Uralic"/>
              <a:cs typeface="Bookman Uralic"/>
            </a:endParaRPr>
          </a:p>
          <a:p>
            <a:pPr marL="127000" marR="20320" indent="-102235" algn="just">
              <a:lnSpc>
                <a:spcPct val="106000"/>
              </a:lnSpc>
              <a:spcBef>
                <a:spcPts val="365"/>
              </a:spcBef>
              <a:buFont typeface="Wingdings" panose="05000000000000000000"/>
              <a:buChar char=""/>
              <a:tabLst>
                <a:tab pos="127635" algn="l"/>
              </a:tabLst>
            </a:pPr>
            <a:r>
              <a:rPr sz="550" spc="15" dirty="0">
                <a:latin typeface="Bookman Uralic"/>
                <a:cs typeface="Bookman Uralic"/>
              </a:rPr>
              <a:t>The bacteria </a:t>
            </a:r>
            <a:r>
              <a:rPr sz="550" spc="10" dirty="0">
                <a:latin typeface="Bookman Uralic"/>
                <a:cs typeface="Bookman Uralic"/>
              </a:rPr>
              <a:t>called </a:t>
            </a:r>
            <a:r>
              <a:rPr sz="550" b="1" i="1" spc="20" dirty="0">
                <a:latin typeface="TeX Gyre Bonum"/>
                <a:cs typeface="TeX Gyre Bonum"/>
              </a:rPr>
              <a:t>anaerobe </a:t>
            </a:r>
            <a:r>
              <a:rPr sz="550" spc="15" dirty="0">
                <a:latin typeface="Bookman Uralic"/>
                <a:cs typeface="Bookman Uralic"/>
              </a:rPr>
              <a:t>carries </a:t>
            </a:r>
            <a:r>
              <a:rPr sz="550" spc="10" dirty="0">
                <a:latin typeface="Bookman Uralic"/>
                <a:cs typeface="Bookman Uralic"/>
              </a:rPr>
              <a:t>out </a:t>
            </a:r>
            <a:r>
              <a:rPr sz="550" spc="15" dirty="0">
                <a:latin typeface="Bookman Uralic"/>
                <a:cs typeface="Bookman Uralic"/>
              </a:rPr>
              <a:t>digestion </a:t>
            </a:r>
            <a:r>
              <a:rPr sz="550" spc="10" dirty="0">
                <a:latin typeface="Bookman Uralic"/>
                <a:cs typeface="Bookman Uralic"/>
              </a:rPr>
              <a:t>of </a:t>
            </a:r>
            <a:r>
              <a:rPr sz="550" spc="15" dirty="0">
                <a:latin typeface="Bookman Uralic"/>
                <a:cs typeface="Bookman Uralic"/>
              </a:rPr>
              <a:t>biomass  without oxygen and produces </a:t>
            </a:r>
            <a:r>
              <a:rPr sz="550" spc="20" dirty="0">
                <a:latin typeface="Bookman Uralic"/>
                <a:cs typeface="Bookman Uralic"/>
              </a:rPr>
              <a:t>methane </a:t>
            </a:r>
            <a:r>
              <a:rPr sz="550" spc="5" dirty="0">
                <a:latin typeface="Bookman Uralic"/>
                <a:cs typeface="Bookman Uralic"/>
              </a:rPr>
              <a:t>(CH</a:t>
            </a:r>
            <a:r>
              <a:rPr sz="600" spc="7" baseline="-21000" dirty="0">
                <a:latin typeface="Bookman Uralic"/>
                <a:cs typeface="Bookman Uralic"/>
              </a:rPr>
              <a:t>4</a:t>
            </a:r>
            <a:r>
              <a:rPr sz="550" spc="5" dirty="0">
                <a:latin typeface="Bookman Uralic"/>
                <a:cs typeface="Bookman Uralic"/>
              </a:rPr>
              <a:t>) </a:t>
            </a:r>
            <a:r>
              <a:rPr sz="550" spc="15" dirty="0">
                <a:latin typeface="Bookman Uralic"/>
                <a:cs typeface="Bookman Uralic"/>
              </a:rPr>
              <a:t>and carbondioxide  </a:t>
            </a:r>
            <a:r>
              <a:rPr sz="550" spc="10" dirty="0">
                <a:latin typeface="Bookman Uralic"/>
                <a:cs typeface="Bookman Uralic"/>
              </a:rPr>
              <a:t>(CO</a:t>
            </a:r>
            <a:r>
              <a:rPr sz="600" spc="15" baseline="-21000" dirty="0">
                <a:latin typeface="Bookman Uralic"/>
                <a:cs typeface="Bookman Uralic"/>
              </a:rPr>
              <a:t>2</a:t>
            </a:r>
            <a:r>
              <a:rPr sz="550" spc="10" dirty="0">
                <a:latin typeface="Bookman Uralic"/>
                <a:cs typeface="Bookman Uralic"/>
              </a:rPr>
              <a:t>).</a:t>
            </a:r>
            <a:endParaRPr sz="550">
              <a:latin typeface="Bookman Uralic"/>
              <a:cs typeface="Bookman Uralic"/>
            </a:endParaRPr>
          </a:p>
          <a:p>
            <a:pPr marL="127000" marR="19685" indent="-102235">
              <a:lnSpc>
                <a:spcPct val="107000"/>
              </a:lnSpc>
              <a:spcBef>
                <a:spcPts val="350"/>
              </a:spcBef>
              <a:buFont typeface="Wingdings" panose="05000000000000000000"/>
              <a:buChar char=""/>
              <a:tabLst>
                <a:tab pos="127635" algn="l"/>
              </a:tabLst>
            </a:pPr>
            <a:r>
              <a:rPr sz="550" spc="20" dirty="0">
                <a:latin typeface="Bookman Uralic"/>
                <a:cs typeface="Bookman Uralic"/>
              </a:rPr>
              <a:t>There </a:t>
            </a:r>
            <a:r>
              <a:rPr sz="550" spc="10" dirty="0">
                <a:latin typeface="Bookman Uralic"/>
                <a:cs typeface="Bookman Uralic"/>
              </a:rPr>
              <a:t>are </a:t>
            </a:r>
            <a:r>
              <a:rPr sz="550" spc="20" dirty="0">
                <a:latin typeface="Bookman Uralic"/>
                <a:cs typeface="Bookman Uralic"/>
              </a:rPr>
              <a:t>two </a:t>
            </a:r>
            <a:r>
              <a:rPr sz="550" spc="15" dirty="0">
                <a:latin typeface="Bookman Uralic"/>
                <a:cs typeface="Bookman Uralic"/>
              </a:rPr>
              <a:t>major types </a:t>
            </a:r>
            <a:r>
              <a:rPr sz="550" spc="10" dirty="0">
                <a:latin typeface="Bookman Uralic"/>
                <a:cs typeface="Bookman Uralic"/>
              </a:rPr>
              <a:t>of biogas </a:t>
            </a:r>
            <a:r>
              <a:rPr sz="550" spc="15" dirty="0">
                <a:latin typeface="Bookman Uralic"/>
                <a:cs typeface="Bookman Uralic"/>
              </a:rPr>
              <a:t>designs </a:t>
            </a:r>
            <a:r>
              <a:rPr sz="550" spc="20" dirty="0">
                <a:latin typeface="Bookman Uralic"/>
                <a:cs typeface="Bookman Uralic"/>
              </a:rPr>
              <a:t>promoted </a:t>
            </a:r>
            <a:r>
              <a:rPr sz="550" spc="15" dirty="0">
                <a:latin typeface="Bookman Uralic"/>
                <a:cs typeface="Bookman Uralic"/>
              </a:rPr>
              <a:t>in </a:t>
            </a:r>
            <a:r>
              <a:rPr sz="550" i="1" spc="10" dirty="0">
                <a:latin typeface="Bookman Uralic"/>
                <a:cs typeface="Bookman Uralic"/>
              </a:rPr>
              <a:t>India</a:t>
            </a:r>
            <a:r>
              <a:rPr sz="550" spc="10" dirty="0">
                <a:latin typeface="Bookman Uralic"/>
                <a:cs typeface="Bookman Uralic"/>
              </a:rPr>
              <a:t>,  viz., </a:t>
            </a:r>
            <a:r>
              <a:rPr sz="550" b="1" i="1" spc="15" dirty="0">
                <a:latin typeface="TeX Gyre Bonum"/>
                <a:cs typeface="TeX Gyre Bonum"/>
              </a:rPr>
              <a:t>floating </a:t>
            </a:r>
            <a:r>
              <a:rPr sz="550" b="1" i="1" spc="25" dirty="0">
                <a:latin typeface="TeX Gyre Bonum"/>
                <a:cs typeface="TeX Gyre Bonum"/>
              </a:rPr>
              <a:t>drum </a:t>
            </a:r>
            <a:r>
              <a:rPr sz="550" spc="15" dirty="0">
                <a:latin typeface="Bookman Uralic"/>
                <a:cs typeface="Bookman Uralic"/>
              </a:rPr>
              <a:t>and </a:t>
            </a:r>
            <a:r>
              <a:rPr sz="550" b="1" i="1" spc="15" dirty="0">
                <a:latin typeface="TeX Gyre Bonum"/>
                <a:cs typeface="TeX Gyre Bonum"/>
              </a:rPr>
              <a:t>fixed </a:t>
            </a:r>
            <a:r>
              <a:rPr sz="550" b="1" i="1" spc="20" dirty="0">
                <a:latin typeface="TeX Gyre Bonum"/>
                <a:cs typeface="TeX Gyre Bonum"/>
              </a:rPr>
              <a:t>dome</a:t>
            </a:r>
            <a:r>
              <a:rPr sz="550" b="1" i="1" spc="-35" dirty="0">
                <a:latin typeface="TeX Gyre Bonum"/>
                <a:cs typeface="TeX Gyre Bonum"/>
              </a:rPr>
              <a:t> </a:t>
            </a:r>
            <a:r>
              <a:rPr sz="550" spc="15" dirty="0">
                <a:latin typeface="Bookman Uralic"/>
                <a:cs typeface="Bookman Uralic"/>
              </a:rPr>
              <a:t>type.</a:t>
            </a:r>
            <a:endParaRPr sz="55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274" y="84201"/>
            <a:ext cx="219646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10" dirty="0"/>
              <a:t>Floating </a:t>
            </a:r>
            <a:r>
              <a:rPr sz="1150" spc="15" dirty="0"/>
              <a:t>drum type</a:t>
            </a:r>
            <a:r>
              <a:rPr sz="1150" spc="-114" dirty="0"/>
              <a:t> </a:t>
            </a:r>
            <a:r>
              <a:rPr sz="1150" spc="10" dirty="0"/>
              <a:t>digester</a:t>
            </a:r>
            <a:endParaRPr sz="1150"/>
          </a:p>
        </p:txBody>
      </p:sp>
      <p:sp>
        <p:nvSpPr>
          <p:cNvPr id="3" name="object 3"/>
          <p:cNvSpPr/>
          <p:nvPr/>
        </p:nvSpPr>
        <p:spPr>
          <a:xfrm>
            <a:off x="566756" y="689444"/>
            <a:ext cx="1595755" cy="991235"/>
          </a:xfrm>
          <a:custGeom>
            <a:avLst/>
            <a:gdLst/>
            <a:ahLst/>
            <a:cxnLst/>
            <a:rect l="l" t="t" r="r" b="b"/>
            <a:pathLst>
              <a:path w="1595755" h="991235">
                <a:moveTo>
                  <a:pt x="613729" y="991185"/>
                </a:moveTo>
                <a:lnTo>
                  <a:pt x="1063811" y="991185"/>
                </a:lnTo>
                <a:lnTo>
                  <a:pt x="1063811" y="941253"/>
                </a:lnTo>
              </a:path>
              <a:path w="1595755" h="991235">
                <a:moveTo>
                  <a:pt x="613729" y="991185"/>
                </a:moveTo>
                <a:lnTo>
                  <a:pt x="613729" y="938669"/>
                </a:lnTo>
              </a:path>
              <a:path w="1595755" h="991235">
                <a:moveTo>
                  <a:pt x="1063811" y="839204"/>
                </a:moveTo>
                <a:lnTo>
                  <a:pt x="1063811" y="106874"/>
                </a:lnTo>
              </a:path>
              <a:path w="1595755" h="991235">
                <a:moveTo>
                  <a:pt x="1063811" y="941253"/>
                </a:moveTo>
                <a:lnTo>
                  <a:pt x="1349048" y="194455"/>
                </a:lnTo>
                <a:lnTo>
                  <a:pt x="1438316" y="194455"/>
                </a:lnTo>
              </a:path>
              <a:path w="1595755" h="991235">
                <a:moveTo>
                  <a:pt x="613729" y="839204"/>
                </a:moveTo>
                <a:lnTo>
                  <a:pt x="613729" y="106874"/>
                </a:lnTo>
              </a:path>
              <a:path w="1595755" h="991235">
                <a:moveTo>
                  <a:pt x="294995" y="106874"/>
                </a:moveTo>
                <a:lnTo>
                  <a:pt x="613729" y="941253"/>
                </a:lnTo>
              </a:path>
              <a:path w="1595755" h="991235">
                <a:moveTo>
                  <a:pt x="333978" y="106874"/>
                </a:moveTo>
                <a:lnTo>
                  <a:pt x="613729" y="839204"/>
                </a:lnTo>
              </a:path>
              <a:path w="1595755" h="991235">
                <a:moveTo>
                  <a:pt x="294995" y="106874"/>
                </a:moveTo>
                <a:lnTo>
                  <a:pt x="0" y="106874"/>
                </a:lnTo>
              </a:path>
              <a:path w="1595755" h="991235">
                <a:moveTo>
                  <a:pt x="613729" y="106874"/>
                </a:moveTo>
                <a:lnTo>
                  <a:pt x="333978" y="106874"/>
                </a:lnTo>
              </a:path>
              <a:path w="1595755" h="991235">
                <a:moveTo>
                  <a:pt x="1211703" y="194455"/>
                </a:moveTo>
                <a:lnTo>
                  <a:pt x="1211703" y="109059"/>
                </a:lnTo>
              </a:path>
              <a:path w="1595755" h="991235">
                <a:moveTo>
                  <a:pt x="1211703" y="106874"/>
                </a:moveTo>
                <a:lnTo>
                  <a:pt x="1063811" y="106874"/>
                </a:lnTo>
              </a:path>
              <a:path w="1595755" h="991235">
                <a:moveTo>
                  <a:pt x="1438316" y="194455"/>
                </a:moveTo>
                <a:lnTo>
                  <a:pt x="1438316" y="106557"/>
                </a:lnTo>
              </a:path>
              <a:path w="1595755" h="991235">
                <a:moveTo>
                  <a:pt x="1595645" y="106557"/>
                </a:moveTo>
                <a:lnTo>
                  <a:pt x="1438316" y="106557"/>
                </a:lnTo>
              </a:path>
              <a:path w="1595755" h="991235">
                <a:moveTo>
                  <a:pt x="613729" y="385341"/>
                </a:moveTo>
                <a:lnTo>
                  <a:pt x="663437" y="385341"/>
                </a:lnTo>
              </a:path>
              <a:path w="1595755" h="991235">
                <a:moveTo>
                  <a:pt x="1013404" y="385341"/>
                </a:moveTo>
                <a:lnTo>
                  <a:pt x="1063145" y="385341"/>
                </a:lnTo>
              </a:path>
              <a:path w="1595755" h="991235">
                <a:moveTo>
                  <a:pt x="663437" y="385341"/>
                </a:moveTo>
                <a:lnTo>
                  <a:pt x="663437" y="106874"/>
                </a:lnTo>
              </a:path>
              <a:path w="1595755" h="991235">
                <a:moveTo>
                  <a:pt x="1013404" y="385341"/>
                </a:moveTo>
                <a:lnTo>
                  <a:pt x="1013404" y="106874"/>
                </a:lnTo>
              </a:path>
              <a:path w="1595755" h="991235">
                <a:moveTo>
                  <a:pt x="663437" y="106874"/>
                </a:moveTo>
                <a:lnTo>
                  <a:pt x="838421" y="0"/>
                </a:lnTo>
              </a:path>
            </a:pathLst>
          </a:custGeom>
          <a:ln w="137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53106" y="590221"/>
            <a:ext cx="272415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Sludge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174" y="370517"/>
            <a:ext cx="60325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Slurry inlet</a:t>
            </a:r>
            <a:r>
              <a:rPr sz="7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tank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68" y="653470"/>
            <a:ext cx="46228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Gound</a:t>
            </a:r>
            <a:r>
              <a:rPr sz="7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level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127" y="1020739"/>
            <a:ext cx="363855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Inlet</a:t>
            </a:r>
            <a:r>
              <a:rPr sz="7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pipe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354" y="1236003"/>
            <a:ext cx="370205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Digester</a:t>
            </a:r>
            <a:r>
              <a:rPr sz="700" u="sng" spc="-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u="sng" spc="-1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0513" y="470334"/>
            <a:ext cx="16383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Gas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57545" y="537170"/>
            <a:ext cx="370840" cy="459105"/>
            <a:chOff x="1657545" y="537170"/>
            <a:chExt cx="370840" cy="459105"/>
          </a:xfrm>
        </p:grpSpPr>
        <p:sp>
          <p:nvSpPr>
            <p:cNvPr id="11" name="object 11"/>
            <p:cNvSpPr/>
            <p:nvPr/>
          </p:nvSpPr>
          <p:spPr>
            <a:xfrm>
              <a:off x="1661990" y="562535"/>
              <a:ext cx="362585" cy="429259"/>
            </a:xfrm>
            <a:custGeom>
              <a:avLst/>
              <a:gdLst/>
              <a:ahLst/>
              <a:cxnLst/>
              <a:rect l="l" t="t" r="r" b="b"/>
              <a:pathLst>
                <a:path w="362585" h="429259">
                  <a:moveTo>
                    <a:pt x="361957" y="429037"/>
                  </a:moveTo>
                  <a:lnTo>
                    <a:pt x="295895" y="335832"/>
                  </a:lnTo>
                </a:path>
                <a:path w="362585" h="429259">
                  <a:moveTo>
                    <a:pt x="291120" y="371343"/>
                  </a:moveTo>
                  <a:lnTo>
                    <a:pt x="295895" y="335832"/>
                  </a:lnTo>
                  <a:lnTo>
                    <a:pt x="329426" y="340905"/>
                  </a:lnTo>
                </a:path>
                <a:path w="362585" h="429259">
                  <a:moveTo>
                    <a:pt x="0" y="0"/>
                  </a:moveTo>
                  <a:lnTo>
                    <a:pt x="106699" y="0"/>
                  </a:lnTo>
                </a:path>
              </a:pathLst>
            </a:custGeom>
            <a:ln w="8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63915" y="537170"/>
              <a:ext cx="24130" cy="50800"/>
            </a:xfrm>
            <a:custGeom>
              <a:avLst/>
              <a:gdLst/>
              <a:ahLst/>
              <a:cxnLst/>
              <a:rect l="l" t="t" r="r" b="b"/>
              <a:pathLst>
                <a:path w="24130" h="50800">
                  <a:moveTo>
                    <a:pt x="0" y="0"/>
                  </a:moveTo>
                  <a:lnTo>
                    <a:pt x="0" y="50730"/>
                  </a:lnTo>
                  <a:lnTo>
                    <a:pt x="23982" y="25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949626" y="932628"/>
            <a:ext cx="481330" cy="292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57785">
              <a:lnSpc>
                <a:spcPct val="125000"/>
              </a:lnSpc>
              <a:spcBef>
                <a:spcPts val="9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Outlet</a:t>
            </a:r>
            <a:r>
              <a:rPr sz="7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tank  Outlet</a:t>
            </a:r>
            <a:r>
              <a:rPr sz="7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pipe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2066" y="498165"/>
            <a:ext cx="1271270" cy="696595"/>
            <a:chOff x="792066" y="498165"/>
            <a:chExt cx="1271270" cy="696595"/>
          </a:xfrm>
        </p:grpSpPr>
        <p:sp>
          <p:nvSpPr>
            <p:cNvPr id="15" name="object 15"/>
            <p:cNvSpPr/>
            <p:nvPr/>
          </p:nvSpPr>
          <p:spPr>
            <a:xfrm>
              <a:off x="860653" y="502292"/>
              <a:ext cx="1198245" cy="688340"/>
            </a:xfrm>
            <a:custGeom>
              <a:avLst/>
              <a:gdLst/>
              <a:ahLst/>
              <a:cxnLst/>
              <a:rect l="l" t="t" r="r" b="b"/>
              <a:pathLst>
                <a:path w="1198245" h="688340">
                  <a:moveTo>
                    <a:pt x="1090903" y="662375"/>
                  </a:moveTo>
                  <a:lnTo>
                    <a:pt x="961886" y="662375"/>
                  </a:lnTo>
                </a:path>
                <a:path w="1198245" h="688340">
                  <a:moveTo>
                    <a:pt x="985868" y="687740"/>
                  </a:moveTo>
                  <a:lnTo>
                    <a:pt x="961886" y="662375"/>
                  </a:lnTo>
                  <a:lnTo>
                    <a:pt x="985868" y="637010"/>
                  </a:lnTo>
                </a:path>
                <a:path w="1198245" h="688340">
                  <a:moveTo>
                    <a:pt x="1197936" y="168045"/>
                  </a:moveTo>
                  <a:lnTo>
                    <a:pt x="1149194" y="168045"/>
                  </a:lnTo>
                  <a:lnTo>
                    <a:pt x="1090459" y="284561"/>
                  </a:lnTo>
                </a:path>
                <a:path w="1198245" h="688340">
                  <a:moveTo>
                    <a:pt x="1122990" y="274086"/>
                  </a:moveTo>
                  <a:lnTo>
                    <a:pt x="1090459" y="284561"/>
                  </a:lnTo>
                  <a:lnTo>
                    <a:pt x="1080577" y="250247"/>
                  </a:lnTo>
                </a:path>
                <a:path w="1198245" h="688340">
                  <a:moveTo>
                    <a:pt x="23982" y="0"/>
                  </a:moveTo>
                  <a:lnTo>
                    <a:pt x="23982" y="119780"/>
                  </a:lnTo>
                </a:path>
                <a:path w="1198245" h="688340">
                  <a:moveTo>
                    <a:pt x="47964" y="94415"/>
                  </a:moveTo>
                  <a:lnTo>
                    <a:pt x="23982" y="119780"/>
                  </a:lnTo>
                  <a:lnTo>
                    <a:pt x="0" y="94415"/>
                  </a:lnTo>
                </a:path>
                <a:path w="1198245" h="688340">
                  <a:moveTo>
                    <a:pt x="6672" y="613547"/>
                  </a:moveTo>
                  <a:lnTo>
                    <a:pt x="126274" y="655717"/>
                  </a:lnTo>
                </a:path>
                <a:path w="1198245" h="688340">
                  <a:moveTo>
                    <a:pt x="111107" y="623634"/>
                  </a:moveTo>
                  <a:lnTo>
                    <a:pt x="126274" y="655717"/>
                  </a:lnTo>
                  <a:lnTo>
                    <a:pt x="95941" y="671758"/>
                  </a:lnTo>
                </a:path>
              </a:pathLst>
            </a:custGeom>
            <a:ln w="8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05177" y="701962"/>
              <a:ext cx="0" cy="419734"/>
            </a:xfrm>
            <a:custGeom>
              <a:avLst/>
              <a:gdLst/>
              <a:ahLst/>
              <a:cxnLst/>
              <a:rect l="l" t="t" r="r" b="b"/>
              <a:pathLst>
                <a:path h="419734">
                  <a:moveTo>
                    <a:pt x="0" y="419432"/>
                  </a:moveTo>
                  <a:lnTo>
                    <a:pt x="0" y="0"/>
                  </a:lnTo>
                </a:path>
              </a:pathLst>
            </a:custGeom>
            <a:ln w="239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96511" y="942909"/>
              <a:ext cx="594995" cy="50800"/>
            </a:xfrm>
            <a:custGeom>
              <a:avLst/>
              <a:gdLst/>
              <a:ahLst/>
              <a:cxnLst/>
              <a:rect l="l" t="t" r="r" b="b"/>
              <a:pathLst>
                <a:path w="594994" h="50800">
                  <a:moveTo>
                    <a:pt x="0" y="25365"/>
                  </a:moveTo>
                  <a:lnTo>
                    <a:pt x="594898" y="25365"/>
                  </a:lnTo>
                </a:path>
                <a:path w="594994" h="50800">
                  <a:moveTo>
                    <a:pt x="570916" y="50730"/>
                  </a:moveTo>
                  <a:lnTo>
                    <a:pt x="594898" y="25365"/>
                  </a:lnTo>
                  <a:lnTo>
                    <a:pt x="570916" y="0"/>
                  </a:lnTo>
                </a:path>
              </a:pathLst>
            </a:custGeom>
            <a:ln w="8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97832" y="889802"/>
            <a:ext cx="506730" cy="138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Central</a:t>
            </a:r>
            <a:r>
              <a:rPr sz="7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guide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7493" y="535739"/>
            <a:ext cx="1576705" cy="1151890"/>
            <a:chOff x="587493" y="535739"/>
            <a:chExt cx="1576705" cy="1151890"/>
          </a:xfrm>
        </p:grpSpPr>
        <p:sp>
          <p:nvSpPr>
            <p:cNvPr id="20" name="object 20"/>
            <p:cNvSpPr/>
            <p:nvPr/>
          </p:nvSpPr>
          <p:spPr>
            <a:xfrm>
              <a:off x="1180486" y="1074785"/>
              <a:ext cx="450215" cy="566420"/>
            </a:xfrm>
            <a:custGeom>
              <a:avLst/>
              <a:gdLst/>
              <a:ahLst/>
              <a:cxnLst/>
              <a:rect l="l" t="t" r="r" b="b"/>
              <a:pathLst>
                <a:path w="450214" h="566419">
                  <a:moveTo>
                    <a:pt x="49708" y="0"/>
                  </a:moveTo>
                  <a:lnTo>
                    <a:pt x="399674" y="0"/>
                  </a:lnTo>
                </a:path>
                <a:path w="450214" h="566419">
                  <a:moveTo>
                    <a:pt x="0" y="33291"/>
                  </a:moveTo>
                  <a:lnTo>
                    <a:pt x="450082" y="33291"/>
                  </a:lnTo>
                </a:path>
                <a:path w="450214" h="566419">
                  <a:moveTo>
                    <a:pt x="0" y="66583"/>
                  </a:moveTo>
                  <a:lnTo>
                    <a:pt x="450082" y="66583"/>
                  </a:lnTo>
                </a:path>
                <a:path w="450214" h="566419">
                  <a:moveTo>
                    <a:pt x="0" y="99864"/>
                  </a:moveTo>
                  <a:lnTo>
                    <a:pt x="450082" y="99864"/>
                  </a:lnTo>
                </a:path>
                <a:path w="450214" h="566419">
                  <a:moveTo>
                    <a:pt x="0" y="133156"/>
                  </a:moveTo>
                  <a:lnTo>
                    <a:pt x="450082" y="133156"/>
                  </a:lnTo>
                </a:path>
                <a:path w="450214" h="566419">
                  <a:moveTo>
                    <a:pt x="0" y="166448"/>
                  </a:moveTo>
                  <a:lnTo>
                    <a:pt x="450082" y="166448"/>
                  </a:lnTo>
                </a:path>
                <a:path w="450214" h="566419">
                  <a:moveTo>
                    <a:pt x="0" y="199728"/>
                  </a:moveTo>
                  <a:lnTo>
                    <a:pt x="450082" y="199728"/>
                  </a:lnTo>
                </a:path>
                <a:path w="450214" h="566419">
                  <a:moveTo>
                    <a:pt x="0" y="199728"/>
                  </a:moveTo>
                  <a:lnTo>
                    <a:pt x="450082" y="199728"/>
                  </a:lnTo>
                </a:path>
                <a:path w="450214" h="566419">
                  <a:moveTo>
                    <a:pt x="0" y="233020"/>
                  </a:moveTo>
                  <a:lnTo>
                    <a:pt x="450082" y="233020"/>
                  </a:lnTo>
                </a:path>
                <a:path w="450214" h="566419">
                  <a:moveTo>
                    <a:pt x="0" y="266312"/>
                  </a:moveTo>
                  <a:lnTo>
                    <a:pt x="450082" y="266312"/>
                  </a:lnTo>
                </a:path>
                <a:path w="450214" h="566419">
                  <a:moveTo>
                    <a:pt x="0" y="299592"/>
                  </a:moveTo>
                  <a:lnTo>
                    <a:pt x="450082" y="299592"/>
                  </a:lnTo>
                </a:path>
                <a:path w="450214" h="566419">
                  <a:moveTo>
                    <a:pt x="0" y="332884"/>
                  </a:moveTo>
                  <a:lnTo>
                    <a:pt x="450082" y="332884"/>
                  </a:lnTo>
                </a:path>
                <a:path w="450214" h="566419">
                  <a:moveTo>
                    <a:pt x="0" y="366176"/>
                  </a:moveTo>
                  <a:lnTo>
                    <a:pt x="450082" y="366176"/>
                  </a:lnTo>
                </a:path>
                <a:path w="450214" h="566419">
                  <a:moveTo>
                    <a:pt x="0" y="399456"/>
                  </a:moveTo>
                  <a:lnTo>
                    <a:pt x="450082" y="399456"/>
                  </a:lnTo>
                </a:path>
                <a:path w="450214" h="566419">
                  <a:moveTo>
                    <a:pt x="0" y="432748"/>
                  </a:moveTo>
                  <a:lnTo>
                    <a:pt x="450082" y="432748"/>
                  </a:lnTo>
                </a:path>
                <a:path w="450214" h="566419">
                  <a:moveTo>
                    <a:pt x="0" y="466029"/>
                  </a:moveTo>
                  <a:lnTo>
                    <a:pt x="450082" y="466029"/>
                  </a:lnTo>
                </a:path>
                <a:path w="450214" h="566419">
                  <a:moveTo>
                    <a:pt x="0" y="499321"/>
                  </a:moveTo>
                  <a:lnTo>
                    <a:pt x="450082" y="499321"/>
                  </a:lnTo>
                </a:path>
                <a:path w="450214" h="566419">
                  <a:moveTo>
                    <a:pt x="0" y="532613"/>
                  </a:moveTo>
                  <a:lnTo>
                    <a:pt x="450082" y="532613"/>
                  </a:lnTo>
                </a:path>
                <a:path w="450214" h="566419">
                  <a:moveTo>
                    <a:pt x="0" y="565893"/>
                  </a:moveTo>
                  <a:lnTo>
                    <a:pt x="450082" y="565893"/>
                  </a:lnTo>
                </a:path>
              </a:pathLst>
            </a:custGeom>
            <a:ln w="822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05177" y="543041"/>
              <a:ext cx="471805" cy="986155"/>
            </a:xfrm>
            <a:custGeom>
              <a:avLst/>
              <a:gdLst/>
              <a:ahLst/>
              <a:cxnLst/>
              <a:rect l="l" t="t" r="r" b="b"/>
              <a:pathLst>
                <a:path w="471805" h="986155">
                  <a:moveTo>
                    <a:pt x="105811" y="210990"/>
                  </a:moveTo>
                  <a:lnTo>
                    <a:pt x="105811" y="39104"/>
                  </a:lnTo>
                </a:path>
                <a:path w="471805" h="986155">
                  <a:moveTo>
                    <a:pt x="69837" y="189053"/>
                  </a:moveTo>
                  <a:lnTo>
                    <a:pt x="69837" y="1409"/>
                  </a:lnTo>
                </a:path>
                <a:path w="471805" h="986155">
                  <a:moveTo>
                    <a:pt x="105811" y="210990"/>
                  </a:moveTo>
                  <a:lnTo>
                    <a:pt x="174983" y="253277"/>
                  </a:lnTo>
                </a:path>
                <a:path w="471805" h="986155">
                  <a:moveTo>
                    <a:pt x="0" y="146402"/>
                  </a:moveTo>
                  <a:lnTo>
                    <a:pt x="69837" y="189053"/>
                  </a:lnTo>
                </a:path>
                <a:path w="471805" h="986155">
                  <a:moveTo>
                    <a:pt x="278907" y="39104"/>
                  </a:moveTo>
                  <a:lnTo>
                    <a:pt x="105811" y="39104"/>
                  </a:lnTo>
                </a:path>
                <a:path w="471805" h="986155">
                  <a:moveTo>
                    <a:pt x="278907" y="0"/>
                  </a:moveTo>
                  <a:lnTo>
                    <a:pt x="70059" y="0"/>
                  </a:lnTo>
                </a:path>
                <a:path w="471805" h="986155">
                  <a:moveTo>
                    <a:pt x="225390" y="985607"/>
                  </a:moveTo>
                  <a:lnTo>
                    <a:pt x="471655" y="340858"/>
                  </a:lnTo>
                </a:path>
                <a:path w="471805" h="986155">
                  <a:moveTo>
                    <a:pt x="373282" y="340858"/>
                  </a:moveTo>
                  <a:lnTo>
                    <a:pt x="471655" y="340858"/>
                  </a:lnTo>
                </a:path>
              </a:pathLst>
            </a:custGeom>
            <a:ln w="13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78460" y="793817"/>
              <a:ext cx="226695" cy="64769"/>
            </a:xfrm>
            <a:custGeom>
              <a:avLst/>
              <a:gdLst/>
              <a:ahLst/>
              <a:cxnLst/>
              <a:rect l="l" t="t" r="r" b="b"/>
              <a:pathLst>
                <a:path w="226694" h="64769">
                  <a:moveTo>
                    <a:pt x="0" y="0"/>
                  </a:moveTo>
                  <a:lnTo>
                    <a:pt x="226612" y="0"/>
                  </a:lnTo>
                </a:path>
                <a:path w="226694" h="64769">
                  <a:moveTo>
                    <a:pt x="0" y="34642"/>
                  </a:moveTo>
                  <a:lnTo>
                    <a:pt x="226612" y="34642"/>
                  </a:lnTo>
                </a:path>
                <a:path w="226694" h="64769">
                  <a:moveTo>
                    <a:pt x="0" y="64599"/>
                  </a:moveTo>
                  <a:lnTo>
                    <a:pt x="226612" y="64599"/>
                  </a:lnTo>
                </a:path>
              </a:pathLst>
            </a:custGeom>
            <a:ln w="822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374089" y="1131376"/>
              <a:ext cx="62946" cy="549253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74089" y="1131376"/>
              <a:ext cx="63500" cy="549275"/>
            </a:xfrm>
            <a:custGeom>
              <a:avLst/>
              <a:gdLst/>
              <a:ahLst/>
              <a:cxnLst/>
              <a:rect l="l" t="t" r="r" b="b"/>
              <a:pathLst>
                <a:path w="63500" h="549275">
                  <a:moveTo>
                    <a:pt x="0" y="549253"/>
                  </a:moveTo>
                  <a:lnTo>
                    <a:pt x="62946" y="549253"/>
                  </a:lnTo>
                  <a:lnTo>
                    <a:pt x="62946" y="0"/>
                  </a:lnTo>
                  <a:lnTo>
                    <a:pt x="0" y="0"/>
                  </a:lnTo>
                  <a:lnTo>
                    <a:pt x="0" y="549253"/>
                  </a:lnTo>
                  <a:close/>
                </a:path>
              </a:pathLst>
            </a:custGeom>
            <a:ln w="13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143912" y="1299081"/>
              <a:ext cx="650875" cy="147320"/>
            </a:xfrm>
            <a:custGeom>
              <a:avLst/>
              <a:gdLst/>
              <a:ahLst/>
              <a:cxnLst/>
              <a:rect l="l" t="t" r="r" b="b"/>
              <a:pathLst>
                <a:path w="650875" h="147319">
                  <a:moveTo>
                    <a:pt x="650313" y="121906"/>
                  </a:moveTo>
                  <a:lnTo>
                    <a:pt x="302567" y="121906"/>
                  </a:lnTo>
                </a:path>
                <a:path w="650875" h="147319">
                  <a:moveTo>
                    <a:pt x="326550" y="147271"/>
                  </a:moveTo>
                  <a:lnTo>
                    <a:pt x="302567" y="121906"/>
                  </a:lnTo>
                  <a:lnTo>
                    <a:pt x="326550" y="96540"/>
                  </a:lnTo>
                </a:path>
                <a:path w="650875" h="147319">
                  <a:moveTo>
                    <a:pt x="0" y="0"/>
                  </a:moveTo>
                  <a:lnTo>
                    <a:pt x="23982" y="25365"/>
                  </a:lnTo>
                  <a:lnTo>
                    <a:pt x="0" y="50730"/>
                  </a:lnTo>
                </a:path>
              </a:pathLst>
            </a:custGeom>
            <a:ln w="8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71668" y="598822"/>
              <a:ext cx="419734" cy="198120"/>
            </a:xfrm>
            <a:custGeom>
              <a:avLst/>
              <a:gdLst/>
              <a:ahLst/>
              <a:cxnLst/>
              <a:rect l="l" t="t" r="r" b="b"/>
              <a:pathLst>
                <a:path w="419734" h="198120">
                  <a:moveTo>
                    <a:pt x="77632" y="197497"/>
                  </a:moveTo>
                  <a:lnTo>
                    <a:pt x="77632" y="0"/>
                  </a:lnTo>
                </a:path>
                <a:path w="419734" h="198120">
                  <a:moveTo>
                    <a:pt x="341672" y="197497"/>
                  </a:moveTo>
                  <a:lnTo>
                    <a:pt x="341672" y="0"/>
                  </a:lnTo>
                </a:path>
                <a:path w="419734" h="198120">
                  <a:moveTo>
                    <a:pt x="0" y="0"/>
                  </a:moveTo>
                  <a:lnTo>
                    <a:pt x="77632" y="0"/>
                  </a:lnTo>
                </a:path>
                <a:path w="419734" h="198120">
                  <a:moveTo>
                    <a:pt x="341672" y="0"/>
                  </a:moveTo>
                  <a:lnTo>
                    <a:pt x="419304" y="0"/>
                  </a:lnTo>
                </a:path>
              </a:pathLst>
            </a:custGeom>
            <a:ln w="13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49301" y="629119"/>
              <a:ext cx="264160" cy="134620"/>
            </a:xfrm>
            <a:custGeom>
              <a:avLst/>
              <a:gdLst/>
              <a:ahLst/>
              <a:cxnLst/>
              <a:rect l="l" t="t" r="r" b="b"/>
              <a:pathLst>
                <a:path w="264159" h="134620">
                  <a:moveTo>
                    <a:pt x="0" y="134424"/>
                  </a:moveTo>
                  <a:lnTo>
                    <a:pt x="264040" y="134424"/>
                  </a:lnTo>
                </a:path>
                <a:path w="264159" h="134620">
                  <a:moveTo>
                    <a:pt x="0" y="99840"/>
                  </a:moveTo>
                  <a:lnTo>
                    <a:pt x="264040" y="99840"/>
                  </a:lnTo>
                </a:path>
                <a:path w="264159" h="134620">
                  <a:moveTo>
                    <a:pt x="0" y="66560"/>
                  </a:moveTo>
                  <a:lnTo>
                    <a:pt x="264040" y="66560"/>
                  </a:lnTo>
                </a:path>
                <a:path w="264159" h="134620">
                  <a:moveTo>
                    <a:pt x="0" y="33268"/>
                  </a:moveTo>
                  <a:lnTo>
                    <a:pt x="264040" y="33268"/>
                  </a:lnTo>
                </a:path>
                <a:path w="264159" h="134620">
                  <a:moveTo>
                    <a:pt x="0" y="0"/>
                  </a:moveTo>
                  <a:lnTo>
                    <a:pt x="264040" y="0"/>
                  </a:lnTo>
                </a:path>
              </a:pathLst>
            </a:custGeom>
            <a:ln w="8224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1938" y="798503"/>
              <a:ext cx="1567815" cy="26670"/>
            </a:xfrm>
            <a:custGeom>
              <a:avLst/>
              <a:gdLst/>
              <a:ahLst/>
              <a:cxnLst/>
              <a:rect l="l" t="t" r="r" b="b"/>
              <a:pathLst>
                <a:path w="1567814" h="26669">
                  <a:moveTo>
                    <a:pt x="0" y="26633"/>
                  </a:moveTo>
                  <a:lnTo>
                    <a:pt x="25181" y="0"/>
                  </a:lnTo>
                  <a:lnTo>
                    <a:pt x="50363" y="26633"/>
                  </a:lnTo>
                </a:path>
                <a:path w="1567814" h="26669">
                  <a:moveTo>
                    <a:pt x="25181" y="26633"/>
                  </a:moveTo>
                  <a:lnTo>
                    <a:pt x="50363" y="0"/>
                  </a:lnTo>
                  <a:lnTo>
                    <a:pt x="75533" y="26633"/>
                  </a:lnTo>
                </a:path>
                <a:path w="1567814" h="26669">
                  <a:moveTo>
                    <a:pt x="84982" y="26633"/>
                  </a:moveTo>
                  <a:lnTo>
                    <a:pt x="110152" y="0"/>
                  </a:lnTo>
                  <a:lnTo>
                    <a:pt x="135334" y="26633"/>
                  </a:lnTo>
                </a:path>
                <a:path w="1567814" h="26669">
                  <a:moveTo>
                    <a:pt x="61377" y="26633"/>
                  </a:moveTo>
                  <a:lnTo>
                    <a:pt x="86547" y="0"/>
                  </a:lnTo>
                  <a:lnTo>
                    <a:pt x="111729" y="26633"/>
                  </a:lnTo>
                </a:path>
                <a:path w="1567814" h="26669">
                  <a:moveTo>
                    <a:pt x="1432009" y="26633"/>
                  </a:moveTo>
                  <a:lnTo>
                    <a:pt x="1457213" y="0"/>
                  </a:lnTo>
                  <a:lnTo>
                    <a:pt x="1482417" y="26633"/>
                  </a:lnTo>
                </a:path>
                <a:path w="1567814" h="26669">
                  <a:moveTo>
                    <a:pt x="1457213" y="26633"/>
                  </a:moveTo>
                  <a:lnTo>
                    <a:pt x="1482417" y="0"/>
                  </a:lnTo>
                  <a:lnTo>
                    <a:pt x="1507510" y="26633"/>
                  </a:lnTo>
                </a:path>
                <a:path w="1567814" h="26669">
                  <a:moveTo>
                    <a:pt x="1517058" y="26633"/>
                  </a:moveTo>
                  <a:lnTo>
                    <a:pt x="1542151" y="0"/>
                  </a:lnTo>
                  <a:lnTo>
                    <a:pt x="1567355" y="26633"/>
                  </a:lnTo>
                </a:path>
                <a:path w="1567814" h="26669">
                  <a:moveTo>
                    <a:pt x="1493409" y="26633"/>
                  </a:moveTo>
                  <a:lnTo>
                    <a:pt x="1518613" y="0"/>
                  </a:lnTo>
                  <a:lnTo>
                    <a:pt x="1543705" y="26633"/>
                  </a:lnTo>
                </a:path>
              </a:pathLst>
            </a:custGeom>
            <a:ln w="8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81106" y="1342526"/>
            <a:ext cx="1413510" cy="4648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19480">
              <a:lnSpc>
                <a:spcPct val="100000"/>
              </a:lnSpc>
              <a:spcBef>
                <a:spcPts val="140"/>
              </a:spcBef>
            </a:pPr>
            <a:r>
              <a:rPr sz="700" spc="-5" dirty="0">
                <a:latin typeface="Times New Roman" panose="02020603050405020304"/>
                <a:cs typeface="Times New Roman" panose="02020603050405020304"/>
              </a:rPr>
              <a:t>Partition</a:t>
            </a:r>
            <a:r>
              <a:rPr sz="7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700" spc="-5" dirty="0">
                <a:latin typeface="Times New Roman" panose="02020603050405020304"/>
                <a:cs typeface="Times New Roman" panose="02020603050405020304"/>
              </a:rPr>
              <a:t>wall</a:t>
            </a:r>
            <a:endParaRPr sz="7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700" b="1" i="1" spc="-5" dirty="0">
                <a:latin typeface="Times New Roman" panose="02020603050405020304"/>
                <a:cs typeface="Times New Roman" panose="02020603050405020304"/>
              </a:rPr>
              <a:t>Floating dome type digester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30270" y="808485"/>
            <a:ext cx="48260" cy="133350"/>
            <a:chOff x="1430270" y="808485"/>
            <a:chExt cx="48260" cy="133350"/>
          </a:xfrm>
        </p:grpSpPr>
        <p:sp>
          <p:nvSpPr>
            <p:cNvPr id="31" name="object 31"/>
            <p:cNvSpPr/>
            <p:nvPr/>
          </p:nvSpPr>
          <p:spPr>
            <a:xfrm>
              <a:off x="1454252" y="828777"/>
              <a:ext cx="0" cy="92710"/>
            </a:xfrm>
            <a:custGeom>
              <a:avLst/>
              <a:gdLst/>
              <a:ahLst/>
              <a:cxnLst/>
              <a:rect l="l" t="t" r="r" b="b"/>
              <a:pathLst>
                <a:path h="92709">
                  <a:moveTo>
                    <a:pt x="0" y="0"/>
                  </a:moveTo>
                  <a:lnTo>
                    <a:pt x="0" y="92571"/>
                  </a:lnTo>
                </a:path>
              </a:pathLst>
            </a:custGeom>
            <a:ln w="7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430261" y="808494"/>
              <a:ext cx="48260" cy="133350"/>
            </a:xfrm>
            <a:custGeom>
              <a:avLst/>
              <a:gdLst/>
              <a:ahLst/>
              <a:cxnLst/>
              <a:rect l="l" t="t" r="r" b="b"/>
              <a:pathLst>
                <a:path w="48259" h="133350">
                  <a:moveTo>
                    <a:pt x="47967" y="107784"/>
                  </a:moveTo>
                  <a:lnTo>
                    <a:pt x="0" y="107784"/>
                  </a:lnTo>
                  <a:lnTo>
                    <a:pt x="23990" y="133146"/>
                  </a:lnTo>
                  <a:lnTo>
                    <a:pt x="47967" y="107784"/>
                  </a:lnTo>
                  <a:close/>
                </a:path>
                <a:path w="48259" h="133350">
                  <a:moveTo>
                    <a:pt x="47967" y="25361"/>
                  </a:moveTo>
                  <a:lnTo>
                    <a:pt x="23990" y="0"/>
                  </a:lnTo>
                  <a:lnTo>
                    <a:pt x="0" y="25361"/>
                  </a:lnTo>
                  <a:lnTo>
                    <a:pt x="47967" y="253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462530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58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5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356" y="44958"/>
            <a:ext cx="21037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/>
              <a:t>Biogas </a:t>
            </a:r>
            <a:r>
              <a:rPr sz="1050" spc="-5" dirty="0"/>
              <a:t>plant- </a:t>
            </a:r>
            <a:r>
              <a:rPr sz="1050" dirty="0"/>
              <a:t>fixed dome</a:t>
            </a:r>
            <a:r>
              <a:rPr sz="1050" spc="-35" dirty="0"/>
              <a:t> </a:t>
            </a:r>
            <a:r>
              <a:rPr sz="1050" spc="-5" dirty="0"/>
              <a:t>type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84226" y="258572"/>
            <a:ext cx="2515870" cy="17049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935" marR="7620" indent="-102870" algn="just">
              <a:lnSpc>
                <a:spcPct val="102000"/>
              </a:lnSpc>
              <a:spcBef>
                <a:spcPts val="90"/>
              </a:spcBef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pressure inside the digester increases as </a:t>
            </a: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biogas is </a:t>
            </a:r>
            <a:r>
              <a:rPr sz="550" spc="-5" dirty="0">
                <a:latin typeface="Bookman Uralic"/>
                <a:cs typeface="Bookman Uralic"/>
              </a:rPr>
              <a:t>liberated.  The </a:t>
            </a:r>
            <a:r>
              <a:rPr sz="550" dirty="0">
                <a:latin typeface="Bookman Uralic"/>
                <a:cs typeface="Bookman Uralic"/>
              </a:rPr>
              <a:t>biogas gets collected in the upper portion of </a:t>
            </a: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digester </a:t>
            </a:r>
            <a:r>
              <a:rPr sz="550" spc="5" dirty="0">
                <a:latin typeface="Bookman Uralic"/>
                <a:cs typeface="Bookman Uralic"/>
              </a:rPr>
              <a:t>in </a:t>
            </a:r>
            <a:r>
              <a:rPr sz="550" dirty="0">
                <a:latin typeface="Bookman Uralic"/>
                <a:cs typeface="Bookman Uralic"/>
              </a:rPr>
              <a:t>a  dome shaped</a:t>
            </a:r>
            <a:r>
              <a:rPr sz="550" spc="20" dirty="0">
                <a:latin typeface="Bookman Uralic"/>
                <a:cs typeface="Bookman Uralic"/>
              </a:rPr>
              <a:t> </a:t>
            </a:r>
            <a:r>
              <a:rPr sz="550" spc="-5" dirty="0">
                <a:latin typeface="Bookman Uralic"/>
                <a:cs typeface="Bookman Uralic"/>
              </a:rPr>
              <a:t>cavity.</a:t>
            </a:r>
            <a:endParaRPr sz="550">
              <a:latin typeface="Bookman Uralic"/>
              <a:cs typeface="Bookman Uralic"/>
            </a:endParaRPr>
          </a:p>
          <a:p>
            <a:pPr marL="114935" indent="-102870">
              <a:lnSpc>
                <a:spcPct val="100000"/>
              </a:lnSpc>
              <a:spcBef>
                <a:spcPts val="525"/>
              </a:spcBef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-10" dirty="0">
                <a:latin typeface="Bookman Uralic"/>
                <a:cs typeface="Bookman Uralic"/>
              </a:rPr>
              <a:t>The </a:t>
            </a:r>
            <a:r>
              <a:rPr sz="550" spc="-5" dirty="0">
                <a:latin typeface="Bookman Uralic"/>
                <a:cs typeface="Bookman Uralic"/>
              </a:rPr>
              <a:t>outlet </a:t>
            </a:r>
            <a:r>
              <a:rPr sz="550" dirty="0">
                <a:latin typeface="Bookman Uralic"/>
                <a:cs typeface="Bookman Uralic"/>
              </a:rPr>
              <a:t>pipe is provided at </a:t>
            </a:r>
            <a:r>
              <a:rPr sz="550" spc="-5" dirty="0">
                <a:latin typeface="Bookman Uralic"/>
                <a:cs typeface="Bookman Uralic"/>
              </a:rPr>
              <a:t>the top </a:t>
            </a:r>
            <a:r>
              <a:rPr sz="550" dirty="0">
                <a:latin typeface="Bookman Uralic"/>
                <a:cs typeface="Bookman Uralic"/>
              </a:rPr>
              <a:t>of </a:t>
            </a: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fixed</a:t>
            </a:r>
            <a:r>
              <a:rPr sz="550" spc="15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dome.</a:t>
            </a:r>
            <a:endParaRPr sz="550">
              <a:latin typeface="Bookman Uralic"/>
              <a:cs typeface="Bookman Uralic"/>
            </a:endParaRPr>
          </a:p>
          <a:p>
            <a:pPr marL="114935" marR="7620" indent="-102870" algn="just">
              <a:lnSpc>
                <a:spcPct val="102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fixed dome </a:t>
            </a:r>
            <a:r>
              <a:rPr sz="550" spc="-5" dirty="0">
                <a:latin typeface="Bookman Uralic"/>
                <a:cs typeface="Bookman Uralic"/>
              </a:rPr>
              <a:t>type </a:t>
            </a:r>
            <a:r>
              <a:rPr sz="550" dirty="0">
                <a:latin typeface="Bookman Uralic"/>
                <a:cs typeface="Bookman Uralic"/>
              </a:rPr>
              <a:t>digester can be fed on daily basis </a:t>
            </a:r>
            <a:r>
              <a:rPr sz="550" spc="-5" dirty="0">
                <a:latin typeface="Bookman Uralic"/>
                <a:cs typeface="Bookman Uralic"/>
              </a:rPr>
              <a:t>with </a:t>
            </a:r>
            <a:r>
              <a:rPr sz="550" dirty="0">
                <a:latin typeface="Bookman Uralic"/>
                <a:cs typeface="Bookman Uralic"/>
              </a:rPr>
              <a:t>small  </a:t>
            </a:r>
            <a:r>
              <a:rPr sz="550" spc="-5" dirty="0">
                <a:latin typeface="Bookman Uralic"/>
                <a:cs typeface="Bookman Uralic"/>
              </a:rPr>
              <a:t>quantities </a:t>
            </a:r>
            <a:r>
              <a:rPr sz="550" dirty="0">
                <a:latin typeface="Bookman Uralic"/>
                <a:cs typeface="Bookman Uralic"/>
              </a:rPr>
              <a:t>of </a:t>
            </a:r>
            <a:r>
              <a:rPr sz="550" spc="-5" dirty="0">
                <a:latin typeface="Bookman Uralic"/>
                <a:cs typeface="Bookman Uralic"/>
              </a:rPr>
              <a:t>the</a:t>
            </a:r>
            <a:r>
              <a:rPr sz="550" spc="60" dirty="0">
                <a:latin typeface="Bookman Uralic"/>
                <a:cs typeface="Bookman Uralic"/>
              </a:rPr>
              <a:t> </a:t>
            </a:r>
            <a:r>
              <a:rPr sz="550" spc="-5" dirty="0">
                <a:latin typeface="Bookman Uralic"/>
                <a:cs typeface="Bookman Uralic"/>
              </a:rPr>
              <a:t>slurry.</a:t>
            </a:r>
            <a:endParaRPr sz="550">
              <a:latin typeface="Bookman Uralic"/>
              <a:cs typeface="Bookman Ural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 panose="05000000000000000000"/>
              <a:buChar char=""/>
            </a:pPr>
            <a:endParaRPr sz="450">
              <a:latin typeface="Bookman Uralic"/>
              <a:cs typeface="Bookman Uralic"/>
            </a:endParaRPr>
          </a:p>
          <a:p>
            <a:pPr marL="114935" indent="-102870">
              <a:lnSpc>
                <a:spcPct val="100000"/>
              </a:lnSpc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excess slurry in the digester </a:t>
            </a:r>
            <a:r>
              <a:rPr sz="550" spc="-5" dirty="0">
                <a:latin typeface="Bookman Uralic"/>
                <a:cs typeface="Bookman Uralic"/>
              </a:rPr>
              <a:t>gets accommodated </a:t>
            </a:r>
            <a:r>
              <a:rPr sz="550" dirty="0">
                <a:latin typeface="Bookman Uralic"/>
                <a:cs typeface="Bookman Uralic"/>
              </a:rPr>
              <a:t>in </a:t>
            </a:r>
            <a:r>
              <a:rPr sz="550" spc="-5" dirty="0">
                <a:latin typeface="Bookman Uralic"/>
                <a:cs typeface="Bookman Uralic"/>
              </a:rPr>
              <a:t>the</a:t>
            </a:r>
            <a:endParaRPr sz="550">
              <a:latin typeface="Bookman Uralic"/>
              <a:cs typeface="Bookman Uralic"/>
            </a:endParaRPr>
          </a:p>
          <a:p>
            <a:pPr marL="114935">
              <a:lnSpc>
                <a:spcPct val="100000"/>
              </a:lnSpc>
            </a:pPr>
            <a:r>
              <a:rPr sz="550" dirty="0">
                <a:latin typeface="Bookman Uralic"/>
                <a:cs typeface="Bookman Uralic"/>
              </a:rPr>
              <a:t>displacement</a:t>
            </a:r>
            <a:r>
              <a:rPr sz="550" spc="1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chamber.</a:t>
            </a:r>
            <a:endParaRPr sz="550">
              <a:latin typeface="Bookman Uralic"/>
              <a:cs typeface="Bookman Uralic"/>
            </a:endParaRPr>
          </a:p>
          <a:p>
            <a:pPr marL="114935" marR="7620" indent="-102870" algn="just">
              <a:lnSpc>
                <a:spcPct val="102000"/>
              </a:lnSpc>
              <a:spcBef>
                <a:spcPts val="530"/>
              </a:spcBef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dirty="0">
                <a:latin typeface="Bookman Uralic"/>
                <a:cs typeface="Bookman Uralic"/>
              </a:rPr>
              <a:t>In </a:t>
            </a: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fixed dome </a:t>
            </a:r>
            <a:r>
              <a:rPr sz="550" spc="-5" dirty="0">
                <a:latin typeface="Bookman Uralic"/>
                <a:cs typeface="Bookman Uralic"/>
              </a:rPr>
              <a:t>type </a:t>
            </a:r>
            <a:r>
              <a:rPr sz="550" dirty="0">
                <a:latin typeface="Bookman Uralic"/>
                <a:cs typeface="Bookman Uralic"/>
              </a:rPr>
              <a:t>digester biogas plant (</a:t>
            </a:r>
            <a:r>
              <a:rPr sz="550" b="1" i="1" dirty="0">
                <a:latin typeface="TeX Gyre Bonum"/>
                <a:cs typeface="TeX Gyre Bonum"/>
              </a:rPr>
              <a:t>constant volume</a:t>
            </a:r>
            <a:r>
              <a:rPr sz="550" dirty="0">
                <a:latin typeface="Bookman Uralic"/>
                <a:cs typeface="Bookman Uralic"/>
              </a:rPr>
              <a:t>), </a:t>
            </a:r>
            <a:r>
              <a:rPr sz="550" spc="-5" dirty="0">
                <a:latin typeface="Bookman Uralic"/>
                <a:cs typeface="Bookman Uralic"/>
              </a:rPr>
              <a:t>the  digester </a:t>
            </a:r>
            <a:r>
              <a:rPr sz="550" dirty="0">
                <a:latin typeface="Bookman Uralic"/>
                <a:cs typeface="Bookman Uralic"/>
              </a:rPr>
              <a:t>and gas-collector (gas dome) </a:t>
            </a:r>
            <a:r>
              <a:rPr sz="550" spc="-5" dirty="0">
                <a:latin typeface="Bookman Uralic"/>
                <a:cs typeface="Bookman Uralic"/>
              </a:rPr>
              <a:t>are </a:t>
            </a:r>
            <a:r>
              <a:rPr sz="550" dirty="0">
                <a:latin typeface="Bookman Uralic"/>
                <a:cs typeface="Bookman Uralic"/>
              </a:rPr>
              <a:t>enclosed in the same  </a:t>
            </a:r>
            <a:r>
              <a:rPr sz="550" spc="-5" dirty="0">
                <a:latin typeface="Bookman Uralic"/>
                <a:cs typeface="Bookman Uralic"/>
              </a:rPr>
              <a:t>chamber.</a:t>
            </a:r>
            <a:endParaRPr sz="550">
              <a:latin typeface="Bookman Uralic"/>
              <a:cs typeface="Bookman Uralic"/>
            </a:endParaRPr>
          </a:p>
          <a:p>
            <a:pPr marL="114935" marR="5080" indent="-102870" algn="just">
              <a:lnSpc>
                <a:spcPct val="102000"/>
              </a:lnSpc>
              <a:spcBef>
                <a:spcPts val="515"/>
              </a:spcBef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-5" dirty="0">
                <a:latin typeface="Bookman Uralic"/>
                <a:cs typeface="Bookman Uralic"/>
              </a:rPr>
              <a:t>The </a:t>
            </a:r>
            <a:r>
              <a:rPr sz="550" dirty="0">
                <a:latin typeface="Bookman Uralic"/>
                <a:cs typeface="Bookman Uralic"/>
              </a:rPr>
              <a:t>digester is conveniently built at or below </a:t>
            </a:r>
            <a:r>
              <a:rPr sz="550" spc="-5" dirty="0">
                <a:latin typeface="Bookman Uralic"/>
                <a:cs typeface="Bookman Uralic"/>
              </a:rPr>
              <a:t>ground </a:t>
            </a:r>
            <a:r>
              <a:rPr sz="550" dirty="0">
                <a:latin typeface="Bookman Uralic"/>
                <a:cs typeface="Bookman Uralic"/>
              </a:rPr>
              <a:t>level </a:t>
            </a:r>
            <a:r>
              <a:rPr sz="550" spc="10" dirty="0">
                <a:latin typeface="Bookman Uralic"/>
                <a:cs typeface="Bookman Uralic"/>
              </a:rPr>
              <a:t>in  </a:t>
            </a:r>
            <a:r>
              <a:rPr sz="550" spc="-5" dirty="0">
                <a:latin typeface="Bookman Uralic"/>
                <a:cs typeface="Bookman Uralic"/>
              </a:rPr>
              <a:t>comparatively </a:t>
            </a:r>
            <a:r>
              <a:rPr sz="550" dirty="0">
                <a:latin typeface="Bookman Uralic"/>
                <a:cs typeface="Bookman Uralic"/>
              </a:rPr>
              <a:t>cooler</a:t>
            </a:r>
            <a:r>
              <a:rPr sz="550" spc="4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zone.</a:t>
            </a:r>
            <a:endParaRPr sz="550">
              <a:latin typeface="Bookman Uralic"/>
              <a:cs typeface="Bookman Uralic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 panose="05000000000000000000"/>
              <a:buChar char=""/>
            </a:pPr>
            <a:endParaRPr sz="450">
              <a:latin typeface="Bookman Uralic"/>
              <a:cs typeface="Bookman Uralic"/>
            </a:endParaRPr>
          </a:p>
          <a:p>
            <a:pPr marL="114935" indent="-102870">
              <a:lnSpc>
                <a:spcPct val="100000"/>
              </a:lnSpc>
              <a:buFont typeface="Wingdings" panose="05000000000000000000"/>
              <a:buChar char=""/>
              <a:tabLst>
                <a:tab pos="115570" algn="l"/>
              </a:tabLst>
            </a:pPr>
            <a:r>
              <a:rPr sz="550" spc="-5" dirty="0">
                <a:latin typeface="Bookman Uralic"/>
                <a:cs typeface="Bookman Uralic"/>
              </a:rPr>
              <a:t>The</a:t>
            </a:r>
            <a:r>
              <a:rPr sz="550" spc="70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slurry</a:t>
            </a:r>
            <a:r>
              <a:rPr sz="550" spc="7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(</a:t>
            </a:r>
            <a:r>
              <a:rPr sz="550" b="1" i="1" dirty="0">
                <a:latin typeface="TeX Gyre Bonum"/>
                <a:cs typeface="TeX Gyre Bonum"/>
              </a:rPr>
              <a:t>cattle</a:t>
            </a:r>
            <a:r>
              <a:rPr sz="550" b="1" i="1" spc="60" dirty="0">
                <a:latin typeface="TeX Gyre Bonum"/>
                <a:cs typeface="TeX Gyre Bonum"/>
              </a:rPr>
              <a:t> </a:t>
            </a:r>
            <a:r>
              <a:rPr sz="550" b="1" i="1" dirty="0">
                <a:latin typeface="TeX Gyre Bonum"/>
                <a:cs typeface="TeX Gyre Bonum"/>
              </a:rPr>
              <a:t>dung</a:t>
            </a:r>
            <a:r>
              <a:rPr sz="550" b="1" i="1" spc="55" dirty="0">
                <a:latin typeface="TeX Gyre Bonum"/>
                <a:cs typeface="TeX Gyre Bonum"/>
              </a:rPr>
              <a:t> </a:t>
            </a:r>
            <a:r>
              <a:rPr sz="550" spc="-5" dirty="0">
                <a:latin typeface="Bookman Uralic"/>
                <a:cs typeface="Bookman Uralic"/>
              </a:rPr>
              <a:t>and</a:t>
            </a:r>
            <a:r>
              <a:rPr sz="550" spc="7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water</a:t>
            </a:r>
            <a:r>
              <a:rPr sz="550" spc="60" dirty="0">
                <a:latin typeface="Bookman Uralic"/>
                <a:cs typeface="Bookman Uralic"/>
              </a:rPr>
              <a:t> </a:t>
            </a:r>
            <a:r>
              <a:rPr sz="550" spc="5" dirty="0">
                <a:latin typeface="Bookman Uralic"/>
                <a:cs typeface="Bookman Uralic"/>
              </a:rPr>
              <a:t>in</a:t>
            </a:r>
            <a:r>
              <a:rPr sz="550" spc="6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the</a:t>
            </a:r>
            <a:r>
              <a:rPr sz="550" spc="7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ration</a:t>
            </a:r>
            <a:r>
              <a:rPr sz="550" spc="6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1:1</a:t>
            </a:r>
            <a:r>
              <a:rPr sz="550" spc="65" dirty="0">
                <a:latin typeface="Bookman Uralic"/>
                <a:cs typeface="Bookman Uralic"/>
              </a:rPr>
              <a:t> </a:t>
            </a:r>
            <a:r>
              <a:rPr sz="550" dirty="0">
                <a:latin typeface="Bookman Uralic"/>
                <a:cs typeface="Bookman Uralic"/>
              </a:rPr>
              <a:t>for</a:t>
            </a:r>
            <a:r>
              <a:rPr sz="550" spc="55" dirty="0">
                <a:latin typeface="Bookman Uralic"/>
                <a:cs typeface="Bookman Uralic"/>
              </a:rPr>
              <a:t> </a:t>
            </a:r>
            <a:r>
              <a:rPr sz="550" b="1" i="1" dirty="0">
                <a:latin typeface="TeX Gyre Bonum"/>
                <a:cs typeface="TeX Gyre Bonum"/>
              </a:rPr>
              <a:t>gobar</a:t>
            </a:r>
            <a:r>
              <a:rPr sz="550" b="1" i="1" spc="65" dirty="0">
                <a:latin typeface="TeX Gyre Bonum"/>
                <a:cs typeface="TeX Gyre Bonum"/>
              </a:rPr>
              <a:t> </a:t>
            </a:r>
            <a:r>
              <a:rPr sz="550" b="1" i="1" spc="-5" dirty="0">
                <a:latin typeface="TeX Gyre Bonum"/>
                <a:cs typeface="TeX Gyre Bonum"/>
              </a:rPr>
              <a:t>gas</a:t>
            </a:r>
            <a:r>
              <a:rPr sz="550" b="1" i="1" spc="-10" dirty="0">
                <a:latin typeface="TeX Gyre Bonum"/>
                <a:cs typeface="TeX Gyre Bonum"/>
              </a:rPr>
              <a:t>plant</a:t>
            </a:r>
            <a:r>
              <a:rPr sz="550" spc="-10" dirty="0">
                <a:latin typeface="Bookman Uralic"/>
                <a:cs typeface="Bookman Uralic"/>
              </a:rPr>
              <a:t>) </a:t>
            </a:r>
            <a:r>
              <a:rPr sz="550" dirty="0">
                <a:latin typeface="Bookman Uralic"/>
                <a:cs typeface="Bookman Uralic"/>
              </a:rPr>
              <a:t>is fed from </a:t>
            </a:r>
            <a:r>
              <a:rPr sz="550" spc="-5" dirty="0">
                <a:latin typeface="Bookman Uralic"/>
                <a:cs typeface="Bookman Uralic"/>
              </a:rPr>
              <a:t>the</a:t>
            </a:r>
            <a:r>
              <a:rPr sz="550" spc="75" dirty="0">
                <a:latin typeface="Bookman Uralic"/>
                <a:cs typeface="Bookman Uralic"/>
              </a:rPr>
              <a:t> </a:t>
            </a:r>
            <a:r>
              <a:rPr sz="550" spc="-5" dirty="0">
                <a:latin typeface="Bookman Uralic"/>
                <a:cs typeface="Bookman Uralic"/>
              </a:rPr>
              <a:t>inlet.</a:t>
            </a:r>
            <a:endParaRPr sz="550">
              <a:latin typeface="Bookman Uralic"/>
              <a:cs typeface="Bookman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568325" marR="5080" indent="-532130">
              <a:lnSpc>
                <a:spcPct val="104000"/>
              </a:lnSpc>
              <a:spcBef>
                <a:spcPts val="85"/>
              </a:spcBef>
            </a:pPr>
            <a:r>
              <a:rPr spc="20" dirty="0"/>
              <a:t>Comparing </a:t>
            </a:r>
            <a:r>
              <a:rPr spc="15" dirty="0"/>
              <a:t>fixed </a:t>
            </a:r>
            <a:r>
              <a:rPr spc="20" dirty="0"/>
              <a:t>dome </a:t>
            </a:r>
            <a:r>
              <a:rPr spc="15" dirty="0"/>
              <a:t>and floating  </a:t>
            </a:r>
            <a:r>
              <a:rPr spc="20" dirty="0"/>
              <a:t>drum </a:t>
            </a:r>
            <a:r>
              <a:rPr spc="15" dirty="0"/>
              <a:t>biogas</a:t>
            </a:r>
            <a:r>
              <a:rPr spc="20" dirty="0"/>
              <a:t> </a:t>
            </a:r>
            <a:r>
              <a:rPr spc="15" dirty="0"/>
              <a:t>plant</a:t>
            </a:r>
            <a:endParaRPr spc="1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7682" y="512106"/>
          <a:ext cx="2418715" cy="1278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2215"/>
                <a:gridCol w="1200785"/>
              </a:tblGrid>
              <a:tr h="139319">
                <a:tc>
                  <a:txBody>
                    <a:bodyPr/>
                    <a:lstStyle/>
                    <a:p>
                      <a:pPr marL="41656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500" b="1" i="1" spc="10" dirty="0">
                          <a:latin typeface="TeX Gyre Bonum"/>
                          <a:cs typeface="TeX Gyre Bonum"/>
                        </a:rPr>
                        <a:t>Fixed</a:t>
                      </a:r>
                      <a:r>
                        <a:rPr sz="500" b="1" i="1" dirty="0">
                          <a:latin typeface="TeX Gyre Bonum"/>
                          <a:cs typeface="TeX Gyre Bonum"/>
                        </a:rPr>
                        <a:t> </a:t>
                      </a:r>
                      <a:r>
                        <a:rPr sz="500" b="1" i="1" spc="15" dirty="0">
                          <a:latin typeface="TeX Gyre Bonum"/>
                          <a:cs typeface="TeX Gyre Bonum"/>
                        </a:rPr>
                        <a:t>dome</a:t>
                      </a:r>
                      <a:endParaRPr sz="500">
                        <a:latin typeface="TeX Gyre Bonum"/>
                        <a:cs typeface="TeX Gyre Bonum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500" b="1" i="1" spc="10" dirty="0">
                          <a:latin typeface="TeX Gyre Bonum"/>
                          <a:cs typeface="TeX Gyre Bonum"/>
                        </a:rPr>
                        <a:t>Floating</a:t>
                      </a:r>
                      <a:r>
                        <a:rPr sz="500" b="1" i="1" dirty="0">
                          <a:latin typeface="TeX Gyre Bonum"/>
                          <a:cs typeface="TeX Gyre Bonum"/>
                        </a:rPr>
                        <a:t> </a:t>
                      </a:r>
                      <a:r>
                        <a:rPr sz="500" b="1" i="1" spc="15" dirty="0">
                          <a:latin typeface="TeX Gyre Bonum"/>
                          <a:cs typeface="TeX Gyre Bonum"/>
                        </a:rPr>
                        <a:t>drum</a:t>
                      </a:r>
                      <a:endParaRPr sz="500">
                        <a:latin typeface="TeX Gyre Bonum"/>
                        <a:cs typeface="TeX Gyre Bonum"/>
                      </a:endParaRPr>
                    </a:p>
                  </a:txBody>
                  <a:tcPr marL="0" marR="0" marT="3238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653">
                <a:tc>
                  <a:txBody>
                    <a:bodyPr/>
                    <a:lstStyle/>
                    <a:p>
                      <a:pPr marL="31750" marR="26035">
                        <a:lnSpc>
                          <a:spcPct val="106000"/>
                        </a:lnSpc>
                        <a:spcBef>
                          <a:spcPts val="42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Digester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and gas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holder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can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be 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masonry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or concrete</a:t>
                      </a:r>
                      <a:r>
                        <a:rPr sz="500" spc="-3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structure.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 marR="23495">
                        <a:lnSpc>
                          <a:spcPct val="106000"/>
                        </a:lnSpc>
                        <a:spcBef>
                          <a:spcPts val="42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Digester, masonry,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gas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holder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can 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be mild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steel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or</a:t>
                      </a:r>
                      <a:r>
                        <a:rPr sz="500" spc="-4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fiberglass.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3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Requires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high masonry</a:t>
                      </a:r>
                      <a:r>
                        <a:rPr sz="500" spc="-4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skills.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Low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masonry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skill is</a:t>
                      </a:r>
                      <a:r>
                        <a:rPr sz="500" spc="-5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required.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653">
                <a:tc>
                  <a:txBody>
                    <a:bodyPr/>
                    <a:lstStyle/>
                    <a:p>
                      <a:pPr marL="31750" marR="24130">
                        <a:lnSpc>
                          <a:spcPct val="106000"/>
                        </a:lnSpc>
                        <a:spcBef>
                          <a:spcPts val="425"/>
                        </a:spcBef>
                      </a:pPr>
                      <a:r>
                        <a:rPr sz="500" spc="15" dirty="0">
                          <a:latin typeface="Bookman Uralic"/>
                          <a:cs typeface="Bookman Uralic"/>
                        </a:rPr>
                        <a:t>Low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reliability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due to high  construction</a:t>
                      </a:r>
                      <a:r>
                        <a:rPr sz="500" spc="-1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failure.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2385">
                        <a:lnSpc>
                          <a:spcPct val="100000"/>
                        </a:lnSpc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High</a:t>
                      </a:r>
                      <a:r>
                        <a:rPr sz="50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reliability.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3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Variable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gas</a:t>
                      </a:r>
                      <a:r>
                        <a:rPr sz="500" spc="-1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pressure.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3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Constant </a:t>
                      </a:r>
                      <a:r>
                        <a:rPr sz="500" spc="15" dirty="0">
                          <a:latin typeface="Bookman Uralic"/>
                          <a:cs typeface="Bookman Uralic"/>
                        </a:rPr>
                        <a:t>gas</a:t>
                      </a:r>
                      <a:r>
                        <a:rPr sz="500" spc="-2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pressure.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33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1627">
                <a:tc>
                  <a:txBody>
                    <a:bodyPr/>
                    <a:lstStyle/>
                    <a:p>
                      <a:pPr marL="31750" marR="26035">
                        <a:lnSpc>
                          <a:spcPct val="106000"/>
                        </a:lnSpc>
                        <a:spcBef>
                          <a:spcPts val="42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Digester could be </a:t>
                      </a:r>
                      <a:r>
                        <a:rPr sz="500" spc="5" dirty="0">
                          <a:latin typeface="Bookman Uralic"/>
                          <a:cs typeface="Bookman Uralic"/>
                        </a:rPr>
                        <a:t>inside the 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ground.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" marR="22860">
                        <a:lnSpc>
                          <a:spcPct val="106000"/>
                        </a:lnSpc>
                        <a:spcBef>
                          <a:spcPts val="425"/>
                        </a:spcBef>
                      </a:pPr>
                      <a:r>
                        <a:rPr sz="500" spc="10" dirty="0">
                          <a:latin typeface="Bookman Uralic"/>
                          <a:cs typeface="Bookman Uralic"/>
                        </a:rPr>
                        <a:t>Requires space above ground for  three tanks; inlet, digester,</a:t>
                      </a:r>
                      <a:r>
                        <a:rPr sz="500" spc="-50" dirty="0">
                          <a:latin typeface="Bookman Uralic"/>
                          <a:cs typeface="Bookman Uralic"/>
                        </a:rPr>
                        <a:t> </a:t>
                      </a:r>
                      <a:r>
                        <a:rPr sz="500" spc="10" dirty="0">
                          <a:latin typeface="Bookman Uralic"/>
                          <a:cs typeface="Bookman Uralic"/>
                        </a:rPr>
                        <a:t>outlet.</a:t>
                      </a:r>
                      <a:endParaRPr sz="500">
                        <a:latin typeface="Bookman Uralic"/>
                        <a:cs typeface="Bookman Ural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35" y="965"/>
            <a:ext cx="2681605" cy="2010410"/>
          </a:xfrm>
          <a:custGeom>
            <a:avLst/>
            <a:gdLst/>
            <a:ahLst/>
            <a:cxnLst/>
            <a:rect l="l" t="t" r="r" b="b"/>
            <a:pathLst>
              <a:path w="2681605" h="2010410">
                <a:moveTo>
                  <a:pt x="0" y="2010410"/>
                </a:moveTo>
                <a:lnTo>
                  <a:pt x="2681351" y="2010410"/>
                </a:lnTo>
                <a:lnTo>
                  <a:pt x="2681351" y="0"/>
                </a:lnTo>
                <a:lnTo>
                  <a:pt x="0" y="0"/>
                </a:lnTo>
                <a:lnTo>
                  <a:pt x="0" y="201041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023" y="50368"/>
            <a:ext cx="2259330" cy="385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Economics of biomass</a:t>
            </a:r>
            <a:r>
              <a:rPr sz="1150" b="1" spc="-75" dirty="0">
                <a:solidFill>
                  <a:srgbClr val="006FC0"/>
                </a:solidFill>
                <a:latin typeface="Bookman Uralic"/>
                <a:cs typeface="Bookman Uralic"/>
              </a:rPr>
              <a:t> </a:t>
            </a:r>
            <a:r>
              <a:rPr sz="1150" b="1" spc="5" dirty="0">
                <a:solidFill>
                  <a:srgbClr val="006FC0"/>
                </a:solidFill>
                <a:latin typeface="Bookman Uralic"/>
                <a:cs typeface="Bookman Uralic"/>
              </a:rPr>
              <a:t>power</a:t>
            </a:r>
            <a:endParaRPr sz="1150">
              <a:latin typeface="Bookman Uralic"/>
              <a:cs typeface="Bookman Uralic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150" b="1" spc="10" dirty="0">
                <a:solidFill>
                  <a:srgbClr val="006FC0"/>
                </a:solidFill>
                <a:latin typeface="Bookman Uralic"/>
                <a:cs typeface="Bookman Uralic"/>
              </a:rPr>
              <a:t>generation</a:t>
            </a:r>
            <a:endParaRPr sz="1150">
              <a:latin typeface="Bookman Uralic"/>
              <a:cs typeface="Bookman Ural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679" y="469391"/>
            <a:ext cx="2485644" cy="139445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62022" y="1876170"/>
            <a:ext cx="71120" cy="7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5" dirty="0">
                <a:solidFill>
                  <a:srgbClr val="888888"/>
                </a:solidFill>
                <a:latin typeface="Carlito"/>
                <a:cs typeface="Carlito"/>
              </a:rPr>
              <a:t>61</a:t>
            </a:r>
            <a:endParaRPr sz="35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681605" cy="2011045"/>
          </a:xfrm>
          <a:custGeom>
            <a:avLst/>
            <a:gdLst/>
            <a:ahLst/>
            <a:cxnLst/>
            <a:rect l="l" t="t" r="r" b="b"/>
            <a:pathLst>
              <a:path w="2681605" h="2011045">
                <a:moveTo>
                  <a:pt x="0" y="2010790"/>
                </a:moveTo>
                <a:lnTo>
                  <a:pt x="2681351" y="2010790"/>
                </a:lnTo>
                <a:lnTo>
                  <a:pt x="2681351" y="0"/>
                </a:lnTo>
                <a:lnTo>
                  <a:pt x="0" y="0"/>
                </a:lnTo>
                <a:lnTo>
                  <a:pt x="0" y="2010790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14635</Words>
  <Application>WPS Presentation</Application>
  <PresentationFormat>Custom</PresentationFormat>
  <Paragraphs>589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7" baseType="lpstr">
      <vt:lpstr>Arial</vt:lpstr>
      <vt:lpstr>SimSun</vt:lpstr>
      <vt:lpstr>Wingdings</vt:lpstr>
      <vt:lpstr>Bookman Uralic</vt:lpstr>
      <vt:lpstr>Segoe Print</vt:lpstr>
      <vt:lpstr>Times New Roman</vt:lpstr>
      <vt:lpstr>Carlito</vt:lpstr>
      <vt:lpstr>TeX Gyre Bonum</vt:lpstr>
      <vt:lpstr>Wingdings</vt:lpstr>
      <vt:lpstr>Arial</vt:lpstr>
      <vt:lpstr>Georgia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After successful completion of this course, students will be able to</vt:lpstr>
      <vt:lpstr>Biomass to Energy</vt:lpstr>
      <vt:lpstr>Biomass Energy</vt:lpstr>
      <vt:lpstr>Useful forms of biomass</vt:lpstr>
      <vt:lpstr>Useful forms of biomass</vt:lpstr>
      <vt:lpstr>PowerPoint 演示文稿</vt:lpstr>
      <vt:lpstr>PowerPoint 演示文稿</vt:lpstr>
      <vt:lpstr>Useful forms of biomass</vt:lpstr>
      <vt:lpstr>PowerPoint 演示文稿</vt:lpstr>
      <vt:lpstr>PowerPoint 演示文稿</vt:lpstr>
      <vt:lpstr>PowerPoint 演示文稿</vt:lpstr>
      <vt:lpstr>Biomass Conversion  Processes</vt:lpstr>
      <vt:lpstr>Biomass conversion technologies</vt:lpstr>
      <vt:lpstr>PowerPoint 演示文稿</vt:lpstr>
      <vt:lpstr>Agro-chemical conversion of  biomass</vt:lpstr>
      <vt:lpstr>Transesterification</vt:lpstr>
      <vt:lpstr>Transesterification</vt:lpstr>
      <vt:lpstr>Thermo-chemical conversion  of biomass</vt:lpstr>
      <vt:lpstr>Direct combustion of biomass</vt:lpstr>
      <vt:lpstr>Direct combustion of biomass</vt:lpstr>
      <vt:lpstr>PowerPoint 演示文稿</vt:lpstr>
      <vt:lpstr>PowerPoint 演示文稿</vt:lpstr>
      <vt:lpstr>Pyrolysis</vt:lpstr>
      <vt:lpstr>PowerPoint 演示文稿</vt:lpstr>
      <vt:lpstr>PowerPoint 演示文稿</vt:lpstr>
      <vt:lpstr>PowerPoint 演示文稿</vt:lpstr>
      <vt:lpstr>Biomass gasification-classification</vt:lpstr>
      <vt:lpstr>Fixed Bed cross draft gasifier</vt:lpstr>
      <vt:lpstr>Fixed Bed downdraft gasifier</vt:lpstr>
      <vt:lpstr>PowerPoint 演示文稿</vt:lpstr>
      <vt:lpstr>Biomass</vt:lpstr>
      <vt:lpstr>PowerPoint 演示文稿</vt:lpstr>
      <vt:lpstr>PowerPoint 演示文稿</vt:lpstr>
      <vt:lpstr>Biogas plant</vt:lpstr>
      <vt:lpstr>Biogas plant</vt:lpstr>
      <vt:lpstr>Floating drum type digester</vt:lpstr>
      <vt:lpstr>Biogas plant- fixed dome type</vt:lpstr>
      <vt:lpstr>Comparing fixed dome and floating  drum biogas plant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ME403  Advanced Energy Engineering</dc:title>
  <dc:creator>HP</dc:creator>
  <cp:lastModifiedBy>tssig</cp:lastModifiedBy>
  <cp:revision>6</cp:revision>
  <dcterms:created xsi:type="dcterms:W3CDTF">2022-10-10T07:14:00Z</dcterms:created>
  <dcterms:modified xsi:type="dcterms:W3CDTF">2023-11-22T14:34:04Z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2018-10-23T22:00:00Z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2022-10-10T22:00:00Z</vt:filetime>
  </property>
  <property fmtid="{D5CDD505-2E9C-101B-9397-08002B2CF9AE}" pid="5" name="ICV">
    <vt:lpwstr>0C89FCE9B6F8418FB67A6FFFB4AD9060</vt:lpwstr>
  </property>
  <property fmtid="{D5CDD505-2E9C-101B-9397-08002B2CF9AE}" pid="6" name="KSOProductBuildVer">
    <vt:lpwstr>1033-12.2.0.13306</vt:lpwstr>
  </property>
</Properties>
</file>