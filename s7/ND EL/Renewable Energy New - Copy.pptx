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60" r:id="rId3"/>
    <p:sldId id="423" r:id="rId4"/>
    <p:sldId id="424" r:id="rId5"/>
    <p:sldId id="425" r:id="rId6"/>
    <p:sldId id="426" r:id="rId7"/>
    <p:sldId id="427" r:id="rId8"/>
    <p:sldId id="428" r:id="rId9"/>
    <p:sldId id="258" r:id="rId10"/>
    <p:sldId id="261" r:id="rId11"/>
    <p:sldId id="277" r:id="rId12"/>
    <p:sldId id="268" r:id="rId13"/>
    <p:sldId id="269" r:id="rId14"/>
    <p:sldId id="270" r:id="rId15"/>
    <p:sldId id="271" r:id="rId16"/>
    <p:sldId id="273" r:id="rId17"/>
    <p:sldId id="311" r:id="rId18"/>
    <p:sldId id="320" r:id="rId19"/>
    <p:sldId id="321" r:id="rId20"/>
    <p:sldId id="315" r:id="rId21"/>
    <p:sldId id="322" r:id="rId22"/>
    <p:sldId id="323" r:id="rId23"/>
    <p:sldId id="324" r:id="rId24"/>
    <p:sldId id="325" r:id="rId25"/>
    <p:sldId id="326" r:id="rId26"/>
    <p:sldId id="327" r:id="rId27"/>
    <p:sldId id="395" r:id="rId28"/>
    <p:sldId id="396" r:id="rId29"/>
    <p:sldId id="316" r:id="rId30"/>
    <p:sldId id="3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ssig" initials="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8/8/2025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470352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1013727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F0BAAA3-EDB7-472A-A765-F0DBDAA42A88}"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F0BAAA3-EDB7-472A-A765-F0DBDAA42A88}" type="datetimeFigureOut">
              <a:rPr lang="en-IN" smtClean="0"/>
              <a:t>08-08-2025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F0BAAA3-EDB7-472A-A765-F0DBDAA42A88}" type="datetimeFigureOut">
              <a:rPr lang="en-IN" smtClean="0"/>
              <a:t>08-08-2025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0BAAA3-EDB7-472A-A765-F0DBDAA42A88}" type="datetimeFigureOut">
              <a:rPr lang="en-IN" smtClean="0"/>
              <a:t>08-08-2025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0BAAA3-EDB7-472A-A765-F0DBDAA42A88}"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0BAAA3-EDB7-472A-A765-F0DBDAA42A88}" type="datetimeFigureOut">
              <a:rPr lang="en-IN" smtClean="0"/>
              <a:t>08-08-2025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0BAAA3-EDB7-472A-A765-F0DBDAA42A88}" type="datetimeFigureOut">
              <a:rPr lang="en-IN" smtClean="0"/>
              <a:t>08-08-2025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AFA18-B5E9-44AB-BE35-EB1C0427FFA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0BAAA3-EDB7-472A-A765-F0DBDAA42A88}" type="datetimeFigureOut">
              <a:rPr lang="en-IN" smtClean="0"/>
              <a:t>08-08-2025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0AFA18-B5E9-44AB-BE35-EB1C0427FFA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file:///C:\Users\tssig\AppData\Local\Temp\wps\INetCache\0d462245193734501bebb068b2f3c065" TargetMode="External"/><Relationship Id="rId2" Type="http://schemas.openxmlformats.org/officeDocument/2006/relationships/image" Target="NUL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7.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0.w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1.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20239" t="713" r="20573" b="8894"/>
          <a:stretch>
            <a:fillRect/>
          </a:stretch>
        </p:blipFill>
        <p:spPr>
          <a:xfrm>
            <a:off x="479686" y="246173"/>
            <a:ext cx="10912840" cy="6469420"/>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21808" r="19375" b="13761"/>
          <a:stretch>
            <a:fillRect/>
          </a:stretch>
        </p:blipFill>
        <p:spPr>
          <a:xfrm>
            <a:off x="494675" y="149220"/>
            <a:ext cx="11197653" cy="6491424"/>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IN"/>
          </a:p>
        </p:txBody>
      </p:sp>
      <p:sp>
        <p:nvSpPr>
          <p:cNvPr id="5" name="Text Box 4"/>
          <p:cNvSpPr txBox="1"/>
          <p:nvPr/>
        </p:nvSpPr>
        <p:spPr>
          <a:xfrm>
            <a:off x="349250" y="293370"/>
            <a:ext cx="11408410" cy="6216015"/>
          </a:xfrm>
          <a:prstGeom prst="rect">
            <a:avLst/>
          </a:prstGeom>
          <a:noFill/>
        </p:spPr>
        <p:txBody>
          <a:bodyPr wrap="square" rtlCol="0" anchor="t">
            <a:spAutoFit/>
          </a:bodyPr>
          <a:lstStyle/>
          <a:p>
            <a:r>
              <a:rPr lang="en-US" sz="2800" b="1"/>
              <a:t>Energy Alternatives: The Imperative Need for Diversification</a:t>
            </a:r>
          </a:p>
          <a:p>
            <a:endParaRPr lang="en-US" b="1"/>
          </a:p>
          <a:p>
            <a:r>
              <a:rPr lang="en-US" b="1"/>
              <a:t>Energy is the lifeblood of modern society, powering everything from homes and industries to transportation and communication. </a:t>
            </a:r>
          </a:p>
          <a:p>
            <a:endParaRPr lang="en-US" b="1"/>
          </a:p>
          <a:p>
            <a:r>
              <a:rPr lang="en-US" b="1"/>
              <a:t>However, the predominant reliance on fossil fuels, primarily coal, oil, and natural gas, has led to a range of environmental, economic, and geopolitical challenges.</a:t>
            </a:r>
          </a:p>
          <a:p>
            <a:endParaRPr lang="en-US" b="1"/>
          </a:p>
          <a:p>
            <a:r>
              <a:rPr lang="en-US" b="1"/>
              <a:t> The urgent need for energy alternatives has emerged as a critical solution to address these issues and secure a sustainable future for our planet.</a:t>
            </a:r>
          </a:p>
          <a:p>
            <a:endParaRPr lang="en-US" b="1"/>
          </a:p>
          <a:p>
            <a:r>
              <a:rPr lang="en-US" sz="2800" b="1"/>
              <a:t>Environmental Concerns:</a:t>
            </a:r>
          </a:p>
          <a:p>
            <a:endParaRPr lang="en-US" b="1"/>
          </a:p>
          <a:p>
            <a:r>
              <a:rPr lang="en-US" b="1"/>
              <a:t>The burning of fossil fuels releases greenhouse gases such as carbon dioxide into the atmosphere, contributing to global warming and climate change.</a:t>
            </a:r>
          </a:p>
          <a:p>
            <a:endParaRPr lang="en-US" b="1"/>
          </a:p>
          <a:p>
            <a:r>
              <a:rPr lang="en-US" b="1"/>
              <a:t> This phenomenon results in rising sea levels, more frequent and severe weather events, and disruptions to ecosystems. </a:t>
            </a:r>
          </a:p>
          <a:p>
            <a:endParaRPr lang="en-US" b="1"/>
          </a:p>
          <a:p>
            <a:r>
              <a:rPr lang="en-US" b="1"/>
              <a:t>The pollution associated with fossil fuel extraction, transportation, and combustion also leads to air and water pollution, jeopardizing human health and biodiversity.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IN"/>
          </a:p>
        </p:txBody>
      </p:sp>
      <p:sp>
        <p:nvSpPr>
          <p:cNvPr id="5" name="Text Box 4"/>
          <p:cNvSpPr txBox="1"/>
          <p:nvPr/>
        </p:nvSpPr>
        <p:spPr>
          <a:xfrm>
            <a:off x="407670" y="217805"/>
            <a:ext cx="11209020" cy="5631180"/>
          </a:xfrm>
          <a:prstGeom prst="rect">
            <a:avLst/>
          </a:prstGeom>
          <a:noFill/>
        </p:spPr>
        <p:txBody>
          <a:bodyPr wrap="square" rtlCol="0" anchor="t">
            <a:spAutoFit/>
          </a:bodyPr>
          <a:lstStyle/>
          <a:p>
            <a:r>
              <a:rPr lang="en-US" sz="2800"/>
              <a:t>Finite Resources:</a:t>
            </a:r>
          </a:p>
          <a:p>
            <a:endParaRPr lang="en-US"/>
          </a:p>
          <a:p>
            <a:r>
              <a:rPr lang="en-US" sz="2000" b="1"/>
              <a:t>Fossil fuels are finite resources, and their depletion is inevitable.</a:t>
            </a:r>
          </a:p>
          <a:p>
            <a:endParaRPr lang="en-US" sz="2000" b="1"/>
          </a:p>
          <a:p>
            <a:r>
              <a:rPr lang="en-US" sz="2000" b="1"/>
              <a:t> As these resources become scarcer, their extraction becomes more expensive and environmentally damaging.</a:t>
            </a:r>
          </a:p>
          <a:p>
            <a:endParaRPr lang="en-US" sz="2000" b="1"/>
          </a:p>
          <a:p>
            <a:r>
              <a:rPr lang="en-US" sz="2000" b="1"/>
              <a:t> Moreover, energy scarcity can lead to geopolitical tensions, as nations compete for access to these diminishing reserves.</a:t>
            </a:r>
          </a:p>
          <a:p>
            <a:endParaRPr lang="en-US"/>
          </a:p>
          <a:p>
            <a:r>
              <a:rPr lang="en-US" sz="2800"/>
              <a:t>Energy Security:</a:t>
            </a:r>
          </a:p>
          <a:p>
            <a:endParaRPr lang="en-US" sz="2800"/>
          </a:p>
          <a:p>
            <a:pPr algn="l">
              <a:buClrTx/>
              <a:buSzTx/>
              <a:buFontTx/>
            </a:pPr>
            <a:r>
              <a:rPr lang="en-US" sz="2000" b="1"/>
              <a:t>Transitioning to energy alternatives presents economic opportunities by driving innovation, creating jobs, and fostering sustainable economic growth. </a:t>
            </a:r>
          </a:p>
          <a:p>
            <a:pPr algn="l">
              <a:buClrTx/>
              <a:buSzTx/>
              <a:buFontTx/>
            </a:pPr>
            <a:endParaRPr lang="en-US" sz="2000" b="1"/>
          </a:p>
          <a:p>
            <a:pPr algn="l">
              <a:buClrTx/>
              <a:buSzTx/>
              <a:buFontTx/>
            </a:pPr>
            <a:r>
              <a:rPr lang="en-US" sz="2000" b="1"/>
              <a:t>Investments in renewable energy technologies, such as solar, wind, and hydropower, can stimulate local economies and encourage research and development in emerging industries.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253365" y="386715"/>
            <a:ext cx="11439525" cy="5107940"/>
          </a:xfrm>
          <a:prstGeom prst="rect">
            <a:avLst/>
          </a:prstGeom>
          <a:noFill/>
        </p:spPr>
        <p:txBody>
          <a:bodyPr wrap="square" rtlCol="0" anchor="t">
            <a:spAutoFit/>
          </a:bodyPr>
          <a:lstStyle/>
          <a:p>
            <a:r>
              <a:rPr lang="en-US" sz="2800" b="1"/>
              <a:t>Health Benefits:</a:t>
            </a:r>
          </a:p>
          <a:p>
            <a:endParaRPr lang="en-US" b="1"/>
          </a:p>
          <a:p>
            <a:endParaRPr lang="en-US" b="1"/>
          </a:p>
          <a:p>
            <a:r>
              <a:rPr lang="en-US" b="1"/>
              <a:t>Air pollution caused by burning fossil fuels has dire consequences for public health. Respiratory diseases, cardiovascular issues, and premature deaths are linked to pollutants emitted from conventional energy sources.</a:t>
            </a:r>
          </a:p>
          <a:p>
            <a:endParaRPr lang="en-US" b="1"/>
          </a:p>
          <a:p>
            <a:endParaRPr lang="en-US" b="1"/>
          </a:p>
          <a:p>
            <a:r>
              <a:rPr lang="en-US" b="1"/>
              <a:t> Energy alternatives offer cleaner options that can significantly improve air quality and human well-being.</a:t>
            </a:r>
          </a:p>
          <a:p>
            <a:endParaRPr lang="en-US" b="1"/>
          </a:p>
          <a:p>
            <a:r>
              <a:rPr lang="en-US" sz="2800" b="1"/>
              <a:t>Technological Advances:</a:t>
            </a:r>
          </a:p>
          <a:p>
            <a:endParaRPr lang="en-US" b="1"/>
          </a:p>
          <a:p>
            <a:r>
              <a:rPr lang="en-US" b="1"/>
              <a:t>Advancements in renewable energy technologies have made them more efficient, affordable, and accessible. </a:t>
            </a:r>
          </a:p>
          <a:p>
            <a:endParaRPr lang="en-US" b="1"/>
          </a:p>
          <a:p>
            <a:r>
              <a:rPr lang="en-US" b="1"/>
              <a:t>Solar panels and wind turbines are becoming increasingly efficient at harnessing energy from natural sources.</a:t>
            </a:r>
          </a:p>
          <a:p>
            <a:endParaRPr lang="en-US" b="1"/>
          </a:p>
          <a:p>
            <a:r>
              <a:rPr lang="en-US" b="1"/>
              <a:t> Energy storage technologies, such as batteries, are evolving rapidly, enabling a more reliable integration of intermittent renewable sources into the grid.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130810" y="415290"/>
            <a:ext cx="11746230" cy="5662295"/>
          </a:xfrm>
          <a:prstGeom prst="rect">
            <a:avLst/>
          </a:prstGeom>
          <a:noFill/>
        </p:spPr>
        <p:txBody>
          <a:bodyPr wrap="square" rtlCol="0" anchor="t">
            <a:spAutoFit/>
          </a:bodyPr>
          <a:lstStyle/>
          <a:p>
            <a:r>
              <a:rPr lang="en-US" sz="2800" b="1"/>
              <a:t>Need for Alternatives:</a:t>
            </a:r>
          </a:p>
          <a:p>
            <a:endParaRPr lang="en-US" b="1"/>
          </a:p>
          <a:p>
            <a:endParaRPr lang="en-US" b="1"/>
          </a:p>
          <a:p>
            <a:r>
              <a:rPr lang="en-US" b="1"/>
              <a:t>Mitigating Climate Change: The adoption of energy alternatives, particularly renewable sources like solar, wind, and geothermal, can significantly reduce greenhouse gas emissions and mitigate the impacts of climate change.</a:t>
            </a:r>
          </a:p>
          <a:p>
            <a:endParaRPr lang="en-US" b="1"/>
          </a:p>
          <a:p>
            <a:endParaRPr lang="en-US" b="1"/>
          </a:p>
          <a:p>
            <a:r>
              <a:rPr lang="en-US" b="1"/>
              <a:t> By transitioning to low-carbon energy sources, we can contribute to a sustainable and habitable planet for future generations.</a:t>
            </a:r>
          </a:p>
          <a:p>
            <a:endParaRPr lang="en-US" b="1"/>
          </a:p>
          <a:p>
            <a:endParaRPr lang="en-US" b="1"/>
          </a:p>
          <a:p>
            <a:r>
              <a:rPr lang="en-US" sz="2800" b="1"/>
              <a:t>Resource Conservation: </a:t>
            </a:r>
          </a:p>
          <a:p>
            <a:endParaRPr lang="en-US" b="1"/>
          </a:p>
          <a:p>
            <a:endParaRPr lang="en-US" b="1"/>
          </a:p>
          <a:p>
            <a:r>
              <a:rPr lang="en-US" b="1"/>
              <a:t>Energy alternatives, unlike fossil fuels, are sustainable and abundant. Sunlight, wind, and geothermal heat are resources that will not run out in the foreseeable future. </a:t>
            </a:r>
          </a:p>
          <a:p>
            <a:endParaRPr lang="en-US" b="1"/>
          </a:p>
          <a:p>
            <a:endParaRPr lang="en-US" b="1"/>
          </a:p>
          <a:p>
            <a:r>
              <a:rPr lang="en-US" b="1"/>
              <a:t>This ensures a reliable and continuous supply of energy without contributing to resource depletion.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176530" y="292735"/>
            <a:ext cx="11700510" cy="4276725"/>
          </a:xfrm>
          <a:prstGeom prst="rect">
            <a:avLst/>
          </a:prstGeom>
          <a:noFill/>
        </p:spPr>
        <p:txBody>
          <a:bodyPr wrap="square" rtlCol="0" anchor="t">
            <a:spAutoFit/>
          </a:bodyPr>
          <a:lstStyle/>
          <a:p>
            <a:r>
              <a:rPr lang="en-US" sz="2800" b="1"/>
              <a:t>Job Creation and Economic Growth: </a:t>
            </a:r>
          </a:p>
          <a:p>
            <a:r>
              <a:rPr lang="en-US" b="1"/>
              <a:t>nvesting in energy alternatives stimulates economic growth and job creation. </a:t>
            </a:r>
          </a:p>
          <a:p>
            <a:endParaRPr lang="en-US" b="1"/>
          </a:p>
          <a:p>
            <a:r>
              <a:rPr lang="en-US" b="1"/>
              <a:t>The renewable energy sector offers diverse employment opportunities, ranging from manufacturing and construction to research and development. </a:t>
            </a:r>
          </a:p>
          <a:p>
            <a:endParaRPr lang="en-US" b="1"/>
          </a:p>
          <a:p>
            <a:r>
              <a:rPr lang="en-US" b="1"/>
              <a:t>This fosters local economic resilience and reduces dependence on fluctuating global energy markets.</a:t>
            </a:r>
          </a:p>
          <a:p>
            <a:endParaRPr lang="en-US" b="1"/>
          </a:p>
          <a:p>
            <a:r>
              <a:rPr lang="en-US" sz="2800" b="1"/>
              <a:t>Energy Security: </a:t>
            </a:r>
          </a:p>
          <a:p>
            <a:endParaRPr lang="en-US" b="1"/>
          </a:p>
          <a:p>
            <a:r>
              <a:rPr lang="en-US" b="1"/>
              <a:t>Diversifying energy sources enhances energy security by reducing dependence on imported fossil fuels. </a:t>
            </a:r>
          </a:p>
          <a:p>
            <a:endParaRPr lang="en-US" b="1"/>
          </a:p>
          <a:p>
            <a:r>
              <a:rPr lang="en-US" b="1"/>
              <a:t>Locally generated renewable energy reduces vulnerabilities to supply disruptions, geopolitical conflicts, and price fluctuations in the international energy market.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0" y="478155"/>
            <a:ext cx="12030710" cy="3969385"/>
          </a:xfrm>
          <a:prstGeom prst="rect">
            <a:avLst/>
          </a:prstGeom>
          <a:noFill/>
        </p:spPr>
        <p:txBody>
          <a:bodyPr wrap="square" rtlCol="0" anchor="t">
            <a:spAutoFit/>
          </a:bodyPr>
          <a:lstStyle/>
          <a:p>
            <a:r>
              <a:rPr lang="en-US" sz="2400" b="1"/>
              <a:t>Improved Air Quality and Public Health: </a:t>
            </a:r>
          </a:p>
          <a:p>
            <a:endParaRPr lang="en-US"/>
          </a:p>
          <a:p>
            <a:r>
              <a:rPr lang="en-US"/>
              <a:t>Energy alternatives produce minimal or no emissions, leading to improved air quality and reduced health risks. </a:t>
            </a:r>
          </a:p>
          <a:p>
            <a:endParaRPr lang="en-US"/>
          </a:p>
          <a:p>
            <a:r>
              <a:rPr lang="en-US"/>
              <a:t>Transitioning away from fossil fuels can alleviate respiratory diseases, cardiovascular problems, and other health issues associated with pollution.</a:t>
            </a:r>
          </a:p>
          <a:p>
            <a:endParaRPr lang="en-US" sz="2400" b="1"/>
          </a:p>
          <a:p>
            <a:r>
              <a:rPr lang="en-US" sz="2400" b="1"/>
              <a:t>Technological Innovation: </a:t>
            </a:r>
          </a:p>
          <a:p>
            <a:endParaRPr lang="en-US"/>
          </a:p>
          <a:p>
            <a:r>
              <a:rPr lang="en-US"/>
              <a:t>The pursuit of energy alternatives fosters innovation in various fields, including engineering, materials science, and energy storage. </a:t>
            </a:r>
          </a:p>
          <a:p>
            <a:endParaRPr lang="en-US"/>
          </a:p>
          <a:p>
            <a:r>
              <a:rPr lang="en-US"/>
              <a:t>Breakthroughs in these areas have far-reaching implications beyond energy generation, driving progress in multiple industries.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2593" t="-4" r="12778" b="9117"/>
          <a:stretch>
            <a:fillRect/>
          </a:stretch>
        </p:blipFill>
        <p:spPr>
          <a:xfrm>
            <a:off x="582295" y="295910"/>
            <a:ext cx="11410315" cy="6393815"/>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3278" t="-24" r="13689" b="2951"/>
          <a:stretch>
            <a:fillRect/>
          </a:stretch>
        </p:blipFill>
        <p:spPr>
          <a:xfrm>
            <a:off x="1618938" y="1"/>
            <a:ext cx="8904157" cy="6655632"/>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2664" r="12582" b="8832"/>
          <a:stretch>
            <a:fillRect/>
          </a:stretch>
        </p:blipFill>
        <p:spPr>
          <a:xfrm>
            <a:off x="1538990" y="304387"/>
            <a:ext cx="9114020" cy="6249225"/>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2909" t="2381" r="13442"/>
          <a:stretch>
            <a:fillRect/>
          </a:stretch>
        </p:blipFill>
        <p:spPr>
          <a:xfrm>
            <a:off x="1573967" y="164892"/>
            <a:ext cx="8979108" cy="6691434"/>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2910" r="12828"/>
          <a:stretch>
            <a:fillRect/>
          </a:stretch>
        </p:blipFill>
        <p:spPr>
          <a:xfrm>
            <a:off x="1573966" y="1673"/>
            <a:ext cx="9054059" cy="6854653"/>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3033" r="12828"/>
          <a:stretch>
            <a:fillRect/>
          </a:stretch>
        </p:blipFill>
        <p:spPr>
          <a:xfrm>
            <a:off x="1588956" y="1673"/>
            <a:ext cx="9039069" cy="6854653"/>
          </a:xfrm>
          <a:prstGeom prst="rect">
            <a:avLst/>
          </a:prstGeom>
        </p:spPr>
      </p:pic>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9907" r="9751" b="234"/>
          <a:stretch>
            <a:fillRect/>
          </a:stretch>
        </p:blipFill>
        <p:spPr>
          <a:xfrm>
            <a:off x="112395" y="-36195"/>
            <a:ext cx="12078970" cy="6772275"/>
          </a:xfrm>
          <a:prstGeom prst="rect">
            <a:avLst/>
          </a:prstGeom>
        </p:spPr>
      </p:pic>
      <p:sp>
        <p:nvSpPr>
          <p:cNvPr id="3" name="Footer Placeholder 2"/>
          <p:cNvSpPr>
            <a:spLocks noGrp="1"/>
          </p:cNvSpPr>
          <p:nvPr>
            <p:ph type="ftr" sz="quarter" idx="11"/>
          </p:nvPr>
        </p:nvSpPr>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7800" y="1582420"/>
            <a:ext cx="12000230" cy="3107690"/>
          </a:xfrm>
          <a:prstGeom prst="rect">
            <a:avLst/>
          </a:prstGeom>
          <a:noFill/>
        </p:spPr>
        <p:txBody>
          <a:bodyPr wrap="square" rtlCol="0" anchor="t">
            <a:spAutoFit/>
          </a:bodyPr>
          <a:lstStyle/>
          <a:p>
            <a:r>
              <a:rPr lang="en-IN" altLang="en-US" sz="2800" b="1">
                <a:latin typeface="Times New Roman" panose="02020603050405020304" charset="0"/>
                <a:cs typeface="Times New Roman" panose="02020603050405020304" charset="0"/>
              </a:rPr>
              <a:t>E</a:t>
            </a:r>
            <a:r>
              <a:rPr lang="en-US" sz="2800" b="1">
                <a:latin typeface="Times New Roman" panose="02020603050405020304" charset="0"/>
                <a:cs typeface="Times New Roman" panose="02020603050405020304" charset="0"/>
              </a:rPr>
              <a:t>nergy efficiency</a:t>
            </a:r>
            <a:r>
              <a:rPr lang="en-IN" altLang="en-US" sz="2800" b="1">
                <a:latin typeface="Times New Roman" panose="02020603050405020304" charset="0"/>
                <a:cs typeface="Times New Roman" panose="02020603050405020304" charset="0"/>
              </a:rPr>
              <a:t> </a:t>
            </a:r>
            <a:r>
              <a:rPr lang="en-US" sz="2800" b="1">
                <a:latin typeface="Times New Roman" panose="02020603050405020304" charset="0"/>
                <a:cs typeface="Times New Roman" panose="02020603050405020304" charset="0"/>
              </a:rPr>
              <a:t> is the process of reducing the amount of energy required to provide products and services. For example, insulating a building allows it to use less heating and cooling energy to achieve and maintain a thermal comfort. </a:t>
            </a:r>
          </a:p>
          <a:p>
            <a:endParaRPr lang="en-US" sz="2800" b="1">
              <a:latin typeface="Times New Roman" panose="02020603050405020304" charset="0"/>
              <a:cs typeface="Times New Roman" panose="02020603050405020304" charset="0"/>
            </a:endParaRPr>
          </a:p>
          <a:p>
            <a:r>
              <a:rPr lang="en-IN" altLang="en-US" sz="2800" b="1">
                <a:latin typeface="Times New Roman" panose="02020603050405020304" charset="0"/>
                <a:cs typeface="Times New Roman" panose="02020603050405020304" charset="0"/>
              </a:rPr>
              <a:t>E</a:t>
            </a:r>
            <a:r>
              <a:rPr lang="en-US" sz="2800" b="1">
                <a:latin typeface="Times New Roman" panose="02020603050405020304" charset="0"/>
                <a:cs typeface="Times New Roman" panose="02020603050405020304" charset="0"/>
              </a:rPr>
              <a:t>nergy-efficient LED light bulbs are able to produce the same amount of light as incandescent light bulbs by using 75 to 80 percent less electricity.</a:t>
            </a:r>
          </a:p>
        </p:txBody>
      </p:sp>
      <p:sp>
        <p:nvSpPr>
          <p:cNvPr id="3" name="Text Box 2"/>
          <p:cNvSpPr txBox="1"/>
          <p:nvPr/>
        </p:nvSpPr>
        <p:spPr>
          <a:xfrm>
            <a:off x="463550" y="483870"/>
            <a:ext cx="4805045" cy="521970"/>
          </a:xfrm>
          <a:prstGeom prst="rect">
            <a:avLst/>
          </a:prstGeom>
          <a:noFill/>
        </p:spPr>
        <p:txBody>
          <a:bodyPr wrap="square" rtlCol="0" anchor="t">
            <a:spAutoFit/>
          </a:bodyPr>
          <a:lstStyle/>
          <a:p>
            <a:r>
              <a:rPr lang="en-IN" altLang="en-US" sz="2800" b="1">
                <a:latin typeface="Times New Roman" panose="02020603050405020304" charset="0"/>
                <a:cs typeface="Times New Roman" panose="02020603050405020304" charset="0"/>
                <a:sym typeface="+mn-ea"/>
              </a:rPr>
              <a:t>E</a:t>
            </a:r>
            <a:r>
              <a:rPr lang="en-US" sz="2800" b="1">
                <a:latin typeface="Times New Roman" panose="02020603050405020304" charset="0"/>
                <a:cs typeface="Times New Roman" panose="02020603050405020304" charset="0"/>
                <a:sym typeface="+mn-ea"/>
              </a:rPr>
              <a:t>nergy efficiency</a:t>
            </a:r>
            <a:endParaRPr lang="en-US" sz="2800"/>
          </a:p>
        </p:txBody>
      </p:sp>
      <p:sp>
        <p:nvSpPr>
          <p:cNvPr id="4" name="Footer Placeholder 3"/>
          <p:cNvSpPr>
            <a:spLocks noGrp="1"/>
          </p:cNvSpPr>
          <p:nvPr>
            <p:ph type="ftr" sz="quarter" idx="11"/>
          </p:nvPr>
        </p:nvSpPr>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56870" y="534670"/>
            <a:ext cx="10821035" cy="1568450"/>
          </a:xfrm>
          <a:prstGeom prst="rect">
            <a:avLst/>
          </a:prstGeom>
          <a:noFill/>
        </p:spPr>
        <p:txBody>
          <a:bodyPr wrap="square" rtlCol="0" anchor="t">
            <a:spAutoFit/>
          </a:bodyPr>
          <a:lstStyle/>
          <a:p>
            <a:r>
              <a:rPr lang="en-US" sz="4000" b="1">
                <a:solidFill>
                  <a:srgbClr val="FF0000"/>
                </a:solidFill>
                <a:latin typeface="Times New Roman" panose="02020603050405020304" charset="0"/>
                <a:cs typeface="Times New Roman" panose="02020603050405020304" charset="0"/>
              </a:rPr>
              <a:t>Solar declination</a:t>
            </a:r>
            <a:r>
              <a:rPr lang="en-US" sz="2800" b="1">
                <a:latin typeface="Times New Roman" panose="02020603050405020304" charset="0"/>
                <a:cs typeface="Times New Roman" panose="02020603050405020304" charset="0"/>
              </a:rPr>
              <a:t> </a:t>
            </a:r>
            <a:r>
              <a:rPr lang="en-IN" altLang="en-US" sz="2800" b="1">
                <a:latin typeface="Times New Roman" panose="02020603050405020304" charset="0"/>
                <a:cs typeface="Times New Roman" panose="02020603050405020304" charset="0"/>
              </a:rPr>
              <a:t>is</a:t>
            </a:r>
            <a:r>
              <a:rPr lang="en-US" sz="2800" b="1">
                <a:latin typeface="Times New Roman" panose="02020603050405020304" charset="0"/>
                <a:cs typeface="Times New Roman" panose="02020603050405020304" charset="0"/>
              </a:rPr>
              <a:t> defined as the angle between the line joining the centers of the Sun and the Earth and its projection on the equatorial plane.</a:t>
            </a:r>
          </a:p>
        </p:txBody>
      </p:sp>
      <p:pic>
        <p:nvPicPr>
          <p:cNvPr id="100" name="Picture 99"/>
          <p:cNvPicPr/>
          <p:nvPr/>
        </p:nvPicPr>
        <p:blipFill>
          <a:blip r:embed="rId2" r:link="rId3"/>
          <a:stretch>
            <a:fillRect/>
          </a:stretch>
        </p:blipFill>
        <p:spPr>
          <a:xfrm>
            <a:off x="6096000" y="4070350"/>
            <a:ext cx="2644140" cy="1726565"/>
          </a:xfrm>
          <a:prstGeom prst="rect">
            <a:avLst/>
          </a:prstGeom>
          <a:noFill/>
          <a:ln w="9525">
            <a:noFill/>
          </a:ln>
        </p:spPr>
      </p:pic>
      <p:pic>
        <p:nvPicPr>
          <p:cNvPr id="102" name="Picture 101"/>
          <p:cNvPicPr/>
          <p:nvPr/>
        </p:nvPicPr>
        <p:blipFill>
          <a:blip r:embed="rId4"/>
          <a:srcRect t="31871" r="24713" b="7150"/>
          <a:stretch>
            <a:fillRect/>
          </a:stretch>
        </p:blipFill>
        <p:spPr>
          <a:xfrm>
            <a:off x="60960" y="2611120"/>
            <a:ext cx="6461760" cy="3926205"/>
          </a:xfrm>
          <a:prstGeom prst="rect">
            <a:avLst/>
          </a:prstGeom>
          <a:noFill/>
          <a:ln w="9525">
            <a:noFill/>
          </a:ln>
        </p:spPr>
      </p:pic>
      <p:sp>
        <p:nvSpPr>
          <p:cNvPr id="3" name="Footer Placeholder 2"/>
          <p:cNvSpPr>
            <a:spLocks noGrp="1"/>
          </p:cNvSpPr>
          <p:nvPr>
            <p:ph type="ftr" sz="quarter" idx="11"/>
          </p:nvPr>
        </p:nvSpPr>
        <p:spPr/>
        <p:txBody>
          <a:bodyPr/>
          <a:lstStyle/>
          <a:p>
            <a:endParaRPr lang="en-IN"/>
          </a:p>
        </p:txBody>
      </p:sp>
      <p:pic>
        <p:nvPicPr>
          <p:cNvPr id="5" name="Picture 4"/>
          <p:cNvPicPr>
            <a:picLocks noChangeAspect="1"/>
          </p:cNvPicPr>
          <p:nvPr/>
        </p:nvPicPr>
        <p:blipFill>
          <a:blip r:embed="rId5"/>
          <a:srcRect l="4485" t="24384" r="40093" b="15773"/>
          <a:stretch>
            <a:fillRect/>
          </a:stretch>
        </p:blipFill>
        <p:spPr>
          <a:xfrm>
            <a:off x="6659245" y="2208530"/>
            <a:ext cx="5131435" cy="3398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5674" t="26415" r="16544" b="15253"/>
          <a:stretch>
            <a:fillRect/>
          </a:stretch>
        </p:blipFill>
        <p:spPr>
          <a:xfrm>
            <a:off x="883920" y="749935"/>
            <a:ext cx="10423525" cy="5043805"/>
          </a:xfrm>
          <a:prstGeom prst="rect">
            <a:avLst/>
          </a:prstGeom>
        </p:spPr>
      </p:pic>
      <p:sp>
        <p:nvSpPr>
          <p:cNvPr id="3" name="Footer Placeholder 2"/>
          <p:cNvSpPr>
            <a:spLocks noGrp="1"/>
          </p:cNvSpPr>
          <p:nvPr>
            <p:ph type="ftr" sz="quarter" idx="11"/>
          </p:nvPr>
        </p:nvSpPr>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93" t="16571" r="-29" b="21840"/>
          <a:stretch>
            <a:fillRect/>
          </a:stretch>
        </p:blipFill>
        <p:spPr>
          <a:xfrm>
            <a:off x="203835" y="1304290"/>
            <a:ext cx="11498580" cy="4505325"/>
          </a:xfrm>
          <a:prstGeom prst="rect">
            <a:avLst/>
          </a:prstGeom>
        </p:spPr>
      </p:pic>
      <p:pic>
        <p:nvPicPr>
          <p:cNvPr id="3" name="Picture 2"/>
          <p:cNvPicPr>
            <a:picLocks noChangeAspect="1"/>
          </p:cNvPicPr>
          <p:nvPr/>
        </p:nvPicPr>
        <p:blipFill>
          <a:blip r:embed="rId3"/>
          <a:srcRect l="112" t="30295" r="70381" b="61450"/>
          <a:stretch>
            <a:fillRect/>
          </a:stretch>
        </p:blipFill>
        <p:spPr>
          <a:xfrm>
            <a:off x="203835" y="146685"/>
            <a:ext cx="3839210" cy="603885"/>
          </a:xfrm>
          <a:prstGeom prst="rect">
            <a:avLst/>
          </a:prstGeom>
        </p:spPr>
      </p:pic>
      <p:sp>
        <p:nvSpPr>
          <p:cNvPr id="4" name="Footer Placeholder 3"/>
          <p:cNvSpPr>
            <a:spLocks noGrp="1"/>
          </p:cNvSpPr>
          <p:nvPr>
            <p:ph type="ftr" sz="quarter" idx="11"/>
          </p:nvPr>
        </p:nvSpPr>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3"/>
          <p:cNvPicPr/>
          <p:nvPr/>
        </p:nvPicPr>
        <p:blipFill>
          <a:blip r:embed="rId2"/>
          <a:stretch>
            <a:fillRect/>
          </a:stretch>
        </p:blipFill>
        <p:spPr>
          <a:xfrm>
            <a:off x="2648585" y="1104265"/>
            <a:ext cx="5904230" cy="5247640"/>
          </a:xfrm>
          <a:prstGeom prst="rect">
            <a:avLst/>
          </a:prstGeom>
          <a:noFill/>
          <a:ln w="9525">
            <a:noFill/>
          </a:ln>
        </p:spPr>
      </p:pic>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8439150" y="1615440"/>
            <a:ext cx="3406775" cy="1076325"/>
          </a:xfrm>
          <a:prstGeom prst="rect">
            <a:avLst/>
          </a:prstGeom>
          <a:noFill/>
        </p:spPr>
        <p:txBody>
          <a:bodyPr wrap="none" rtlCol="0">
            <a:spAutoFit/>
          </a:bodyPr>
          <a:lstStyle/>
          <a:p>
            <a:r>
              <a:rPr lang="en-IN" altLang="en-US" sz="3200" b="1">
                <a:solidFill>
                  <a:schemeClr val="tx1"/>
                </a:solidFill>
                <a:effectLst>
                  <a:outerShdw blurRad="38100" dist="19050" dir="2700000" algn="tl" rotWithShape="0">
                    <a:schemeClr val="dk1">
                      <a:alpha val="40000"/>
                    </a:schemeClr>
                  </a:outerShdw>
                </a:effectLst>
              </a:rPr>
              <a:t>+ in the north pole </a:t>
            </a:r>
          </a:p>
          <a:p>
            <a:r>
              <a:rPr lang="en-IN" altLang="en-US" sz="3200" b="1">
                <a:solidFill>
                  <a:schemeClr val="tx1"/>
                </a:solidFill>
                <a:effectLst>
                  <a:outerShdw blurRad="38100" dist="19050" dir="2700000" algn="tl" rotWithShape="0">
                    <a:schemeClr val="dk1">
                      <a:alpha val="40000"/>
                    </a:schemeClr>
                  </a:outerShdw>
                </a:effectLst>
              </a:rPr>
              <a:t>- in the south pole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4" name="Object 3"/>
          <p:cNvGraphicFramePr/>
          <p:nvPr/>
        </p:nvGraphicFramePr>
        <p:xfrm>
          <a:off x="200025" y="435610"/>
          <a:ext cx="11791950" cy="5986780"/>
        </p:xfrm>
        <a:graphic>
          <a:graphicData uri="http://schemas.openxmlformats.org/presentationml/2006/ole">
            <mc:AlternateContent xmlns:mc="http://schemas.openxmlformats.org/markup-compatibility/2006">
              <mc:Choice xmlns:v="urn:schemas-microsoft-com:vml" Requires="v">
                <p:oleObj spid="_x0000_s1027" r:id="rId3" imgW="11782425" imgH="5981700" progId="Paint.Picture">
                  <p:embed/>
                </p:oleObj>
              </mc:Choice>
              <mc:Fallback>
                <p:oleObj r:id="rId3" imgW="11782425" imgH="5981700" progId="Paint.Picture">
                  <p:embed/>
                  <p:pic>
                    <p:nvPicPr>
                      <p:cNvPr id="0" name="Picture 4"/>
                      <p:cNvPicPr/>
                      <p:nvPr/>
                    </p:nvPicPr>
                    <p:blipFill>
                      <a:blip r:embed="rId4"/>
                      <a:stretch>
                        <a:fillRect/>
                      </a:stretch>
                    </p:blipFill>
                    <p:spPr>
                      <a:xfrm>
                        <a:off x="200025" y="435610"/>
                        <a:ext cx="11791950" cy="598678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5" name="Object 4"/>
          <p:cNvGraphicFramePr/>
          <p:nvPr/>
        </p:nvGraphicFramePr>
        <p:xfrm>
          <a:off x="109855" y="180975"/>
          <a:ext cx="11861800" cy="6416675"/>
        </p:xfrm>
        <a:graphic>
          <a:graphicData uri="http://schemas.openxmlformats.org/presentationml/2006/ole">
            <mc:AlternateContent xmlns:mc="http://schemas.openxmlformats.org/markup-compatibility/2006">
              <mc:Choice xmlns:v="urn:schemas-microsoft-com:vml" Requires="v">
                <p:oleObj spid="_x0000_s2051" r:id="rId3" imgW="10581640" imgH="7315200" progId="Paint.Picture">
                  <p:embed/>
                </p:oleObj>
              </mc:Choice>
              <mc:Fallback>
                <p:oleObj r:id="rId3" imgW="10581640" imgH="7315200" progId="Paint.Picture">
                  <p:embed/>
                  <p:pic>
                    <p:nvPicPr>
                      <p:cNvPr id="0" name="Picture 5"/>
                      <p:cNvPicPr/>
                      <p:nvPr/>
                    </p:nvPicPr>
                    <p:blipFill>
                      <a:blip r:embed="rId4"/>
                      <a:stretch>
                        <a:fillRect/>
                      </a:stretch>
                    </p:blipFill>
                    <p:spPr>
                      <a:xfrm>
                        <a:off x="109855" y="180975"/>
                        <a:ext cx="11861800" cy="6416675"/>
                      </a:xfrm>
                      <a:prstGeom prst="rect">
                        <a:avLst/>
                      </a:prstGeom>
                    </p:spPr>
                  </p:pic>
                </p:oleObj>
              </mc:Fallback>
            </mc:AlternateContent>
          </a:graphicData>
        </a:graphic>
      </p:graphicFrame>
      <p:sp>
        <p:nvSpPr>
          <p:cNvPr id="7" name="Text Box 6"/>
          <p:cNvSpPr txBox="1"/>
          <p:nvPr/>
        </p:nvSpPr>
        <p:spPr>
          <a:xfrm>
            <a:off x="109855" y="4261485"/>
            <a:ext cx="5674995" cy="829945"/>
          </a:xfrm>
          <a:prstGeom prst="rect">
            <a:avLst/>
          </a:prstGeom>
          <a:noFill/>
        </p:spPr>
        <p:txBody>
          <a:bodyPr wrap="none" rtlCol="0">
            <a:spAutoFit/>
          </a:bodyPr>
          <a:lstStyle/>
          <a:p>
            <a:r>
              <a:rPr lang="en-IN" altLang="en-US" sz="2400" b="1"/>
              <a:t>Zenith angle is +90 degrees  during sun rise </a:t>
            </a:r>
          </a:p>
          <a:p>
            <a:r>
              <a:rPr lang="en-IN" altLang="en-US" sz="2400" b="1"/>
              <a:t>-90 degrees during sun set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4" name="Object 3"/>
          <p:cNvGraphicFramePr/>
          <p:nvPr/>
        </p:nvGraphicFramePr>
        <p:xfrm>
          <a:off x="395605" y="144780"/>
          <a:ext cx="11328400" cy="6621145"/>
        </p:xfrm>
        <a:graphic>
          <a:graphicData uri="http://schemas.openxmlformats.org/presentationml/2006/ole">
            <mc:AlternateContent xmlns:mc="http://schemas.openxmlformats.org/markup-compatibility/2006">
              <mc:Choice xmlns:v="urn:schemas-microsoft-com:vml" Requires="v">
                <p:oleObj spid="_x0000_s3075" r:id="rId3" imgW="10629265" imgH="7267575" progId="Paint.Picture">
                  <p:embed/>
                </p:oleObj>
              </mc:Choice>
              <mc:Fallback>
                <p:oleObj r:id="rId3" imgW="10629265" imgH="7267575" progId="Paint.Picture">
                  <p:embed/>
                  <p:pic>
                    <p:nvPicPr>
                      <p:cNvPr id="0" name="Picture 4"/>
                      <p:cNvPicPr/>
                      <p:nvPr/>
                    </p:nvPicPr>
                    <p:blipFill>
                      <a:blip r:embed="rId4"/>
                      <a:stretch>
                        <a:fillRect/>
                      </a:stretch>
                    </p:blipFill>
                    <p:spPr>
                      <a:xfrm>
                        <a:off x="395605" y="144780"/>
                        <a:ext cx="11328400" cy="6621145"/>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5" name="Object 4"/>
          <p:cNvGraphicFramePr/>
          <p:nvPr/>
        </p:nvGraphicFramePr>
        <p:xfrm>
          <a:off x="142875" y="106680"/>
          <a:ext cx="11906250" cy="6644005"/>
        </p:xfrm>
        <a:graphic>
          <a:graphicData uri="http://schemas.openxmlformats.org/presentationml/2006/ole">
            <mc:AlternateContent xmlns:mc="http://schemas.openxmlformats.org/markup-compatibility/2006">
              <mc:Choice xmlns:v="urn:schemas-microsoft-com:vml" Requires="v">
                <p:oleObj spid="_x0000_s4099" r:id="rId4" imgW="11696700" imgH="6638925" progId="Paint.Picture">
                  <p:embed/>
                </p:oleObj>
              </mc:Choice>
              <mc:Fallback>
                <p:oleObj r:id="rId4" imgW="11696700" imgH="6638925" progId="Paint.Picture">
                  <p:embed/>
                  <p:pic>
                    <p:nvPicPr>
                      <p:cNvPr id="0" name="Picture 5"/>
                      <p:cNvPicPr/>
                      <p:nvPr/>
                    </p:nvPicPr>
                    <p:blipFill>
                      <a:blip r:embed="rId5"/>
                      <a:stretch>
                        <a:fillRect/>
                      </a:stretch>
                    </p:blipFill>
                    <p:spPr>
                      <a:xfrm>
                        <a:off x="142875" y="106680"/>
                        <a:ext cx="11906250" cy="6644005"/>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graphicFrame>
        <p:nvGraphicFramePr>
          <p:cNvPr id="3" name="Object 2"/>
          <p:cNvGraphicFramePr/>
          <p:nvPr/>
        </p:nvGraphicFramePr>
        <p:xfrm>
          <a:off x="53340" y="42545"/>
          <a:ext cx="12106910" cy="6642100"/>
        </p:xfrm>
        <a:graphic>
          <a:graphicData uri="http://schemas.openxmlformats.org/presentationml/2006/ole">
            <mc:AlternateContent xmlns:mc="http://schemas.openxmlformats.org/markup-compatibility/2006">
              <mc:Choice xmlns:v="urn:schemas-microsoft-com:vml" Requires="v">
                <p:oleObj spid="_x0000_s5123" r:id="rId3" imgW="10876915" imgH="6810375" progId="Paint.Picture">
                  <p:embed/>
                </p:oleObj>
              </mc:Choice>
              <mc:Fallback>
                <p:oleObj r:id="rId3" imgW="10876915" imgH="6810375" progId="Paint.Picture">
                  <p:embed/>
                  <p:pic>
                    <p:nvPicPr>
                      <p:cNvPr id="0" name="Picture 3"/>
                      <p:cNvPicPr/>
                      <p:nvPr/>
                    </p:nvPicPr>
                    <p:blipFill>
                      <a:blip r:embed="rId4"/>
                      <a:stretch>
                        <a:fillRect/>
                      </a:stretch>
                    </p:blipFill>
                    <p:spPr>
                      <a:xfrm>
                        <a:off x="53340" y="42545"/>
                        <a:ext cx="12106910" cy="6642100"/>
                      </a:xfrm>
                      <a:prstGeom prst="rect">
                        <a:avLst/>
                      </a:prstGeom>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IN"/>
          </a:p>
        </p:txBody>
      </p:sp>
      <p:sp>
        <p:nvSpPr>
          <p:cNvPr id="5" name="Text Box 4"/>
          <p:cNvSpPr txBox="1"/>
          <p:nvPr/>
        </p:nvSpPr>
        <p:spPr>
          <a:xfrm>
            <a:off x="294005" y="0"/>
            <a:ext cx="11603990" cy="7539355"/>
          </a:xfrm>
          <a:prstGeom prst="rect">
            <a:avLst/>
          </a:prstGeom>
          <a:noFill/>
        </p:spPr>
        <p:txBody>
          <a:bodyPr wrap="square" rtlCol="0" anchor="t">
            <a:spAutoFit/>
          </a:bodyPr>
          <a:lstStyle/>
          <a:p>
            <a:r>
              <a:rPr lang="en-US" sz="2800" b="1"/>
              <a:t>Solar Elevation Angle (Altitude):</a:t>
            </a:r>
            <a:r>
              <a:rPr lang="en-US" sz="2800"/>
              <a:t> This angle measures the height of the Sun above the horizon as observed from a specific location on Earth. It ranges from 0° (on the horizon) to 90° (directly overhead). Higher values indicate the Sun is higher in the sky, leading to more direct sunlight and potentially higher temperatures.</a:t>
            </a:r>
          </a:p>
          <a:p>
            <a:endParaRPr lang="en-US" sz="2800"/>
          </a:p>
          <a:p>
            <a:r>
              <a:rPr lang="en-US" sz="2800" b="1"/>
              <a:t>Solar Azimuth Angle:</a:t>
            </a:r>
            <a:r>
              <a:rPr lang="en-US" sz="2800"/>
              <a:t> This angle defines the direction of the Sun relative to the observer's location. It is measured clockwise from true north. A solar azimuth angle of 0° indicates the Sun is due north, 90° means it's due east, 180° is due south, and 270° is due west.</a:t>
            </a:r>
          </a:p>
          <a:p>
            <a:endParaRPr lang="en-US" sz="2800"/>
          </a:p>
          <a:p>
            <a:r>
              <a:rPr lang="en-US" sz="2800" b="1"/>
              <a:t>S</a:t>
            </a:r>
            <a:r>
              <a:rPr lang="en-US" sz="2800" b="1">
                <a:sym typeface="+mn-ea"/>
              </a:rPr>
              <a:t>olar Declination Angle:</a:t>
            </a:r>
            <a:r>
              <a:rPr lang="en-US" sz="2800">
                <a:sym typeface="+mn-ea"/>
              </a:rPr>
              <a:t> This angle measures the latitude at which the Sun's rays are perpendicular to the Earth's surface. It changes throughout the year as the Earth orbits the Sun, causing the seasons. The solar declination angle is 0° during the equinoxes, positive during the northern hemisphere's summer, and negative during its winter.</a:t>
            </a:r>
            <a:endParaRPr lang="en-US" sz="2800"/>
          </a:p>
          <a:p>
            <a:endParaRPr lang="en-US"/>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sp>
        <p:nvSpPr>
          <p:cNvPr id="3" name="Text Box 2"/>
          <p:cNvSpPr txBox="1"/>
          <p:nvPr/>
        </p:nvSpPr>
        <p:spPr>
          <a:xfrm>
            <a:off x="384810" y="0"/>
            <a:ext cx="11423015" cy="7232015"/>
          </a:xfrm>
          <a:prstGeom prst="rect">
            <a:avLst/>
          </a:prstGeom>
          <a:noFill/>
        </p:spPr>
        <p:txBody>
          <a:bodyPr wrap="square" rtlCol="0" anchor="t">
            <a:spAutoFit/>
          </a:bodyPr>
          <a:lstStyle/>
          <a:p>
            <a:endParaRPr lang="en-US"/>
          </a:p>
          <a:p>
            <a:r>
              <a:rPr lang="en-US" sz="2800" b="1">
                <a:sym typeface="+mn-ea"/>
              </a:rPr>
              <a:t>Hour Angle: </a:t>
            </a:r>
            <a:r>
              <a:rPr lang="en-US" sz="2800">
                <a:sym typeface="+mn-ea"/>
              </a:rPr>
              <a:t>This angle measures the time since solar noon, which is the time when the Sun is at its highest point in the sky. It is often expressed in degrees, with 15° per hour of time.</a:t>
            </a:r>
          </a:p>
          <a:p>
            <a:endParaRPr lang="en-US" sz="2800"/>
          </a:p>
          <a:p>
            <a:endParaRPr lang="en-US" sz="2800"/>
          </a:p>
          <a:p>
            <a:r>
              <a:rPr lang="en-US" sz="2800" b="1">
                <a:sym typeface="+mn-ea"/>
              </a:rPr>
              <a:t>Inclination of Earth's Axis:</a:t>
            </a:r>
            <a:r>
              <a:rPr lang="en-US" sz="2800">
                <a:sym typeface="+mn-ea"/>
              </a:rPr>
              <a:t> Earth's axis is tilted relative to its orbital plane around the Sun. This tilt is responsible for the changing seasons as different parts of the Earth receive varying amounts of sunlight throughout the year. The axial tilt is approximately 23.5°.</a:t>
            </a:r>
          </a:p>
          <a:p>
            <a:endParaRPr lang="en-US" sz="2800"/>
          </a:p>
          <a:p>
            <a:endParaRPr lang="en-US" sz="2800" b="1"/>
          </a:p>
          <a:p>
            <a:r>
              <a:rPr lang="en-US" sz="2800" b="1">
                <a:sym typeface="+mn-ea"/>
              </a:rPr>
              <a:t>Angle of Incidence:</a:t>
            </a:r>
            <a:r>
              <a:rPr lang="en-US" sz="2800">
                <a:sym typeface="+mn-ea"/>
              </a:rPr>
              <a:t> This angle refers to the angle at which sunlight strikes a surface. The more direct the sunlight, the smaller the angle of incidence, resulting in more concentrated energy per unit area.</a:t>
            </a:r>
            <a:endParaRPr lang="en-US" sz="2800"/>
          </a:p>
          <a:p>
            <a:endParaRPr lang="en-US"/>
          </a:p>
          <a:p>
            <a:endParaRPr lang="en-US"/>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258570" y="1859915"/>
            <a:ext cx="9993630" cy="2553335"/>
          </a:xfrm>
          <a:prstGeom prst="rect">
            <a:avLst/>
          </a:prstGeom>
          <a:noFill/>
        </p:spPr>
        <p:txBody>
          <a:bodyPr wrap="square" rtlCol="0" anchor="t">
            <a:spAutoFit/>
          </a:bodyPr>
          <a:lstStyle/>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Photovoltaic Technology. </a:t>
            </a: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Passive Solar Technology.</a:t>
            </a: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Water Heating. </a:t>
            </a: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Solar Process Heat. </a:t>
            </a:r>
          </a:p>
          <a:p>
            <a:pPr marL="457200" indent="-457200">
              <a:buFont typeface="Wingdings" panose="05000000000000000000" charset="0"/>
              <a:buChar char="v"/>
            </a:pPr>
            <a:r>
              <a:rPr lang="en-US" sz="3200">
                <a:latin typeface="Times New Roman" panose="02020603050405020304" charset="0"/>
                <a:cs typeface="Times New Roman" panose="02020603050405020304" charset="0"/>
              </a:rPr>
              <a:t>Concentrating Solar Power.</a:t>
            </a:r>
          </a:p>
        </p:txBody>
      </p:sp>
      <p:sp>
        <p:nvSpPr>
          <p:cNvPr id="2" name="Footer Placeholder 1"/>
          <p:cNvSpPr>
            <a:spLocks noGrp="1"/>
          </p:cNvSpPr>
          <p:nvPr>
            <p:ph type="ftr" sz="quarter" idx="11"/>
          </p:nvPr>
        </p:nvSpPr>
        <p:spPr/>
        <p:txBody>
          <a:bodyPr/>
          <a:lstStyle/>
          <a:p>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IN"/>
          </a:p>
        </p:txBody>
      </p:sp>
      <p:pic>
        <p:nvPicPr>
          <p:cNvPr id="3" name="Picture 2"/>
          <p:cNvPicPr>
            <a:picLocks noChangeAspect="1"/>
          </p:cNvPicPr>
          <p:nvPr/>
        </p:nvPicPr>
        <p:blipFill>
          <a:blip r:embed="rId2"/>
          <a:stretch>
            <a:fillRect/>
          </a:stretch>
        </p:blipFill>
        <p:spPr>
          <a:xfrm>
            <a:off x="1524000" y="0"/>
            <a:ext cx="9144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1119</Words>
  <Application>Microsoft Office PowerPoint</Application>
  <PresentationFormat>Widescreen</PresentationFormat>
  <Paragraphs>110</Paragraphs>
  <Slides>30</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7" baseType="lpstr">
      <vt:lpstr>Arial</vt:lpstr>
      <vt:lpstr>Calibri</vt:lpstr>
      <vt:lpstr>Calibri Light</vt:lpstr>
      <vt:lpstr>Times New Roman</vt:lpstr>
      <vt:lpstr>Wingdings</vt:lpstr>
      <vt:lpstr>Office Theme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tssigikumar@gmail.com</dc:creator>
  <cp:lastModifiedBy>krishnaraj v</cp:lastModifiedBy>
  <cp:revision>61</cp:revision>
  <dcterms:created xsi:type="dcterms:W3CDTF">2022-09-13T04:33:00Z</dcterms:created>
  <dcterms:modified xsi:type="dcterms:W3CDTF">2025-08-08T08:50:17Z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D9DA0AF0583844F9840A81595DAFB1A1_13</vt:lpwstr>
  </property>
  <property fmtid="{D5CDD505-2E9C-101B-9397-08002B2CF9AE}" pid="3" name="KSOProductBuildVer">
    <vt:lpwstr>1033-12.2.0.18607</vt:lpwstr>
  </property>
</Properties>
</file>