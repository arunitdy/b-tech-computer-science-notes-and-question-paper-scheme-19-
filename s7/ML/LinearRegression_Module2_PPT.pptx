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57" r:id="rId2"/>
    <p:sldId id="463" r:id="rId3"/>
    <p:sldId id="470" r:id="rId4"/>
    <p:sldId id="471" r:id="rId5"/>
    <p:sldId id="523" r:id="rId6"/>
    <p:sldId id="524" r:id="rId7"/>
    <p:sldId id="525" r:id="rId8"/>
    <p:sldId id="526" r:id="rId9"/>
    <p:sldId id="527" r:id="rId10"/>
    <p:sldId id="528" r:id="rId11"/>
    <p:sldId id="310" r:id="rId12"/>
    <p:sldId id="275" r:id="rId13"/>
    <p:sldId id="276" r:id="rId14"/>
    <p:sldId id="529" r:id="rId15"/>
    <p:sldId id="53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4" autoAdjust="0"/>
    <p:restoredTop sz="94527" autoAdjust="0"/>
  </p:normalViewPr>
  <p:slideViewPr>
    <p:cSldViewPr snapToGrid="0">
      <p:cViewPr varScale="1">
        <p:scale>
          <a:sx n="78" d="100"/>
          <a:sy n="78" d="100"/>
        </p:scale>
        <p:origin x="76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8434E5-94D3-4C7B-8569-E900E1238E85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537E2-D40B-46FF-B522-A8D8C9776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666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F43A-43EB-4DAC-878F-66AB74562158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2A36-753F-47FD-AC25-E9A7AC8D9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758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F43A-43EB-4DAC-878F-66AB74562158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2A36-753F-47FD-AC25-E9A7AC8D9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759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F43A-43EB-4DAC-878F-66AB74562158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2A36-753F-47FD-AC25-E9A7AC8D9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461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F43A-43EB-4DAC-878F-66AB74562158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2A36-753F-47FD-AC25-E9A7AC8D9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80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F43A-43EB-4DAC-878F-66AB74562158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2A36-753F-47FD-AC25-E9A7AC8D9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85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F43A-43EB-4DAC-878F-66AB74562158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2A36-753F-47FD-AC25-E9A7AC8D9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43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F43A-43EB-4DAC-878F-66AB74562158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2A36-753F-47FD-AC25-E9A7AC8D9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46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F43A-43EB-4DAC-878F-66AB74562158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2A36-753F-47FD-AC25-E9A7AC8D9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14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F43A-43EB-4DAC-878F-66AB74562158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2A36-753F-47FD-AC25-E9A7AC8D9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89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F43A-43EB-4DAC-878F-66AB74562158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2A36-753F-47FD-AC25-E9A7AC8D9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09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6F43A-43EB-4DAC-878F-66AB74562158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2A36-753F-47FD-AC25-E9A7AC8D9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03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6F43A-43EB-4DAC-878F-66AB74562158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42A36-753F-47FD-AC25-E9A7AC8D9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1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wmf"/><Relationship Id="rId7" Type="http://schemas.openxmlformats.org/officeDocument/2006/relationships/image" Target="../media/image26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67231"/>
            <a:ext cx="105156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IN" b="1" dirty="0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92271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096" y="119318"/>
            <a:ext cx="11471787" cy="82457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/>
              <a:t>Example 1: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097" y="1140542"/>
            <a:ext cx="11570109" cy="559813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Suppose you </a:t>
            </a:r>
            <a:r>
              <a:rPr lang="en-US" b="1" dirty="0"/>
              <a:t>run a social networking </a:t>
            </a:r>
            <a:r>
              <a:rPr lang="en-US" dirty="0"/>
              <a:t>site that charges a monthly subscription </a:t>
            </a:r>
            <a:r>
              <a:rPr lang="en-US" b="1" dirty="0"/>
              <a:t>fee of $25</a:t>
            </a:r>
            <a:r>
              <a:rPr lang="en-US" dirty="0"/>
              <a:t>, and that this is your only source of revenue. 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Each month you collect data and count your number of users and total revenue.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Done this daily over the </a:t>
            </a:r>
            <a:r>
              <a:rPr lang="en-US" b="1" dirty="0"/>
              <a:t>course of two years</a:t>
            </a:r>
            <a:r>
              <a:rPr lang="en-US" dirty="0"/>
              <a:t>, recording it all in a spreadsheet.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Express this data as a series of points. Here are the first four:</a:t>
            </a:r>
          </a:p>
          <a:p>
            <a:pPr algn="just"/>
            <a:endParaRPr lang="en-US" dirty="0"/>
          </a:p>
          <a:p>
            <a:pPr algn="just"/>
            <a:r>
              <a:rPr lang="es-ES" i="1" dirty="0"/>
              <a:t>S</a:t>
            </a:r>
            <a:r>
              <a:rPr lang="es-ES" dirty="0"/>
              <a:t>={(</a:t>
            </a:r>
            <a:r>
              <a:rPr lang="es-ES" i="1" dirty="0" err="1"/>
              <a:t>x</a:t>
            </a:r>
            <a:r>
              <a:rPr lang="es-ES" dirty="0" err="1"/>
              <a:t>,</a:t>
            </a:r>
            <a:r>
              <a:rPr lang="es-ES" i="1" dirty="0" err="1"/>
              <a:t>y</a:t>
            </a:r>
            <a:r>
              <a:rPr lang="es-ES" dirty="0"/>
              <a:t>)=(1,25),(10,250),(100,2500),(200,5000)}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37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555" y="365125"/>
            <a:ext cx="10971245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/>
              <a:t>Equation to represent the relationship of x and y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7578" y="3029275"/>
            <a:ext cx="2660781" cy="870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𝑦=25𝑥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635273"/>
              </p:ext>
            </p:extLst>
          </p:nvPr>
        </p:nvGraphicFramePr>
        <p:xfrm>
          <a:off x="1143933" y="2032536"/>
          <a:ext cx="3624010" cy="2895600"/>
        </p:xfrm>
        <a:graphic>
          <a:graphicData uri="http://schemas.openxmlformats.org/drawingml/2006/table">
            <a:tbl>
              <a:tblPr/>
              <a:tblGrid>
                <a:gridCol w="1384663">
                  <a:extLst>
                    <a:ext uri="{9D8B030D-6E8A-4147-A177-3AD203B41FA5}">
                      <a16:colId xmlns:a16="http://schemas.microsoft.com/office/drawing/2014/main" val="407684146"/>
                    </a:ext>
                  </a:extLst>
                </a:gridCol>
                <a:gridCol w="2239347">
                  <a:extLst>
                    <a:ext uri="{9D8B030D-6E8A-4147-A177-3AD203B41FA5}">
                      <a16:colId xmlns:a16="http://schemas.microsoft.com/office/drawing/2014/main" val="34328129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IN" sz="3200" b="1" dirty="0">
                          <a:effectLst/>
                        </a:rPr>
                        <a:t>x</a:t>
                      </a:r>
                    </a:p>
                  </a:txBody>
                  <a:tcPr anchor="b">
                    <a:lnL w="7620" cap="flat" cmpd="sng" algn="ctr">
                      <a:solidFill>
                        <a:srgbClr val="10B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C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B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B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3200" b="1">
                          <a:effectLst/>
                        </a:rPr>
                        <a:t>y</a:t>
                      </a:r>
                    </a:p>
                  </a:txBody>
                  <a:tcPr anchor="b">
                    <a:lnL w="7620" cap="flat" cmpd="sng" algn="ctr">
                      <a:solidFill>
                        <a:srgbClr val="E0C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C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C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64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3200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50B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B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3200" dirty="0">
                          <a:effectLst/>
                        </a:rPr>
                        <a:t>25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7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7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446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3200" dirty="0">
                          <a:effectLst/>
                        </a:rPr>
                        <a:t>10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B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C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B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3200" dirty="0">
                          <a:effectLst/>
                        </a:rPr>
                        <a:t>250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20C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C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73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3200">
                          <a:effectLst/>
                        </a:rPr>
                        <a:t>100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10B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B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3200" dirty="0">
                          <a:effectLst/>
                        </a:rPr>
                        <a:t>2500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1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95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3200">
                          <a:effectLst/>
                        </a:rPr>
                        <a:t>200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B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B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3200" dirty="0">
                          <a:effectLst/>
                        </a:rPr>
                        <a:t>5000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4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0C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53535"/>
                  </a:ext>
                </a:extLst>
              </a:tr>
            </a:tbl>
          </a:graphicData>
        </a:graphic>
      </p:graphicFrame>
      <p:sp>
        <p:nvSpPr>
          <p:cNvPr id="5" name="Right Arrow 4"/>
          <p:cNvSpPr/>
          <p:nvPr/>
        </p:nvSpPr>
        <p:spPr>
          <a:xfrm>
            <a:off x="5047861" y="2998205"/>
            <a:ext cx="1782147" cy="9330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98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767" y="132749"/>
            <a:ext cx="11095653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/>
              <a:t>Deduce this mentally and identify the following: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34" y="2121126"/>
            <a:ext cx="6038766" cy="2615747"/>
          </a:xfrm>
        </p:spPr>
        <p:txBody>
          <a:bodyPr>
            <a:normAutofit/>
          </a:bodyPr>
          <a:lstStyle/>
          <a:p>
            <a:r>
              <a:rPr lang="en-US" dirty="0"/>
              <a:t>There’s a linear pattern.</a:t>
            </a:r>
          </a:p>
          <a:p>
            <a:r>
              <a:rPr lang="en-US" dirty="0"/>
              <a:t>The coefficient relating 𝑥 and 𝑦 is 25.</a:t>
            </a:r>
          </a:p>
          <a:p>
            <a:r>
              <a:rPr lang="en-US" dirty="0"/>
              <a:t>The relationship seems deterministic.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180" y="1690688"/>
            <a:ext cx="5488259" cy="503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724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5BA3-EC10-0605-7163-15372C0C9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5359C-7BAB-4F32-D364-AA5F47CB3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46A8A-B7F2-0E45-4236-E12EC9CE11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35"/>
          <a:stretch>
            <a:fillRect/>
          </a:stretch>
        </p:blipFill>
        <p:spPr>
          <a:xfrm>
            <a:off x="838200" y="86525"/>
            <a:ext cx="10068248" cy="6090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4EAC2F-90B1-2ADE-2B38-62269A8D4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298" y="4626605"/>
            <a:ext cx="8474174" cy="18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2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533FB-9861-A825-EBAA-1D1A011B1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" y="99655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Linear Regression?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BB290-756B-2018-F85D-A267E7F96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45" y="924232"/>
            <a:ext cx="11233355" cy="5252731"/>
          </a:xfrm>
        </p:spPr>
        <p:txBody>
          <a:bodyPr/>
          <a:lstStyle/>
          <a:p>
            <a:r>
              <a:rPr lang="en-US" dirty="0"/>
              <a:t>A linear regression is a data plot that graphs the linear relationship and a dependent variable(s).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479EF-C0F1-0C62-4F43-5E84080FB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45" y="2055538"/>
            <a:ext cx="6784944" cy="3878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13E1B0-36F8-A2D0-991B-EA01B6E2A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272" y="2427560"/>
            <a:ext cx="5220768" cy="224607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5672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A00D9-437A-8CD8-2EF1-3E4A8CC9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F969B-B670-6531-295B-4C58A209F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A250C-4336-3177-846B-67A8A4438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639" y="208067"/>
            <a:ext cx="10354161" cy="64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8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F9F1-D756-E777-E7C8-EA1838E98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5991D-27C3-FB46-C48B-866007A19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E6B97E-C558-754D-9BC8-D3ADDD5D8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8489"/>
            <a:ext cx="10230521" cy="651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70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113E-49D4-1FB3-900D-9041D368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CC5C7-3028-980B-A679-79B02EE4D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615F55-28FF-61BA-745C-B7A6B1EF8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36" y="133779"/>
            <a:ext cx="9858861" cy="654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45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12E73-0D86-9306-8877-0BBAC40BD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740F7-1363-B437-13D3-8CDFF3AF1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B0492-275A-7B93-AFD5-D215DB22B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5AF41B-9EC4-FC03-AB00-29FB52B74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84" y="9713"/>
            <a:ext cx="9851922" cy="684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569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10E4F6-D85C-C0AB-4BB2-A621279046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STA6166-RegBasics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CB636-0F5C-2160-0177-AC826B90CE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D8A60C-D20D-4A16-BC1A-6138D9B794CF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70658" name="Text Box 2">
            <a:extLst>
              <a:ext uri="{FF2B5EF4-FFF2-40B4-BE49-F238E27FC236}">
                <a16:creationId xmlns:a16="http://schemas.microsoft.com/office/drawing/2014/main" id="{E2E3999B-27D7-2B27-2BC5-20AD03855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799" y="1857057"/>
            <a:ext cx="52720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u="sng" dirty="0"/>
              <a:t>Estimating the regression parameters</a:t>
            </a:r>
          </a:p>
        </p:txBody>
      </p:sp>
      <p:sp>
        <p:nvSpPr>
          <p:cNvPr id="70659" name="Text Box 3">
            <a:extLst>
              <a:ext uri="{FF2B5EF4-FFF2-40B4-BE49-F238E27FC236}">
                <a16:creationId xmlns:a16="http://schemas.microsoft.com/office/drawing/2014/main" id="{037DC6E6-AAB9-C2A2-9077-A84D33803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892" y="2615584"/>
            <a:ext cx="52720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b="1" dirty="0">
                <a:solidFill>
                  <a:schemeClr val="accent2"/>
                </a:solidFill>
              </a:rPr>
              <a:t>Objective: Minimize the difference between the observation and its prediction according to the line.</a:t>
            </a:r>
          </a:p>
        </p:txBody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id="{9A2B2523-2F48-83C7-4838-F4579D884B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799" y="118896"/>
            <a:ext cx="5614219" cy="14097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Assumed Linear Regression Model</a:t>
            </a:r>
          </a:p>
        </p:txBody>
      </p:sp>
      <p:graphicFrame>
        <p:nvGraphicFramePr>
          <p:cNvPr id="70662" name="Object 6">
            <a:extLst>
              <a:ext uri="{FF2B5EF4-FFF2-40B4-BE49-F238E27FC236}">
                <a16:creationId xmlns:a16="http://schemas.microsoft.com/office/drawing/2014/main" id="{BE30B56F-96F8-DE2D-6EFE-830489FE03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484543"/>
              </p:ext>
            </p:extLst>
          </p:nvPr>
        </p:nvGraphicFramePr>
        <p:xfrm>
          <a:off x="6921501" y="296696"/>
          <a:ext cx="272891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440" imgH="431640" progId="Equation.3">
                  <p:embed/>
                </p:oleObj>
              </mc:Choice>
              <mc:Fallback>
                <p:oleObj name="Equation" r:id="rId2" imgW="1117440" imgH="431640" progId="Equation.3">
                  <p:embed/>
                  <p:pic>
                    <p:nvPicPr>
                      <p:cNvPr id="70662" name="Object 6">
                        <a:extLst>
                          <a:ext uri="{FF2B5EF4-FFF2-40B4-BE49-F238E27FC236}">
                            <a16:creationId xmlns:a16="http://schemas.microsoft.com/office/drawing/2014/main" id="{BE30B56F-96F8-DE2D-6EFE-830489FE03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1" y="296696"/>
                        <a:ext cx="2728913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3" name="Object 7">
            <a:extLst>
              <a:ext uri="{FF2B5EF4-FFF2-40B4-BE49-F238E27FC236}">
                <a16:creationId xmlns:a16="http://schemas.microsoft.com/office/drawing/2014/main" id="{4523D72D-3ACB-A033-8450-757E94C475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89431"/>
              </p:ext>
            </p:extLst>
          </p:nvPr>
        </p:nvGraphicFramePr>
        <p:xfrm>
          <a:off x="1855019" y="3706011"/>
          <a:ext cx="276542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482400" progId="Equation.3">
                  <p:embed/>
                </p:oleObj>
              </mc:Choice>
              <mc:Fallback>
                <p:oleObj name="Equation" r:id="rId4" imgW="1218960" imgH="482400" progId="Equation.3">
                  <p:embed/>
                  <p:pic>
                    <p:nvPicPr>
                      <p:cNvPr id="70663" name="Object 7">
                        <a:extLst>
                          <a:ext uri="{FF2B5EF4-FFF2-40B4-BE49-F238E27FC236}">
                            <a16:creationId xmlns:a16="http://schemas.microsoft.com/office/drawing/2014/main" id="{4523D72D-3ACB-A033-8450-757E94C475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019" y="3706011"/>
                        <a:ext cx="2765425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4" name="Object 8">
            <a:extLst>
              <a:ext uri="{FF2B5EF4-FFF2-40B4-BE49-F238E27FC236}">
                <a16:creationId xmlns:a16="http://schemas.microsoft.com/office/drawing/2014/main" id="{72BC260A-12F6-FCBC-6119-58AD7F9852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523865"/>
              </p:ext>
            </p:extLst>
          </p:nvPr>
        </p:nvGraphicFramePr>
        <p:xfrm>
          <a:off x="6921501" y="2168525"/>
          <a:ext cx="4895850" cy="326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5486400" imgH="3657600" progId="MtbGraph.Document">
                  <p:embed/>
                </p:oleObj>
              </mc:Choice>
              <mc:Fallback>
                <p:oleObj name="Graph" r:id="rId6" imgW="5486400" imgH="3657600" progId="MtbGraph.Document">
                  <p:embed/>
                  <p:pic>
                    <p:nvPicPr>
                      <p:cNvPr id="70664" name="Object 8">
                        <a:extLst>
                          <a:ext uri="{FF2B5EF4-FFF2-40B4-BE49-F238E27FC236}">
                            <a16:creationId xmlns:a16="http://schemas.microsoft.com/office/drawing/2014/main" id="{72BC260A-12F6-FCBC-6119-58AD7F9852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1" y="2168525"/>
                        <a:ext cx="4895850" cy="326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5" name="Object 9">
            <a:extLst>
              <a:ext uri="{FF2B5EF4-FFF2-40B4-BE49-F238E27FC236}">
                <a16:creationId xmlns:a16="http://schemas.microsoft.com/office/drawing/2014/main" id="{BE80D46B-8736-40FB-84F5-869BF4E14C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6597780"/>
              </p:ext>
            </p:extLst>
          </p:nvPr>
        </p:nvGraphicFramePr>
        <p:xfrm>
          <a:off x="839813" y="5538787"/>
          <a:ext cx="479583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08160" imgH="228600" progId="Equation.3">
                  <p:embed/>
                </p:oleObj>
              </mc:Choice>
              <mc:Fallback>
                <p:oleObj name="Equation" r:id="rId8" imgW="2108160" imgH="228600" progId="Equation.3">
                  <p:embed/>
                  <p:pic>
                    <p:nvPicPr>
                      <p:cNvPr id="70665" name="Object 9">
                        <a:extLst>
                          <a:ext uri="{FF2B5EF4-FFF2-40B4-BE49-F238E27FC236}">
                            <a16:creationId xmlns:a16="http://schemas.microsoft.com/office/drawing/2014/main" id="{BE80D46B-8736-40FB-84F5-869BF4E14C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813" y="5538787"/>
                        <a:ext cx="479583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4117D-3BA0-9700-DDE8-FB611D260B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STA6166-RegBasics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1A3E1B-85F7-A7CB-7E1E-7986D9CCB4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7F2E60-5F13-4229-8F8D-131CE9E36C4F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3554" name="Text Box 2">
            <a:extLst>
              <a:ext uri="{FF2B5EF4-FFF2-40B4-BE49-F238E27FC236}">
                <a16:creationId xmlns:a16="http://schemas.microsoft.com/office/drawing/2014/main" id="{0D334B9A-802E-808D-65AC-296EECDA3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10" y="428626"/>
            <a:ext cx="104221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dirty="0"/>
              <a:t>We want the line which is best for all points.  This is done by finding the values of </a:t>
            </a:r>
            <a:r>
              <a:rPr lang="en-US" altLang="en-US" sz="2800" dirty="0">
                <a:latin typeface="Symbol" panose="05050102010706020507" pitchFamily="18" charset="2"/>
              </a:rPr>
              <a:t>b</a:t>
            </a:r>
            <a:r>
              <a:rPr lang="en-US" altLang="en-US" sz="2800" baseline="-25000" dirty="0"/>
              <a:t>0</a:t>
            </a:r>
            <a:r>
              <a:rPr lang="en-US" altLang="en-US" sz="2800" dirty="0"/>
              <a:t> and </a:t>
            </a:r>
            <a:r>
              <a:rPr lang="en-US" altLang="en-US" sz="2800" dirty="0">
                <a:latin typeface="Symbol" panose="05050102010706020507" pitchFamily="18" charset="2"/>
              </a:rPr>
              <a:t>b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which minimizes some sum of errors.  There are a number of ways of doing this.  Consider these two:</a:t>
            </a:r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BC2D38A1-C050-7D26-6CDD-A505365D2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1" y="5594350"/>
            <a:ext cx="419730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Referred to as least squares estimates.</a:t>
            </a:r>
          </a:p>
        </p:txBody>
      </p:sp>
      <p:sp>
        <p:nvSpPr>
          <p:cNvPr id="23560" name="Text Box 8">
            <a:extLst>
              <a:ext uri="{FF2B5EF4-FFF2-40B4-BE49-F238E27FC236}">
                <a16:creationId xmlns:a16="http://schemas.microsoft.com/office/drawing/2014/main" id="{B9C39CD2-A8FC-62C9-6205-7AB8B7529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354" y="3022988"/>
            <a:ext cx="21939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i="1" dirty="0">
                <a:solidFill>
                  <a:srgbClr val="FF0000"/>
                </a:solidFill>
              </a:rPr>
              <a:t>Sum of </a:t>
            </a:r>
            <a:r>
              <a:rPr lang="en-US" altLang="en-US" sz="2000" i="1" u="sng" dirty="0">
                <a:solidFill>
                  <a:srgbClr val="FF0000"/>
                </a:solidFill>
              </a:rPr>
              <a:t>squared residuals</a:t>
            </a:r>
            <a:endParaRPr lang="en-US" altLang="en-US" sz="2000" i="1" dirty="0">
              <a:solidFill>
                <a:srgbClr val="FF0000"/>
              </a:solidFill>
            </a:endParaRPr>
          </a:p>
        </p:txBody>
      </p:sp>
      <p:sp>
        <p:nvSpPr>
          <p:cNvPr id="23561" name="Line 9">
            <a:extLst>
              <a:ext uri="{FF2B5EF4-FFF2-40B4-BE49-F238E27FC236}">
                <a16:creationId xmlns:a16="http://schemas.microsoft.com/office/drawing/2014/main" id="{B8DB2995-D9F4-5575-5930-A17FB85F17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6176" y="3229282"/>
            <a:ext cx="735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62" name="Rectangle 10">
            <a:extLst>
              <a:ext uri="{FF2B5EF4-FFF2-40B4-BE49-F238E27FC236}">
                <a16:creationId xmlns:a16="http://schemas.microsoft.com/office/drawing/2014/main" id="{C02AA687-DC63-C2EE-737F-6C33778167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00250" y="4438650"/>
            <a:ext cx="7772400" cy="742950"/>
          </a:xfrm>
        </p:spPr>
        <p:txBody>
          <a:bodyPr/>
          <a:lstStyle/>
          <a:p>
            <a:r>
              <a:rPr lang="en-US" altLang="en-US" sz="3200"/>
              <a:t>Regression =&gt;  least squares estimation</a:t>
            </a:r>
          </a:p>
        </p:txBody>
      </p:sp>
      <p:graphicFrame>
        <p:nvGraphicFramePr>
          <p:cNvPr id="23563" name="Object 11">
            <a:extLst>
              <a:ext uri="{FF2B5EF4-FFF2-40B4-BE49-F238E27FC236}">
                <a16:creationId xmlns:a16="http://schemas.microsoft.com/office/drawing/2014/main" id="{90C2F229-DB40-C55B-F143-D00471BABB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542003"/>
              </p:ext>
            </p:extLst>
          </p:nvPr>
        </p:nvGraphicFramePr>
        <p:xfrm>
          <a:off x="4182806" y="2416175"/>
          <a:ext cx="1549400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888840" progId="Equation.3">
                  <p:embed/>
                </p:oleObj>
              </mc:Choice>
              <mc:Fallback>
                <p:oleObj name="Equation" r:id="rId2" imgW="660240" imgH="888840" progId="Equation.3">
                  <p:embed/>
                  <p:pic>
                    <p:nvPicPr>
                      <p:cNvPr id="23563" name="Object 11">
                        <a:extLst>
                          <a:ext uri="{FF2B5EF4-FFF2-40B4-BE49-F238E27FC236}">
                            <a16:creationId xmlns:a16="http://schemas.microsoft.com/office/drawing/2014/main" id="{90C2F229-DB40-C55B-F143-D00471BABB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2806" y="2416175"/>
                        <a:ext cx="1549400" cy="160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2">
            <a:extLst>
              <a:ext uri="{FF2B5EF4-FFF2-40B4-BE49-F238E27FC236}">
                <a16:creationId xmlns:a16="http://schemas.microsoft.com/office/drawing/2014/main" id="{62A55DB6-494C-A6B0-072E-96B817E7DA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3350" y="5487988"/>
          <a:ext cx="9525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240" imgH="253800" progId="Equation.3">
                  <p:embed/>
                </p:oleObj>
              </mc:Choice>
              <mc:Fallback>
                <p:oleObj name="Equation" r:id="rId4" imgW="444240" imgH="253800" progId="Equation.3">
                  <p:embed/>
                  <p:pic>
                    <p:nvPicPr>
                      <p:cNvPr id="23564" name="Object 12">
                        <a:extLst>
                          <a:ext uri="{FF2B5EF4-FFF2-40B4-BE49-F238E27FC236}">
                            <a16:creationId xmlns:a16="http://schemas.microsoft.com/office/drawing/2014/main" id="{62A55DB6-494C-A6B0-072E-96B817E7DA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5487988"/>
                        <a:ext cx="9525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8A15DB-5BC6-2882-B417-8B2BC6209E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STA6166-RegBasics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EF990-29DA-9052-186D-48C25A4828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D1791B-1888-41C0-BFFC-846F676477FE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24578" name="Text Box 2">
            <a:extLst>
              <a:ext uri="{FF2B5EF4-FFF2-40B4-BE49-F238E27FC236}">
                <a16:creationId xmlns:a16="http://schemas.microsoft.com/office/drawing/2014/main" id="{99044A34-E24B-21B0-CE73-C26E792BD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175" y="1323975"/>
            <a:ext cx="55186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Calculus is used to find the least squares estimates.</a:t>
            </a:r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8BCE2BB6-EA05-A0A1-D91B-B8B3077ED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4" y="3654425"/>
            <a:ext cx="568854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/>
              <a:t>Solve this system of two equations in two unknowns.</a:t>
            </a:r>
          </a:p>
        </p:txBody>
      </p:sp>
      <p:sp>
        <p:nvSpPr>
          <p:cNvPr id="24583" name="Text Box 7">
            <a:extLst>
              <a:ext uri="{FF2B5EF4-FFF2-40B4-BE49-F238E27FC236}">
                <a16:creationId xmlns:a16="http://schemas.microsoft.com/office/drawing/2014/main" id="{7DB39709-C31E-C7FD-D055-6150796E9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5201" y="5310189"/>
            <a:ext cx="73961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909638">
              <a:tabLst>
                <a:tab pos="90963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08050" defTabSz="909638">
              <a:tabLst>
                <a:tab pos="90963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22350" defTabSz="909638">
              <a:tabLst>
                <a:tab pos="90963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909638">
              <a:tabLst>
                <a:tab pos="90963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909638">
              <a:tabLst>
                <a:tab pos="90963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909638" eaLnBrk="0" fontAlgn="base" hangingPunct="0">
              <a:spcBef>
                <a:spcPct val="0"/>
              </a:spcBef>
              <a:spcAft>
                <a:spcPct val="0"/>
              </a:spcAft>
              <a:tabLst>
                <a:tab pos="90963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909638" eaLnBrk="0" fontAlgn="base" hangingPunct="0">
              <a:spcBef>
                <a:spcPct val="0"/>
              </a:spcBef>
              <a:spcAft>
                <a:spcPct val="0"/>
              </a:spcAft>
              <a:tabLst>
                <a:tab pos="90963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909638" eaLnBrk="0" fontAlgn="base" hangingPunct="0">
              <a:spcBef>
                <a:spcPct val="0"/>
              </a:spcBef>
              <a:spcAft>
                <a:spcPct val="0"/>
              </a:spcAft>
              <a:tabLst>
                <a:tab pos="90963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909638" eaLnBrk="0" fontAlgn="base" hangingPunct="0">
              <a:spcBef>
                <a:spcPct val="0"/>
              </a:spcBef>
              <a:spcAft>
                <a:spcPct val="0"/>
              </a:spcAft>
              <a:tabLst>
                <a:tab pos="90963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</a:rPr>
              <a:t>Note:	The parameter estimates will be functions of the data, </a:t>
            </a:r>
          </a:p>
          <a:p>
            <a:r>
              <a:rPr lang="en-US" altLang="en-US" sz="2000">
                <a:latin typeface="Arial" panose="020B0604020202020204" pitchFamily="34" charset="0"/>
              </a:rPr>
              <a:t>	hence they will be statistics.</a:t>
            </a:r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CA5CFCF5-9C6B-7770-AFB5-08ECDEE049C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66950" y="304800"/>
            <a:ext cx="7772400" cy="742950"/>
          </a:xfrm>
        </p:spPr>
        <p:txBody>
          <a:bodyPr/>
          <a:lstStyle/>
          <a:p>
            <a:r>
              <a:rPr lang="en-US" altLang="en-US"/>
              <a:t>Normal Equations</a:t>
            </a:r>
          </a:p>
        </p:txBody>
      </p:sp>
      <p:graphicFrame>
        <p:nvGraphicFramePr>
          <p:cNvPr id="24585" name="Object 9">
            <a:extLst>
              <a:ext uri="{FF2B5EF4-FFF2-40B4-BE49-F238E27FC236}">
                <a16:creationId xmlns:a16="http://schemas.microsoft.com/office/drawing/2014/main" id="{C320AF93-D74F-394A-7A33-9CB8245FF1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1525" y="1795463"/>
          <a:ext cx="55181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280" imgH="431640" progId="Equation.3">
                  <p:embed/>
                </p:oleObj>
              </mc:Choice>
              <mc:Fallback>
                <p:oleObj name="Equation" r:id="rId2" imgW="2438280" imgH="431640" progId="Equation.3">
                  <p:embed/>
                  <p:pic>
                    <p:nvPicPr>
                      <p:cNvPr id="24585" name="Object 9">
                        <a:extLst>
                          <a:ext uri="{FF2B5EF4-FFF2-40B4-BE49-F238E27FC236}">
                            <a16:creationId xmlns:a16="http://schemas.microsoft.com/office/drawing/2014/main" id="{C320AF93-D74F-394A-7A33-9CB8245FF1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1795463"/>
                        <a:ext cx="551815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">
            <a:extLst>
              <a:ext uri="{FF2B5EF4-FFF2-40B4-BE49-F238E27FC236}">
                <a16:creationId xmlns:a16="http://schemas.microsoft.com/office/drawing/2014/main" id="{88158AE5-BFB7-F453-38B8-D394298929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3150" y="2882901"/>
          <a:ext cx="1358900" cy="182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0560" imgH="888840" progId="Equation.3">
                  <p:embed/>
                </p:oleObj>
              </mc:Choice>
              <mc:Fallback>
                <p:oleObj name="Equation" r:id="rId4" imgW="520560" imgH="888840" progId="Equation.3">
                  <p:embed/>
                  <p:pic>
                    <p:nvPicPr>
                      <p:cNvPr id="24586" name="Object 10">
                        <a:extLst>
                          <a:ext uri="{FF2B5EF4-FFF2-40B4-BE49-F238E27FC236}">
                            <a16:creationId xmlns:a16="http://schemas.microsoft.com/office/drawing/2014/main" id="{88158AE5-BFB7-F453-38B8-D394298929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150" y="2882901"/>
                        <a:ext cx="1358900" cy="182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6D0096-157E-8C83-9819-E8F394992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750" y="155629"/>
            <a:ext cx="7853898" cy="2020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B2D718-8E73-E1D9-8E1F-6D543571F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56" y="2270378"/>
            <a:ext cx="5196839" cy="724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071F18-A19F-CF9A-6C08-C5E4B6D45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42" y="2994870"/>
            <a:ext cx="4298211" cy="11092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D995D2-1FB0-3F27-50A7-0E80CD15C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0819" y="2922986"/>
            <a:ext cx="4559829" cy="12529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769213-5518-9779-B91B-1EEAE1863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6868" y="4634447"/>
            <a:ext cx="4496658" cy="152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2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C0F21-118B-5C2A-B986-4C1F0CDC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26728606-6132-BD77-775E-5980D0F826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200423"/>
              </p:ext>
            </p:extLst>
          </p:nvPr>
        </p:nvGraphicFramePr>
        <p:xfrm>
          <a:off x="3026389" y="202637"/>
          <a:ext cx="55181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280" imgH="431640" progId="Equation.3">
                  <p:embed/>
                </p:oleObj>
              </mc:Choice>
              <mc:Fallback>
                <p:oleObj name="Equation" r:id="rId2" imgW="2438280" imgH="431640" progId="Equation.3">
                  <p:embed/>
                  <p:pic>
                    <p:nvPicPr>
                      <p:cNvPr id="24585" name="Object 9">
                        <a:extLst>
                          <a:ext uri="{FF2B5EF4-FFF2-40B4-BE49-F238E27FC236}">
                            <a16:creationId xmlns:a16="http://schemas.microsoft.com/office/drawing/2014/main" id="{C320AF93-D74F-394A-7A33-9CB8245FF1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6389" y="202637"/>
                        <a:ext cx="551815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FF01C48-9B9A-2ADE-5B57-19926B67B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87" y="1242375"/>
            <a:ext cx="5385888" cy="1844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46B7BA-827E-B45C-CA5A-876EF8D51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087" y="3199966"/>
            <a:ext cx="4166689" cy="8862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54EC34-74DD-4914-3E6E-2DEF747213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178" y="4291014"/>
            <a:ext cx="3629029" cy="9692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B829A7-4502-11B2-1B8D-E0FCD2C6F5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887" y="5171625"/>
            <a:ext cx="4891832" cy="8862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3D057D-2F5D-A1A2-16B5-5EAECBDE5CD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8475"/>
          <a:stretch>
            <a:fillRect/>
          </a:stretch>
        </p:blipFill>
        <p:spPr>
          <a:xfrm>
            <a:off x="5863602" y="1242375"/>
            <a:ext cx="6239908" cy="927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2C8472C-CB72-E664-835A-8B432E77FE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5538" y="2690761"/>
            <a:ext cx="4947647" cy="139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7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7694</TotalTime>
  <Words>298</Words>
  <Application>Microsoft Office PowerPoint</Application>
  <PresentationFormat>Widescreen</PresentationFormat>
  <Paragraphs>47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Office Theme</vt:lpstr>
      <vt:lpstr>Equation</vt:lpstr>
      <vt:lpstr>Graph</vt:lpstr>
      <vt:lpstr>Linear Regression</vt:lpstr>
      <vt:lpstr>Example 1:</vt:lpstr>
      <vt:lpstr>Equation to represent the relationship of x and y</vt:lpstr>
      <vt:lpstr>Deduce this mentally and identify the following:</vt:lpstr>
      <vt:lpstr>PowerPoint Presentation</vt:lpstr>
      <vt:lpstr>What is Linear Regression?</vt:lpstr>
      <vt:lpstr>PowerPoint Presentation</vt:lpstr>
      <vt:lpstr>PowerPoint Presentation</vt:lpstr>
      <vt:lpstr>PowerPoint Presentation</vt:lpstr>
      <vt:lpstr>PowerPoint Presentation</vt:lpstr>
      <vt:lpstr>Assumed Linear Regression Model</vt:lpstr>
      <vt:lpstr>Regression =&gt;  least squares estimation</vt:lpstr>
      <vt:lpstr>Normal Equations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Thyagaraju GS</dc:creator>
  <cp:lastModifiedBy>PRASIDH MS</cp:lastModifiedBy>
  <cp:revision>500</cp:revision>
  <dcterms:created xsi:type="dcterms:W3CDTF">2024-04-23T06:02:33Z</dcterms:created>
  <dcterms:modified xsi:type="dcterms:W3CDTF">2025-08-25T04:11:41Z</dcterms:modified>
</cp:coreProperties>
</file>