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85" r:id="rId2"/>
    <p:sldId id="260" r:id="rId3"/>
    <p:sldId id="261" r:id="rId4"/>
    <p:sldId id="263" r:id="rId5"/>
    <p:sldId id="264" r:id="rId6"/>
    <p:sldId id="265" r:id="rId7"/>
    <p:sldId id="267" r:id="rId8"/>
    <p:sldId id="286" r:id="rId9"/>
    <p:sldId id="274" r:id="rId10"/>
    <p:sldId id="287" r:id="rId11"/>
    <p:sldId id="288" r:id="rId12"/>
    <p:sldId id="289" r:id="rId13"/>
    <p:sldId id="290" r:id="rId14"/>
  </p:sldIdLst>
  <p:sldSz cx="9144000" cy="6858000" type="screen4x3"/>
  <p:notesSz cx="6985000" cy="9271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5pPr>
    <a:lvl6pPr marL="2286000" algn="l" defTabSz="914400" rtl="0" eaLnBrk="1" latinLnBrk="0" hangingPunct="1"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6pPr>
    <a:lvl7pPr marL="2743200" algn="l" defTabSz="914400" rtl="0" eaLnBrk="1" latinLnBrk="0" hangingPunct="1"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7pPr>
    <a:lvl8pPr marL="3200400" algn="l" defTabSz="914400" rtl="0" eaLnBrk="1" latinLnBrk="0" hangingPunct="1"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8pPr>
    <a:lvl9pPr marL="3657600" algn="l" defTabSz="914400" rtl="0" eaLnBrk="1" latinLnBrk="0" hangingPunct="1">
      <a:defRPr sz="36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04" autoAdjust="0"/>
    <p:restoredTop sz="90929"/>
  </p:normalViewPr>
  <p:slideViewPr>
    <p:cSldViewPr>
      <p:cViewPr varScale="1">
        <p:scale>
          <a:sx n="75" d="100"/>
          <a:sy n="75" d="100"/>
        </p:scale>
        <p:origin x="108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19A8436-6798-DCE1-EDBF-BC302A0B06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541918D-B2F7-8DAF-2097-46964C1903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D49154D5-E784-F612-5228-3A80418BC2B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5D31DC1D-EED2-4135-A252-2138B3E5ACB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72682B64-F513-49A3-B6A6-27DE73554F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21B2A767-DDB1-B739-E3D8-D290E2AC91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693E6D56-4E21-5D9B-0EB3-18B55881A8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CCF8F6DB-500C-745A-EB2C-6C8658B0240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695325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3653" name="Rectangle 5">
            <a:extLst>
              <a:ext uri="{FF2B5EF4-FFF2-40B4-BE49-F238E27FC236}">
                <a16:creationId xmlns:a16="http://schemas.microsoft.com/office/drawing/2014/main" id="{4699F67B-F862-E9A2-451E-C0CF2BC8A54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3725"/>
            <a:ext cx="5121275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3654" name="Rectangle 6">
            <a:extLst>
              <a:ext uri="{FF2B5EF4-FFF2-40B4-BE49-F238E27FC236}">
                <a16:creationId xmlns:a16="http://schemas.microsoft.com/office/drawing/2014/main" id="{ED7670E6-51C9-E45D-2751-B3D98174E0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3655" name="Rectangle 7">
            <a:extLst>
              <a:ext uri="{FF2B5EF4-FFF2-40B4-BE49-F238E27FC236}">
                <a16:creationId xmlns:a16="http://schemas.microsoft.com/office/drawing/2014/main" id="{64922932-CCB4-AB10-C760-F548E54FCA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91098A-17F4-499C-91C8-003F42FADED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384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809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68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8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0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517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7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34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615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610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615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3A841A7-92AD-03B4-FEEC-EB296CAE9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AC410BA-ECA6-41C4-FDCC-F06CDA0E1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32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32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32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32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32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C705042-F780-870D-77C3-A574B49022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altLang="en-US" dirty="0"/>
              <a:t>Matrix Approach to Linear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B207E5E-242C-9F1F-D3EC-18AA758E2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/>
              <a:t>The Model in Scalar Form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4D4ADA4-94DF-51E8-1CEC-4BC13B6EF1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9248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Y</a:t>
            </a:r>
            <a:r>
              <a:rPr lang="en-US" altLang="en-US" baseline="-25000" dirty="0"/>
              <a:t>i  </a:t>
            </a:r>
            <a:r>
              <a:rPr lang="en-US" altLang="en-US" dirty="0"/>
              <a:t>=  </a:t>
            </a:r>
            <a:r>
              <a:rPr lang="en-US" altLang="en-US" i="1" dirty="0"/>
              <a:t>β</a:t>
            </a:r>
            <a:r>
              <a:rPr lang="en-US" altLang="en-US" baseline="-25000" dirty="0"/>
              <a:t>0 </a:t>
            </a:r>
            <a:r>
              <a:rPr lang="en-US" altLang="en-US" dirty="0"/>
              <a:t>+ </a:t>
            </a:r>
            <a:r>
              <a:rPr lang="en-US" altLang="en-US" i="1" dirty="0"/>
              <a:t>β</a:t>
            </a:r>
            <a:r>
              <a:rPr lang="en-US" altLang="en-US" baseline="-25000" dirty="0"/>
              <a:t>1</a:t>
            </a:r>
            <a:r>
              <a:rPr lang="en-US" altLang="en-US" dirty="0"/>
              <a:t>X</a:t>
            </a:r>
            <a:r>
              <a:rPr lang="en-US" altLang="en-US" baseline="-25000" dirty="0"/>
              <a:t>i 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Consider writing the observations: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aseline="30000" dirty="0"/>
              <a:t>      </a:t>
            </a:r>
            <a:r>
              <a:rPr lang="en-US" altLang="en-US" dirty="0"/>
              <a:t>Y</a:t>
            </a:r>
            <a:r>
              <a:rPr lang="en-US" altLang="en-US" baseline="-25000" dirty="0"/>
              <a:t>1</a:t>
            </a:r>
            <a:r>
              <a:rPr lang="en-US" altLang="en-US" dirty="0"/>
              <a:t>= </a:t>
            </a:r>
            <a:r>
              <a:rPr lang="en-US" altLang="en-US" i="1" dirty="0"/>
              <a:t>β</a:t>
            </a:r>
            <a:r>
              <a:rPr lang="en-US" altLang="en-US" baseline="-25000" dirty="0"/>
              <a:t>0 </a:t>
            </a:r>
            <a:r>
              <a:rPr lang="en-US" altLang="en-US" dirty="0"/>
              <a:t>+ </a:t>
            </a:r>
            <a:r>
              <a:rPr lang="en-US" altLang="en-US" i="1" dirty="0"/>
              <a:t>β</a:t>
            </a:r>
            <a:r>
              <a:rPr lang="en-US" altLang="en-US" baseline="-25000" dirty="0"/>
              <a:t>1</a:t>
            </a:r>
            <a:r>
              <a:rPr lang="en-US" altLang="en-US" dirty="0"/>
              <a:t>X</a:t>
            </a:r>
            <a:r>
              <a:rPr lang="en-US" altLang="en-US" baseline="-25000" dirty="0"/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    Y</a:t>
            </a:r>
            <a:r>
              <a:rPr lang="en-US" altLang="en-US" baseline="-25000" dirty="0"/>
              <a:t>2</a:t>
            </a:r>
            <a:r>
              <a:rPr lang="en-US" altLang="en-US" dirty="0"/>
              <a:t>= </a:t>
            </a:r>
            <a:r>
              <a:rPr lang="en-US" altLang="en-US" i="1" dirty="0"/>
              <a:t>β</a:t>
            </a:r>
            <a:r>
              <a:rPr lang="en-US" altLang="en-US" baseline="-25000" dirty="0"/>
              <a:t>0 </a:t>
            </a:r>
            <a:r>
              <a:rPr lang="en-US" altLang="en-US" dirty="0"/>
              <a:t>+ </a:t>
            </a:r>
            <a:r>
              <a:rPr lang="en-US" altLang="en-US" i="1" dirty="0"/>
              <a:t>β</a:t>
            </a:r>
            <a:r>
              <a:rPr lang="en-US" altLang="en-US" baseline="-25000" dirty="0"/>
              <a:t>1</a:t>
            </a:r>
            <a:r>
              <a:rPr lang="en-US" altLang="en-US" dirty="0"/>
              <a:t>X</a:t>
            </a:r>
            <a:r>
              <a:rPr lang="en-US" altLang="en-US" baseline="-25000" dirty="0"/>
              <a:t>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aseline="-25000" dirty="0"/>
              <a:t>       </a:t>
            </a:r>
            <a:r>
              <a:rPr lang="en-US" altLang="en-US" dirty="0">
                <a:cs typeface="Courier New" panose="02070309020205020404" pitchFamily="49" charset="0"/>
              </a:rPr>
              <a:t>:</a:t>
            </a:r>
            <a:endParaRPr lang="en-US" altLang="en-US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    Y</a:t>
            </a:r>
            <a:r>
              <a:rPr lang="en-US" altLang="en-US" baseline="-25000" dirty="0"/>
              <a:t>n</a:t>
            </a:r>
            <a:r>
              <a:rPr lang="en-US" altLang="en-US" dirty="0"/>
              <a:t>= </a:t>
            </a:r>
            <a:r>
              <a:rPr lang="en-US" altLang="en-US" i="1" dirty="0"/>
              <a:t>β</a:t>
            </a:r>
            <a:r>
              <a:rPr lang="en-US" altLang="en-US" baseline="-25000" dirty="0"/>
              <a:t>0 </a:t>
            </a:r>
            <a:r>
              <a:rPr lang="en-US" altLang="en-US" dirty="0"/>
              <a:t>+ </a:t>
            </a:r>
            <a:r>
              <a:rPr lang="en-US" altLang="en-US" i="1" dirty="0"/>
              <a:t>β</a:t>
            </a:r>
            <a:r>
              <a:rPr lang="en-US" altLang="en-US" baseline="-25000" dirty="0"/>
              <a:t>1</a:t>
            </a:r>
            <a:r>
              <a:rPr lang="en-US" altLang="en-US" dirty="0"/>
              <a:t>X</a:t>
            </a:r>
            <a:r>
              <a:rPr lang="en-US" altLang="en-US" baseline="-25000" dirty="0"/>
              <a:t>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baseline="30000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baseline="30000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baseline="-2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CCA653-D193-20D9-9A83-72C5E2BBF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/>
              <a:t>The Model in Matrix Form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11B43230-1D0B-09E0-7911-0900DC524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209800"/>
            <a:ext cx="2971800" cy="283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           </a:t>
            </a:r>
            <a:endParaRPr lang="en-US" altLang="en-US" baseline="-250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baseline="-2500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6DA432-B726-C64C-0585-962E33E98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564" y="1752600"/>
            <a:ext cx="6540872" cy="4633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7CE48EA-071C-2DFE-541D-46DDB8B13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458200" cy="1143000"/>
          </a:xfrm>
        </p:spPr>
        <p:txBody>
          <a:bodyPr/>
          <a:lstStyle/>
          <a:p>
            <a:r>
              <a:rPr lang="en-US" altLang="en-US" u="sng"/>
              <a:t>The Model in Matrix Form II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55D96588-F4CC-AE62-4E2A-F71FFFE76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130425"/>
            <a:ext cx="1841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baseline="-25000">
              <a:latin typeface="Arial" panose="020B0604020202020204" pitchFamily="34" charset="0"/>
            </a:endParaRPr>
          </a:p>
          <a:p>
            <a:endParaRPr lang="en-US" altLang="en-US"/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324C2E28-266A-8D20-A397-23B6C6D49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1911350"/>
            <a:ext cx="18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08D00D-9184-6381-ACE4-9CED76632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64310"/>
            <a:ext cx="7579344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7374259-3205-EEB6-E7B1-83FA695C8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/>
              <a:t>The Design Matrix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F7641F16-40A7-A847-E2D2-D0CFCA289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905000"/>
            <a:ext cx="358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A9E2BCC6-20B1-0EDF-6856-5C1628BE2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0338" y="1943100"/>
          <a:ext cx="4916487" cy="434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1584" imgH="857290" progId="Equation.3">
                  <p:embed/>
                </p:oleObj>
              </mc:Choice>
              <mc:Fallback>
                <p:oleObj name="Equation" r:id="rId2" imgW="971584" imgH="85729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1943100"/>
                        <a:ext cx="4916487" cy="434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C0FE64C-FD14-8263-6D29-14192A54A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/>
              <a:t>Vector of Parameters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A8CA9E01-F9D8-4C1A-45B4-6CE4B3B4F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362200"/>
            <a:ext cx="12001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        </a:t>
            </a:r>
          </a:p>
          <a:p>
            <a:r>
              <a:rPr lang="en-US" altLang="en-US">
                <a:latin typeface="Arial" panose="020B0604020202020204" pitchFamily="34" charset="0"/>
              </a:rPr>
              <a:t>       </a:t>
            </a:r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F9DC6EE3-5C01-7556-7A8E-4A3EA434C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7363" y="2301875"/>
          <a:ext cx="5172075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567" imgH="438237" progId="Equation.3">
                  <p:embed/>
                </p:oleObj>
              </mc:Choice>
              <mc:Fallback>
                <p:oleObj name="Equation" r:id="rId2" imgW="571567" imgH="43823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2301875"/>
                        <a:ext cx="5172075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10FEC27-E21C-8377-5E97-25B37BB07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772400" cy="1143000"/>
          </a:xfrm>
        </p:spPr>
        <p:txBody>
          <a:bodyPr/>
          <a:lstStyle/>
          <a:p>
            <a:r>
              <a:rPr lang="en-US" altLang="en-US" u="sng"/>
              <a:t>Vector of responses</a:t>
            </a:r>
          </a:p>
        </p:txBody>
      </p:sp>
      <p:graphicFrame>
        <p:nvGraphicFramePr>
          <p:cNvPr id="10243" name="Object 3">
            <a:extLst>
              <a:ext uri="{FF2B5EF4-FFF2-40B4-BE49-F238E27FC236}">
                <a16:creationId xmlns:a16="http://schemas.microsoft.com/office/drawing/2014/main" id="{78E52DA8-80AD-1101-0F72-F6A7011B7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1905000"/>
          <a:ext cx="3095625" cy="454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0449" imgH="866747" progId="Equation.3">
                  <p:embed/>
                </p:oleObj>
              </mc:Choice>
              <mc:Fallback>
                <p:oleObj name="Equation" r:id="rId2" imgW="590449" imgH="86674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05000"/>
                        <a:ext cx="3095625" cy="454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342B9-7E63-665A-1B73-A22749A0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06327-D5D6-6807-4DB8-1300DACC8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8267008" cy="505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80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B618BC7-ABDD-022B-C215-CE40B48C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1143000"/>
          </a:xfrm>
        </p:spPr>
        <p:txBody>
          <a:bodyPr/>
          <a:lstStyle/>
          <a:p>
            <a:r>
              <a:rPr lang="en-US" altLang="en-US" sz="4400" dirty="0"/>
              <a:t>Least Squares: </a:t>
            </a:r>
            <a:r>
              <a:rPr lang="en-IN" sz="4400" dirty="0"/>
              <a:t>Mean Squared Error</a:t>
            </a:r>
            <a:endParaRPr lang="en-US" alt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1466D9-6E7E-22B1-10DE-3F289EDC2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3163"/>
            <a:ext cx="4400546" cy="106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5E93A6-5C95-E228-C101-4699B5A67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95400"/>
            <a:ext cx="4535793" cy="1607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19EAE0-BD0A-AC54-91D1-0FA97E7E7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160" y="2346853"/>
            <a:ext cx="4704521" cy="16078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DD6FDE-7538-5C46-3EDB-A38A882F9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954727"/>
            <a:ext cx="3757262" cy="2519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986C5C-CEC3-5874-CB28-E8E349E8A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5125040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D3A095-D37D-7418-E76E-231BD5BE6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283" y="1219200"/>
            <a:ext cx="4889898" cy="924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F72A4-6181-1D7F-E80B-CDD663116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661056"/>
            <a:ext cx="2216571" cy="675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BF52AD-B978-95C5-7004-BACC17E4B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451" y="0"/>
            <a:ext cx="2875960" cy="727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1E985E-7131-FA18-4FC8-CFD6F03FA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8282" y="2393336"/>
            <a:ext cx="5242717" cy="9866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A59CCC-319D-C55A-5EDE-27D96D3542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9672" y="3562392"/>
            <a:ext cx="7278767" cy="9866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970BAA-7243-04C7-1BDF-57AAEE9198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501" y="4436612"/>
            <a:ext cx="4368499" cy="10566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DC73D2-D47D-F6D2-9E25-D3302A54F9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320" y="5396732"/>
            <a:ext cx="3352800" cy="9983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85CE86-714A-E4DD-D574-8236095187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85" y="4736628"/>
            <a:ext cx="9035254" cy="173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4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3BBB83-9E62-176F-F889-BB43525B8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71600"/>
            <a:ext cx="8480881" cy="1371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D7108-3EBA-47BB-53C0-137F87C92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84964"/>
            <a:ext cx="7278767" cy="986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20D97B-0C77-4134-41C5-797A7437A0D7}"/>
              </a:ext>
            </a:extLst>
          </p:cNvPr>
          <p:cNvSpPr txBox="1"/>
          <p:nvPr/>
        </p:nvSpPr>
        <p:spPr>
          <a:xfrm>
            <a:off x="30480" y="2450812"/>
            <a:ext cx="899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dirty="0">
                <a:highlight>
                  <a:srgbClr val="FFFF00"/>
                </a:highlight>
                <a:latin typeface="Bookman Old Style" panose="02050604050505020204" pitchFamily="18" charset="0"/>
              </a:rPr>
              <a:t>Compute the gradient (matrix derivative)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8B3E81-7A63-C2F0-347C-1D06CEFD6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57" y="3739996"/>
            <a:ext cx="8835886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4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41D6F9-F020-8D2C-30A7-03FBBC819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798"/>
          <a:stretch>
            <a:fillRect/>
          </a:stretch>
        </p:blipFill>
        <p:spPr>
          <a:xfrm>
            <a:off x="0" y="304800"/>
            <a:ext cx="9377680" cy="198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35B060-3C90-97E8-40EF-86D238DEE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286000"/>
            <a:ext cx="8480881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68E68F-1B99-9487-C7BF-856F96957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642360"/>
            <a:ext cx="8597703" cy="23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4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830B47-EDA1-7A6E-3CAB-DEA516048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2" y="304800"/>
            <a:ext cx="888785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4196A7-4BCC-D1C6-7531-DB826CA8F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514600"/>
            <a:ext cx="5412557" cy="131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93361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AA"/>
      </a:accent5>
      <a:accent6>
        <a:srgbClr val="2D2DB9"/>
      </a:accent6>
      <a:hlink>
        <a:srgbClr val="CCCCFF"/>
      </a:hlink>
      <a:folHlink>
        <a:srgbClr val="B2B2B2"/>
      </a:folHlink>
    </a:clrScheme>
    <a:fontScheme name="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lnDef>
  </a:objectDefaults>
  <a:extraClrSchemeLst>
    <a:extraClrScheme>
      <a:clrScheme name="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Office\Templates\master.pot</Template>
  <TotalTime>3757</TotalTime>
  <Words>76</Words>
  <Application>Microsoft Office PowerPoint</Application>
  <PresentationFormat>On-screen Show (4:3)</PresentationFormat>
  <Paragraphs>23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Courier New</vt:lpstr>
      <vt:lpstr>Times New Roman</vt:lpstr>
      <vt:lpstr>master</vt:lpstr>
      <vt:lpstr>Equation</vt:lpstr>
      <vt:lpstr>Matrix Approach to Linear Regression</vt:lpstr>
      <vt:lpstr>The Model in Scalar Form</vt:lpstr>
      <vt:lpstr>The Model in Matrix Form</vt:lpstr>
      <vt:lpstr>The Model in Matrix Form II</vt:lpstr>
      <vt:lpstr>The Design Matrix</vt:lpstr>
      <vt:lpstr>Vector of Parameters</vt:lpstr>
      <vt:lpstr>Vector of responses</vt:lpstr>
      <vt:lpstr>PowerPoint Presentation</vt:lpstr>
      <vt:lpstr>Least Squares: Mean Squared Error</vt:lpstr>
      <vt:lpstr>PowerPoint Presentation</vt:lpstr>
      <vt:lpstr>PowerPoint Presentation</vt:lpstr>
      <vt:lpstr>PowerPoint Presentation</vt:lpstr>
      <vt:lpstr>PowerPoint Presentation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512 Class 1</dc:title>
  <dc:creator>George P. McCabe</dc:creator>
  <dc:description>May 4, 2000</dc:description>
  <cp:lastModifiedBy>PRASIDH MS</cp:lastModifiedBy>
  <cp:revision>108</cp:revision>
  <cp:lastPrinted>2012-09-09T20:56:06Z</cp:lastPrinted>
  <dcterms:created xsi:type="dcterms:W3CDTF">2000-08-20T21:19:55Z</dcterms:created>
  <dcterms:modified xsi:type="dcterms:W3CDTF">2025-09-18T07:32:21Z</dcterms:modified>
</cp:coreProperties>
</file>