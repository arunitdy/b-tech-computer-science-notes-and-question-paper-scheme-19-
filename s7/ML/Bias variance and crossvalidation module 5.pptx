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sldIdLst>
    <p:sldId id="256" r:id="rId2"/>
    <p:sldId id="338" r:id="rId3"/>
    <p:sldId id="339" r:id="rId4"/>
    <p:sldId id="340" r:id="rId5"/>
    <p:sldId id="341" r:id="rId6"/>
    <p:sldId id="342" r:id="rId7"/>
    <p:sldId id="343" r:id="rId8"/>
    <p:sldId id="344" r:id="rId9"/>
    <p:sldId id="328" r:id="rId10"/>
    <p:sldId id="331" r:id="rId11"/>
    <p:sldId id="352" r:id="rId12"/>
    <p:sldId id="332" r:id="rId13"/>
    <p:sldId id="333" r:id="rId14"/>
    <p:sldId id="334" r:id="rId15"/>
    <p:sldId id="337" r:id="rId16"/>
    <p:sldId id="345" r:id="rId17"/>
    <p:sldId id="346" r:id="rId18"/>
    <p:sldId id="347" r:id="rId19"/>
    <p:sldId id="348" r:id="rId20"/>
    <p:sldId id="349" r:id="rId21"/>
    <p:sldId id="350" r:id="rId22"/>
    <p:sldId id="35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yush Rai" initials="PR" lastIdx="1" clrIdx="0">
    <p:extLst>
      <p:ext uri="{19B8F6BF-5375-455C-9EA6-DF929625EA0E}">
        <p15:presenceInfo xmlns:p15="http://schemas.microsoft.com/office/powerpoint/2012/main" userId="S-1-5-21-1815594393-203851566-323931515-10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CC33"/>
    <a:srgbClr val="060A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079FB-1158-44A5-81BA-70742E8B8B87}" type="datetimeFigureOut">
              <a:rPr lang="en-IN" smtClean="0"/>
              <a:pPr/>
              <a:t>22-09-2025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AC2274-7721-4180-95CA-BE03DFC6FB35}" type="slidenum">
              <a:rPr lang="en-IN" smtClean="0"/>
              <a:pPr/>
              <a:t>‹#›</a:t>
            </a:fld>
            <a:endParaRPr lang="en-IN"/>
          </a:p>
        </p:txBody>
      </p:sp>
    </p:spTree>
    <p:extLst>
      <p:ext uri="{BB962C8B-B14F-4D97-AF65-F5344CB8AC3E}">
        <p14:creationId xmlns:p14="http://schemas.microsoft.com/office/powerpoint/2010/main" val="3338326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p:spPr>
      </p:sp>
      <p:sp>
        <p:nvSpPr>
          <p:cNvPr id="1177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altLang="en-US"/>
          </a:p>
        </p:txBody>
      </p:sp>
      <p:sp>
        <p:nvSpPr>
          <p:cNvPr id="38916" name="Slide Number Placeholder 3"/>
          <p:cNvSpPr>
            <a:spLocks noGrp="1"/>
          </p:cNvSpPr>
          <p:nvPr>
            <p:ph type="sldNum" sz="quarter" idx="5"/>
          </p:nvPr>
        </p:nvSpPr>
        <p:spPr/>
        <p:txBody>
          <a:bodyPr/>
          <a:lstStyle/>
          <a:p>
            <a:pPr>
              <a:defRPr/>
            </a:pPr>
            <a:fld id="{98CE1375-F84B-4FF8-83F1-1C05775036F6}" type="slidenum">
              <a:rPr lang="en-US">
                <a:solidFill>
                  <a:prstClr val="black"/>
                </a:solidFill>
              </a:rPr>
              <a:pPr>
                <a:defRPr/>
              </a:pPr>
              <a:t>9</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a:t>From the link above:</a:t>
            </a:r>
          </a:p>
          <a:p>
            <a:r>
              <a:rPr lang="en-US" altLang="en-US"/>
              <a:t>You can only get generalization through assumptions.</a:t>
            </a:r>
          </a:p>
          <a:p>
            <a:r>
              <a:rPr lang="en-US" altLang="en-US"/>
              <a:t>Thus in order to minimize the MSE, we need to minimize both</a:t>
            </a:r>
          </a:p>
          <a:p>
            <a:r>
              <a:rPr lang="en-US" altLang="en-US"/>
              <a:t>the bias and the variance. However, this is not trivial to do this. For instance, just</a:t>
            </a:r>
          </a:p>
          <a:p>
            <a:r>
              <a:rPr lang="en-US" altLang="en-US"/>
              <a:t>neglecting the input data and predicting the output somehow (e.g., just a constant), would definitely minimize the variance of our predictions: they would be</a:t>
            </a:r>
          </a:p>
          <a:p>
            <a:r>
              <a:rPr lang="en-US" altLang="en-US"/>
              <a:t>always the same, thus the variance would be zero—but the bias of our estimate</a:t>
            </a:r>
          </a:p>
          <a:p>
            <a:r>
              <a:rPr lang="en-US" altLang="en-US"/>
              <a:t>(i.e., the amount we are off the real function) would be tremendously large. On</a:t>
            </a:r>
          </a:p>
          <a:p>
            <a:r>
              <a:rPr lang="en-US" altLang="en-US"/>
              <a:t>the other hand, the neural network could perfectly interpolate the training data,</a:t>
            </a:r>
          </a:p>
          <a:p>
            <a:r>
              <a:rPr lang="en-US" altLang="en-US"/>
              <a:t>i.e., it predict y=t for every data point. This will make the bias term vanish entirely, since the E(y)=f (insert this above into the squared bias term to verify this),</a:t>
            </a:r>
          </a:p>
          <a:p>
            <a:r>
              <a:rPr lang="en-US" altLang="en-US"/>
              <a:t>but the variance term will become equal to the variance of the noise, which may</a:t>
            </a:r>
          </a:p>
          <a:p>
            <a:r>
              <a:rPr lang="en-US" altLang="en-US"/>
              <a:t>be significant (see also Bishop Chapter 9 and the Geman et al. Paper). In general,</a:t>
            </a:r>
          </a:p>
          <a:p>
            <a:r>
              <a:rPr lang="en-US" altLang="en-US"/>
              <a:t>finding an optimal bias-variance tradeoff is hard, but acceptable solutions can be</a:t>
            </a:r>
          </a:p>
          <a:p>
            <a:r>
              <a:rPr lang="en-US" altLang="en-US"/>
              <a:t>found, e.g., by means of cross validation or regularization.</a:t>
            </a:r>
          </a:p>
        </p:txBody>
      </p:sp>
      <p:sp>
        <p:nvSpPr>
          <p:cNvPr id="4" name="Slide Number Placeholder 3"/>
          <p:cNvSpPr>
            <a:spLocks noGrp="1"/>
          </p:cNvSpPr>
          <p:nvPr>
            <p:ph type="sldNum" sz="quarter" idx="5"/>
          </p:nvPr>
        </p:nvSpPr>
        <p:spPr/>
        <p:txBody>
          <a:bodyPr/>
          <a:lstStyle/>
          <a:p>
            <a:pPr>
              <a:defRPr/>
            </a:pPr>
            <a:fld id="{78C6739C-5DF6-4039-A014-B9FFC7185E3E}" type="slidenum">
              <a:rPr lang="en-US">
                <a:solidFill>
                  <a:prstClr val="black"/>
                </a:solidFill>
              </a:rPr>
              <a:pPr>
                <a:defRPr/>
              </a:pPr>
              <a:t>10</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6665D-B1E1-5AAF-FE2D-74F1D2C4411C}"/>
            </a:ext>
          </a:extLst>
        </p:cNvPr>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1F367080-02F3-C374-AD9A-8E3B3932460D}"/>
              </a:ext>
            </a:extLst>
          </p:cNvPr>
          <p:cNvSpPr>
            <a:spLocks noGrp="1" noRot="1" noChangeAspect="1" noTextEdit="1"/>
          </p:cNvSpPr>
          <p:nvPr>
            <p:ph type="sldImg"/>
          </p:nvPr>
        </p:nvSpPr>
        <p:spPr bwMode="auto">
          <a:noFill/>
          <a:ln>
            <a:solidFill>
              <a:srgbClr val="000000"/>
            </a:solidFill>
            <a:miter lim="800000"/>
            <a:headEnd/>
            <a:tailEnd/>
          </a:ln>
        </p:spPr>
      </p:sp>
      <p:sp>
        <p:nvSpPr>
          <p:cNvPr id="120835" name="Notes Placeholder 2">
            <a:extLst>
              <a:ext uri="{FF2B5EF4-FFF2-40B4-BE49-F238E27FC236}">
                <a16:creationId xmlns:a16="http://schemas.microsoft.com/office/drawing/2014/main" id="{5C0B9EC2-160F-EEF4-05B1-105CE1EC15AE}"/>
              </a:ext>
            </a:extLst>
          </p:cNvPr>
          <p:cNvSpPr>
            <a:spLocks noGrp="1"/>
          </p:cNvSpPr>
          <p:nvPr>
            <p:ph type="body" idx="1"/>
          </p:nvPr>
        </p:nvSpPr>
        <p:spPr bwMode="auto">
          <a:noFill/>
        </p:spPr>
        <p:txBody>
          <a:bodyPr wrap="square" numCol="1" anchor="t" anchorCtr="0" compatLnSpc="1">
            <a:prstTxWarp prst="textNoShape">
              <a:avLst/>
            </a:prstTxWarp>
          </a:bodyPr>
          <a:lstStyle/>
          <a:p>
            <a:r>
              <a:rPr lang="en-US" altLang="en-US"/>
              <a:t>From the link above:</a:t>
            </a:r>
          </a:p>
          <a:p>
            <a:r>
              <a:rPr lang="en-US" altLang="en-US"/>
              <a:t>You can only get generalization through assumptions.</a:t>
            </a:r>
          </a:p>
          <a:p>
            <a:r>
              <a:rPr lang="en-US" altLang="en-US"/>
              <a:t>Thus in order to minimize the MSE, we need to minimize both</a:t>
            </a:r>
          </a:p>
          <a:p>
            <a:r>
              <a:rPr lang="en-US" altLang="en-US"/>
              <a:t>the bias and the variance. However, this is not trivial to do this. For instance, just</a:t>
            </a:r>
          </a:p>
          <a:p>
            <a:r>
              <a:rPr lang="en-US" altLang="en-US"/>
              <a:t>neglecting the input data and predicting the output somehow (e.g., just a constant), would definitely minimize the variance of our predictions: they would be</a:t>
            </a:r>
          </a:p>
          <a:p>
            <a:r>
              <a:rPr lang="en-US" altLang="en-US"/>
              <a:t>always the same, thus the variance would be zero—but the bias of our estimate</a:t>
            </a:r>
          </a:p>
          <a:p>
            <a:r>
              <a:rPr lang="en-US" altLang="en-US"/>
              <a:t>(i.e., the amount we are off the real function) would be tremendously large. On</a:t>
            </a:r>
          </a:p>
          <a:p>
            <a:r>
              <a:rPr lang="en-US" altLang="en-US"/>
              <a:t>the other hand, the neural network could perfectly interpolate the training data,</a:t>
            </a:r>
          </a:p>
          <a:p>
            <a:r>
              <a:rPr lang="en-US" altLang="en-US"/>
              <a:t>i.e., it predict y=t for every data point. This will make the bias term vanish entirely, since the E(y)=f (insert this above into the squared bias term to verify this),</a:t>
            </a:r>
          </a:p>
          <a:p>
            <a:r>
              <a:rPr lang="en-US" altLang="en-US"/>
              <a:t>but the variance term will become equal to the variance of the noise, which may</a:t>
            </a:r>
          </a:p>
          <a:p>
            <a:r>
              <a:rPr lang="en-US" altLang="en-US"/>
              <a:t>be significant (see also Bishop Chapter 9 and the Geman et al. Paper). In general,</a:t>
            </a:r>
          </a:p>
          <a:p>
            <a:r>
              <a:rPr lang="en-US" altLang="en-US"/>
              <a:t>finding an optimal bias-variance tradeoff is hard, but acceptable solutions can be</a:t>
            </a:r>
          </a:p>
          <a:p>
            <a:r>
              <a:rPr lang="en-US" altLang="en-US"/>
              <a:t>found, e.g., by means of cross validation or regularization.</a:t>
            </a:r>
          </a:p>
        </p:txBody>
      </p:sp>
      <p:sp>
        <p:nvSpPr>
          <p:cNvPr id="4" name="Slide Number Placeholder 3">
            <a:extLst>
              <a:ext uri="{FF2B5EF4-FFF2-40B4-BE49-F238E27FC236}">
                <a16:creationId xmlns:a16="http://schemas.microsoft.com/office/drawing/2014/main" id="{6E941DA9-D066-6D66-D0FF-58A783406468}"/>
              </a:ext>
            </a:extLst>
          </p:cNvPr>
          <p:cNvSpPr>
            <a:spLocks noGrp="1"/>
          </p:cNvSpPr>
          <p:nvPr>
            <p:ph type="sldNum" sz="quarter" idx="5"/>
          </p:nvPr>
        </p:nvSpPr>
        <p:spPr/>
        <p:txBody>
          <a:bodyPr/>
          <a:lstStyle/>
          <a:p>
            <a:pPr>
              <a:defRPr/>
            </a:pPr>
            <a:fld id="{78C6739C-5DF6-4039-A014-B9FFC7185E3E}" type="slidenum">
              <a:rPr lang="en-US">
                <a:solidFill>
                  <a:prstClr val="black"/>
                </a:solidFill>
              </a:rPr>
              <a:pPr>
                <a:defRPr/>
              </a:pPr>
              <a:t>11</a:t>
            </a:fld>
            <a:endParaRPr lang="en-US">
              <a:solidFill>
                <a:prstClr val="black"/>
              </a:solidFill>
            </a:endParaRPr>
          </a:p>
        </p:txBody>
      </p:sp>
    </p:spTree>
    <p:extLst>
      <p:ext uri="{BB962C8B-B14F-4D97-AF65-F5344CB8AC3E}">
        <p14:creationId xmlns:p14="http://schemas.microsoft.com/office/powerpoint/2010/main" val="146514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p:spPr>
      </p:sp>
      <p:sp>
        <p:nvSpPr>
          <p:cNvPr id="12185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34D781DC-6858-451B-8034-B512ED8C81A9}" type="slidenum">
              <a:rPr lang="en-US">
                <a:solidFill>
                  <a:prstClr val="black"/>
                </a:solidFill>
              </a:rPr>
              <a:pPr>
                <a:defRPr/>
              </a:pPr>
              <a:t>12</a:t>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a:t>Note: these figures don’t work in pdf</a:t>
            </a:r>
          </a:p>
        </p:txBody>
      </p:sp>
      <p:sp>
        <p:nvSpPr>
          <p:cNvPr id="4" name="Slide Number Placeholder 3"/>
          <p:cNvSpPr>
            <a:spLocks noGrp="1"/>
          </p:cNvSpPr>
          <p:nvPr>
            <p:ph type="sldNum" sz="quarter" idx="5"/>
          </p:nvPr>
        </p:nvSpPr>
        <p:spPr/>
        <p:txBody>
          <a:bodyPr/>
          <a:lstStyle/>
          <a:p>
            <a:pPr>
              <a:defRPr/>
            </a:pPr>
            <a:fld id="{F4BA0115-E5D3-485E-A407-0152CCA5DF16}" type="slidenum">
              <a:rPr lang="en-US">
                <a:solidFill>
                  <a:prstClr val="black"/>
                </a:solidFill>
              </a:rPr>
              <a:pPr>
                <a:defRPr/>
              </a:pPr>
              <a:t>13</a:t>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p:spPr>
      </p:sp>
      <p:sp>
        <p:nvSpPr>
          <p:cNvPr id="1239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p>
            <a:pPr>
              <a:defRPr/>
            </a:pPr>
            <a:fld id="{005815D8-E791-426F-AA1E-DDF2DE6B7BB4}" type="slidenum">
              <a:rPr lang="en-US">
                <a:solidFill>
                  <a:prstClr val="black"/>
                </a:solidFill>
              </a:rPr>
              <a:pPr>
                <a:defRPr/>
              </a:pPr>
              <a:t>14</a:t>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p:spPr>
      </p:sp>
      <p:sp>
        <p:nvSpPr>
          <p:cNvPr id="12595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ltLang="en-US"/>
              <a:t>The simpler classifier or regularization could increase bias and lead to more error.</a:t>
            </a:r>
          </a:p>
        </p:txBody>
      </p:sp>
      <p:sp>
        <p:nvSpPr>
          <p:cNvPr id="4" name="Slide Number Placeholder 3"/>
          <p:cNvSpPr>
            <a:spLocks noGrp="1"/>
          </p:cNvSpPr>
          <p:nvPr>
            <p:ph type="sldNum" sz="quarter" idx="5"/>
          </p:nvPr>
        </p:nvSpPr>
        <p:spPr/>
        <p:txBody>
          <a:bodyPr/>
          <a:lstStyle/>
          <a:p>
            <a:pPr>
              <a:defRPr/>
            </a:pPr>
            <a:fld id="{EEA30CC8-68D1-43DB-BC9F-C8C48AF5C58A}" type="slidenum">
              <a:rPr lang="en-US">
                <a:solidFill>
                  <a:prstClr val="black"/>
                </a:solidFill>
              </a:rPr>
              <a:pPr>
                <a:defRPr/>
              </a:pPr>
              <a:t>15</a:t>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2E8B-E765-4F58-A257-0E1E2EC1E1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FB0D9F0-86A6-48DF-B30E-B84487765E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7E9CD7-9DDA-4CF9-AA93-4DE94EF05F48}"/>
              </a:ext>
            </a:extLst>
          </p:cNvPr>
          <p:cNvSpPr>
            <a:spLocks noGrp="1"/>
          </p:cNvSpPr>
          <p:nvPr>
            <p:ph type="dt" sz="half" idx="10"/>
          </p:nvPr>
        </p:nvSpPr>
        <p:spPr/>
        <p:txBody>
          <a:bodyPr/>
          <a:lstStyle/>
          <a:p>
            <a:fld id="{66A9955A-2DC5-4511-A53D-598F496EDEEE}" type="datetime1">
              <a:rPr lang="en-IN" smtClean="0"/>
              <a:pPr/>
              <a:t>22-09-2025</a:t>
            </a:fld>
            <a:endParaRPr lang="en-IN"/>
          </a:p>
        </p:txBody>
      </p:sp>
      <p:sp>
        <p:nvSpPr>
          <p:cNvPr id="5" name="Footer Placeholder 4">
            <a:extLst>
              <a:ext uri="{FF2B5EF4-FFF2-40B4-BE49-F238E27FC236}">
                <a16:creationId xmlns:a16="http://schemas.microsoft.com/office/drawing/2014/main" id="{1C5422E9-1D05-4AD0-BFC0-2527F71217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BFB85C-0DA1-4C64-8F01-7A91FEF10534}"/>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2721459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BDEA5-031B-494A-B467-EFFEB2766D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AD22B5-97C1-4FAC-9285-AA741BFE1F1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77851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027FE-0F44-497F-BF33-83303D147F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6ABBA3-F0E8-4C36-916A-E54529F140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A16D18-BB11-4BFD-9E7A-8DFB408A75BB}"/>
              </a:ext>
            </a:extLst>
          </p:cNvPr>
          <p:cNvSpPr>
            <a:spLocks noGrp="1"/>
          </p:cNvSpPr>
          <p:nvPr>
            <p:ph type="dt" sz="half" idx="10"/>
          </p:nvPr>
        </p:nvSpPr>
        <p:spPr/>
        <p:txBody>
          <a:bodyPr/>
          <a:lstStyle/>
          <a:p>
            <a:fld id="{4CFD7B4F-85E2-411C-AFB6-1A374A5D39B8}" type="datetime1">
              <a:rPr lang="en-IN" smtClean="0"/>
              <a:pPr/>
              <a:t>22-09-2025</a:t>
            </a:fld>
            <a:endParaRPr lang="en-IN"/>
          </a:p>
        </p:txBody>
      </p:sp>
      <p:sp>
        <p:nvSpPr>
          <p:cNvPr id="5" name="Footer Placeholder 4">
            <a:extLst>
              <a:ext uri="{FF2B5EF4-FFF2-40B4-BE49-F238E27FC236}">
                <a16:creationId xmlns:a16="http://schemas.microsoft.com/office/drawing/2014/main" id="{8533F1CC-7685-4FAD-B5F7-982834C412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65F9D9-79E8-4C23-9200-19A6857E3D87}"/>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1613195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A6550-E91F-4D00-83FE-9437519949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4E5A4F-9318-4630-A9C7-16E2FD6AF77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95E241-2474-417E-B544-69CF286112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34499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F0B88-78D9-4019-8BFF-8F7C0DCD4F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60B707-0551-48AD-BAF3-CE20FCE94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A6066B9-A417-4624-91D6-6D6295C2100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5A6971-440D-4631-80F7-B3123104A6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D684CD4-B32C-429C-8FDB-C3993DE51CF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C11BC8-FB4C-4B9C-8A71-BB4D1F6A2DBB}"/>
              </a:ext>
            </a:extLst>
          </p:cNvPr>
          <p:cNvSpPr>
            <a:spLocks noGrp="1"/>
          </p:cNvSpPr>
          <p:nvPr>
            <p:ph type="dt" sz="half" idx="10"/>
          </p:nvPr>
        </p:nvSpPr>
        <p:spPr/>
        <p:txBody>
          <a:bodyPr/>
          <a:lstStyle/>
          <a:p>
            <a:fld id="{E1C471E0-72C8-4CC8-AE53-DCEAAFB58B8B}" type="datetime1">
              <a:rPr lang="en-IN" smtClean="0"/>
              <a:pPr/>
              <a:t>22-09-2025</a:t>
            </a:fld>
            <a:endParaRPr lang="en-IN"/>
          </a:p>
        </p:txBody>
      </p:sp>
      <p:sp>
        <p:nvSpPr>
          <p:cNvPr id="8" name="Footer Placeholder 7">
            <a:extLst>
              <a:ext uri="{FF2B5EF4-FFF2-40B4-BE49-F238E27FC236}">
                <a16:creationId xmlns:a16="http://schemas.microsoft.com/office/drawing/2014/main" id="{3783E117-C4A9-4FF3-9C91-FFD40695E55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B29C272-E75C-4778-96BF-8B2BC996BA08}"/>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4161606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BDEF5-DE48-45E6-AB10-8EDCE19D9B3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021AE6-4821-4359-BA0A-71E21BF0BC09}"/>
              </a:ext>
            </a:extLst>
          </p:cNvPr>
          <p:cNvSpPr>
            <a:spLocks noGrp="1"/>
          </p:cNvSpPr>
          <p:nvPr>
            <p:ph type="dt" sz="half" idx="10"/>
          </p:nvPr>
        </p:nvSpPr>
        <p:spPr/>
        <p:txBody>
          <a:bodyPr/>
          <a:lstStyle/>
          <a:p>
            <a:fld id="{71899225-93B0-4D75-98A5-1AA74F5D545B}" type="datetime1">
              <a:rPr lang="en-IN" smtClean="0"/>
              <a:pPr/>
              <a:t>22-09-2025</a:t>
            </a:fld>
            <a:endParaRPr lang="en-IN"/>
          </a:p>
        </p:txBody>
      </p:sp>
      <p:sp>
        <p:nvSpPr>
          <p:cNvPr id="4" name="Footer Placeholder 3">
            <a:extLst>
              <a:ext uri="{FF2B5EF4-FFF2-40B4-BE49-F238E27FC236}">
                <a16:creationId xmlns:a16="http://schemas.microsoft.com/office/drawing/2014/main" id="{7C427195-022D-4F59-91AC-F6EF60F074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CDE4F-8C95-4584-8FBF-AF73E2F5BF95}"/>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387832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37068-89ED-42F9-9A72-92111C5A53CC}"/>
              </a:ext>
            </a:extLst>
          </p:cNvPr>
          <p:cNvSpPr>
            <a:spLocks noGrp="1"/>
          </p:cNvSpPr>
          <p:nvPr>
            <p:ph type="dt" sz="half" idx="10"/>
          </p:nvPr>
        </p:nvSpPr>
        <p:spPr/>
        <p:txBody>
          <a:bodyPr/>
          <a:lstStyle/>
          <a:p>
            <a:fld id="{EA2F8A65-8968-44A1-8A19-3117F08B5A38}" type="datetime1">
              <a:rPr lang="en-IN" smtClean="0"/>
              <a:pPr/>
              <a:t>22-09-2025</a:t>
            </a:fld>
            <a:endParaRPr lang="en-IN"/>
          </a:p>
        </p:txBody>
      </p:sp>
      <p:sp>
        <p:nvSpPr>
          <p:cNvPr id="3" name="Footer Placeholder 2">
            <a:extLst>
              <a:ext uri="{FF2B5EF4-FFF2-40B4-BE49-F238E27FC236}">
                <a16:creationId xmlns:a16="http://schemas.microsoft.com/office/drawing/2014/main" id="{CFD62B2C-1FE1-496D-9296-45C99FB44B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BFDE75-9B7A-49B3-9B56-475889999285}"/>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2172041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639A8-6449-4746-8F81-EF24B31227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88EEFD-9C86-41A8-9E20-FB51AE3652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7D5B7E-7597-4AD6-A029-CB20B9FBF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10E2B30-B4F2-4EC2-B501-40677FFA1103}"/>
              </a:ext>
            </a:extLst>
          </p:cNvPr>
          <p:cNvSpPr>
            <a:spLocks noGrp="1"/>
          </p:cNvSpPr>
          <p:nvPr>
            <p:ph type="dt" sz="half" idx="10"/>
          </p:nvPr>
        </p:nvSpPr>
        <p:spPr/>
        <p:txBody>
          <a:bodyPr/>
          <a:lstStyle/>
          <a:p>
            <a:fld id="{26D3029C-FE30-49AA-946C-8160924AD21C}" type="datetime1">
              <a:rPr lang="en-IN" smtClean="0"/>
              <a:pPr/>
              <a:t>22-09-2025</a:t>
            </a:fld>
            <a:endParaRPr lang="en-IN"/>
          </a:p>
        </p:txBody>
      </p:sp>
      <p:sp>
        <p:nvSpPr>
          <p:cNvPr id="6" name="Footer Placeholder 5">
            <a:extLst>
              <a:ext uri="{FF2B5EF4-FFF2-40B4-BE49-F238E27FC236}">
                <a16:creationId xmlns:a16="http://schemas.microsoft.com/office/drawing/2014/main" id="{EFD346B0-D5A7-4730-8667-0678E78485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353FD6-F916-41FC-BA8C-069D6DA07BA5}"/>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2258535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9521F-28F4-406E-9485-88EB85F4DD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4819DE-9E94-437E-8A68-6E165BAA9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872149-A870-4DC0-8F9C-DDB1FD5826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FF4BED7-7934-4480-A6EE-DA8954235B6B}"/>
              </a:ext>
            </a:extLst>
          </p:cNvPr>
          <p:cNvSpPr>
            <a:spLocks noGrp="1"/>
          </p:cNvSpPr>
          <p:nvPr>
            <p:ph type="dt" sz="half" idx="10"/>
          </p:nvPr>
        </p:nvSpPr>
        <p:spPr/>
        <p:txBody>
          <a:bodyPr/>
          <a:lstStyle/>
          <a:p>
            <a:fld id="{9ECCF262-89E0-4714-A1CF-8A83C222FB9B}" type="datetime1">
              <a:rPr lang="en-IN" smtClean="0"/>
              <a:pPr/>
              <a:t>22-09-2025</a:t>
            </a:fld>
            <a:endParaRPr lang="en-IN"/>
          </a:p>
        </p:txBody>
      </p:sp>
      <p:sp>
        <p:nvSpPr>
          <p:cNvPr id="6" name="Footer Placeholder 5">
            <a:extLst>
              <a:ext uri="{FF2B5EF4-FFF2-40B4-BE49-F238E27FC236}">
                <a16:creationId xmlns:a16="http://schemas.microsoft.com/office/drawing/2014/main" id="{BC7CB16A-A6D8-4778-B7F0-21B6BFD28B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254C42-23E8-4F2C-AC3E-A5BBDF4E66E5}"/>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4123178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9F842-6D8B-4C86-8F39-4F97C9A089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19E737-F70E-42FA-A4AC-876FA6F1635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11A242-E710-4C98-92C7-184F6C186352}"/>
              </a:ext>
            </a:extLst>
          </p:cNvPr>
          <p:cNvSpPr>
            <a:spLocks noGrp="1"/>
          </p:cNvSpPr>
          <p:nvPr>
            <p:ph type="dt" sz="half" idx="10"/>
          </p:nvPr>
        </p:nvSpPr>
        <p:spPr/>
        <p:txBody>
          <a:bodyPr/>
          <a:lstStyle/>
          <a:p>
            <a:fld id="{C7CCAA5C-2D5F-4D58-9A50-D19B643441D4}" type="datetime1">
              <a:rPr lang="en-IN" smtClean="0"/>
              <a:pPr/>
              <a:t>22-09-2025</a:t>
            </a:fld>
            <a:endParaRPr lang="en-IN"/>
          </a:p>
        </p:txBody>
      </p:sp>
      <p:sp>
        <p:nvSpPr>
          <p:cNvPr id="5" name="Footer Placeholder 4">
            <a:extLst>
              <a:ext uri="{FF2B5EF4-FFF2-40B4-BE49-F238E27FC236}">
                <a16:creationId xmlns:a16="http://schemas.microsoft.com/office/drawing/2014/main" id="{84C3ABB8-F14F-4280-A105-4070853E67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F30805-AFD9-468A-8350-47B0059B70D1}"/>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211891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3CE3C8-84F1-4290-9648-5C9E9A2324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CFA146-680D-4C44-80AE-61ACEA18EF2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2229F1-7D33-4055-BCFB-C0B4E177D5C8}"/>
              </a:ext>
            </a:extLst>
          </p:cNvPr>
          <p:cNvSpPr>
            <a:spLocks noGrp="1"/>
          </p:cNvSpPr>
          <p:nvPr>
            <p:ph type="dt" sz="half" idx="10"/>
          </p:nvPr>
        </p:nvSpPr>
        <p:spPr/>
        <p:txBody>
          <a:bodyPr/>
          <a:lstStyle/>
          <a:p>
            <a:fld id="{24DF1576-788D-4E35-9930-DF0255718A2B}" type="datetime1">
              <a:rPr lang="en-IN" smtClean="0"/>
              <a:pPr/>
              <a:t>22-09-2025</a:t>
            </a:fld>
            <a:endParaRPr lang="en-IN"/>
          </a:p>
        </p:txBody>
      </p:sp>
      <p:sp>
        <p:nvSpPr>
          <p:cNvPr id="5" name="Footer Placeholder 4">
            <a:extLst>
              <a:ext uri="{FF2B5EF4-FFF2-40B4-BE49-F238E27FC236}">
                <a16:creationId xmlns:a16="http://schemas.microsoft.com/office/drawing/2014/main" id="{A958B88A-8C21-46C7-8EDF-2F9AEE5A2A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1208B-689D-4C89-B6D0-6D893F5C0C63}"/>
              </a:ext>
            </a:extLst>
          </p:cNvPr>
          <p:cNvSpPr>
            <a:spLocks noGrp="1"/>
          </p:cNvSpPr>
          <p:nvPr>
            <p:ph type="sldNum" sz="quarter" idx="12"/>
          </p:nvPr>
        </p:nvSpPr>
        <p:spPr/>
        <p:txBody>
          <a:bodyPr/>
          <a:lstStyle/>
          <a:p>
            <a:fld id="{80FED9D3-AF84-488D-8A6A-726D5349CDAB}" type="slidenum">
              <a:rPr lang="en-IN" smtClean="0"/>
              <a:pPr/>
              <a:t>‹#›</a:t>
            </a:fld>
            <a:endParaRPr lang="en-IN"/>
          </a:p>
        </p:txBody>
      </p:sp>
    </p:spTree>
    <p:extLst>
      <p:ext uri="{BB962C8B-B14F-4D97-AF65-F5344CB8AC3E}">
        <p14:creationId xmlns:p14="http://schemas.microsoft.com/office/powerpoint/2010/main" val="2384702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BB49AE5-850C-4D68-B1A0-D1411569DCF5}"/>
              </a:ext>
            </a:extLst>
          </p:cNvPr>
          <p:cNvPicPr>
            <a:picLocks noChangeAspect="1"/>
          </p:cNvPicPr>
          <p:nvPr userDrawn="1"/>
        </p:nvPicPr>
        <p:blipFill>
          <a:blip r:embed="rId13" cstate="print">
            <a:lum bright="70000" contrast="-70000"/>
            <a:extLst>
              <a:ext uri="{28A0092B-C50C-407E-A947-70E740481C1C}">
                <a14:useLocalDpi xmlns:a14="http://schemas.microsoft.com/office/drawing/2010/main" val="0"/>
              </a:ext>
            </a:extLst>
          </a:blip>
          <a:stretch>
            <a:fillRect/>
          </a:stretch>
        </p:blipFill>
        <p:spPr>
          <a:xfrm>
            <a:off x="10741313" y="5372525"/>
            <a:ext cx="1224973" cy="1166387"/>
          </a:xfrm>
          <a:prstGeom prst="rect">
            <a:avLst/>
          </a:prstGeom>
        </p:spPr>
      </p:pic>
      <p:sp>
        <p:nvSpPr>
          <p:cNvPr id="9" name="TextBox 8">
            <a:extLst>
              <a:ext uri="{FF2B5EF4-FFF2-40B4-BE49-F238E27FC236}">
                <a16:creationId xmlns:a16="http://schemas.microsoft.com/office/drawing/2014/main" id="{17F7CEE4-2B80-48B3-9B66-3F5A2C62C75F}"/>
              </a:ext>
            </a:extLst>
          </p:cNvPr>
          <p:cNvSpPr txBox="1"/>
          <p:nvPr userDrawn="1"/>
        </p:nvSpPr>
        <p:spPr>
          <a:xfrm>
            <a:off x="10456460" y="6492875"/>
            <a:ext cx="1735540" cy="338554"/>
          </a:xfrm>
          <a:prstGeom prst="rect">
            <a:avLst/>
          </a:prstGeom>
          <a:noFill/>
        </p:spPr>
        <p:txBody>
          <a:bodyPr wrap="none" rtlCol="0">
            <a:spAutoFit/>
          </a:bodyPr>
          <a:lstStyle/>
          <a:p>
            <a:r>
              <a:rPr lang="en-IN" sz="1600" dirty="0">
                <a:solidFill>
                  <a:schemeClr val="accent4"/>
                </a:solidFill>
              </a:rPr>
              <a:t>CS771: Intro to ML</a:t>
            </a:r>
          </a:p>
        </p:txBody>
      </p:sp>
      <p:sp>
        <p:nvSpPr>
          <p:cNvPr id="2" name="Title Placeholder 1">
            <a:extLst>
              <a:ext uri="{FF2B5EF4-FFF2-40B4-BE49-F238E27FC236}">
                <a16:creationId xmlns:a16="http://schemas.microsoft.com/office/drawing/2014/main" id="{D83DB4A9-B55E-4623-A2D9-A87B7B5582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CCFFDC-2115-4CD1-967C-545001D0D0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339EF888-538C-4F90-BE4E-FDD77BCBC8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176463-DA8A-478C-9FC8-00C83590963D}" type="datetime1">
              <a:rPr lang="en-IN" smtClean="0"/>
              <a:pPr/>
              <a:t>22-09-2025</a:t>
            </a:fld>
            <a:endParaRPr lang="en-IN"/>
          </a:p>
        </p:txBody>
      </p:sp>
      <p:sp>
        <p:nvSpPr>
          <p:cNvPr id="5" name="Footer Placeholder 4">
            <a:extLst>
              <a:ext uri="{FF2B5EF4-FFF2-40B4-BE49-F238E27FC236}">
                <a16:creationId xmlns:a16="http://schemas.microsoft.com/office/drawing/2014/main" id="{A65CDA8E-891B-4E76-B24D-670B7EB402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F6AB6D-2CD0-4185-A303-317BFF965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FED9D3-AF84-488D-8A6A-726D5349CDAB}" type="slidenum">
              <a:rPr lang="en-IN" smtClean="0"/>
              <a:pPr/>
              <a:t>‹#›</a:t>
            </a:fld>
            <a:endParaRPr lang="en-IN" dirty="0"/>
          </a:p>
        </p:txBody>
      </p:sp>
    </p:spTree>
    <p:extLst>
      <p:ext uri="{BB962C8B-B14F-4D97-AF65-F5344CB8AC3E}">
        <p14:creationId xmlns:p14="http://schemas.microsoft.com/office/powerpoint/2010/main" val="1595129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7AC89-BE04-43C0-8DE4-613238CF2617}"/>
              </a:ext>
            </a:extLst>
          </p:cNvPr>
          <p:cNvSpPr>
            <a:spLocks noGrp="1"/>
          </p:cNvSpPr>
          <p:nvPr>
            <p:ph type="ctrTitle"/>
          </p:nvPr>
        </p:nvSpPr>
        <p:spPr>
          <a:xfrm>
            <a:off x="349541" y="2247311"/>
            <a:ext cx="11492918" cy="1410758"/>
          </a:xfrm>
        </p:spPr>
        <p:txBody>
          <a:bodyPr>
            <a:noAutofit/>
          </a:bodyPr>
          <a:lstStyle/>
          <a:p>
            <a:br>
              <a:rPr lang="en-GB" b="1" dirty="0">
                <a:solidFill>
                  <a:schemeClr val="bg1"/>
                </a:solidFill>
                <a:latin typeface="Garamond" panose="02020404030301010803" pitchFamily="18" charset="0"/>
                <a:cs typeface="Aldhabi" panose="020B0604020202020204" pitchFamily="2" charset="-78"/>
              </a:rPr>
            </a:br>
            <a:br>
              <a:rPr lang="en-GB" b="1" dirty="0">
                <a:solidFill>
                  <a:schemeClr val="bg1"/>
                </a:solidFill>
                <a:latin typeface="Garamond" panose="02020404030301010803" pitchFamily="18" charset="0"/>
                <a:cs typeface="Aldhabi" panose="020B0604020202020204" pitchFamily="2" charset="-78"/>
              </a:rPr>
            </a:br>
            <a:br>
              <a:rPr lang="en-GB" sz="4800" b="1" dirty="0">
                <a:solidFill>
                  <a:schemeClr val="bg1"/>
                </a:solidFill>
                <a:latin typeface="Garamond" panose="02020404030301010803" pitchFamily="18" charset="0"/>
                <a:cs typeface="Aldhabi" panose="020B0604020202020204" pitchFamily="2" charset="-78"/>
              </a:rPr>
            </a:br>
            <a:r>
              <a:rPr lang="en-GB" sz="4800" b="1" dirty="0">
                <a:solidFill>
                  <a:schemeClr val="bg1"/>
                </a:solidFill>
                <a:latin typeface="Garamond" panose="02020404030301010803" pitchFamily="18" charset="0"/>
                <a:cs typeface="Aldhabi" panose="020B0604020202020204" pitchFamily="2" charset="-78"/>
              </a:rPr>
              <a:t>Module V</a:t>
            </a:r>
            <a:endParaRPr lang="en-IN" sz="4800" b="1" dirty="0">
              <a:solidFill>
                <a:schemeClr val="bg1"/>
              </a:solidFill>
              <a:latin typeface="Garamond" panose="02020404030301010803" pitchFamily="18" charset="0"/>
              <a:cs typeface="Aldhabi" panose="020B0604020202020204" pitchFamily="2" charset="-78"/>
            </a:endParaRPr>
          </a:p>
        </p:txBody>
      </p:sp>
      <p:sp>
        <p:nvSpPr>
          <p:cNvPr id="3" name="Subtitle 2">
            <a:extLst>
              <a:ext uri="{FF2B5EF4-FFF2-40B4-BE49-F238E27FC236}">
                <a16:creationId xmlns:a16="http://schemas.microsoft.com/office/drawing/2014/main" id="{18A059B3-A292-45C9-BE13-9562DE36CC68}"/>
              </a:ext>
            </a:extLst>
          </p:cNvPr>
          <p:cNvSpPr>
            <a:spLocks noGrp="1"/>
          </p:cNvSpPr>
          <p:nvPr>
            <p:ph type="subTitle" idx="1"/>
          </p:nvPr>
        </p:nvSpPr>
        <p:spPr>
          <a:xfrm>
            <a:off x="2896763" y="4830266"/>
            <a:ext cx="6282137" cy="821886"/>
          </a:xfrm>
        </p:spPr>
        <p:txBody>
          <a:bodyPr>
            <a:noAutofit/>
          </a:bodyPr>
          <a:lstStyle/>
          <a:p>
            <a:endParaRPr lang="en-IN" sz="2700" dirty="0">
              <a:solidFill>
                <a:schemeClr val="bg1"/>
              </a:solidFill>
              <a:latin typeface="Garamond" panose="02020404030301010803" pitchFamily="18" charset="0"/>
            </a:endParaRPr>
          </a:p>
        </p:txBody>
      </p:sp>
    </p:spTree>
    <p:extLst>
      <p:ext uri="{BB962C8B-B14F-4D97-AF65-F5344CB8AC3E}">
        <p14:creationId xmlns:p14="http://schemas.microsoft.com/office/powerpoint/2010/main" val="433224388"/>
      </p:ext>
    </p:extLst>
  </p:cSld>
  <p:clrMapOvr>
    <a:masterClrMapping/>
  </p:clrMapOvr>
  <mc:AlternateContent xmlns:mc="http://schemas.openxmlformats.org/markup-compatibility/2006" xmlns:p14="http://schemas.microsoft.com/office/powerpoint/2010/main">
    <mc:Choice Requires="p14">
      <p:transition spd="slow" p14:dur="2000" advTm="12540"/>
    </mc:Choice>
    <mc:Fallback xmlns="">
      <p:transition spd="slow" advTm="125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155E9-D8D3-1241-8DAB-95B0B93C60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2515A6-74DD-7142-A8BE-39F1F3125C1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6A4689D-0A49-AA5D-8405-51C2F9411E21}"/>
              </a:ext>
            </a:extLst>
          </p:cNvPr>
          <p:cNvPicPr>
            <a:picLocks noChangeAspect="1"/>
          </p:cNvPicPr>
          <p:nvPr/>
        </p:nvPicPr>
        <p:blipFill>
          <a:blip r:embed="rId2"/>
          <a:stretch>
            <a:fillRect/>
          </a:stretch>
        </p:blipFill>
        <p:spPr>
          <a:xfrm>
            <a:off x="2126589" y="338979"/>
            <a:ext cx="7455950" cy="6081165"/>
          </a:xfrm>
          <a:prstGeom prst="rect">
            <a:avLst/>
          </a:prstGeom>
        </p:spPr>
      </p:pic>
    </p:spTree>
    <p:extLst>
      <p:ext uri="{BB962C8B-B14F-4D97-AF65-F5344CB8AC3E}">
        <p14:creationId xmlns:p14="http://schemas.microsoft.com/office/powerpoint/2010/main" val="2459006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694BD-25BF-E554-082C-BBB3023530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DDD20D-7B7C-E95B-F4CC-CAAF85D4A99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1CAEE32-C7DF-E231-5DC0-FFFE0551F5AB}"/>
              </a:ext>
            </a:extLst>
          </p:cNvPr>
          <p:cNvPicPr>
            <a:picLocks noChangeAspect="1"/>
          </p:cNvPicPr>
          <p:nvPr/>
        </p:nvPicPr>
        <p:blipFill>
          <a:blip r:embed="rId2"/>
          <a:stretch>
            <a:fillRect/>
          </a:stretch>
        </p:blipFill>
        <p:spPr>
          <a:xfrm>
            <a:off x="543727" y="457200"/>
            <a:ext cx="10245746" cy="5719763"/>
          </a:xfrm>
          <a:prstGeom prst="rect">
            <a:avLst/>
          </a:prstGeom>
        </p:spPr>
      </p:pic>
    </p:spTree>
    <p:extLst>
      <p:ext uri="{BB962C8B-B14F-4D97-AF65-F5344CB8AC3E}">
        <p14:creationId xmlns:p14="http://schemas.microsoft.com/office/powerpoint/2010/main" val="899700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E5C14-ABB4-4490-D1AF-9ED1150434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7F56C36-3044-11F6-6CA7-E2E5AA4E7BA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2850F23-C7D0-837A-EBEE-077B90E8E55C}"/>
              </a:ext>
            </a:extLst>
          </p:cNvPr>
          <p:cNvPicPr>
            <a:picLocks noChangeAspect="1"/>
          </p:cNvPicPr>
          <p:nvPr/>
        </p:nvPicPr>
        <p:blipFill>
          <a:blip r:embed="rId2"/>
          <a:stretch>
            <a:fillRect/>
          </a:stretch>
        </p:blipFill>
        <p:spPr>
          <a:xfrm>
            <a:off x="1153340" y="212163"/>
            <a:ext cx="9688832" cy="3376256"/>
          </a:xfrm>
          <a:prstGeom prst="rect">
            <a:avLst/>
          </a:prstGeom>
        </p:spPr>
      </p:pic>
      <p:pic>
        <p:nvPicPr>
          <p:cNvPr id="7" name="Picture 6">
            <a:extLst>
              <a:ext uri="{FF2B5EF4-FFF2-40B4-BE49-F238E27FC236}">
                <a16:creationId xmlns:a16="http://schemas.microsoft.com/office/drawing/2014/main" id="{0CA99300-3FD7-8C01-5141-C9E4A1809447}"/>
              </a:ext>
            </a:extLst>
          </p:cNvPr>
          <p:cNvPicPr>
            <a:picLocks noChangeAspect="1"/>
          </p:cNvPicPr>
          <p:nvPr/>
        </p:nvPicPr>
        <p:blipFill>
          <a:blip r:embed="rId3"/>
          <a:stretch>
            <a:fillRect/>
          </a:stretch>
        </p:blipFill>
        <p:spPr>
          <a:xfrm>
            <a:off x="2821162" y="3619886"/>
            <a:ext cx="5989839" cy="2872989"/>
          </a:xfrm>
          <a:prstGeom prst="rect">
            <a:avLst/>
          </a:prstGeom>
        </p:spPr>
      </p:pic>
    </p:spTree>
    <p:extLst>
      <p:ext uri="{BB962C8B-B14F-4D97-AF65-F5344CB8AC3E}">
        <p14:creationId xmlns:p14="http://schemas.microsoft.com/office/powerpoint/2010/main" val="872769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D4D6-F8EA-4A06-95AF-4A32B6EB0F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BC97CE9-7D6D-F03D-25B7-10B9BF1EC45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F0590DF-CE01-8C8F-8F41-A99EF0EE73EC}"/>
              </a:ext>
            </a:extLst>
          </p:cNvPr>
          <p:cNvPicPr>
            <a:picLocks noChangeAspect="1"/>
          </p:cNvPicPr>
          <p:nvPr/>
        </p:nvPicPr>
        <p:blipFill>
          <a:blip r:embed="rId2"/>
          <a:stretch>
            <a:fillRect/>
          </a:stretch>
        </p:blipFill>
        <p:spPr>
          <a:xfrm>
            <a:off x="2232888" y="275251"/>
            <a:ext cx="7377642" cy="3586354"/>
          </a:xfrm>
          <a:prstGeom prst="rect">
            <a:avLst/>
          </a:prstGeom>
        </p:spPr>
      </p:pic>
    </p:spTree>
    <p:extLst>
      <p:ext uri="{BB962C8B-B14F-4D97-AF65-F5344CB8AC3E}">
        <p14:creationId xmlns:p14="http://schemas.microsoft.com/office/powerpoint/2010/main" val="768356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2F26B-A5E6-AE27-D7F8-AB9C157B6B4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820F80D-88C8-C8A1-A40D-B642E2A5735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1A644D3-89B4-E6A2-37A1-BDCEDCF66718}"/>
              </a:ext>
            </a:extLst>
          </p:cNvPr>
          <p:cNvPicPr>
            <a:picLocks noChangeAspect="1"/>
          </p:cNvPicPr>
          <p:nvPr/>
        </p:nvPicPr>
        <p:blipFill>
          <a:blip r:embed="rId2"/>
          <a:stretch>
            <a:fillRect/>
          </a:stretch>
        </p:blipFill>
        <p:spPr>
          <a:xfrm>
            <a:off x="158621" y="-22777"/>
            <a:ext cx="6679756" cy="3480341"/>
          </a:xfrm>
          <a:prstGeom prst="rect">
            <a:avLst/>
          </a:prstGeom>
        </p:spPr>
      </p:pic>
      <p:pic>
        <p:nvPicPr>
          <p:cNvPr id="7" name="Picture 6">
            <a:extLst>
              <a:ext uri="{FF2B5EF4-FFF2-40B4-BE49-F238E27FC236}">
                <a16:creationId xmlns:a16="http://schemas.microsoft.com/office/drawing/2014/main" id="{AA19FA45-A93B-1F95-68AB-47A3C2A9A461}"/>
              </a:ext>
            </a:extLst>
          </p:cNvPr>
          <p:cNvPicPr>
            <a:picLocks noChangeAspect="1"/>
          </p:cNvPicPr>
          <p:nvPr/>
        </p:nvPicPr>
        <p:blipFill>
          <a:blip r:embed="rId3"/>
          <a:stretch>
            <a:fillRect/>
          </a:stretch>
        </p:blipFill>
        <p:spPr>
          <a:xfrm>
            <a:off x="5020008" y="2998259"/>
            <a:ext cx="6688252" cy="3561161"/>
          </a:xfrm>
          <a:prstGeom prst="rect">
            <a:avLst/>
          </a:prstGeom>
        </p:spPr>
      </p:pic>
    </p:spTree>
    <p:extLst>
      <p:ext uri="{BB962C8B-B14F-4D97-AF65-F5344CB8AC3E}">
        <p14:creationId xmlns:p14="http://schemas.microsoft.com/office/powerpoint/2010/main" val="325807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2D216-34A3-E605-CD2A-5647348DB9D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F560303-98CA-E98B-3CCD-6FBD66D72DB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887FE78-A136-0314-8D29-E739A8DEEF4A}"/>
              </a:ext>
            </a:extLst>
          </p:cNvPr>
          <p:cNvPicPr>
            <a:picLocks noChangeAspect="1"/>
          </p:cNvPicPr>
          <p:nvPr/>
        </p:nvPicPr>
        <p:blipFill>
          <a:blip r:embed="rId2"/>
          <a:stretch>
            <a:fillRect/>
          </a:stretch>
        </p:blipFill>
        <p:spPr>
          <a:xfrm>
            <a:off x="1270732" y="436111"/>
            <a:ext cx="9467961" cy="4947651"/>
          </a:xfrm>
          <a:prstGeom prst="rect">
            <a:avLst/>
          </a:prstGeom>
        </p:spPr>
      </p:pic>
    </p:spTree>
    <p:extLst>
      <p:ext uri="{BB962C8B-B14F-4D97-AF65-F5344CB8AC3E}">
        <p14:creationId xmlns:p14="http://schemas.microsoft.com/office/powerpoint/2010/main" val="2211318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071AD-6B49-E8F5-C2A1-35459BA14A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F78FA2D-2094-0A9B-BE21-386542587AA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6528F22-FF35-7792-AF67-B9CDE3C410F9}"/>
              </a:ext>
            </a:extLst>
          </p:cNvPr>
          <p:cNvPicPr>
            <a:picLocks noChangeAspect="1"/>
          </p:cNvPicPr>
          <p:nvPr/>
        </p:nvPicPr>
        <p:blipFill>
          <a:blip r:embed="rId2"/>
          <a:stretch>
            <a:fillRect/>
          </a:stretch>
        </p:blipFill>
        <p:spPr>
          <a:xfrm>
            <a:off x="3251136" y="130161"/>
            <a:ext cx="5864410" cy="2526207"/>
          </a:xfrm>
          <a:prstGeom prst="rect">
            <a:avLst/>
          </a:prstGeom>
        </p:spPr>
      </p:pic>
      <p:pic>
        <p:nvPicPr>
          <p:cNvPr id="7" name="Picture 6">
            <a:extLst>
              <a:ext uri="{FF2B5EF4-FFF2-40B4-BE49-F238E27FC236}">
                <a16:creationId xmlns:a16="http://schemas.microsoft.com/office/drawing/2014/main" id="{F945381F-DC87-FEB2-92A3-E9409EAD1873}"/>
              </a:ext>
            </a:extLst>
          </p:cNvPr>
          <p:cNvPicPr>
            <a:picLocks noChangeAspect="1"/>
          </p:cNvPicPr>
          <p:nvPr/>
        </p:nvPicPr>
        <p:blipFill>
          <a:blip r:embed="rId3"/>
          <a:stretch>
            <a:fillRect/>
          </a:stretch>
        </p:blipFill>
        <p:spPr>
          <a:xfrm>
            <a:off x="2399683" y="2536476"/>
            <a:ext cx="7567316" cy="4191363"/>
          </a:xfrm>
          <a:prstGeom prst="rect">
            <a:avLst/>
          </a:prstGeom>
        </p:spPr>
      </p:pic>
    </p:spTree>
    <p:extLst>
      <p:ext uri="{BB962C8B-B14F-4D97-AF65-F5344CB8AC3E}">
        <p14:creationId xmlns:p14="http://schemas.microsoft.com/office/powerpoint/2010/main" val="1487299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4"/>
          <p:cNvSpPr>
            <a:spLocks noGrp="1"/>
          </p:cNvSpPr>
          <p:nvPr>
            <p:ph type="title"/>
          </p:nvPr>
        </p:nvSpPr>
        <p:spPr>
          <a:xfrm>
            <a:off x="609600" y="76201"/>
            <a:ext cx="10972800" cy="639763"/>
          </a:xfrm>
        </p:spPr>
        <p:txBody>
          <a:bodyPr>
            <a:normAutofit fontScale="90000"/>
          </a:bodyPr>
          <a:lstStyle/>
          <a:p>
            <a:pPr eaLnBrk="1" hangingPunct="1"/>
            <a:r>
              <a:rPr lang="en-US" altLang="en-US"/>
              <a:t>Generalization</a:t>
            </a:r>
          </a:p>
        </p:txBody>
      </p:sp>
      <p:sp>
        <p:nvSpPr>
          <p:cNvPr id="13315" name="Content Placeholder 5"/>
          <p:cNvSpPr>
            <a:spLocks noGrp="1"/>
          </p:cNvSpPr>
          <p:nvPr>
            <p:ph idx="1"/>
          </p:nvPr>
        </p:nvSpPr>
        <p:spPr>
          <a:xfrm>
            <a:off x="609600" y="606491"/>
            <a:ext cx="11074400" cy="5990252"/>
          </a:xfrm>
        </p:spPr>
        <p:txBody>
          <a:bodyPr>
            <a:normAutofit/>
          </a:bodyPr>
          <a:lstStyle/>
          <a:p>
            <a:pPr eaLnBrk="1" hangingPunct="1"/>
            <a:r>
              <a:rPr lang="en-US" altLang="en-US" sz="2400" dirty="0"/>
              <a:t>Components of generalization error </a:t>
            </a:r>
          </a:p>
          <a:p>
            <a:pPr lvl="1" eaLnBrk="1" hangingPunct="1"/>
            <a:r>
              <a:rPr lang="en-US" altLang="en-US" sz="2000" b="1" dirty="0"/>
              <a:t>Bias:</a:t>
            </a:r>
            <a:r>
              <a:rPr lang="en-US" altLang="en-US" sz="2000" dirty="0"/>
              <a:t> how much the average model over all training sets differ from the true model?</a:t>
            </a:r>
          </a:p>
          <a:p>
            <a:pPr lvl="2" eaLnBrk="1" hangingPunct="1"/>
            <a:r>
              <a:rPr lang="en-US" altLang="en-US" sz="2000" dirty="0"/>
              <a:t>Error due to inaccurate assumptions/simplifications made by the model</a:t>
            </a:r>
          </a:p>
          <a:p>
            <a:pPr lvl="2" eaLnBrk="1" hangingPunct="1"/>
            <a:endParaRPr lang="en-US" altLang="en-US" dirty="0"/>
          </a:p>
          <a:p>
            <a:pPr lvl="2"/>
            <a:r>
              <a:rPr lang="en-US" dirty="0"/>
              <a:t>Imagine using a simple linear model to predict house prices based solely on square footage. If the actual prices also depend on location, age of the house, and number of rooms, the model’s assumptions are too narrow, resulting in </a:t>
            </a:r>
            <a:r>
              <a:rPr lang="en-US" b="1" dirty="0"/>
              <a:t>high bias</a:t>
            </a:r>
            <a:r>
              <a:rPr lang="en-US" dirty="0"/>
              <a:t>.</a:t>
            </a:r>
          </a:p>
          <a:p>
            <a:pPr marL="914400" lvl="2" indent="0">
              <a:buNone/>
            </a:pPr>
            <a:endParaRPr lang="en-US" altLang="en-US" sz="2000" dirty="0"/>
          </a:p>
          <a:p>
            <a:pPr lvl="1" eaLnBrk="1" hangingPunct="1"/>
            <a:r>
              <a:rPr lang="en-US" altLang="en-US" sz="2000" b="1" dirty="0"/>
              <a:t>Variance:</a:t>
            </a:r>
            <a:r>
              <a:rPr lang="en-US" altLang="en-US" sz="2000" dirty="0"/>
              <a:t> how much models estimated from different training sets differ from each other</a:t>
            </a:r>
          </a:p>
          <a:p>
            <a:pPr eaLnBrk="1" hangingPunct="1"/>
            <a:r>
              <a:rPr lang="en-US" altLang="en-US" sz="2400" b="1" dirty="0" err="1"/>
              <a:t>Underfitting</a:t>
            </a:r>
            <a:r>
              <a:rPr lang="en-US" altLang="en-US" sz="2400" b="1" dirty="0"/>
              <a:t>:</a:t>
            </a:r>
            <a:r>
              <a:rPr lang="en-US" altLang="en-US" sz="2400" dirty="0"/>
              <a:t> model is too “simple” to represent all the relevant class characteristics</a:t>
            </a:r>
          </a:p>
          <a:p>
            <a:pPr lvl="1" eaLnBrk="1" hangingPunct="1"/>
            <a:r>
              <a:rPr lang="en-US" altLang="en-US" sz="2000" dirty="0"/>
              <a:t>High bias and low variance</a:t>
            </a:r>
          </a:p>
          <a:p>
            <a:pPr lvl="1" eaLnBrk="1" hangingPunct="1"/>
            <a:r>
              <a:rPr lang="en-US" altLang="en-US" sz="2000" dirty="0"/>
              <a:t>High training error and high test error</a:t>
            </a:r>
          </a:p>
          <a:p>
            <a:pPr eaLnBrk="1" hangingPunct="1"/>
            <a:r>
              <a:rPr lang="en-US" altLang="en-US" sz="2400" b="1" dirty="0"/>
              <a:t>Overfitting:</a:t>
            </a:r>
            <a:r>
              <a:rPr lang="en-US" altLang="en-US" sz="2400" dirty="0"/>
              <a:t> model is too “complex” and fits irrelevant characteristics (noise) in the data</a:t>
            </a:r>
          </a:p>
          <a:p>
            <a:pPr lvl="1" eaLnBrk="1" hangingPunct="1"/>
            <a:r>
              <a:rPr lang="en-US" altLang="en-US" sz="2000" dirty="0"/>
              <a:t>Low bias and high variance</a:t>
            </a:r>
          </a:p>
          <a:p>
            <a:pPr lvl="1" eaLnBrk="1" hangingPunct="1"/>
            <a:r>
              <a:rPr lang="en-US" altLang="en-US" sz="2000" dirty="0"/>
              <a:t>Low training error and high test error</a:t>
            </a:r>
          </a:p>
        </p:txBody>
      </p:sp>
      <p:sp>
        <p:nvSpPr>
          <p:cNvPr id="4" name="TextBox 3"/>
          <p:cNvSpPr txBox="1"/>
          <p:nvPr/>
        </p:nvSpPr>
        <p:spPr>
          <a:xfrm>
            <a:off x="8814488" y="6449970"/>
            <a:ext cx="1631472" cy="276999"/>
          </a:xfrm>
          <a:prstGeom prst="rect">
            <a:avLst/>
          </a:prstGeom>
          <a:noFill/>
        </p:spPr>
        <p:txBody>
          <a:bodyPr wrap="none">
            <a:spAutoFit/>
          </a:bodyPr>
          <a:lstStyle/>
          <a:p>
            <a:pPr>
              <a:defRPr/>
            </a:pPr>
            <a:r>
              <a:rPr lang="en-US" sz="1200" dirty="0">
                <a:solidFill>
                  <a:srgbClr val="FFFFFF">
                    <a:lumMod val="65000"/>
                  </a:srgbClr>
                </a:solidFill>
                <a:cs typeface="+mn-cs"/>
              </a:rPr>
              <a:t>Slide credit: L. </a:t>
            </a:r>
            <a:r>
              <a:rPr lang="en-US" sz="1200" dirty="0" err="1">
                <a:solidFill>
                  <a:srgbClr val="FFFFFF">
                    <a:lumMod val="65000"/>
                  </a:srgbClr>
                </a:solidFill>
                <a:cs typeface="+mn-cs"/>
              </a:rPr>
              <a:t>Lazebnik</a:t>
            </a:r>
            <a:endParaRPr lang="en-US" sz="1200" dirty="0">
              <a:solidFill>
                <a:srgbClr val="FFFFFF">
                  <a:lumMod val="65000"/>
                </a:srgbClr>
              </a:solidFill>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5">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315">
                                            <p:txEl>
                                              <p:pRg st="11" end="11"/>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31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a:t>Bias-Variance Trade-off</a:t>
            </a:r>
          </a:p>
        </p:txBody>
      </p:sp>
      <p:sp>
        <p:nvSpPr>
          <p:cNvPr id="65539" name="TextBox 17"/>
          <p:cNvSpPr txBox="1">
            <a:spLocks noChangeArrowheads="1"/>
          </p:cNvSpPr>
          <p:nvPr/>
        </p:nvSpPr>
        <p:spPr bwMode="auto">
          <a:xfrm>
            <a:off x="2133600" y="1600201"/>
            <a:ext cx="6807200" cy="461963"/>
          </a:xfrm>
          <a:prstGeom prst="rect">
            <a:avLst/>
          </a:prstGeom>
          <a:noFill/>
          <a:ln w="9525">
            <a:noFill/>
            <a:miter lim="800000"/>
            <a:headEnd/>
            <a:tailEnd/>
          </a:ln>
        </p:spPr>
        <p:txBody>
          <a:bodyPr>
            <a:spAutoFit/>
          </a:bodyPr>
          <a:lstStyle/>
          <a:p>
            <a:r>
              <a:rPr lang="en-US" altLang="en-US" sz="2400" dirty="0">
                <a:solidFill>
                  <a:srgbClr val="000000"/>
                </a:solidFill>
              </a:rPr>
              <a:t>E(MSE) = noise</a:t>
            </a:r>
            <a:r>
              <a:rPr lang="en-US" altLang="en-US" sz="2400" baseline="30000" dirty="0">
                <a:solidFill>
                  <a:srgbClr val="000000"/>
                </a:solidFill>
              </a:rPr>
              <a:t>2  </a:t>
            </a:r>
            <a:r>
              <a:rPr lang="en-US" altLang="en-US" sz="2400" dirty="0">
                <a:solidFill>
                  <a:srgbClr val="000000"/>
                </a:solidFill>
              </a:rPr>
              <a:t>+ bias</a:t>
            </a:r>
            <a:r>
              <a:rPr lang="en-US" altLang="en-US" sz="2400" baseline="30000" dirty="0">
                <a:solidFill>
                  <a:srgbClr val="000000"/>
                </a:solidFill>
              </a:rPr>
              <a:t>2</a:t>
            </a:r>
            <a:r>
              <a:rPr lang="en-US" altLang="en-US" sz="2400" dirty="0">
                <a:solidFill>
                  <a:srgbClr val="000000"/>
                </a:solidFill>
              </a:rPr>
              <a:t> + variance</a:t>
            </a:r>
          </a:p>
        </p:txBody>
      </p:sp>
      <p:sp>
        <p:nvSpPr>
          <p:cNvPr id="65541" name="TextBox 5"/>
          <p:cNvSpPr txBox="1">
            <a:spLocks noChangeArrowheads="1"/>
          </p:cNvSpPr>
          <p:nvPr/>
        </p:nvSpPr>
        <p:spPr bwMode="auto">
          <a:xfrm>
            <a:off x="1636564" y="2590801"/>
            <a:ext cx="2438400" cy="369332"/>
          </a:xfrm>
          <a:prstGeom prst="rect">
            <a:avLst/>
          </a:prstGeom>
          <a:noFill/>
          <a:ln w="9525">
            <a:noFill/>
            <a:miter lim="800000"/>
            <a:headEnd/>
            <a:tailEnd/>
          </a:ln>
        </p:spPr>
        <p:txBody>
          <a:bodyPr>
            <a:spAutoFit/>
          </a:bodyPr>
          <a:lstStyle/>
          <a:p>
            <a:pPr algn="ctr"/>
            <a:r>
              <a:rPr lang="en-US" altLang="en-US">
                <a:solidFill>
                  <a:srgbClr val="000000"/>
                </a:solidFill>
              </a:rPr>
              <a:t>Unavoidable error</a:t>
            </a:r>
          </a:p>
        </p:txBody>
      </p:sp>
      <p:cxnSp>
        <p:nvCxnSpPr>
          <p:cNvPr id="8" name="Straight Arrow Connector 7"/>
          <p:cNvCxnSpPr/>
          <p:nvPr/>
        </p:nvCxnSpPr>
        <p:spPr>
          <a:xfrm flipV="1">
            <a:off x="2855764" y="2057400"/>
            <a:ext cx="711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543" name="TextBox 8"/>
          <p:cNvSpPr txBox="1">
            <a:spLocks noChangeArrowheads="1"/>
          </p:cNvSpPr>
          <p:nvPr/>
        </p:nvSpPr>
        <p:spPr bwMode="auto">
          <a:xfrm>
            <a:off x="4297406" y="2475470"/>
            <a:ext cx="2438400" cy="646331"/>
          </a:xfrm>
          <a:prstGeom prst="rect">
            <a:avLst/>
          </a:prstGeom>
          <a:noFill/>
          <a:ln w="9525">
            <a:noFill/>
            <a:miter lim="800000"/>
            <a:headEnd/>
            <a:tailEnd/>
          </a:ln>
        </p:spPr>
        <p:txBody>
          <a:bodyPr>
            <a:spAutoFit/>
          </a:bodyPr>
          <a:lstStyle/>
          <a:p>
            <a:pPr algn="ctr"/>
            <a:r>
              <a:rPr lang="en-US" altLang="en-US" dirty="0">
                <a:solidFill>
                  <a:srgbClr val="000000"/>
                </a:solidFill>
              </a:rPr>
              <a:t>Error due to incorrect assumptions</a:t>
            </a:r>
          </a:p>
        </p:txBody>
      </p:sp>
      <p:cxnSp>
        <p:nvCxnSpPr>
          <p:cNvPr id="10" name="Straight Arrow Connector 9"/>
          <p:cNvCxnSpPr/>
          <p:nvPr/>
        </p:nvCxnSpPr>
        <p:spPr>
          <a:xfrm rot="10800000">
            <a:off x="4754606" y="2012737"/>
            <a:ext cx="762000" cy="5286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545" name="TextBox 11"/>
          <p:cNvSpPr txBox="1">
            <a:spLocks noChangeArrowheads="1"/>
          </p:cNvSpPr>
          <p:nvPr/>
        </p:nvSpPr>
        <p:spPr bwMode="auto">
          <a:xfrm>
            <a:off x="6730313" y="2230396"/>
            <a:ext cx="2844800" cy="646331"/>
          </a:xfrm>
          <a:prstGeom prst="rect">
            <a:avLst/>
          </a:prstGeom>
          <a:noFill/>
          <a:ln w="9525">
            <a:noFill/>
            <a:miter lim="800000"/>
            <a:headEnd/>
            <a:tailEnd/>
          </a:ln>
        </p:spPr>
        <p:txBody>
          <a:bodyPr>
            <a:spAutoFit/>
          </a:bodyPr>
          <a:lstStyle/>
          <a:p>
            <a:pPr algn="ctr"/>
            <a:r>
              <a:rPr lang="en-US" altLang="en-US">
                <a:solidFill>
                  <a:srgbClr val="000000"/>
                </a:solidFill>
              </a:rPr>
              <a:t>Error due to variance of training samples</a:t>
            </a:r>
          </a:p>
        </p:txBody>
      </p:sp>
      <p:cxnSp>
        <p:nvCxnSpPr>
          <p:cNvPr id="13" name="Straight Arrow Connector 12"/>
          <p:cNvCxnSpPr/>
          <p:nvPr/>
        </p:nvCxnSpPr>
        <p:spPr>
          <a:xfrm rot="10800000">
            <a:off x="6527113" y="1925595"/>
            <a:ext cx="762000" cy="5286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542238" y="6194599"/>
            <a:ext cx="2232599" cy="461665"/>
          </a:xfrm>
          <a:prstGeom prst="rect">
            <a:avLst/>
          </a:prstGeom>
          <a:noFill/>
        </p:spPr>
        <p:txBody>
          <a:bodyPr wrap="none">
            <a:spAutoFit/>
          </a:bodyPr>
          <a:lstStyle/>
          <a:p>
            <a:pPr>
              <a:defRPr/>
            </a:pPr>
            <a:r>
              <a:rPr lang="en-US" sz="1200" dirty="0">
                <a:solidFill>
                  <a:prstClr val="white">
                    <a:lumMod val="65000"/>
                  </a:prstClr>
                </a:solidFill>
                <a:cs typeface="+mn-cs"/>
              </a:rPr>
              <a:t>Image credit: geeksforgeeks.com</a:t>
            </a:r>
          </a:p>
          <a:p>
            <a:pPr>
              <a:defRPr/>
            </a:pPr>
            <a:r>
              <a:rPr lang="en-US" sz="1200" dirty="0">
                <a:solidFill>
                  <a:prstClr val="white">
                    <a:lumMod val="65000"/>
                  </a:prstClr>
                </a:solidFill>
                <a:cs typeface="+mn-cs"/>
              </a:rPr>
              <a:t>Slide credit: D. </a:t>
            </a:r>
            <a:r>
              <a:rPr lang="en-US" sz="1200" dirty="0" err="1">
                <a:solidFill>
                  <a:prstClr val="white">
                    <a:lumMod val="65000"/>
                  </a:prstClr>
                </a:solidFill>
                <a:cs typeface="+mn-cs"/>
              </a:rPr>
              <a:t>Hoiem</a:t>
            </a:r>
            <a:endParaRPr lang="en-US" sz="1200" dirty="0">
              <a:solidFill>
                <a:prstClr val="white">
                  <a:lumMod val="65000"/>
                </a:prstClr>
              </a:solidFill>
              <a:cs typeface="+mn-cs"/>
            </a:endParaRPr>
          </a:p>
        </p:txBody>
      </p:sp>
      <p:pic>
        <p:nvPicPr>
          <p:cNvPr id="13314" name="Picture 2" descr="https://media.geeksforgeeks.org/wp-content/cdn-uploads/20190523171258/overfitting_2.png"/>
          <p:cNvPicPr>
            <a:picLocks noChangeAspect="1" noChangeArrowheads="1"/>
          </p:cNvPicPr>
          <p:nvPr/>
        </p:nvPicPr>
        <p:blipFill>
          <a:blip r:embed="rId3" cstate="print"/>
          <a:srcRect/>
          <a:stretch>
            <a:fillRect/>
          </a:stretch>
        </p:blipFill>
        <p:spPr bwMode="auto">
          <a:xfrm>
            <a:off x="2183022" y="3076997"/>
            <a:ext cx="6820930" cy="2796581"/>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0B656-112E-B6A5-F18A-8313D05E63A1}"/>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B06C98C0-8F50-07FC-7912-E656FCC1B258}"/>
              </a:ext>
            </a:extLst>
          </p:cNvPr>
          <p:cNvSpPr>
            <a:spLocks noGrp="1"/>
          </p:cNvSpPr>
          <p:nvPr>
            <p:ph type="title"/>
          </p:nvPr>
        </p:nvSpPr>
        <p:spPr>
          <a:xfrm>
            <a:off x="838200" y="365125"/>
            <a:ext cx="10515600" cy="633251"/>
          </a:xfrm>
        </p:spPr>
        <p:txBody>
          <a:bodyPr>
            <a:normAutofit fontScale="90000"/>
          </a:bodyPr>
          <a:lstStyle/>
          <a:p>
            <a:r>
              <a:rPr lang="en-US" altLang="en-US" dirty="0"/>
              <a:t>Bias-Variance Trade-off</a:t>
            </a:r>
          </a:p>
        </p:txBody>
      </p:sp>
      <p:sp>
        <p:nvSpPr>
          <p:cNvPr id="11" name="TextBox 10">
            <a:extLst>
              <a:ext uri="{FF2B5EF4-FFF2-40B4-BE49-F238E27FC236}">
                <a16:creationId xmlns:a16="http://schemas.microsoft.com/office/drawing/2014/main" id="{A9CB0C9D-FEE2-12E9-C21F-7E4CD3387155}"/>
              </a:ext>
            </a:extLst>
          </p:cNvPr>
          <p:cNvSpPr txBox="1"/>
          <p:nvPr/>
        </p:nvSpPr>
        <p:spPr>
          <a:xfrm>
            <a:off x="8542238" y="6194599"/>
            <a:ext cx="2232599" cy="461665"/>
          </a:xfrm>
          <a:prstGeom prst="rect">
            <a:avLst/>
          </a:prstGeom>
          <a:noFill/>
        </p:spPr>
        <p:txBody>
          <a:bodyPr wrap="none">
            <a:spAutoFit/>
          </a:bodyPr>
          <a:lstStyle/>
          <a:p>
            <a:pPr>
              <a:defRPr/>
            </a:pPr>
            <a:r>
              <a:rPr lang="en-US" sz="1200" dirty="0">
                <a:solidFill>
                  <a:prstClr val="white">
                    <a:lumMod val="65000"/>
                  </a:prstClr>
                </a:solidFill>
                <a:cs typeface="+mn-cs"/>
              </a:rPr>
              <a:t>Image credit: geeksforgeeks.com</a:t>
            </a:r>
          </a:p>
          <a:p>
            <a:pPr>
              <a:defRPr/>
            </a:pPr>
            <a:r>
              <a:rPr lang="en-US" sz="1200" dirty="0">
                <a:solidFill>
                  <a:prstClr val="white">
                    <a:lumMod val="65000"/>
                  </a:prstClr>
                </a:solidFill>
                <a:cs typeface="+mn-cs"/>
              </a:rPr>
              <a:t>Slide credit: D. </a:t>
            </a:r>
            <a:r>
              <a:rPr lang="en-US" sz="1200" dirty="0" err="1">
                <a:solidFill>
                  <a:prstClr val="white">
                    <a:lumMod val="65000"/>
                  </a:prstClr>
                </a:solidFill>
                <a:cs typeface="+mn-cs"/>
              </a:rPr>
              <a:t>Hoiem</a:t>
            </a:r>
            <a:endParaRPr lang="en-US" sz="1200" dirty="0">
              <a:solidFill>
                <a:prstClr val="white">
                  <a:lumMod val="65000"/>
                </a:prstClr>
              </a:solidFill>
              <a:cs typeface="+mn-cs"/>
            </a:endParaRPr>
          </a:p>
        </p:txBody>
      </p:sp>
      <p:pic>
        <p:nvPicPr>
          <p:cNvPr id="3" name="Picture 2">
            <a:extLst>
              <a:ext uri="{FF2B5EF4-FFF2-40B4-BE49-F238E27FC236}">
                <a16:creationId xmlns:a16="http://schemas.microsoft.com/office/drawing/2014/main" id="{6D78D7D7-C289-80F0-5ED3-46D9ACC529F2}"/>
              </a:ext>
            </a:extLst>
          </p:cNvPr>
          <p:cNvPicPr>
            <a:picLocks noChangeAspect="1"/>
          </p:cNvPicPr>
          <p:nvPr/>
        </p:nvPicPr>
        <p:blipFill>
          <a:blip r:embed="rId3"/>
          <a:stretch>
            <a:fillRect/>
          </a:stretch>
        </p:blipFill>
        <p:spPr>
          <a:xfrm>
            <a:off x="2845788" y="885211"/>
            <a:ext cx="6500423" cy="5540220"/>
          </a:xfrm>
          <a:prstGeom prst="rect">
            <a:avLst/>
          </a:prstGeom>
        </p:spPr>
      </p:pic>
    </p:spTree>
    <p:extLst>
      <p:ext uri="{BB962C8B-B14F-4D97-AF65-F5344CB8AC3E}">
        <p14:creationId xmlns:p14="http://schemas.microsoft.com/office/powerpoint/2010/main" val="1903827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a:t>Bias-variance tradeoff</a:t>
            </a:r>
          </a:p>
        </p:txBody>
      </p:sp>
      <p:sp>
        <p:nvSpPr>
          <p:cNvPr id="6" name="TextBox 5"/>
          <p:cNvSpPr txBox="1">
            <a:spLocks noChangeArrowheads="1"/>
          </p:cNvSpPr>
          <p:nvPr/>
        </p:nvSpPr>
        <p:spPr bwMode="auto">
          <a:xfrm>
            <a:off x="7213601" y="5410200"/>
            <a:ext cx="1479379" cy="369332"/>
          </a:xfrm>
          <a:prstGeom prst="rect">
            <a:avLst/>
          </a:prstGeom>
          <a:noFill/>
          <a:ln w="9525">
            <a:noFill/>
            <a:miter lim="800000"/>
            <a:headEnd/>
            <a:tailEnd/>
          </a:ln>
        </p:spPr>
        <p:txBody>
          <a:bodyPr wrap="none">
            <a:spAutoFit/>
          </a:bodyPr>
          <a:lstStyle/>
          <a:p>
            <a:r>
              <a:rPr lang="en-US" altLang="en-US" b="1">
                <a:solidFill>
                  <a:srgbClr val="0000FF"/>
                </a:solidFill>
              </a:rPr>
              <a:t>Training error</a:t>
            </a:r>
          </a:p>
        </p:txBody>
      </p:sp>
      <p:sp>
        <p:nvSpPr>
          <p:cNvPr id="7" name="TextBox 6"/>
          <p:cNvSpPr txBox="1">
            <a:spLocks noChangeArrowheads="1"/>
          </p:cNvSpPr>
          <p:nvPr/>
        </p:nvSpPr>
        <p:spPr bwMode="auto">
          <a:xfrm>
            <a:off x="7315200" y="4343400"/>
            <a:ext cx="1097095" cy="369332"/>
          </a:xfrm>
          <a:prstGeom prst="rect">
            <a:avLst/>
          </a:prstGeom>
          <a:noFill/>
          <a:ln w="9525">
            <a:noFill/>
            <a:miter lim="800000"/>
            <a:headEnd/>
            <a:tailEnd/>
          </a:ln>
        </p:spPr>
        <p:txBody>
          <a:bodyPr wrap="none">
            <a:spAutoFit/>
          </a:bodyPr>
          <a:lstStyle/>
          <a:p>
            <a:r>
              <a:rPr lang="en-US" altLang="en-US" b="1">
                <a:solidFill>
                  <a:srgbClr val="FF0000"/>
                </a:solidFill>
              </a:rPr>
              <a:t>Test error</a:t>
            </a:r>
          </a:p>
        </p:txBody>
      </p:sp>
      <p:sp>
        <p:nvSpPr>
          <p:cNvPr id="18" name="Freeform 17"/>
          <p:cNvSpPr/>
          <p:nvPr/>
        </p:nvSpPr>
        <p:spPr>
          <a:xfrm>
            <a:off x="2421467" y="4791075"/>
            <a:ext cx="5712884" cy="1155700"/>
          </a:xfrm>
          <a:custGeom>
            <a:avLst/>
            <a:gdLst>
              <a:gd name="connsiteX0" fmla="*/ 0 w 4283901"/>
              <a:gd name="connsiteY0" fmla="*/ 0 h 1156249"/>
              <a:gd name="connsiteX1" fmla="*/ 313151 w 4283901"/>
              <a:gd name="connsiteY1" fmla="*/ 162839 h 1156249"/>
              <a:gd name="connsiteX2" fmla="*/ 375781 w 4283901"/>
              <a:gd name="connsiteY2" fmla="*/ 200417 h 1156249"/>
              <a:gd name="connsiteX3" fmla="*/ 413359 w 4283901"/>
              <a:gd name="connsiteY3" fmla="*/ 212943 h 1156249"/>
              <a:gd name="connsiteX4" fmla="*/ 488515 w 4283901"/>
              <a:gd name="connsiteY4" fmla="*/ 263047 h 1156249"/>
              <a:gd name="connsiteX5" fmla="*/ 563671 w 4283901"/>
              <a:gd name="connsiteY5" fmla="*/ 300625 h 1156249"/>
              <a:gd name="connsiteX6" fmla="*/ 601249 w 4283901"/>
              <a:gd name="connsiteY6" fmla="*/ 325677 h 1156249"/>
              <a:gd name="connsiteX7" fmla="*/ 701458 w 4283901"/>
              <a:gd name="connsiteY7" fmla="*/ 363255 h 1156249"/>
              <a:gd name="connsiteX8" fmla="*/ 751562 w 4283901"/>
              <a:gd name="connsiteY8" fmla="*/ 375781 h 1156249"/>
              <a:gd name="connsiteX9" fmla="*/ 789140 w 4283901"/>
              <a:gd name="connsiteY9" fmla="*/ 388307 h 1156249"/>
              <a:gd name="connsiteX10" fmla="*/ 1027134 w 4283901"/>
              <a:gd name="connsiteY10" fmla="*/ 413359 h 1156249"/>
              <a:gd name="connsiteX11" fmla="*/ 1114816 w 4283901"/>
              <a:gd name="connsiteY11" fmla="*/ 450937 h 1156249"/>
              <a:gd name="connsiteX12" fmla="*/ 1189973 w 4283901"/>
              <a:gd name="connsiteY12" fmla="*/ 501042 h 1156249"/>
              <a:gd name="connsiteX13" fmla="*/ 1227551 w 4283901"/>
              <a:gd name="connsiteY13" fmla="*/ 526094 h 1156249"/>
              <a:gd name="connsiteX14" fmla="*/ 1265129 w 4283901"/>
              <a:gd name="connsiteY14" fmla="*/ 538620 h 1156249"/>
              <a:gd name="connsiteX15" fmla="*/ 1302707 w 4283901"/>
              <a:gd name="connsiteY15" fmla="*/ 563672 h 1156249"/>
              <a:gd name="connsiteX16" fmla="*/ 1427967 w 4283901"/>
              <a:gd name="connsiteY16" fmla="*/ 601250 h 1156249"/>
              <a:gd name="connsiteX17" fmla="*/ 1515649 w 4283901"/>
              <a:gd name="connsiteY17" fmla="*/ 613776 h 1156249"/>
              <a:gd name="connsiteX18" fmla="*/ 1590805 w 4283901"/>
              <a:gd name="connsiteY18" fmla="*/ 626302 h 1156249"/>
              <a:gd name="connsiteX19" fmla="*/ 1703540 w 4283901"/>
              <a:gd name="connsiteY19" fmla="*/ 651354 h 1156249"/>
              <a:gd name="connsiteX20" fmla="*/ 1816274 w 4283901"/>
              <a:gd name="connsiteY20" fmla="*/ 688932 h 1156249"/>
              <a:gd name="connsiteX21" fmla="*/ 1903956 w 4283901"/>
              <a:gd name="connsiteY21" fmla="*/ 713984 h 1156249"/>
              <a:gd name="connsiteX22" fmla="*/ 1929008 w 4283901"/>
              <a:gd name="connsiteY22" fmla="*/ 751562 h 1156249"/>
              <a:gd name="connsiteX23" fmla="*/ 2016690 w 4283901"/>
              <a:gd name="connsiteY23" fmla="*/ 789140 h 1156249"/>
              <a:gd name="connsiteX24" fmla="*/ 2066794 w 4283901"/>
              <a:gd name="connsiteY24" fmla="*/ 801666 h 1156249"/>
              <a:gd name="connsiteX25" fmla="*/ 2104373 w 4283901"/>
              <a:gd name="connsiteY25" fmla="*/ 814192 h 1156249"/>
              <a:gd name="connsiteX26" fmla="*/ 2229633 w 4283901"/>
              <a:gd name="connsiteY26" fmla="*/ 826718 h 1156249"/>
              <a:gd name="connsiteX27" fmla="*/ 2342367 w 4283901"/>
              <a:gd name="connsiteY27" fmla="*/ 839244 h 1156249"/>
              <a:gd name="connsiteX28" fmla="*/ 2430049 w 4283901"/>
              <a:gd name="connsiteY28" fmla="*/ 864296 h 1156249"/>
              <a:gd name="connsiteX29" fmla="*/ 2505205 w 4283901"/>
              <a:gd name="connsiteY29" fmla="*/ 889348 h 1156249"/>
              <a:gd name="connsiteX30" fmla="*/ 2580362 w 4283901"/>
              <a:gd name="connsiteY30" fmla="*/ 914400 h 1156249"/>
              <a:gd name="connsiteX31" fmla="*/ 2617940 w 4283901"/>
              <a:gd name="connsiteY31" fmla="*/ 926927 h 1156249"/>
              <a:gd name="connsiteX32" fmla="*/ 2668044 w 4283901"/>
              <a:gd name="connsiteY32" fmla="*/ 939453 h 1156249"/>
              <a:gd name="connsiteX33" fmla="*/ 2743200 w 4283901"/>
              <a:gd name="connsiteY33" fmla="*/ 964505 h 1156249"/>
              <a:gd name="connsiteX34" fmla="*/ 2793304 w 4283901"/>
              <a:gd name="connsiteY34" fmla="*/ 977031 h 1156249"/>
              <a:gd name="connsiteX35" fmla="*/ 2830882 w 4283901"/>
              <a:gd name="connsiteY35" fmla="*/ 1002083 h 1156249"/>
              <a:gd name="connsiteX36" fmla="*/ 2956142 w 4283901"/>
              <a:gd name="connsiteY36" fmla="*/ 1039661 h 1156249"/>
              <a:gd name="connsiteX37" fmla="*/ 3031299 w 4283901"/>
              <a:gd name="connsiteY37" fmla="*/ 1052187 h 1156249"/>
              <a:gd name="connsiteX38" fmla="*/ 3219189 w 4283901"/>
              <a:gd name="connsiteY38" fmla="*/ 1114817 h 1156249"/>
              <a:gd name="connsiteX39" fmla="*/ 3306871 w 4283901"/>
              <a:gd name="connsiteY39" fmla="*/ 1139869 h 1156249"/>
              <a:gd name="connsiteX40" fmla="*/ 3382027 w 4283901"/>
              <a:gd name="connsiteY40" fmla="*/ 1152395 h 1156249"/>
              <a:gd name="connsiteX41" fmla="*/ 4283901 w 4283901"/>
              <a:gd name="connsiteY41" fmla="*/ 1152395 h 115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83901" h="1156249">
                <a:moveTo>
                  <a:pt x="0" y="0"/>
                </a:moveTo>
                <a:cubicBezTo>
                  <a:pt x="135194" y="45068"/>
                  <a:pt x="39042" y="10556"/>
                  <a:pt x="313151" y="162839"/>
                </a:cubicBezTo>
                <a:cubicBezTo>
                  <a:pt x="334433" y="174663"/>
                  <a:pt x="354005" y="189529"/>
                  <a:pt x="375781" y="200417"/>
                </a:cubicBezTo>
                <a:cubicBezTo>
                  <a:pt x="387591" y="206322"/>
                  <a:pt x="401817" y="206531"/>
                  <a:pt x="413359" y="212943"/>
                </a:cubicBezTo>
                <a:cubicBezTo>
                  <a:pt x="439679" y="227565"/>
                  <a:pt x="461585" y="249582"/>
                  <a:pt x="488515" y="263047"/>
                </a:cubicBezTo>
                <a:cubicBezTo>
                  <a:pt x="513567" y="275573"/>
                  <a:pt x="539187" y="287023"/>
                  <a:pt x="563671" y="300625"/>
                </a:cubicBezTo>
                <a:cubicBezTo>
                  <a:pt x="576831" y="307936"/>
                  <a:pt x="587784" y="318944"/>
                  <a:pt x="601249" y="325677"/>
                </a:cubicBezTo>
                <a:cubicBezTo>
                  <a:pt x="618901" y="334503"/>
                  <a:pt x="676160" y="356027"/>
                  <a:pt x="701458" y="363255"/>
                </a:cubicBezTo>
                <a:cubicBezTo>
                  <a:pt x="718011" y="367984"/>
                  <a:pt x="735009" y="371052"/>
                  <a:pt x="751562" y="375781"/>
                </a:cubicBezTo>
                <a:cubicBezTo>
                  <a:pt x="764258" y="379408"/>
                  <a:pt x="776193" y="385718"/>
                  <a:pt x="789140" y="388307"/>
                </a:cubicBezTo>
                <a:cubicBezTo>
                  <a:pt x="859270" y="402333"/>
                  <a:pt x="962050" y="407935"/>
                  <a:pt x="1027134" y="413359"/>
                </a:cubicBezTo>
                <a:cubicBezTo>
                  <a:pt x="1066009" y="426317"/>
                  <a:pt x="1076120" y="427720"/>
                  <a:pt x="1114816" y="450937"/>
                </a:cubicBezTo>
                <a:cubicBezTo>
                  <a:pt x="1140634" y="466428"/>
                  <a:pt x="1164921" y="484340"/>
                  <a:pt x="1189973" y="501042"/>
                </a:cubicBezTo>
                <a:cubicBezTo>
                  <a:pt x="1202499" y="509393"/>
                  <a:pt x="1213269" y="521333"/>
                  <a:pt x="1227551" y="526094"/>
                </a:cubicBezTo>
                <a:cubicBezTo>
                  <a:pt x="1240077" y="530269"/>
                  <a:pt x="1253319" y="532715"/>
                  <a:pt x="1265129" y="538620"/>
                </a:cubicBezTo>
                <a:cubicBezTo>
                  <a:pt x="1278594" y="545353"/>
                  <a:pt x="1288950" y="557558"/>
                  <a:pt x="1302707" y="563672"/>
                </a:cubicBezTo>
                <a:cubicBezTo>
                  <a:pt x="1325333" y="573728"/>
                  <a:pt x="1397137" y="595644"/>
                  <a:pt x="1427967" y="601250"/>
                </a:cubicBezTo>
                <a:cubicBezTo>
                  <a:pt x="1457015" y="606531"/>
                  <a:pt x="1486468" y="609287"/>
                  <a:pt x="1515649" y="613776"/>
                </a:cubicBezTo>
                <a:cubicBezTo>
                  <a:pt x="1540751" y="617638"/>
                  <a:pt x="1565817" y="621759"/>
                  <a:pt x="1590805" y="626302"/>
                </a:cubicBezTo>
                <a:cubicBezTo>
                  <a:pt x="1618726" y="631378"/>
                  <a:pt x="1674498" y="642418"/>
                  <a:pt x="1703540" y="651354"/>
                </a:cubicBezTo>
                <a:cubicBezTo>
                  <a:pt x="1741399" y="663003"/>
                  <a:pt x="1777846" y="679325"/>
                  <a:pt x="1816274" y="688932"/>
                </a:cubicBezTo>
                <a:cubicBezTo>
                  <a:pt x="1879187" y="704660"/>
                  <a:pt x="1850046" y="696014"/>
                  <a:pt x="1903956" y="713984"/>
                </a:cubicBezTo>
                <a:cubicBezTo>
                  <a:pt x="1912307" y="726510"/>
                  <a:pt x="1917443" y="741924"/>
                  <a:pt x="1929008" y="751562"/>
                </a:cubicBezTo>
                <a:cubicBezTo>
                  <a:pt x="1946435" y="766085"/>
                  <a:pt x="1992854" y="782330"/>
                  <a:pt x="2016690" y="789140"/>
                </a:cubicBezTo>
                <a:cubicBezTo>
                  <a:pt x="2033243" y="793869"/>
                  <a:pt x="2050241" y="796937"/>
                  <a:pt x="2066794" y="801666"/>
                </a:cubicBezTo>
                <a:cubicBezTo>
                  <a:pt x="2079490" y="805293"/>
                  <a:pt x="2091323" y="812184"/>
                  <a:pt x="2104373" y="814192"/>
                </a:cubicBezTo>
                <a:cubicBezTo>
                  <a:pt x="2145847" y="820573"/>
                  <a:pt x="2187902" y="822325"/>
                  <a:pt x="2229633" y="826718"/>
                </a:cubicBezTo>
                <a:lnTo>
                  <a:pt x="2342367" y="839244"/>
                </a:lnTo>
                <a:cubicBezTo>
                  <a:pt x="2468655" y="881340"/>
                  <a:pt x="2272766" y="817111"/>
                  <a:pt x="2430049" y="864296"/>
                </a:cubicBezTo>
                <a:cubicBezTo>
                  <a:pt x="2455342" y="871884"/>
                  <a:pt x="2480153" y="880997"/>
                  <a:pt x="2505205" y="889348"/>
                </a:cubicBezTo>
                <a:lnTo>
                  <a:pt x="2580362" y="914400"/>
                </a:lnTo>
                <a:cubicBezTo>
                  <a:pt x="2592888" y="918576"/>
                  <a:pt x="2605131" y="923725"/>
                  <a:pt x="2617940" y="926927"/>
                </a:cubicBezTo>
                <a:cubicBezTo>
                  <a:pt x="2634641" y="931102"/>
                  <a:pt x="2651555" y="934506"/>
                  <a:pt x="2668044" y="939453"/>
                </a:cubicBezTo>
                <a:cubicBezTo>
                  <a:pt x="2693337" y="947041"/>
                  <a:pt x="2717581" y="958100"/>
                  <a:pt x="2743200" y="964505"/>
                </a:cubicBezTo>
                <a:lnTo>
                  <a:pt x="2793304" y="977031"/>
                </a:lnTo>
                <a:cubicBezTo>
                  <a:pt x="2805830" y="985382"/>
                  <a:pt x="2817125" y="995969"/>
                  <a:pt x="2830882" y="1002083"/>
                </a:cubicBezTo>
                <a:cubicBezTo>
                  <a:pt x="2857026" y="1013702"/>
                  <a:pt x="2923019" y="1033036"/>
                  <a:pt x="2956142" y="1039661"/>
                </a:cubicBezTo>
                <a:cubicBezTo>
                  <a:pt x="2981047" y="1044642"/>
                  <a:pt x="3006247" y="1048012"/>
                  <a:pt x="3031299" y="1052187"/>
                </a:cubicBezTo>
                <a:lnTo>
                  <a:pt x="3219189" y="1114817"/>
                </a:lnTo>
                <a:cubicBezTo>
                  <a:pt x="3255004" y="1126755"/>
                  <a:pt x="3267550" y="1132005"/>
                  <a:pt x="3306871" y="1139869"/>
                </a:cubicBezTo>
                <a:cubicBezTo>
                  <a:pt x="3331775" y="1144850"/>
                  <a:pt x="3356632" y="1152069"/>
                  <a:pt x="3382027" y="1152395"/>
                </a:cubicBezTo>
                <a:cubicBezTo>
                  <a:pt x="3682627" y="1156249"/>
                  <a:pt x="3983276" y="1152395"/>
                  <a:pt x="4283901" y="1152395"/>
                </a:cubicBezTo>
              </a:path>
            </a:pathLst>
          </a:custGeom>
          <a:ln w="3810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srgbClr val="0000FF"/>
              </a:solidFill>
            </a:endParaRPr>
          </a:p>
        </p:txBody>
      </p:sp>
      <p:sp>
        <p:nvSpPr>
          <p:cNvPr id="20" name="Freeform 19"/>
          <p:cNvSpPr/>
          <p:nvPr/>
        </p:nvSpPr>
        <p:spPr>
          <a:xfrm>
            <a:off x="2438401" y="2987675"/>
            <a:ext cx="5897033" cy="1252538"/>
          </a:xfrm>
          <a:custGeom>
            <a:avLst/>
            <a:gdLst>
              <a:gd name="connsiteX0" fmla="*/ 0 w 4423249"/>
              <a:gd name="connsiteY0" fmla="*/ 0 h 1252602"/>
              <a:gd name="connsiteX1" fmla="*/ 62630 w 4423249"/>
              <a:gd name="connsiteY1" fmla="*/ 12526 h 1252602"/>
              <a:gd name="connsiteX2" fmla="*/ 162838 w 4423249"/>
              <a:gd name="connsiteY2" fmla="*/ 25052 h 1252602"/>
              <a:gd name="connsiteX3" fmla="*/ 237995 w 4423249"/>
              <a:gd name="connsiteY3" fmla="*/ 50104 h 1252602"/>
              <a:gd name="connsiteX4" fmla="*/ 275573 w 4423249"/>
              <a:gd name="connsiteY4" fmla="*/ 75156 h 1252602"/>
              <a:gd name="connsiteX5" fmla="*/ 313151 w 4423249"/>
              <a:gd name="connsiteY5" fmla="*/ 87682 h 1252602"/>
              <a:gd name="connsiteX6" fmla="*/ 713984 w 4423249"/>
              <a:gd name="connsiteY6" fmla="*/ 100208 h 1252602"/>
              <a:gd name="connsiteX7" fmla="*/ 789140 w 4423249"/>
              <a:gd name="connsiteY7" fmla="*/ 125260 h 1252602"/>
              <a:gd name="connsiteX8" fmla="*/ 926926 w 4423249"/>
              <a:gd name="connsiteY8" fmla="*/ 150312 h 1252602"/>
              <a:gd name="connsiteX9" fmla="*/ 989556 w 4423249"/>
              <a:gd name="connsiteY9" fmla="*/ 187890 h 1252602"/>
              <a:gd name="connsiteX10" fmla="*/ 1027134 w 4423249"/>
              <a:gd name="connsiteY10" fmla="*/ 200416 h 1252602"/>
              <a:gd name="connsiteX11" fmla="*/ 1102290 w 4423249"/>
              <a:gd name="connsiteY11" fmla="*/ 237994 h 1252602"/>
              <a:gd name="connsiteX12" fmla="*/ 1277655 w 4423249"/>
              <a:gd name="connsiteY12" fmla="*/ 250520 h 1252602"/>
              <a:gd name="connsiteX13" fmla="*/ 1352811 w 4423249"/>
              <a:gd name="connsiteY13" fmla="*/ 275572 h 1252602"/>
              <a:gd name="connsiteX14" fmla="*/ 1427967 w 4423249"/>
              <a:gd name="connsiteY14" fmla="*/ 350728 h 1252602"/>
              <a:gd name="connsiteX15" fmla="*/ 1503123 w 4423249"/>
              <a:gd name="connsiteY15" fmla="*/ 413358 h 1252602"/>
              <a:gd name="connsiteX16" fmla="*/ 1678488 w 4423249"/>
              <a:gd name="connsiteY16" fmla="*/ 450937 h 1252602"/>
              <a:gd name="connsiteX17" fmla="*/ 1778696 w 4423249"/>
              <a:gd name="connsiteY17" fmla="*/ 463463 h 1252602"/>
              <a:gd name="connsiteX18" fmla="*/ 1954060 w 4423249"/>
              <a:gd name="connsiteY18" fmla="*/ 488515 h 1252602"/>
              <a:gd name="connsiteX19" fmla="*/ 2029216 w 4423249"/>
              <a:gd name="connsiteY19" fmla="*/ 526093 h 1252602"/>
              <a:gd name="connsiteX20" fmla="*/ 2054268 w 4423249"/>
              <a:gd name="connsiteY20" fmla="*/ 563671 h 1252602"/>
              <a:gd name="connsiteX21" fmla="*/ 2091847 w 4423249"/>
              <a:gd name="connsiteY21" fmla="*/ 588723 h 1252602"/>
              <a:gd name="connsiteX22" fmla="*/ 2141951 w 4423249"/>
              <a:gd name="connsiteY22" fmla="*/ 626301 h 1252602"/>
              <a:gd name="connsiteX23" fmla="*/ 2179529 w 4423249"/>
              <a:gd name="connsiteY23" fmla="*/ 651353 h 1252602"/>
              <a:gd name="connsiteX24" fmla="*/ 2217107 w 4423249"/>
              <a:gd name="connsiteY24" fmla="*/ 688931 h 1252602"/>
              <a:gd name="connsiteX25" fmla="*/ 2292263 w 4423249"/>
              <a:gd name="connsiteY25" fmla="*/ 713983 h 1252602"/>
              <a:gd name="connsiteX26" fmla="*/ 2329841 w 4423249"/>
              <a:gd name="connsiteY26" fmla="*/ 739035 h 1252602"/>
              <a:gd name="connsiteX27" fmla="*/ 2505205 w 4423249"/>
              <a:gd name="connsiteY27" fmla="*/ 764087 h 1252602"/>
              <a:gd name="connsiteX28" fmla="*/ 2605414 w 4423249"/>
              <a:gd name="connsiteY28" fmla="*/ 814191 h 1252602"/>
              <a:gd name="connsiteX29" fmla="*/ 2655518 w 4423249"/>
              <a:gd name="connsiteY29" fmla="*/ 826717 h 1252602"/>
              <a:gd name="connsiteX30" fmla="*/ 2730674 w 4423249"/>
              <a:gd name="connsiteY30" fmla="*/ 851769 h 1252602"/>
              <a:gd name="connsiteX31" fmla="*/ 2793304 w 4423249"/>
              <a:gd name="connsiteY31" fmla="*/ 864295 h 1252602"/>
              <a:gd name="connsiteX32" fmla="*/ 2830882 w 4423249"/>
              <a:gd name="connsiteY32" fmla="*/ 889347 h 1252602"/>
              <a:gd name="connsiteX33" fmla="*/ 2880986 w 4423249"/>
              <a:gd name="connsiteY33" fmla="*/ 901874 h 1252602"/>
              <a:gd name="connsiteX34" fmla="*/ 2918564 w 4423249"/>
              <a:gd name="connsiteY34" fmla="*/ 914400 h 1252602"/>
              <a:gd name="connsiteX35" fmla="*/ 3006247 w 4423249"/>
              <a:gd name="connsiteY35" fmla="*/ 939452 h 1252602"/>
              <a:gd name="connsiteX36" fmla="*/ 3118981 w 4423249"/>
              <a:gd name="connsiteY36" fmla="*/ 989556 h 1252602"/>
              <a:gd name="connsiteX37" fmla="*/ 3156559 w 4423249"/>
              <a:gd name="connsiteY37" fmla="*/ 1002082 h 1252602"/>
              <a:gd name="connsiteX38" fmla="*/ 3194137 w 4423249"/>
              <a:gd name="connsiteY38" fmla="*/ 1014608 h 1252602"/>
              <a:gd name="connsiteX39" fmla="*/ 3231715 w 4423249"/>
              <a:gd name="connsiteY39" fmla="*/ 1039660 h 1252602"/>
              <a:gd name="connsiteX40" fmla="*/ 3306871 w 4423249"/>
              <a:gd name="connsiteY40" fmla="*/ 1064712 h 1252602"/>
              <a:gd name="connsiteX41" fmla="*/ 3294345 w 4423249"/>
              <a:gd name="connsiteY41" fmla="*/ 1027134 h 1252602"/>
              <a:gd name="connsiteX42" fmla="*/ 3344449 w 4423249"/>
              <a:gd name="connsiteY42" fmla="*/ 1039660 h 1252602"/>
              <a:gd name="connsiteX43" fmla="*/ 3419605 w 4423249"/>
              <a:gd name="connsiteY43" fmla="*/ 1052186 h 1252602"/>
              <a:gd name="connsiteX44" fmla="*/ 3544866 w 4423249"/>
              <a:gd name="connsiteY44" fmla="*/ 1152394 h 1252602"/>
              <a:gd name="connsiteX45" fmla="*/ 3582444 w 4423249"/>
              <a:gd name="connsiteY45" fmla="*/ 1177446 h 1252602"/>
              <a:gd name="connsiteX46" fmla="*/ 3695178 w 4423249"/>
              <a:gd name="connsiteY46" fmla="*/ 1215024 h 1252602"/>
              <a:gd name="connsiteX47" fmla="*/ 3732756 w 4423249"/>
              <a:gd name="connsiteY47" fmla="*/ 1227550 h 1252602"/>
              <a:gd name="connsiteX48" fmla="*/ 3770334 w 4423249"/>
              <a:gd name="connsiteY48" fmla="*/ 1252602 h 1252602"/>
              <a:gd name="connsiteX49" fmla="*/ 4058433 w 4423249"/>
              <a:gd name="connsiteY49" fmla="*/ 1240076 h 1252602"/>
              <a:gd name="connsiteX50" fmla="*/ 4096011 w 4423249"/>
              <a:gd name="connsiteY50" fmla="*/ 1215024 h 1252602"/>
              <a:gd name="connsiteX51" fmla="*/ 4171167 w 4423249"/>
              <a:gd name="connsiteY51" fmla="*/ 1189972 h 1252602"/>
              <a:gd name="connsiteX52" fmla="*/ 4271375 w 4423249"/>
              <a:gd name="connsiteY52" fmla="*/ 1152394 h 1252602"/>
              <a:gd name="connsiteX53" fmla="*/ 4296427 w 4423249"/>
              <a:gd name="connsiteY53" fmla="*/ 1114816 h 1252602"/>
              <a:gd name="connsiteX54" fmla="*/ 4334005 w 4423249"/>
              <a:gd name="connsiteY54" fmla="*/ 1089764 h 1252602"/>
              <a:gd name="connsiteX55" fmla="*/ 4396636 w 4423249"/>
              <a:gd name="connsiteY55" fmla="*/ 1039660 h 1252602"/>
              <a:gd name="connsiteX56" fmla="*/ 4421688 w 4423249"/>
              <a:gd name="connsiteY56" fmla="*/ 1002082 h 1252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423249" h="1252602">
                <a:moveTo>
                  <a:pt x="0" y="0"/>
                </a:moveTo>
                <a:cubicBezTo>
                  <a:pt x="20877" y="4175"/>
                  <a:pt x="41587" y="9289"/>
                  <a:pt x="62630" y="12526"/>
                </a:cubicBezTo>
                <a:cubicBezTo>
                  <a:pt x="95901" y="17645"/>
                  <a:pt x="129923" y="17999"/>
                  <a:pt x="162838" y="25052"/>
                </a:cubicBezTo>
                <a:cubicBezTo>
                  <a:pt x="188659" y="30585"/>
                  <a:pt x="237995" y="50104"/>
                  <a:pt x="237995" y="50104"/>
                </a:cubicBezTo>
                <a:cubicBezTo>
                  <a:pt x="250521" y="58455"/>
                  <a:pt x="262108" y="68423"/>
                  <a:pt x="275573" y="75156"/>
                </a:cubicBezTo>
                <a:cubicBezTo>
                  <a:pt x="287383" y="81061"/>
                  <a:pt x="299969" y="86929"/>
                  <a:pt x="313151" y="87682"/>
                </a:cubicBezTo>
                <a:cubicBezTo>
                  <a:pt x="446610" y="95308"/>
                  <a:pt x="580373" y="96033"/>
                  <a:pt x="713984" y="100208"/>
                </a:cubicBezTo>
                <a:cubicBezTo>
                  <a:pt x="739036" y="108559"/>
                  <a:pt x="763092" y="120919"/>
                  <a:pt x="789140" y="125260"/>
                </a:cubicBezTo>
                <a:cubicBezTo>
                  <a:pt x="885296" y="141286"/>
                  <a:pt x="839392" y="132805"/>
                  <a:pt x="926926" y="150312"/>
                </a:cubicBezTo>
                <a:cubicBezTo>
                  <a:pt x="947803" y="162838"/>
                  <a:pt x="967780" y="177002"/>
                  <a:pt x="989556" y="187890"/>
                </a:cubicBezTo>
                <a:cubicBezTo>
                  <a:pt x="1001366" y="193795"/>
                  <a:pt x="1015324" y="194511"/>
                  <a:pt x="1027134" y="200416"/>
                </a:cubicBezTo>
                <a:cubicBezTo>
                  <a:pt x="1063512" y="218605"/>
                  <a:pt x="1061118" y="233150"/>
                  <a:pt x="1102290" y="237994"/>
                </a:cubicBezTo>
                <a:cubicBezTo>
                  <a:pt x="1160493" y="244841"/>
                  <a:pt x="1219200" y="246345"/>
                  <a:pt x="1277655" y="250520"/>
                </a:cubicBezTo>
                <a:cubicBezTo>
                  <a:pt x="1302707" y="258871"/>
                  <a:pt x="1334138" y="256899"/>
                  <a:pt x="1352811" y="275572"/>
                </a:cubicBezTo>
                <a:lnTo>
                  <a:pt x="1427967" y="350728"/>
                </a:lnTo>
                <a:cubicBezTo>
                  <a:pt x="1446875" y="369636"/>
                  <a:pt x="1475719" y="403393"/>
                  <a:pt x="1503123" y="413358"/>
                </a:cubicBezTo>
                <a:cubicBezTo>
                  <a:pt x="1547750" y="429586"/>
                  <a:pt x="1628544" y="443802"/>
                  <a:pt x="1678488" y="450937"/>
                </a:cubicBezTo>
                <a:cubicBezTo>
                  <a:pt x="1711812" y="455698"/>
                  <a:pt x="1745342" y="458915"/>
                  <a:pt x="1778696" y="463463"/>
                </a:cubicBezTo>
                <a:lnTo>
                  <a:pt x="1954060" y="488515"/>
                </a:lnTo>
                <a:cubicBezTo>
                  <a:pt x="1984623" y="498703"/>
                  <a:pt x="2004934" y="501811"/>
                  <a:pt x="2029216" y="526093"/>
                </a:cubicBezTo>
                <a:cubicBezTo>
                  <a:pt x="2039861" y="536738"/>
                  <a:pt x="2043623" y="553026"/>
                  <a:pt x="2054268" y="563671"/>
                </a:cubicBezTo>
                <a:cubicBezTo>
                  <a:pt x="2064913" y="574316"/>
                  <a:pt x="2079596" y="579973"/>
                  <a:pt x="2091847" y="588723"/>
                </a:cubicBezTo>
                <a:cubicBezTo>
                  <a:pt x="2108835" y="600857"/>
                  <a:pt x="2124963" y="614167"/>
                  <a:pt x="2141951" y="626301"/>
                </a:cubicBezTo>
                <a:cubicBezTo>
                  <a:pt x="2154201" y="635051"/>
                  <a:pt x="2167964" y="641715"/>
                  <a:pt x="2179529" y="651353"/>
                </a:cubicBezTo>
                <a:cubicBezTo>
                  <a:pt x="2193138" y="662694"/>
                  <a:pt x="2201622" y="680328"/>
                  <a:pt x="2217107" y="688931"/>
                </a:cubicBezTo>
                <a:cubicBezTo>
                  <a:pt x="2240191" y="701755"/>
                  <a:pt x="2270291" y="699335"/>
                  <a:pt x="2292263" y="713983"/>
                </a:cubicBezTo>
                <a:cubicBezTo>
                  <a:pt x="2304789" y="722334"/>
                  <a:pt x="2316376" y="732302"/>
                  <a:pt x="2329841" y="739035"/>
                </a:cubicBezTo>
                <a:cubicBezTo>
                  <a:pt x="2378036" y="763133"/>
                  <a:pt x="2470002" y="760887"/>
                  <a:pt x="2505205" y="764087"/>
                </a:cubicBezTo>
                <a:cubicBezTo>
                  <a:pt x="2538608" y="780788"/>
                  <a:pt x="2569183" y="805133"/>
                  <a:pt x="2605414" y="814191"/>
                </a:cubicBezTo>
                <a:cubicBezTo>
                  <a:pt x="2622115" y="818366"/>
                  <a:pt x="2639029" y="821770"/>
                  <a:pt x="2655518" y="826717"/>
                </a:cubicBezTo>
                <a:cubicBezTo>
                  <a:pt x="2680811" y="834305"/>
                  <a:pt x="2704780" y="846590"/>
                  <a:pt x="2730674" y="851769"/>
                </a:cubicBezTo>
                <a:lnTo>
                  <a:pt x="2793304" y="864295"/>
                </a:lnTo>
                <a:cubicBezTo>
                  <a:pt x="2805830" y="872646"/>
                  <a:pt x="2817045" y="883417"/>
                  <a:pt x="2830882" y="889347"/>
                </a:cubicBezTo>
                <a:cubicBezTo>
                  <a:pt x="2846705" y="896129"/>
                  <a:pt x="2864433" y="897144"/>
                  <a:pt x="2880986" y="901874"/>
                </a:cubicBezTo>
                <a:cubicBezTo>
                  <a:pt x="2893682" y="905501"/>
                  <a:pt x="2905868" y="910773"/>
                  <a:pt x="2918564" y="914400"/>
                </a:cubicBezTo>
                <a:cubicBezTo>
                  <a:pt x="3028672" y="945859"/>
                  <a:pt x="2916139" y="909417"/>
                  <a:pt x="3006247" y="939452"/>
                </a:cubicBezTo>
                <a:cubicBezTo>
                  <a:pt x="3065797" y="979152"/>
                  <a:pt x="3029543" y="959743"/>
                  <a:pt x="3118981" y="989556"/>
                </a:cubicBezTo>
                <a:lnTo>
                  <a:pt x="3156559" y="1002082"/>
                </a:lnTo>
                <a:cubicBezTo>
                  <a:pt x="3169085" y="1006257"/>
                  <a:pt x="3183151" y="1007284"/>
                  <a:pt x="3194137" y="1014608"/>
                </a:cubicBezTo>
                <a:cubicBezTo>
                  <a:pt x="3206663" y="1022959"/>
                  <a:pt x="3217958" y="1033546"/>
                  <a:pt x="3231715" y="1039660"/>
                </a:cubicBezTo>
                <a:cubicBezTo>
                  <a:pt x="3255846" y="1050385"/>
                  <a:pt x="3306871" y="1064712"/>
                  <a:pt x="3306871" y="1064712"/>
                </a:cubicBezTo>
                <a:cubicBezTo>
                  <a:pt x="3302696" y="1052186"/>
                  <a:pt x="3283359" y="1034458"/>
                  <a:pt x="3294345" y="1027134"/>
                </a:cubicBezTo>
                <a:cubicBezTo>
                  <a:pt x="3308669" y="1017585"/>
                  <a:pt x="3327568" y="1036284"/>
                  <a:pt x="3344449" y="1039660"/>
                </a:cubicBezTo>
                <a:cubicBezTo>
                  <a:pt x="3369353" y="1044641"/>
                  <a:pt x="3394553" y="1048011"/>
                  <a:pt x="3419605" y="1052186"/>
                </a:cubicBezTo>
                <a:cubicBezTo>
                  <a:pt x="3491000" y="1123580"/>
                  <a:pt x="3450057" y="1089188"/>
                  <a:pt x="3544866" y="1152394"/>
                </a:cubicBezTo>
                <a:cubicBezTo>
                  <a:pt x="3557392" y="1160745"/>
                  <a:pt x="3568162" y="1172685"/>
                  <a:pt x="3582444" y="1177446"/>
                </a:cubicBezTo>
                <a:lnTo>
                  <a:pt x="3695178" y="1215024"/>
                </a:lnTo>
                <a:cubicBezTo>
                  <a:pt x="3707704" y="1219199"/>
                  <a:pt x="3721770" y="1220226"/>
                  <a:pt x="3732756" y="1227550"/>
                </a:cubicBezTo>
                <a:lnTo>
                  <a:pt x="3770334" y="1252602"/>
                </a:lnTo>
                <a:cubicBezTo>
                  <a:pt x="3866367" y="1248427"/>
                  <a:pt x="3962943" y="1251094"/>
                  <a:pt x="4058433" y="1240076"/>
                </a:cubicBezTo>
                <a:cubicBezTo>
                  <a:pt x="4073388" y="1238350"/>
                  <a:pt x="4082254" y="1221138"/>
                  <a:pt x="4096011" y="1215024"/>
                </a:cubicBezTo>
                <a:cubicBezTo>
                  <a:pt x="4120142" y="1204299"/>
                  <a:pt x="4149195" y="1204620"/>
                  <a:pt x="4171167" y="1189972"/>
                </a:cubicBezTo>
                <a:cubicBezTo>
                  <a:pt x="4226459" y="1153110"/>
                  <a:pt x="4193983" y="1167872"/>
                  <a:pt x="4271375" y="1152394"/>
                </a:cubicBezTo>
                <a:cubicBezTo>
                  <a:pt x="4279726" y="1139868"/>
                  <a:pt x="4285782" y="1125461"/>
                  <a:pt x="4296427" y="1114816"/>
                </a:cubicBezTo>
                <a:cubicBezTo>
                  <a:pt x="4307072" y="1104171"/>
                  <a:pt x="4322249" y="1099168"/>
                  <a:pt x="4334005" y="1089764"/>
                </a:cubicBezTo>
                <a:cubicBezTo>
                  <a:pt x="4423249" y="1018370"/>
                  <a:pt x="4280976" y="1116767"/>
                  <a:pt x="4396636" y="1039660"/>
                </a:cubicBezTo>
                <a:lnTo>
                  <a:pt x="4421688" y="1002082"/>
                </a:ln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srgbClr val="000000"/>
              </a:solidFill>
            </a:endParaRPr>
          </a:p>
        </p:txBody>
      </p:sp>
      <p:sp>
        <p:nvSpPr>
          <p:cNvPr id="21" name="TextBox 20"/>
          <p:cNvSpPr txBox="1">
            <a:spLocks noChangeArrowheads="1"/>
          </p:cNvSpPr>
          <p:nvPr/>
        </p:nvSpPr>
        <p:spPr bwMode="auto">
          <a:xfrm>
            <a:off x="2133600" y="2133600"/>
            <a:ext cx="1355371" cy="369332"/>
          </a:xfrm>
          <a:prstGeom prst="rect">
            <a:avLst/>
          </a:prstGeom>
          <a:noFill/>
          <a:ln w="9525">
            <a:noFill/>
            <a:miter lim="800000"/>
            <a:headEnd/>
            <a:tailEnd/>
          </a:ln>
        </p:spPr>
        <p:txBody>
          <a:bodyPr wrap="none">
            <a:spAutoFit/>
          </a:bodyPr>
          <a:lstStyle/>
          <a:p>
            <a:r>
              <a:rPr lang="en-US" altLang="en-US" b="1">
                <a:solidFill>
                  <a:srgbClr val="FF0000"/>
                </a:solidFill>
              </a:rPr>
              <a:t>Underfitting</a:t>
            </a:r>
          </a:p>
        </p:txBody>
      </p:sp>
      <p:sp>
        <p:nvSpPr>
          <p:cNvPr id="22" name="TextBox 21"/>
          <p:cNvSpPr txBox="1">
            <a:spLocks noChangeArrowheads="1"/>
          </p:cNvSpPr>
          <p:nvPr/>
        </p:nvSpPr>
        <p:spPr bwMode="auto">
          <a:xfrm>
            <a:off x="7416801" y="2133600"/>
            <a:ext cx="1220206" cy="369332"/>
          </a:xfrm>
          <a:prstGeom prst="rect">
            <a:avLst/>
          </a:prstGeom>
          <a:noFill/>
          <a:ln w="9525">
            <a:noFill/>
            <a:miter lim="800000"/>
            <a:headEnd/>
            <a:tailEnd/>
          </a:ln>
        </p:spPr>
        <p:txBody>
          <a:bodyPr wrap="none">
            <a:spAutoFit/>
          </a:bodyPr>
          <a:lstStyle/>
          <a:p>
            <a:r>
              <a:rPr lang="en-US" altLang="en-US" b="1">
                <a:solidFill>
                  <a:srgbClr val="FF0000"/>
                </a:solidFill>
              </a:rPr>
              <a:t>Overfitting</a:t>
            </a:r>
          </a:p>
        </p:txBody>
      </p:sp>
      <p:cxnSp>
        <p:nvCxnSpPr>
          <p:cNvPr id="26" name="Straight Arrow Connector 25"/>
          <p:cNvCxnSpPr/>
          <p:nvPr/>
        </p:nvCxnSpPr>
        <p:spPr>
          <a:xfrm rot="5400000">
            <a:off x="2883959" y="2780242"/>
            <a:ext cx="533400" cy="2117"/>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7682443" y="3239030"/>
            <a:ext cx="1295400" cy="211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12"/>
          <p:cNvGrpSpPr>
            <a:grpSpLocks/>
          </p:cNvGrpSpPr>
          <p:nvPr/>
        </p:nvGrpSpPr>
        <p:grpSpPr bwMode="auto">
          <a:xfrm>
            <a:off x="1956017" y="2771776"/>
            <a:ext cx="6590031" cy="3629199"/>
            <a:chOff x="1581859" y="2667794"/>
            <a:chExt cx="4941619" cy="3630667"/>
          </a:xfrm>
        </p:grpSpPr>
        <p:cxnSp>
          <p:nvCxnSpPr>
            <p:cNvPr id="11" name="Straight Arrow Connector 10"/>
            <p:cNvCxnSpPr/>
            <p:nvPr/>
          </p:nvCxnSpPr>
          <p:spPr>
            <a:xfrm rot="5400000" flipH="1" flipV="1">
              <a:off x="304640" y="4267054"/>
              <a:ext cx="3200107"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905487" y="5867901"/>
              <a:ext cx="4418791"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577" name="TextBox 7"/>
            <p:cNvSpPr txBox="1">
              <a:spLocks noChangeArrowheads="1"/>
            </p:cNvSpPr>
            <p:nvPr/>
          </p:nvSpPr>
          <p:spPr bwMode="auto">
            <a:xfrm>
              <a:off x="3550796" y="5867400"/>
              <a:ext cx="925613" cy="369481"/>
            </a:xfrm>
            <a:prstGeom prst="rect">
              <a:avLst/>
            </a:prstGeom>
            <a:noFill/>
            <a:ln w="9525">
              <a:noFill/>
              <a:miter lim="800000"/>
              <a:headEnd/>
              <a:tailEnd/>
            </a:ln>
          </p:spPr>
          <p:txBody>
            <a:bodyPr wrap="none">
              <a:spAutoFit/>
            </a:bodyPr>
            <a:lstStyle/>
            <a:p>
              <a:r>
                <a:rPr lang="en-US" altLang="en-US">
                  <a:solidFill>
                    <a:srgbClr val="000000"/>
                  </a:solidFill>
                </a:rPr>
                <a:t>Complexity</a:t>
              </a:r>
            </a:p>
          </p:txBody>
        </p:sp>
        <p:sp>
          <p:nvSpPr>
            <p:cNvPr id="66578" name="TextBox 8"/>
            <p:cNvSpPr txBox="1">
              <a:spLocks noChangeArrowheads="1"/>
            </p:cNvSpPr>
            <p:nvPr/>
          </p:nvSpPr>
          <p:spPr bwMode="auto">
            <a:xfrm>
              <a:off x="5791200" y="5867400"/>
              <a:ext cx="732278" cy="431061"/>
            </a:xfrm>
            <a:prstGeom prst="rect">
              <a:avLst/>
            </a:prstGeom>
            <a:noFill/>
            <a:ln w="9525">
              <a:noFill/>
              <a:miter lim="800000"/>
              <a:headEnd/>
              <a:tailEnd/>
            </a:ln>
          </p:spPr>
          <p:txBody>
            <a:bodyPr wrap="none">
              <a:spAutoFit/>
            </a:bodyPr>
            <a:lstStyle/>
            <a:p>
              <a:r>
                <a:rPr lang="en-US" altLang="en-US" sz="1100">
                  <a:solidFill>
                    <a:srgbClr val="000000"/>
                  </a:solidFill>
                </a:rPr>
                <a:t>Low Bias</a:t>
              </a:r>
            </a:p>
            <a:p>
              <a:r>
                <a:rPr lang="en-US" altLang="en-US" sz="1100">
                  <a:solidFill>
                    <a:srgbClr val="000000"/>
                  </a:solidFill>
                </a:rPr>
                <a:t>High Variance</a:t>
              </a:r>
            </a:p>
          </p:txBody>
        </p:sp>
        <p:sp>
          <p:nvSpPr>
            <p:cNvPr id="66579" name="TextBox 9"/>
            <p:cNvSpPr txBox="1">
              <a:spLocks noChangeArrowheads="1"/>
            </p:cNvSpPr>
            <p:nvPr/>
          </p:nvSpPr>
          <p:spPr bwMode="auto">
            <a:xfrm>
              <a:off x="1676400" y="5867400"/>
              <a:ext cx="713045" cy="431061"/>
            </a:xfrm>
            <a:prstGeom prst="rect">
              <a:avLst/>
            </a:prstGeom>
            <a:noFill/>
            <a:ln w="9525">
              <a:noFill/>
              <a:miter lim="800000"/>
              <a:headEnd/>
              <a:tailEnd/>
            </a:ln>
          </p:spPr>
          <p:txBody>
            <a:bodyPr wrap="none">
              <a:spAutoFit/>
            </a:bodyPr>
            <a:lstStyle/>
            <a:p>
              <a:r>
                <a:rPr lang="en-US" altLang="en-US" sz="1100">
                  <a:solidFill>
                    <a:srgbClr val="000000"/>
                  </a:solidFill>
                </a:rPr>
                <a:t>High Bias</a:t>
              </a:r>
            </a:p>
            <a:p>
              <a:r>
                <a:rPr lang="en-US" altLang="en-US" sz="1100">
                  <a:solidFill>
                    <a:srgbClr val="000000"/>
                  </a:solidFill>
                </a:rPr>
                <a:t>Low Variance</a:t>
              </a:r>
            </a:p>
          </p:txBody>
        </p:sp>
        <p:sp>
          <p:nvSpPr>
            <p:cNvPr id="66580" name="TextBox 10"/>
            <p:cNvSpPr txBox="1">
              <a:spLocks noChangeArrowheads="1"/>
            </p:cNvSpPr>
            <p:nvPr/>
          </p:nvSpPr>
          <p:spPr bwMode="auto">
            <a:xfrm rot="16200000">
              <a:off x="1392482" y="4187827"/>
              <a:ext cx="655701" cy="276948"/>
            </a:xfrm>
            <a:prstGeom prst="rect">
              <a:avLst/>
            </a:prstGeom>
            <a:noFill/>
            <a:ln w="9525">
              <a:noFill/>
              <a:miter lim="800000"/>
              <a:headEnd/>
              <a:tailEnd/>
            </a:ln>
          </p:spPr>
          <p:txBody>
            <a:bodyPr wrap="none">
              <a:spAutoFit/>
            </a:bodyPr>
            <a:lstStyle/>
            <a:p>
              <a:r>
                <a:rPr lang="en-US" altLang="en-US">
                  <a:solidFill>
                    <a:srgbClr val="000000"/>
                  </a:solidFill>
                </a:rPr>
                <a:t>Error</a:t>
              </a:r>
            </a:p>
          </p:txBody>
        </p:sp>
      </p:grpSp>
      <p:sp>
        <p:nvSpPr>
          <p:cNvPr id="23" name="TextBox 22"/>
          <p:cNvSpPr txBox="1"/>
          <p:nvPr/>
        </p:nvSpPr>
        <p:spPr>
          <a:xfrm>
            <a:off x="8937654" y="6466446"/>
            <a:ext cx="1533561" cy="276999"/>
          </a:xfrm>
          <a:prstGeom prst="rect">
            <a:avLst/>
          </a:prstGeom>
          <a:noFill/>
        </p:spPr>
        <p:txBody>
          <a:bodyPr wrap="none">
            <a:spAutoFit/>
          </a:bodyPr>
          <a:lstStyle/>
          <a:p>
            <a:pPr>
              <a:defRPr/>
            </a:pPr>
            <a:r>
              <a:rPr lang="en-US" sz="1200" dirty="0">
                <a:solidFill>
                  <a:srgbClr val="FFFFFF">
                    <a:lumMod val="65000"/>
                  </a:srgbClr>
                </a:solidFill>
                <a:cs typeface="+mn-cs"/>
              </a:rPr>
              <a:t>Slide credit: D. </a:t>
            </a:r>
            <a:r>
              <a:rPr lang="en-US" sz="1200" dirty="0" err="1">
                <a:solidFill>
                  <a:srgbClr val="FFFFFF">
                    <a:lumMod val="65000"/>
                  </a:srgbClr>
                </a:solidFill>
                <a:cs typeface="+mn-cs"/>
              </a:rPr>
              <a:t>Hoiem</a:t>
            </a:r>
            <a:endParaRPr lang="en-US" sz="1200" dirty="0">
              <a:solidFill>
                <a:srgbClr val="FFFFFF">
                  <a:lumMod val="65000"/>
                </a:srgbClr>
              </a:solidFill>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a:t>Bias-variance tradeoff</a:t>
            </a:r>
          </a:p>
        </p:txBody>
      </p:sp>
      <p:sp>
        <p:nvSpPr>
          <p:cNvPr id="10" name="Freeform 9"/>
          <p:cNvSpPr/>
          <p:nvPr/>
        </p:nvSpPr>
        <p:spPr>
          <a:xfrm>
            <a:off x="2588685" y="3957638"/>
            <a:ext cx="5812367" cy="1827212"/>
          </a:xfrm>
          <a:custGeom>
            <a:avLst/>
            <a:gdLst>
              <a:gd name="connsiteX0" fmla="*/ 0 w 4359058"/>
              <a:gd name="connsiteY0" fmla="*/ 0 h 1826490"/>
              <a:gd name="connsiteX1" fmla="*/ 413359 w 4359058"/>
              <a:gd name="connsiteY1" fmla="*/ 12526 h 1826490"/>
              <a:gd name="connsiteX2" fmla="*/ 450937 w 4359058"/>
              <a:gd name="connsiteY2" fmla="*/ 25052 h 1826490"/>
              <a:gd name="connsiteX3" fmla="*/ 488515 w 4359058"/>
              <a:gd name="connsiteY3" fmla="*/ 50104 h 1826490"/>
              <a:gd name="connsiteX4" fmla="*/ 551145 w 4359058"/>
              <a:gd name="connsiteY4" fmla="*/ 62630 h 1826490"/>
              <a:gd name="connsiteX5" fmla="*/ 601250 w 4359058"/>
              <a:gd name="connsiteY5" fmla="*/ 75156 h 1826490"/>
              <a:gd name="connsiteX6" fmla="*/ 676406 w 4359058"/>
              <a:gd name="connsiteY6" fmla="*/ 100208 h 1826490"/>
              <a:gd name="connsiteX7" fmla="*/ 713984 w 4359058"/>
              <a:gd name="connsiteY7" fmla="*/ 137786 h 1826490"/>
              <a:gd name="connsiteX8" fmla="*/ 764088 w 4359058"/>
              <a:gd name="connsiteY8" fmla="*/ 150312 h 1826490"/>
              <a:gd name="connsiteX9" fmla="*/ 876822 w 4359058"/>
              <a:gd name="connsiteY9" fmla="*/ 187890 h 1826490"/>
              <a:gd name="connsiteX10" fmla="*/ 914400 w 4359058"/>
              <a:gd name="connsiteY10" fmla="*/ 200416 h 1826490"/>
              <a:gd name="connsiteX11" fmla="*/ 977030 w 4359058"/>
              <a:gd name="connsiteY11" fmla="*/ 212942 h 1826490"/>
              <a:gd name="connsiteX12" fmla="*/ 1052187 w 4359058"/>
              <a:gd name="connsiteY12" fmla="*/ 237994 h 1826490"/>
              <a:gd name="connsiteX13" fmla="*/ 1089765 w 4359058"/>
              <a:gd name="connsiteY13" fmla="*/ 250520 h 1826490"/>
              <a:gd name="connsiteX14" fmla="*/ 1127343 w 4359058"/>
              <a:gd name="connsiteY14" fmla="*/ 288098 h 1826490"/>
              <a:gd name="connsiteX15" fmla="*/ 1164921 w 4359058"/>
              <a:gd name="connsiteY15" fmla="*/ 300624 h 1826490"/>
              <a:gd name="connsiteX16" fmla="*/ 1202499 w 4359058"/>
              <a:gd name="connsiteY16" fmla="*/ 325676 h 1826490"/>
              <a:gd name="connsiteX17" fmla="*/ 1215025 w 4359058"/>
              <a:gd name="connsiteY17" fmla="*/ 363254 h 1826490"/>
              <a:gd name="connsiteX18" fmla="*/ 1240077 w 4359058"/>
              <a:gd name="connsiteY18" fmla="*/ 388307 h 1826490"/>
              <a:gd name="connsiteX19" fmla="*/ 1277655 w 4359058"/>
              <a:gd name="connsiteY19" fmla="*/ 413359 h 1826490"/>
              <a:gd name="connsiteX20" fmla="*/ 1390389 w 4359058"/>
              <a:gd name="connsiteY20" fmla="*/ 438411 h 1826490"/>
              <a:gd name="connsiteX21" fmla="*/ 1465545 w 4359058"/>
              <a:gd name="connsiteY21" fmla="*/ 463463 h 1826490"/>
              <a:gd name="connsiteX22" fmla="*/ 1503124 w 4359058"/>
              <a:gd name="connsiteY22" fmla="*/ 475989 h 1826490"/>
              <a:gd name="connsiteX23" fmla="*/ 1590806 w 4359058"/>
              <a:gd name="connsiteY23" fmla="*/ 576197 h 1826490"/>
              <a:gd name="connsiteX24" fmla="*/ 1665962 w 4359058"/>
              <a:gd name="connsiteY24" fmla="*/ 663879 h 1826490"/>
              <a:gd name="connsiteX25" fmla="*/ 1703540 w 4359058"/>
              <a:gd name="connsiteY25" fmla="*/ 739035 h 1826490"/>
              <a:gd name="connsiteX26" fmla="*/ 1816274 w 4359058"/>
              <a:gd name="connsiteY26" fmla="*/ 801665 h 1826490"/>
              <a:gd name="connsiteX27" fmla="*/ 1891430 w 4359058"/>
              <a:gd name="connsiteY27" fmla="*/ 839243 h 1826490"/>
              <a:gd name="connsiteX28" fmla="*/ 1916482 w 4359058"/>
              <a:gd name="connsiteY28" fmla="*/ 864296 h 1826490"/>
              <a:gd name="connsiteX29" fmla="*/ 1954061 w 4359058"/>
              <a:gd name="connsiteY29" fmla="*/ 889348 h 1826490"/>
              <a:gd name="connsiteX30" fmla="*/ 1979113 w 4359058"/>
              <a:gd name="connsiteY30" fmla="*/ 926926 h 1826490"/>
              <a:gd name="connsiteX31" fmla="*/ 2016691 w 4359058"/>
              <a:gd name="connsiteY31" fmla="*/ 964504 h 1826490"/>
              <a:gd name="connsiteX32" fmla="*/ 2041743 w 4359058"/>
              <a:gd name="connsiteY32" fmla="*/ 1002082 h 1826490"/>
              <a:gd name="connsiteX33" fmla="*/ 2079321 w 4359058"/>
              <a:gd name="connsiteY33" fmla="*/ 1027134 h 1826490"/>
              <a:gd name="connsiteX34" fmla="*/ 2141951 w 4359058"/>
              <a:gd name="connsiteY34" fmla="*/ 1089764 h 1826490"/>
              <a:gd name="connsiteX35" fmla="*/ 2204581 w 4359058"/>
              <a:gd name="connsiteY35" fmla="*/ 1202498 h 1826490"/>
              <a:gd name="connsiteX36" fmla="*/ 2229633 w 4359058"/>
              <a:gd name="connsiteY36" fmla="*/ 1240076 h 1826490"/>
              <a:gd name="connsiteX37" fmla="*/ 2329841 w 4359058"/>
              <a:gd name="connsiteY37" fmla="*/ 1327759 h 1826490"/>
              <a:gd name="connsiteX38" fmla="*/ 2404998 w 4359058"/>
              <a:gd name="connsiteY38" fmla="*/ 1352811 h 1826490"/>
              <a:gd name="connsiteX39" fmla="*/ 2442576 w 4359058"/>
              <a:gd name="connsiteY39" fmla="*/ 1365337 h 1826490"/>
              <a:gd name="connsiteX40" fmla="*/ 2467628 w 4359058"/>
              <a:gd name="connsiteY40" fmla="*/ 1402915 h 1826490"/>
              <a:gd name="connsiteX41" fmla="*/ 2592888 w 4359058"/>
              <a:gd name="connsiteY41" fmla="*/ 1440493 h 1826490"/>
              <a:gd name="connsiteX42" fmla="*/ 2668044 w 4359058"/>
              <a:gd name="connsiteY42" fmla="*/ 1465545 h 1826490"/>
              <a:gd name="connsiteX43" fmla="*/ 2743200 w 4359058"/>
              <a:gd name="connsiteY43" fmla="*/ 1503123 h 1826490"/>
              <a:gd name="connsiteX44" fmla="*/ 2931091 w 4359058"/>
              <a:gd name="connsiteY44" fmla="*/ 1515649 h 1826490"/>
              <a:gd name="connsiteX45" fmla="*/ 3118981 w 4359058"/>
              <a:gd name="connsiteY45" fmla="*/ 1553227 h 1826490"/>
              <a:gd name="connsiteX46" fmla="*/ 3206663 w 4359058"/>
              <a:gd name="connsiteY46" fmla="*/ 1615857 h 1826490"/>
              <a:gd name="connsiteX47" fmla="*/ 3306871 w 4359058"/>
              <a:gd name="connsiteY47" fmla="*/ 1640909 h 1826490"/>
              <a:gd name="connsiteX48" fmla="*/ 3369502 w 4359058"/>
              <a:gd name="connsiteY48" fmla="*/ 1665961 h 1826490"/>
              <a:gd name="connsiteX49" fmla="*/ 3933173 w 4359058"/>
              <a:gd name="connsiteY49" fmla="*/ 1691013 h 1826490"/>
              <a:gd name="connsiteX50" fmla="*/ 4008329 w 4359058"/>
              <a:gd name="connsiteY50" fmla="*/ 1653435 h 1826490"/>
              <a:gd name="connsiteX51" fmla="*/ 4083485 w 4359058"/>
              <a:gd name="connsiteY51" fmla="*/ 1628383 h 1826490"/>
              <a:gd name="connsiteX52" fmla="*/ 4121063 w 4359058"/>
              <a:gd name="connsiteY52" fmla="*/ 1603331 h 1826490"/>
              <a:gd name="connsiteX53" fmla="*/ 4196219 w 4359058"/>
              <a:gd name="connsiteY53" fmla="*/ 1578279 h 1826490"/>
              <a:gd name="connsiteX54" fmla="*/ 4271376 w 4359058"/>
              <a:gd name="connsiteY54" fmla="*/ 1540701 h 1826490"/>
              <a:gd name="connsiteX55" fmla="*/ 4308954 w 4359058"/>
              <a:gd name="connsiteY55" fmla="*/ 1515649 h 1826490"/>
              <a:gd name="connsiteX56" fmla="*/ 4359058 w 4359058"/>
              <a:gd name="connsiteY56" fmla="*/ 1465545 h 1826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59058" h="1826490">
                <a:moveTo>
                  <a:pt x="0" y="0"/>
                </a:moveTo>
                <a:cubicBezTo>
                  <a:pt x="137786" y="4175"/>
                  <a:pt x="275722" y="4879"/>
                  <a:pt x="413359" y="12526"/>
                </a:cubicBezTo>
                <a:cubicBezTo>
                  <a:pt x="426542" y="13258"/>
                  <a:pt x="439127" y="19147"/>
                  <a:pt x="450937" y="25052"/>
                </a:cubicBezTo>
                <a:cubicBezTo>
                  <a:pt x="464402" y="31785"/>
                  <a:pt x="474419" y="44818"/>
                  <a:pt x="488515" y="50104"/>
                </a:cubicBezTo>
                <a:cubicBezTo>
                  <a:pt x="508450" y="57579"/>
                  <a:pt x="530362" y="58012"/>
                  <a:pt x="551145" y="62630"/>
                </a:cubicBezTo>
                <a:cubicBezTo>
                  <a:pt x="567951" y="66365"/>
                  <a:pt x="584760" y="70209"/>
                  <a:pt x="601250" y="75156"/>
                </a:cubicBezTo>
                <a:cubicBezTo>
                  <a:pt x="626543" y="82744"/>
                  <a:pt x="676406" y="100208"/>
                  <a:pt x="676406" y="100208"/>
                </a:cubicBezTo>
                <a:cubicBezTo>
                  <a:pt x="688932" y="112734"/>
                  <a:pt x="698604" y="128997"/>
                  <a:pt x="713984" y="137786"/>
                </a:cubicBezTo>
                <a:cubicBezTo>
                  <a:pt x="728931" y="146327"/>
                  <a:pt x="747599" y="145365"/>
                  <a:pt x="764088" y="150312"/>
                </a:cubicBezTo>
                <a:lnTo>
                  <a:pt x="876822" y="187890"/>
                </a:lnTo>
                <a:cubicBezTo>
                  <a:pt x="889348" y="192065"/>
                  <a:pt x="901453" y="197827"/>
                  <a:pt x="914400" y="200416"/>
                </a:cubicBezTo>
                <a:cubicBezTo>
                  <a:pt x="935277" y="204591"/>
                  <a:pt x="956490" y="207340"/>
                  <a:pt x="977030" y="212942"/>
                </a:cubicBezTo>
                <a:cubicBezTo>
                  <a:pt x="1002507" y="219890"/>
                  <a:pt x="1027135" y="229643"/>
                  <a:pt x="1052187" y="237994"/>
                </a:cubicBezTo>
                <a:lnTo>
                  <a:pt x="1089765" y="250520"/>
                </a:lnTo>
                <a:cubicBezTo>
                  <a:pt x="1102291" y="263046"/>
                  <a:pt x="1112604" y="278272"/>
                  <a:pt x="1127343" y="288098"/>
                </a:cubicBezTo>
                <a:cubicBezTo>
                  <a:pt x="1138329" y="295422"/>
                  <a:pt x="1153111" y="294719"/>
                  <a:pt x="1164921" y="300624"/>
                </a:cubicBezTo>
                <a:cubicBezTo>
                  <a:pt x="1178386" y="307357"/>
                  <a:pt x="1189973" y="317325"/>
                  <a:pt x="1202499" y="325676"/>
                </a:cubicBezTo>
                <a:cubicBezTo>
                  <a:pt x="1206674" y="338202"/>
                  <a:pt x="1208232" y="351932"/>
                  <a:pt x="1215025" y="363254"/>
                </a:cubicBezTo>
                <a:cubicBezTo>
                  <a:pt x="1221101" y="373381"/>
                  <a:pt x="1230855" y="380929"/>
                  <a:pt x="1240077" y="388307"/>
                </a:cubicBezTo>
                <a:cubicBezTo>
                  <a:pt x="1251832" y="397712"/>
                  <a:pt x="1264190" y="406626"/>
                  <a:pt x="1277655" y="413359"/>
                </a:cubicBezTo>
                <a:cubicBezTo>
                  <a:pt x="1313493" y="431278"/>
                  <a:pt x="1351902" y="428789"/>
                  <a:pt x="1390389" y="438411"/>
                </a:cubicBezTo>
                <a:cubicBezTo>
                  <a:pt x="1416008" y="444816"/>
                  <a:pt x="1440493" y="455112"/>
                  <a:pt x="1465545" y="463463"/>
                </a:cubicBezTo>
                <a:lnTo>
                  <a:pt x="1503124" y="475989"/>
                </a:lnTo>
                <a:cubicBezTo>
                  <a:pt x="1609595" y="546970"/>
                  <a:pt x="1444669" y="430060"/>
                  <a:pt x="1590806" y="576197"/>
                </a:cubicBezTo>
                <a:cubicBezTo>
                  <a:pt x="1643146" y="628537"/>
                  <a:pt x="1617755" y="599603"/>
                  <a:pt x="1665962" y="663879"/>
                </a:cubicBezTo>
                <a:cubicBezTo>
                  <a:pt x="1674897" y="690684"/>
                  <a:pt x="1680686" y="719038"/>
                  <a:pt x="1703540" y="739035"/>
                </a:cubicBezTo>
                <a:cubicBezTo>
                  <a:pt x="1808859" y="831189"/>
                  <a:pt x="1741723" y="764389"/>
                  <a:pt x="1816274" y="801665"/>
                </a:cubicBezTo>
                <a:cubicBezTo>
                  <a:pt x="1913402" y="850229"/>
                  <a:pt x="1796977" y="807759"/>
                  <a:pt x="1891430" y="839243"/>
                </a:cubicBezTo>
                <a:cubicBezTo>
                  <a:pt x="1899781" y="847594"/>
                  <a:pt x="1907260" y="856918"/>
                  <a:pt x="1916482" y="864296"/>
                </a:cubicBezTo>
                <a:cubicBezTo>
                  <a:pt x="1928238" y="873701"/>
                  <a:pt x="1943416" y="878703"/>
                  <a:pt x="1954061" y="889348"/>
                </a:cubicBezTo>
                <a:cubicBezTo>
                  <a:pt x="1964706" y="899993"/>
                  <a:pt x="1969475" y="915361"/>
                  <a:pt x="1979113" y="926926"/>
                </a:cubicBezTo>
                <a:cubicBezTo>
                  <a:pt x="1990454" y="940535"/>
                  <a:pt x="2005350" y="950895"/>
                  <a:pt x="2016691" y="964504"/>
                </a:cubicBezTo>
                <a:cubicBezTo>
                  <a:pt x="2026329" y="976069"/>
                  <a:pt x="2031098" y="991437"/>
                  <a:pt x="2041743" y="1002082"/>
                </a:cubicBezTo>
                <a:cubicBezTo>
                  <a:pt x="2052388" y="1012727"/>
                  <a:pt x="2067991" y="1017221"/>
                  <a:pt x="2079321" y="1027134"/>
                </a:cubicBezTo>
                <a:cubicBezTo>
                  <a:pt x="2101540" y="1046576"/>
                  <a:pt x="2121074" y="1068887"/>
                  <a:pt x="2141951" y="1089764"/>
                </a:cubicBezTo>
                <a:cubicBezTo>
                  <a:pt x="2163998" y="1155906"/>
                  <a:pt x="2147153" y="1116356"/>
                  <a:pt x="2204581" y="1202498"/>
                </a:cubicBezTo>
                <a:lnTo>
                  <a:pt x="2229633" y="1240076"/>
                </a:lnTo>
                <a:cubicBezTo>
                  <a:pt x="2258860" y="1283916"/>
                  <a:pt x="2267212" y="1306883"/>
                  <a:pt x="2329841" y="1327759"/>
                </a:cubicBezTo>
                <a:lnTo>
                  <a:pt x="2404998" y="1352811"/>
                </a:lnTo>
                <a:lnTo>
                  <a:pt x="2442576" y="1365337"/>
                </a:lnTo>
                <a:cubicBezTo>
                  <a:pt x="2450927" y="1377863"/>
                  <a:pt x="2454862" y="1394936"/>
                  <a:pt x="2467628" y="1402915"/>
                </a:cubicBezTo>
                <a:cubicBezTo>
                  <a:pt x="2494881" y="1419948"/>
                  <a:pt x="2559041" y="1430339"/>
                  <a:pt x="2592888" y="1440493"/>
                </a:cubicBezTo>
                <a:cubicBezTo>
                  <a:pt x="2618181" y="1448081"/>
                  <a:pt x="2646072" y="1450897"/>
                  <a:pt x="2668044" y="1465545"/>
                </a:cubicBezTo>
                <a:cubicBezTo>
                  <a:pt x="2692956" y="1482153"/>
                  <a:pt x="2712084" y="1499666"/>
                  <a:pt x="2743200" y="1503123"/>
                </a:cubicBezTo>
                <a:cubicBezTo>
                  <a:pt x="2805585" y="1510055"/>
                  <a:pt x="2868461" y="1511474"/>
                  <a:pt x="2931091" y="1515649"/>
                </a:cubicBezTo>
                <a:cubicBezTo>
                  <a:pt x="3042116" y="1552657"/>
                  <a:pt x="2980001" y="1537785"/>
                  <a:pt x="3118981" y="1553227"/>
                </a:cubicBezTo>
                <a:cubicBezTo>
                  <a:pt x="3291986" y="1639730"/>
                  <a:pt x="3054318" y="1514294"/>
                  <a:pt x="3206663" y="1615857"/>
                </a:cubicBezTo>
                <a:cubicBezTo>
                  <a:pt x="3224698" y="1627881"/>
                  <a:pt x="3295373" y="1637460"/>
                  <a:pt x="3306871" y="1640909"/>
                </a:cubicBezTo>
                <a:cubicBezTo>
                  <a:pt x="3328408" y="1647370"/>
                  <a:pt x="3348625" y="1657610"/>
                  <a:pt x="3369502" y="1665961"/>
                </a:cubicBezTo>
                <a:cubicBezTo>
                  <a:pt x="3530031" y="1826490"/>
                  <a:pt x="3400114" y="1714704"/>
                  <a:pt x="3933173" y="1691013"/>
                </a:cubicBezTo>
                <a:cubicBezTo>
                  <a:pt x="3971242" y="1689321"/>
                  <a:pt x="3975489" y="1668030"/>
                  <a:pt x="4008329" y="1653435"/>
                </a:cubicBezTo>
                <a:cubicBezTo>
                  <a:pt x="4032460" y="1642710"/>
                  <a:pt x="4061513" y="1643031"/>
                  <a:pt x="4083485" y="1628383"/>
                </a:cubicBezTo>
                <a:cubicBezTo>
                  <a:pt x="4096011" y="1620032"/>
                  <a:pt x="4107306" y="1609445"/>
                  <a:pt x="4121063" y="1603331"/>
                </a:cubicBezTo>
                <a:cubicBezTo>
                  <a:pt x="4145194" y="1592606"/>
                  <a:pt x="4174247" y="1592927"/>
                  <a:pt x="4196219" y="1578279"/>
                </a:cubicBezTo>
                <a:cubicBezTo>
                  <a:pt x="4303921" y="1506480"/>
                  <a:pt x="4167650" y="1592564"/>
                  <a:pt x="4271376" y="1540701"/>
                </a:cubicBezTo>
                <a:cubicBezTo>
                  <a:pt x="4284841" y="1533968"/>
                  <a:pt x="4296428" y="1524000"/>
                  <a:pt x="4308954" y="1515649"/>
                </a:cubicBezTo>
                <a:cubicBezTo>
                  <a:pt x="4339185" y="1470303"/>
                  <a:pt x="4320541" y="1484804"/>
                  <a:pt x="4359058" y="1465545"/>
                </a:cubicBezTo>
              </a:path>
            </a:pathLst>
          </a:custGeom>
          <a:ln w="3810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srgbClr val="000000"/>
              </a:solidFill>
            </a:endParaRPr>
          </a:p>
        </p:txBody>
      </p:sp>
      <p:sp>
        <p:nvSpPr>
          <p:cNvPr id="12" name="Freeform 11"/>
          <p:cNvSpPr/>
          <p:nvPr/>
        </p:nvSpPr>
        <p:spPr>
          <a:xfrm>
            <a:off x="2605618" y="2379663"/>
            <a:ext cx="5812367" cy="1257300"/>
          </a:xfrm>
          <a:custGeom>
            <a:avLst/>
            <a:gdLst>
              <a:gd name="connsiteX0" fmla="*/ 0 w 4359058"/>
              <a:gd name="connsiteY0" fmla="*/ 989556 h 1257062"/>
              <a:gd name="connsiteX1" fmla="*/ 100208 w 4359058"/>
              <a:gd name="connsiteY1" fmla="*/ 1039660 h 1257062"/>
              <a:gd name="connsiteX2" fmla="*/ 137787 w 4359058"/>
              <a:gd name="connsiteY2" fmla="*/ 1052187 h 1257062"/>
              <a:gd name="connsiteX3" fmla="*/ 338203 w 4359058"/>
              <a:gd name="connsiteY3" fmla="*/ 1077239 h 1257062"/>
              <a:gd name="connsiteX4" fmla="*/ 413359 w 4359058"/>
              <a:gd name="connsiteY4" fmla="*/ 1102291 h 1257062"/>
              <a:gd name="connsiteX5" fmla="*/ 450937 w 4359058"/>
              <a:gd name="connsiteY5" fmla="*/ 1114817 h 1257062"/>
              <a:gd name="connsiteX6" fmla="*/ 526093 w 4359058"/>
              <a:gd name="connsiteY6" fmla="*/ 1164921 h 1257062"/>
              <a:gd name="connsiteX7" fmla="*/ 739036 w 4359058"/>
              <a:gd name="connsiteY7" fmla="*/ 1215025 h 1257062"/>
              <a:gd name="connsiteX8" fmla="*/ 776614 w 4359058"/>
              <a:gd name="connsiteY8" fmla="*/ 1227551 h 1257062"/>
              <a:gd name="connsiteX9" fmla="*/ 876822 w 4359058"/>
              <a:gd name="connsiteY9" fmla="*/ 1252603 h 1257062"/>
              <a:gd name="connsiteX10" fmla="*/ 1252603 w 4359058"/>
              <a:gd name="connsiteY10" fmla="*/ 1240077 h 1257062"/>
              <a:gd name="connsiteX11" fmla="*/ 1327759 w 4359058"/>
              <a:gd name="connsiteY11" fmla="*/ 1177447 h 1257062"/>
              <a:gd name="connsiteX12" fmla="*/ 1402915 w 4359058"/>
              <a:gd name="connsiteY12" fmla="*/ 1152395 h 1257062"/>
              <a:gd name="connsiteX13" fmla="*/ 1453019 w 4359058"/>
              <a:gd name="connsiteY13" fmla="*/ 1139869 h 1257062"/>
              <a:gd name="connsiteX14" fmla="*/ 1565754 w 4359058"/>
              <a:gd name="connsiteY14" fmla="*/ 1127343 h 1257062"/>
              <a:gd name="connsiteX15" fmla="*/ 1653436 w 4359058"/>
              <a:gd name="connsiteY15" fmla="*/ 1114817 h 1257062"/>
              <a:gd name="connsiteX16" fmla="*/ 1766170 w 4359058"/>
              <a:gd name="connsiteY16" fmla="*/ 1077239 h 1257062"/>
              <a:gd name="connsiteX17" fmla="*/ 1803748 w 4359058"/>
              <a:gd name="connsiteY17" fmla="*/ 1064713 h 1257062"/>
              <a:gd name="connsiteX18" fmla="*/ 1891430 w 4359058"/>
              <a:gd name="connsiteY18" fmla="*/ 1052187 h 1257062"/>
              <a:gd name="connsiteX19" fmla="*/ 1916482 w 4359058"/>
              <a:gd name="connsiteY19" fmla="*/ 1027134 h 1257062"/>
              <a:gd name="connsiteX20" fmla="*/ 1979113 w 4359058"/>
              <a:gd name="connsiteY20" fmla="*/ 1014608 h 1257062"/>
              <a:gd name="connsiteX21" fmla="*/ 2091847 w 4359058"/>
              <a:gd name="connsiteY21" fmla="*/ 989556 h 1257062"/>
              <a:gd name="connsiteX22" fmla="*/ 2167003 w 4359058"/>
              <a:gd name="connsiteY22" fmla="*/ 939452 h 1257062"/>
              <a:gd name="connsiteX23" fmla="*/ 2204581 w 4359058"/>
              <a:gd name="connsiteY23" fmla="*/ 914400 h 1257062"/>
              <a:gd name="connsiteX24" fmla="*/ 2279737 w 4359058"/>
              <a:gd name="connsiteY24" fmla="*/ 889348 h 1257062"/>
              <a:gd name="connsiteX25" fmla="*/ 2317315 w 4359058"/>
              <a:gd name="connsiteY25" fmla="*/ 876822 h 1257062"/>
              <a:gd name="connsiteX26" fmla="*/ 2354893 w 4359058"/>
              <a:gd name="connsiteY26" fmla="*/ 851770 h 1257062"/>
              <a:gd name="connsiteX27" fmla="*/ 2480154 w 4359058"/>
              <a:gd name="connsiteY27" fmla="*/ 814192 h 1257062"/>
              <a:gd name="connsiteX28" fmla="*/ 2592888 w 4359058"/>
              <a:gd name="connsiteY28" fmla="*/ 789140 h 1257062"/>
              <a:gd name="connsiteX29" fmla="*/ 2668044 w 4359058"/>
              <a:gd name="connsiteY29" fmla="*/ 751562 h 1257062"/>
              <a:gd name="connsiteX30" fmla="*/ 2718148 w 4359058"/>
              <a:gd name="connsiteY30" fmla="*/ 739036 h 1257062"/>
              <a:gd name="connsiteX31" fmla="*/ 2768252 w 4359058"/>
              <a:gd name="connsiteY31" fmla="*/ 713984 h 1257062"/>
              <a:gd name="connsiteX32" fmla="*/ 2918565 w 4359058"/>
              <a:gd name="connsiteY32" fmla="*/ 688932 h 1257062"/>
              <a:gd name="connsiteX33" fmla="*/ 3043825 w 4359058"/>
              <a:gd name="connsiteY33" fmla="*/ 663880 h 1257062"/>
              <a:gd name="connsiteX34" fmla="*/ 3093929 w 4359058"/>
              <a:gd name="connsiteY34" fmla="*/ 651354 h 1257062"/>
              <a:gd name="connsiteX35" fmla="*/ 3169085 w 4359058"/>
              <a:gd name="connsiteY35" fmla="*/ 626302 h 1257062"/>
              <a:gd name="connsiteX36" fmla="*/ 3206663 w 4359058"/>
              <a:gd name="connsiteY36" fmla="*/ 613776 h 1257062"/>
              <a:gd name="connsiteX37" fmla="*/ 3256767 w 4359058"/>
              <a:gd name="connsiteY37" fmla="*/ 601250 h 1257062"/>
              <a:gd name="connsiteX38" fmla="*/ 3331924 w 4359058"/>
              <a:gd name="connsiteY38" fmla="*/ 576197 h 1257062"/>
              <a:gd name="connsiteX39" fmla="*/ 3369502 w 4359058"/>
              <a:gd name="connsiteY39" fmla="*/ 563671 h 1257062"/>
              <a:gd name="connsiteX40" fmla="*/ 3432132 w 4359058"/>
              <a:gd name="connsiteY40" fmla="*/ 551145 h 1257062"/>
              <a:gd name="connsiteX41" fmla="*/ 3507288 w 4359058"/>
              <a:gd name="connsiteY41" fmla="*/ 526093 h 1257062"/>
              <a:gd name="connsiteX42" fmla="*/ 3594970 w 4359058"/>
              <a:gd name="connsiteY42" fmla="*/ 501041 h 1257062"/>
              <a:gd name="connsiteX43" fmla="*/ 3645074 w 4359058"/>
              <a:gd name="connsiteY43" fmla="*/ 475989 h 1257062"/>
              <a:gd name="connsiteX44" fmla="*/ 3682652 w 4359058"/>
              <a:gd name="connsiteY44" fmla="*/ 463463 h 1257062"/>
              <a:gd name="connsiteX45" fmla="*/ 3770335 w 4359058"/>
              <a:gd name="connsiteY45" fmla="*/ 413359 h 1257062"/>
              <a:gd name="connsiteX46" fmla="*/ 3807913 w 4359058"/>
              <a:gd name="connsiteY46" fmla="*/ 400833 h 1257062"/>
              <a:gd name="connsiteX47" fmla="*/ 3983277 w 4359058"/>
              <a:gd name="connsiteY47" fmla="*/ 300625 h 1257062"/>
              <a:gd name="connsiteX48" fmla="*/ 4020855 w 4359058"/>
              <a:gd name="connsiteY48" fmla="*/ 275573 h 1257062"/>
              <a:gd name="connsiteX49" fmla="*/ 4058433 w 4359058"/>
              <a:gd name="connsiteY49" fmla="*/ 250521 h 1257062"/>
              <a:gd name="connsiteX50" fmla="*/ 4096011 w 4359058"/>
              <a:gd name="connsiteY50" fmla="*/ 237995 h 1257062"/>
              <a:gd name="connsiteX51" fmla="*/ 4133589 w 4359058"/>
              <a:gd name="connsiteY51" fmla="*/ 212943 h 1257062"/>
              <a:gd name="connsiteX52" fmla="*/ 4208745 w 4359058"/>
              <a:gd name="connsiteY52" fmla="*/ 187891 h 1257062"/>
              <a:gd name="connsiteX53" fmla="*/ 4233798 w 4359058"/>
              <a:gd name="connsiteY53" fmla="*/ 162839 h 1257062"/>
              <a:gd name="connsiteX54" fmla="*/ 4283902 w 4359058"/>
              <a:gd name="connsiteY54" fmla="*/ 87682 h 1257062"/>
              <a:gd name="connsiteX55" fmla="*/ 4321480 w 4359058"/>
              <a:gd name="connsiteY55" fmla="*/ 62630 h 1257062"/>
              <a:gd name="connsiteX56" fmla="*/ 4359058 w 4359058"/>
              <a:gd name="connsiteY56" fmla="*/ 0 h 1257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4359058" h="1257062">
                <a:moveTo>
                  <a:pt x="0" y="989556"/>
                </a:moveTo>
                <a:cubicBezTo>
                  <a:pt x="162987" y="1016720"/>
                  <a:pt x="17808" y="973740"/>
                  <a:pt x="100208" y="1039660"/>
                </a:cubicBezTo>
                <a:cubicBezTo>
                  <a:pt x="110519" y="1047908"/>
                  <a:pt x="124977" y="1048984"/>
                  <a:pt x="137787" y="1052187"/>
                </a:cubicBezTo>
                <a:cubicBezTo>
                  <a:pt x="211740" y="1070676"/>
                  <a:pt x="252648" y="1069461"/>
                  <a:pt x="338203" y="1077239"/>
                </a:cubicBezTo>
                <a:lnTo>
                  <a:pt x="413359" y="1102291"/>
                </a:lnTo>
                <a:cubicBezTo>
                  <a:pt x="425885" y="1106466"/>
                  <a:pt x="439951" y="1107493"/>
                  <a:pt x="450937" y="1114817"/>
                </a:cubicBezTo>
                <a:lnTo>
                  <a:pt x="526093" y="1164921"/>
                </a:lnTo>
                <a:cubicBezTo>
                  <a:pt x="587520" y="1257062"/>
                  <a:pt x="529631" y="1191758"/>
                  <a:pt x="739036" y="1215025"/>
                </a:cubicBezTo>
                <a:cubicBezTo>
                  <a:pt x="752159" y="1216483"/>
                  <a:pt x="763805" y="1224349"/>
                  <a:pt x="776614" y="1227551"/>
                </a:cubicBezTo>
                <a:lnTo>
                  <a:pt x="876822" y="1252603"/>
                </a:lnTo>
                <a:cubicBezTo>
                  <a:pt x="1002082" y="1248428"/>
                  <a:pt x="1127788" y="1251424"/>
                  <a:pt x="1252603" y="1240077"/>
                </a:cubicBezTo>
                <a:cubicBezTo>
                  <a:pt x="1279292" y="1237651"/>
                  <a:pt x="1309692" y="1187484"/>
                  <a:pt x="1327759" y="1177447"/>
                </a:cubicBezTo>
                <a:cubicBezTo>
                  <a:pt x="1350843" y="1164623"/>
                  <a:pt x="1377296" y="1158800"/>
                  <a:pt x="1402915" y="1152395"/>
                </a:cubicBezTo>
                <a:cubicBezTo>
                  <a:pt x="1419616" y="1148220"/>
                  <a:pt x="1436004" y="1142487"/>
                  <a:pt x="1453019" y="1139869"/>
                </a:cubicBezTo>
                <a:cubicBezTo>
                  <a:pt x="1490389" y="1134120"/>
                  <a:pt x="1528236" y="1132033"/>
                  <a:pt x="1565754" y="1127343"/>
                </a:cubicBezTo>
                <a:cubicBezTo>
                  <a:pt x="1595050" y="1123681"/>
                  <a:pt x="1624209" y="1118992"/>
                  <a:pt x="1653436" y="1114817"/>
                </a:cubicBezTo>
                <a:lnTo>
                  <a:pt x="1766170" y="1077239"/>
                </a:lnTo>
                <a:cubicBezTo>
                  <a:pt x="1778696" y="1073064"/>
                  <a:pt x="1790677" y="1066580"/>
                  <a:pt x="1803748" y="1064713"/>
                </a:cubicBezTo>
                <a:lnTo>
                  <a:pt x="1891430" y="1052187"/>
                </a:lnTo>
                <a:cubicBezTo>
                  <a:pt x="1899781" y="1043836"/>
                  <a:pt x="1905627" y="1031786"/>
                  <a:pt x="1916482" y="1027134"/>
                </a:cubicBezTo>
                <a:cubicBezTo>
                  <a:pt x="1936051" y="1018747"/>
                  <a:pt x="1958166" y="1018417"/>
                  <a:pt x="1979113" y="1014608"/>
                </a:cubicBezTo>
                <a:cubicBezTo>
                  <a:pt x="2000332" y="1010750"/>
                  <a:pt x="2064986" y="1004479"/>
                  <a:pt x="2091847" y="989556"/>
                </a:cubicBezTo>
                <a:cubicBezTo>
                  <a:pt x="2118167" y="974934"/>
                  <a:pt x="2141951" y="956153"/>
                  <a:pt x="2167003" y="939452"/>
                </a:cubicBezTo>
                <a:cubicBezTo>
                  <a:pt x="2179529" y="931101"/>
                  <a:pt x="2190299" y="919161"/>
                  <a:pt x="2204581" y="914400"/>
                </a:cubicBezTo>
                <a:lnTo>
                  <a:pt x="2279737" y="889348"/>
                </a:lnTo>
                <a:cubicBezTo>
                  <a:pt x="2292263" y="885173"/>
                  <a:pt x="2306329" y="884146"/>
                  <a:pt x="2317315" y="876822"/>
                </a:cubicBezTo>
                <a:cubicBezTo>
                  <a:pt x="2329841" y="868471"/>
                  <a:pt x="2341136" y="857884"/>
                  <a:pt x="2354893" y="851770"/>
                </a:cubicBezTo>
                <a:cubicBezTo>
                  <a:pt x="2386117" y="837893"/>
                  <a:pt x="2443719" y="822289"/>
                  <a:pt x="2480154" y="814192"/>
                </a:cubicBezTo>
                <a:cubicBezTo>
                  <a:pt x="2538271" y="801277"/>
                  <a:pt x="2539429" y="804414"/>
                  <a:pt x="2592888" y="789140"/>
                </a:cubicBezTo>
                <a:cubicBezTo>
                  <a:pt x="2698450" y="758979"/>
                  <a:pt x="2558250" y="798617"/>
                  <a:pt x="2668044" y="751562"/>
                </a:cubicBezTo>
                <a:cubicBezTo>
                  <a:pt x="2683867" y="744781"/>
                  <a:pt x="2702029" y="745081"/>
                  <a:pt x="2718148" y="739036"/>
                </a:cubicBezTo>
                <a:cubicBezTo>
                  <a:pt x="2735632" y="732480"/>
                  <a:pt x="2750768" y="720540"/>
                  <a:pt x="2768252" y="713984"/>
                </a:cubicBezTo>
                <a:cubicBezTo>
                  <a:pt x="2813354" y="697071"/>
                  <a:pt x="2874914" y="696207"/>
                  <a:pt x="2918565" y="688932"/>
                </a:cubicBezTo>
                <a:cubicBezTo>
                  <a:pt x="2960566" y="681932"/>
                  <a:pt x="3002516" y="674207"/>
                  <a:pt x="3043825" y="663880"/>
                </a:cubicBezTo>
                <a:cubicBezTo>
                  <a:pt x="3060526" y="659705"/>
                  <a:pt x="3077440" y="656301"/>
                  <a:pt x="3093929" y="651354"/>
                </a:cubicBezTo>
                <a:cubicBezTo>
                  <a:pt x="3119222" y="643766"/>
                  <a:pt x="3144033" y="634653"/>
                  <a:pt x="3169085" y="626302"/>
                </a:cubicBezTo>
                <a:cubicBezTo>
                  <a:pt x="3181611" y="622127"/>
                  <a:pt x="3193854" y="616978"/>
                  <a:pt x="3206663" y="613776"/>
                </a:cubicBezTo>
                <a:cubicBezTo>
                  <a:pt x="3223364" y="609601"/>
                  <a:pt x="3240278" y="606197"/>
                  <a:pt x="3256767" y="601250"/>
                </a:cubicBezTo>
                <a:cubicBezTo>
                  <a:pt x="3282061" y="593662"/>
                  <a:pt x="3306872" y="584548"/>
                  <a:pt x="3331924" y="576197"/>
                </a:cubicBezTo>
                <a:cubicBezTo>
                  <a:pt x="3344450" y="572022"/>
                  <a:pt x="3356555" y="566260"/>
                  <a:pt x="3369502" y="563671"/>
                </a:cubicBezTo>
                <a:cubicBezTo>
                  <a:pt x="3390379" y="559496"/>
                  <a:pt x="3411592" y="556747"/>
                  <a:pt x="3432132" y="551145"/>
                </a:cubicBezTo>
                <a:cubicBezTo>
                  <a:pt x="3457609" y="544197"/>
                  <a:pt x="3481669" y="532498"/>
                  <a:pt x="3507288" y="526093"/>
                </a:cubicBezTo>
                <a:cubicBezTo>
                  <a:pt x="3532713" y="519737"/>
                  <a:pt x="3569812" y="511823"/>
                  <a:pt x="3594970" y="501041"/>
                </a:cubicBezTo>
                <a:cubicBezTo>
                  <a:pt x="3612133" y="493685"/>
                  <a:pt x="3627911" y="483345"/>
                  <a:pt x="3645074" y="475989"/>
                </a:cubicBezTo>
                <a:cubicBezTo>
                  <a:pt x="3657210" y="470788"/>
                  <a:pt x="3670842" y="469368"/>
                  <a:pt x="3682652" y="463463"/>
                </a:cubicBezTo>
                <a:cubicBezTo>
                  <a:pt x="3808449" y="400564"/>
                  <a:pt x="3616612" y="479239"/>
                  <a:pt x="3770335" y="413359"/>
                </a:cubicBezTo>
                <a:cubicBezTo>
                  <a:pt x="3782471" y="408158"/>
                  <a:pt x="3795893" y="406297"/>
                  <a:pt x="3807913" y="400833"/>
                </a:cubicBezTo>
                <a:cubicBezTo>
                  <a:pt x="3907807" y="355427"/>
                  <a:pt x="3899013" y="356801"/>
                  <a:pt x="3983277" y="300625"/>
                </a:cubicBezTo>
                <a:lnTo>
                  <a:pt x="4020855" y="275573"/>
                </a:lnTo>
                <a:cubicBezTo>
                  <a:pt x="4033381" y="267222"/>
                  <a:pt x="4044151" y="255282"/>
                  <a:pt x="4058433" y="250521"/>
                </a:cubicBezTo>
                <a:cubicBezTo>
                  <a:pt x="4070959" y="246346"/>
                  <a:pt x="4084201" y="243900"/>
                  <a:pt x="4096011" y="237995"/>
                </a:cubicBezTo>
                <a:cubicBezTo>
                  <a:pt x="4109476" y="231262"/>
                  <a:pt x="4119832" y="219057"/>
                  <a:pt x="4133589" y="212943"/>
                </a:cubicBezTo>
                <a:cubicBezTo>
                  <a:pt x="4157720" y="202218"/>
                  <a:pt x="4208745" y="187891"/>
                  <a:pt x="4208745" y="187891"/>
                </a:cubicBezTo>
                <a:cubicBezTo>
                  <a:pt x="4217096" y="179540"/>
                  <a:pt x="4226712" y="172287"/>
                  <a:pt x="4233798" y="162839"/>
                </a:cubicBezTo>
                <a:cubicBezTo>
                  <a:pt x="4251863" y="138752"/>
                  <a:pt x="4258850" y="104383"/>
                  <a:pt x="4283902" y="87682"/>
                </a:cubicBezTo>
                <a:lnTo>
                  <a:pt x="4321480" y="62630"/>
                </a:lnTo>
                <a:cubicBezTo>
                  <a:pt x="4351711" y="17284"/>
                  <a:pt x="4339799" y="38517"/>
                  <a:pt x="4359058" y="0"/>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srgbClr val="000000"/>
              </a:solidFill>
            </a:endParaRPr>
          </a:p>
        </p:txBody>
      </p:sp>
      <p:sp>
        <p:nvSpPr>
          <p:cNvPr id="13" name="TextBox 12"/>
          <p:cNvSpPr txBox="1">
            <a:spLocks noChangeArrowheads="1"/>
          </p:cNvSpPr>
          <p:nvPr/>
        </p:nvSpPr>
        <p:spPr bwMode="auto">
          <a:xfrm>
            <a:off x="5181600" y="4495800"/>
            <a:ext cx="2474973" cy="369332"/>
          </a:xfrm>
          <a:prstGeom prst="rect">
            <a:avLst/>
          </a:prstGeom>
          <a:noFill/>
          <a:ln w="9525">
            <a:noFill/>
            <a:miter lim="800000"/>
            <a:headEnd/>
            <a:tailEnd/>
          </a:ln>
        </p:spPr>
        <p:txBody>
          <a:bodyPr wrap="none">
            <a:spAutoFit/>
          </a:bodyPr>
          <a:lstStyle/>
          <a:p>
            <a:r>
              <a:rPr lang="en-US" altLang="en-US" b="1">
                <a:solidFill>
                  <a:srgbClr val="0000FF"/>
                </a:solidFill>
              </a:rPr>
              <a:t>Many training examples</a:t>
            </a:r>
          </a:p>
        </p:txBody>
      </p:sp>
      <p:sp>
        <p:nvSpPr>
          <p:cNvPr id="14" name="TextBox 13"/>
          <p:cNvSpPr txBox="1">
            <a:spLocks noChangeArrowheads="1"/>
          </p:cNvSpPr>
          <p:nvPr/>
        </p:nvSpPr>
        <p:spPr bwMode="auto">
          <a:xfrm>
            <a:off x="6705601" y="3048000"/>
            <a:ext cx="2319096" cy="369332"/>
          </a:xfrm>
          <a:prstGeom prst="rect">
            <a:avLst/>
          </a:prstGeom>
          <a:noFill/>
          <a:ln w="9525">
            <a:noFill/>
            <a:miter lim="800000"/>
            <a:headEnd/>
            <a:tailEnd/>
          </a:ln>
        </p:spPr>
        <p:txBody>
          <a:bodyPr wrap="none">
            <a:spAutoFit/>
          </a:bodyPr>
          <a:lstStyle/>
          <a:p>
            <a:r>
              <a:rPr lang="en-US" altLang="en-US" b="1">
                <a:solidFill>
                  <a:srgbClr val="FF0000"/>
                </a:solidFill>
              </a:rPr>
              <a:t>Few training examples</a:t>
            </a:r>
          </a:p>
        </p:txBody>
      </p:sp>
      <p:grpSp>
        <p:nvGrpSpPr>
          <p:cNvPr id="2" name="Group 12"/>
          <p:cNvGrpSpPr>
            <a:grpSpLocks/>
          </p:cNvGrpSpPr>
          <p:nvPr/>
        </p:nvGrpSpPr>
        <p:grpSpPr bwMode="auto">
          <a:xfrm>
            <a:off x="2108372" y="2668589"/>
            <a:ext cx="6590066" cy="3629199"/>
            <a:chOff x="1581860" y="2667794"/>
            <a:chExt cx="4941613" cy="3630667"/>
          </a:xfrm>
        </p:grpSpPr>
        <p:cxnSp>
          <p:nvCxnSpPr>
            <p:cNvPr id="5" name="Straight Arrow Connector 4"/>
            <p:cNvCxnSpPr/>
            <p:nvPr/>
          </p:nvCxnSpPr>
          <p:spPr>
            <a:xfrm rot="5400000" flipH="1" flipV="1">
              <a:off x="304674" y="4267053"/>
              <a:ext cx="3200106"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1905520" y="5867900"/>
              <a:ext cx="441876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7597" name="TextBox 7"/>
            <p:cNvSpPr txBox="1">
              <a:spLocks noChangeArrowheads="1"/>
            </p:cNvSpPr>
            <p:nvPr/>
          </p:nvSpPr>
          <p:spPr bwMode="auto">
            <a:xfrm>
              <a:off x="3550796" y="5867400"/>
              <a:ext cx="925607" cy="369481"/>
            </a:xfrm>
            <a:prstGeom prst="rect">
              <a:avLst/>
            </a:prstGeom>
            <a:noFill/>
            <a:ln w="9525">
              <a:noFill/>
              <a:miter lim="800000"/>
              <a:headEnd/>
              <a:tailEnd/>
            </a:ln>
          </p:spPr>
          <p:txBody>
            <a:bodyPr wrap="none">
              <a:spAutoFit/>
            </a:bodyPr>
            <a:lstStyle/>
            <a:p>
              <a:r>
                <a:rPr lang="en-US" altLang="en-US">
                  <a:solidFill>
                    <a:srgbClr val="000000"/>
                  </a:solidFill>
                </a:rPr>
                <a:t>Complexity</a:t>
              </a:r>
            </a:p>
          </p:txBody>
        </p:sp>
        <p:sp>
          <p:nvSpPr>
            <p:cNvPr id="67598" name="TextBox 8"/>
            <p:cNvSpPr txBox="1">
              <a:spLocks noChangeArrowheads="1"/>
            </p:cNvSpPr>
            <p:nvPr/>
          </p:nvSpPr>
          <p:spPr bwMode="auto">
            <a:xfrm>
              <a:off x="5791200" y="5867400"/>
              <a:ext cx="732273" cy="431061"/>
            </a:xfrm>
            <a:prstGeom prst="rect">
              <a:avLst/>
            </a:prstGeom>
            <a:noFill/>
            <a:ln w="9525">
              <a:noFill/>
              <a:miter lim="800000"/>
              <a:headEnd/>
              <a:tailEnd/>
            </a:ln>
          </p:spPr>
          <p:txBody>
            <a:bodyPr wrap="none">
              <a:spAutoFit/>
            </a:bodyPr>
            <a:lstStyle/>
            <a:p>
              <a:r>
                <a:rPr lang="en-US" altLang="en-US" sz="1100">
                  <a:solidFill>
                    <a:srgbClr val="000000"/>
                  </a:solidFill>
                </a:rPr>
                <a:t>Low Bias</a:t>
              </a:r>
            </a:p>
            <a:p>
              <a:r>
                <a:rPr lang="en-US" altLang="en-US" sz="1100">
                  <a:solidFill>
                    <a:srgbClr val="000000"/>
                  </a:solidFill>
                </a:rPr>
                <a:t>High Variance</a:t>
              </a:r>
            </a:p>
          </p:txBody>
        </p:sp>
        <p:sp>
          <p:nvSpPr>
            <p:cNvPr id="67599" name="TextBox 9"/>
            <p:cNvSpPr txBox="1">
              <a:spLocks noChangeArrowheads="1"/>
            </p:cNvSpPr>
            <p:nvPr/>
          </p:nvSpPr>
          <p:spPr bwMode="auto">
            <a:xfrm>
              <a:off x="1676400" y="5867400"/>
              <a:ext cx="713041" cy="431061"/>
            </a:xfrm>
            <a:prstGeom prst="rect">
              <a:avLst/>
            </a:prstGeom>
            <a:noFill/>
            <a:ln w="9525">
              <a:noFill/>
              <a:miter lim="800000"/>
              <a:headEnd/>
              <a:tailEnd/>
            </a:ln>
          </p:spPr>
          <p:txBody>
            <a:bodyPr wrap="none">
              <a:spAutoFit/>
            </a:bodyPr>
            <a:lstStyle/>
            <a:p>
              <a:r>
                <a:rPr lang="en-US" altLang="en-US" sz="1100">
                  <a:solidFill>
                    <a:srgbClr val="000000"/>
                  </a:solidFill>
                </a:rPr>
                <a:t>High Bias</a:t>
              </a:r>
            </a:p>
            <a:p>
              <a:r>
                <a:rPr lang="en-US" altLang="en-US" sz="1100">
                  <a:solidFill>
                    <a:srgbClr val="000000"/>
                  </a:solidFill>
                </a:rPr>
                <a:t>Low Variance</a:t>
              </a:r>
            </a:p>
          </p:txBody>
        </p:sp>
        <p:sp>
          <p:nvSpPr>
            <p:cNvPr id="67600" name="TextBox 10"/>
            <p:cNvSpPr txBox="1">
              <a:spLocks noChangeArrowheads="1"/>
            </p:cNvSpPr>
            <p:nvPr/>
          </p:nvSpPr>
          <p:spPr bwMode="auto">
            <a:xfrm rot="16200000">
              <a:off x="1180320" y="4187828"/>
              <a:ext cx="1080028" cy="276947"/>
            </a:xfrm>
            <a:prstGeom prst="rect">
              <a:avLst/>
            </a:prstGeom>
            <a:noFill/>
            <a:ln w="9525">
              <a:noFill/>
              <a:miter lim="800000"/>
              <a:headEnd/>
              <a:tailEnd/>
            </a:ln>
          </p:spPr>
          <p:txBody>
            <a:bodyPr wrap="none">
              <a:spAutoFit/>
            </a:bodyPr>
            <a:lstStyle/>
            <a:p>
              <a:r>
                <a:rPr lang="en-US" altLang="en-US">
                  <a:solidFill>
                    <a:srgbClr val="000000"/>
                  </a:solidFill>
                </a:rPr>
                <a:t>Test Error</a:t>
              </a:r>
            </a:p>
          </p:txBody>
        </p:sp>
      </p:grpSp>
      <p:sp>
        <p:nvSpPr>
          <p:cNvPr id="18" name="TextBox 17"/>
          <p:cNvSpPr txBox="1"/>
          <p:nvPr/>
        </p:nvSpPr>
        <p:spPr>
          <a:xfrm>
            <a:off x="8822325" y="6441733"/>
            <a:ext cx="1533561" cy="276999"/>
          </a:xfrm>
          <a:prstGeom prst="rect">
            <a:avLst/>
          </a:prstGeom>
          <a:noFill/>
        </p:spPr>
        <p:txBody>
          <a:bodyPr wrap="none">
            <a:spAutoFit/>
          </a:bodyPr>
          <a:lstStyle/>
          <a:p>
            <a:pPr>
              <a:defRPr/>
            </a:pPr>
            <a:r>
              <a:rPr lang="en-US" sz="1200" dirty="0">
                <a:solidFill>
                  <a:srgbClr val="FFFFFF">
                    <a:lumMod val="65000"/>
                  </a:srgbClr>
                </a:solidFill>
                <a:cs typeface="+mn-cs"/>
              </a:rPr>
              <a:t>Slide credit: D. </a:t>
            </a:r>
            <a:r>
              <a:rPr lang="en-US" sz="1200" dirty="0" err="1">
                <a:solidFill>
                  <a:srgbClr val="FFFFFF">
                    <a:lumMod val="65000"/>
                  </a:srgbClr>
                </a:solidFill>
                <a:cs typeface="+mn-cs"/>
              </a:rPr>
              <a:t>Hoiem</a:t>
            </a:r>
            <a:endParaRPr lang="en-US" sz="1200" dirty="0">
              <a:solidFill>
                <a:srgbClr val="FFFFFF">
                  <a:lumMod val="65000"/>
                </a:srgbClr>
              </a:solidFill>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a:t>Effect of Training Size</a:t>
            </a:r>
          </a:p>
        </p:txBody>
      </p:sp>
      <p:sp>
        <p:nvSpPr>
          <p:cNvPr id="10" name="Freeform 9"/>
          <p:cNvSpPr/>
          <p:nvPr/>
        </p:nvSpPr>
        <p:spPr>
          <a:xfrm>
            <a:off x="2571752" y="3644901"/>
            <a:ext cx="5846233" cy="1349375"/>
          </a:xfrm>
          <a:custGeom>
            <a:avLst/>
            <a:gdLst>
              <a:gd name="connsiteX0" fmla="*/ 0 w 4384110"/>
              <a:gd name="connsiteY0" fmla="*/ 0 h 1349049"/>
              <a:gd name="connsiteX1" fmla="*/ 25052 w 4384110"/>
              <a:gd name="connsiteY1" fmla="*/ 112734 h 1349049"/>
              <a:gd name="connsiteX2" fmla="*/ 75156 w 4384110"/>
              <a:gd name="connsiteY2" fmla="*/ 187890 h 1349049"/>
              <a:gd name="connsiteX3" fmla="*/ 112734 w 4384110"/>
              <a:gd name="connsiteY3" fmla="*/ 212942 h 1349049"/>
              <a:gd name="connsiteX4" fmla="*/ 137787 w 4384110"/>
              <a:gd name="connsiteY4" fmla="*/ 237994 h 1349049"/>
              <a:gd name="connsiteX5" fmla="*/ 212943 w 4384110"/>
              <a:gd name="connsiteY5" fmla="*/ 263047 h 1349049"/>
              <a:gd name="connsiteX6" fmla="*/ 250521 w 4384110"/>
              <a:gd name="connsiteY6" fmla="*/ 275573 h 1349049"/>
              <a:gd name="connsiteX7" fmla="*/ 275573 w 4384110"/>
              <a:gd name="connsiteY7" fmla="*/ 313151 h 1349049"/>
              <a:gd name="connsiteX8" fmla="*/ 313151 w 4384110"/>
              <a:gd name="connsiteY8" fmla="*/ 325677 h 1349049"/>
              <a:gd name="connsiteX9" fmla="*/ 350729 w 4384110"/>
              <a:gd name="connsiteY9" fmla="*/ 350729 h 1349049"/>
              <a:gd name="connsiteX10" fmla="*/ 425885 w 4384110"/>
              <a:gd name="connsiteY10" fmla="*/ 375781 h 1349049"/>
              <a:gd name="connsiteX11" fmla="*/ 463463 w 4384110"/>
              <a:gd name="connsiteY11" fmla="*/ 388307 h 1349049"/>
              <a:gd name="connsiteX12" fmla="*/ 513567 w 4384110"/>
              <a:gd name="connsiteY12" fmla="*/ 400833 h 1349049"/>
              <a:gd name="connsiteX13" fmla="*/ 563671 w 4384110"/>
              <a:gd name="connsiteY13" fmla="*/ 425885 h 1349049"/>
              <a:gd name="connsiteX14" fmla="*/ 651354 w 4384110"/>
              <a:gd name="connsiteY14" fmla="*/ 450937 h 1349049"/>
              <a:gd name="connsiteX15" fmla="*/ 688932 w 4384110"/>
              <a:gd name="connsiteY15" fmla="*/ 475989 h 1349049"/>
              <a:gd name="connsiteX16" fmla="*/ 776614 w 4384110"/>
              <a:gd name="connsiteY16" fmla="*/ 501041 h 1349049"/>
              <a:gd name="connsiteX17" fmla="*/ 814192 w 4384110"/>
              <a:gd name="connsiteY17" fmla="*/ 526093 h 1349049"/>
              <a:gd name="connsiteX18" fmla="*/ 939452 w 4384110"/>
              <a:gd name="connsiteY18" fmla="*/ 563671 h 1349049"/>
              <a:gd name="connsiteX19" fmla="*/ 977030 w 4384110"/>
              <a:gd name="connsiteY19" fmla="*/ 588723 h 1349049"/>
              <a:gd name="connsiteX20" fmla="*/ 1064713 w 4384110"/>
              <a:gd name="connsiteY20" fmla="*/ 613775 h 1349049"/>
              <a:gd name="connsiteX21" fmla="*/ 1139869 w 4384110"/>
              <a:gd name="connsiteY21" fmla="*/ 638827 h 1349049"/>
              <a:gd name="connsiteX22" fmla="*/ 1177447 w 4384110"/>
              <a:gd name="connsiteY22" fmla="*/ 651353 h 1349049"/>
              <a:gd name="connsiteX23" fmla="*/ 1215025 w 4384110"/>
              <a:gd name="connsiteY23" fmla="*/ 676405 h 1349049"/>
              <a:gd name="connsiteX24" fmla="*/ 1277655 w 4384110"/>
              <a:gd name="connsiteY24" fmla="*/ 688931 h 1349049"/>
              <a:gd name="connsiteX25" fmla="*/ 1315233 w 4384110"/>
              <a:gd name="connsiteY25" fmla="*/ 713984 h 1349049"/>
              <a:gd name="connsiteX26" fmla="*/ 1402915 w 4384110"/>
              <a:gd name="connsiteY26" fmla="*/ 739036 h 1349049"/>
              <a:gd name="connsiteX27" fmla="*/ 1478071 w 4384110"/>
              <a:gd name="connsiteY27" fmla="*/ 789140 h 1349049"/>
              <a:gd name="connsiteX28" fmla="*/ 1515650 w 4384110"/>
              <a:gd name="connsiteY28" fmla="*/ 814192 h 1349049"/>
              <a:gd name="connsiteX29" fmla="*/ 1665962 w 4384110"/>
              <a:gd name="connsiteY29" fmla="*/ 864296 h 1349049"/>
              <a:gd name="connsiteX30" fmla="*/ 1703540 w 4384110"/>
              <a:gd name="connsiteY30" fmla="*/ 876822 h 1349049"/>
              <a:gd name="connsiteX31" fmla="*/ 1741118 w 4384110"/>
              <a:gd name="connsiteY31" fmla="*/ 889348 h 1349049"/>
              <a:gd name="connsiteX32" fmla="*/ 1853852 w 4384110"/>
              <a:gd name="connsiteY32" fmla="*/ 951978 h 1349049"/>
              <a:gd name="connsiteX33" fmla="*/ 1891430 w 4384110"/>
              <a:gd name="connsiteY33" fmla="*/ 977030 h 1349049"/>
              <a:gd name="connsiteX34" fmla="*/ 1929008 w 4384110"/>
              <a:gd name="connsiteY34" fmla="*/ 1014608 h 1349049"/>
              <a:gd name="connsiteX35" fmla="*/ 2004165 w 4384110"/>
              <a:gd name="connsiteY35" fmla="*/ 1039660 h 1349049"/>
              <a:gd name="connsiteX36" fmla="*/ 2041743 w 4384110"/>
              <a:gd name="connsiteY36" fmla="*/ 1052186 h 1349049"/>
              <a:gd name="connsiteX37" fmla="*/ 2718148 w 4384110"/>
              <a:gd name="connsiteY37" fmla="*/ 1077238 h 1349049"/>
              <a:gd name="connsiteX38" fmla="*/ 2956143 w 4384110"/>
              <a:gd name="connsiteY38" fmla="*/ 1102290 h 1349049"/>
              <a:gd name="connsiteX39" fmla="*/ 3018773 w 4384110"/>
              <a:gd name="connsiteY39" fmla="*/ 1114816 h 1349049"/>
              <a:gd name="connsiteX40" fmla="*/ 3081403 w 4384110"/>
              <a:gd name="connsiteY40" fmla="*/ 1152394 h 1349049"/>
              <a:gd name="connsiteX41" fmla="*/ 3331924 w 4384110"/>
              <a:gd name="connsiteY41" fmla="*/ 1189973 h 1349049"/>
              <a:gd name="connsiteX42" fmla="*/ 3457184 w 4384110"/>
              <a:gd name="connsiteY42" fmla="*/ 1215025 h 1349049"/>
              <a:gd name="connsiteX43" fmla="*/ 3507288 w 4384110"/>
              <a:gd name="connsiteY43" fmla="*/ 1227551 h 1349049"/>
              <a:gd name="connsiteX44" fmla="*/ 3620022 w 4384110"/>
              <a:gd name="connsiteY44" fmla="*/ 1240077 h 1349049"/>
              <a:gd name="connsiteX45" fmla="*/ 3657600 w 4384110"/>
              <a:gd name="connsiteY45" fmla="*/ 1252603 h 1349049"/>
              <a:gd name="connsiteX46" fmla="*/ 4296428 w 4384110"/>
              <a:gd name="connsiteY46" fmla="*/ 1277655 h 1349049"/>
              <a:gd name="connsiteX47" fmla="*/ 4384110 w 4384110"/>
              <a:gd name="connsiteY47" fmla="*/ 1315233 h 134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384110" h="1349049">
                <a:moveTo>
                  <a:pt x="0" y="0"/>
                </a:moveTo>
                <a:cubicBezTo>
                  <a:pt x="3399" y="20392"/>
                  <a:pt x="10368" y="86303"/>
                  <a:pt x="25052" y="112734"/>
                </a:cubicBezTo>
                <a:cubicBezTo>
                  <a:pt x="39674" y="139054"/>
                  <a:pt x="50104" y="171189"/>
                  <a:pt x="75156" y="187890"/>
                </a:cubicBezTo>
                <a:cubicBezTo>
                  <a:pt x="87682" y="196241"/>
                  <a:pt x="100978" y="203538"/>
                  <a:pt x="112734" y="212942"/>
                </a:cubicBezTo>
                <a:cubicBezTo>
                  <a:pt x="121956" y="220319"/>
                  <a:pt x="127224" y="232712"/>
                  <a:pt x="137787" y="237994"/>
                </a:cubicBezTo>
                <a:cubicBezTo>
                  <a:pt x="161406" y="249804"/>
                  <a:pt x="187891" y="254696"/>
                  <a:pt x="212943" y="263047"/>
                </a:cubicBezTo>
                <a:lnTo>
                  <a:pt x="250521" y="275573"/>
                </a:lnTo>
                <a:cubicBezTo>
                  <a:pt x="258872" y="288099"/>
                  <a:pt x="263818" y="303747"/>
                  <a:pt x="275573" y="313151"/>
                </a:cubicBezTo>
                <a:cubicBezTo>
                  <a:pt x="285883" y="321399"/>
                  <a:pt x="301341" y="319772"/>
                  <a:pt x="313151" y="325677"/>
                </a:cubicBezTo>
                <a:cubicBezTo>
                  <a:pt x="326616" y="332410"/>
                  <a:pt x="336972" y="344615"/>
                  <a:pt x="350729" y="350729"/>
                </a:cubicBezTo>
                <a:cubicBezTo>
                  <a:pt x="374860" y="361454"/>
                  <a:pt x="400833" y="367430"/>
                  <a:pt x="425885" y="375781"/>
                </a:cubicBezTo>
                <a:cubicBezTo>
                  <a:pt x="438411" y="379956"/>
                  <a:pt x="450654" y="385105"/>
                  <a:pt x="463463" y="388307"/>
                </a:cubicBezTo>
                <a:cubicBezTo>
                  <a:pt x="480164" y="392482"/>
                  <a:pt x="497448" y="394788"/>
                  <a:pt x="513567" y="400833"/>
                </a:cubicBezTo>
                <a:cubicBezTo>
                  <a:pt x="531051" y="407389"/>
                  <a:pt x="546508" y="418530"/>
                  <a:pt x="563671" y="425885"/>
                </a:cubicBezTo>
                <a:cubicBezTo>
                  <a:pt x="588827" y="436666"/>
                  <a:pt x="625931" y="444581"/>
                  <a:pt x="651354" y="450937"/>
                </a:cubicBezTo>
                <a:cubicBezTo>
                  <a:pt x="663880" y="459288"/>
                  <a:pt x="675467" y="469256"/>
                  <a:pt x="688932" y="475989"/>
                </a:cubicBezTo>
                <a:cubicBezTo>
                  <a:pt x="706902" y="484974"/>
                  <a:pt x="760561" y="497028"/>
                  <a:pt x="776614" y="501041"/>
                </a:cubicBezTo>
                <a:cubicBezTo>
                  <a:pt x="789140" y="509392"/>
                  <a:pt x="800355" y="520163"/>
                  <a:pt x="814192" y="526093"/>
                </a:cubicBezTo>
                <a:cubicBezTo>
                  <a:pt x="863207" y="547099"/>
                  <a:pt x="888932" y="529991"/>
                  <a:pt x="939452" y="563671"/>
                </a:cubicBezTo>
                <a:cubicBezTo>
                  <a:pt x="951978" y="572022"/>
                  <a:pt x="963565" y="581990"/>
                  <a:pt x="977030" y="588723"/>
                </a:cubicBezTo>
                <a:cubicBezTo>
                  <a:pt x="998079" y="599248"/>
                  <a:pt x="1044645" y="607755"/>
                  <a:pt x="1064713" y="613775"/>
                </a:cubicBezTo>
                <a:cubicBezTo>
                  <a:pt x="1090006" y="621363"/>
                  <a:pt x="1114817" y="630476"/>
                  <a:pt x="1139869" y="638827"/>
                </a:cubicBezTo>
                <a:cubicBezTo>
                  <a:pt x="1152395" y="643002"/>
                  <a:pt x="1166461" y="644029"/>
                  <a:pt x="1177447" y="651353"/>
                </a:cubicBezTo>
                <a:cubicBezTo>
                  <a:pt x="1189973" y="659704"/>
                  <a:pt x="1200929" y="671119"/>
                  <a:pt x="1215025" y="676405"/>
                </a:cubicBezTo>
                <a:cubicBezTo>
                  <a:pt x="1234960" y="683880"/>
                  <a:pt x="1256778" y="684756"/>
                  <a:pt x="1277655" y="688931"/>
                </a:cubicBezTo>
                <a:cubicBezTo>
                  <a:pt x="1290181" y="697282"/>
                  <a:pt x="1301396" y="708054"/>
                  <a:pt x="1315233" y="713984"/>
                </a:cubicBezTo>
                <a:cubicBezTo>
                  <a:pt x="1343613" y="726147"/>
                  <a:pt x="1375491" y="723800"/>
                  <a:pt x="1402915" y="739036"/>
                </a:cubicBezTo>
                <a:cubicBezTo>
                  <a:pt x="1429235" y="753658"/>
                  <a:pt x="1453019" y="772439"/>
                  <a:pt x="1478071" y="789140"/>
                </a:cubicBezTo>
                <a:cubicBezTo>
                  <a:pt x="1490597" y="797491"/>
                  <a:pt x="1501368" y="809431"/>
                  <a:pt x="1515650" y="814192"/>
                </a:cubicBezTo>
                <a:lnTo>
                  <a:pt x="1665962" y="864296"/>
                </a:lnTo>
                <a:lnTo>
                  <a:pt x="1703540" y="876822"/>
                </a:lnTo>
                <a:cubicBezTo>
                  <a:pt x="1716066" y="880997"/>
                  <a:pt x="1730132" y="882024"/>
                  <a:pt x="1741118" y="889348"/>
                </a:cubicBezTo>
                <a:cubicBezTo>
                  <a:pt x="1825817" y="945814"/>
                  <a:pt x="1720920" y="878127"/>
                  <a:pt x="1853852" y="951978"/>
                </a:cubicBezTo>
                <a:cubicBezTo>
                  <a:pt x="1867012" y="959289"/>
                  <a:pt x="1879865" y="967392"/>
                  <a:pt x="1891430" y="977030"/>
                </a:cubicBezTo>
                <a:cubicBezTo>
                  <a:pt x="1905039" y="988371"/>
                  <a:pt x="1913523" y="1006005"/>
                  <a:pt x="1929008" y="1014608"/>
                </a:cubicBezTo>
                <a:cubicBezTo>
                  <a:pt x="1952092" y="1027433"/>
                  <a:pt x="1979113" y="1031309"/>
                  <a:pt x="2004165" y="1039660"/>
                </a:cubicBezTo>
                <a:cubicBezTo>
                  <a:pt x="2016691" y="1043835"/>
                  <a:pt x="2028545" y="1051809"/>
                  <a:pt x="2041743" y="1052186"/>
                </a:cubicBezTo>
                <a:cubicBezTo>
                  <a:pt x="2559563" y="1066981"/>
                  <a:pt x="2334159" y="1057028"/>
                  <a:pt x="2718148" y="1077238"/>
                </a:cubicBezTo>
                <a:cubicBezTo>
                  <a:pt x="2825020" y="1112862"/>
                  <a:pt x="2713179" y="1079151"/>
                  <a:pt x="2956143" y="1102290"/>
                </a:cubicBezTo>
                <a:cubicBezTo>
                  <a:pt x="2977337" y="1104308"/>
                  <a:pt x="2997896" y="1110641"/>
                  <a:pt x="3018773" y="1114816"/>
                </a:cubicBezTo>
                <a:cubicBezTo>
                  <a:pt x="3039650" y="1127342"/>
                  <a:pt x="3059239" y="1142319"/>
                  <a:pt x="3081403" y="1152394"/>
                </a:cubicBezTo>
                <a:cubicBezTo>
                  <a:pt x="3170790" y="1193025"/>
                  <a:pt x="3222018" y="1182123"/>
                  <a:pt x="3331924" y="1189973"/>
                </a:cubicBezTo>
                <a:cubicBezTo>
                  <a:pt x="3373677" y="1198324"/>
                  <a:pt x="3415875" y="1204698"/>
                  <a:pt x="3457184" y="1215025"/>
                </a:cubicBezTo>
                <a:cubicBezTo>
                  <a:pt x="3473885" y="1219200"/>
                  <a:pt x="3490273" y="1224933"/>
                  <a:pt x="3507288" y="1227551"/>
                </a:cubicBezTo>
                <a:cubicBezTo>
                  <a:pt x="3544658" y="1233300"/>
                  <a:pt x="3582444" y="1235902"/>
                  <a:pt x="3620022" y="1240077"/>
                </a:cubicBezTo>
                <a:cubicBezTo>
                  <a:pt x="3632548" y="1244252"/>
                  <a:pt x="3644417" y="1251871"/>
                  <a:pt x="3657600" y="1252603"/>
                </a:cubicBezTo>
                <a:cubicBezTo>
                  <a:pt x="3870378" y="1264424"/>
                  <a:pt x="4296428" y="1277655"/>
                  <a:pt x="4296428" y="1277655"/>
                </a:cubicBezTo>
                <a:cubicBezTo>
                  <a:pt x="4376497" y="1331034"/>
                  <a:pt x="4350294" y="1349049"/>
                  <a:pt x="4384110" y="1315233"/>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srgbClr val="000000"/>
              </a:solidFill>
            </a:endParaRPr>
          </a:p>
        </p:txBody>
      </p:sp>
      <p:sp>
        <p:nvSpPr>
          <p:cNvPr id="11" name="Freeform 10"/>
          <p:cNvSpPr/>
          <p:nvPr/>
        </p:nvSpPr>
        <p:spPr>
          <a:xfrm>
            <a:off x="2554818" y="5308600"/>
            <a:ext cx="5829300" cy="541338"/>
          </a:xfrm>
          <a:custGeom>
            <a:avLst/>
            <a:gdLst>
              <a:gd name="connsiteX0" fmla="*/ 0 w 4371584"/>
              <a:gd name="connsiteY0" fmla="*/ 541208 h 541208"/>
              <a:gd name="connsiteX1" fmla="*/ 450937 w 4371584"/>
              <a:gd name="connsiteY1" fmla="*/ 528682 h 541208"/>
              <a:gd name="connsiteX2" fmla="*/ 563671 w 4371584"/>
              <a:gd name="connsiteY2" fmla="*/ 491104 h 541208"/>
              <a:gd name="connsiteX3" fmla="*/ 626302 w 4371584"/>
              <a:gd name="connsiteY3" fmla="*/ 478578 h 541208"/>
              <a:gd name="connsiteX4" fmla="*/ 776614 w 4371584"/>
              <a:gd name="connsiteY4" fmla="*/ 453526 h 541208"/>
              <a:gd name="connsiteX5" fmla="*/ 851770 w 4371584"/>
              <a:gd name="connsiteY5" fmla="*/ 415948 h 541208"/>
              <a:gd name="connsiteX6" fmla="*/ 889348 w 4371584"/>
              <a:gd name="connsiteY6" fmla="*/ 403421 h 541208"/>
              <a:gd name="connsiteX7" fmla="*/ 914400 w 4371584"/>
              <a:gd name="connsiteY7" fmla="*/ 365843 h 541208"/>
              <a:gd name="connsiteX8" fmla="*/ 951978 w 4371584"/>
              <a:gd name="connsiteY8" fmla="*/ 353317 h 541208"/>
              <a:gd name="connsiteX9" fmla="*/ 1052186 w 4371584"/>
              <a:gd name="connsiteY9" fmla="*/ 328265 h 541208"/>
              <a:gd name="connsiteX10" fmla="*/ 1177447 w 4371584"/>
              <a:gd name="connsiteY10" fmla="*/ 303213 h 541208"/>
              <a:gd name="connsiteX11" fmla="*/ 1778696 w 4371584"/>
              <a:gd name="connsiteY11" fmla="*/ 278161 h 541208"/>
              <a:gd name="connsiteX12" fmla="*/ 2167003 w 4371584"/>
              <a:gd name="connsiteY12" fmla="*/ 253109 h 541208"/>
              <a:gd name="connsiteX13" fmla="*/ 2217107 w 4371584"/>
              <a:gd name="connsiteY13" fmla="*/ 240583 h 541208"/>
              <a:gd name="connsiteX14" fmla="*/ 2342367 w 4371584"/>
              <a:gd name="connsiteY14" fmla="*/ 215531 h 541208"/>
              <a:gd name="connsiteX15" fmla="*/ 2392471 w 4371584"/>
              <a:gd name="connsiteY15" fmla="*/ 203005 h 541208"/>
              <a:gd name="connsiteX16" fmla="*/ 2592888 w 4371584"/>
              <a:gd name="connsiteY16" fmla="*/ 190479 h 541208"/>
              <a:gd name="connsiteX17" fmla="*/ 2680570 w 4371584"/>
              <a:gd name="connsiteY17" fmla="*/ 165427 h 541208"/>
              <a:gd name="connsiteX18" fmla="*/ 2743200 w 4371584"/>
              <a:gd name="connsiteY18" fmla="*/ 152901 h 541208"/>
              <a:gd name="connsiteX19" fmla="*/ 2793304 w 4371584"/>
              <a:gd name="connsiteY19" fmla="*/ 140375 h 541208"/>
              <a:gd name="connsiteX20" fmla="*/ 3068877 w 4371584"/>
              <a:gd name="connsiteY20" fmla="*/ 127849 h 541208"/>
              <a:gd name="connsiteX21" fmla="*/ 3519814 w 4371584"/>
              <a:gd name="connsiteY21" fmla="*/ 102797 h 541208"/>
              <a:gd name="connsiteX22" fmla="*/ 3807913 w 4371584"/>
              <a:gd name="connsiteY22" fmla="*/ 90271 h 541208"/>
              <a:gd name="connsiteX23" fmla="*/ 3945699 w 4371584"/>
              <a:gd name="connsiteY23" fmla="*/ 52693 h 541208"/>
              <a:gd name="connsiteX24" fmla="*/ 3983277 w 4371584"/>
              <a:gd name="connsiteY24" fmla="*/ 40167 h 541208"/>
              <a:gd name="connsiteX25" fmla="*/ 4221271 w 4371584"/>
              <a:gd name="connsiteY25" fmla="*/ 27641 h 541208"/>
              <a:gd name="connsiteX26" fmla="*/ 4271376 w 4371584"/>
              <a:gd name="connsiteY26" fmla="*/ 15115 h 541208"/>
              <a:gd name="connsiteX27" fmla="*/ 4308954 w 4371584"/>
              <a:gd name="connsiteY27" fmla="*/ 2589 h 541208"/>
              <a:gd name="connsiteX28" fmla="*/ 4371584 w 4371584"/>
              <a:gd name="connsiteY28" fmla="*/ 2589 h 54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371584" h="541208">
                <a:moveTo>
                  <a:pt x="0" y="541208"/>
                </a:moveTo>
                <a:cubicBezTo>
                  <a:pt x="150312" y="537033"/>
                  <a:pt x="300949" y="539395"/>
                  <a:pt x="450937" y="528682"/>
                </a:cubicBezTo>
                <a:cubicBezTo>
                  <a:pt x="489909" y="525898"/>
                  <a:pt x="525396" y="498759"/>
                  <a:pt x="563671" y="491104"/>
                </a:cubicBezTo>
                <a:cubicBezTo>
                  <a:pt x="584548" y="486929"/>
                  <a:pt x="605301" y="482078"/>
                  <a:pt x="626302" y="478578"/>
                </a:cubicBezTo>
                <a:cubicBezTo>
                  <a:pt x="689933" y="467973"/>
                  <a:pt x="717575" y="468286"/>
                  <a:pt x="776614" y="453526"/>
                </a:cubicBezTo>
                <a:cubicBezTo>
                  <a:pt x="839580" y="437784"/>
                  <a:pt x="790543" y="446562"/>
                  <a:pt x="851770" y="415948"/>
                </a:cubicBezTo>
                <a:cubicBezTo>
                  <a:pt x="863580" y="410043"/>
                  <a:pt x="876822" y="407597"/>
                  <a:pt x="889348" y="403421"/>
                </a:cubicBezTo>
                <a:cubicBezTo>
                  <a:pt x="897699" y="390895"/>
                  <a:pt x="902645" y="375247"/>
                  <a:pt x="914400" y="365843"/>
                </a:cubicBezTo>
                <a:cubicBezTo>
                  <a:pt x="924710" y="357595"/>
                  <a:pt x="939240" y="356791"/>
                  <a:pt x="951978" y="353317"/>
                </a:cubicBezTo>
                <a:cubicBezTo>
                  <a:pt x="985195" y="344258"/>
                  <a:pt x="1018424" y="335017"/>
                  <a:pt x="1052186" y="328265"/>
                </a:cubicBezTo>
                <a:lnTo>
                  <a:pt x="1177447" y="303213"/>
                </a:lnTo>
                <a:cubicBezTo>
                  <a:pt x="1416179" y="255467"/>
                  <a:pt x="1218781" y="291182"/>
                  <a:pt x="1778696" y="278161"/>
                </a:cubicBezTo>
                <a:cubicBezTo>
                  <a:pt x="1931317" y="227287"/>
                  <a:pt x="1767086" y="278104"/>
                  <a:pt x="2167003" y="253109"/>
                </a:cubicBezTo>
                <a:cubicBezTo>
                  <a:pt x="2184185" y="252035"/>
                  <a:pt x="2200274" y="244190"/>
                  <a:pt x="2217107" y="240583"/>
                </a:cubicBezTo>
                <a:cubicBezTo>
                  <a:pt x="2258742" y="231661"/>
                  <a:pt x="2301058" y="225858"/>
                  <a:pt x="2342367" y="215531"/>
                </a:cubicBezTo>
                <a:cubicBezTo>
                  <a:pt x="2359068" y="211356"/>
                  <a:pt x="2375341" y="204718"/>
                  <a:pt x="2392471" y="203005"/>
                </a:cubicBezTo>
                <a:cubicBezTo>
                  <a:pt x="2459075" y="196345"/>
                  <a:pt x="2526082" y="194654"/>
                  <a:pt x="2592888" y="190479"/>
                </a:cubicBezTo>
                <a:cubicBezTo>
                  <a:pt x="2634735" y="176530"/>
                  <a:pt x="2633385" y="175913"/>
                  <a:pt x="2680570" y="165427"/>
                </a:cubicBezTo>
                <a:cubicBezTo>
                  <a:pt x="2701353" y="160809"/>
                  <a:pt x="2722417" y="157519"/>
                  <a:pt x="2743200" y="152901"/>
                </a:cubicBezTo>
                <a:cubicBezTo>
                  <a:pt x="2760005" y="149166"/>
                  <a:pt x="2776139" y="141695"/>
                  <a:pt x="2793304" y="140375"/>
                </a:cubicBezTo>
                <a:cubicBezTo>
                  <a:pt x="2884986" y="133323"/>
                  <a:pt x="2977019" y="132024"/>
                  <a:pt x="3068877" y="127849"/>
                </a:cubicBezTo>
                <a:cubicBezTo>
                  <a:pt x="3237973" y="71484"/>
                  <a:pt x="3085502" y="118308"/>
                  <a:pt x="3519814" y="102797"/>
                </a:cubicBezTo>
                <a:lnTo>
                  <a:pt x="3807913" y="90271"/>
                </a:lnTo>
                <a:cubicBezTo>
                  <a:pt x="3896437" y="72566"/>
                  <a:pt x="3850345" y="84478"/>
                  <a:pt x="3945699" y="52693"/>
                </a:cubicBezTo>
                <a:cubicBezTo>
                  <a:pt x="3958225" y="48518"/>
                  <a:pt x="3970092" y="40861"/>
                  <a:pt x="3983277" y="40167"/>
                </a:cubicBezTo>
                <a:lnTo>
                  <a:pt x="4221271" y="27641"/>
                </a:lnTo>
                <a:cubicBezTo>
                  <a:pt x="4237973" y="23466"/>
                  <a:pt x="4254823" y="19844"/>
                  <a:pt x="4271376" y="15115"/>
                </a:cubicBezTo>
                <a:cubicBezTo>
                  <a:pt x="4284072" y="11488"/>
                  <a:pt x="4295852" y="4227"/>
                  <a:pt x="4308954" y="2589"/>
                </a:cubicBezTo>
                <a:cubicBezTo>
                  <a:pt x="4329669" y="0"/>
                  <a:pt x="4350707" y="2589"/>
                  <a:pt x="4371584" y="2589"/>
                </a:cubicBezTo>
              </a:path>
            </a:pathLst>
          </a:custGeom>
          <a:ln w="3810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srgbClr val="000000"/>
              </a:solidFill>
            </a:endParaRPr>
          </a:p>
        </p:txBody>
      </p:sp>
      <p:sp>
        <p:nvSpPr>
          <p:cNvPr id="12" name="TextBox 11"/>
          <p:cNvSpPr txBox="1">
            <a:spLocks noChangeArrowheads="1"/>
          </p:cNvSpPr>
          <p:nvPr/>
        </p:nvSpPr>
        <p:spPr bwMode="auto">
          <a:xfrm>
            <a:off x="7010401" y="4354514"/>
            <a:ext cx="851452" cy="369332"/>
          </a:xfrm>
          <a:prstGeom prst="rect">
            <a:avLst/>
          </a:prstGeom>
          <a:noFill/>
          <a:ln w="9525">
            <a:noFill/>
            <a:miter lim="800000"/>
            <a:headEnd/>
            <a:tailEnd/>
          </a:ln>
        </p:spPr>
        <p:txBody>
          <a:bodyPr wrap="none">
            <a:spAutoFit/>
          </a:bodyPr>
          <a:lstStyle/>
          <a:p>
            <a:r>
              <a:rPr lang="en-US" altLang="en-US" b="1">
                <a:solidFill>
                  <a:srgbClr val="FF0000"/>
                </a:solidFill>
              </a:rPr>
              <a:t>Testing</a:t>
            </a:r>
          </a:p>
        </p:txBody>
      </p:sp>
      <p:sp>
        <p:nvSpPr>
          <p:cNvPr id="13" name="TextBox 12"/>
          <p:cNvSpPr txBox="1">
            <a:spLocks noChangeArrowheads="1"/>
          </p:cNvSpPr>
          <p:nvPr/>
        </p:nvSpPr>
        <p:spPr bwMode="auto">
          <a:xfrm>
            <a:off x="6807201" y="5497514"/>
            <a:ext cx="945195" cy="369332"/>
          </a:xfrm>
          <a:prstGeom prst="rect">
            <a:avLst/>
          </a:prstGeom>
          <a:noFill/>
          <a:ln w="9525">
            <a:noFill/>
            <a:miter lim="800000"/>
            <a:headEnd/>
            <a:tailEnd/>
          </a:ln>
        </p:spPr>
        <p:txBody>
          <a:bodyPr wrap="none">
            <a:spAutoFit/>
          </a:bodyPr>
          <a:lstStyle/>
          <a:p>
            <a:r>
              <a:rPr lang="en-US" altLang="en-US" b="1">
                <a:solidFill>
                  <a:srgbClr val="0000FF"/>
                </a:solidFill>
              </a:rPr>
              <a:t>Training</a:t>
            </a:r>
          </a:p>
        </p:txBody>
      </p:sp>
      <p:cxnSp>
        <p:nvCxnSpPr>
          <p:cNvPr id="19" name="Straight Arrow Connector 18"/>
          <p:cNvCxnSpPr/>
          <p:nvPr/>
        </p:nvCxnSpPr>
        <p:spPr>
          <a:xfrm rot="5400000" flipH="1" flipV="1">
            <a:off x="2909359" y="4990042"/>
            <a:ext cx="1295400" cy="2117"/>
          </a:xfrm>
          <a:prstGeom prst="straightConnector1">
            <a:avLst/>
          </a:prstGeom>
          <a:ln w="317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a:spLocks noChangeArrowheads="1"/>
          </p:cNvSpPr>
          <p:nvPr/>
        </p:nvSpPr>
        <p:spPr bwMode="auto">
          <a:xfrm>
            <a:off x="3657600" y="4800600"/>
            <a:ext cx="2068195" cy="369332"/>
          </a:xfrm>
          <a:prstGeom prst="rect">
            <a:avLst/>
          </a:prstGeom>
          <a:noFill/>
          <a:ln w="9525">
            <a:noFill/>
            <a:miter lim="800000"/>
            <a:headEnd/>
            <a:tailEnd/>
          </a:ln>
        </p:spPr>
        <p:txBody>
          <a:bodyPr wrap="none">
            <a:spAutoFit/>
          </a:bodyPr>
          <a:lstStyle/>
          <a:p>
            <a:r>
              <a:rPr lang="en-US" altLang="en-US">
                <a:solidFill>
                  <a:srgbClr val="000000"/>
                </a:solidFill>
              </a:rPr>
              <a:t>Generalization Error</a:t>
            </a:r>
          </a:p>
        </p:txBody>
      </p:sp>
      <p:sp>
        <p:nvSpPr>
          <p:cNvPr id="15" name="Rectangle 14"/>
          <p:cNvSpPr/>
          <p:nvPr/>
        </p:nvSpPr>
        <p:spPr>
          <a:xfrm>
            <a:off x="2556933" y="5257800"/>
            <a:ext cx="8314267" cy="63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grpSp>
        <p:nvGrpSpPr>
          <p:cNvPr id="2" name="Group 3"/>
          <p:cNvGrpSpPr>
            <a:grpSpLocks/>
          </p:cNvGrpSpPr>
          <p:nvPr/>
        </p:nvGrpSpPr>
        <p:grpSpPr bwMode="auto">
          <a:xfrm>
            <a:off x="2108400" y="2668588"/>
            <a:ext cx="6324401" cy="3568725"/>
            <a:chOff x="1581849" y="2667794"/>
            <a:chExt cx="4742751" cy="3568963"/>
          </a:xfrm>
        </p:grpSpPr>
        <p:cxnSp>
          <p:nvCxnSpPr>
            <p:cNvPr id="6" name="Straight Arrow Connector 5"/>
            <p:cNvCxnSpPr/>
            <p:nvPr/>
          </p:nvCxnSpPr>
          <p:spPr>
            <a:xfrm flipV="1">
              <a:off x="1905512" y="5866819"/>
              <a:ext cx="441908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8623" name="TextBox 6"/>
            <p:cNvSpPr txBox="1">
              <a:spLocks noChangeArrowheads="1"/>
            </p:cNvSpPr>
            <p:nvPr/>
          </p:nvSpPr>
          <p:spPr bwMode="auto">
            <a:xfrm>
              <a:off x="2743200" y="5867400"/>
              <a:ext cx="2199530" cy="369357"/>
            </a:xfrm>
            <a:prstGeom prst="rect">
              <a:avLst/>
            </a:prstGeom>
            <a:noFill/>
            <a:ln w="9525">
              <a:noFill/>
              <a:miter lim="800000"/>
              <a:headEnd/>
              <a:tailEnd/>
            </a:ln>
          </p:spPr>
          <p:txBody>
            <a:bodyPr wrap="none">
              <a:spAutoFit/>
            </a:bodyPr>
            <a:lstStyle/>
            <a:p>
              <a:r>
                <a:rPr lang="en-US" altLang="en-US">
                  <a:solidFill>
                    <a:srgbClr val="000000"/>
                  </a:solidFill>
                </a:rPr>
                <a:t>Number of Training Examples</a:t>
              </a:r>
            </a:p>
          </p:txBody>
        </p:sp>
        <p:sp>
          <p:nvSpPr>
            <p:cNvPr id="68624" name="TextBox 9"/>
            <p:cNvSpPr txBox="1">
              <a:spLocks noChangeArrowheads="1"/>
            </p:cNvSpPr>
            <p:nvPr/>
          </p:nvSpPr>
          <p:spPr bwMode="auto">
            <a:xfrm rot="16200000">
              <a:off x="1392593" y="4187819"/>
              <a:ext cx="655480" cy="276967"/>
            </a:xfrm>
            <a:prstGeom prst="rect">
              <a:avLst/>
            </a:prstGeom>
            <a:noFill/>
            <a:ln w="9525">
              <a:noFill/>
              <a:miter lim="800000"/>
              <a:headEnd/>
              <a:tailEnd/>
            </a:ln>
          </p:spPr>
          <p:txBody>
            <a:bodyPr wrap="none">
              <a:spAutoFit/>
            </a:bodyPr>
            <a:lstStyle/>
            <a:p>
              <a:r>
                <a:rPr lang="en-US" altLang="en-US">
                  <a:solidFill>
                    <a:srgbClr val="000000"/>
                  </a:solidFill>
                </a:rPr>
                <a:t>Error</a:t>
              </a:r>
            </a:p>
          </p:txBody>
        </p:sp>
        <p:cxnSp>
          <p:nvCxnSpPr>
            <p:cNvPr id="5" name="Straight Arrow Connector 4"/>
            <p:cNvCxnSpPr/>
            <p:nvPr/>
          </p:nvCxnSpPr>
          <p:spPr>
            <a:xfrm rot="5400000" flipH="1" flipV="1">
              <a:off x="304413" y="4267307"/>
              <a:ext cx="3200613"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68620" name="Rectangle 19"/>
          <p:cNvSpPr>
            <a:spLocks noChangeArrowheads="1"/>
          </p:cNvSpPr>
          <p:nvPr/>
        </p:nvSpPr>
        <p:spPr bwMode="auto">
          <a:xfrm>
            <a:off x="4064001" y="1981200"/>
            <a:ext cx="2336409" cy="369332"/>
          </a:xfrm>
          <a:prstGeom prst="rect">
            <a:avLst/>
          </a:prstGeom>
          <a:noFill/>
          <a:ln w="9525">
            <a:noFill/>
            <a:miter lim="800000"/>
            <a:headEnd/>
            <a:tailEnd/>
          </a:ln>
        </p:spPr>
        <p:txBody>
          <a:bodyPr wrap="none">
            <a:spAutoFit/>
          </a:bodyPr>
          <a:lstStyle/>
          <a:p>
            <a:r>
              <a:rPr lang="en-US" altLang="en-US">
                <a:solidFill>
                  <a:srgbClr val="000000"/>
                </a:solidFill>
              </a:rPr>
              <a:t>Fixed prediction model</a:t>
            </a:r>
          </a:p>
        </p:txBody>
      </p:sp>
      <p:sp>
        <p:nvSpPr>
          <p:cNvPr id="22" name="TextBox 21"/>
          <p:cNvSpPr txBox="1"/>
          <p:nvPr/>
        </p:nvSpPr>
        <p:spPr>
          <a:xfrm>
            <a:off x="8855276" y="6408781"/>
            <a:ext cx="1533561" cy="276999"/>
          </a:xfrm>
          <a:prstGeom prst="rect">
            <a:avLst/>
          </a:prstGeom>
          <a:noFill/>
        </p:spPr>
        <p:txBody>
          <a:bodyPr wrap="none">
            <a:spAutoFit/>
          </a:bodyPr>
          <a:lstStyle/>
          <a:p>
            <a:pPr>
              <a:defRPr/>
            </a:pPr>
            <a:r>
              <a:rPr lang="en-US" sz="1200" dirty="0">
                <a:solidFill>
                  <a:srgbClr val="FFFFFF">
                    <a:lumMod val="65000"/>
                  </a:srgbClr>
                </a:solidFill>
                <a:cs typeface="+mn-cs"/>
              </a:rPr>
              <a:t>Slide credit: D. </a:t>
            </a:r>
            <a:r>
              <a:rPr lang="en-US" sz="1200" dirty="0" err="1">
                <a:solidFill>
                  <a:srgbClr val="FFFFFF">
                    <a:lumMod val="65000"/>
                  </a:srgbClr>
                </a:solidFill>
                <a:cs typeface="+mn-cs"/>
              </a:rPr>
              <a:t>Hoiem</a:t>
            </a:r>
            <a:endParaRPr lang="en-US" sz="1200" dirty="0">
              <a:solidFill>
                <a:srgbClr val="FFFFFF">
                  <a:lumMod val="65000"/>
                </a:srgbClr>
              </a:solidFill>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2" presetClass="exit" presetSubtype="2" fill="hold" grpId="0" nodeType="withEffect">
                                  <p:stCondLst>
                                    <p:cond delay="0"/>
                                  </p:stCondLst>
                                  <p:childTnLst>
                                    <p:anim calcmode="lin" valueType="num">
                                      <p:cBhvr additive="base">
                                        <p:cTn id="8" dur="1000"/>
                                        <p:tgtEl>
                                          <p:spTgt spid="15"/>
                                        </p:tgtEl>
                                        <p:attrNameLst>
                                          <p:attrName>ppt_x</p:attrName>
                                        </p:attrNameLst>
                                      </p:cBhvr>
                                      <p:tavLst>
                                        <p:tav tm="0">
                                          <p:val>
                                            <p:strVal val="ppt_x"/>
                                          </p:val>
                                        </p:tav>
                                        <p:tav tm="100000">
                                          <p:val>
                                            <p:strVal val="1+ppt_w/2"/>
                                          </p:val>
                                        </p:tav>
                                      </p:tavLst>
                                    </p:anim>
                                    <p:anim calcmode="lin" valueType="num">
                                      <p:cBhvr additive="base">
                                        <p:cTn id="9" dur="1000"/>
                                        <p:tgtEl>
                                          <p:spTgt spid="15"/>
                                        </p:tgtEl>
                                        <p:attrNameLst>
                                          <p:attrName>ppt_y</p:attrName>
                                        </p:attrNameLst>
                                      </p:cBhvr>
                                      <p:tavLst>
                                        <p:tav tm="0">
                                          <p:val>
                                            <p:strVal val="ppt_y"/>
                                          </p:val>
                                        </p:tav>
                                        <p:tav tm="100000">
                                          <p:val>
                                            <p:strVal val="ppt_y"/>
                                          </p:val>
                                        </p:tav>
                                      </p:tavLst>
                                    </p:anim>
                                    <p:set>
                                      <p:cBhvr>
                                        <p:cTn id="10" dur="1" fill="hold">
                                          <p:stCondLst>
                                            <p:cond delay="999"/>
                                          </p:stCondLst>
                                        </p:cTn>
                                        <p:tgtEl>
                                          <p:spTgt spid="15"/>
                                        </p:tgtEl>
                                        <p:attrNameLst>
                                          <p:attrName>style.visibility</p:attrName>
                                        </p:attrNameLst>
                                      </p:cBhvr>
                                      <p:to>
                                        <p:strVal val="hidden"/>
                                      </p:to>
                                    </p:se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par>
                          <p:cTn id="18" fill="hold" nodeType="afterGroup">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1" grpId="0"/>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en-US"/>
              <a:t>How to reduce variance?</a:t>
            </a:r>
          </a:p>
        </p:txBody>
      </p:sp>
      <p:sp>
        <p:nvSpPr>
          <p:cNvPr id="71683" name="Content Placeholder 2"/>
          <p:cNvSpPr>
            <a:spLocks noGrp="1"/>
          </p:cNvSpPr>
          <p:nvPr>
            <p:ph idx="1"/>
          </p:nvPr>
        </p:nvSpPr>
        <p:spPr/>
        <p:txBody>
          <a:bodyPr/>
          <a:lstStyle/>
          <a:p>
            <a:endParaRPr lang="en-US" altLang="en-US" dirty="0"/>
          </a:p>
          <a:p>
            <a:r>
              <a:rPr lang="en-US" altLang="en-US" dirty="0"/>
              <a:t>Choose a simpler classifier</a:t>
            </a:r>
          </a:p>
          <a:p>
            <a:r>
              <a:rPr lang="en-US" altLang="en-US" b="1" dirty="0">
                <a:highlight>
                  <a:srgbClr val="FFFF00"/>
                </a:highlight>
              </a:rPr>
              <a:t>Cross-validate the parameters</a:t>
            </a:r>
          </a:p>
          <a:p>
            <a:r>
              <a:rPr lang="en-US" altLang="en-US" dirty="0"/>
              <a:t>Get more training data</a:t>
            </a:r>
          </a:p>
          <a:p>
            <a:r>
              <a:rPr lang="en-US" altLang="en-US" dirty="0"/>
              <a:t>Regularization</a:t>
            </a:r>
          </a:p>
          <a:p>
            <a:endParaRPr lang="en-US" altLang="en-US" dirty="0"/>
          </a:p>
        </p:txBody>
      </p:sp>
      <p:sp>
        <p:nvSpPr>
          <p:cNvPr id="4" name="TextBox 3"/>
          <p:cNvSpPr txBox="1"/>
          <p:nvPr/>
        </p:nvSpPr>
        <p:spPr>
          <a:xfrm>
            <a:off x="8665806" y="6392306"/>
            <a:ext cx="1533561" cy="276999"/>
          </a:xfrm>
          <a:prstGeom prst="rect">
            <a:avLst/>
          </a:prstGeom>
          <a:noFill/>
        </p:spPr>
        <p:txBody>
          <a:bodyPr wrap="none">
            <a:spAutoFit/>
          </a:bodyPr>
          <a:lstStyle/>
          <a:p>
            <a:pPr>
              <a:defRPr/>
            </a:pPr>
            <a:r>
              <a:rPr lang="en-US" sz="1200" dirty="0">
                <a:solidFill>
                  <a:prstClr val="white">
                    <a:lumMod val="65000"/>
                  </a:prstClr>
                </a:solidFill>
                <a:cs typeface="+mn-cs"/>
              </a:rPr>
              <a:t>Slide credit: D. </a:t>
            </a:r>
            <a:r>
              <a:rPr lang="en-US" sz="1200" dirty="0" err="1">
                <a:solidFill>
                  <a:prstClr val="white">
                    <a:lumMod val="65000"/>
                  </a:prstClr>
                </a:solidFill>
                <a:cs typeface="+mn-cs"/>
              </a:rPr>
              <a:t>Hoiem</a:t>
            </a:r>
            <a:endParaRPr lang="en-US" sz="1200" dirty="0">
              <a:solidFill>
                <a:prstClr val="white">
                  <a:lumMod val="65000"/>
                </a:prstClr>
              </a:solidFill>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6713A-3BCA-7C2C-6D0F-6DCF4FCDCE06}"/>
              </a:ext>
            </a:extLst>
          </p:cNvPr>
          <p:cNvSpPr>
            <a:spLocks noGrp="1"/>
          </p:cNvSpPr>
          <p:nvPr>
            <p:ph type="title"/>
          </p:nvPr>
        </p:nvSpPr>
        <p:spPr>
          <a:xfrm>
            <a:off x="0" y="122529"/>
            <a:ext cx="10515600" cy="726557"/>
          </a:xfrm>
        </p:spPr>
        <p:txBody>
          <a:bodyPr/>
          <a:lstStyle/>
          <a:p>
            <a:r>
              <a:rPr lang="en-IN" dirty="0"/>
              <a:t>Cross validation</a:t>
            </a:r>
          </a:p>
        </p:txBody>
      </p:sp>
      <p:sp>
        <p:nvSpPr>
          <p:cNvPr id="3" name="Content Placeholder 2">
            <a:extLst>
              <a:ext uri="{FF2B5EF4-FFF2-40B4-BE49-F238E27FC236}">
                <a16:creationId xmlns:a16="http://schemas.microsoft.com/office/drawing/2014/main" id="{242E7487-7201-3C3B-D049-CCB06052DF5D}"/>
              </a:ext>
            </a:extLst>
          </p:cNvPr>
          <p:cNvSpPr>
            <a:spLocks noGrp="1"/>
          </p:cNvSpPr>
          <p:nvPr>
            <p:ph idx="1"/>
          </p:nvPr>
        </p:nvSpPr>
        <p:spPr>
          <a:xfrm>
            <a:off x="186612" y="1035698"/>
            <a:ext cx="11167188" cy="5141265"/>
          </a:xfrm>
        </p:spPr>
        <p:txBody>
          <a:bodyPr/>
          <a:lstStyle/>
          <a:p>
            <a:pPr>
              <a:lnSpc>
                <a:spcPct val="150000"/>
              </a:lnSpc>
            </a:pPr>
            <a:r>
              <a:rPr lang="en-US" dirty="0"/>
              <a:t>Cross-validation is a statistical method used to estimate the performance (or accuracy) of predictive statistical models. </a:t>
            </a:r>
          </a:p>
          <a:p>
            <a:pPr>
              <a:lnSpc>
                <a:spcPct val="150000"/>
              </a:lnSpc>
            </a:pPr>
            <a:r>
              <a:rPr lang="en-US" dirty="0"/>
              <a:t>It is used to protect against overfitting in a predictive model, particularly in a case where the amount of data may be limited. </a:t>
            </a:r>
          </a:p>
          <a:p>
            <a:pPr>
              <a:lnSpc>
                <a:spcPct val="150000"/>
              </a:lnSpc>
            </a:pPr>
            <a:r>
              <a:rPr lang="en-US" dirty="0"/>
              <a:t>In cross-validation, you make a fixed number of folds (or partitions) of the data, run the analysis on each fold, and then average the overall error estimate.</a:t>
            </a:r>
            <a:endParaRPr lang="en-IN" dirty="0"/>
          </a:p>
        </p:txBody>
      </p:sp>
    </p:spTree>
    <p:extLst>
      <p:ext uri="{BB962C8B-B14F-4D97-AF65-F5344CB8AC3E}">
        <p14:creationId xmlns:p14="http://schemas.microsoft.com/office/powerpoint/2010/main" val="81703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38C2D-4303-98CA-909C-018A1B02AD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D9E618-99DA-B330-8981-B7F75539A2E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D6EB784-574B-976F-1679-14CF173BD4BB}"/>
              </a:ext>
            </a:extLst>
          </p:cNvPr>
          <p:cNvPicPr>
            <a:picLocks noChangeAspect="1"/>
          </p:cNvPicPr>
          <p:nvPr/>
        </p:nvPicPr>
        <p:blipFill>
          <a:blip r:embed="rId2"/>
          <a:stretch>
            <a:fillRect/>
          </a:stretch>
        </p:blipFill>
        <p:spPr>
          <a:xfrm>
            <a:off x="2133444" y="514415"/>
            <a:ext cx="8212840" cy="5466508"/>
          </a:xfrm>
          <a:prstGeom prst="rect">
            <a:avLst/>
          </a:prstGeom>
        </p:spPr>
      </p:pic>
    </p:spTree>
    <p:extLst>
      <p:ext uri="{BB962C8B-B14F-4D97-AF65-F5344CB8AC3E}">
        <p14:creationId xmlns:p14="http://schemas.microsoft.com/office/powerpoint/2010/main" val="4250929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0291A-0CED-B0F5-7688-A17D64A2F2E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F4DB52-916F-ABC3-BE94-FB8007F689F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2F8730E-FE60-1B05-E619-E83F92A4807E}"/>
              </a:ext>
            </a:extLst>
          </p:cNvPr>
          <p:cNvPicPr>
            <a:picLocks noChangeAspect="1"/>
          </p:cNvPicPr>
          <p:nvPr/>
        </p:nvPicPr>
        <p:blipFill>
          <a:blip r:embed="rId2"/>
          <a:stretch>
            <a:fillRect/>
          </a:stretch>
        </p:blipFill>
        <p:spPr>
          <a:xfrm>
            <a:off x="1453254" y="546572"/>
            <a:ext cx="10202122" cy="5453012"/>
          </a:xfrm>
          <a:prstGeom prst="rect">
            <a:avLst/>
          </a:prstGeom>
        </p:spPr>
      </p:pic>
    </p:spTree>
    <p:extLst>
      <p:ext uri="{BB962C8B-B14F-4D97-AF65-F5344CB8AC3E}">
        <p14:creationId xmlns:p14="http://schemas.microsoft.com/office/powerpoint/2010/main" val="4085909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B7FA0-A945-BCB5-57A8-F8F43F2D574A}"/>
              </a:ext>
            </a:extLst>
          </p:cNvPr>
          <p:cNvSpPr>
            <a:spLocks noGrp="1"/>
          </p:cNvSpPr>
          <p:nvPr>
            <p:ph type="title"/>
          </p:nvPr>
        </p:nvSpPr>
        <p:spPr>
          <a:xfrm>
            <a:off x="91751" y="-25196"/>
            <a:ext cx="10515600" cy="706233"/>
          </a:xfrm>
        </p:spPr>
        <p:txBody>
          <a:bodyPr/>
          <a:lstStyle/>
          <a:p>
            <a:r>
              <a:rPr lang="en-IN" dirty="0"/>
              <a:t>Holdout Method</a:t>
            </a:r>
          </a:p>
        </p:txBody>
      </p:sp>
      <p:sp>
        <p:nvSpPr>
          <p:cNvPr id="3" name="Content Placeholder 2">
            <a:extLst>
              <a:ext uri="{FF2B5EF4-FFF2-40B4-BE49-F238E27FC236}">
                <a16:creationId xmlns:a16="http://schemas.microsoft.com/office/drawing/2014/main" id="{8F64E1F4-A543-329E-4BD0-A12474AB87FA}"/>
              </a:ext>
            </a:extLst>
          </p:cNvPr>
          <p:cNvSpPr>
            <a:spLocks noGrp="1"/>
          </p:cNvSpPr>
          <p:nvPr>
            <p:ph idx="1"/>
          </p:nvPr>
        </p:nvSpPr>
        <p:spPr>
          <a:xfrm>
            <a:off x="91751" y="681037"/>
            <a:ext cx="12008498" cy="5495926"/>
          </a:xfrm>
        </p:spPr>
        <p:txBody>
          <a:bodyPr/>
          <a:lstStyle/>
          <a:p>
            <a:r>
              <a:rPr lang="en-US" dirty="0"/>
              <a:t>Basic and simple approach in which we divide our entire dataset into two parts viz- training data and testing data. </a:t>
            </a:r>
          </a:p>
          <a:p>
            <a:r>
              <a:rPr lang="en-US" dirty="0"/>
              <a:t> As the name, we train the model on training data and then evaluate on the testing set. </a:t>
            </a:r>
          </a:p>
          <a:p>
            <a:r>
              <a:rPr lang="en-US" dirty="0"/>
              <a:t>Usually, the size of training data is set more than twice that of testing data, so the data is split in the ratio of 70:30, 75:25 or 80:20</a:t>
            </a:r>
            <a:endParaRPr lang="en-IN" dirty="0"/>
          </a:p>
        </p:txBody>
      </p:sp>
      <p:pic>
        <p:nvPicPr>
          <p:cNvPr id="5" name="Picture 4">
            <a:extLst>
              <a:ext uri="{FF2B5EF4-FFF2-40B4-BE49-F238E27FC236}">
                <a16:creationId xmlns:a16="http://schemas.microsoft.com/office/drawing/2014/main" id="{54FC10FE-2E3C-BA49-8EFF-9A020CB04C47}"/>
              </a:ext>
            </a:extLst>
          </p:cNvPr>
          <p:cNvPicPr>
            <a:picLocks noChangeAspect="1"/>
          </p:cNvPicPr>
          <p:nvPr/>
        </p:nvPicPr>
        <p:blipFill>
          <a:blip r:embed="rId2"/>
          <a:stretch>
            <a:fillRect/>
          </a:stretch>
        </p:blipFill>
        <p:spPr>
          <a:xfrm>
            <a:off x="2399643" y="3247053"/>
            <a:ext cx="7971211" cy="3291393"/>
          </a:xfrm>
          <a:prstGeom prst="rect">
            <a:avLst/>
          </a:prstGeom>
        </p:spPr>
      </p:pic>
    </p:spTree>
    <p:extLst>
      <p:ext uri="{BB962C8B-B14F-4D97-AF65-F5344CB8AC3E}">
        <p14:creationId xmlns:p14="http://schemas.microsoft.com/office/powerpoint/2010/main" val="260728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7B5D-EF44-778C-1D5A-B61384DD5230}"/>
              </a:ext>
            </a:extLst>
          </p:cNvPr>
          <p:cNvSpPr>
            <a:spLocks noGrp="1"/>
          </p:cNvSpPr>
          <p:nvPr>
            <p:ph type="title"/>
          </p:nvPr>
        </p:nvSpPr>
        <p:spPr>
          <a:xfrm>
            <a:off x="185057" y="18254"/>
            <a:ext cx="10515600" cy="1325563"/>
          </a:xfrm>
        </p:spPr>
        <p:txBody>
          <a:bodyPr/>
          <a:lstStyle/>
          <a:p>
            <a:r>
              <a:rPr lang="en-IN" dirty="0"/>
              <a:t>Hold Out Method</a:t>
            </a:r>
          </a:p>
        </p:txBody>
      </p:sp>
      <p:sp>
        <p:nvSpPr>
          <p:cNvPr id="3" name="Content Placeholder 2">
            <a:extLst>
              <a:ext uri="{FF2B5EF4-FFF2-40B4-BE49-F238E27FC236}">
                <a16:creationId xmlns:a16="http://schemas.microsoft.com/office/drawing/2014/main" id="{8AD75813-61FF-8C65-9248-51FC54494271}"/>
              </a:ext>
            </a:extLst>
          </p:cNvPr>
          <p:cNvSpPr>
            <a:spLocks noGrp="1"/>
          </p:cNvSpPr>
          <p:nvPr>
            <p:ph idx="1"/>
          </p:nvPr>
        </p:nvSpPr>
        <p:spPr>
          <a:xfrm>
            <a:off x="354563" y="1166327"/>
            <a:ext cx="10999237" cy="5010637"/>
          </a:xfrm>
        </p:spPr>
        <p:txBody>
          <a:bodyPr/>
          <a:lstStyle/>
          <a:p>
            <a:r>
              <a:rPr lang="en-US" dirty="0"/>
              <a:t>In this approach, the data is first shuffled randomly before splitting. </a:t>
            </a:r>
          </a:p>
          <a:p>
            <a:endParaRPr lang="en-US" dirty="0"/>
          </a:p>
          <a:p>
            <a:r>
              <a:rPr lang="en-US" dirty="0"/>
              <a:t>As the model is trained on a different combination of data points, the model can give different results every time we train it, and this can be a cause of instability. </a:t>
            </a:r>
          </a:p>
          <a:p>
            <a:endParaRPr lang="en-US" dirty="0"/>
          </a:p>
          <a:p>
            <a:r>
              <a:rPr lang="en-US" dirty="0"/>
              <a:t>Never assure that the train set we picked is representative of the whole dataset. </a:t>
            </a:r>
          </a:p>
          <a:p>
            <a:endParaRPr lang="en-US" dirty="0"/>
          </a:p>
          <a:p>
            <a:r>
              <a:rPr lang="en-US" dirty="0"/>
              <a:t>Hold-out method is good to use when you have a very large dataset</a:t>
            </a:r>
            <a:endParaRPr lang="en-IN" b="1" dirty="0"/>
          </a:p>
        </p:txBody>
      </p:sp>
    </p:spTree>
    <p:extLst>
      <p:ext uri="{BB962C8B-B14F-4D97-AF65-F5344CB8AC3E}">
        <p14:creationId xmlns:p14="http://schemas.microsoft.com/office/powerpoint/2010/main" val="141808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259EF-876A-54B8-B267-B0B63ABA9465}"/>
              </a:ext>
            </a:extLst>
          </p:cNvPr>
          <p:cNvSpPr>
            <a:spLocks noGrp="1"/>
          </p:cNvSpPr>
          <p:nvPr>
            <p:ph type="title"/>
          </p:nvPr>
        </p:nvSpPr>
        <p:spPr>
          <a:xfrm>
            <a:off x="185057" y="150423"/>
            <a:ext cx="10515600" cy="530614"/>
          </a:xfrm>
        </p:spPr>
        <p:txBody>
          <a:bodyPr>
            <a:normAutofit fontScale="90000"/>
          </a:bodyPr>
          <a:lstStyle/>
          <a:p>
            <a:r>
              <a:rPr lang="en-IN" dirty="0"/>
              <a:t>K-Fold Cross Validation</a:t>
            </a:r>
          </a:p>
        </p:txBody>
      </p:sp>
      <p:sp>
        <p:nvSpPr>
          <p:cNvPr id="3" name="Content Placeholder 2">
            <a:extLst>
              <a:ext uri="{FF2B5EF4-FFF2-40B4-BE49-F238E27FC236}">
                <a16:creationId xmlns:a16="http://schemas.microsoft.com/office/drawing/2014/main" id="{7B3CF22C-4534-0776-96BD-D633039DB0B5}"/>
              </a:ext>
            </a:extLst>
          </p:cNvPr>
          <p:cNvSpPr>
            <a:spLocks noGrp="1"/>
          </p:cNvSpPr>
          <p:nvPr>
            <p:ph idx="1"/>
          </p:nvPr>
        </p:nvSpPr>
        <p:spPr>
          <a:xfrm>
            <a:off x="354563" y="914400"/>
            <a:ext cx="10999237" cy="5262563"/>
          </a:xfrm>
        </p:spPr>
        <p:txBody>
          <a:bodyPr/>
          <a:lstStyle/>
          <a:p>
            <a:r>
              <a:rPr lang="en-US" dirty="0"/>
              <a:t>K-fold cross validation is one way to improve the holdout method</a:t>
            </a:r>
          </a:p>
          <a:p>
            <a:r>
              <a:rPr lang="en-US" dirty="0"/>
              <a:t>Guarantees that the score of our model does not depend on the way we picked the train and test set. </a:t>
            </a:r>
          </a:p>
          <a:p>
            <a:r>
              <a:rPr lang="en-US" dirty="0"/>
              <a:t> Data set is divided into k number of subsets and the holdout method is repeated k number of times. </a:t>
            </a:r>
            <a:endParaRPr lang="en-IN" dirty="0"/>
          </a:p>
        </p:txBody>
      </p:sp>
      <p:pic>
        <p:nvPicPr>
          <p:cNvPr id="5" name="Picture 4">
            <a:extLst>
              <a:ext uri="{FF2B5EF4-FFF2-40B4-BE49-F238E27FC236}">
                <a16:creationId xmlns:a16="http://schemas.microsoft.com/office/drawing/2014/main" id="{F69DC9E5-B6FB-8B86-82C0-A62DFDAB6103}"/>
              </a:ext>
            </a:extLst>
          </p:cNvPr>
          <p:cNvPicPr>
            <a:picLocks noChangeAspect="1"/>
          </p:cNvPicPr>
          <p:nvPr/>
        </p:nvPicPr>
        <p:blipFill>
          <a:blip r:embed="rId2"/>
          <a:stretch>
            <a:fillRect/>
          </a:stretch>
        </p:blipFill>
        <p:spPr>
          <a:xfrm>
            <a:off x="185057" y="750746"/>
            <a:ext cx="11127496" cy="5589869"/>
          </a:xfrm>
          <a:prstGeom prst="rect">
            <a:avLst/>
          </a:prstGeom>
        </p:spPr>
      </p:pic>
    </p:spTree>
    <p:extLst>
      <p:ext uri="{BB962C8B-B14F-4D97-AF65-F5344CB8AC3E}">
        <p14:creationId xmlns:p14="http://schemas.microsoft.com/office/powerpoint/2010/main" val="387448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854B8-2827-ED2A-6902-AB65BE7CB1C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9B32A46-5D6D-879B-14AC-F7BE0FC183A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3989850-180E-5A91-6B0D-0C5873632587}"/>
              </a:ext>
            </a:extLst>
          </p:cNvPr>
          <p:cNvPicPr>
            <a:picLocks noChangeAspect="1"/>
          </p:cNvPicPr>
          <p:nvPr/>
        </p:nvPicPr>
        <p:blipFill>
          <a:blip r:embed="rId2"/>
          <a:stretch>
            <a:fillRect/>
          </a:stretch>
        </p:blipFill>
        <p:spPr>
          <a:xfrm>
            <a:off x="737718" y="681037"/>
            <a:ext cx="10337716" cy="5281224"/>
          </a:xfrm>
          <a:prstGeom prst="rect">
            <a:avLst/>
          </a:prstGeom>
        </p:spPr>
      </p:pic>
    </p:spTree>
    <p:extLst>
      <p:ext uri="{BB962C8B-B14F-4D97-AF65-F5344CB8AC3E}">
        <p14:creationId xmlns:p14="http://schemas.microsoft.com/office/powerpoint/2010/main" val="1430371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7969</TotalTime>
  <Words>1088</Words>
  <Application>Microsoft Office PowerPoint</Application>
  <PresentationFormat>Widescreen</PresentationFormat>
  <Paragraphs>118</Paragraphs>
  <Slides>22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Garamond</vt:lpstr>
      <vt:lpstr>Office Theme</vt:lpstr>
      <vt:lpstr>   Module 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Generalization</vt:lpstr>
      <vt:lpstr>Bias-Variance Trade-off</vt:lpstr>
      <vt:lpstr>Bias-Variance Trade-off</vt:lpstr>
      <vt:lpstr>Bias-variance tradeoff</vt:lpstr>
      <vt:lpstr>Bias-variance tradeoff</vt:lpstr>
      <vt:lpstr>Effect of Training Size</vt:lpstr>
      <vt:lpstr>How to reduce variance?</vt:lpstr>
      <vt:lpstr>Cross validation</vt:lpstr>
      <vt:lpstr>PowerPoint Presentation</vt:lpstr>
      <vt:lpstr>PowerPoint Presentation</vt:lpstr>
      <vt:lpstr>Holdout Method</vt:lpstr>
      <vt:lpstr>Hold Out Method</vt:lpstr>
      <vt:lpstr>K-Fold Cross Validation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Nisheeth Srivastava</dc:creator>
  <cp:lastModifiedBy>JINI RAJU</cp:lastModifiedBy>
  <cp:revision>762</cp:revision>
  <dcterms:created xsi:type="dcterms:W3CDTF">2020-07-07T20:42:16Z</dcterms:created>
  <dcterms:modified xsi:type="dcterms:W3CDTF">2025-09-22T04:26:52Z</dcterms:modified>
</cp:coreProperties>
</file>