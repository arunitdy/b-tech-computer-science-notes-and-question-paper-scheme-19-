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9"/>
  </p:notesMasterIdLst>
  <p:sldIdLst>
    <p:sldId id="257" r:id="rId2"/>
    <p:sldId id="532" r:id="rId3"/>
    <p:sldId id="533" r:id="rId4"/>
    <p:sldId id="534" r:id="rId5"/>
    <p:sldId id="370" r:id="rId6"/>
    <p:sldId id="516" r:id="rId7"/>
    <p:sldId id="371" r:id="rId8"/>
    <p:sldId id="372" r:id="rId9"/>
    <p:sldId id="517" r:id="rId10"/>
    <p:sldId id="373" r:id="rId11"/>
    <p:sldId id="374" r:id="rId12"/>
    <p:sldId id="375" r:id="rId13"/>
    <p:sldId id="376" r:id="rId14"/>
    <p:sldId id="377" r:id="rId15"/>
    <p:sldId id="378" r:id="rId16"/>
    <p:sldId id="379" r:id="rId17"/>
    <p:sldId id="518" r:id="rId18"/>
    <p:sldId id="380" r:id="rId19"/>
    <p:sldId id="383" r:id="rId20"/>
    <p:sldId id="384" r:id="rId21"/>
    <p:sldId id="388" r:id="rId22"/>
    <p:sldId id="519" r:id="rId23"/>
    <p:sldId id="387" r:id="rId24"/>
    <p:sldId id="389" r:id="rId25"/>
    <p:sldId id="381" r:id="rId26"/>
    <p:sldId id="382" r:id="rId27"/>
    <p:sldId id="390" r:id="rId28"/>
    <p:sldId id="391" r:id="rId29"/>
    <p:sldId id="392" r:id="rId30"/>
    <p:sldId id="393" r:id="rId31"/>
    <p:sldId id="394" r:id="rId32"/>
    <p:sldId id="395" r:id="rId33"/>
    <p:sldId id="535" r:id="rId34"/>
    <p:sldId id="396" r:id="rId35"/>
    <p:sldId id="397" r:id="rId36"/>
    <p:sldId id="398" r:id="rId37"/>
    <p:sldId id="405" r:id="rId38"/>
    <p:sldId id="406" r:id="rId39"/>
    <p:sldId id="453" r:id="rId40"/>
    <p:sldId id="407" r:id="rId41"/>
    <p:sldId id="410" r:id="rId42"/>
    <p:sldId id="454" r:id="rId43"/>
    <p:sldId id="412" r:id="rId44"/>
    <p:sldId id="413" r:id="rId45"/>
    <p:sldId id="520" r:id="rId46"/>
    <p:sldId id="537" r:id="rId47"/>
    <p:sldId id="414" r:id="rId48"/>
    <p:sldId id="521" r:id="rId49"/>
    <p:sldId id="416" r:id="rId50"/>
    <p:sldId id="415" r:id="rId51"/>
    <p:sldId id="425" r:id="rId52"/>
    <p:sldId id="451" r:id="rId53"/>
    <p:sldId id="419" r:id="rId54"/>
    <p:sldId id="420" r:id="rId55"/>
    <p:sldId id="421" r:id="rId56"/>
    <p:sldId id="522" r:id="rId57"/>
    <p:sldId id="423" r:id="rId58"/>
    <p:sldId id="422" r:id="rId59"/>
    <p:sldId id="438" r:id="rId60"/>
    <p:sldId id="424" r:id="rId61"/>
    <p:sldId id="426" r:id="rId62"/>
    <p:sldId id="428" r:id="rId63"/>
    <p:sldId id="429" r:id="rId64"/>
    <p:sldId id="430" r:id="rId65"/>
    <p:sldId id="525" r:id="rId66"/>
    <p:sldId id="432" r:id="rId67"/>
    <p:sldId id="431" r:id="rId68"/>
    <p:sldId id="433" r:id="rId69"/>
    <p:sldId id="523" r:id="rId70"/>
    <p:sldId id="439" r:id="rId71"/>
    <p:sldId id="434" r:id="rId72"/>
    <p:sldId id="435" r:id="rId73"/>
    <p:sldId id="536" r:id="rId74"/>
    <p:sldId id="437" r:id="rId75"/>
    <p:sldId id="436" r:id="rId76"/>
    <p:sldId id="440" r:id="rId77"/>
    <p:sldId id="441" r:id="rId78"/>
    <p:sldId id="442" r:id="rId79"/>
    <p:sldId id="443" r:id="rId80"/>
    <p:sldId id="524" r:id="rId81"/>
    <p:sldId id="444" r:id="rId82"/>
    <p:sldId id="449" r:id="rId83"/>
    <p:sldId id="446" r:id="rId84"/>
    <p:sldId id="448" r:id="rId85"/>
    <p:sldId id="450" r:id="rId86"/>
    <p:sldId id="455" r:id="rId87"/>
    <p:sldId id="526" r:id="rId88"/>
    <p:sldId id="456" r:id="rId89"/>
    <p:sldId id="457" r:id="rId90"/>
    <p:sldId id="458" r:id="rId91"/>
    <p:sldId id="459" r:id="rId92"/>
    <p:sldId id="460" r:id="rId93"/>
    <p:sldId id="461" r:id="rId94"/>
    <p:sldId id="468" r:id="rId95"/>
    <p:sldId id="469" r:id="rId96"/>
    <p:sldId id="471" r:id="rId97"/>
    <p:sldId id="472" r:id="rId98"/>
    <p:sldId id="473" r:id="rId99"/>
    <p:sldId id="474" r:id="rId100"/>
    <p:sldId id="475" r:id="rId101"/>
    <p:sldId id="476" r:id="rId102"/>
    <p:sldId id="477" r:id="rId103"/>
    <p:sldId id="538" r:id="rId104"/>
    <p:sldId id="539" r:id="rId105"/>
    <p:sldId id="470" r:id="rId106"/>
    <p:sldId id="478" r:id="rId107"/>
    <p:sldId id="479" r:id="rId108"/>
    <p:sldId id="480" r:id="rId109"/>
    <p:sldId id="481" r:id="rId110"/>
    <p:sldId id="482" r:id="rId111"/>
    <p:sldId id="485" r:id="rId112"/>
    <p:sldId id="486" r:id="rId113"/>
    <p:sldId id="487" r:id="rId114"/>
    <p:sldId id="491" r:id="rId115"/>
    <p:sldId id="488" r:id="rId116"/>
    <p:sldId id="489" r:id="rId117"/>
    <p:sldId id="490" r:id="rId1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54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notesMaster" Target="notesMasters/notes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28BAF7-B2A2-42C9-A348-E7CE96100864}" type="datetimeFigureOut">
              <a:rPr lang="en-IN" smtClean="0"/>
              <a:t>11-08-2025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BCB11D-0C1C-4E38-9F94-B35AF658567A}" type="slidenum">
              <a:rPr lang="en-IN" smtClean="0"/>
              <a:t>‹#›</a:t>
            </a:fld>
            <a:endParaRPr lang="en-IN"/>
          </a:p>
        </p:txBody>
      </p:sp>
    </p:spTree>
    <p:extLst>
      <p:ext uri="{BB962C8B-B14F-4D97-AF65-F5344CB8AC3E}">
        <p14:creationId xmlns:p14="http://schemas.microsoft.com/office/powerpoint/2010/main" val="1227199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09A772-BAD7-40B0-834D-266FB0FC126A}" type="datetime1">
              <a:rPr lang="en-IN" smtClean="0"/>
              <a:t>11-08-2025</a:t>
            </a:fld>
            <a:endParaRPr lang="en-IN"/>
          </a:p>
        </p:txBody>
      </p:sp>
      <p:sp>
        <p:nvSpPr>
          <p:cNvPr id="5" name="Footer Placeholder 4"/>
          <p:cNvSpPr>
            <a:spLocks noGrp="1"/>
          </p:cNvSpPr>
          <p:nvPr>
            <p:ph type="ftr" sz="quarter" idx="11"/>
          </p:nvPr>
        </p:nvSpPr>
        <p:spPr/>
        <p:txBody>
          <a:bodyPr/>
          <a:lstStyle/>
          <a:p>
            <a:r>
              <a:rPr lang="en-IN"/>
              <a:t>DEPARTMENT OF CSE SNGCE</a:t>
            </a:r>
          </a:p>
        </p:txBody>
      </p:sp>
      <p:sp>
        <p:nvSpPr>
          <p:cNvPr id="6" name="Slide Number Placeholder 5"/>
          <p:cNvSpPr>
            <a:spLocks noGrp="1"/>
          </p:cNvSpPr>
          <p:nvPr>
            <p:ph type="sldNum" sz="quarter" idx="12"/>
          </p:nvPr>
        </p:nvSpPr>
        <p:spPr/>
        <p:txBody>
          <a:bodyPr/>
          <a:lstStyle/>
          <a:p>
            <a:fld id="{1E81A027-E3F7-4FC9-A752-E855AD4A687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2128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323467-0647-4C7A-AB1F-F6B6700FD3BC}" type="datetime1">
              <a:rPr lang="en-IN" smtClean="0"/>
              <a:t>11-08-2025</a:t>
            </a:fld>
            <a:endParaRPr lang="en-IN"/>
          </a:p>
        </p:txBody>
      </p:sp>
      <p:sp>
        <p:nvSpPr>
          <p:cNvPr id="5" name="Footer Placeholder 4"/>
          <p:cNvSpPr>
            <a:spLocks noGrp="1"/>
          </p:cNvSpPr>
          <p:nvPr>
            <p:ph type="ftr" sz="quarter" idx="11"/>
          </p:nvPr>
        </p:nvSpPr>
        <p:spPr/>
        <p:txBody>
          <a:bodyPr/>
          <a:lstStyle/>
          <a:p>
            <a:r>
              <a:rPr lang="en-IN"/>
              <a:t>DEPARTMENT OF CSE SNGCE</a:t>
            </a:r>
          </a:p>
        </p:txBody>
      </p:sp>
      <p:sp>
        <p:nvSpPr>
          <p:cNvPr id="6" name="Slide Number Placeholder 5"/>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1465622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491666-EA01-4A8A-A3CB-FE7930B40454}" type="datetime1">
              <a:rPr lang="en-IN" smtClean="0"/>
              <a:t>11-08-2025</a:t>
            </a:fld>
            <a:endParaRPr lang="en-IN"/>
          </a:p>
        </p:txBody>
      </p:sp>
      <p:sp>
        <p:nvSpPr>
          <p:cNvPr id="5" name="Footer Placeholder 4"/>
          <p:cNvSpPr>
            <a:spLocks noGrp="1"/>
          </p:cNvSpPr>
          <p:nvPr>
            <p:ph type="ftr" sz="quarter" idx="11"/>
          </p:nvPr>
        </p:nvSpPr>
        <p:spPr/>
        <p:txBody>
          <a:bodyPr/>
          <a:lstStyle/>
          <a:p>
            <a:r>
              <a:rPr lang="en-IN"/>
              <a:t>DEPARTMENT OF CSE SNGCE</a:t>
            </a:r>
          </a:p>
        </p:txBody>
      </p:sp>
      <p:sp>
        <p:nvSpPr>
          <p:cNvPr id="6" name="Slide Number Placeholder 5"/>
          <p:cNvSpPr>
            <a:spLocks noGrp="1"/>
          </p:cNvSpPr>
          <p:nvPr>
            <p:ph type="sldNum" sz="quarter" idx="12"/>
          </p:nvPr>
        </p:nvSpPr>
        <p:spPr/>
        <p:txBody>
          <a:bodyPr/>
          <a:lstStyle/>
          <a:p>
            <a:fld id="{1E81A027-E3F7-4FC9-A752-E855AD4A687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629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331B79-014E-4965-A0E2-465A3CD30AA2}" type="datetime1">
              <a:rPr lang="en-IN" smtClean="0"/>
              <a:t>11-08-2025</a:t>
            </a:fld>
            <a:endParaRPr lang="en-IN"/>
          </a:p>
        </p:txBody>
      </p:sp>
      <p:sp>
        <p:nvSpPr>
          <p:cNvPr id="6" name="Footer Placeholder 5"/>
          <p:cNvSpPr>
            <a:spLocks noGrp="1"/>
          </p:cNvSpPr>
          <p:nvPr>
            <p:ph type="ftr" sz="quarter" idx="11"/>
          </p:nvPr>
        </p:nvSpPr>
        <p:spPr/>
        <p:txBody>
          <a:bodyPr/>
          <a:lstStyle/>
          <a:p>
            <a:r>
              <a:rPr lang="en-IN"/>
              <a:t>DEPARTMENT OF CSE SNGCE</a:t>
            </a:r>
          </a:p>
        </p:txBody>
      </p:sp>
      <p:sp>
        <p:nvSpPr>
          <p:cNvPr id="7" name="Slide Number Placeholder 6"/>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3065170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C21D1F-152A-40B7-8272-78F72F086997}" type="datetime1">
              <a:rPr lang="en-IN" smtClean="0"/>
              <a:t>11-08-2025</a:t>
            </a:fld>
            <a:endParaRPr lang="en-IN"/>
          </a:p>
        </p:txBody>
      </p:sp>
      <p:sp>
        <p:nvSpPr>
          <p:cNvPr id="8" name="Footer Placeholder 7"/>
          <p:cNvSpPr>
            <a:spLocks noGrp="1"/>
          </p:cNvSpPr>
          <p:nvPr>
            <p:ph type="ftr" sz="quarter" idx="11"/>
          </p:nvPr>
        </p:nvSpPr>
        <p:spPr/>
        <p:txBody>
          <a:bodyPr/>
          <a:lstStyle/>
          <a:p>
            <a:r>
              <a:rPr lang="en-IN"/>
              <a:t>DEPARTMENT OF CSE SNGCE</a:t>
            </a:r>
          </a:p>
        </p:txBody>
      </p:sp>
      <p:sp>
        <p:nvSpPr>
          <p:cNvPr id="9" name="Slide Number Placeholder 8"/>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2284185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135C144-C99B-4654-BC08-1F588F8C3757}" type="datetime1">
              <a:rPr lang="en-IN" smtClean="0"/>
              <a:t>11-08-2025</a:t>
            </a:fld>
            <a:endParaRPr lang="en-IN"/>
          </a:p>
        </p:txBody>
      </p:sp>
      <p:sp>
        <p:nvSpPr>
          <p:cNvPr id="4" name="Footer Placeholder 3"/>
          <p:cNvSpPr>
            <a:spLocks noGrp="1"/>
          </p:cNvSpPr>
          <p:nvPr>
            <p:ph type="ftr" sz="quarter" idx="11"/>
          </p:nvPr>
        </p:nvSpPr>
        <p:spPr/>
        <p:txBody>
          <a:bodyPr/>
          <a:lstStyle/>
          <a:p>
            <a:r>
              <a:rPr lang="en-IN"/>
              <a:t>DEPARTMENT OF CSE SNGCE</a:t>
            </a:r>
          </a:p>
        </p:txBody>
      </p:sp>
      <p:sp>
        <p:nvSpPr>
          <p:cNvPr id="5" name="Slide Number Placeholder 4"/>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3684374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AC80FF6-47E4-4E63-B328-5031042AB1B2}" type="datetime1">
              <a:rPr lang="en-IN" smtClean="0"/>
              <a:t>11-08-2025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DEPARTMENT OF CSE SNGCE</a:t>
            </a:r>
          </a:p>
        </p:txBody>
      </p:sp>
      <p:sp>
        <p:nvSpPr>
          <p:cNvPr id="9" name="Slide Number Placeholder 8"/>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652492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5FEB108-9D8F-4138-BC94-0BF5485C7979}" type="datetime1">
              <a:rPr lang="en-IN" smtClean="0"/>
              <a:t>11-08-2025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a:t>DEPARTMENT OF CSE SNGCE</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E81A027-E3F7-4FC9-A752-E855AD4A687D}" type="slidenum">
              <a:rPr lang="en-IN" smtClean="0"/>
              <a:t>‹#›</a:t>
            </a:fld>
            <a:endParaRPr lang="en-IN"/>
          </a:p>
        </p:txBody>
      </p:sp>
    </p:spTree>
    <p:extLst>
      <p:ext uri="{BB962C8B-B14F-4D97-AF65-F5344CB8AC3E}">
        <p14:creationId xmlns:p14="http://schemas.microsoft.com/office/powerpoint/2010/main" val="3154212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F3667D-5F0C-4B99-AE30-A7E08855E003}" type="datetime1">
              <a:rPr lang="en-IN" smtClean="0"/>
              <a:t>11-08-2025</a:t>
            </a:fld>
            <a:endParaRPr lang="en-IN"/>
          </a:p>
        </p:txBody>
      </p:sp>
      <p:sp>
        <p:nvSpPr>
          <p:cNvPr id="6" name="Footer Placeholder 5"/>
          <p:cNvSpPr>
            <a:spLocks noGrp="1"/>
          </p:cNvSpPr>
          <p:nvPr>
            <p:ph type="ftr" sz="quarter" idx="11"/>
          </p:nvPr>
        </p:nvSpPr>
        <p:spPr/>
        <p:txBody>
          <a:bodyPr/>
          <a:lstStyle/>
          <a:p>
            <a:r>
              <a:rPr lang="en-IN"/>
              <a:t>DEPARTMENT OF CSE SNGCE</a:t>
            </a:r>
          </a:p>
        </p:txBody>
      </p:sp>
      <p:sp>
        <p:nvSpPr>
          <p:cNvPr id="7" name="Slide Number Placeholder 6"/>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4139899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EDE8B-A7B0-46EA-99FD-5C6EEF050401}" type="datetime1">
              <a:rPr lang="en-IN" smtClean="0"/>
              <a:t>11-08-2025</a:t>
            </a:fld>
            <a:endParaRPr lang="en-IN"/>
          </a:p>
        </p:txBody>
      </p:sp>
      <p:sp>
        <p:nvSpPr>
          <p:cNvPr id="5" name="Footer Placeholder 4"/>
          <p:cNvSpPr>
            <a:spLocks noGrp="1"/>
          </p:cNvSpPr>
          <p:nvPr>
            <p:ph type="ftr" sz="quarter" idx="11"/>
          </p:nvPr>
        </p:nvSpPr>
        <p:spPr/>
        <p:txBody>
          <a:bodyPr/>
          <a:lstStyle/>
          <a:p>
            <a:r>
              <a:rPr lang="en-IN"/>
              <a:t>DEPARTMENT OF CSE SNGCE</a:t>
            </a:r>
          </a:p>
        </p:txBody>
      </p:sp>
      <p:sp>
        <p:nvSpPr>
          <p:cNvPr id="6" name="Slide Number Placeholder 5"/>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3377869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97D551-E9D8-4376-97E9-3A29623C5F50}" type="datetime1">
              <a:rPr lang="en-IN" smtClean="0"/>
              <a:t>11-08-2025</a:t>
            </a:fld>
            <a:endParaRPr lang="en-IN"/>
          </a:p>
        </p:txBody>
      </p:sp>
      <p:sp>
        <p:nvSpPr>
          <p:cNvPr id="5" name="Footer Placeholder 4"/>
          <p:cNvSpPr>
            <a:spLocks noGrp="1"/>
          </p:cNvSpPr>
          <p:nvPr>
            <p:ph type="ftr" sz="quarter" idx="11"/>
          </p:nvPr>
        </p:nvSpPr>
        <p:spPr/>
        <p:txBody>
          <a:bodyPr/>
          <a:lstStyle/>
          <a:p>
            <a:r>
              <a:rPr lang="en-IN"/>
              <a:t>DEPARTMENT OF CSE SNGCE</a:t>
            </a:r>
          </a:p>
        </p:txBody>
      </p:sp>
      <p:sp>
        <p:nvSpPr>
          <p:cNvPr id="6" name="Slide Number Placeholder 5"/>
          <p:cNvSpPr>
            <a:spLocks noGrp="1"/>
          </p:cNvSpPr>
          <p:nvPr>
            <p:ph type="sldNum" sz="quarter" idx="12"/>
          </p:nvPr>
        </p:nvSpPr>
        <p:spPr/>
        <p:txBody>
          <a:bodyPr/>
          <a:lstStyle/>
          <a:p>
            <a:fld id="{1E81A027-E3F7-4FC9-A752-E855AD4A687D}" type="slidenum">
              <a:rPr lang="en-IN" smtClean="0"/>
              <a:t>‹#›</a:t>
            </a:fld>
            <a:endParaRPr lang="en-IN"/>
          </a:p>
        </p:txBody>
      </p:sp>
    </p:spTree>
    <p:extLst>
      <p:ext uri="{BB962C8B-B14F-4D97-AF65-F5344CB8AC3E}">
        <p14:creationId xmlns:p14="http://schemas.microsoft.com/office/powerpoint/2010/main" val="1524998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075169A-B405-4C68-9B00-247C0E58DBA9}" type="datetime1">
              <a:rPr lang="en-IN" smtClean="0"/>
              <a:t>11-08-2025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a:t>DEPARTMENT OF CSE SNGCE</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E81A027-E3F7-4FC9-A752-E855AD4A687D}"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3073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CBC4E7-812F-1DDD-6B1C-57FB952C3BD4}"/>
              </a:ext>
            </a:extLst>
          </p:cNvPr>
          <p:cNvSpPr>
            <a:spLocks noGrp="1"/>
          </p:cNvSpPr>
          <p:nvPr>
            <p:ph type="title"/>
          </p:nvPr>
        </p:nvSpPr>
        <p:spPr/>
        <p:txBody>
          <a:bodyPr/>
          <a:lstStyle/>
          <a:p>
            <a:r>
              <a:rPr lang="en-IN" dirty="0"/>
              <a:t>SYLLABUS Module 2- Problem Solving</a:t>
            </a:r>
          </a:p>
        </p:txBody>
      </p:sp>
      <p:sp>
        <p:nvSpPr>
          <p:cNvPr id="3" name="Content Placeholder 2">
            <a:extLst>
              <a:ext uri="{FF2B5EF4-FFF2-40B4-BE49-F238E27FC236}">
                <a16:creationId xmlns:a16="http://schemas.microsoft.com/office/drawing/2014/main" xmlns="" id="{BFF64B4C-7134-6894-963A-7F6EA7A3108D}"/>
              </a:ext>
            </a:extLst>
          </p:cNvPr>
          <p:cNvSpPr>
            <a:spLocks noGrp="1"/>
          </p:cNvSpPr>
          <p:nvPr>
            <p:ph idx="1"/>
          </p:nvPr>
        </p:nvSpPr>
        <p:spPr>
          <a:xfrm>
            <a:off x="1097280" y="1845734"/>
            <a:ext cx="5363810" cy="4023360"/>
          </a:xfrm>
        </p:spPr>
        <p:txBody>
          <a:bodyPr/>
          <a:lstStyle/>
          <a:p>
            <a:r>
              <a:rPr lang="en-US" dirty="0"/>
              <a:t>Solving Problems by searching-</a:t>
            </a:r>
          </a:p>
          <a:p>
            <a:r>
              <a:rPr lang="en-US" dirty="0"/>
              <a:t>Problem solving Agents, </a:t>
            </a:r>
          </a:p>
          <a:p>
            <a:r>
              <a:rPr lang="en-US" dirty="0"/>
              <a:t>Example problems, </a:t>
            </a:r>
          </a:p>
          <a:p>
            <a:r>
              <a:rPr lang="en-US" dirty="0"/>
              <a:t>Searching for solutions, </a:t>
            </a:r>
          </a:p>
          <a:p>
            <a:r>
              <a:rPr lang="en-US" dirty="0"/>
              <a:t>Uninformed search strategies, </a:t>
            </a:r>
          </a:p>
          <a:p>
            <a:r>
              <a:rPr lang="en-US" dirty="0"/>
              <a:t>Informed search strategies, </a:t>
            </a:r>
          </a:p>
          <a:p>
            <a:r>
              <a:rPr lang="en-US" dirty="0"/>
              <a:t>Heuristic functions. </a:t>
            </a:r>
            <a:endParaRPr lang="en-IN" dirty="0"/>
          </a:p>
        </p:txBody>
      </p:sp>
      <p:sp>
        <p:nvSpPr>
          <p:cNvPr id="4" name="TextBox 3">
            <a:extLst>
              <a:ext uri="{FF2B5EF4-FFF2-40B4-BE49-F238E27FC236}">
                <a16:creationId xmlns:a16="http://schemas.microsoft.com/office/drawing/2014/main" xmlns="" id="{7794B82F-C9F4-1C56-2446-1FE8669235D3}"/>
              </a:ext>
            </a:extLst>
          </p:cNvPr>
          <p:cNvSpPr txBox="1"/>
          <p:nvPr/>
        </p:nvSpPr>
        <p:spPr>
          <a:xfrm>
            <a:off x="7084088" y="2210636"/>
            <a:ext cx="4453932" cy="3416320"/>
          </a:xfrm>
          <a:prstGeom prst="rect">
            <a:avLst/>
          </a:prstGeom>
          <a:solidFill>
            <a:srgbClr val="D05400"/>
          </a:solidFill>
        </p:spPr>
        <p:txBody>
          <a:bodyPr wrap="square" rtlCol="0">
            <a:spAutoFit/>
          </a:bodyPr>
          <a:lstStyle/>
          <a:p>
            <a:r>
              <a:rPr lang="en-IN" dirty="0">
                <a:solidFill>
                  <a:schemeClr val="bg1"/>
                </a:solidFill>
              </a:rPr>
              <a:t>CO1: </a:t>
            </a:r>
            <a:r>
              <a:rPr lang="en-US" dirty="0">
                <a:solidFill>
                  <a:schemeClr val="bg1"/>
                </a:solidFill>
              </a:rPr>
              <a:t>Explain the fundamental concepts of intelligent systems and their architecture. (Cognitive Knowledge Level: Understanding)</a:t>
            </a:r>
          </a:p>
          <a:p>
            <a:r>
              <a:rPr lang="en-US" dirty="0">
                <a:solidFill>
                  <a:schemeClr val="bg1"/>
                </a:solidFill>
              </a:rPr>
              <a:t>CO2: Illustrate uninformed and informed search techniques for problem solving in intelligent systems. (Cognitive Knowledge Level: Understanding)</a:t>
            </a:r>
            <a:endParaRPr lang="en-IN" dirty="0">
              <a:solidFill>
                <a:schemeClr val="bg1"/>
              </a:solidFill>
            </a:endParaRPr>
          </a:p>
          <a:p>
            <a:endParaRPr lang="en-IN" dirty="0">
              <a:solidFill>
                <a:schemeClr val="bg1"/>
              </a:solidFill>
            </a:endParaRPr>
          </a:p>
          <a:p>
            <a:endParaRPr lang="en-IN" dirty="0">
              <a:solidFill>
                <a:schemeClr val="bg1"/>
              </a:solidFill>
            </a:endParaRPr>
          </a:p>
          <a:p>
            <a:r>
              <a:rPr lang="en-IN" dirty="0">
                <a:solidFill>
                  <a:schemeClr val="bg1"/>
                </a:solidFill>
              </a:rPr>
              <a:t>PO1-Engineering Knowledge</a:t>
            </a:r>
          </a:p>
          <a:p>
            <a:r>
              <a:rPr lang="en-IN" dirty="0">
                <a:solidFill>
                  <a:schemeClr val="bg1"/>
                </a:solidFill>
              </a:rPr>
              <a:t>PO2 Problem Analysis</a:t>
            </a:r>
          </a:p>
          <a:p>
            <a:r>
              <a:rPr lang="en-IN" dirty="0">
                <a:solidFill>
                  <a:schemeClr val="bg1"/>
                </a:solidFill>
              </a:rPr>
              <a:t>PO12 Life long learning</a:t>
            </a:r>
          </a:p>
        </p:txBody>
      </p:sp>
      <p:sp>
        <p:nvSpPr>
          <p:cNvPr id="5" name="Footer Placeholder 4">
            <a:extLst>
              <a:ext uri="{FF2B5EF4-FFF2-40B4-BE49-F238E27FC236}">
                <a16:creationId xmlns:a16="http://schemas.microsoft.com/office/drawing/2014/main" xmlns="" id="{A815DC3C-CB0B-C775-BC89-87B9C156A269}"/>
              </a:ext>
            </a:extLst>
          </p:cNvPr>
          <p:cNvSpPr>
            <a:spLocks noGrp="1"/>
          </p:cNvSpPr>
          <p:nvPr>
            <p:ph type="ftr" sz="quarter" idx="11"/>
          </p:nvPr>
        </p:nvSpPr>
        <p:spPr/>
        <p:txBody>
          <a:bodyPr/>
          <a:lstStyle/>
          <a:p>
            <a:r>
              <a:rPr lang="en-IN"/>
              <a:t>DEPARTMENT OF CSE SNGCE</a:t>
            </a:r>
          </a:p>
        </p:txBody>
      </p:sp>
      <p:sp>
        <p:nvSpPr>
          <p:cNvPr id="6" name="Slide Number Placeholder 5">
            <a:extLst>
              <a:ext uri="{FF2B5EF4-FFF2-40B4-BE49-F238E27FC236}">
                <a16:creationId xmlns:a16="http://schemas.microsoft.com/office/drawing/2014/main" xmlns="" id="{34609CAD-1ED6-D12F-2BDE-5A88DF44A6CA}"/>
              </a:ext>
            </a:extLst>
          </p:cNvPr>
          <p:cNvSpPr>
            <a:spLocks noGrp="1"/>
          </p:cNvSpPr>
          <p:nvPr>
            <p:ph type="sldNum" sz="quarter" idx="12"/>
          </p:nvPr>
        </p:nvSpPr>
        <p:spPr/>
        <p:txBody>
          <a:bodyPr/>
          <a:lstStyle/>
          <a:p>
            <a:fld id="{1E81A027-E3F7-4FC9-A752-E855AD4A687D}" type="slidenum">
              <a:rPr lang="en-IN" smtClean="0"/>
              <a:t>1</a:t>
            </a:fld>
            <a:endParaRPr lang="en-IN"/>
          </a:p>
        </p:txBody>
      </p:sp>
    </p:spTree>
    <p:extLst>
      <p:ext uri="{BB962C8B-B14F-4D97-AF65-F5344CB8AC3E}">
        <p14:creationId xmlns:p14="http://schemas.microsoft.com/office/powerpoint/2010/main" val="2702489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11"/>
          </p:nvPr>
        </p:nvSpPr>
        <p:spPr/>
        <p:txBody>
          <a:bodyPr/>
          <a:lstStyle/>
          <a:p>
            <a:r>
              <a:rPr lang="en-IN" smtClean="0"/>
              <a:t>DEPARTMENT OF CSE SNGCE</a:t>
            </a:r>
            <a:endParaRPr lang="en-IN"/>
          </a:p>
        </p:txBody>
      </p:sp>
      <p:sp>
        <p:nvSpPr>
          <p:cNvPr id="5" name="Slide Number Placeholder 4"/>
          <p:cNvSpPr>
            <a:spLocks noGrp="1"/>
          </p:cNvSpPr>
          <p:nvPr>
            <p:ph type="sldNum" sz="quarter" idx="12"/>
          </p:nvPr>
        </p:nvSpPr>
        <p:spPr/>
        <p:txBody>
          <a:bodyPr/>
          <a:lstStyle/>
          <a:p>
            <a:fld id="{1E81A027-E3F7-4FC9-A752-E855AD4A687D}" type="slidenum">
              <a:rPr lang="en-IN" smtClean="0"/>
              <a:t>2</a:t>
            </a:fld>
            <a:endParaRPr lang="en-IN"/>
          </a:p>
        </p:txBody>
      </p:sp>
      <p:pic>
        <p:nvPicPr>
          <p:cNvPr id="6" name="Content Placeholder 3"/>
          <p:cNvPicPr>
            <a:picLocks noGrp="1" noChangeAspect="1"/>
          </p:cNvPicPr>
          <p:nvPr>
            <p:ph idx="1"/>
          </p:nvPr>
        </p:nvPicPr>
        <p:blipFill>
          <a:blip r:embed="rId2"/>
          <a:stretch>
            <a:fillRect/>
          </a:stretch>
        </p:blipFill>
        <p:spPr>
          <a:xfrm>
            <a:off x="2002651" y="1846263"/>
            <a:ext cx="8247024" cy="4022725"/>
          </a:xfrm>
          <a:prstGeom prst="rect">
            <a:avLst/>
          </a:prstGeom>
        </p:spPr>
      </p:pic>
    </p:spTree>
    <p:extLst>
      <p:ext uri="{BB962C8B-B14F-4D97-AF65-F5344CB8AC3E}">
        <p14:creationId xmlns:p14="http://schemas.microsoft.com/office/powerpoint/2010/main" val="34312151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stretch>
            <a:fillRect/>
          </a:stretch>
        </p:blipFill>
        <p:spPr>
          <a:xfrm>
            <a:off x="2360459" y="1846263"/>
            <a:ext cx="7531408" cy="4022725"/>
          </a:xfrm>
          <a:prstGeom prst="rect">
            <a:avLst/>
          </a:prstGeom>
        </p:spPr>
      </p:pic>
      <p:sp>
        <p:nvSpPr>
          <p:cNvPr id="4" name="Footer Placeholder 3"/>
          <p:cNvSpPr>
            <a:spLocks noGrp="1"/>
          </p:cNvSpPr>
          <p:nvPr>
            <p:ph type="ftr" sz="quarter" idx="11"/>
          </p:nvPr>
        </p:nvSpPr>
        <p:spPr/>
        <p:txBody>
          <a:bodyPr/>
          <a:lstStyle/>
          <a:p>
            <a:r>
              <a:rPr lang="en-IN" smtClean="0"/>
              <a:t>DEPARTMENT OF CSE SNGCE</a:t>
            </a:r>
            <a:endParaRPr lang="en-IN"/>
          </a:p>
        </p:txBody>
      </p:sp>
      <p:sp>
        <p:nvSpPr>
          <p:cNvPr id="5" name="Slide Number Placeholder 4"/>
          <p:cNvSpPr>
            <a:spLocks noGrp="1"/>
          </p:cNvSpPr>
          <p:nvPr>
            <p:ph type="sldNum" sz="quarter" idx="12"/>
          </p:nvPr>
        </p:nvSpPr>
        <p:spPr/>
        <p:txBody>
          <a:bodyPr/>
          <a:lstStyle/>
          <a:p>
            <a:fld id="{1E81A027-E3F7-4FC9-A752-E855AD4A687D}" type="slidenum">
              <a:rPr lang="en-IN" smtClean="0"/>
              <a:t>3</a:t>
            </a:fld>
            <a:endParaRPr lang="en-IN"/>
          </a:p>
        </p:txBody>
      </p:sp>
    </p:spTree>
    <p:extLst>
      <p:ext uri="{BB962C8B-B14F-4D97-AF65-F5344CB8AC3E}">
        <p14:creationId xmlns:p14="http://schemas.microsoft.com/office/powerpoint/2010/main" val="135668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stretch>
            <a:fillRect/>
          </a:stretch>
        </p:blipFill>
        <p:spPr>
          <a:xfrm>
            <a:off x="2726751" y="1855499"/>
            <a:ext cx="6798824" cy="4022725"/>
          </a:xfrm>
          <a:prstGeom prst="rect">
            <a:avLst/>
          </a:prstGeom>
        </p:spPr>
      </p:pic>
      <p:sp>
        <p:nvSpPr>
          <p:cNvPr id="4" name="Footer Placeholder 3"/>
          <p:cNvSpPr>
            <a:spLocks noGrp="1"/>
          </p:cNvSpPr>
          <p:nvPr>
            <p:ph type="ftr" sz="quarter" idx="11"/>
          </p:nvPr>
        </p:nvSpPr>
        <p:spPr/>
        <p:txBody>
          <a:bodyPr/>
          <a:lstStyle/>
          <a:p>
            <a:r>
              <a:rPr lang="en-IN" smtClean="0"/>
              <a:t>DEPARTMENT OF CSE SNGCE</a:t>
            </a:r>
            <a:endParaRPr lang="en-IN"/>
          </a:p>
        </p:txBody>
      </p:sp>
      <p:sp>
        <p:nvSpPr>
          <p:cNvPr id="5" name="Slide Number Placeholder 4"/>
          <p:cNvSpPr>
            <a:spLocks noGrp="1"/>
          </p:cNvSpPr>
          <p:nvPr>
            <p:ph type="sldNum" sz="quarter" idx="12"/>
          </p:nvPr>
        </p:nvSpPr>
        <p:spPr/>
        <p:txBody>
          <a:bodyPr/>
          <a:lstStyle/>
          <a:p>
            <a:fld id="{1E81A027-E3F7-4FC9-A752-E855AD4A687D}" type="slidenum">
              <a:rPr lang="en-IN" smtClean="0"/>
              <a:t>4</a:t>
            </a:fld>
            <a:endParaRPr lang="en-IN"/>
          </a:p>
        </p:txBody>
      </p:sp>
    </p:spTree>
    <p:extLst>
      <p:ext uri="{BB962C8B-B14F-4D97-AF65-F5344CB8AC3E}">
        <p14:creationId xmlns:p14="http://schemas.microsoft.com/office/powerpoint/2010/main" val="38685069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3C3CF7-0899-D358-4CD5-EF9D6484B84F}"/>
              </a:ext>
            </a:extLst>
          </p:cNvPr>
          <p:cNvSpPr>
            <a:spLocks noGrp="1"/>
          </p:cNvSpPr>
          <p:nvPr>
            <p:ph type="title"/>
          </p:nvPr>
        </p:nvSpPr>
        <p:spPr/>
        <p:txBody>
          <a:bodyPr>
            <a:normAutofit/>
          </a:bodyPr>
          <a:lstStyle/>
          <a:p>
            <a:r>
              <a:rPr lang="en-IN" dirty="0">
                <a:solidFill>
                  <a:srgbClr val="000000"/>
                </a:solidFill>
                <a:effectLst/>
              </a:rPr>
              <a:t>PROBLEM-SOLVING AGENTS</a:t>
            </a:r>
            <a:endParaRPr lang="en-IN" dirty="0"/>
          </a:p>
        </p:txBody>
      </p:sp>
      <p:sp>
        <p:nvSpPr>
          <p:cNvPr id="3" name="Content Placeholder 2">
            <a:extLst>
              <a:ext uri="{FF2B5EF4-FFF2-40B4-BE49-F238E27FC236}">
                <a16:creationId xmlns:a16="http://schemas.microsoft.com/office/drawing/2014/main" xmlns="" id="{853F4F62-4AB9-FCD5-74E5-EB46062EEED3}"/>
              </a:ext>
            </a:extLst>
          </p:cNvPr>
          <p:cNvSpPr>
            <a:spLocks noGrp="1"/>
          </p:cNvSpPr>
          <p:nvPr>
            <p:ph idx="1"/>
          </p:nvPr>
        </p:nvSpPr>
        <p:spPr/>
        <p:txBody>
          <a:bodyPr>
            <a:normAutofit/>
          </a:bodyPr>
          <a:lstStyle/>
          <a:p>
            <a:r>
              <a:rPr lang="en-IN" sz="2800" dirty="0"/>
              <a:t>Goal Based Agent</a:t>
            </a:r>
          </a:p>
          <a:p>
            <a:r>
              <a:rPr lang="en-IN" sz="2800" dirty="0"/>
              <a:t>Agent adopt a goal and aim at satisfying them</a:t>
            </a:r>
          </a:p>
          <a:p>
            <a:r>
              <a:rPr lang="en-US" sz="2800" dirty="0"/>
              <a:t>Goals help organize behavior by limiting the objectives that the agent is trying to achieve and hence the actions it needs to consider</a:t>
            </a:r>
            <a:endParaRPr lang="en-IN" sz="2800" dirty="0"/>
          </a:p>
        </p:txBody>
      </p:sp>
      <p:sp>
        <p:nvSpPr>
          <p:cNvPr id="4" name="Footer Placeholder 3">
            <a:extLst>
              <a:ext uri="{FF2B5EF4-FFF2-40B4-BE49-F238E27FC236}">
                <a16:creationId xmlns:a16="http://schemas.microsoft.com/office/drawing/2014/main" xmlns="" id="{5ECF012D-171E-BDA1-8BD4-5A4183E67B1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8DF1B7A4-C1F3-2109-77BA-D4FA577FD0DE}"/>
              </a:ext>
            </a:extLst>
          </p:cNvPr>
          <p:cNvSpPr>
            <a:spLocks noGrp="1"/>
          </p:cNvSpPr>
          <p:nvPr>
            <p:ph type="sldNum" sz="quarter" idx="12"/>
          </p:nvPr>
        </p:nvSpPr>
        <p:spPr/>
        <p:txBody>
          <a:bodyPr/>
          <a:lstStyle/>
          <a:p>
            <a:fld id="{1E81A027-E3F7-4FC9-A752-E855AD4A687D}" type="slidenum">
              <a:rPr lang="en-IN" smtClean="0"/>
              <a:t>5</a:t>
            </a:fld>
            <a:endParaRPr lang="en-IN"/>
          </a:p>
        </p:txBody>
      </p:sp>
    </p:spTree>
    <p:extLst>
      <p:ext uri="{BB962C8B-B14F-4D97-AF65-F5344CB8AC3E}">
        <p14:creationId xmlns:p14="http://schemas.microsoft.com/office/powerpoint/2010/main" val="1733352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4CB94A-C5DB-EF17-4B09-BBFE4C2C3E60}"/>
              </a:ext>
            </a:extLst>
          </p:cNvPr>
          <p:cNvSpPr>
            <a:spLocks noGrp="1"/>
          </p:cNvSpPr>
          <p:nvPr>
            <p:ph type="title"/>
          </p:nvPr>
        </p:nvSpPr>
        <p:spPr/>
        <p:txBody>
          <a:bodyPr/>
          <a:lstStyle/>
          <a:p>
            <a:r>
              <a:rPr lang="en-US" dirty="0">
                <a:solidFill>
                  <a:srgbClr val="273239"/>
                </a:solidFill>
              </a:rPr>
              <a:t>S</a:t>
            </a:r>
            <a:r>
              <a:rPr lang="en-US" i="0" dirty="0">
                <a:solidFill>
                  <a:srgbClr val="273239"/>
                </a:solidFill>
                <a:effectLst/>
              </a:rPr>
              <a:t>teps Require to Solve a Problem</a:t>
            </a:r>
            <a:endParaRPr lang="en-IN" dirty="0"/>
          </a:p>
        </p:txBody>
      </p:sp>
      <p:sp>
        <p:nvSpPr>
          <p:cNvPr id="3" name="Content Placeholder 2">
            <a:extLst>
              <a:ext uri="{FF2B5EF4-FFF2-40B4-BE49-F238E27FC236}">
                <a16:creationId xmlns:a16="http://schemas.microsoft.com/office/drawing/2014/main" xmlns="" id="{6AA9AA08-B441-9CB2-006D-5BC124852A2D}"/>
              </a:ext>
            </a:extLst>
          </p:cNvPr>
          <p:cNvSpPr>
            <a:spLocks noGrp="1"/>
          </p:cNvSpPr>
          <p:nvPr>
            <p:ph idx="1"/>
          </p:nvPr>
        </p:nvSpPr>
        <p:spPr/>
        <p:txBody>
          <a:bodyPr>
            <a:normAutofit/>
          </a:bodyPr>
          <a:lstStyle/>
          <a:p>
            <a:pPr fontAlgn="base"/>
            <a:r>
              <a:rPr lang="en-US" sz="2800" b="1" i="0" dirty="0">
                <a:solidFill>
                  <a:srgbClr val="273239"/>
                </a:solidFill>
                <a:effectLst/>
              </a:rPr>
              <a:t>Goal Formulation: </a:t>
            </a:r>
          </a:p>
          <a:p>
            <a:pPr lvl="1" fontAlgn="base"/>
            <a:r>
              <a:rPr lang="en-US" sz="2600" b="0" i="0" dirty="0">
                <a:solidFill>
                  <a:srgbClr val="273239"/>
                </a:solidFill>
                <a:effectLst/>
              </a:rPr>
              <a:t> It organizes finite steps to formulate a target/goals which require some action to achieve the goal. </a:t>
            </a:r>
          </a:p>
          <a:p>
            <a:pPr lvl="1" fontAlgn="base"/>
            <a:r>
              <a:rPr lang="en-US" sz="2600" b="0" i="0" dirty="0">
                <a:solidFill>
                  <a:srgbClr val="273239"/>
                </a:solidFill>
                <a:effectLst/>
              </a:rPr>
              <a:t>based on AI agents.</a:t>
            </a:r>
          </a:p>
          <a:p>
            <a:pPr fontAlgn="base"/>
            <a:r>
              <a:rPr lang="en-US" sz="2800" b="1" i="0" dirty="0">
                <a:solidFill>
                  <a:srgbClr val="273239"/>
                </a:solidFill>
                <a:effectLst/>
              </a:rPr>
              <a:t>Problem formulation: </a:t>
            </a:r>
          </a:p>
          <a:p>
            <a:pPr lvl="1" fontAlgn="base"/>
            <a:r>
              <a:rPr lang="en-US" sz="2600" b="0" i="0" dirty="0">
                <a:solidFill>
                  <a:srgbClr val="273239"/>
                </a:solidFill>
                <a:effectLst/>
              </a:rPr>
              <a:t>decides what action should be taken to achieve the formulated goal.</a:t>
            </a:r>
          </a:p>
          <a:p>
            <a:endParaRPr lang="en-IN" sz="2800" dirty="0"/>
          </a:p>
        </p:txBody>
      </p:sp>
      <p:sp>
        <p:nvSpPr>
          <p:cNvPr id="4" name="Footer Placeholder 3">
            <a:extLst>
              <a:ext uri="{FF2B5EF4-FFF2-40B4-BE49-F238E27FC236}">
                <a16:creationId xmlns:a16="http://schemas.microsoft.com/office/drawing/2014/main" xmlns="" id="{84042363-151F-6093-11A4-10EAB216420F}"/>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D75666B4-838B-A280-D499-632B63784AC5}"/>
              </a:ext>
            </a:extLst>
          </p:cNvPr>
          <p:cNvSpPr>
            <a:spLocks noGrp="1"/>
          </p:cNvSpPr>
          <p:nvPr>
            <p:ph type="sldNum" sz="quarter" idx="12"/>
          </p:nvPr>
        </p:nvSpPr>
        <p:spPr/>
        <p:txBody>
          <a:bodyPr/>
          <a:lstStyle/>
          <a:p>
            <a:fld id="{1E81A027-E3F7-4FC9-A752-E855AD4A687D}" type="slidenum">
              <a:rPr lang="en-IN" smtClean="0"/>
              <a:t>6</a:t>
            </a:fld>
            <a:endParaRPr lang="en-IN"/>
          </a:p>
        </p:txBody>
      </p:sp>
    </p:spTree>
    <p:extLst>
      <p:ext uri="{BB962C8B-B14F-4D97-AF65-F5344CB8AC3E}">
        <p14:creationId xmlns:p14="http://schemas.microsoft.com/office/powerpoint/2010/main" val="330253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A3C3A9-36CA-427C-E18C-80560CC3C91A}"/>
              </a:ext>
            </a:extLst>
          </p:cNvPr>
          <p:cNvSpPr>
            <a:spLocks noGrp="1"/>
          </p:cNvSpPr>
          <p:nvPr>
            <p:ph type="title"/>
          </p:nvPr>
        </p:nvSpPr>
        <p:spPr/>
        <p:txBody>
          <a:bodyPr>
            <a:normAutofit/>
          </a:bodyPr>
          <a:lstStyle/>
          <a:p>
            <a:r>
              <a:rPr lang="en-IN" dirty="0">
                <a:solidFill>
                  <a:srgbClr val="000000"/>
                </a:solidFill>
                <a:effectLst/>
              </a:rPr>
              <a:t>Goal formulation</a:t>
            </a:r>
            <a:endParaRPr lang="en-IN" dirty="0"/>
          </a:p>
        </p:txBody>
      </p:sp>
      <p:sp>
        <p:nvSpPr>
          <p:cNvPr id="3" name="Content Placeholder 2">
            <a:extLst>
              <a:ext uri="{FF2B5EF4-FFF2-40B4-BE49-F238E27FC236}">
                <a16:creationId xmlns:a16="http://schemas.microsoft.com/office/drawing/2014/main" xmlns="" id="{8C948D86-0AC5-346B-47AE-DEA5FB47BCF3}"/>
              </a:ext>
            </a:extLst>
          </p:cNvPr>
          <p:cNvSpPr>
            <a:spLocks noGrp="1"/>
          </p:cNvSpPr>
          <p:nvPr>
            <p:ph idx="1"/>
          </p:nvPr>
        </p:nvSpPr>
        <p:spPr>
          <a:xfrm>
            <a:off x="1097280" y="1845734"/>
            <a:ext cx="10058400" cy="4250266"/>
          </a:xfrm>
        </p:spPr>
        <p:txBody>
          <a:bodyPr>
            <a:normAutofit/>
          </a:bodyPr>
          <a:lstStyle/>
          <a:p>
            <a:r>
              <a:rPr lang="en-US" dirty="0">
                <a:solidFill>
                  <a:srgbClr val="000000"/>
                </a:solidFill>
              </a:rPr>
              <a:t>It is based </a:t>
            </a:r>
            <a:r>
              <a:rPr lang="en-US" dirty="0">
                <a:solidFill>
                  <a:srgbClr val="000000"/>
                </a:solidFill>
                <a:effectLst/>
              </a:rPr>
              <a:t>on the current situation and the agent’s performance measure</a:t>
            </a:r>
          </a:p>
          <a:p>
            <a:pPr marL="91440" indent="-91440" fontAlgn="auto">
              <a:defRPr/>
            </a:pPr>
            <a:r>
              <a:rPr lang="en-US" altLang="zh-TW" dirty="0">
                <a:solidFill>
                  <a:srgbClr val="1D0401"/>
                </a:solidFill>
              </a:rPr>
              <a:t>The goal is formulated </a:t>
            </a:r>
          </a:p>
          <a:p>
            <a:pPr marL="384048" lvl="1" indent="-182880" fontAlgn="auto">
              <a:defRPr/>
            </a:pPr>
            <a:r>
              <a:rPr lang="en-US" altLang="zh-TW" dirty="0">
                <a:solidFill>
                  <a:srgbClr val="1D0401"/>
                </a:solidFill>
              </a:rPr>
              <a:t>as a set of world states, in which the goal is satisfied</a:t>
            </a:r>
          </a:p>
          <a:p>
            <a:pPr marL="91440" indent="-91440" fontAlgn="auto">
              <a:defRPr/>
            </a:pPr>
            <a:r>
              <a:rPr lang="en-US" altLang="zh-TW" dirty="0">
                <a:solidFill>
                  <a:srgbClr val="1D0401"/>
                </a:solidFill>
              </a:rPr>
              <a:t>Reaching from initial state </a:t>
            </a:r>
            <a:r>
              <a:rPr lang="en-US" altLang="zh-TW" dirty="0">
                <a:solidFill>
                  <a:srgbClr val="1D0401"/>
                </a:solidFill>
                <a:sym typeface="Wingdings" pitchFamily="2" charset="2"/>
              </a:rPr>
              <a:t> goal state</a:t>
            </a:r>
          </a:p>
          <a:p>
            <a:pPr marL="384048" lvl="1" indent="-182880" fontAlgn="auto">
              <a:defRPr/>
            </a:pPr>
            <a:r>
              <a:rPr lang="en-US" altLang="zh-TW" dirty="0">
                <a:solidFill>
                  <a:srgbClr val="1D0401"/>
                </a:solidFill>
              </a:rPr>
              <a:t>Actions are required</a:t>
            </a:r>
          </a:p>
          <a:p>
            <a:pPr marL="91440" indent="-91440" fontAlgn="auto">
              <a:defRPr/>
            </a:pPr>
            <a:r>
              <a:rPr lang="en-US" altLang="zh-TW" i="1" dirty="0">
                <a:solidFill>
                  <a:srgbClr val="1D0401"/>
                </a:solidFill>
              </a:rPr>
              <a:t>Actions</a:t>
            </a:r>
            <a:r>
              <a:rPr lang="en-US" altLang="zh-TW" dirty="0">
                <a:solidFill>
                  <a:srgbClr val="1D0401"/>
                </a:solidFill>
              </a:rPr>
              <a:t> are the operators </a:t>
            </a:r>
          </a:p>
          <a:p>
            <a:pPr marL="384048" lvl="1" indent="-182880" fontAlgn="auto">
              <a:defRPr/>
            </a:pPr>
            <a:r>
              <a:rPr lang="en-US" altLang="zh-TW" dirty="0">
                <a:solidFill>
                  <a:srgbClr val="1D0401"/>
                </a:solidFill>
              </a:rPr>
              <a:t>causing transitions between world states</a:t>
            </a:r>
            <a:endParaRPr lang="en-US" altLang="zh-TW" b="1" dirty="0">
              <a:solidFill>
                <a:srgbClr val="1D0401"/>
              </a:solidFill>
            </a:endParaRPr>
          </a:p>
          <a:p>
            <a:pPr marL="384048" lvl="1" indent="-182880" fontAlgn="auto">
              <a:defRPr/>
            </a:pPr>
            <a:r>
              <a:rPr lang="en-US" altLang="zh-TW" b="1" dirty="0">
                <a:solidFill>
                  <a:srgbClr val="1D0401"/>
                </a:solidFill>
              </a:rPr>
              <a:t>Actions</a:t>
            </a:r>
            <a:r>
              <a:rPr lang="en-US" altLang="zh-TW" dirty="0">
                <a:solidFill>
                  <a:srgbClr val="1D0401"/>
                </a:solidFill>
              </a:rPr>
              <a:t> should be abstract enough at a certain degree, instead of very detailed </a:t>
            </a:r>
          </a:p>
          <a:p>
            <a:pPr marL="384048" lvl="1" indent="-182880" fontAlgn="auto">
              <a:defRPr/>
            </a:pPr>
            <a:r>
              <a:rPr lang="en-US" altLang="zh-TW" dirty="0">
                <a:solidFill>
                  <a:srgbClr val="1D0401"/>
                </a:solidFill>
              </a:rPr>
              <a:t>E.g., </a:t>
            </a:r>
            <a:r>
              <a:rPr lang="en-US" altLang="zh-TW" u="sng" dirty="0">
                <a:solidFill>
                  <a:srgbClr val="1D0401"/>
                </a:solidFill>
                <a:effectLst>
                  <a:outerShdw blurRad="38100" dist="38100" dir="2700000" algn="tl">
                    <a:srgbClr val="000000"/>
                  </a:outerShdw>
                </a:effectLst>
              </a:rPr>
              <a:t>turn left</a:t>
            </a:r>
            <a:r>
              <a:rPr lang="en-US" altLang="zh-TW" dirty="0">
                <a:solidFill>
                  <a:srgbClr val="1D0401"/>
                </a:solidFill>
              </a:rPr>
              <a:t> VS </a:t>
            </a:r>
            <a:r>
              <a:rPr lang="en-US" altLang="zh-TW" u="sng" dirty="0">
                <a:solidFill>
                  <a:srgbClr val="1D0401"/>
                </a:solidFill>
                <a:effectLst>
                  <a:outerShdw blurRad="38100" dist="38100" dir="2700000" algn="tl">
                    <a:srgbClr val="000000"/>
                  </a:outerShdw>
                </a:effectLst>
              </a:rPr>
              <a:t>turn left 30 degree</a:t>
            </a:r>
            <a:r>
              <a:rPr lang="en-US" altLang="zh-TW" dirty="0">
                <a:solidFill>
                  <a:srgbClr val="1D0401"/>
                </a:solidFill>
              </a:rPr>
              <a:t>, etc.</a:t>
            </a:r>
          </a:p>
          <a:p>
            <a:r>
              <a:rPr lang="en-US" dirty="0">
                <a:solidFill>
                  <a:srgbClr val="1D0401"/>
                </a:solidFill>
              </a:rPr>
              <a:t>With such high level of detail there is too much uncertainty in the world and there would be too many steps in a solution for agent to find a solution</a:t>
            </a:r>
            <a:endParaRPr lang="en-IN" dirty="0">
              <a:solidFill>
                <a:srgbClr val="1D0401"/>
              </a:solidFill>
            </a:endParaRPr>
          </a:p>
        </p:txBody>
      </p:sp>
      <p:sp>
        <p:nvSpPr>
          <p:cNvPr id="4" name="Footer Placeholder 3">
            <a:extLst>
              <a:ext uri="{FF2B5EF4-FFF2-40B4-BE49-F238E27FC236}">
                <a16:creationId xmlns:a16="http://schemas.microsoft.com/office/drawing/2014/main" xmlns="" id="{3F71E97E-7D5B-F971-7891-97544341C2DD}"/>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481F5571-53AE-47CA-3B36-099CF4AB6FBA}"/>
              </a:ext>
            </a:extLst>
          </p:cNvPr>
          <p:cNvSpPr>
            <a:spLocks noGrp="1"/>
          </p:cNvSpPr>
          <p:nvPr>
            <p:ph type="sldNum" sz="quarter" idx="12"/>
          </p:nvPr>
        </p:nvSpPr>
        <p:spPr/>
        <p:txBody>
          <a:bodyPr/>
          <a:lstStyle/>
          <a:p>
            <a:fld id="{1E81A027-E3F7-4FC9-A752-E855AD4A687D}" type="slidenum">
              <a:rPr lang="en-IN" smtClean="0"/>
              <a:t>7</a:t>
            </a:fld>
            <a:endParaRPr lang="en-IN"/>
          </a:p>
        </p:txBody>
      </p:sp>
    </p:spTree>
    <p:extLst>
      <p:ext uri="{BB962C8B-B14F-4D97-AF65-F5344CB8AC3E}">
        <p14:creationId xmlns:p14="http://schemas.microsoft.com/office/powerpoint/2010/main" val="2738891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3F4D4B-0CC7-E5EA-5C7D-DEE9C0B381D5}"/>
              </a:ext>
            </a:extLst>
          </p:cNvPr>
          <p:cNvSpPr>
            <a:spLocks noGrp="1"/>
          </p:cNvSpPr>
          <p:nvPr>
            <p:ph type="title"/>
          </p:nvPr>
        </p:nvSpPr>
        <p:spPr/>
        <p:txBody>
          <a:bodyPr/>
          <a:lstStyle/>
          <a:p>
            <a:r>
              <a:rPr lang="en-US" altLang="zh-TW" dirty="0">
                <a:solidFill>
                  <a:srgbClr val="1D0401"/>
                </a:solidFill>
              </a:rPr>
              <a:t>Problem formulation</a:t>
            </a:r>
            <a:endParaRPr lang="en-IN" dirty="0"/>
          </a:p>
        </p:txBody>
      </p:sp>
      <p:sp>
        <p:nvSpPr>
          <p:cNvPr id="3" name="Content Placeholder 2">
            <a:extLst>
              <a:ext uri="{FF2B5EF4-FFF2-40B4-BE49-F238E27FC236}">
                <a16:creationId xmlns:a16="http://schemas.microsoft.com/office/drawing/2014/main" xmlns="" id="{8397D537-B0CA-B470-0FB7-B29E3C31B9F6}"/>
              </a:ext>
            </a:extLst>
          </p:cNvPr>
          <p:cNvSpPr>
            <a:spLocks noGrp="1"/>
          </p:cNvSpPr>
          <p:nvPr>
            <p:ph idx="1"/>
          </p:nvPr>
        </p:nvSpPr>
        <p:spPr/>
        <p:txBody>
          <a:bodyPr>
            <a:normAutofit lnSpcReduction="10000"/>
          </a:bodyPr>
          <a:lstStyle/>
          <a:p>
            <a:r>
              <a:rPr lang="en-US" altLang="zh-TW" sz="2800" dirty="0">
                <a:solidFill>
                  <a:srgbClr val="1D0401"/>
                </a:solidFill>
              </a:rPr>
              <a:t>The process of deciding </a:t>
            </a:r>
          </a:p>
          <a:p>
            <a:pPr lvl="1"/>
            <a:r>
              <a:rPr lang="en-US" altLang="zh-TW" sz="2400" dirty="0">
                <a:solidFill>
                  <a:srgbClr val="1D0401"/>
                </a:solidFill>
              </a:rPr>
              <a:t>what actions and states to consider </a:t>
            </a:r>
          </a:p>
          <a:p>
            <a:r>
              <a:rPr lang="en-US" altLang="zh-TW" sz="2800" dirty="0">
                <a:solidFill>
                  <a:srgbClr val="1D0401"/>
                </a:solidFill>
              </a:rPr>
              <a:t>E.g., driving Ernakulam </a:t>
            </a:r>
            <a:r>
              <a:rPr lang="en-US" altLang="zh-TW" sz="2800" dirty="0">
                <a:solidFill>
                  <a:srgbClr val="1D0401"/>
                </a:solidFill>
                <a:sym typeface="Wingdings" panose="05000000000000000000" pitchFamily="2" charset="2"/>
              </a:rPr>
              <a:t>to</a:t>
            </a:r>
            <a:r>
              <a:rPr lang="en-US" altLang="zh-TW" sz="2800" dirty="0">
                <a:solidFill>
                  <a:srgbClr val="1D0401"/>
                </a:solidFill>
              </a:rPr>
              <a:t> Chennai </a:t>
            </a:r>
          </a:p>
          <a:p>
            <a:pPr lvl="1"/>
            <a:r>
              <a:rPr lang="en-US" altLang="zh-TW" sz="2400" dirty="0">
                <a:solidFill>
                  <a:srgbClr val="1D0401"/>
                </a:solidFill>
              </a:rPr>
              <a:t>in-between states and actions defined</a:t>
            </a:r>
          </a:p>
          <a:p>
            <a:pPr lvl="1"/>
            <a:r>
              <a:rPr lang="en-US" altLang="zh-TW" sz="2400" dirty="0">
                <a:solidFill>
                  <a:srgbClr val="1D0401"/>
                </a:solidFill>
              </a:rPr>
              <a:t>States: Some places in Ernakulam and Chennai</a:t>
            </a:r>
          </a:p>
          <a:p>
            <a:pPr lvl="1"/>
            <a:r>
              <a:rPr lang="en-US" altLang="zh-TW" sz="2400" dirty="0">
                <a:solidFill>
                  <a:srgbClr val="1D0401"/>
                </a:solidFill>
              </a:rPr>
              <a:t>Actions: Turn left, Turn right, go straight, accelerate &amp; brake, etc.</a:t>
            </a:r>
          </a:p>
          <a:p>
            <a:r>
              <a:rPr lang="en-US" sz="2800" dirty="0">
                <a:solidFill>
                  <a:srgbClr val="1D0401"/>
                </a:solidFill>
              </a:rPr>
              <a:t>agent will consider actions at the level of driving from one major town to another</a:t>
            </a:r>
          </a:p>
          <a:p>
            <a:r>
              <a:rPr lang="en-US" sz="2800" dirty="0">
                <a:solidFill>
                  <a:srgbClr val="1D0401"/>
                </a:solidFill>
              </a:rPr>
              <a:t>Each state therefore corresponds to being in a particular town.</a:t>
            </a:r>
            <a:endParaRPr lang="en-US" altLang="zh-TW" sz="2800" dirty="0">
              <a:solidFill>
                <a:srgbClr val="1D0401"/>
              </a:solidFill>
            </a:endParaRPr>
          </a:p>
        </p:txBody>
      </p:sp>
      <p:sp>
        <p:nvSpPr>
          <p:cNvPr id="4" name="Footer Placeholder 3">
            <a:extLst>
              <a:ext uri="{FF2B5EF4-FFF2-40B4-BE49-F238E27FC236}">
                <a16:creationId xmlns:a16="http://schemas.microsoft.com/office/drawing/2014/main" xmlns="" id="{9A0C92E0-149C-298E-47C6-D1B46909AB12}"/>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A54023D4-C79C-30EF-2E92-599072582742}"/>
              </a:ext>
            </a:extLst>
          </p:cNvPr>
          <p:cNvSpPr>
            <a:spLocks noGrp="1"/>
          </p:cNvSpPr>
          <p:nvPr>
            <p:ph type="sldNum" sz="quarter" idx="12"/>
          </p:nvPr>
        </p:nvSpPr>
        <p:spPr/>
        <p:txBody>
          <a:bodyPr/>
          <a:lstStyle/>
          <a:p>
            <a:fld id="{1E81A027-E3F7-4FC9-A752-E855AD4A687D}" type="slidenum">
              <a:rPr lang="en-IN" smtClean="0"/>
              <a:t>8</a:t>
            </a:fld>
            <a:endParaRPr lang="en-IN"/>
          </a:p>
        </p:txBody>
      </p:sp>
    </p:spTree>
    <p:extLst>
      <p:ext uri="{BB962C8B-B14F-4D97-AF65-F5344CB8AC3E}">
        <p14:creationId xmlns:p14="http://schemas.microsoft.com/office/powerpoint/2010/main" val="3597199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2D147E-1100-3D2C-789C-0583BA45A171}"/>
              </a:ext>
            </a:extLst>
          </p:cNvPr>
          <p:cNvSpPr>
            <a:spLocks noGrp="1"/>
          </p:cNvSpPr>
          <p:nvPr>
            <p:ph type="title"/>
          </p:nvPr>
        </p:nvSpPr>
        <p:spPr/>
        <p:txBody>
          <a:bodyPr/>
          <a:lstStyle/>
          <a:p>
            <a:r>
              <a:rPr lang="en-US" b="0" i="0" dirty="0">
                <a:solidFill>
                  <a:srgbClr val="273239"/>
                </a:solidFill>
                <a:effectLst/>
              </a:rPr>
              <a:t>Components to formulate the associated problem</a:t>
            </a:r>
            <a:endParaRPr lang="en-IN" dirty="0"/>
          </a:p>
        </p:txBody>
      </p:sp>
      <p:sp>
        <p:nvSpPr>
          <p:cNvPr id="3" name="Content Placeholder 2">
            <a:extLst>
              <a:ext uri="{FF2B5EF4-FFF2-40B4-BE49-F238E27FC236}">
                <a16:creationId xmlns:a16="http://schemas.microsoft.com/office/drawing/2014/main" xmlns="" id="{8742987E-3272-98E7-346D-E03CB01CA1DC}"/>
              </a:ext>
            </a:extLst>
          </p:cNvPr>
          <p:cNvSpPr>
            <a:spLocks noGrp="1"/>
          </p:cNvSpPr>
          <p:nvPr>
            <p:ph idx="1"/>
          </p:nvPr>
        </p:nvSpPr>
        <p:spPr/>
        <p:txBody>
          <a:bodyPr>
            <a:normAutofit fontScale="92500" lnSpcReduction="10000"/>
          </a:bodyPr>
          <a:lstStyle/>
          <a:p>
            <a:pPr fontAlgn="base"/>
            <a:r>
              <a:rPr lang="en-US" b="1" i="0" dirty="0">
                <a:solidFill>
                  <a:srgbClr val="273239"/>
                </a:solidFill>
                <a:effectLst/>
              </a:rPr>
              <a:t>Initial State: </a:t>
            </a:r>
            <a:r>
              <a:rPr lang="en-US" b="0" i="0" dirty="0">
                <a:solidFill>
                  <a:srgbClr val="273239"/>
                </a:solidFill>
                <a:effectLst/>
              </a:rPr>
              <a:t>This state requires an initial state for the problem which starts the AI agent towards a specified goal. In this state new methods also initialize problem domain solving by a specific class.</a:t>
            </a:r>
          </a:p>
          <a:p>
            <a:pPr fontAlgn="base"/>
            <a:r>
              <a:rPr lang="en-US" b="1" i="0" dirty="0">
                <a:solidFill>
                  <a:srgbClr val="273239"/>
                </a:solidFill>
                <a:effectLst/>
              </a:rPr>
              <a:t>Action:</a:t>
            </a:r>
            <a:r>
              <a:rPr lang="en-US" b="0" i="0" dirty="0">
                <a:solidFill>
                  <a:srgbClr val="273239"/>
                </a:solidFill>
                <a:effectLst/>
              </a:rPr>
              <a:t> This stage of problem formulation works with function with a specific class taken from the initial state and all possible actions done in this stage.</a:t>
            </a:r>
          </a:p>
          <a:p>
            <a:pPr fontAlgn="base"/>
            <a:r>
              <a:rPr lang="en-US" b="1" i="0" dirty="0">
                <a:solidFill>
                  <a:srgbClr val="273239"/>
                </a:solidFill>
                <a:effectLst/>
              </a:rPr>
              <a:t>Transition: </a:t>
            </a:r>
            <a:r>
              <a:rPr lang="en-US" b="0" i="0" dirty="0">
                <a:solidFill>
                  <a:srgbClr val="273239"/>
                </a:solidFill>
                <a:effectLst/>
              </a:rPr>
              <a:t>This stage of problem formulation integrates the actual action done by the previous action stage and collects the final stage to forward it to their next stage.</a:t>
            </a:r>
          </a:p>
          <a:p>
            <a:pPr fontAlgn="base"/>
            <a:r>
              <a:rPr lang="en-US" b="1" i="0" dirty="0">
                <a:solidFill>
                  <a:srgbClr val="273239"/>
                </a:solidFill>
                <a:effectLst/>
              </a:rPr>
              <a:t>Goal test: </a:t>
            </a:r>
            <a:r>
              <a:rPr lang="en-US" b="0" i="0" dirty="0">
                <a:solidFill>
                  <a:srgbClr val="273239"/>
                </a:solidFill>
                <a:effectLst/>
              </a:rPr>
              <a:t>This stage determines that the specified goal achieved by the integrated transition model or not, whenever the goal achieves stop the action and forward into the next stage to determines the cost to achieve the goal.  </a:t>
            </a:r>
          </a:p>
          <a:p>
            <a:pPr fontAlgn="base"/>
            <a:r>
              <a:rPr lang="en-US" b="1" i="0" dirty="0">
                <a:solidFill>
                  <a:srgbClr val="273239"/>
                </a:solidFill>
                <a:effectLst/>
              </a:rPr>
              <a:t>Path costing: </a:t>
            </a:r>
            <a:r>
              <a:rPr lang="en-US" b="0" i="0" dirty="0">
                <a:solidFill>
                  <a:srgbClr val="273239"/>
                </a:solidFill>
                <a:effectLst/>
              </a:rPr>
              <a:t>This component of problem-solving numerical assigned what will be the cost to achieve the goal. It requires all hardware software and human working cost.</a:t>
            </a:r>
          </a:p>
          <a:p>
            <a:r>
              <a:rPr lang="en-US" sz="1800" b="0" i="0" dirty="0">
                <a:solidFill>
                  <a:srgbClr val="273239"/>
                </a:solidFill>
                <a:effectLst/>
              </a:rPr>
              <a:t/>
            </a:r>
            <a:br>
              <a:rPr lang="en-US" sz="1800" b="0" i="0" dirty="0">
                <a:solidFill>
                  <a:srgbClr val="273239"/>
                </a:solidFill>
                <a:effectLst/>
              </a:rPr>
            </a:br>
            <a:endParaRPr lang="en-IN" dirty="0"/>
          </a:p>
        </p:txBody>
      </p:sp>
      <p:sp>
        <p:nvSpPr>
          <p:cNvPr id="4" name="Footer Placeholder 3">
            <a:extLst>
              <a:ext uri="{FF2B5EF4-FFF2-40B4-BE49-F238E27FC236}">
                <a16:creationId xmlns:a16="http://schemas.microsoft.com/office/drawing/2014/main" xmlns="" id="{A0A954D6-2E5C-93BB-8D12-89B0E5D817B0}"/>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D34BAC93-40DE-67D7-C7E4-163506423DFB}"/>
              </a:ext>
            </a:extLst>
          </p:cNvPr>
          <p:cNvSpPr>
            <a:spLocks noGrp="1"/>
          </p:cNvSpPr>
          <p:nvPr>
            <p:ph type="sldNum" sz="quarter" idx="12"/>
          </p:nvPr>
        </p:nvSpPr>
        <p:spPr/>
        <p:txBody>
          <a:bodyPr/>
          <a:lstStyle/>
          <a:p>
            <a:fld id="{1E81A027-E3F7-4FC9-A752-E855AD4A687D}" type="slidenum">
              <a:rPr lang="en-IN" smtClean="0"/>
              <a:t>9</a:t>
            </a:fld>
            <a:endParaRPr lang="en-IN"/>
          </a:p>
        </p:txBody>
      </p:sp>
    </p:spTree>
    <p:extLst>
      <p:ext uri="{BB962C8B-B14F-4D97-AF65-F5344CB8AC3E}">
        <p14:creationId xmlns:p14="http://schemas.microsoft.com/office/powerpoint/2010/main" val="5145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89E0EFBE-88ED-B305-B72F-7817752719D7}"/>
              </a:ext>
            </a:extLst>
          </p:cNvPr>
          <p:cNvSpPr/>
          <p:nvPr/>
        </p:nvSpPr>
        <p:spPr>
          <a:xfrm>
            <a:off x="1179871" y="1838632"/>
            <a:ext cx="9975809" cy="1590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xmlns="" id="{4E01A844-DAFE-9CEF-3C53-6A1EA10C971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EFB0FCB-CBA6-93A7-3761-5CAAC49259CE}"/>
              </a:ext>
            </a:extLst>
          </p:cNvPr>
          <p:cNvSpPr>
            <a:spLocks noGrp="1"/>
          </p:cNvSpPr>
          <p:nvPr>
            <p:ph idx="1"/>
          </p:nvPr>
        </p:nvSpPr>
        <p:spPr/>
        <p:txBody>
          <a:bodyPr>
            <a:normAutofit/>
          </a:bodyPr>
          <a:lstStyle/>
          <a:p>
            <a:pPr algn="ctr"/>
            <a:r>
              <a:rPr lang="en-US" sz="2800" b="1" i="1" dirty="0">
                <a:solidFill>
                  <a:schemeClr val="bg1"/>
                </a:solidFill>
                <a:effectLst/>
                <a:latin typeface="Times-Italic"/>
              </a:rPr>
              <a:t>an agent with several immediate options of unknown value can decide what to do by first examining </a:t>
            </a:r>
            <a:r>
              <a:rPr lang="en-US" sz="2800" b="1" dirty="0">
                <a:solidFill>
                  <a:schemeClr val="bg1"/>
                </a:solidFill>
                <a:effectLst/>
                <a:latin typeface="Times-Roman"/>
              </a:rPr>
              <a:t>future </a:t>
            </a:r>
            <a:r>
              <a:rPr lang="en-US" sz="2800" b="1" i="1" dirty="0">
                <a:solidFill>
                  <a:schemeClr val="bg1"/>
                </a:solidFill>
                <a:effectLst/>
                <a:latin typeface="Times-Italic"/>
              </a:rPr>
              <a:t>actions that eventually lead to states of known value.</a:t>
            </a:r>
            <a:endParaRPr lang="en-IN" sz="3200" b="1" dirty="0">
              <a:solidFill>
                <a:schemeClr val="bg1"/>
              </a:solidFill>
            </a:endParaRPr>
          </a:p>
        </p:txBody>
      </p:sp>
      <p:sp>
        <p:nvSpPr>
          <p:cNvPr id="4" name="Footer Placeholder 3">
            <a:extLst>
              <a:ext uri="{FF2B5EF4-FFF2-40B4-BE49-F238E27FC236}">
                <a16:creationId xmlns:a16="http://schemas.microsoft.com/office/drawing/2014/main" xmlns="" id="{B91D880F-C7FC-A91C-7623-A999B03C7FCE}"/>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1627C9EC-1AC9-884E-EC09-58F3886AEFC4}"/>
              </a:ext>
            </a:extLst>
          </p:cNvPr>
          <p:cNvSpPr>
            <a:spLocks noGrp="1"/>
          </p:cNvSpPr>
          <p:nvPr>
            <p:ph type="sldNum" sz="quarter" idx="12"/>
          </p:nvPr>
        </p:nvSpPr>
        <p:spPr/>
        <p:txBody>
          <a:bodyPr/>
          <a:lstStyle/>
          <a:p>
            <a:fld id="{1E81A027-E3F7-4FC9-A752-E855AD4A687D}" type="slidenum">
              <a:rPr lang="en-IN" smtClean="0"/>
              <a:t>10</a:t>
            </a:fld>
            <a:endParaRPr lang="en-IN"/>
          </a:p>
        </p:txBody>
      </p:sp>
    </p:spTree>
    <p:extLst>
      <p:ext uri="{BB962C8B-B14F-4D97-AF65-F5344CB8AC3E}">
        <p14:creationId xmlns:p14="http://schemas.microsoft.com/office/powerpoint/2010/main" val="1652525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74601E37-174C-050A-9376-B07F1784D956}"/>
              </a:ext>
            </a:extLst>
          </p:cNvPr>
          <p:cNvSpPr/>
          <p:nvPr/>
        </p:nvSpPr>
        <p:spPr>
          <a:xfrm>
            <a:off x="1620317" y="4394633"/>
            <a:ext cx="9320979" cy="11798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xmlns="" id="{60BCD519-92DE-E43E-AE7A-E70A86721CC4}"/>
              </a:ext>
            </a:extLst>
          </p:cNvPr>
          <p:cNvSpPr>
            <a:spLocks noGrp="1"/>
          </p:cNvSpPr>
          <p:nvPr>
            <p:ph type="title"/>
          </p:nvPr>
        </p:nvSpPr>
        <p:spPr/>
        <p:txBody>
          <a:bodyPr/>
          <a:lstStyle/>
          <a:p>
            <a:r>
              <a:rPr lang="en-IN" dirty="0">
                <a:solidFill>
                  <a:srgbClr val="000000"/>
                </a:solidFill>
              </a:rPr>
              <a:t>P</a:t>
            </a:r>
            <a:r>
              <a:rPr lang="en-IN" sz="4800" dirty="0">
                <a:solidFill>
                  <a:srgbClr val="000000"/>
                </a:solidFill>
                <a:effectLst/>
              </a:rPr>
              <a:t>roperties of the Environment</a:t>
            </a:r>
            <a:endParaRPr lang="en-IN" dirty="0"/>
          </a:p>
        </p:txBody>
      </p:sp>
      <p:sp>
        <p:nvSpPr>
          <p:cNvPr id="3" name="Content Placeholder 2">
            <a:extLst>
              <a:ext uri="{FF2B5EF4-FFF2-40B4-BE49-F238E27FC236}">
                <a16:creationId xmlns:a16="http://schemas.microsoft.com/office/drawing/2014/main" xmlns="" id="{41A90174-7F70-214B-DB79-D0E58658B3D6}"/>
              </a:ext>
            </a:extLst>
          </p:cNvPr>
          <p:cNvSpPr>
            <a:spLocks noGrp="1"/>
          </p:cNvSpPr>
          <p:nvPr>
            <p:ph idx="1"/>
          </p:nvPr>
        </p:nvSpPr>
        <p:spPr/>
        <p:txBody>
          <a:bodyPr/>
          <a:lstStyle/>
          <a:p>
            <a:r>
              <a:rPr lang="en-IN" sz="2400" dirty="0">
                <a:solidFill>
                  <a:srgbClr val="000000"/>
                </a:solidFill>
                <a:effectLst/>
              </a:rPr>
              <a:t>properties of the environment</a:t>
            </a:r>
          </a:p>
          <a:p>
            <a:pPr lvl="1"/>
            <a:r>
              <a:rPr lang="en-IN" sz="2400" b="1" dirty="0">
                <a:solidFill>
                  <a:srgbClr val="000000"/>
                </a:solidFill>
                <a:effectLst/>
              </a:rPr>
              <a:t>Observable</a:t>
            </a:r>
            <a:r>
              <a:rPr lang="en-IN" sz="2400" b="1" dirty="0">
                <a:solidFill>
                  <a:srgbClr val="000000"/>
                </a:solidFill>
              </a:rPr>
              <a:t>: </a:t>
            </a:r>
            <a:r>
              <a:rPr lang="en-US" sz="2400" dirty="0">
                <a:solidFill>
                  <a:srgbClr val="000000"/>
                </a:solidFill>
                <a:effectLst/>
              </a:rPr>
              <a:t>agent always knows the current state</a:t>
            </a:r>
            <a:endParaRPr lang="en-IN" sz="2400" dirty="0">
              <a:solidFill>
                <a:srgbClr val="000000"/>
              </a:solidFill>
            </a:endParaRPr>
          </a:p>
          <a:p>
            <a:pPr lvl="1"/>
            <a:r>
              <a:rPr lang="en-IN" sz="2400" b="1" dirty="0">
                <a:solidFill>
                  <a:srgbClr val="000000"/>
                </a:solidFill>
                <a:effectLst/>
              </a:rPr>
              <a:t>Discrete: </a:t>
            </a:r>
            <a:r>
              <a:rPr lang="en-US" sz="2400" dirty="0">
                <a:solidFill>
                  <a:srgbClr val="000000"/>
                </a:solidFill>
                <a:effectLst/>
              </a:rPr>
              <a:t>at any given state there are only finitely many actions to choose from</a:t>
            </a:r>
          </a:p>
          <a:p>
            <a:pPr lvl="1"/>
            <a:r>
              <a:rPr lang="en-IN" sz="2400" b="1" dirty="0">
                <a:solidFill>
                  <a:srgbClr val="000000"/>
                </a:solidFill>
                <a:effectLst/>
              </a:rPr>
              <a:t>Known</a:t>
            </a:r>
            <a:r>
              <a:rPr lang="en-US" sz="2400" b="1" dirty="0">
                <a:solidFill>
                  <a:srgbClr val="000000"/>
                </a:solidFill>
              </a:rPr>
              <a:t>: </a:t>
            </a:r>
            <a:r>
              <a:rPr lang="en-US" sz="2400" dirty="0">
                <a:solidFill>
                  <a:srgbClr val="000000"/>
                </a:solidFill>
                <a:effectLst/>
              </a:rPr>
              <a:t>agent knows which states are reached by each action.</a:t>
            </a:r>
          </a:p>
          <a:p>
            <a:pPr lvl="1"/>
            <a:r>
              <a:rPr lang="en-IN" sz="2400" b="1" dirty="0">
                <a:solidFill>
                  <a:srgbClr val="000000"/>
                </a:solidFill>
                <a:effectLst/>
              </a:rPr>
              <a:t>Deterministic</a:t>
            </a:r>
            <a:r>
              <a:rPr lang="en-US" sz="2400" b="1" dirty="0">
                <a:solidFill>
                  <a:srgbClr val="000000"/>
                </a:solidFill>
              </a:rPr>
              <a:t>: </a:t>
            </a:r>
            <a:r>
              <a:rPr lang="en-US" sz="2400" dirty="0">
                <a:solidFill>
                  <a:srgbClr val="000000"/>
                </a:solidFill>
                <a:effectLst/>
              </a:rPr>
              <a:t>each action has exactly one outcome</a:t>
            </a:r>
          </a:p>
          <a:p>
            <a:pPr marL="201168" lvl="1" indent="0">
              <a:buNone/>
            </a:pPr>
            <a:endParaRPr lang="en-IN" dirty="0">
              <a:solidFill>
                <a:srgbClr val="000000"/>
              </a:solidFill>
              <a:effectLst/>
            </a:endParaRPr>
          </a:p>
          <a:p>
            <a:pPr marL="0" algn="ctr">
              <a:buNone/>
            </a:pPr>
            <a:r>
              <a:rPr lang="en-US" b="1" i="1" dirty="0">
                <a:solidFill>
                  <a:schemeClr val="bg1"/>
                </a:solidFill>
                <a:effectLst/>
              </a:rPr>
              <a:t>Under these assumptions, the solution to any problem is a fixed sequence of actions</a:t>
            </a:r>
            <a:endParaRPr lang="en-IN" sz="2400" b="1" dirty="0">
              <a:solidFill>
                <a:schemeClr val="bg1"/>
              </a:solidFill>
            </a:endParaRPr>
          </a:p>
        </p:txBody>
      </p:sp>
      <p:sp>
        <p:nvSpPr>
          <p:cNvPr id="4" name="Footer Placeholder 3">
            <a:extLst>
              <a:ext uri="{FF2B5EF4-FFF2-40B4-BE49-F238E27FC236}">
                <a16:creationId xmlns:a16="http://schemas.microsoft.com/office/drawing/2014/main" xmlns="" id="{182C9D4A-EC82-1094-85D4-C03DCC404EF0}"/>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90CED53D-3470-1BE2-AEDD-76B78995886A}"/>
              </a:ext>
            </a:extLst>
          </p:cNvPr>
          <p:cNvSpPr>
            <a:spLocks noGrp="1"/>
          </p:cNvSpPr>
          <p:nvPr>
            <p:ph type="sldNum" sz="quarter" idx="12"/>
          </p:nvPr>
        </p:nvSpPr>
        <p:spPr/>
        <p:txBody>
          <a:bodyPr/>
          <a:lstStyle/>
          <a:p>
            <a:fld id="{1E81A027-E3F7-4FC9-A752-E855AD4A687D}" type="slidenum">
              <a:rPr lang="en-IN" smtClean="0"/>
              <a:t>11</a:t>
            </a:fld>
            <a:endParaRPr lang="en-IN"/>
          </a:p>
        </p:txBody>
      </p:sp>
    </p:spTree>
    <p:extLst>
      <p:ext uri="{BB962C8B-B14F-4D97-AF65-F5344CB8AC3E}">
        <p14:creationId xmlns:p14="http://schemas.microsoft.com/office/powerpoint/2010/main" val="3841481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936D123F-66EE-F494-628F-5634FD786509}"/>
              </a:ext>
            </a:extLst>
          </p:cNvPr>
          <p:cNvSpPr/>
          <p:nvPr/>
        </p:nvSpPr>
        <p:spPr>
          <a:xfrm>
            <a:off x="2831690" y="4857135"/>
            <a:ext cx="6803923" cy="8947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xmlns="" id="{8AC974BF-CD21-DABD-6185-34FD6CC910FA}"/>
              </a:ext>
            </a:extLst>
          </p:cNvPr>
          <p:cNvSpPr>
            <a:spLocks noGrp="1"/>
          </p:cNvSpPr>
          <p:nvPr>
            <p:ph type="title"/>
          </p:nvPr>
        </p:nvSpPr>
        <p:spPr/>
        <p:txBody>
          <a:bodyPr/>
          <a:lstStyle/>
          <a:p>
            <a:r>
              <a:rPr lang="en-US" altLang="zh-TW" dirty="0">
                <a:solidFill>
                  <a:schemeClr val="tx1">
                    <a:lumMod val="75000"/>
                    <a:lumOff val="25000"/>
                  </a:schemeClr>
                </a:solidFill>
              </a:rPr>
              <a:t>Search</a:t>
            </a:r>
            <a:endParaRPr lang="en-IN" dirty="0"/>
          </a:p>
        </p:txBody>
      </p:sp>
      <p:sp>
        <p:nvSpPr>
          <p:cNvPr id="3" name="Content Placeholder 2">
            <a:extLst>
              <a:ext uri="{FF2B5EF4-FFF2-40B4-BE49-F238E27FC236}">
                <a16:creationId xmlns:a16="http://schemas.microsoft.com/office/drawing/2014/main" xmlns="" id="{0B375CAF-5BB7-78F2-CCDA-D873E2BB20B6}"/>
              </a:ext>
            </a:extLst>
          </p:cNvPr>
          <p:cNvSpPr>
            <a:spLocks noGrp="1"/>
          </p:cNvSpPr>
          <p:nvPr>
            <p:ph idx="1"/>
          </p:nvPr>
        </p:nvSpPr>
        <p:spPr/>
        <p:txBody>
          <a:bodyPr>
            <a:normAutofit/>
          </a:bodyPr>
          <a:lstStyle/>
          <a:p>
            <a:r>
              <a:rPr lang="en-US" sz="2600" dirty="0">
                <a:solidFill>
                  <a:srgbClr val="0C0C12"/>
                </a:solidFill>
              </a:rPr>
              <a:t>The process of looking for a sequence of actions that reaches the goal is called </a:t>
            </a:r>
            <a:r>
              <a:rPr lang="en-US" sz="2600" b="1" dirty="0">
                <a:solidFill>
                  <a:srgbClr val="0C0C12"/>
                </a:solidFill>
              </a:rPr>
              <a:t>search</a:t>
            </a:r>
          </a:p>
          <a:p>
            <a:r>
              <a:rPr lang="en-US" sz="2600" dirty="0">
                <a:solidFill>
                  <a:srgbClr val="0C0C12"/>
                </a:solidFill>
              </a:rPr>
              <a:t>A search algorithm takes a problem as input and returns a </a:t>
            </a:r>
            <a:r>
              <a:rPr lang="en-US" sz="2600" b="1" dirty="0">
                <a:solidFill>
                  <a:srgbClr val="0C0C12"/>
                </a:solidFill>
              </a:rPr>
              <a:t>solution</a:t>
            </a:r>
            <a:r>
              <a:rPr lang="en-US" sz="2600" dirty="0">
                <a:solidFill>
                  <a:srgbClr val="0C0C12"/>
                </a:solidFill>
              </a:rPr>
              <a:t> in the form of an action sequence</a:t>
            </a:r>
            <a:endParaRPr lang="en-IN" sz="2600" dirty="0">
              <a:solidFill>
                <a:srgbClr val="0C0C12"/>
              </a:solidFill>
            </a:endParaRPr>
          </a:p>
          <a:p>
            <a:r>
              <a:rPr lang="en-US" sz="2600" dirty="0">
                <a:solidFill>
                  <a:srgbClr val="0C0C12"/>
                </a:solidFill>
              </a:rPr>
              <a:t>Once a solution is found, the actions it recommends can be carried out. This is called the </a:t>
            </a:r>
            <a:r>
              <a:rPr lang="en-US" sz="2600" b="1" dirty="0">
                <a:solidFill>
                  <a:srgbClr val="0C0C12"/>
                </a:solidFill>
              </a:rPr>
              <a:t>execution</a:t>
            </a:r>
            <a:r>
              <a:rPr lang="en-US" sz="2600" dirty="0">
                <a:solidFill>
                  <a:srgbClr val="0C0C12"/>
                </a:solidFill>
              </a:rPr>
              <a:t> phase</a:t>
            </a:r>
          </a:p>
          <a:p>
            <a:pPr algn="ctr"/>
            <a:endParaRPr lang="en-US" sz="2600" dirty="0">
              <a:solidFill>
                <a:srgbClr val="0C0C12"/>
              </a:solidFill>
            </a:endParaRPr>
          </a:p>
          <a:p>
            <a:pPr algn="ctr"/>
            <a:r>
              <a:rPr lang="en-US" sz="2600" b="1" dirty="0">
                <a:solidFill>
                  <a:schemeClr val="bg1"/>
                </a:solidFill>
              </a:rPr>
              <a:t>Agent has a “formulate, search, execute” design</a:t>
            </a:r>
            <a:endParaRPr lang="en-IN" sz="2600" b="1" dirty="0">
              <a:solidFill>
                <a:schemeClr val="bg1"/>
              </a:solidFill>
            </a:endParaRPr>
          </a:p>
        </p:txBody>
      </p:sp>
      <p:sp>
        <p:nvSpPr>
          <p:cNvPr id="4" name="Footer Placeholder 3">
            <a:extLst>
              <a:ext uri="{FF2B5EF4-FFF2-40B4-BE49-F238E27FC236}">
                <a16:creationId xmlns:a16="http://schemas.microsoft.com/office/drawing/2014/main" xmlns="" id="{9F731EFB-EB90-0E0F-656B-98636F7DCEE0}"/>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E0DB3C24-1E90-EFFB-EB54-826F7EBDB148}"/>
              </a:ext>
            </a:extLst>
          </p:cNvPr>
          <p:cNvSpPr>
            <a:spLocks noGrp="1"/>
          </p:cNvSpPr>
          <p:nvPr>
            <p:ph type="sldNum" sz="quarter" idx="12"/>
          </p:nvPr>
        </p:nvSpPr>
        <p:spPr/>
        <p:txBody>
          <a:bodyPr/>
          <a:lstStyle/>
          <a:p>
            <a:fld id="{1E81A027-E3F7-4FC9-A752-E855AD4A687D}" type="slidenum">
              <a:rPr lang="en-IN" smtClean="0"/>
              <a:t>12</a:t>
            </a:fld>
            <a:endParaRPr lang="en-IN"/>
          </a:p>
        </p:txBody>
      </p:sp>
    </p:spTree>
    <p:extLst>
      <p:ext uri="{BB962C8B-B14F-4D97-AF65-F5344CB8AC3E}">
        <p14:creationId xmlns:p14="http://schemas.microsoft.com/office/powerpoint/2010/main" val="3641980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216A52-802D-261C-DB15-93CF26EBCAA3}"/>
              </a:ext>
            </a:extLst>
          </p:cNvPr>
          <p:cNvSpPr>
            <a:spLocks noGrp="1"/>
          </p:cNvSpPr>
          <p:nvPr>
            <p:ph type="title"/>
          </p:nvPr>
        </p:nvSpPr>
        <p:spPr/>
        <p:txBody>
          <a:bodyPr/>
          <a:lstStyle/>
          <a:p>
            <a:r>
              <a:rPr lang="en-IN" dirty="0"/>
              <a:t>Searching Process</a:t>
            </a:r>
          </a:p>
        </p:txBody>
      </p:sp>
      <p:sp>
        <p:nvSpPr>
          <p:cNvPr id="3" name="Content Placeholder 2">
            <a:extLst>
              <a:ext uri="{FF2B5EF4-FFF2-40B4-BE49-F238E27FC236}">
                <a16:creationId xmlns:a16="http://schemas.microsoft.com/office/drawing/2014/main" xmlns="" id="{E06B08B0-6A82-B232-2DD5-F14EB4428473}"/>
              </a:ext>
            </a:extLst>
          </p:cNvPr>
          <p:cNvSpPr>
            <a:spLocks noGrp="1"/>
          </p:cNvSpPr>
          <p:nvPr>
            <p:ph idx="1"/>
          </p:nvPr>
        </p:nvSpPr>
        <p:spPr/>
        <p:txBody>
          <a:bodyPr>
            <a:normAutofit/>
          </a:bodyPr>
          <a:lstStyle/>
          <a:p>
            <a:pPr marL="342900" indent="-342900">
              <a:buFont typeface="+mj-lt"/>
              <a:buAutoNum type="arabicPeriod"/>
            </a:pPr>
            <a:r>
              <a:rPr lang="en-US" sz="2400" dirty="0">
                <a:solidFill>
                  <a:srgbClr val="000000"/>
                </a:solidFill>
              </a:rPr>
              <a:t> F</a:t>
            </a:r>
            <a:r>
              <a:rPr lang="en-US" sz="2400" dirty="0">
                <a:solidFill>
                  <a:srgbClr val="000000"/>
                </a:solidFill>
                <a:effectLst/>
              </a:rPr>
              <a:t>ormulate a goal and a problem to solve, </a:t>
            </a:r>
            <a:endParaRPr lang="en-US" sz="2800" dirty="0"/>
          </a:p>
          <a:p>
            <a:pPr marL="342900" indent="-342900">
              <a:buFont typeface="+mj-lt"/>
              <a:buAutoNum type="arabicPeriod"/>
            </a:pPr>
            <a:r>
              <a:rPr lang="en-US" sz="2400" dirty="0">
                <a:solidFill>
                  <a:srgbClr val="000000"/>
                </a:solidFill>
                <a:effectLst/>
              </a:rPr>
              <a:t>the agent calls a search procedure to solve it </a:t>
            </a:r>
          </a:p>
          <a:p>
            <a:pPr marL="342900" indent="-342900">
              <a:buFont typeface="+mj-lt"/>
              <a:buAutoNum type="arabicPeriod"/>
            </a:pPr>
            <a:r>
              <a:rPr lang="en-US" sz="2400" dirty="0">
                <a:solidFill>
                  <a:srgbClr val="000000"/>
                </a:solidFill>
                <a:effectLst/>
              </a:rPr>
              <a:t>Agent uses the solution to guide its actions, </a:t>
            </a:r>
            <a:endParaRPr lang="en-US" sz="2800" dirty="0"/>
          </a:p>
          <a:p>
            <a:pPr marL="342900" indent="-342900">
              <a:buFont typeface="+mj-lt"/>
              <a:buAutoNum type="arabicPeriod"/>
            </a:pPr>
            <a:r>
              <a:rPr lang="en-US" sz="2400" dirty="0">
                <a:solidFill>
                  <a:srgbClr val="000000"/>
                </a:solidFill>
                <a:effectLst/>
              </a:rPr>
              <a:t>do whatever the solution recommends </a:t>
            </a:r>
          </a:p>
          <a:p>
            <a:pPr marL="342900" indent="-342900">
              <a:buFont typeface="+mj-lt"/>
              <a:buAutoNum type="arabicPeriod"/>
            </a:pPr>
            <a:r>
              <a:rPr lang="en-US" sz="2400" dirty="0">
                <a:solidFill>
                  <a:srgbClr val="000000"/>
                </a:solidFill>
                <a:effectLst/>
              </a:rPr>
              <a:t>remove that step from the sequence. </a:t>
            </a:r>
          </a:p>
          <a:p>
            <a:pPr marL="342900" indent="-342900">
              <a:buFont typeface="+mj-lt"/>
              <a:buAutoNum type="arabicPeriod"/>
            </a:pPr>
            <a:r>
              <a:rPr lang="en-US" sz="2400" dirty="0">
                <a:solidFill>
                  <a:srgbClr val="000000"/>
                </a:solidFill>
                <a:effectLst/>
              </a:rPr>
              <a:t>Once the solution has been executed, the agent will formulate a new goal.</a:t>
            </a:r>
            <a:endParaRPr lang="en-IN" sz="2800" dirty="0"/>
          </a:p>
        </p:txBody>
      </p:sp>
      <p:sp>
        <p:nvSpPr>
          <p:cNvPr id="4" name="Footer Placeholder 3">
            <a:extLst>
              <a:ext uri="{FF2B5EF4-FFF2-40B4-BE49-F238E27FC236}">
                <a16:creationId xmlns:a16="http://schemas.microsoft.com/office/drawing/2014/main" xmlns="" id="{5991C40D-ACAA-B3B3-92D6-9EF8284680B2}"/>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014C4770-7ED2-84FD-ED40-8300D6139D4B}"/>
              </a:ext>
            </a:extLst>
          </p:cNvPr>
          <p:cNvSpPr>
            <a:spLocks noGrp="1"/>
          </p:cNvSpPr>
          <p:nvPr>
            <p:ph type="sldNum" sz="quarter" idx="12"/>
          </p:nvPr>
        </p:nvSpPr>
        <p:spPr/>
        <p:txBody>
          <a:bodyPr/>
          <a:lstStyle/>
          <a:p>
            <a:fld id="{1E81A027-E3F7-4FC9-A752-E855AD4A687D}" type="slidenum">
              <a:rPr lang="en-IN" smtClean="0"/>
              <a:t>13</a:t>
            </a:fld>
            <a:endParaRPr lang="en-IN"/>
          </a:p>
        </p:txBody>
      </p:sp>
    </p:spTree>
    <p:extLst>
      <p:ext uri="{BB962C8B-B14F-4D97-AF65-F5344CB8AC3E}">
        <p14:creationId xmlns:p14="http://schemas.microsoft.com/office/powerpoint/2010/main" val="3345165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75C866-B4E2-3EEF-640B-2D6520BD7D03}"/>
              </a:ext>
            </a:extLst>
          </p:cNvPr>
          <p:cNvSpPr>
            <a:spLocks noGrp="1"/>
          </p:cNvSpPr>
          <p:nvPr>
            <p:ph type="title"/>
          </p:nvPr>
        </p:nvSpPr>
        <p:spPr/>
        <p:txBody>
          <a:bodyPr>
            <a:normAutofit/>
          </a:bodyPr>
          <a:lstStyle/>
          <a:p>
            <a:r>
              <a:rPr lang="en-IN" dirty="0">
                <a:solidFill>
                  <a:srgbClr val="000000"/>
                </a:solidFill>
              </a:rPr>
              <a:t>O</a:t>
            </a:r>
            <a:r>
              <a:rPr lang="en-IN" dirty="0">
                <a:solidFill>
                  <a:srgbClr val="000000"/>
                </a:solidFill>
                <a:effectLst/>
              </a:rPr>
              <a:t>pen-loop system</a:t>
            </a:r>
            <a:endParaRPr lang="en-IN" dirty="0"/>
          </a:p>
        </p:txBody>
      </p:sp>
      <p:sp>
        <p:nvSpPr>
          <p:cNvPr id="3" name="Content Placeholder 2">
            <a:extLst>
              <a:ext uri="{FF2B5EF4-FFF2-40B4-BE49-F238E27FC236}">
                <a16:creationId xmlns:a16="http://schemas.microsoft.com/office/drawing/2014/main" xmlns="" id="{28616904-7B8B-8A65-37BE-FF67BA5B3A78}"/>
              </a:ext>
            </a:extLst>
          </p:cNvPr>
          <p:cNvSpPr>
            <a:spLocks noGrp="1"/>
          </p:cNvSpPr>
          <p:nvPr>
            <p:ph idx="1"/>
          </p:nvPr>
        </p:nvSpPr>
        <p:spPr/>
        <p:txBody>
          <a:bodyPr>
            <a:normAutofit/>
          </a:bodyPr>
          <a:lstStyle/>
          <a:p>
            <a:r>
              <a:rPr lang="en-US" sz="2800" dirty="0">
                <a:solidFill>
                  <a:srgbClr val="000000"/>
                </a:solidFill>
                <a:effectLst/>
              </a:rPr>
              <a:t>while the </a:t>
            </a:r>
            <a:r>
              <a:rPr lang="en-US" sz="2800" dirty="0">
                <a:solidFill>
                  <a:srgbClr val="FF0000"/>
                </a:solidFill>
                <a:effectLst/>
              </a:rPr>
              <a:t>agent is</a:t>
            </a:r>
            <a:r>
              <a:rPr lang="en-US" sz="2800" dirty="0">
                <a:solidFill>
                  <a:srgbClr val="000000"/>
                </a:solidFill>
                <a:effectLst/>
              </a:rPr>
              <a:t> </a:t>
            </a:r>
            <a:r>
              <a:rPr lang="en-US" sz="2800" dirty="0">
                <a:solidFill>
                  <a:srgbClr val="FF0000"/>
                </a:solidFill>
                <a:effectLst/>
              </a:rPr>
              <a:t>executing the solution </a:t>
            </a:r>
            <a:r>
              <a:rPr lang="en-US" sz="2800" dirty="0">
                <a:solidFill>
                  <a:srgbClr val="000000"/>
                </a:solidFill>
                <a:effectLst/>
              </a:rPr>
              <a:t>sequence </a:t>
            </a:r>
            <a:r>
              <a:rPr lang="en-US" sz="2800" dirty="0">
                <a:solidFill>
                  <a:srgbClr val="FF0000"/>
                </a:solidFill>
                <a:effectLst/>
              </a:rPr>
              <a:t>it </a:t>
            </a:r>
            <a:r>
              <a:rPr lang="en-US" sz="2800" i="1" dirty="0">
                <a:solidFill>
                  <a:srgbClr val="FF0000"/>
                </a:solidFill>
                <a:effectLst/>
              </a:rPr>
              <a:t>ignores its percepts </a:t>
            </a:r>
            <a:r>
              <a:rPr lang="en-US" sz="2800" dirty="0">
                <a:solidFill>
                  <a:srgbClr val="000000"/>
                </a:solidFill>
                <a:effectLst/>
              </a:rPr>
              <a:t>when choosing an action because it knows in advance what they will be</a:t>
            </a:r>
          </a:p>
          <a:p>
            <a:r>
              <a:rPr lang="en-US" sz="2800" dirty="0">
                <a:solidFill>
                  <a:srgbClr val="000000"/>
                </a:solidFill>
                <a:effectLst/>
              </a:rPr>
              <a:t>An agent that carries out its plans with its </a:t>
            </a:r>
            <a:r>
              <a:rPr lang="en-US" sz="2800" dirty="0">
                <a:solidFill>
                  <a:srgbClr val="FF0000"/>
                </a:solidFill>
                <a:effectLst/>
              </a:rPr>
              <a:t>eyes closed</a:t>
            </a:r>
            <a:r>
              <a:rPr lang="en-US" sz="2800" dirty="0">
                <a:solidFill>
                  <a:srgbClr val="000000"/>
                </a:solidFill>
                <a:effectLst/>
              </a:rPr>
              <a:t>, so to speak, must be quite certain of what is going on is an</a:t>
            </a:r>
            <a:r>
              <a:rPr lang="en-US" sz="2800" dirty="0">
                <a:solidFill>
                  <a:srgbClr val="FF0000"/>
                </a:solidFill>
                <a:effectLst/>
              </a:rPr>
              <a:t> open loop.</a:t>
            </a:r>
          </a:p>
          <a:p>
            <a:r>
              <a:rPr lang="en-US" sz="2800" b="1" dirty="0">
                <a:solidFill>
                  <a:srgbClr val="000000"/>
                </a:solidFill>
                <a:effectLst/>
              </a:rPr>
              <a:t>ignoring the percepts breaks the loop between agent and environment.</a:t>
            </a:r>
            <a:endParaRPr lang="en-IN" sz="3200" b="1" dirty="0"/>
          </a:p>
        </p:txBody>
      </p:sp>
      <p:sp>
        <p:nvSpPr>
          <p:cNvPr id="4" name="Footer Placeholder 3">
            <a:extLst>
              <a:ext uri="{FF2B5EF4-FFF2-40B4-BE49-F238E27FC236}">
                <a16:creationId xmlns:a16="http://schemas.microsoft.com/office/drawing/2014/main" xmlns="" id="{645714A1-2A7A-950E-B6CD-0737254200BD}"/>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55F2CE49-A2B3-5AD2-46D9-ED1E071E90F9}"/>
              </a:ext>
            </a:extLst>
          </p:cNvPr>
          <p:cNvSpPr>
            <a:spLocks noGrp="1"/>
          </p:cNvSpPr>
          <p:nvPr>
            <p:ph type="sldNum" sz="quarter" idx="12"/>
          </p:nvPr>
        </p:nvSpPr>
        <p:spPr/>
        <p:txBody>
          <a:bodyPr/>
          <a:lstStyle/>
          <a:p>
            <a:fld id="{1E81A027-E3F7-4FC9-A752-E855AD4A687D}" type="slidenum">
              <a:rPr lang="en-IN" smtClean="0"/>
              <a:t>14</a:t>
            </a:fld>
            <a:endParaRPr lang="en-IN"/>
          </a:p>
        </p:txBody>
      </p:sp>
    </p:spTree>
    <p:extLst>
      <p:ext uri="{BB962C8B-B14F-4D97-AF65-F5344CB8AC3E}">
        <p14:creationId xmlns:p14="http://schemas.microsoft.com/office/powerpoint/2010/main" val="3055884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DAB133-07F0-908E-3882-63B9A6ABF994}"/>
              </a:ext>
            </a:extLst>
          </p:cNvPr>
          <p:cNvSpPr>
            <a:spLocks noGrp="1"/>
          </p:cNvSpPr>
          <p:nvPr>
            <p:ph type="title"/>
          </p:nvPr>
        </p:nvSpPr>
        <p:spPr/>
        <p:txBody>
          <a:bodyPr>
            <a:normAutofit/>
          </a:bodyPr>
          <a:lstStyle/>
          <a:p>
            <a:r>
              <a:rPr lang="en-IN" dirty="0">
                <a:solidFill>
                  <a:srgbClr val="000000"/>
                </a:solidFill>
                <a:effectLst/>
              </a:rPr>
              <a:t>Well-defined problems and solutions</a:t>
            </a:r>
            <a:endParaRPr lang="en-IN" dirty="0"/>
          </a:p>
        </p:txBody>
      </p:sp>
      <p:sp>
        <p:nvSpPr>
          <p:cNvPr id="3" name="Content Placeholder 2">
            <a:extLst>
              <a:ext uri="{FF2B5EF4-FFF2-40B4-BE49-F238E27FC236}">
                <a16:creationId xmlns:a16="http://schemas.microsoft.com/office/drawing/2014/main" xmlns="" id="{9A7F7BB5-D8C2-58B6-DBE3-D2F123DE1C77}"/>
              </a:ext>
            </a:extLst>
          </p:cNvPr>
          <p:cNvSpPr>
            <a:spLocks noGrp="1"/>
          </p:cNvSpPr>
          <p:nvPr>
            <p:ph idx="1"/>
          </p:nvPr>
        </p:nvSpPr>
        <p:spPr>
          <a:xfrm>
            <a:off x="1097279" y="1845733"/>
            <a:ext cx="10544115" cy="4319094"/>
          </a:xfrm>
        </p:spPr>
        <p:txBody>
          <a:bodyPr>
            <a:normAutofit fontScale="92500" lnSpcReduction="10000"/>
          </a:bodyPr>
          <a:lstStyle/>
          <a:p>
            <a:r>
              <a:rPr lang="en-US" dirty="0">
                <a:solidFill>
                  <a:srgbClr val="000000"/>
                </a:solidFill>
                <a:effectLst/>
              </a:rPr>
              <a:t>A </a:t>
            </a:r>
            <a:r>
              <a:rPr lang="en-US" b="1" dirty="0">
                <a:solidFill>
                  <a:srgbClr val="000000"/>
                </a:solidFill>
                <a:effectLst/>
              </a:rPr>
              <a:t>problem </a:t>
            </a:r>
            <a:r>
              <a:rPr lang="en-US" dirty="0">
                <a:solidFill>
                  <a:srgbClr val="000000"/>
                </a:solidFill>
                <a:effectLst/>
              </a:rPr>
              <a:t>can be defined formally by following components:</a:t>
            </a:r>
          </a:p>
          <a:p>
            <a:pPr marL="342900" indent="-342900">
              <a:buFont typeface="+mj-lt"/>
              <a:buAutoNum type="arabicPeriod"/>
            </a:pPr>
            <a:r>
              <a:rPr lang="en-US" dirty="0">
                <a:solidFill>
                  <a:srgbClr val="000000"/>
                </a:solidFill>
                <a:effectLst/>
              </a:rPr>
              <a:t>The </a:t>
            </a:r>
            <a:r>
              <a:rPr lang="en-US" b="1" dirty="0">
                <a:solidFill>
                  <a:srgbClr val="000000"/>
                </a:solidFill>
                <a:effectLst/>
              </a:rPr>
              <a:t>initial state </a:t>
            </a:r>
            <a:r>
              <a:rPr lang="en-US" dirty="0">
                <a:solidFill>
                  <a:srgbClr val="000000"/>
                </a:solidFill>
                <a:effectLst/>
              </a:rPr>
              <a:t>that the agent starts in</a:t>
            </a:r>
          </a:p>
          <a:p>
            <a:pPr marL="342900" indent="-342900">
              <a:buFont typeface="+mj-lt"/>
              <a:buAutoNum type="arabicPeriod"/>
            </a:pPr>
            <a:r>
              <a:rPr lang="en-US" dirty="0">
                <a:solidFill>
                  <a:srgbClr val="000000"/>
                </a:solidFill>
                <a:effectLst/>
              </a:rPr>
              <a:t>A description of the possible </a:t>
            </a:r>
            <a:r>
              <a:rPr lang="en-US" b="1" dirty="0">
                <a:solidFill>
                  <a:srgbClr val="000000"/>
                </a:solidFill>
                <a:effectLst/>
              </a:rPr>
              <a:t>actions </a:t>
            </a:r>
            <a:r>
              <a:rPr lang="en-US" dirty="0">
                <a:solidFill>
                  <a:srgbClr val="000000"/>
                </a:solidFill>
                <a:effectLst/>
              </a:rPr>
              <a:t>available to the agent.</a:t>
            </a:r>
          </a:p>
          <a:p>
            <a:pPr lvl="1"/>
            <a:r>
              <a:rPr lang="en-US" sz="2000" dirty="0">
                <a:solidFill>
                  <a:srgbClr val="000000"/>
                </a:solidFill>
                <a:effectLst/>
              </a:rPr>
              <a:t>Given a particular state s, ACTIONS(s) returns the set of actions that can be executed in s. We say that each of these actions is </a:t>
            </a:r>
            <a:r>
              <a:rPr lang="en-US" sz="2000" b="1" dirty="0">
                <a:solidFill>
                  <a:srgbClr val="000000"/>
                </a:solidFill>
                <a:effectLst/>
              </a:rPr>
              <a:t>applicable </a:t>
            </a:r>
            <a:r>
              <a:rPr lang="en-US" sz="2000" dirty="0">
                <a:solidFill>
                  <a:srgbClr val="000000"/>
                </a:solidFill>
                <a:effectLst/>
              </a:rPr>
              <a:t>in s.</a:t>
            </a:r>
          </a:p>
          <a:p>
            <a:pPr lvl="1"/>
            <a:r>
              <a:rPr lang="en-US" sz="2000" dirty="0">
                <a:solidFill>
                  <a:srgbClr val="000000"/>
                </a:solidFill>
                <a:effectLst/>
              </a:rPr>
              <a:t>For example, from the state In(Ernakulam), the applicable actions are {Go(Thrissur), Go(Palakkad), Go(</a:t>
            </a:r>
            <a:r>
              <a:rPr lang="en-US" sz="2000" dirty="0" err="1">
                <a:solidFill>
                  <a:srgbClr val="000000"/>
                </a:solidFill>
                <a:effectLst/>
              </a:rPr>
              <a:t>Kozhikod</a:t>
            </a:r>
            <a:r>
              <a:rPr lang="en-US" sz="2000" dirty="0">
                <a:solidFill>
                  <a:srgbClr val="000000"/>
                </a:solidFill>
                <a:effectLst/>
              </a:rPr>
              <a:t>)}.</a:t>
            </a:r>
            <a:endParaRPr lang="en-US" dirty="0">
              <a:solidFill>
                <a:srgbClr val="000000"/>
              </a:solidFill>
              <a:effectLst/>
            </a:endParaRPr>
          </a:p>
          <a:p>
            <a:pPr marL="342900" indent="-342900">
              <a:buFont typeface="+mj-lt"/>
              <a:buAutoNum type="arabicPeriod"/>
            </a:pPr>
            <a:r>
              <a:rPr lang="en-IN" b="1" dirty="0">
                <a:solidFill>
                  <a:srgbClr val="000000"/>
                </a:solidFill>
              </a:rPr>
              <a:t>T</a:t>
            </a:r>
            <a:r>
              <a:rPr lang="en-IN" b="1" dirty="0">
                <a:solidFill>
                  <a:srgbClr val="000000"/>
                </a:solidFill>
                <a:effectLst/>
              </a:rPr>
              <a:t>ransition model</a:t>
            </a:r>
            <a:r>
              <a:rPr lang="en-US" b="1" dirty="0">
                <a:solidFill>
                  <a:srgbClr val="000000"/>
                </a:solidFill>
              </a:rPr>
              <a:t>: </a:t>
            </a:r>
            <a:r>
              <a:rPr lang="en-US" dirty="0">
                <a:solidFill>
                  <a:srgbClr val="000000"/>
                </a:solidFill>
                <a:effectLst/>
              </a:rPr>
              <a:t>description of what each action does, specified by a function RESULT(s, a) that returns the state that results from doing action a in state s</a:t>
            </a:r>
          </a:p>
          <a:p>
            <a:pPr marL="342900" indent="-342900">
              <a:buFont typeface="+mj-lt"/>
              <a:buAutoNum type="arabicPeriod"/>
            </a:pPr>
            <a:r>
              <a:rPr lang="en-IN" b="1" dirty="0">
                <a:solidFill>
                  <a:srgbClr val="000000"/>
                </a:solidFill>
                <a:effectLst/>
              </a:rPr>
              <a:t>Successor: </a:t>
            </a:r>
            <a:r>
              <a:rPr lang="en-US" dirty="0">
                <a:solidFill>
                  <a:srgbClr val="000000"/>
                </a:solidFill>
                <a:effectLst/>
              </a:rPr>
              <a:t>any state reachable from a given state by a single action</a:t>
            </a:r>
          </a:p>
          <a:p>
            <a:pPr marL="635508" lvl="1" indent="-342900"/>
            <a:r>
              <a:rPr lang="en-IN" dirty="0">
                <a:solidFill>
                  <a:srgbClr val="000000"/>
                </a:solidFill>
                <a:effectLst/>
              </a:rPr>
              <a:t>RESULT(In(</a:t>
            </a:r>
            <a:r>
              <a:rPr lang="en-US" dirty="0">
                <a:solidFill>
                  <a:srgbClr val="000000"/>
                </a:solidFill>
                <a:effectLst/>
              </a:rPr>
              <a:t>Ernakulam</a:t>
            </a:r>
            <a:r>
              <a:rPr lang="en-IN" dirty="0">
                <a:solidFill>
                  <a:srgbClr val="000000"/>
                </a:solidFill>
                <a:effectLst/>
              </a:rPr>
              <a:t>),Go(</a:t>
            </a:r>
            <a:r>
              <a:rPr lang="en-US" dirty="0">
                <a:solidFill>
                  <a:srgbClr val="000000"/>
                </a:solidFill>
                <a:effectLst/>
              </a:rPr>
              <a:t>Thrissur</a:t>
            </a:r>
            <a:r>
              <a:rPr lang="en-IN" dirty="0">
                <a:solidFill>
                  <a:srgbClr val="000000"/>
                </a:solidFill>
                <a:effectLst/>
              </a:rPr>
              <a:t>)) = In(</a:t>
            </a:r>
            <a:r>
              <a:rPr lang="en-US" dirty="0">
                <a:solidFill>
                  <a:srgbClr val="000000"/>
                </a:solidFill>
                <a:effectLst/>
              </a:rPr>
              <a:t>Thrissur</a:t>
            </a:r>
            <a:r>
              <a:rPr lang="en-IN" dirty="0">
                <a:solidFill>
                  <a:srgbClr val="000000"/>
                </a:solidFill>
                <a:effectLst/>
              </a:rPr>
              <a:t>) .</a:t>
            </a:r>
          </a:p>
          <a:p>
            <a:pPr marL="342900" indent="-342900">
              <a:buFont typeface="+mj-lt"/>
              <a:buAutoNum type="arabicPeriod"/>
            </a:pPr>
            <a:r>
              <a:rPr lang="en-IN" b="1" dirty="0">
                <a:solidFill>
                  <a:srgbClr val="000000"/>
                </a:solidFill>
                <a:effectLst/>
              </a:rPr>
              <a:t>state space: </a:t>
            </a:r>
            <a:r>
              <a:rPr lang="en-US" dirty="0">
                <a:solidFill>
                  <a:srgbClr val="000000"/>
                </a:solidFill>
                <a:effectLst/>
              </a:rPr>
              <a:t>the </a:t>
            </a:r>
            <a:r>
              <a:rPr lang="en-US" dirty="0">
                <a:solidFill>
                  <a:srgbClr val="FF0000"/>
                </a:solidFill>
                <a:effectLst/>
              </a:rPr>
              <a:t>set of all states reachable from the initial state by any sequence of actions</a:t>
            </a:r>
            <a:r>
              <a:rPr lang="en-US" dirty="0">
                <a:solidFill>
                  <a:srgbClr val="000000"/>
                </a:solidFill>
                <a:effectLst/>
              </a:rPr>
              <a:t>. forms a directed network or </a:t>
            </a:r>
            <a:r>
              <a:rPr lang="en-US" b="1" dirty="0">
                <a:solidFill>
                  <a:srgbClr val="000000"/>
                </a:solidFill>
                <a:effectLst/>
              </a:rPr>
              <a:t>graph </a:t>
            </a:r>
            <a:r>
              <a:rPr lang="en-US" dirty="0">
                <a:solidFill>
                  <a:srgbClr val="000000"/>
                </a:solidFill>
                <a:effectLst/>
              </a:rPr>
              <a:t>in which the nodes are states and the links between nodes are actions.</a:t>
            </a:r>
          </a:p>
        </p:txBody>
      </p:sp>
      <p:sp>
        <p:nvSpPr>
          <p:cNvPr id="4" name="Footer Placeholder 3">
            <a:extLst>
              <a:ext uri="{FF2B5EF4-FFF2-40B4-BE49-F238E27FC236}">
                <a16:creationId xmlns:a16="http://schemas.microsoft.com/office/drawing/2014/main" xmlns="" id="{AFF0E169-E489-466D-7D9F-8D2BDE0EE301}"/>
              </a:ext>
            </a:extLst>
          </p:cNvPr>
          <p:cNvSpPr>
            <a:spLocks noGrp="1"/>
          </p:cNvSpPr>
          <p:nvPr>
            <p:ph type="ftr" sz="quarter" idx="11"/>
          </p:nvPr>
        </p:nvSpPr>
        <p:spPr/>
        <p:txBody>
          <a:bodyPr/>
          <a:lstStyle/>
          <a:p>
            <a:r>
              <a:rPr lang="en-IN" dirty="0"/>
              <a:t>DEPARTMENT OF CSE SNGCE</a:t>
            </a:r>
          </a:p>
        </p:txBody>
      </p:sp>
      <p:sp>
        <p:nvSpPr>
          <p:cNvPr id="5" name="Slide Number Placeholder 4">
            <a:extLst>
              <a:ext uri="{FF2B5EF4-FFF2-40B4-BE49-F238E27FC236}">
                <a16:creationId xmlns:a16="http://schemas.microsoft.com/office/drawing/2014/main" xmlns="" id="{CBCDEBF5-2A93-ACD7-D399-6B78F5BC412B}"/>
              </a:ext>
            </a:extLst>
          </p:cNvPr>
          <p:cNvSpPr>
            <a:spLocks noGrp="1"/>
          </p:cNvSpPr>
          <p:nvPr>
            <p:ph type="sldNum" sz="quarter" idx="12"/>
          </p:nvPr>
        </p:nvSpPr>
        <p:spPr/>
        <p:txBody>
          <a:bodyPr/>
          <a:lstStyle/>
          <a:p>
            <a:fld id="{1E81A027-E3F7-4FC9-A752-E855AD4A687D}" type="slidenum">
              <a:rPr lang="en-IN" smtClean="0"/>
              <a:t>15</a:t>
            </a:fld>
            <a:endParaRPr lang="en-IN"/>
          </a:p>
        </p:txBody>
      </p:sp>
    </p:spTree>
    <p:extLst>
      <p:ext uri="{BB962C8B-B14F-4D97-AF65-F5344CB8AC3E}">
        <p14:creationId xmlns:p14="http://schemas.microsoft.com/office/powerpoint/2010/main" val="4246971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33F025E5-C8C2-AE01-5B93-7D38597E0273}"/>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D6C86C77-3FDE-FD6E-A5D4-F9555A5DB21D}"/>
              </a:ext>
            </a:extLst>
          </p:cNvPr>
          <p:cNvSpPr>
            <a:spLocks noGrp="1"/>
          </p:cNvSpPr>
          <p:nvPr>
            <p:ph type="sldNum" sz="quarter" idx="12"/>
          </p:nvPr>
        </p:nvSpPr>
        <p:spPr/>
        <p:txBody>
          <a:bodyPr/>
          <a:lstStyle/>
          <a:p>
            <a:fld id="{1E81A027-E3F7-4FC9-A752-E855AD4A687D}" type="slidenum">
              <a:rPr lang="en-IN" smtClean="0"/>
              <a:t>16</a:t>
            </a:fld>
            <a:endParaRPr lang="en-IN"/>
          </a:p>
        </p:txBody>
      </p:sp>
      <p:sp>
        <p:nvSpPr>
          <p:cNvPr id="3" name="Content Placeholder 2">
            <a:extLst>
              <a:ext uri="{FF2B5EF4-FFF2-40B4-BE49-F238E27FC236}">
                <a16:creationId xmlns:a16="http://schemas.microsoft.com/office/drawing/2014/main" xmlns="" id="{8FB6A003-E1A9-9E3D-211D-252A6DB0F6E7}"/>
              </a:ext>
            </a:extLst>
          </p:cNvPr>
          <p:cNvSpPr>
            <a:spLocks noGrp="1"/>
          </p:cNvSpPr>
          <p:nvPr>
            <p:ph idx="4294967295"/>
          </p:nvPr>
        </p:nvSpPr>
        <p:spPr>
          <a:xfrm>
            <a:off x="363794" y="33091"/>
            <a:ext cx="11828206" cy="5835898"/>
          </a:xfrm>
        </p:spPr>
        <p:txBody>
          <a:bodyPr>
            <a:normAutofit/>
          </a:bodyPr>
          <a:lstStyle/>
          <a:p>
            <a:pPr marL="457200" indent="-457200">
              <a:buFont typeface="+mj-lt"/>
              <a:buAutoNum type="arabicPeriod" startAt="6"/>
            </a:pPr>
            <a:r>
              <a:rPr lang="en-US" dirty="0">
                <a:solidFill>
                  <a:srgbClr val="000000"/>
                </a:solidFill>
              </a:rPr>
              <a:t>A </a:t>
            </a:r>
            <a:r>
              <a:rPr lang="en-US" b="1" dirty="0">
                <a:solidFill>
                  <a:srgbClr val="000000"/>
                </a:solidFill>
              </a:rPr>
              <a:t>path</a:t>
            </a:r>
            <a:r>
              <a:rPr lang="en-US" dirty="0">
                <a:solidFill>
                  <a:srgbClr val="000000"/>
                </a:solidFill>
              </a:rPr>
              <a:t> in the state space is a </a:t>
            </a:r>
            <a:r>
              <a:rPr lang="en-US" dirty="0">
                <a:solidFill>
                  <a:srgbClr val="FF0000"/>
                </a:solidFill>
              </a:rPr>
              <a:t>sequence of states connected by a sequence of actions</a:t>
            </a:r>
          </a:p>
          <a:p>
            <a:pPr marL="457200" indent="-457200">
              <a:buFont typeface="+mj-lt"/>
              <a:buAutoNum type="arabicPeriod" startAt="6"/>
            </a:pPr>
            <a:r>
              <a:rPr lang="en-US" dirty="0">
                <a:solidFill>
                  <a:srgbClr val="000000"/>
                </a:solidFill>
              </a:rPr>
              <a:t>The </a:t>
            </a:r>
            <a:r>
              <a:rPr lang="en-US" b="1" dirty="0">
                <a:solidFill>
                  <a:srgbClr val="000000"/>
                </a:solidFill>
              </a:rPr>
              <a:t>goal test</a:t>
            </a:r>
            <a:r>
              <a:rPr lang="en-US" dirty="0">
                <a:solidFill>
                  <a:srgbClr val="000000"/>
                </a:solidFill>
              </a:rPr>
              <a:t>, which determines whether a given state is a goal state {In(Chennai)}</a:t>
            </a:r>
          </a:p>
          <a:p>
            <a:pPr marL="457200" indent="-457200">
              <a:buFont typeface="+mj-lt"/>
              <a:buAutoNum type="arabicPeriod" startAt="6"/>
            </a:pPr>
            <a:r>
              <a:rPr lang="en-US" dirty="0">
                <a:solidFill>
                  <a:srgbClr val="000000"/>
                </a:solidFill>
                <a:effectLst/>
              </a:rPr>
              <a:t>A </a:t>
            </a:r>
            <a:r>
              <a:rPr lang="en-US" b="1" dirty="0">
                <a:solidFill>
                  <a:srgbClr val="000000"/>
                </a:solidFill>
                <a:effectLst/>
              </a:rPr>
              <a:t>path cost </a:t>
            </a:r>
            <a:r>
              <a:rPr lang="en-US" dirty="0">
                <a:solidFill>
                  <a:srgbClr val="000000"/>
                </a:solidFill>
                <a:effectLst/>
              </a:rPr>
              <a:t>function that assigns a numeric cost to each path</a:t>
            </a:r>
          </a:p>
          <a:p>
            <a:r>
              <a:rPr lang="en-US" sz="1800" dirty="0">
                <a:solidFill>
                  <a:srgbClr val="000000"/>
                </a:solidFill>
                <a:effectLst/>
              </a:rPr>
              <a:t>cost of a path can be described as the </a:t>
            </a:r>
            <a:r>
              <a:rPr lang="en-US" sz="1800" i="1" dirty="0">
                <a:solidFill>
                  <a:srgbClr val="000000"/>
                </a:solidFill>
                <a:effectLst/>
              </a:rPr>
              <a:t>sum </a:t>
            </a:r>
            <a:r>
              <a:rPr lang="en-US" sz="1800" dirty="0">
                <a:solidFill>
                  <a:srgbClr val="000000"/>
                </a:solidFill>
                <a:effectLst/>
              </a:rPr>
              <a:t>of the costs of the individual actions along the path. </a:t>
            </a:r>
          </a:p>
          <a:p>
            <a:r>
              <a:rPr lang="en-US" sz="1800" dirty="0">
                <a:solidFill>
                  <a:srgbClr val="000000"/>
                </a:solidFill>
                <a:effectLst/>
              </a:rPr>
              <a:t>The </a:t>
            </a:r>
            <a:r>
              <a:rPr lang="en-US" sz="1800" b="1" dirty="0">
                <a:solidFill>
                  <a:srgbClr val="000000"/>
                </a:solidFill>
                <a:effectLst/>
              </a:rPr>
              <a:t>step cost </a:t>
            </a:r>
            <a:r>
              <a:rPr lang="en-US" sz="1800" dirty="0">
                <a:solidFill>
                  <a:srgbClr val="000000"/>
                </a:solidFill>
                <a:effectLst/>
              </a:rPr>
              <a:t>of taking action a in state s to reach state s is denoted by c(s, a, s ). </a:t>
            </a:r>
          </a:p>
          <a:p>
            <a:r>
              <a:rPr lang="en-US" sz="1800" b="1" dirty="0">
                <a:solidFill>
                  <a:srgbClr val="FF0000"/>
                </a:solidFill>
                <a:effectLst/>
              </a:rPr>
              <a:t>A solution to a problem is an action sequence that </a:t>
            </a:r>
          </a:p>
          <a:p>
            <a:r>
              <a:rPr lang="en-US" sz="1800" b="1" dirty="0">
                <a:solidFill>
                  <a:srgbClr val="FF0000"/>
                </a:solidFill>
                <a:effectLst/>
              </a:rPr>
              <a:t>leads from the initial state to a goal state</a:t>
            </a:r>
            <a:r>
              <a:rPr lang="en-US" sz="1800" dirty="0">
                <a:solidFill>
                  <a:srgbClr val="000000"/>
                </a:solidFill>
                <a:effectLst/>
              </a:rPr>
              <a:t>. </a:t>
            </a:r>
          </a:p>
          <a:p>
            <a:r>
              <a:rPr lang="en-US" sz="1800" b="1" dirty="0">
                <a:solidFill>
                  <a:srgbClr val="0070C0"/>
                </a:solidFill>
                <a:effectLst/>
              </a:rPr>
              <a:t>Solution quality is measured by the </a:t>
            </a:r>
            <a:endParaRPr lang="en-US" b="1" dirty="0">
              <a:solidFill>
                <a:srgbClr val="0070C0"/>
              </a:solidFill>
            </a:endParaRPr>
          </a:p>
          <a:p>
            <a:r>
              <a:rPr lang="en-US" sz="1800" b="1" dirty="0">
                <a:solidFill>
                  <a:srgbClr val="0070C0"/>
                </a:solidFill>
                <a:effectLst/>
              </a:rPr>
              <a:t>path cost function, and an optimal solution has </a:t>
            </a:r>
          </a:p>
          <a:p>
            <a:r>
              <a:rPr lang="en-US" sz="1800" b="1" dirty="0">
                <a:solidFill>
                  <a:srgbClr val="0070C0"/>
                </a:solidFill>
                <a:effectLst/>
              </a:rPr>
              <a:t>the lowest path cost among all solutions</a:t>
            </a:r>
            <a:endParaRPr lang="en-US" b="1" dirty="0">
              <a:solidFill>
                <a:srgbClr val="0070C0"/>
              </a:solidFill>
            </a:endParaRPr>
          </a:p>
          <a:p>
            <a:endParaRPr lang="en-IN" dirty="0"/>
          </a:p>
        </p:txBody>
      </p:sp>
    </p:spTree>
    <p:extLst>
      <p:ext uri="{BB962C8B-B14F-4D97-AF65-F5344CB8AC3E}">
        <p14:creationId xmlns:p14="http://schemas.microsoft.com/office/powerpoint/2010/main" val="3537731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AB747618-4596-9FF5-584C-CEFD33C7FC8B}"/>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xmlns="" id="{5DE293A8-AD2A-718A-770D-81D6716D06AB}"/>
              </a:ext>
            </a:extLst>
          </p:cNvPr>
          <p:cNvSpPr>
            <a:spLocks noGrp="1"/>
          </p:cNvSpPr>
          <p:nvPr>
            <p:ph type="sldNum" sz="quarter" idx="12"/>
          </p:nvPr>
        </p:nvSpPr>
        <p:spPr/>
        <p:txBody>
          <a:bodyPr/>
          <a:lstStyle/>
          <a:p>
            <a:fld id="{1E81A027-E3F7-4FC9-A752-E855AD4A687D}" type="slidenum">
              <a:rPr lang="en-IN" smtClean="0"/>
              <a:t>17</a:t>
            </a:fld>
            <a:endParaRPr lang="en-IN"/>
          </a:p>
        </p:txBody>
      </p:sp>
      <p:pic>
        <p:nvPicPr>
          <p:cNvPr id="4" name="Picture 3">
            <a:extLst>
              <a:ext uri="{FF2B5EF4-FFF2-40B4-BE49-F238E27FC236}">
                <a16:creationId xmlns:a16="http://schemas.microsoft.com/office/drawing/2014/main" xmlns="" id="{CB25B41C-8A4B-3555-7030-7E0A97770A01}"/>
              </a:ext>
            </a:extLst>
          </p:cNvPr>
          <p:cNvPicPr>
            <a:picLocks noChangeAspect="1"/>
          </p:cNvPicPr>
          <p:nvPr/>
        </p:nvPicPr>
        <p:blipFill>
          <a:blip r:embed="rId2"/>
          <a:stretch>
            <a:fillRect/>
          </a:stretch>
        </p:blipFill>
        <p:spPr>
          <a:xfrm>
            <a:off x="765111" y="0"/>
            <a:ext cx="9650838" cy="6409195"/>
          </a:xfrm>
          <a:prstGeom prst="rect">
            <a:avLst/>
          </a:prstGeom>
        </p:spPr>
      </p:pic>
    </p:spTree>
    <p:extLst>
      <p:ext uri="{BB962C8B-B14F-4D97-AF65-F5344CB8AC3E}">
        <p14:creationId xmlns:p14="http://schemas.microsoft.com/office/powerpoint/2010/main" val="397022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26559930-D9F5-686C-0520-3EED75B47970}"/>
              </a:ext>
            </a:extLst>
          </p:cNvPr>
          <p:cNvSpPr>
            <a:spLocks noGrp="1"/>
          </p:cNvSpPr>
          <p:nvPr>
            <p:ph type="title"/>
          </p:nvPr>
        </p:nvSpPr>
        <p:spPr/>
        <p:txBody>
          <a:bodyPr>
            <a:normAutofit/>
          </a:bodyPr>
          <a:lstStyle/>
          <a:p>
            <a:r>
              <a:rPr lang="en-IN" dirty="0">
                <a:solidFill>
                  <a:srgbClr val="000000"/>
                </a:solidFill>
                <a:effectLst/>
              </a:rPr>
              <a:t>Formulating problems</a:t>
            </a:r>
            <a:endParaRPr lang="en-IN" dirty="0"/>
          </a:p>
        </p:txBody>
      </p:sp>
      <p:sp>
        <p:nvSpPr>
          <p:cNvPr id="5" name="Content Placeholder 4">
            <a:extLst>
              <a:ext uri="{FF2B5EF4-FFF2-40B4-BE49-F238E27FC236}">
                <a16:creationId xmlns:a16="http://schemas.microsoft.com/office/drawing/2014/main" xmlns="" id="{5FE65215-C979-5FF0-D3E1-D4308BC19399}"/>
              </a:ext>
            </a:extLst>
          </p:cNvPr>
          <p:cNvSpPr>
            <a:spLocks noGrp="1"/>
          </p:cNvSpPr>
          <p:nvPr>
            <p:ph idx="1"/>
          </p:nvPr>
        </p:nvSpPr>
        <p:spPr/>
        <p:txBody>
          <a:bodyPr>
            <a:normAutofit fontScale="85000" lnSpcReduction="10000"/>
          </a:bodyPr>
          <a:lstStyle/>
          <a:p>
            <a:pPr eaLnBrk="1" hangingPunct="1"/>
            <a:r>
              <a:rPr lang="en-US" altLang="zh-TW" sz="2800" dirty="0">
                <a:solidFill>
                  <a:srgbClr val="0C0C12"/>
                </a:solidFill>
              </a:rPr>
              <a:t>Anything else besides the four components for problem formulation</a:t>
            </a:r>
          </a:p>
          <a:p>
            <a:pPr eaLnBrk="1" hangingPunct="1"/>
            <a:r>
              <a:rPr lang="en-US" altLang="zh-TW" sz="2800" b="1" i="1" dirty="0">
                <a:solidFill>
                  <a:srgbClr val="0C0C12"/>
                </a:solidFill>
              </a:rPr>
              <a:t>Abstraction</a:t>
            </a:r>
            <a:r>
              <a:rPr lang="en-US" altLang="zh-TW" sz="2800" dirty="0">
                <a:solidFill>
                  <a:srgbClr val="0C0C12"/>
                </a:solidFill>
              </a:rPr>
              <a:t> </a:t>
            </a:r>
          </a:p>
          <a:p>
            <a:pPr lvl="1" eaLnBrk="1" hangingPunct="1"/>
            <a:r>
              <a:rPr lang="en-US" altLang="zh-TW" sz="2400" dirty="0">
                <a:solidFill>
                  <a:srgbClr val="0C0C12"/>
                </a:solidFill>
              </a:rPr>
              <a:t>the process to take out the irrelevant information</a:t>
            </a:r>
          </a:p>
          <a:p>
            <a:pPr lvl="1" eaLnBrk="1" hangingPunct="1"/>
            <a:r>
              <a:rPr lang="en-US" altLang="zh-TW" sz="2400" dirty="0">
                <a:solidFill>
                  <a:srgbClr val="0C0C12"/>
                </a:solidFill>
              </a:rPr>
              <a:t>leave the most essential parts to the description of the states </a:t>
            </a:r>
          </a:p>
          <a:p>
            <a:pPr lvl="1" eaLnBrk="1" hangingPunct="1">
              <a:buFont typeface="Wingdings" panose="05000000000000000000" pitchFamily="2" charset="2"/>
              <a:buNone/>
            </a:pPr>
            <a:r>
              <a:rPr lang="en-US" altLang="zh-TW" sz="2400" dirty="0">
                <a:solidFill>
                  <a:srgbClr val="0C0C12"/>
                </a:solidFill>
              </a:rPr>
              <a:t>( Remove detail from representation)</a:t>
            </a:r>
            <a:endParaRPr lang="en-US" altLang="zh-TW" sz="2400" b="1" dirty="0">
              <a:solidFill>
                <a:srgbClr val="0C0C12"/>
              </a:solidFill>
            </a:endParaRPr>
          </a:p>
          <a:p>
            <a:pPr lvl="1" eaLnBrk="1" hangingPunct="1"/>
            <a:r>
              <a:rPr lang="en-US" altLang="zh-TW" sz="2400" b="1" dirty="0">
                <a:solidFill>
                  <a:srgbClr val="0C0C12"/>
                </a:solidFill>
              </a:rPr>
              <a:t>Conclusion</a:t>
            </a:r>
            <a:r>
              <a:rPr lang="en-US" altLang="zh-TW" sz="2400" dirty="0">
                <a:solidFill>
                  <a:srgbClr val="0C0C12"/>
                </a:solidFill>
              </a:rPr>
              <a:t>: Only the most important parts </a:t>
            </a:r>
            <a:r>
              <a:rPr lang="en-US" altLang="zh-TW" sz="2400" i="1" dirty="0">
                <a:solidFill>
                  <a:srgbClr val="0C0C12"/>
                </a:solidFill>
              </a:rPr>
              <a:t>that are contributing to searching</a:t>
            </a:r>
            <a:r>
              <a:rPr lang="en-US" altLang="zh-TW" sz="2400" dirty="0">
                <a:solidFill>
                  <a:srgbClr val="0C0C12"/>
                </a:solidFill>
              </a:rPr>
              <a:t> are used</a:t>
            </a:r>
          </a:p>
          <a:p>
            <a:r>
              <a:rPr lang="en-US" sz="2800" dirty="0">
                <a:solidFill>
                  <a:srgbClr val="0C0C12"/>
                </a:solidFill>
              </a:rPr>
              <a:t>The choice of a good abstraction thus involves removing as much detail as possible while retaining validity and ensuring that the abstract actions are easy to carry out. </a:t>
            </a:r>
          </a:p>
          <a:p>
            <a:r>
              <a:rPr lang="en-US" sz="2800" dirty="0">
                <a:solidFill>
                  <a:srgbClr val="0C0C12"/>
                </a:solidFill>
              </a:rPr>
              <a:t>Were it not for the ability to construct useful abstractions, intelligent agents would be completely swamped by the real world.</a:t>
            </a:r>
            <a:endParaRPr lang="en-IN" sz="2800" dirty="0">
              <a:solidFill>
                <a:srgbClr val="0C0C12"/>
              </a:solidFill>
            </a:endParaRPr>
          </a:p>
        </p:txBody>
      </p:sp>
      <p:sp>
        <p:nvSpPr>
          <p:cNvPr id="2" name="Footer Placeholder 1">
            <a:extLst>
              <a:ext uri="{FF2B5EF4-FFF2-40B4-BE49-F238E27FC236}">
                <a16:creationId xmlns:a16="http://schemas.microsoft.com/office/drawing/2014/main" xmlns="" id="{FBF08F5E-821F-7F41-ED3F-B443C0231D3F}"/>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xmlns="" id="{43D7A6CA-FAD2-D813-FAEE-DE0511112889}"/>
              </a:ext>
            </a:extLst>
          </p:cNvPr>
          <p:cNvSpPr>
            <a:spLocks noGrp="1"/>
          </p:cNvSpPr>
          <p:nvPr>
            <p:ph type="sldNum" sz="quarter" idx="12"/>
          </p:nvPr>
        </p:nvSpPr>
        <p:spPr/>
        <p:txBody>
          <a:bodyPr/>
          <a:lstStyle/>
          <a:p>
            <a:fld id="{1E81A027-E3F7-4FC9-A752-E855AD4A687D}" type="slidenum">
              <a:rPr lang="en-IN" smtClean="0"/>
              <a:t>18</a:t>
            </a:fld>
            <a:endParaRPr lang="en-IN"/>
          </a:p>
        </p:txBody>
      </p:sp>
    </p:spTree>
    <p:extLst>
      <p:ext uri="{BB962C8B-B14F-4D97-AF65-F5344CB8AC3E}">
        <p14:creationId xmlns:p14="http://schemas.microsoft.com/office/powerpoint/2010/main" val="3212783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A25443-C0AA-3EEE-06E2-AED049CABE26}"/>
              </a:ext>
            </a:extLst>
          </p:cNvPr>
          <p:cNvSpPr>
            <a:spLocks noGrp="1"/>
          </p:cNvSpPr>
          <p:nvPr>
            <p:ph type="title"/>
          </p:nvPr>
        </p:nvSpPr>
        <p:spPr/>
        <p:txBody>
          <a:bodyPr/>
          <a:lstStyle/>
          <a:p>
            <a:r>
              <a:rPr lang="en-US" altLang="en-US" dirty="0">
                <a:solidFill>
                  <a:srgbClr val="0C0C12"/>
                </a:solidFill>
              </a:rPr>
              <a:t>Evaluation Criteria</a:t>
            </a:r>
            <a:endParaRPr lang="en-IN" dirty="0"/>
          </a:p>
        </p:txBody>
      </p:sp>
      <p:sp>
        <p:nvSpPr>
          <p:cNvPr id="3" name="Content Placeholder 2">
            <a:extLst>
              <a:ext uri="{FF2B5EF4-FFF2-40B4-BE49-F238E27FC236}">
                <a16:creationId xmlns:a16="http://schemas.microsoft.com/office/drawing/2014/main" xmlns="" id="{CF1870FF-AD8A-7833-FDA4-815BBCAB14F6}"/>
              </a:ext>
            </a:extLst>
          </p:cNvPr>
          <p:cNvSpPr>
            <a:spLocks noGrp="1"/>
          </p:cNvSpPr>
          <p:nvPr>
            <p:ph idx="1"/>
          </p:nvPr>
        </p:nvSpPr>
        <p:spPr/>
        <p:txBody>
          <a:bodyPr/>
          <a:lstStyle/>
          <a:p>
            <a:pPr eaLnBrk="1" hangingPunct="1"/>
            <a:r>
              <a:rPr lang="en-US" altLang="en-US" dirty="0">
                <a:solidFill>
                  <a:srgbClr val="0C0C12"/>
                </a:solidFill>
              </a:rPr>
              <a:t>formulation of a problem as search task</a:t>
            </a:r>
          </a:p>
          <a:p>
            <a:pPr eaLnBrk="1" hangingPunct="1"/>
            <a:r>
              <a:rPr lang="en-US" altLang="en-US" dirty="0">
                <a:solidFill>
                  <a:srgbClr val="0C0C12"/>
                </a:solidFill>
              </a:rPr>
              <a:t>basic search strategies</a:t>
            </a:r>
          </a:p>
          <a:p>
            <a:pPr eaLnBrk="1" hangingPunct="1"/>
            <a:r>
              <a:rPr lang="en-US" altLang="en-US" dirty="0">
                <a:solidFill>
                  <a:srgbClr val="0C0C12"/>
                </a:solidFill>
              </a:rPr>
              <a:t>important properties of search strategies</a:t>
            </a:r>
          </a:p>
          <a:p>
            <a:pPr eaLnBrk="1" hangingPunct="1"/>
            <a:r>
              <a:rPr lang="en-US" altLang="en-US" dirty="0">
                <a:solidFill>
                  <a:srgbClr val="0C0C12"/>
                </a:solidFill>
              </a:rPr>
              <a:t>selection of search strategies for specific tasks</a:t>
            </a:r>
          </a:p>
          <a:p>
            <a:pPr eaLnBrk="1" hangingPunct="1">
              <a:buFontTx/>
              <a:buNone/>
            </a:pPr>
            <a:r>
              <a:rPr lang="en-US" altLang="en-US" dirty="0">
                <a:solidFill>
                  <a:srgbClr val="3204B4"/>
                </a:solidFill>
              </a:rPr>
              <a:t>(The ordering of the nodes in FRINGE defines the search strategy)</a:t>
            </a:r>
          </a:p>
          <a:p>
            <a:endParaRPr lang="en-IN" dirty="0"/>
          </a:p>
        </p:txBody>
      </p:sp>
      <p:sp>
        <p:nvSpPr>
          <p:cNvPr id="4" name="Footer Placeholder 3">
            <a:extLst>
              <a:ext uri="{FF2B5EF4-FFF2-40B4-BE49-F238E27FC236}">
                <a16:creationId xmlns:a16="http://schemas.microsoft.com/office/drawing/2014/main" xmlns="" id="{91AE3247-AFD8-A3F3-D344-3CC54F9BD3CB}"/>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61928931-EC98-55A4-055C-912B1988E99C}"/>
              </a:ext>
            </a:extLst>
          </p:cNvPr>
          <p:cNvSpPr>
            <a:spLocks noGrp="1"/>
          </p:cNvSpPr>
          <p:nvPr>
            <p:ph type="sldNum" sz="quarter" idx="12"/>
          </p:nvPr>
        </p:nvSpPr>
        <p:spPr/>
        <p:txBody>
          <a:bodyPr/>
          <a:lstStyle/>
          <a:p>
            <a:fld id="{1E81A027-E3F7-4FC9-A752-E855AD4A687D}" type="slidenum">
              <a:rPr lang="en-IN" smtClean="0"/>
              <a:t>19</a:t>
            </a:fld>
            <a:endParaRPr lang="en-IN"/>
          </a:p>
        </p:txBody>
      </p:sp>
    </p:spTree>
    <p:extLst>
      <p:ext uri="{BB962C8B-B14F-4D97-AF65-F5344CB8AC3E}">
        <p14:creationId xmlns:p14="http://schemas.microsoft.com/office/powerpoint/2010/main" val="179686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3DBC32-86A2-60FB-D3AD-B19707A80F9C}"/>
              </a:ext>
            </a:extLst>
          </p:cNvPr>
          <p:cNvSpPr>
            <a:spLocks noGrp="1"/>
          </p:cNvSpPr>
          <p:nvPr>
            <p:ph type="title"/>
          </p:nvPr>
        </p:nvSpPr>
        <p:spPr/>
        <p:txBody>
          <a:bodyPr/>
          <a:lstStyle/>
          <a:p>
            <a:r>
              <a:rPr lang="en-US" altLang="en-US" dirty="0">
                <a:solidFill>
                  <a:srgbClr val="0C0C12"/>
                </a:solidFill>
              </a:rPr>
              <a:t>Problem-Solving Agents</a:t>
            </a:r>
            <a:endParaRPr lang="en-IN" dirty="0"/>
          </a:p>
        </p:txBody>
      </p:sp>
      <p:sp>
        <p:nvSpPr>
          <p:cNvPr id="3" name="Content Placeholder 2">
            <a:extLst>
              <a:ext uri="{FF2B5EF4-FFF2-40B4-BE49-F238E27FC236}">
                <a16:creationId xmlns:a16="http://schemas.microsoft.com/office/drawing/2014/main" xmlns="" id="{135E2F4C-5A00-413E-D17D-D48276A3006D}"/>
              </a:ext>
            </a:extLst>
          </p:cNvPr>
          <p:cNvSpPr>
            <a:spLocks noGrp="1"/>
          </p:cNvSpPr>
          <p:nvPr>
            <p:ph idx="1"/>
          </p:nvPr>
        </p:nvSpPr>
        <p:spPr/>
        <p:txBody>
          <a:bodyPr>
            <a:normAutofit lnSpcReduction="10000"/>
          </a:bodyPr>
          <a:lstStyle/>
          <a:p>
            <a:pPr eaLnBrk="1" hangingPunct="1"/>
            <a:r>
              <a:rPr lang="en-US" altLang="en-US" sz="2800" dirty="0">
                <a:solidFill>
                  <a:srgbClr val="0C0C12"/>
                </a:solidFill>
              </a:rPr>
              <a:t>agents whose task is to solve a particular problem (steps)</a:t>
            </a:r>
          </a:p>
          <a:p>
            <a:pPr lvl="1" eaLnBrk="1" hangingPunct="1"/>
            <a:r>
              <a:rPr lang="en-US" altLang="en-US" sz="2400" dirty="0">
                <a:solidFill>
                  <a:srgbClr val="0C0C12"/>
                </a:solidFill>
              </a:rPr>
              <a:t>goal formulation</a:t>
            </a:r>
          </a:p>
          <a:p>
            <a:pPr lvl="2" eaLnBrk="1" hangingPunct="1"/>
            <a:r>
              <a:rPr lang="en-US" altLang="en-US" sz="2000" dirty="0">
                <a:solidFill>
                  <a:srgbClr val="0C0C12"/>
                </a:solidFill>
              </a:rPr>
              <a:t>what is the goal state</a:t>
            </a:r>
          </a:p>
          <a:p>
            <a:pPr lvl="2" eaLnBrk="1" hangingPunct="1"/>
            <a:r>
              <a:rPr lang="en-US" altLang="en-US" sz="2000" dirty="0">
                <a:solidFill>
                  <a:srgbClr val="0C0C12"/>
                </a:solidFill>
              </a:rPr>
              <a:t>what are important characteristics of the goal state</a:t>
            </a:r>
          </a:p>
          <a:p>
            <a:pPr lvl="2" eaLnBrk="1" hangingPunct="1"/>
            <a:r>
              <a:rPr lang="en-US" altLang="en-US" sz="2000" dirty="0">
                <a:solidFill>
                  <a:srgbClr val="0C0C12"/>
                </a:solidFill>
              </a:rPr>
              <a:t>how does the agent know that it has reached the goal</a:t>
            </a:r>
          </a:p>
          <a:p>
            <a:pPr lvl="2" eaLnBrk="1" hangingPunct="1"/>
            <a:r>
              <a:rPr lang="en-US" altLang="en-US" sz="2000" dirty="0">
                <a:solidFill>
                  <a:srgbClr val="0C0C12"/>
                </a:solidFill>
              </a:rPr>
              <a:t>are there several possible goal states</a:t>
            </a:r>
          </a:p>
          <a:p>
            <a:pPr lvl="3" eaLnBrk="1" hangingPunct="1"/>
            <a:r>
              <a:rPr lang="en-US" altLang="en-US" sz="1800" dirty="0">
                <a:solidFill>
                  <a:srgbClr val="0C0C12"/>
                </a:solidFill>
              </a:rPr>
              <a:t>are they equal or are some more preferable</a:t>
            </a:r>
          </a:p>
          <a:p>
            <a:pPr lvl="1" eaLnBrk="1" hangingPunct="1"/>
            <a:r>
              <a:rPr lang="en-US" altLang="en-US" sz="2400" dirty="0">
                <a:solidFill>
                  <a:srgbClr val="0C0C12"/>
                </a:solidFill>
              </a:rPr>
              <a:t>problem formulation</a:t>
            </a:r>
          </a:p>
          <a:p>
            <a:pPr lvl="2" eaLnBrk="1" hangingPunct="1"/>
            <a:r>
              <a:rPr lang="en-US" altLang="en-US" sz="2000" dirty="0">
                <a:solidFill>
                  <a:srgbClr val="0C0C12"/>
                </a:solidFill>
              </a:rPr>
              <a:t>what are the possible states of the world relevant for solving the problem</a:t>
            </a:r>
          </a:p>
          <a:p>
            <a:pPr lvl="2" eaLnBrk="1" hangingPunct="1"/>
            <a:r>
              <a:rPr lang="en-US" altLang="en-US" sz="2000" dirty="0">
                <a:solidFill>
                  <a:srgbClr val="0C0C12"/>
                </a:solidFill>
              </a:rPr>
              <a:t>what information is accessible to the agent</a:t>
            </a:r>
          </a:p>
          <a:p>
            <a:pPr lvl="2" eaLnBrk="1" hangingPunct="1"/>
            <a:r>
              <a:rPr lang="en-US" altLang="en-US" sz="2000" dirty="0">
                <a:solidFill>
                  <a:srgbClr val="0C0C12"/>
                </a:solidFill>
              </a:rPr>
              <a:t>how can the agent progress from state to state</a:t>
            </a:r>
          </a:p>
          <a:p>
            <a:pPr lvl="2" eaLnBrk="1" hangingPunct="1"/>
            <a:endParaRPr lang="en-US" altLang="en-US" sz="2000" dirty="0">
              <a:solidFill>
                <a:srgbClr val="0C0C12"/>
              </a:solidFill>
            </a:endParaRPr>
          </a:p>
          <a:p>
            <a:pPr eaLnBrk="1" hangingPunct="1"/>
            <a:endParaRPr lang="en-US" altLang="en-US" sz="2800" dirty="0">
              <a:solidFill>
                <a:srgbClr val="0C0C12"/>
              </a:solidFill>
            </a:endParaRPr>
          </a:p>
          <a:p>
            <a:endParaRPr lang="en-IN" dirty="0"/>
          </a:p>
        </p:txBody>
      </p:sp>
      <p:sp>
        <p:nvSpPr>
          <p:cNvPr id="4" name="Footer Placeholder 3">
            <a:extLst>
              <a:ext uri="{FF2B5EF4-FFF2-40B4-BE49-F238E27FC236}">
                <a16:creationId xmlns:a16="http://schemas.microsoft.com/office/drawing/2014/main" xmlns="" id="{BD0C330F-395F-E7E5-F9F0-B5DEF2B8EA42}"/>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6FCE727B-28A2-7455-BA3E-3D3CA8A2138A}"/>
              </a:ext>
            </a:extLst>
          </p:cNvPr>
          <p:cNvSpPr>
            <a:spLocks noGrp="1"/>
          </p:cNvSpPr>
          <p:nvPr>
            <p:ph type="sldNum" sz="quarter" idx="12"/>
          </p:nvPr>
        </p:nvSpPr>
        <p:spPr/>
        <p:txBody>
          <a:bodyPr/>
          <a:lstStyle/>
          <a:p>
            <a:fld id="{1E81A027-E3F7-4FC9-A752-E855AD4A687D}" type="slidenum">
              <a:rPr lang="en-IN" smtClean="0"/>
              <a:t>20</a:t>
            </a:fld>
            <a:endParaRPr lang="en-IN"/>
          </a:p>
        </p:txBody>
      </p:sp>
    </p:spTree>
    <p:extLst>
      <p:ext uri="{BB962C8B-B14F-4D97-AF65-F5344CB8AC3E}">
        <p14:creationId xmlns:p14="http://schemas.microsoft.com/office/powerpoint/2010/main" val="2494788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FCF1B4-9623-1B7F-3AC4-7D9D9AB9BE22}"/>
              </a:ext>
            </a:extLst>
          </p:cNvPr>
          <p:cNvSpPr>
            <a:spLocks noGrp="1"/>
          </p:cNvSpPr>
          <p:nvPr>
            <p:ph type="title"/>
          </p:nvPr>
        </p:nvSpPr>
        <p:spPr/>
        <p:txBody>
          <a:bodyPr/>
          <a:lstStyle/>
          <a:p>
            <a:r>
              <a:rPr lang="en-US" altLang="en-US" dirty="0">
                <a:solidFill>
                  <a:srgbClr val="0C0C12"/>
                </a:solidFill>
              </a:rPr>
              <a:t>Example: Romania</a:t>
            </a:r>
            <a:endParaRPr lang="en-IN" dirty="0"/>
          </a:p>
        </p:txBody>
      </p:sp>
      <p:sp>
        <p:nvSpPr>
          <p:cNvPr id="3" name="Content Placeholder 2">
            <a:extLst>
              <a:ext uri="{FF2B5EF4-FFF2-40B4-BE49-F238E27FC236}">
                <a16:creationId xmlns:a16="http://schemas.microsoft.com/office/drawing/2014/main" xmlns="" id="{DA7DCE06-F6A2-9C78-366B-5B456050B0A4}"/>
              </a:ext>
            </a:extLst>
          </p:cNvPr>
          <p:cNvSpPr>
            <a:spLocks noGrp="1"/>
          </p:cNvSpPr>
          <p:nvPr>
            <p:ph idx="1"/>
          </p:nvPr>
        </p:nvSpPr>
        <p:spPr/>
        <p:txBody>
          <a:bodyPr>
            <a:normAutofit fontScale="77500" lnSpcReduction="20000"/>
          </a:bodyPr>
          <a:lstStyle/>
          <a:p>
            <a:pPr marL="91440" indent="-91440" eaLnBrk="1" fontAlgn="auto" hangingPunct="1">
              <a:lnSpc>
                <a:spcPct val="80000"/>
              </a:lnSpc>
              <a:defRPr/>
            </a:pPr>
            <a:r>
              <a:rPr lang="en-US" altLang="en-US" sz="2800" dirty="0">
                <a:solidFill>
                  <a:srgbClr val="0C0C12"/>
                </a:solidFill>
              </a:rPr>
              <a:t>On holiday in Romania; currently in Arad.</a:t>
            </a:r>
          </a:p>
          <a:p>
            <a:pPr marL="91440" indent="-91440" eaLnBrk="1" fontAlgn="auto" hangingPunct="1">
              <a:lnSpc>
                <a:spcPct val="80000"/>
              </a:lnSpc>
              <a:defRPr/>
            </a:pPr>
            <a:r>
              <a:rPr lang="en-US" altLang="en-US" sz="2800" dirty="0">
                <a:solidFill>
                  <a:srgbClr val="0C0C12"/>
                </a:solidFill>
              </a:rPr>
              <a:t>Flight leaves tomorrow from Bucharest</a:t>
            </a:r>
          </a:p>
          <a:p>
            <a:pPr marL="91440" indent="-91440" eaLnBrk="1" fontAlgn="auto" hangingPunct="1">
              <a:lnSpc>
                <a:spcPct val="80000"/>
              </a:lnSpc>
              <a:defRPr/>
            </a:pPr>
            <a:endParaRPr lang="en-US" altLang="en-US" sz="2800" dirty="0">
              <a:solidFill>
                <a:srgbClr val="0C0C12"/>
              </a:solidFill>
            </a:endParaRPr>
          </a:p>
          <a:p>
            <a:pPr marL="91440" indent="-91440" eaLnBrk="1" fontAlgn="auto" hangingPunct="1">
              <a:lnSpc>
                <a:spcPct val="80000"/>
              </a:lnSpc>
              <a:defRPr/>
            </a:pPr>
            <a:r>
              <a:rPr lang="en-US" altLang="en-US" sz="2800" dirty="0">
                <a:solidFill>
                  <a:srgbClr val="0C0C12"/>
                </a:solidFill>
              </a:rPr>
              <a:t>Formulate goal:</a:t>
            </a:r>
          </a:p>
          <a:p>
            <a:pPr marL="384048" lvl="1" indent="-182880" eaLnBrk="1" fontAlgn="auto" hangingPunct="1">
              <a:lnSpc>
                <a:spcPct val="80000"/>
              </a:lnSpc>
              <a:defRPr/>
            </a:pPr>
            <a:r>
              <a:rPr lang="en-US" altLang="en-US" sz="2400" dirty="0">
                <a:solidFill>
                  <a:srgbClr val="0C0C12"/>
                </a:solidFill>
              </a:rPr>
              <a:t>be in Bucharest
</a:t>
            </a:r>
          </a:p>
          <a:p>
            <a:pPr marL="91440" indent="-91440" eaLnBrk="1" fontAlgn="auto" hangingPunct="1">
              <a:lnSpc>
                <a:spcPct val="80000"/>
              </a:lnSpc>
              <a:defRPr/>
            </a:pPr>
            <a:r>
              <a:rPr lang="en-US" altLang="en-US" sz="2800" dirty="0">
                <a:solidFill>
                  <a:srgbClr val="0C0C12"/>
                </a:solidFill>
              </a:rPr>
              <a:t>Formulate problem:</a:t>
            </a:r>
          </a:p>
          <a:p>
            <a:pPr marL="384048" lvl="1" indent="-182880" eaLnBrk="1" fontAlgn="auto" hangingPunct="1">
              <a:lnSpc>
                <a:spcPct val="80000"/>
              </a:lnSpc>
              <a:defRPr/>
            </a:pPr>
            <a:r>
              <a:rPr lang="en-US" altLang="en-US" sz="2400" dirty="0">
                <a:solidFill>
                  <a:srgbClr val="1D0401"/>
                </a:solidFill>
              </a:rPr>
              <a:t>states</a:t>
            </a:r>
            <a:r>
              <a:rPr lang="en-US" altLang="en-US" sz="2400" dirty="0">
                <a:solidFill>
                  <a:srgbClr val="0C0C12"/>
                </a:solidFill>
              </a:rPr>
              <a:t>: various cities</a:t>
            </a:r>
          </a:p>
          <a:p>
            <a:pPr marL="384048" lvl="1" indent="-182880" eaLnBrk="1" fontAlgn="auto" hangingPunct="1">
              <a:lnSpc>
                <a:spcPct val="80000"/>
              </a:lnSpc>
              <a:defRPr/>
            </a:pPr>
            <a:r>
              <a:rPr lang="en-US" altLang="en-US" sz="2400" dirty="0">
                <a:solidFill>
                  <a:srgbClr val="0C0C12"/>
                </a:solidFill>
              </a:rPr>
              <a:t>actions: drive between cities</a:t>
            </a:r>
          </a:p>
          <a:p>
            <a:pPr marL="384048" lvl="1" indent="-182880" eaLnBrk="1" fontAlgn="auto" hangingPunct="1">
              <a:lnSpc>
                <a:spcPct val="80000"/>
              </a:lnSpc>
              <a:defRPr/>
            </a:pPr>
            <a:endParaRPr lang="en-US" altLang="en-US" sz="2400" dirty="0">
              <a:solidFill>
                <a:srgbClr val="0C0C12"/>
              </a:solidFill>
            </a:endParaRPr>
          </a:p>
          <a:p>
            <a:pPr marL="91440" indent="-91440" eaLnBrk="1" fontAlgn="auto" hangingPunct="1">
              <a:lnSpc>
                <a:spcPct val="80000"/>
              </a:lnSpc>
              <a:defRPr/>
            </a:pPr>
            <a:r>
              <a:rPr lang="en-US" altLang="en-US" sz="2800" dirty="0">
                <a:solidFill>
                  <a:srgbClr val="0C0C12"/>
                </a:solidFill>
              </a:rPr>
              <a:t>Find solution:</a:t>
            </a:r>
          </a:p>
          <a:p>
            <a:pPr marL="384048" lvl="1" indent="-182880" eaLnBrk="1" fontAlgn="auto" hangingPunct="1">
              <a:lnSpc>
                <a:spcPct val="80000"/>
              </a:lnSpc>
              <a:defRPr/>
            </a:pPr>
            <a:r>
              <a:rPr lang="en-US" altLang="en-US" sz="2400" dirty="0">
                <a:solidFill>
                  <a:srgbClr val="0C0C12"/>
                </a:solidFill>
              </a:rPr>
              <a:t>sequence of cities, e.g., Arad, Sibiu, </a:t>
            </a:r>
            <a:r>
              <a:rPr lang="en-US" altLang="en-US" sz="2400" dirty="0" err="1">
                <a:solidFill>
                  <a:srgbClr val="0C0C12"/>
                </a:solidFill>
              </a:rPr>
              <a:t>Fagaras</a:t>
            </a:r>
            <a:r>
              <a:rPr lang="en-US" altLang="en-US" sz="2400" dirty="0">
                <a:solidFill>
                  <a:srgbClr val="0C0C12"/>
                </a:solidFill>
              </a:rPr>
              <a:t>, Bucharest
</a:t>
            </a:r>
          </a:p>
          <a:p>
            <a:pPr marL="91440" indent="-91440" eaLnBrk="1" fontAlgn="auto" hangingPunct="1">
              <a:lnSpc>
                <a:spcPct val="80000"/>
              </a:lnSpc>
              <a:defRPr/>
            </a:pPr>
            <a:endParaRPr lang="en-US" altLang="en-US" sz="2800" dirty="0">
              <a:solidFill>
                <a:srgbClr val="0C0C12"/>
              </a:solidFill>
            </a:endParaRPr>
          </a:p>
          <a:p>
            <a:endParaRPr lang="en-IN" dirty="0"/>
          </a:p>
        </p:txBody>
      </p:sp>
      <p:sp>
        <p:nvSpPr>
          <p:cNvPr id="4" name="Footer Placeholder 3">
            <a:extLst>
              <a:ext uri="{FF2B5EF4-FFF2-40B4-BE49-F238E27FC236}">
                <a16:creationId xmlns:a16="http://schemas.microsoft.com/office/drawing/2014/main" xmlns="" id="{18A3C2F0-BDD7-2163-EDEA-047F334BA37C}"/>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1C0AAA34-0E82-011E-CDF5-EB6BD7511987}"/>
              </a:ext>
            </a:extLst>
          </p:cNvPr>
          <p:cNvSpPr>
            <a:spLocks noGrp="1"/>
          </p:cNvSpPr>
          <p:nvPr>
            <p:ph type="sldNum" sz="quarter" idx="12"/>
          </p:nvPr>
        </p:nvSpPr>
        <p:spPr/>
        <p:txBody>
          <a:bodyPr/>
          <a:lstStyle/>
          <a:p>
            <a:fld id="{1E81A027-E3F7-4FC9-A752-E855AD4A687D}" type="slidenum">
              <a:rPr lang="en-IN" smtClean="0"/>
              <a:t>21</a:t>
            </a:fld>
            <a:endParaRPr lang="en-IN"/>
          </a:p>
        </p:txBody>
      </p:sp>
      <p:pic>
        <p:nvPicPr>
          <p:cNvPr id="6" name="Picture 4" descr="romania-distances">
            <a:extLst>
              <a:ext uri="{FF2B5EF4-FFF2-40B4-BE49-F238E27FC236}">
                <a16:creationId xmlns:a16="http://schemas.microsoft.com/office/drawing/2014/main" xmlns="" id="{0EC5DD77-C735-D32C-22F1-F38FE6F448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343906" y="2126616"/>
            <a:ext cx="4981575" cy="2994025"/>
          </a:xfrm>
          <a:prstGeom prst="rect">
            <a:avLst/>
          </a:prstGeom>
          <a:noFill/>
        </p:spPr>
      </p:pic>
    </p:spTree>
    <p:extLst>
      <p:ext uri="{BB962C8B-B14F-4D97-AF65-F5344CB8AC3E}">
        <p14:creationId xmlns:p14="http://schemas.microsoft.com/office/powerpoint/2010/main" val="1700616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C718BE-B454-EB9C-9223-C773B147362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2C63F1A-FC7E-BD71-0517-74BF73951367}"/>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095C3AE3-BAF2-2E98-CE7F-246E878FEC6C}"/>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0959FDA7-4DB2-5BEC-AC1C-EF9D2C4A8586}"/>
              </a:ext>
            </a:extLst>
          </p:cNvPr>
          <p:cNvSpPr>
            <a:spLocks noGrp="1"/>
          </p:cNvSpPr>
          <p:nvPr>
            <p:ph type="sldNum" sz="quarter" idx="12"/>
          </p:nvPr>
        </p:nvSpPr>
        <p:spPr/>
        <p:txBody>
          <a:bodyPr/>
          <a:lstStyle/>
          <a:p>
            <a:fld id="{1E81A027-E3F7-4FC9-A752-E855AD4A687D}" type="slidenum">
              <a:rPr lang="en-IN" smtClean="0"/>
              <a:t>22</a:t>
            </a:fld>
            <a:endParaRPr lang="en-IN"/>
          </a:p>
        </p:txBody>
      </p:sp>
      <p:pic>
        <p:nvPicPr>
          <p:cNvPr id="6" name="Picture 5">
            <a:extLst>
              <a:ext uri="{FF2B5EF4-FFF2-40B4-BE49-F238E27FC236}">
                <a16:creationId xmlns:a16="http://schemas.microsoft.com/office/drawing/2014/main" xmlns="" id="{486FB9FA-592B-2C7C-9BB9-16674088A8AB}"/>
              </a:ext>
            </a:extLst>
          </p:cNvPr>
          <p:cNvPicPr>
            <a:picLocks noChangeAspect="1"/>
          </p:cNvPicPr>
          <p:nvPr/>
        </p:nvPicPr>
        <p:blipFill>
          <a:blip r:embed="rId2"/>
          <a:stretch>
            <a:fillRect/>
          </a:stretch>
        </p:blipFill>
        <p:spPr>
          <a:xfrm>
            <a:off x="2500604" y="4820"/>
            <a:ext cx="9482887" cy="6297657"/>
          </a:xfrm>
          <a:prstGeom prst="rect">
            <a:avLst/>
          </a:prstGeom>
        </p:spPr>
      </p:pic>
    </p:spTree>
    <p:extLst>
      <p:ext uri="{BB962C8B-B14F-4D97-AF65-F5344CB8AC3E}">
        <p14:creationId xmlns:p14="http://schemas.microsoft.com/office/powerpoint/2010/main" val="1572173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F69C7E-6A4A-E9CB-37D8-F2C2DEDAAD7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88FE20DF-FB43-A47A-EC06-B701836FBC30}"/>
              </a:ext>
            </a:extLst>
          </p:cNvPr>
          <p:cNvSpPr>
            <a:spLocks noGrp="1"/>
          </p:cNvSpPr>
          <p:nvPr>
            <p:ph idx="1"/>
          </p:nvPr>
        </p:nvSpPr>
        <p:spPr/>
        <p:txBody>
          <a:bodyPr>
            <a:normAutofit/>
          </a:bodyPr>
          <a:lstStyle/>
          <a:p>
            <a:pPr eaLnBrk="1" hangingPunct="1">
              <a:buFontTx/>
              <a:buAutoNum type="arabicPeriod"/>
            </a:pPr>
            <a:r>
              <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rPr>
              <a:t>Problem : To Go from </a:t>
            </a:r>
            <a:r>
              <a:rPr lang="en-US" altLang="en-US" sz="2000" dirty="0">
                <a:solidFill>
                  <a:srgbClr val="0C0C12"/>
                </a:solidFill>
              </a:rPr>
              <a:t>Arad</a:t>
            </a:r>
            <a:r>
              <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rPr>
              <a:t> to </a:t>
            </a:r>
            <a:r>
              <a:rPr lang="en-US" altLang="en-US" sz="2000" dirty="0">
                <a:solidFill>
                  <a:srgbClr val="0C0C12"/>
                </a:solidFill>
              </a:rPr>
              <a:t>Bucharest</a:t>
            </a:r>
            <a:endPar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endParaRPr>
          </a:p>
          <a:p>
            <a:pPr eaLnBrk="1" hangingPunct="1">
              <a:buFontTx/>
              <a:buAutoNum type="arabicPeriod" startAt="2"/>
            </a:pPr>
            <a:r>
              <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rPr>
              <a:t>Initial State : </a:t>
            </a:r>
            <a:r>
              <a:rPr lang="en-US" altLang="en-US" sz="2000" dirty="0">
                <a:solidFill>
                  <a:srgbClr val="0C0C12"/>
                </a:solidFill>
              </a:rPr>
              <a:t>Arad</a:t>
            </a:r>
            <a:endPar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endParaRPr>
          </a:p>
          <a:p>
            <a:pPr eaLnBrk="1" hangingPunct="1">
              <a:buFontTx/>
              <a:buAutoNum type="arabicPeriod" startAt="2"/>
            </a:pPr>
            <a:r>
              <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rPr>
              <a:t>Operator : Go from One City To another .</a:t>
            </a:r>
          </a:p>
          <a:p>
            <a:pPr eaLnBrk="1" hangingPunct="1">
              <a:buFontTx/>
              <a:buAutoNum type="arabicPeriod" startAt="2"/>
            </a:pPr>
            <a:r>
              <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rPr>
              <a:t>State Space</a:t>
            </a:r>
            <a:r>
              <a:rPr lang="ar-SA" altLang="en-US" sz="2000" b="1" dirty="0">
                <a:solidFill>
                  <a:srgbClr val="1D0401"/>
                </a:solidFill>
                <a:latin typeface="Arial" panose="020B0604020202020204" pitchFamily="34" charset="0"/>
                <a:ea typeface="PMingLiU" panose="02020500000000000000" pitchFamily="18" charset="-120"/>
              </a:rPr>
              <a:t> : </a:t>
            </a:r>
            <a:r>
              <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rPr>
              <a:t>{</a:t>
            </a:r>
            <a:r>
              <a:rPr lang="en-US" altLang="en-US" sz="2000" dirty="0">
                <a:solidFill>
                  <a:srgbClr val="0C0C12"/>
                </a:solidFill>
              </a:rPr>
              <a:t>Sibiu, </a:t>
            </a:r>
            <a:r>
              <a:rPr lang="en-US" altLang="en-US" sz="2000" dirty="0" err="1">
                <a:solidFill>
                  <a:srgbClr val="0C0C12"/>
                </a:solidFill>
              </a:rPr>
              <a:t>Fagaras</a:t>
            </a:r>
            <a:r>
              <a:rPr lang="en-US" altLang="en-US" sz="2000" dirty="0">
                <a:solidFill>
                  <a:srgbClr val="0C0C12"/>
                </a:solidFill>
              </a:rPr>
              <a:t>, </a:t>
            </a:r>
            <a:r>
              <a:rPr lang="en-US" altLang="en-US" sz="2000" dirty="0" err="1">
                <a:solidFill>
                  <a:srgbClr val="0C0C12"/>
                </a:solidFill>
              </a:rPr>
              <a:t>Timisora</a:t>
            </a:r>
            <a:r>
              <a:rPr lang="en-US" altLang="en-US" b="1" dirty="0">
                <a:solidFill>
                  <a:srgbClr val="1D0401"/>
                </a:solidFill>
                <a:latin typeface="Arial" panose="020B0604020202020204" pitchFamily="34" charset="0"/>
                <a:ea typeface="PMingLiU" panose="02020500000000000000" pitchFamily="18" charset="-120"/>
                <a:cs typeface="Arial" panose="020B0604020202020204" pitchFamily="34" charset="0"/>
              </a:rPr>
              <a:t>,….</a:t>
            </a:r>
            <a:r>
              <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rPr>
              <a:t>}</a:t>
            </a:r>
          </a:p>
          <a:p>
            <a:pPr eaLnBrk="1" hangingPunct="1">
              <a:buFontTx/>
              <a:buAutoNum type="arabicPeriod" startAt="2"/>
            </a:pPr>
            <a:r>
              <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rPr>
              <a:t>Goal Test : are the agent in </a:t>
            </a:r>
            <a:r>
              <a:rPr lang="en-US" altLang="en-US" sz="2000" dirty="0">
                <a:solidFill>
                  <a:srgbClr val="0C0C12"/>
                </a:solidFill>
              </a:rPr>
              <a:t>Bucharest</a:t>
            </a:r>
            <a:r>
              <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rPr>
              <a:t>.</a:t>
            </a:r>
          </a:p>
          <a:p>
            <a:pPr eaLnBrk="1" hangingPunct="1">
              <a:buFontTx/>
              <a:buAutoNum type="arabicPeriod" startAt="2"/>
            </a:pPr>
            <a:r>
              <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rPr>
              <a:t>Path Cost Function : Get The Cost From The Map.</a:t>
            </a:r>
          </a:p>
          <a:p>
            <a:pPr eaLnBrk="1" hangingPunct="1">
              <a:buFontTx/>
              <a:buAutoNum type="arabicPeriod" startAt="2"/>
            </a:pPr>
            <a:r>
              <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rPr>
              <a:t>Solution :</a:t>
            </a:r>
            <a:r>
              <a:rPr lang="en-US" altLang="en-US" sz="3600" b="1" dirty="0">
                <a:solidFill>
                  <a:srgbClr val="1D0401"/>
                </a:solidFill>
                <a:latin typeface="Arial" panose="020B0604020202020204" pitchFamily="34" charset="0"/>
                <a:ea typeface="PMingLiU" panose="02020500000000000000" pitchFamily="18" charset="-120"/>
                <a:cs typeface="Arial" panose="020B0604020202020204" pitchFamily="34" charset="0"/>
              </a:rPr>
              <a:t>{</a:t>
            </a:r>
            <a:r>
              <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rPr>
              <a:t> </a:t>
            </a:r>
            <a:r>
              <a:rPr lang="en-US" altLang="en-US" sz="1200" u="sng" dirty="0">
                <a:solidFill>
                  <a:srgbClr val="1D0401"/>
                </a:solidFill>
                <a:latin typeface="Arial" panose="020B0604020202020204" pitchFamily="34" charset="0"/>
                <a:ea typeface="PMingLiU" panose="02020500000000000000" pitchFamily="18" charset="-120"/>
                <a:cs typeface="Arial" panose="020B0604020202020204" pitchFamily="34" charset="0"/>
              </a:rPr>
              <a:t>{</a:t>
            </a:r>
            <a:r>
              <a:rPr lang="en-US" altLang="en-US" sz="1200" u="sng" dirty="0" err="1">
                <a:solidFill>
                  <a:srgbClr val="1D0401"/>
                </a:solidFill>
                <a:latin typeface="Arial" panose="020B0604020202020204" pitchFamily="34" charset="0"/>
                <a:ea typeface="PMingLiU" panose="02020500000000000000" pitchFamily="18" charset="-120"/>
                <a:cs typeface="Arial" panose="020B0604020202020204" pitchFamily="34" charset="0"/>
              </a:rPr>
              <a:t>Ar</a:t>
            </a:r>
            <a:r>
              <a:rPr lang="en-US" altLang="en-US" sz="1200" u="sng" dirty="0">
                <a:solidFill>
                  <a:srgbClr val="1D0401"/>
                </a:solidFill>
                <a:latin typeface="Arial" panose="020B0604020202020204" pitchFamily="34" charset="0"/>
                <a:ea typeface="PMingLiU" panose="02020500000000000000" pitchFamily="18" charset="-120"/>
                <a:cs typeface="Arial" panose="020B0604020202020204" pitchFamily="34" charset="0"/>
              </a:rPr>
              <a:t> </a:t>
            </a:r>
            <a:r>
              <a:rPr lang="en-US" altLang="en-US" sz="1200" u="sng" dirty="0">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 sib  </a:t>
            </a:r>
            <a:r>
              <a:rPr lang="en-US" altLang="en-US" sz="1200" u="sng" dirty="0" err="1">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FrBu</a:t>
            </a:r>
            <a:r>
              <a:rPr lang="en-US" altLang="en-US" sz="1200" u="sng" dirty="0">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a:t>
            </a:r>
            <a:r>
              <a:rPr lang="en-US" altLang="en-US" sz="1200" dirty="0">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  ,   </a:t>
            </a:r>
            <a:r>
              <a:rPr lang="en-US" altLang="en-US" sz="1200" u="sng" dirty="0">
                <a:solidFill>
                  <a:srgbClr val="1D0401"/>
                </a:solidFill>
                <a:latin typeface="Arial" panose="020B0604020202020204" pitchFamily="34" charset="0"/>
                <a:ea typeface="PMingLiU" panose="02020500000000000000" pitchFamily="18" charset="-120"/>
                <a:cs typeface="Arial" panose="020B0604020202020204" pitchFamily="34" charset="0"/>
              </a:rPr>
              <a:t>{</a:t>
            </a:r>
            <a:r>
              <a:rPr lang="en-US" altLang="en-US" sz="1200" u="sng" dirty="0" err="1">
                <a:solidFill>
                  <a:srgbClr val="1D0401"/>
                </a:solidFill>
                <a:latin typeface="Arial" panose="020B0604020202020204" pitchFamily="34" charset="0"/>
                <a:ea typeface="PMingLiU" panose="02020500000000000000" pitchFamily="18" charset="-120"/>
                <a:cs typeface="Arial" panose="020B0604020202020204" pitchFamily="34" charset="0"/>
              </a:rPr>
              <a:t>Ar</a:t>
            </a:r>
            <a:r>
              <a:rPr lang="en-US" altLang="en-US" sz="1200" u="sng" dirty="0">
                <a:solidFill>
                  <a:srgbClr val="1D0401"/>
                </a:solidFill>
                <a:latin typeface="Arial" panose="020B0604020202020204" pitchFamily="34" charset="0"/>
                <a:ea typeface="PMingLiU" panose="02020500000000000000" pitchFamily="18" charset="-120"/>
                <a:cs typeface="Arial" panose="020B0604020202020204" pitchFamily="34" charset="0"/>
              </a:rPr>
              <a:t> </a:t>
            </a:r>
            <a:r>
              <a:rPr lang="en-US" altLang="en-US" sz="1200" u="sng" dirty="0">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a:t>
            </a:r>
            <a:r>
              <a:rPr lang="en-US" altLang="en-US" sz="1200" u="sng" dirty="0" err="1">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Ti</a:t>
            </a:r>
            <a:r>
              <a:rPr lang="en-US" altLang="en-US" sz="1200" u="sng" dirty="0">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  Lu  Me  Cr,</a:t>
            </a:r>
            <a:r>
              <a:rPr lang="en-US" altLang="en-US" sz="1200" u="sng" dirty="0" err="1">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PiBu</a:t>
            </a:r>
            <a:r>
              <a:rPr lang="en-US" altLang="en-US" sz="1200" u="sng" dirty="0">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a:t>
            </a:r>
            <a:r>
              <a:rPr lang="en-US" altLang="en-US" sz="1200" dirty="0">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 …..</a:t>
            </a:r>
            <a:r>
              <a:rPr lang="en-US" altLang="en-US" sz="3600" b="1" dirty="0">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a:t>
            </a:r>
            <a:endParaRPr lang="en-US" altLang="en-US" b="1" dirty="0">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endParaRPr>
          </a:p>
          <a:p>
            <a:pPr eaLnBrk="1" hangingPunct="1">
              <a:buFontTx/>
              <a:buAutoNum type="arabicPeriod" startAt="2"/>
            </a:pPr>
            <a:r>
              <a:rPr lang="en-US" altLang="en-US" sz="2000" b="1" dirty="0">
                <a:solidFill>
                  <a:srgbClr val="1D0401"/>
                </a:solidFill>
                <a:latin typeface="Arial" panose="020B0604020202020204" pitchFamily="34" charset="0"/>
                <a:ea typeface="PMingLiU" panose="02020500000000000000" pitchFamily="18" charset="-120"/>
                <a:cs typeface="Arial" panose="020B0604020202020204" pitchFamily="34" charset="0"/>
              </a:rPr>
              <a:t>State Set Space : </a:t>
            </a:r>
            <a:r>
              <a:rPr lang="en-US" altLang="en-US" sz="2000" dirty="0">
                <a:solidFill>
                  <a:srgbClr val="1D0401"/>
                </a:solidFill>
                <a:latin typeface="Arial" panose="020B0604020202020204" pitchFamily="34" charset="0"/>
                <a:ea typeface="PMingLiU" panose="02020500000000000000" pitchFamily="18" charset="-120"/>
                <a:cs typeface="Arial" panose="020B0604020202020204" pitchFamily="34" charset="0"/>
              </a:rPr>
              <a:t>{</a:t>
            </a:r>
            <a:r>
              <a:rPr lang="en-US" altLang="en-US" sz="2000" dirty="0">
                <a:solidFill>
                  <a:srgbClr val="0C0C12"/>
                </a:solidFill>
              </a:rPr>
              <a:t>Arad</a:t>
            </a:r>
            <a:r>
              <a:rPr lang="en-US" altLang="en-US" sz="2000" u="sng" dirty="0">
                <a:solidFill>
                  <a:srgbClr val="1D0401"/>
                </a:solidFill>
                <a:latin typeface="Arial" panose="020B0604020202020204" pitchFamily="34" charset="0"/>
                <a:ea typeface="PMingLiU" panose="02020500000000000000" pitchFamily="18" charset="-120"/>
                <a:cs typeface="Arial" panose="020B0604020202020204" pitchFamily="34" charset="0"/>
              </a:rPr>
              <a:t> </a:t>
            </a:r>
            <a:r>
              <a:rPr lang="en-US" altLang="en-US" sz="2000" u="sng" dirty="0">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 </a:t>
            </a:r>
            <a:r>
              <a:rPr lang="en-US" altLang="en-US" sz="2000" dirty="0">
                <a:solidFill>
                  <a:srgbClr val="0C0C12"/>
                </a:solidFill>
              </a:rPr>
              <a:t>Sibiu</a:t>
            </a:r>
            <a:r>
              <a:rPr lang="en-US" altLang="en-US" sz="2000" u="sng" dirty="0">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  </a:t>
            </a:r>
            <a:r>
              <a:rPr lang="en-US" altLang="en-US" sz="2000" dirty="0" err="1">
                <a:solidFill>
                  <a:srgbClr val="0C0C12"/>
                </a:solidFill>
              </a:rPr>
              <a:t>Fagaras</a:t>
            </a:r>
            <a:r>
              <a:rPr lang="en-US" altLang="en-US" sz="2000" dirty="0">
                <a:solidFill>
                  <a:srgbClr val="0C0C12"/>
                </a:solidFill>
              </a:rPr>
              <a:t> </a:t>
            </a:r>
            <a:r>
              <a:rPr lang="en-US" altLang="en-US" sz="2000" u="sng" dirty="0">
                <a:solidFill>
                  <a:srgbClr val="1D0401"/>
                </a:solidFill>
                <a:latin typeface="Arial" panose="020B0604020202020204" pitchFamily="34" charset="0"/>
                <a:ea typeface="PMingLiU" panose="02020500000000000000" pitchFamily="18" charset="-120"/>
                <a:cs typeface="Arial" panose="020B0604020202020204" pitchFamily="34" charset="0"/>
                <a:sym typeface="Wingdings" panose="05000000000000000000" pitchFamily="2" charset="2"/>
              </a:rPr>
              <a:t></a:t>
            </a:r>
            <a:r>
              <a:rPr lang="en-US" altLang="en-US" sz="2000" dirty="0">
                <a:solidFill>
                  <a:srgbClr val="0C0C12"/>
                </a:solidFill>
              </a:rPr>
              <a:t> Bucharest</a:t>
            </a:r>
            <a:r>
              <a:rPr lang="en-US" altLang="en-US" sz="2000" dirty="0">
                <a:solidFill>
                  <a:srgbClr val="1D0401"/>
                </a:solidFill>
                <a:latin typeface="Arial" panose="020B0604020202020204" pitchFamily="34" charset="0"/>
                <a:ea typeface="PMingLiU" panose="02020500000000000000" pitchFamily="18" charset="-120"/>
                <a:cs typeface="Arial" panose="020B0604020202020204" pitchFamily="34" charset="0"/>
              </a:rPr>
              <a:t>}</a:t>
            </a:r>
            <a:endParaRPr lang="ar-SA" altLang="en-US" sz="2000" dirty="0">
              <a:solidFill>
                <a:srgbClr val="1D0401"/>
              </a:solidFill>
              <a:latin typeface="Arial" panose="020B0604020202020204" pitchFamily="34" charset="0"/>
              <a:ea typeface="PMingLiU" panose="02020500000000000000" pitchFamily="18" charset="-120"/>
            </a:endParaRPr>
          </a:p>
          <a:p>
            <a:endParaRPr lang="en-IN" dirty="0"/>
          </a:p>
        </p:txBody>
      </p:sp>
      <p:sp>
        <p:nvSpPr>
          <p:cNvPr id="4" name="Footer Placeholder 3">
            <a:extLst>
              <a:ext uri="{FF2B5EF4-FFF2-40B4-BE49-F238E27FC236}">
                <a16:creationId xmlns:a16="http://schemas.microsoft.com/office/drawing/2014/main" xmlns="" id="{034D621B-A783-8265-4546-ACAE4D96E8DF}"/>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BFB347CF-A217-5536-35C6-967DE184F73B}"/>
              </a:ext>
            </a:extLst>
          </p:cNvPr>
          <p:cNvSpPr>
            <a:spLocks noGrp="1"/>
          </p:cNvSpPr>
          <p:nvPr>
            <p:ph type="sldNum" sz="quarter" idx="12"/>
          </p:nvPr>
        </p:nvSpPr>
        <p:spPr/>
        <p:txBody>
          <a:bodyPr/>
          <a:lstStyle/>
          <a:p>
            <a:fld id="{1E81A027-E3F7-4FC9-A752-E855AD4A687D}" type="slidenum">
              <a:rPr lang="en-IN" smtClean="0"/>
              <a:t>23</a:t>
            </a:fld>
            <a:endParaRPr lang="en-IN"/>
          </a:p>
        </p:txBody>
      </p:sp>
    </p:spTree>
    <p:extLst>
      <p:ext uri="{BB962C8B-B14F-4D97-AF65-F5344CB8AC3E}">
        <p14:creationId xmlns:p14="http://schemas.microsoft.com/office/powerpoint/2010/main" val="2631081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F380CD-EE3F-6665-7AD6-04EDE8683AE9}"/>
              </a:ext>
            </a:extLst>
          </p:cNvPr>
          <p:cNvSpPr>
            <a:spLocks noGrp="1"/>
          </p:cNvSpPr>
          <p:nvPr>
            <p:ph type="title"/>
          </p:nvPr>
        </p:nvSpPr>
        <p:spPr/>
        <p:txBody>
          <a:bodyPr/>
          <a:lstStyle/>
          <a:p>
            <a:r>
              <a:rPr lang="en-US" altLang="en-US" sz="4800" dirty="0">
                <a:solidFill>
                  <a:srgbClr val="1D0401"/>
                </a:solidFill>
              </a:rPr>
              <a:t>Single-state problem formulation</a:t>
            </a:r>
            <a:endParaRPr lang="en-IN" dirty="0"/>
          </a:p>
        </p:txBody>
      </p:sp>
      <p:sp>
        <p:nvSpPr>
          <p:cNvPr id="3" name="Content Placeholder 2">
            <a:extLst>
              <a:ext uri="{FF2B5EF4-FFF2-40B4-BE49-F238E27FC236}">
                <a16:creationId xmlns:a16="http://schemas.microsoft.com/office/drawing/2014/main" xmlns="" id="{4AF19128-B34A-81A3-D550-4C6D50D2396C}"/>
              </a:ext>
            </a:extLst>
          </p:cNvPr>
          <p:cNvSpPr>
            <a:spLocks noGrp="1"/>
          </p:cNvSpPr>
          <p:nvPr>
            <p:ph idx="1"/>
          </p:nvPr>
        </p:nvSpPr>
        <p:spPr/>
        <p:txBody>
          <a:bodyPr>
            <a:normAutofit fontScale="85000" lnSpcReduction="10000"/>
          </a:bodyPr>
          <a:lstStyle/>
          <a:p>
            <a:pPr marL="381000" indent="-381000" eaLnBrk="1" fontAlgn="auto" hangingPunct="1">
              <a:lnSpc>
                <a:spcPct val="80000"/>
              </a:lnSpc>
              <a:buFontTx/>
              <a:buNone/>
              <a:defRPr/>
            </a:pPr>
            <a:r>
              <a:rPr lang="en-US" altLang="en-US" sz="2800" dirty="0">
                <a:solidFill>
                  <a:srgbClr val="1D0401"/>
                </a:solidFill>
              </a:rPr>
              <a:t>A problem is defined by four items:</a:t>
            </a:r>
          </a:p>
          <a:p>
            <a:pPr marL="381000" indent="-381000">
              <a:lnSpc>
                <a:spcPct val="80000"/>
              </a:lnSpc>
              <a:buFontTx/>
              <a:buAutoNum type="arabicPeriod"/>
              <a:defRPr/>
            </a:pPr>
            <a:r>
              <a:rPr lang="en-US" altLang="en-US" sz="2800" dirty="0">
                <a:solidFill>
                  <a:srgbClr val="1D0401"/>
                </a:solidFill>
              </a:rPr>
              <a:t>. initial state e.g., "at Arad"</a:t>
            </a:r>
          </a:p>
          <a:p>
            <a:pPr marL="381000" indent="-381000" eaLnBrk="1" fontAlgn="auto" hangingPunct="1">
              <a:lnSpc>
                <a:spcPct val="80000"/>
              </a:lnSpc>
              <a:buFontTx/>
              <a:buAutoNum type="arabicPeriod"/>
              <a:defRPr/>
            </a:pPr>
            <a:r>
              <a:rPr lang="en-US" altLang="en-US" sz="2800" dirty="0">
                <a:solidFill>
                  <a:srgbClr val="1D0401"/>
                </a:solidFill>
              </a:rPr>
              <a:t>actions or successor function </a:t>
            </a:r>
            <a:r>
              <a:rPr lang="en-US" altLang="en-US" sz="2800" i="1" dirty="0">
                <a:solidFill>
                  <a:srgbClr val="1D0401"/>
                </a:solidFill>
              </a:rPr>
              <a:t>S(x)</a:t>
            </a:r>
            <a:r>
              <a:rPr lang="en-US" altLang="en-US" sz="2800" dirty="0">
                <a:solidFill>
                  <a:srgbClr val="1D0401"/>
                </a:solidFill>
              </a:rPr>
              <a:t> = set of action</a:t>
            </a:r>
            <a:r>
              <a:rPr lang="en-US" altLang="en-US" sz="2800" dirty="0">
                <a:solidFill>
                  <a:srgbClr val="1D0401"/>
                </a:solidFill>
                <a:latin typeface="Times New Roman" panose="02020603050405020304" pitchFamily="18" charset="0"/>
              </a:rPr>
              <a:t>–</a:t>
            </a:r>
            <a:r>
              <a:rPr lang="en-US" altLang="en-US" sz="2800" dirty="0">
                <a:solidFill>
                  <a:srgbClr val="1D0401"/>
                </a:solidFill>
              </a:rPr>
              <a:t>state pairs </a:t>
            </a:r>
          </a:p>
          <a:p>
            <a:pPr marL="800100" lvl="1" indent="-342900" eaLnBrk="1" fontAlgn="auto" hangingPunct="1">
              <a:lnSpc>
                <a:spcPct val="80000"/>
              </a:lnSpc>
              <a:defRPr/>
            </a:pPr>
            <a:r>
              <a:rPr lang="en-US" altLang="en-US" sz="2400" dirty="0">
                <a:solidFill>
                  <a:srgbClr val="1D0401"/>
                </a:solidFill>
              </a:rPr>
              <a:t>e.g., </a:t>
            </a:r>
            <a:r>
              <a:rPr lang="en-US" altLang="en-US" sz="2400" i="1" dirty="0">
                <a:solidFill>
                  <a:srgbClr val="1D0401"/>
                </a:solidFill>
              </a:rPr>
              <a:t>S(Arad) = </a:t>
            </a:r>
            <a:r>
              <a:rPr lang="en-US" altLang="en-US" sz="2400" dirty="0">
                <a:solidFill>
                  <a:srgbClr val="1D0401"/>
                </a:solidFill>
              </a:rPr>
              <a:t>{</a:t>
            </a:r>
            <a:r>
              <a:rPr lang="en-US" altLang="en-US" sz="2400" i="1" dirty="0">
                <a:solidFill>
                  <a:srgbClr val="1D0401"/>
                </a:solidFill>
              </a:rPr>
              <a:t>&lt;Arad </a:t>
            </a:r>
            <a:r>
              <a:rPr lang="en-US" altLang="en-US" sz="2400" i="1" dirty="0">
                <a:solidFill>
                  <a:srgbClr val="1D0401"/>
                </a:solidFill>
                <a:sym typeface="Wingdings" panose="05000000000000000000" pitchFamily="2" charset="2"/>
              </a:rPr>
              <a:t> </a:t>
            </a:r>
            <a:r>
              <a:rPr lang="en-US" altLang="en-US" sz="2400" i="1" dirty="0" err="1">
                <a:solidFill>
                  <a:srgbClr val="1D0401"/>
                </a:solidFill>
              </a:rPr>
              <a:t>Zerind</a:t>
            </a:r>
            <a:r>
              <a:rPr lang="en-US" altLang="en-US" sz="2400" i="1" dirty="0">
                <a:solidFill>
                  <a:srgbClr val="1D0401"/>
                </a:solidFill>
              </a:rPr>
              <a:t>, </a:t>
            </a:r>
            <a:r>
              <a:rPr lang="en-US" altLang="en-US" sz="2400" i="1" dirty="0" err="1">
                <a:solidFill>
                  <a:srgbClr val="1D0401"/>
                </a:solidFill>
              </a:rPr>
              <a:t>Zerind</a:t>
            </a:r>
            <a:r>
              <a:rPr lang="en-US" altLang="en-US" sz="2400" i="1" dirty="0">
                <a:solidFill>
                  <a:srgbClr val="1D0401"/>
                </a:solidFill>
              </a:rPr>
              <a:t>&gt;, </a:t>
            </a:r>
            <a:r>
              <a:rPr lang="en-US" altLang="en-US" sz="2400" i="1" dirty="0">
                <a:solidFill>
                  <a:srgbClr val="1D0401"/>
                </a:solidFill>
                <a:latin typeface="Times New Roman" panose="02020603050405020304" pitchFamily="18" charset="0"/>
              </a:rPr>
              <a:t>…</a:t>
            </a:r>
            <a:r>
              <a:rPr lang="en-US" altLang="en-US" sz="2400" i="1" dirty="0">
                <a:solidFill>
                  <a:srgbClr val="1D0401"/>
                </a:solidFill>
              </a:rPr>
              <a:t> </a:t>
            </a:r>
            <a:r>
              <a:rPr lang="en-US" altLang="en-US" sz="2400" dirty="0">
                <a:solidFill>
                  <a:srgbClr val="1D0401"/>
                </a:solidFill>
              </a:rPr>
              <a:t>}</a:t>
            </a:r>
          </a:p>
          <a:p>
            <a:pPr marL="381000" indent="-381000" eaLnBrk="1" fontAlgn="auto" hangingPunct="1">
              <a:lnSpc>
                <a:spcPct val="80000"/>
              </a:lnSpc>
              <a:buFontTx/>
              <a:buAutoNum type="arabicPeriod"/>
              <a:defRPr/>
            </a:pPr>
            <a:r>
              <a:rPr lang="en-US" altLang="en-US" sz="2800" dirty="0">
                <a:solidFill>
                  <a:srgbClr val="1D0401"/>
                </a:solidFill>
              </a:rPr>
              <a:t>goal test, can be</a:t>
            </a:r>
          </a:p>
          <a:p>
            <a:pPr marL="800100" lvl="1" indent="-342900" eaLnBrk="1" fontAlgn="auto" hangingPunct="1">
              <a:lnSpc>
                <a:spcPct val="80000"/>
              </a:lnSpc>
              <a:defRPr/>
            </a:pPr>
            <a:r>
              <a:rPr lang="en-US" altLang="en-US" sz="2400" dirty="0">
                <a:solidFill>
                  <a:srgbClr val="1D0401"/>
                </a:solidFill>
              </a:rPr>
              <a:t>explicit, e.g., </a:t>
            </a:r>
            <a:r>
              <a:rPr lang="en-US" altLang="en-US" sz="2400" i="1" dirty="0">
                <a:solidFill>
                  <a:srgbClr val="1D0401"/>
                </a:solidFill>
              </a:rPr>
              <a:t>x </a:t>
            </a:r>
            <a:r>
              <a:rPr lang="en-US" altLang="en-US" sz="2400" dirty="0">
                <a:solidFill>
                  <a:srgbClr val="1D0401"/>
                </a:solidFill>
              </a:rPr>
              <a:t>= "at Bucharest"</a:t>
            </a:r>
          </a:p>
          <a:p>
            <a:pPr marL="800100" lvl="1" indent="-342900" eaLnBrk="1" fontAlgn="auto" hangingPunct="1">
              <a:lnSpc>
                <a:spcPct val="80000"/>
              </a:lnSpc>
              <a:defRPr/>
            </a:pPr>
            <a:r>
              <a:rPr lang="en-US" altLang="en-US" sz="2400" dirty="0">
                <a:solidFill>
                  <a:srgbClr val="1D0401"/>
                </a:solidFill>
              </a:rPr>
              <a:t>implicit, e.g., </a:t>
            </a:r>
            <a:r>
              <a:rPr lang="en-US" altLang="en-US" sz="2400" i="1" dirty="0">
                <a:solidFill>
                  <a:srgbClr val="1D0401"/>
                </a:solidFill>
              </a:rPr>
              <a:t>Checkmate(x)</a:t>
            </a:r>
            <a:endParaRPr lang="en-US" altLang="en-US" sz="2400" dirty="0">
              <a:solidFill>
                <a:srgbClr val="1D0401"/>
              </a:solidFill>
            </a:endParaRPr>
          </a:p>
          <a:p>
            <a:pPr marL="381000" indent="-381000" eaLnBrk="1" fontAlgn="auto" hangingPunct="1">
              <a:lnSpc>
                <a:spcPct val="80000"/>
              </a:lnSpc>
              <a:buFontTx/>
              <a:buAutoNum type="arabicPeriod"/>
              <a:defRPr/>
            </a:pPr>
            <a:r>
              <a:rPr lang="en-US" altLang="en-US" sz="2800" dirty="0">
                <a:solidFill>
                  <a:srgbClr val="1D0401"/>
                </a:solidFill>
              </a:rPr>
              <a:t>path cost (additive)</a:t>
            </a:r>
          </a:p>
          <a:p>
            <a:pPr marL="800100" lvl="1" indent="-342900" eaLnBrk="1" fontAlgn="auto" hangingPunct="1">
              <a:lnSpc>
                <a:spcPct val="80000"/>
              </a:lnSpc>
              <a:defRPr/>
            </a:pPr>
            <a:r>
              <a:rPr lang="en-US" altLang="en-US" sz="2400" dirty="0">
                <a:solidFill>
                  <a:srgbClr val="1D0401"/>
                </a:solidFill>
              </a:rPr>
              <a:t>e.g., sum of distances, number of actions executed, etc.</a:t>
            </a:r>
          </a:p>
          <a:p>
            <a:pPr marL="800100" lvl="1" indent="-342900" eaLnBrk="1" fontAlgn="auto" hangingPunct="1">
              <a:lnSpc>
                <a:spcPct val="80000"/>
              </a:lnSpc>
              <a:defRPr/>
            </a:pPr>
            <a:r>
              <a:rPr lang="en-US" altLang="en-US" sz="2400" i="1" dirty="0">
                <a:solidFill>
                  <a:srgbClr val="1D0401"/>
                </a:solidFill>
              </a:rPr>
              <a:t>c(</a:t>
            </a:r>
            <a:r>
              <a:rPr lang="en-US" altLang="en-US" sz="2400" i="1" dirty="0" err="1">
                <a:solidFill>
                  <a:srgbClr val="1D0401"/>
                </a:solidFill>
              </a:rPr>
              <a:t>x,a,y</a:t>
            </a:r>
            <a:r>
              <a:rPr lang="en-US" altLang="en-US" sz="2400" i="1" dirty="0">
                <a:solidFill>
                  <a:srgbClr val="1D0401"/>
                </a:solidFill>
              </a:rPr>
              <a:t>) </a:t>
            </a:r>
            <a:r>
              <a:rPr lang="en-US" altLang="en-US" sz="2400" dirty="0">
                <a:solidFill>
                  <a:srgbClr val="1D0401"/>
                </a:solidFill>
              </a:rPr>
              <a:t>is the step cost, assumed to be </a:t>
            </a:r>
            <a:r>
              <a:rPr lang="en-US" altLang="en-US" sz="2400" dirty="0">
                <a:solidFill>
                  <a:srgbClr val="1D0401"/>
                </a:solidFill>
                <a:cs typeface="Arial" panose="020B0604020202020204" pitchFamily="34" charset="0"/>
              </a:rPr>
              <a:t>≥ </a:t>
            </a:r>
            <a:r>
              <a:rPr lang="en-US" altLang="en-US" sz="2400" dirty="0">
                <a:solidFill>
                  <a:srgbClr val="1D0401"/>
                </a:solidFill>
              </a:rPr>
              <a:t>0</a:t>
            </a:r>
          </a:p>
          <a:p>
            <a:pPr marL="381000" indent="-381000" eaLnBrk="1" fontAlgn="auto" hangingPunct="1">
              <a:lnSpc>
                <a:spcPct val="80000"/>
              </a:lnSpc>
              <a:defRPr/>
            </a:pPr>
            <a:r>
              <a:rPr lang="en-US" altLang="en-US" sz="2800" dirty="0">
                <a:solidFill>
                  <a:srgbClr val="1D0401"/>
                </a:solidFill>
              </a:rPr>
              <a:t>A solution is a sequence of actions leading from the initial state to a goal state</a:t>
            </a:r>
          </a:p>
          <a:p>
            <a:endParaRPr lang="en-IN" sz="2800" dirty="0"/>
          </a:p>
        </p:txBody>
      </p:sp>
      <p:sp>
        <p:nvSpPr>
          <p:cNvPr id="4" name="Footer Placeholder 3">
            <a:extLst>
              <a:ext uri="{FF2B5EF4-FFF2-40B4-BE49-F238E27FC236}">
                <a16:creationId xmlns:a16="http://schemas.microsoft.com/office/drawing/2014/main" xmlns="" id="{DF3FCC43-034F-1AAF-7A86-3BD387005A94}"/>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717026F3-7998-52E5-6E73-B9C22EB4C39F}"/>
              </a:ext>
            </a:extLst>
          </p:cNvPr>
          <p:cNvSpPr>
            <a:spLocks noGrp="1"/>
          </p:cNvSpPr>
          <p:nvPr>
            <p:ph type="sldNum" sz="quarter" idx="12"/>
          </p:nvPr>
        </p:nvSpPr>
        <p:spPr/>
        <p:txBody>
          <a:bodyPr/>
          <a:lstStyle/>
          <a:p>
            <a:fld id="{1E81A027-E3F7-4FC9-A752-E855AD4A687D}" type="slidenum">
              <a:rPr lang="en-IN" smtClean="0"/>
              <a:t>24</a:t>
            </a:fld>
            <a:endParaRPr lang="en-IN"/>
          </a:p>
        </p:txBody>
      </p:sp>
    </p:spTree>
    <p:extLst>
      <p:ext uri="{BB962C8B-B14F-4D97-AF65-F5344CB8AC3E}">
        <p14:creationId xmlns:p14="http://schemas.microsoft.com/office/powerpoint/2010/main" val="553966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14D8DD-B89F-D0B6-89E4-3D2FAB75BF59}"/>
              </a:ext>
            </a:extLst>
          </p:cNvPr>
          <p:cNvSpPr>
            <a:spLocks noGrp="1"/>
          </p:cNvSpPr>
          <p:nvPr>
            <p:ph type="title"/>
          </p:nvPr>
        </p:nvSpPr>
        <p:spPr/>
        <p:txBody>
          <a:bodyPr/>
          <a:lstStyle/>
          <a:p>
            <a:r>
              <a:rPr lang="en-IN" dirty="0"/>
              <a:t>Example Problems</a:t>
            </a:r>
          </a:p>
        </p:txBody>
      </p:sp>
      <p:sp>
        <p:nvSpPr>
          <p:cNvPr id="3" name="Content Placeholder 2">
            <a:extLst>
              <a:ext uri="{FF2B5EF4-FFF2-40B4-BE49-F238E27FC236}">
                <a16:creationId xmlns:a16="http://schemas.microsoft.com/office/drawing/2014/main" xmlns="" id="{9CB19308-3750-2589-12C3-B0B565BF8B9D}"/>
              </a:ext>
            </a:extLst>
          </p:cNvPr>
          <p:cNvSpPr>
            <a:spLocks noGrp="1"/>
          </p:cNvSpPr>
          <p:nvPr>
            <p:ph idx="1"/>
          </p:nvPr>
        </p:nvSpPr>
        <p:spPr/>
        <p:txBody>
          <a:bodyPr>
            <a:normAutofit/>
          </a:bodyPr>
          <a:lstStyle/>
          <a:p>
            <a:r>
              <a:rPr lang="en-US" sz="2800" dirty="0">
                <a:solidFill>
                  <a:srgbClr val="000000"/>
                </a:solidFill>
              </a:rPr>
              <a:t>D</a:t>
            </a:r>
            <a:r>
              <a:rPr lang="en-US" sz="2800" dirty="0">
                <a:solidFill>
                  <a:srgbClr val="000000"/>
                </a:solidFill>
                <a:effectLst/>
              </a:rPr>
              <a:t>istinguishing between </a:t>
            </a:r>
            <a:r>
              <a:rPr lang="en-US" sz="2800" i="1" dirty="0">
                <a:solidFill>
                  <a:srgbClr val="000000"/>
                </a:solidFill>
                <a:effectLst/>
              </a:rPr>
              <a:t>toy </a:t>
            </a:r>
            <a:r>
              <a:rPr lang="en-US" sz="2800" dirty="0">
                <a:solidFill>
                  <a:srgbClr val="000000"/>
                </a:solidFill>
                <a:effectLst/>
              </a:rPr>
              <a:t>and </a:t>
            </a:r>
            <a:r>
              <a:rPr lang="en-US" sz="2800" i="1" dirty="0">
                <a:solidFill>
                  <a:srgbClr val="000000"/>
                </a:solidFill>
                <a:effectLst/>
              </a:rPr>
              <a:t>real-world </a:t>
            </a:r>
            <a:r>
              <a:rPr lang="en-US" sz="2800" dirty="0">
                <a:solidFill>
                  <a:srgbClr val="000000"/>
                </a:solidFill>
                <a:effectLst/>
              </a:rPr>
              <a:t>problems</a:t>
            </a:r>
          </a:p>
          <a:p>
            <a:r>
              <a:rPr lang="en-US" sz="2800" b="1" dirty="0">
                <a:solidFill>
                  <a:srgbClr val="000000"/>
                </a:solidFill>
                <a:effectLst/>
              </a:rPr>
              <a:t>Toy Problem </a:t>
            </a:r>
            <a:r>
              <a:rPr lang="en-US" sz="2800" dirty="0">
                <a:solidFill>
                  <a:srgbClr val="000000"/>
                </a:solidFill>
                <a:effectLst/>
              </a:rPr>
              <a:t>is intended to illustrate or exercise various problem-solving methods. </a:t>
            </a:r>
            <a:r>
              <a:rPr lang="en-US" altLang="zh-TW" sz="2400" dirty="0">
                <a:solidFill>
                  <a:srgbClr val="1D0401"/>
                </a:solidFill>
              </a:rPr>
              <a:t>E.g., puzzle, chess, etc. </a:t>
            </a:r>
          </a:p>
          <a:p>
            <a:endParaRPr lang="en-US" sz="2800" dirty="0">
              <a:solidFill>
                <a:srgbClr val="000000"/>
              </a:solidFill>
            </a:endParaRPr>
          </a:p>
          <a:p>
            <a:r>
              <a:rPr lang="en-US" sz="2800" b="1" dirty="0">
                <a:solidFill>
                  <a:srgbClr val="000000"/>
                </a:solidFill>
                <a:effectLst/>
              </a:rPr>
              <a:t>A real-world problem </a:t>
            </a:r>
            <a:r>
              <a:rPr lang="en-US" sz="2800" dirty="0">
                <a:solidFill>
                  <a:srgbClr val="000000"/>
                </a:solidFill>
                <a:effectLst/>
              </a:rPr>
              <a:t>is one whose solutions people actually care about. </a:t>
            </a:r>
            <a:r>
              <a:rPr lang="en-US" altLang="zh-TW" sz="2400" dirty="0">
                <a:solidFill>
                  <a:srgbClr val="1D0401"/>
                </a:solidFill>
              </a:rPr>
              <a:t>E.g., Design, planning, etc.</a:t>
            </a:r>
            <a:endParaRPr lang="zh-TW" altLang="en-US" sz="2400" dirty="0">
              <a:solidFill>
                <a:srgbClr val="1D0401"/>
              </a:solidFill>
            </a:endParaRPr>
          </a:p>
          <a:p>
            <a:endParaRPr lang="en-US" sz="2800" dirty="0">
              <a:solidFill>
                <a:srgbClr val="000000"/>
              </a:solidFill>
              <a:effectLst/>
            </a:endParaRPr>
          </a:p>
        </p:txBody>
      </p:sp>
      <p:sp>
        <p:nvSpPr>
          <p:cNvPr id="4" name="Footer Placeholder 3">
            <a:extLst>
              <a:ext uri="{FF2B5EF4-FFF2-40B4-BE49-F238E27FC236}">
                <a16:creationId xmlns:a16="http://schemas.microsoft.com/office/drawing/2014/main" xmlns="" id="{DCE7BB63-0EFD-6549-E201-842574E3F61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CA22999D-3748-FBAC-FA75-8AC54551C668}"/>
              </a:ext>
            </a:extLst>
          </p:cNvPr>
          <p:cNvSpPr>
            <a:spLocks noGrp="1"/>
          </p:cNvSpPr>
          <p:nvPr>
            <p:ph type="sldNum" sz="quarter" idx="12"/>
          </p:nvPr>
        </p:nvSpPr>
        <p:spPr/>
        <p:txBody>
          <a:bodyPr/>
          <a:lstStyle/>
          <a:p>
            <a:fld id="{1E81A027-E3F7-4FC9-A752-E855AD4A687D}" type="slidenum">
              <a:rPr lang="en-IN" smtClean="0"/>
              <a:t>25</a:t>
            </a:fld>
            <a:endParaRPr lang="en-IN"/>
          </a:p>
        </p:txBody>
      </p:sp>
    </p:spTree>
    <p:extLst>
      <p:ext uri="{BB962C8B-B14F-4D97-AF65-F5344CB8AC3E}">
        <p14:creationId xmlns:p14="http://schemas.microsoft.com/office/powerpoint/2010/main" val="927854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B71775-2CC1-2601-B14A-B68CEA69127B}"/>
              </a:ext>
            </a:extLst>
          </p:cNvPr>
          <p:cNvSpPr>
            <a:spLocks noGrp="1"/>
          </p:cNvSpPr>
          <p:nvPr>
            <p:ph type="title"/>
          </p:nvPr>
        </p:nvSpPr>
        <p:spPr/>
        <p:txBody>
          <a:bodyPr>
            <a:normAutofit/>
          </a:bodyPr>
          <a:lstStyle/>
          <a:p>
            <a:r>
              <a:rPr lang="en-IN" dirty="0">
                <a:solidFill>
                  <a:srgbClr val="000000"/>
                </a:solidFill>
                <a:effectLst/>
              </a:rPr>
              <a:t>Toy problems- V</a:t>
            </a:r>
            <a:r>
              <a:rPr lang="en-IN" dirty="0">
                <a:solidFill>
                  <a:srgbClr val="000000"/>
                </a:solidFill>
              </a:rPr>
              <a:t>acuum World</a:t>
            </a:r>
          </a:p>
        </p:txBody>
      </p:sp>
      <p:pic>
        <p:nvPicPr>
          <p:cNvPr id="7" name="Content Placeholder 6">
            <a:extLst>
              <a:ext uri="{FF2B5EF4-FFF2-40B4-BE49-F238E27FC236}">
                <a16:creationId xmlns:a16="http://schemas.microsoft.com/office/drawing/2014/main" xmlns="" id="{244588CF-9A80-21DE-FDCD-D02454CBBAFE}"/>
              </a:ext>
            </a:extLst>
          </p:cNvPr>
          <p:cNvPicPr>
            <a:picLocks noGrp="1" noChangeAspect="1"/>
          </p:cNvPicPr>
          <p:nvPr>
            <p:ph idx="1"/>
          </p:nvPr>
        </p:nvPicPr>
        <p:blipFill>
          <a:blip r:embed="rId2"/>
          <a:stretch>
            <a:fillRect/>
          </a:stretch>
        </p:blipFill>
        <p:spPr>
          <a:xfrm>
            <a:off x="1406709" y="1837371"/>
            <a:ext cx="8592071" cy="3806614"/>
          </a:xfrm>
        </p:spPr>
      </p:pic>
      <p:sp>
        <p:nvSpPr>
          <p:cNvPr id="4" name="Footer Placeholder 3">
            <a:extLst>
              <a:ext uri="{FF2B5EF4-FFF2-40B4-BE49-F238E27FC236}">
                <a16:creationId xmlns:a16="http://schemas.microsoft.com/office/drawing/2014/main" xmlns="" id="{B0CB1D9C-F15A-3103-3E77-E4B0370F9134}"/>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5DBF4C70-50CA-7C6C-FF0C-F5024C4AFA1F}"/>
              </a:ext>
            </a:extLst>
          </p:cNvPr>
          <p:cNvSpPr>
            <a:spLocks noGrp="1"/>
          </p:cNvSpPr>
          <p:nvPr>
            <p:ph type="sldNum" sz="quarter" idx="12"/>
          </p:nvPr>
        </p:nvSpPr>
        <p:spPr/>
        <p:txBody>
          <a:bodyPr/>
          <a:lstStyle/>
          <a:p>
            <a:fld id="{1E81A027-E3F7-4FC9-A752-E855AD4A687D}" type="slidenum">
              <a:rPr lang="en-IN" smtClean="0"/>
              <a:t>26</a:t>
            </a:fld>
            <a:endParaRPr lang="en-IN"/>
          </a:p>
        </p:txBody>
      </p:sp>
      <p:sp>
        <p:nvSpPr>
          <p:cNvPr id="11" name="TextBox 10">
            <a:extLst>
              <a:ext uri="{FF2B5EF4-FFF2-40B4-BE49-F238E27FC236}">
                <a16:creationId xmlns:a16="http://schemas.microsoft.com/office/drawing/2014/main" xmlns="" id="{E9B146B0-D02C-F4C0-0108-70B1F38A2A57}"/>
              </a:ext>
            </a:extLst>
          </p:cNvPr>
          <p:cNvSpPr txBox="1"/>
          <p:nvPr/>
        </p:nvSpPr>
        <p:spPr>
          <a:xfrm>
            <a:off x="432620" y="5643985"/>
            <a:ext cx="11110452" cy="707886"/>
          </a:xfrm>
          <a:prstGeom prst="rect">
            <a:avLst/>
          </a:prstGeom>
          <a:noFill/>
        </p:spPr>
        <p:txBody>
          <a:bodyPr wrap="square">
            <a:spAutoFit/>
          </a:bodyPr>
          <a:lstStyle/>
          <a:p>
            <a:r>
              <a:rPr lang="en-US" sz="2000" dirty="0">
                <a:solidFill>
                  <a:srgbClr val="000000"/>
                </a:solidFill>
                <a:effectLst/>
              </a:rPr>
              <a:t>Compared with the real world, this toy problem has discrete locations, discrete dirt, reliable </a:t>
            </a:r>
            <a:endParaRPr lang="en-US" sz="3200" dirty="0"/>
          </a:p>
          <a:p>
            <a:r>
              <a:rPr lang="en-US" sz="2000" dirty="0">
                <a:solidFill>
                  <a:srgbClr val="000000"/>
                </a:solidFill>
                <a:effectLst/>
              </a:rPr>
              <a:t>cleaning, and it never gets any dirtier.</a:t>
            </a:r>
            <a:endParaRPr lang="en-IN" sz="3600" dirty="0"/>
          </a:p>
        </p:txBody>
      </p:sp>
    </p:spTree>
    <p:extLst>
      <p:ext uri="{BB962C8B-B14F-4D97-AF65-F5344CB8AC3E}">
        <p14:creationId xmlns:p14="http://schemas.microsoft.com/office/powerpoint/2010/main" val="2932578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BB7FA4-01F7-FD55-B724-C3CAD2DD80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70983883-5CC1-3859-9E57-6A933D3FBFE1}"/>
              </a:ext>
            </a:extLst>
          </p:cNvPr>
          <p:cNvSpPr>
            <a:spLocks noGrp="1"/>
          </p:cNvSpPr>
          <p:nvPr>
            <p:ph idx="1"/>
          </p:nvPr>
        </p:nvSpPr>
        <p:spPr>
          <a:xfrm>
            <a:off x="5240594" y="1845734"/>
            <a:ext cx="5915086" cy="4023360"/>
          </a:xfrm>
        </p:spPr>
        <p:txBody>
          <a:bodyPr>
            <a:normAutofit lnSpcReduction="10000"/>
          </a:bodyPr>
          <a:lstStyle/>
          <a:p>
            <a:pPr eaLnBrk="1" hangingPunct="1">
              <a:spcBef>
                <a:spcPct val="20000"/>
              </a:spcBef>
              <a:buSzPct val="80000"/>
              <a:buFontTx/>
              <a:buBlip>
                <a:blip r:embed="rId2"/>
              </a:buBlip>
            </a:pPr>
            <a:r>
              <a:rPr kumimoji="1" lang="en-US" altLang="zh-TW" sz="2800" dirty="0">
                <a:solidFill>
                  <a:srgbClr val="3204B4"/>
                </a:solidFill>
                <a:latin typeface="Arial" panose="020B0604020202020204" pitchFamily="34" charset="0"/>
              </a:rPr>
              <a:t>Number of states:</a:t>
            </a:r>
            <a:r>
              <a:rPr kumimoji="1" lang="en-US" altLang="zh-TW" sz="2800" dirty="0">
                <a:latin typeface="Arial" panose="020B0604020202020204" pitchFamily="34" charset="0"/>
              </a:rPr>
              <a:t> 8 </a:t>
            </a:r>
          </a:p>
          <a:p>
            <a:pPr eaLnBrk="1" hangingPunct="1">
              <a:spcBef>
                <a:spcPct val="20000"/>
              </a:spcBef>
              <a:buSzPct val="80000"/>
              <a:buFontTx/>
              <a:buBlip>
                <a:blip r:embed="rId2"/>
              </a:buBlip>
            </a:pPr>
            <a:r>
              <a:rPr kumimoji="1" lang="en-US" altLang="zh-TW" sz="2800" dirty="0">
                <a:solidFill>
                  <a:srgbClr val="3204B4"/>
                </a:solidFill>
                <a:latin typeface="Arial" panose="020B0604020202020204" pitchFamily="34" charset="0"/>
              </a:rPr>
              <a:t>Initial state:</a:t>
            </a:r>
            <a:r>
              <a:rPr kumimoji="1" lang="en-US" altLang="zh-TW" sz="2800" dirty="0">
                <a:latin typeface="Arial" panose="020B0604020202020204" pitchFamily="34" charset="0"/>
              </a:rPr>
              <a:t> Any</a:t>
            </a:r>
          </a:p>
          <a:p>
            <a:pPr eaLnBrk="1" hangingPunct="1">
              <a:spcBef>
                <a:spcPct val="20000"/>
              </a:spcBef>
              <a:buSzPct val="80000"/>
              <a:buFontTx/>
              <a:buBlip>
                <a:blip r:embed="rId2"/>
              </a:buBlip>
            </a:pPr>
            <a:r>
              <a:rPr kumimoji="1" lang="en-US" altLang="zh-TW" sz="2800" dirty="0">
                <a:solidFill>
                  <a:srgbClr val="3204B4"/>
                </a:solidFill>
                <a:latin typeface="Arial" panose="020B0604020202020204" pitchFamily="34" charset="0"/>
              </a:rPr>
              <a:t>Number of actions:</a:t>
            </a:r>
            <a:r>
              <a:rPr kumimoji="1" lang="en-US" altLang="zh-TW" sz="2800" dirty="0">
                <a:latin typeface="Arial" panose="020B0604020202020204" pitchFamily="34" charset="0"/>
              </a:rPr>
              <a:t> 4 </a:t>
            </a:r>
          </a:p>
          <a:p>
            <a:pPr lvl="1" eaLnBrk="1" hangingPunct="1">
              <a:spcBef>
                <a:spcPct val="20000"/>
              </a:spcBef>
              <a:buClr>
                <a:schemeClr val="hlink"/>
              </a:buClr>
              <a:buSzPct val="70000"/>
              <a:buFont typeface="Wingdings" panose="05000000000000000000" pitchFamily="2" charset="2"/>
              <a:buChar char="l"/>
            </a:pPr>
            <a:r>
              <a:rPr kumimoji="1" lang="en-US" altLang="zh-TW" sz="2800" i="1" dirty="0">
                <a:latin typeface="Arial" panose="020B0604020202020204" pitchFamily="34" charset="0"/>
              </a:rPr>
              <a:t>left, right, suck, </a:t>
            </a:r>
            <a:r>
              <a:rPr kumimoji="1" lang="en-US" altLang="zh-TW" sz="2800" i="1" dirty="0" err="1">
                <a:latin typeface="Arial" panose="020B0604020202020204" pitchFamily="34" charset="0"/>
              </a:rPr>
              <a:t>noOp</a:t>
            </a:r>
            <a:endParaRPr kumimoji="1" lang="en-US" altLang="zh-TW" sz="2800" dirty="0">
              <a:latin typeface="Arial" panose="020B0604020202020204" pitchFamily="34" charset="0"/>
            </a:endParaRPr>
          </a:p>
          <a:p>
            <a:pPr eaLnBrk="1" hangingPunct="1">
              <a:spcBef>
                <a:spcPct val="20000"/>
              </a:spcBef>
              <a:buSzPct val="80000"/>
              <a:buFontTx/>
              <a:buBlip>
                <a:blip r:embed="rId2"/>
              </a:buBlip>
            </a:pPr>
            <a:r>
              <a:rPr kumimoji="1" lang="en-US" altLang="zh-TW" sz="2800" dirty="0">
                <a:solidFill>
                  <a:srgbClr val="3204B4"/>
                </a:solidFill>
                <a:latin typeface="Arial" panose="020B0604020202020204" pitchFamily="34" charset="0"/>
              </a:rPr>
              <a:t>Goal:</a:t>
            </a:r>
            <a:r>
              <a:rPr kumimoji="1" lang="en-US" altLang="zh-TW" sz="2800" dirty="0">
                <a:latin typeface="Arial" panose="020B0604020202020204" pitchFamily="34" charset="0"/>
              </a:rPr>
              <a:t> clean up all dirt </a:t>
            </a:r>
          </a:p>
          <a:p>
            <a:pPr lvl="1" eaLnBrk="1" hangingPunct="1">
              <a:spcBef>
                <a:spcPct val="20000"/>
              </a:spcBef>
              <a:buClr>
                <a:schemeClr val="hlink"/>
              </a:buClr>
              <a:buSzPct val="70000"/>
              <a:buFont typeface="Wingdings" panose="05000000000000000000" pitchFamily="2" charset="2"/>
              <a:buChar char="l"/>
            </a:pPr>
            <a:r>
              <a:rPr kumimoji="1" lang="en-US" altLang="zh-TW" sz="2800" dirty="0">
                <a:latin typeface="Arial" panose="020B0604020202020204" pitchFamily="34" charset="0"/>
              </a:rPr>
              <a:t>Goal states: {7, 8}</a:t>
            </a:r>
          </a:p>
          <a:p>
            <a:pPr eaLnBrk="1" hangingPunct="1">
              <a:spcBef>
                <a:spcPct val="20000"/>
              </a:spcBef>
              <a:buClr>
                <a:schemeClr val="hlink"/>
              </a:buClr>
              <a:buSzPct val="70000"/>
              <a:buFont typeface="Wingdings" panose="05000000000000000000" pitchFamily="2" charset="2"/>
              <a:buChar char="l"/>
            </a:pPr>
            <a:r>
              <a:rPr kumimoji="1" lang="en-US" altLang="zh-TW" sz="2800" dirty="0">
                <a:solidFill>
                  <a:srgbClr val="3204B4"/>
                </a:solidFill>
                <a:latin typeface="Arial" panose="020B0604020202020204" pitchFamily="34" charset="0"/>
              </a:rPr>
              <a:t>Path Cost:</a:t>
            </a:r>
          </a:p>
          <a:p>
            <a:pPr lvl="1" eaLnBrk="1" hangingPunct="1">
              <a:spcBef>
                <a:spcPct val="20000"/>
              </a:spcBef>
              <a:buClr>
                <a:schemeClr val="hlink"/>
              </a:buClr>
              <a:buSzPct val="70000"/>
              <a:buFont typeface="Wingdings" panose="05000000000000000000" pitchFamily="2" charset="2"/>
              <a:buChar char="l"/>
            </a:pPr>
            <a:r>
              <a:rPr kumimoji="1" lang="en-US" altLang="zh-TW" sz="2800" dirty="0">
                <a:latin typeface="Arial" panose="020B0604020202020204" pitchFamily="34" charset="0"/>
              </a:rPr>
              <a:t>Each step costs 1</a:t>
            </a:r>
            <a:endParaRPr kumimoji="1" lang="zh-TW" altLang="en-US" sz="2800" dirty="0">
              <a:latin typeface="Arial" panose="020B0604020202020204" pitchFamily="34" charset="0"/>
            </a:endParaRPr>
          </a:p>
          <a:p>
            <a:endParaRPr lang="en-IN" dirty="0"/>
          </a:p>
        </p:txBody>
      </p:sp>
      <p:sp>
        <p:nvSpPr>
          <p:cNvPr id="4" name="Footer Placeholder 3">
            <a:extLst>
              <a:ext uri="{FF2B5EF4-FFF2-40B4-BE49-F238E27FC236}">
                <a16:creationId xmlns:a16="http://schemas.microsoft.com/office/drawing/2014/main" xmlns="" id="{6439DE60-9538-7875-3E64-368C5DCD0B8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21EB6299-40A6-941D-E8EC-0ED1B40EA092}"/>
              </a:ext>
            </a:extLst>
          </p:cNvPr>
          <p:cNvSpPr>
            <a:spLocks noGrp="1"/>
          </p:cNvSpPr>
          <p:nvPr>
            <p:ph type="sldNum" sz="quarter" idx="12"/>
          </p:nvPr>
        </p:nvSpPr>
        <p:spPr/>
        <p:txBody>
          <a:bodyPr/>
          <a:lstStyle/>
          <a:p>
            <a:fld id="{1E81A027-E3F7-4FC9-A752-E855AD4A687D}" type="slidenum">
              <a:rPr lang="en-IN" smtClean="0"/>
              <a:t>27</a:t>
            </a:fld>
            <a:endParaRPr lang="en-IN"/>
          </a:p>
        </p:txBody>
      </p:sp>
      <p:pic>
        <p:nvPicPr>
          <p:cNvPr id="6" name="Picture 6">
            <a:extLst>
              <a:ext uri="{FF2B5EF4-FFF2-40B4-BE49-F238E27FC236}">
                <a16:creationId xmlns:a16="http://schemas.microsoft.com/office/drawing/2014/main" xmlns="" id="{D9268EF0-DA95-8513-410F-9FE62E106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2205037"/>
            <a:ext cx="4481102" cy="3946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5005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2B9D85-86F0-ADBC-ABB0-8234AA86E1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2BBB62E3-626D-8BA0-63A5-288652629898}"/>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753CE13C-A3E1-AFCD-132A-50810A9DFCB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56DB5B01-B721-1D36-DB7B-B336351CC6D7}"/>
              </a:ext>
            </a:extLst>
          </p:cNvPr>
          <p:cNvSpPr>
            <a:spLocks noGrp="1"/>
          </p:cNvSpPr>
          <p:nvPr>
            <p:ph type="sldNum" sz="quarter" idx="12"/>
          </p:nvPr>
        </p:nvSpPr>
        <p:spPr/>
        <p:txBody>
          <a:bodyPr/>
          <a:lstStyle/>
          <a:p>
            <a:fld id="{1E81A027-E3F7-4FC9-A752-E855AD4A687D}" type="slidenum">
              <a:rPr lang="en-IN" smtClean="0"/>
              <a:t>28</a:t>
            </a:fld>
            <a:endParaRPr lang="en-IN"/>
          </a:p>
        </p:txBody>
      </p:sp>
      <p:pic>
        <p:nvPicPr>
          <p:cNvPr id="6" name="Picture 2">
            <a:extLst>
              <a:ext uri="{FF2B5EF4-FFF2-40B4-BE49-F238E27FC236}">
                <a16:creationId xmlns:a16="http://schemas.microsoft.com/office/drawing/2014/main" xmlns="" id="{5F8360AA-D207-239A-91B9-B01F9F8A95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79" y="866673"/>
            <a:ext cx="10115203" cy="4966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0875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41467E-AAC4-B156-11DA-D1E0AC924B23}"/>
              </a:ext>
            </a:extLst>
          </p:cNvPr>
          <p:cNvSpPr>
            <a:spLocks noGrp="1"/>
          </p:cNvSpPr>
          <p:nvPr>
            <p:ph type="title"/>
          </p:nvPr>
        </p:nvSpPr>
        <p:spPr/>
        <p:txBody>
          <a:bodyPr>
            <a:normAutofit/>
          </a:bodyPr>
          <a:lstStyle/>
          <a:p>
            <a:r>
              <a:rPr lang="en-IN" dirty="0">
                <a:solidFill>
                  <a:srgbClr val="000000"/>
                </a:solidFill>
                <a:effectLst/>
                <a:latin typeface="+mn-lt"/>
              </a:rPr>
              <a:t>8-puzzle</a:t>
            </a:r>
            <a:endParaRPr lang="en-IN" dirty="0">
              <a:latin typeface="+mn-lt"/>
            </a:endParaRPr>
          </a:p>
        </p:txBody>
      </p:sp>
      <p:sp>
        <p:nvSpPr>
          <p:cNvPr id="3" name="Content Placeholder 2">
            <a:extLst>
              <a:ext uri="{FF2B5EF4-FFF2-40B4-BE49-F238E27FC236}">
                <a16:creationId xmlns:a16="http://schemas.microsoft.com/office/drawing/2014/main" xmlns="" id="{C7ADF8F6-E5AA-4747-12BA-97E3B5944873}"/>
              </a:ext>
            </a:extLst>
          </p:cNvPr>
          <p:cNvSpPr>
            <a:spLocks noGrp="1"/>
          </p:cNvSpPr>
          <p:nvPr>
            <p:ph idx="1"/>
          </p:nvPr>
        </p:nvSpPr>
        <p:spPr/>
        <p:txBody>
          <a:bodyPr>
            <a:normAutofit/>
          </a:bodyPr>
          <a:lstStyle/>
          <a:p>
            <a:r>
              <a:rPr lang="en-US" dirty="0">
                <a:solidFill>
                  <a:srgbClr val="000000"/>
                </a:solidFill>
                <a:effectLst/>
              </a:rPr>
              <a:t>A tile adjacent to the blank space can slide into the space. The object is to reach a specified goal state</a:t>
            </a:r>
            <a:endParaRPr lang="en-IN" sz="2400" dirty="0"/>
          </a:p>
        </p:txBody>
      </p:sp>
      <p:sp>
        <p:nvSpPr>
          <p:cNvPr id="4" name="Footer Placeholder 3">
            <a:extLst>
              <a:ext uri="{FF2B5EF4-FFF2-40B4-BE49-F238E27FC236}">
                <a16:creationId xmlns:a16="http://schemas.microsoft.com/office/drawing/2014/main" xmlns="" id="{659E8939-90EA-2C1D-D4CD-381B0B8B7A03}"/>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CB982A08-2A9E-0449-361C-0A5A29DE4452}"/>
              </a:ext>
            </a:extLst>
          </p:cNvPr>
          <p:cNvSpPr>
            <a:spLocks noGrp="1"/>
          </p:cNvSpPr>
          <p:nvPr>
            <p:ph type="sldNum" sz="quarter" idx="12"/>
          </p:nvPr>
        </p:nvSpPr>
        <p:spPr/>
        <p:txBody>
          <a:bodyPr/>
          <a:lstStyle/>
          <a:p>
            <a:fld id="{1E81A027-E3F7-4FC9-A752-E855AD4A687D}" type="slidenum">
              <a:rPr lang="en-IN" smtClean="0"/>
              <a:t>29</a:t>
            </a:fld>
            <a:endParaRPr lang="en-IN"/>
          </a:p>
        </p:txBody>
      </p:sp>
      <p:pic>
        <p:nvPicPr>
          <p:cNvPr id="6" name="Content Placeholder 3">
            <a:extLst>
              <a:ext uri="{FF2B5EF4-FFF2-40B4-BE49-F238E27FC236}">
                <a16:creationId xmlns:a16="http://schemas.microsoft.com/office/drawing/2014/main" xmlns="" id="{33138DC1-7DE1-BE4A-DFCE-5D511ED558B4}"/>
              </a:ext>
            </a:extLst>
          </p:cNvPr>
          <p:cNvPicPr>
            <a:picLocks noChangeAspect="1"/>
          </p:cNvPicPr>
          <p:nvPr/>
        </p:nvPicPr>
        <p:blipFill>
          <a:blip r:embed="rId2"/>
          <a:stretch>
            <a:fillRect/>
          </a:stretch>
        </p:blipFill>
        <p:spPr>
          <a:xfrm>
            <a:off x="204717" y="2800000"/>
            <a:ext cx="6178550" cy="2938145"/>
          </a:xfrm>
          <a:prstGeom prst="rect">
            <a:avLst/>
          </a:prstGeom>
        </p:spPr>
      </p:pic>
      <p:pic>
        <p:nvPicPr>
          <p:cNvPr id="7" name="Picture 6" descr="sol_b0">
            <a:extLst>
              <a:ext uri="{FF2B5EF4-FFF2-40B4-BE49-F238E27FC236}">
                <a16:creationId xmlns:a16="http://schemas.microsoft.com/office/drawing/2014/main" xmlns="" id="{80E9515B-34C9-98BB-F5FF-07E940A9B34C}"/>
              </a:ext>
            </a:extLst>
          </p:cNvPr>
          <p:cNvPicPr>
            <a:picLocks noChangeAspect="1"/>
          </p:cNvPicPr>
          <p:nvPr/>
        </p:nvPicPr>
        <p:blipFill>
          <a:blip r:embed="rId3"/>
          <a:stretch>
            <a:fillRect/>
          </a:stretch>
        </p:blipFill>
        <p:spPr>
          <a:xfrm>
            <a:off x="7882008" y="2540494"/>
            <a:ext cx="3623945" cy="3623945"/>
          </a:xfrm>
          <a:prstGeom prst="rect">
            <a:avLst/>
          </a:prstGeom>
        </p:spPr>
      </p:pic>
    </p:spTree>
    <p:extLst>
      <p:ext uri="{BB962C8B-B14F-4D97-AF65-F5344CB8AC3E}">
        <p14:creationId xmlns:p14="http://schemas.microsoft.com/office/powerpoint/2010/main" val="2736883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F0D160-CEDE-191F-C01F-90D2B6268A39}"/>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xmlns="" id="{F1159B47-A3BC-DB17-9C9C-BE653324AFB0}"/>
              </a:ext>
            </a:extLst>
          </p:cNvPr>
          <p:cNvPicPr>
            <a:picLocks noGrp="1" noChangeAspect="1"/>
          </p:cNvPicPr>
          <p:nvPr>
            <p:ph idx="1"/>
          </p:nvPr>
        </p:nvPicPr>
        <p:blipFill>
          <a:blip r:embed="rId2"/>
          <a:stretch>
            <a:fillRect/>
          </a:stretch>
        </p:blipFill>
        <p:spPr>
          <a:xfrm>
            <a:off x="1874606" y="1900608"/>
            <a:ext cx="7696867" cy="3520745"/>
          </a:xfrm>
        </p:spPr>
      </p:pic>
      <p:sp>
        <p:nvSpPr>
          <p:cNvPr id="4" name="Footer Placeholder 3">
            <a:extLst>
              <a:ext uri="{FF2B5EF4-FFF2-40B4-BE49-F238E27FC236}">
                <a16:creationId xmlns:a16="http://schemas.microsoft.com/office/drawing/2014/main" xmlns="" id="{6A0FB208-3839-D155-6D30-08DFA5593130}"/>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4EDDFC16-0616-B171-3AFB-C07AAF51F456}"/>
              </a:ext>
            </a:extLst>
          </p:cNvPr>
          <p:cNvSpPr>
            <a:spLocks noGrp="1"/>
          </p:cNvSpPr>
          <p:nvPr>
            <p:ph type="sldNum" sz="quarter" idx="12"/>
          </p:nvPr>
        </p:nvSpPr>
        <p:spPr/>
        <p:txBody>
          <a:bodyPr/>
          <a:lstStyle/>
          <a:p>
            <a:fld id="{1E81A027-E3F7-4FC9-A752-E855AD4A687D}" type="slidenum">
              <a:rPr lang="en-IN" smtClean="0"/>
              <a:t>30</a:t>
            </a:fld>
            <a:endParaRPr lang="en-IN"/>
          </a:p>
        </p:txBody>
      </p:sp>
    </p:spTree>
    <p:extLst>
      <p:ext uri="{BB962C8B-B14F-4D97-AF65-F5344CB8AC3E}">
        <p14:creationId xmlns:p14="http://schemas.microsoft.com/office/powerpoint/2010/main" val="26545213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944D7B-8C21-B467-65BB-9116A9BA7B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705A614E-2C1F-15AD-6F0C-8C96C6640307}"/>
              </a:ext>
            </a:extLst>
          </p:cNvPr>
          <p:cNvSpPr>
            <a:spLocks noGrp="1"/>
          </p:cNvSpPr>
          <p:nvPr>
            <p:ph idx="1"/>
          </p:nvPr>
        </p:nvSpPr>
        <p:spPr/>
        <p:txBody>
          <a:bodyPr>
            <a:normAutofit/>
          </a:bodyPr>
          <a:lstStyle/>
          <a:p>
            <a:r>
              <a:rPr lang="en-US" sz="2400" dirty="0">
                <a:solidFill>
                  <a:srgbClr val="000000"/>
                </a:solidFill>
                <a:effectLst/>
              </a:rPr>
              <a:t>The 8-puzzle has 9!/2 = 181, 440 reachable states and is easily solved. </a:t>
            </a:r>
          </a:p>
          <a:p>
            <a:r>
              <a:rPr lang="en-US" sz="2400" dirty="0">
                <a:solidFill>
                  <a:srgbClr val="000000"/>
                </a:solidFill>
                <a:effectLst/>
              </a:rPr>
              <a:t>The 15-puzzle (on a 4×4 board) has around 1.3 trillion states, and random instances can be solved optimally in a few milliseconds by the best search algorithms. </a:t>
            </a:r>
            <a:endParaRPr lang="en-US" sz="2400" dirty="0"/>
          </a:p>
          <a:p>
            <a:r>
              <a:rPr lang="en-US" sz="2400" dirty="0">
                <a:solidFill>
                  <a:srgbClr val="000000"/>
                </a:solidFill>
                <a:effectLst/>
              </a:rPr>
              <a:t>The 24-puzzle (on a 5 × 5 board) has around 1025 states, and random instances take several </a:t>
            </a:r>
            <a:r>
              <a:rPr lang="en-US" sz="2400" dirty="0"/>
              <a:t> </a:t>
            </a:r>
            <a:r>
              <a:rPr lang="en-US" sz="2400" dirty="0">
                <a:solidFill>
                  <a:srgbClr val="000000"/>
                </a:solidFill>
                <a:effectLst/>
              </a:rPr>
              <a:t>hours to solve optimally.</a:t>
            </a:r>
            <a:endParaRPr lang="en-IN" sz="2400" dirty="0"/>
          </a:p>
        </p:txBody>
      </p:sp>
      <p:sp>
        <p:nvSpPr>
          <p:cNvPr id="4" name="Footer Placeholder 3">
            <a:extLst>
              <a:ext uri="{FF2B5EF4-FFF2-40B4-BE49-F238E27FC236}">
                <a16:creationId xmlns:a16="http://schemas.microsoft.com/office/drawing/2014/main" xmlns="" id="{A3E24263-6CA3-AECA-6850-AEE40A57E3EF}"/>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35855E9F-D313-895F-7076-809C54775653}"/>
              </a:ext>
            </a:extLst>
          </p:cNvPr>
          <p:cNvSpPr>
            <a:spLocks noGrp="1"/>
          </p:cNvSpPr>
          <p:nvPr>
            <p:ph type="sldNum" sz="quarter" idx="12"/>
          </p:nvPr>
        </p:nvSpPr>
        <p:spPr/>
        <p:txBody>
          <a:bodyPr/>
          <a:lstStyle/>
          <a:p>
            <a:fld id="{1E81A027-E3F7-4FC9-A752-E855AD4A687D}" type="slidenum">
              <a:rPr lang="en-IN" smtClean="0"/>
              <a:t>31</a:t>
            </a:fld>
            <a:endParaRPr lang="en-IN"/>
          </a:p>
        </p:txBody>
      </p:sp>
    </p:spTree>
    <p:extLst>
      <p:ext uri="{BB962C8B-B14F-4D97-AF65-F5344CB8AC3E}">
        <p14:creationId xmlns:p14="http://schemas.microsoft.com/office/powerpoint/2010/main" val="1558713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94B977-A337-0BA6-9A48-F965183E0C7D}"/>
              </a:ext>
            </a:extLst>
          </p:cNvPr>
          <p:cNvSpPr>
            <a:spLocks noGrp="1"/>
          </p:cNvSpPr>
          <p:nvPr>
            <p:ph type="title"/>
          </p:nvPr>
        </p:nvSpPr>
        <p:spPr/>
        <p:txBody>
          <a:bodyPr>
            <a:normAutofit/>
          </a:bodyPr>
          <a:lstStyle/>
          <a:p>
            <a:r>
              <a:rPr lang="en-IN" dirty="0">
                <a:solidFill>
                  <a:srgbClr val="000000"/>
                </a:solidFill>
                <a:effectLst/>
              </a:rPr>
              <a:t>8-queens problem</a:t>
            </a:r>
            <a:endParaRPr lang="en-IN" dirty="0"/>
          </a:p>
        </p:txBody>
      </p:sp>
      <p:sp>
        <p:nvSpPr>
          <p:cNvPr id="3" name="Content Placeholder 2">
            <a:extLst>
              <a:ext uri="{FF2B5EF4-FFF2-40B4-BE49-F238E27FC236}">
                <a16:creationId xmlns:a16="http://schemas.microsoft.com/office/drawing/2014/main" xmlns="" id="{85649973-292D-7816-CD18-10DF83CD591E}"/>
              </a:ext>
            </a:extLst>
          </p:cNvPr>
          <p:cNvSpPr>
            <a:spLocks noGrp="1"/>
          </p:cNvSpPr>
          <p:nvPr>
            <p:ph idx="1"/>
          </p:nvPr>
        </p:nvSpPr>
        <p:spPr/>
        <p:txBody>
          <a:bodyPr/>
          <a:lstStyle/>
          <a:p>
            <a:r>
              <a:rPr lang="en-US" sz="1800" dirty="0">
                <a:solidFill>
                  <a:srgbClr val="000000"/>
                </a:solidFill>
                <a:effectLst/>
              </a:rPr>
              <a:t>The goal of the </a:t>
            </a:r>
            <a:r>
              <a:rPr lang="en-US" sz="1800" b="1" dirty="0">
                <a:solidFill>
                  <a:srgbClr val="000000"/>
                </a:solidFill>
                <a:effectLst/>
              </a:rPr>
              <a:t>8-queens problem </a:t>
            </a:r>
            <a:r>
              <a:rPr lang="en-US" sz="1800" dirty="0">
                <a:solidFill>
                  <a:srgbClr val="000000"/>
                </a:solidFill>
                <a:effectLst/>
              </a:rPr>
              <a:t>is to place eight queens on a chessboard such that no queen attacks any other.</a:t>
            </a:r>
          </a:p>
          <a:p>
            <a:r>
              <a:rPr lang="en-US" sz="1800" dirty="0">
                <a:solidFill>
                  <a:srgbClr val="000000"/>
                </a:solidFill>
                <a:effectLst/>
              </a:rPr>
              <a:t>A queen attacks any piece in the same row, column or diagonal.</a:t>
            </a:r>
            <a:endParaRPr lang="en-IN" dirty="0"/>
          </a:p>
        </p:txBody>
      </p:sp>
      <p:sp>
        <p:nvSpPr>
          <p:cNvPr id="4" name="Footer Placeholder 3">
            <a:extLst>
              <a:ext uri="{FF2B5EF4-FFF2-40B4-BE49-F238E27FC236}">
                <a16:creationId xmlns:a16="http://schemas.microsoft.com/office/drawing/2014/main" xmlns="" id="{3C6F7DFC-3458-62AD-47C6-94A55E286CC0}"/>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F7658DE0-3954-85AC-0F86-B91E2F101408}"/>
              </a:ext>
            </a:extLst>
          </p:cNvPr>
          <p:cNvSpPr>
            <a:spLocks noGrp="1"/>
          </p:cNvSpPr>
          <p:nvPr>
            <p:ph type="sldNum" sz="quarter" idx="12"/>
          </p:nvPr>
        </p:nvSpPr>
        <p:spPr/>
        <p:txBody>
          <a:bodyPr/>
          <a:lstStyle/>
          <a:p>
            <a:fld id="{1E81A027-E3F7-4FC9-A752-E855AD4A687D}" type="slidenum">
              <a:rPr lang="en-IN" smtClean="0"/>
              <a:t>32</a:t>
            </a:fld>
            <a:endParaRPr lang="en-IN"/>
          </a:p>
        </p:txBody>
      </p:sp>
      <p:pic>
        <p:nvPicPr>
          <p:cNvPr id="7" name="Picture 6">
            <a:extLst>
              <a:ext uri="{FF2B5EF4-FFF2-40B4-BE49-F238E27FC236}">
                <a16:creationId xmlns:a16="http://schemas.microsoft.com/office/drawing/2014/main" xmlns="" id="{3FAB950F-570D-217B-BF74-1BF4C532C966}"/>
              </a:ext>
            </a:extLst>
          </p:cNvPr>
          <p:cNvPicPr>
            <a:picLocks noChangeAspect="1"/>
          </p:cNvPicPr>
          <p:nvPr/>
        </p:nvPicPr>
        <p:blipFill>
          <a:blip r:embed="rId2"/>
          <a:stretch>
            <a:fillRect/>
          </a:stretch>
        </p:blipFill>
        <p:spPr>
          <a:xfrm>
            <a:off x="3288430" y="2802193"/>
            <a:ext cx="5958207" cy="3416954"/>
          </a:xfrm>
          <a:prstGeom prst="rect">
            <a:avLst/>
          </a:prstGeom>
        </p:spPr>
      </p:pic>
    </p:spTree>
    <p:extLst>
      <p:ext uri="{BB962C8B-B14F-4D97-AF65-F5344CB8AC3E}">
        <p14:creationId xmlns:p14="http://schemas.microsoft.com/office/powerpoint/2010/main" val="8866494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443070"/>
          </a:xfrm>
        </p:spPr>
        <p:txBody>
          <a:bodyPr>
            <a:normAutofit fontScale="90000"/>
          </a:bodyPr>
          <a:lstStyle/>
          <a:p>
            <a:endParaRPr lang="en-US" dirty="0"/>
          </a:p>
        </p:txBody>
      </p:sp>
      <p:pic>
        <p:nvPicPr>
          <p:cNvPr id="6" name="Content Placeholder 5"/>
          <p:cNvPicPr>
            <a:picLocks noGrp="1" noChangeAspect="1"/>
          </p:cNvPicPr>
          <p:nvPr>
            <p:ph idx="1"/>
          </p:nvPr>
        </p:nvPicPr>
        <p:blipFill>
          <a:blip r:embed="rId2"/>
          <a:stretch>
            <a:fillRect/>
          </a:stretch>
        </p:blipFill>
        <p:spPr>
          <a:xfrm>
            <a:off x="2733964" y="1376219"/>
            <a:ext cx="5868390" cy="4502006"/>
          </a:xfrm>
          <a:prstGeom prst="rect">
            <a:avLst/>
          </a:prstGeom>
        </p:spPr>
      </p:pic>
      <p:sp>
        <p:nvSpPr>
          <p:cNvPr id="4" name="Footer Placeholder 3"/>
          <p:cNvSpPr>
            <a:spLocks noGrp="1"/>
          </p:cNvSpPr>
          <p:nvPr>
            <p:ph type="ftr" sz="quarter" idx="11"/>
          </p:nvPr>
        </p:nvSpPr>
        <p:spPr/>
        <p:txBody>
          <a:bodyPr/>
          <a:lstStyle/>
          <a:p>
            <a:r>
              <a:rPr lang="en-IN" smtClean="0"/>
              <a:t>DEPARTMENT OF CSE SNGCE</a:t>
            </a:r>
            <a:endParaRPr lang="en-IN"/>
          </a:p>
        </p:txBody>
      </p:sp>
      <p:sp>
        <p:nvSpPr>
          <p:cNvPr id="5" name="Slide Number Placeholder 4"/>
          <p:cNvSpPr>
            <a:spLocks noGrp="1"/>
          </p:cNvSpPr>
          <p:nvPr>
            <p:ph type="sldNum" sz="quarter" idx="12"/>
          </p:nvPr>
        </p:nvSpPr>
        <p:spPr/>
        <p:txBody>
          <a:bodyPr/>
          <a:lstStyle/>
          <a:p>
            <a:fld id="{1E81A027-E3F7-4FC9-A752-E855AD4A687D}" type="slidenum">
              <a:rPr lang="en-IN" smtClean="0"/>
              <a:t>33</a:t>
            </a:fld>
            <a:endParaRPr lang="en-IN"/>
          </a:p>
        </p:txBody>
      </p:sp>
    </p:spTree>
    <p:extLst>
      <p:ext uri="{BB962C8B-B14F-4D97-AF65-F5344CB8AC3E}">
        <p14:creationId xmlns:p14="http://schemas.microsoft.com/office/powerpoint/2010/main" val="39616625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D7B57550-C268-6AFC-14FA-E2954CD068C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0BC89A80-1792-FA37-F499-7B5362E4A3AC}"/>
              </a:ext>
            </a:extLst>
          </p:cNvPr>
          <p:cNvSpPr>
            <a:spLocks noGrp="1"/>
          </p:cNvSpPr>
          <p:nvPr>
            <p:ph type="sldNum" sz="quarter" idx="12"/>
          </p:nvPr>
        </p:nvSpPr>
        <p:spPr/>
        <p:txBody>
          <a:bodyPr/>
          <a:lstStyle/>
          <a:p>
            <a:fld id="{1E81A027-E3F7-4FC9-A752-E855AD4A687D}" type="slidenum">
              <a:rPr lang="en-IN" smtClean="0"/>
              <a:t>34</a:t>
            </a:fld>
            <a:endParaRPr lang="en-IN"/>
          </a:p>
        </p:txBody>
      </p:sp>
      <p:sp>
        <p:nvSpPr>
          <p:cNvPr id="3" name="Content Placeholder 2">
            <a:extLst>
              <a:ext uri="{FF2B5EF4-FFF2-40B4-BE49-F238E27FC236}">
                <a16:creationId xmlns:a16="http://schemas.microsoft.com/office/drawing/2014/main" xmlns="" id="{466B3C77-CB3A-1D62-D3D3-651587AF8BD6}"/>
              </a:ext>
            </a:extLst>
          </p:cNvPr>
          <p:cNvSpPr>
            <a:spLocks noGrp="1"/>
          </p:cNvSpPr>
          <p:nvPr>
            <p:ph idx="4294967295"/>
          </p:nvPr>
        </p:nvSpPr>
        <p:spPr>
          <a:xfrm>
            <a:off x="599768" y="422787"/>
            <a:ext cx="10412361" cy="5446201"/>
          </a:xfrm>
        </p:spPr>
        <p:txBody>
          <a:bodyPr>
            <a:normAutofit fontScale="92500" lnSpcReduction="10000"/>
          </a:bodyPr>
          <a:lstStyle/>
          <a:p>
            <a:r>
              <a:rPr lang="en-US" sz="2400" dirty="0">
                <a:solidFill>
                  <a:srgbClr val="000000"/>
                </a:solidFill>
                <a:effectLst/>
              </a:rPr>
              <a:t>There are two main kinds of formulation</a:t>
            </a:r>
          </a:p>
          <a:p>
            <a:pPr lvl="1"/>
            <a:r>
              <a:rPr lang="en-IN" sz="2400" dirty="0">
                <a:solidFill>
                  <a:srgbClr val="000000"/>
                </a:solidFill>
                <a:effectLst/>
              </a:rPr>
              <a:t>An </a:t>
            </a:r>
            <a:r>
              <a:rPr lang="en-IN" sz="2400" b="1" dirty="0">
                <a:solidFill>
                  <a:srgbClr val="000000"/>
                </a:solidFill>
                <a:effectLst/>
              </a:rPr>
              <a:t>incremental formulation </a:t>
            </a:r>
          </a:p>
          <a:p>
            <a:pPr lvl="2">
              <a:buFont typeface="Wingdings" panose="05000000000000000000" pitchFamily="2" charset="2"/>
              <a:buChar char="v"/>
            </a:pPr>
            <a:r>
              <a:rPr lang="en-US" altLang="zh-TW" sz="2400" dirty="0">
                <a:solidFill>
                  <a:srgbClr val="000000"/>
                </a:solidFill>
              </a:rPr>
              <a:t>involves operators that augment the state description starting from an empty state</a:t>
            </a:r>
          </a:p>
          <a:p>
            <a:pPr lvl="2">
              <a:buFont typeface="Wingdings" panose="05000000000000000000" pitchFamily="2" charset="2"/>
              <a:buChar char="v"/>
            </a:pPr>
            <a:r>
              <a:rPr lang="en-US" altLang="zh-TW" sz="2400" dirty="0">
                <a:solidFill>
                  <a:srgbClr val="000000"/>
                </a:solidFill>
              </a:rPr>
              <a:t>Each action adds a queen to the state</a:t>
            </a:r>
          </a:p>
          <a:p>
            <a:pPr lvl="2">
              <a:buFont typeface="Wingdings" panose="05000000000000000000" pitchFamily="2" charset="2"/>
              <a:buChar char="v"/>
            </a:pPr>
            <a:r>
              <a:rPr lang="en-US" altLang="zh-TW" sz="2400" dirty="0">
                <a:solidFill>
                  <a:srgbClr val="000000"/>
                </a:solidFill>
              </a:rPr>
              <a:t>States:</a:t>
            </a:r>
          </a:p>
          <a:p>
            <a:pPr lvl="3">
              <a:buFont typeface="Wingdings" panose="05000000000000000000" pitchFamily="2" charset="2"/>
              <a:buChar char="ü"/>
            </a:pPr>
            <a:r>
              <a:rPr lang="en-US" altLang="zh-TW" sz="2400" dirty="0">
                <a:solidFill>
                  <a:srgbClr val="000000"/>
                </a:solidFill>
              </a:rPr>
              <a:t>any arrangement of 0 to 8 queens on board</a:t>
            </a:r>
          </a:p>
          <a:p>
            <a:pPr lvl="2">
              <a:buFont typeface="Wingdings" panose="05000000000000000000" pitchFamily="2" charset="2"/>
              <a:buChar char="v"/>
            </a:pPr>
            <a:r>
              <a:rPr lang="en-US" altLang="zh-TW" sz="2400" dirty="0">
                <a:solidFill>
                  <a:srgbClr val="000000"/>
                </a:solidFill>
              </a:rPr>
              <a:t>Successor function: </a:t>
            </a:r>
          </a:p>
          <a:p>
            <a:pPr lvl="2" eaLnBrk="1" hangingPunct="1">
              <a:buFont typeface="Wingdings" panose="05000000000000000000" pitchFamily="2" charset="2"/>
              <a:buChar char="v"/>
            </a:pPr>
            <a:r>
              <a:rPr lang="en-US" altLang="zh-TW" sz="2400" dirty="0">
                <a:solidFill>
                  <a:srgbClr val="000000"/>
                </a:solidFill>
              </a:rPr>
              <a:t>add a queen to any empty square</a:t>
            </a:r>
            <a:endParaRPr lang="en-US" sz="2400" dirty="0">
              <a:solidFill>
                <a:srgbClr val="000000"/>
              </a:solidFill>
            </a:endParaRPr>
          </a:p>
          <a:p>
            <a:pPr lvl="1"/>
            <a:r>
              <a:rPr lang="en-IN" sz="2400" dirty="0">
                <a:solidFill>
                  <a:srgbClr val="000000"/>
                </a:solidFill>
                <a:effectLst/>
              </a:rPr>
              <a:t>A </a:t>
            </a:r>
            <a:r>
              <a:rPr lang="en-IN" sz="2400" b="1" dirty="0">
                <a:solidFill>
                  <a:srgbClr val="000000"/>
                </a:solidFill>
                <a:effectLst/>
              </a:rPr>
              <a:t>complete-state formulation</a:t>
            </a:r>
          </a:p>
          <a:p>
            <a:pPr lvl="2">
              <a:buFont typeface="Wingdings" panose="05000000000000000000" pitchFamily="2" charset="2"/>
              <a:buChar char="v"/>
            </a:pPr>
            <a:r>
              <a:rPr lang="en-US" altLang="zh-TW" sz="2400" dirty="0">
                <a:solidFill>
                  <a:srgbClr val="000000"/>
                </a:solidFill>
              </a:rPr>
              <a:t>starts with all 8 queens on the board</a:t>
            </a:r>
          </a:p>
          <a:p>
            <a:pPr lvl="2">
              <a:buFont typeface="Wingdings" panose="05000000000000000000" pitchFamily="2" charset="2"/>
              <a:buChar char="v"/>
            </a:pPr>
            <a:r>
              <a:rPr lang="en-US" altLang="zh-TW" sz="2400" dirty="0">
                <a:solidFill>
                  <a:srgbClr val="000000"/>
                </a:solidFill>
              </a:rPr>
              <a:t>move the queens individually around</a:t>
            </a:r>
          </a:p>
          <a:p>
            <a:pPr lvl="2">
              <a:buFont typeface="Wingdings" panose="05000000000000000000" pitchFamily="2" charset="2"/>
              <a:buChar char="v"/>
            </a:pPr>
            <a:r>
              <a:rPr lang="en-US" altLang="zh-TW" sz="2400" dirty="0">
                <a:solidFill>
                  <a:srgbClr val="000000"/>
                </a:solidFill>
              </a:rPr>
              <a:t>States: </a:t>
            </a:r>
          </a:p>
          <a:p>
            <a:pPr lvl="3">
              <a:buFont typeface="Wingdings" panose="05000000000000000000" pitchFamily="2" charset="2"/>
              <a:buChar char="ü"/>
            </a:pPr>
            <a:r>
              <a:rPr lang="en-US" altLang="zh-TW" sz="2400" dirty="0">
                <a:solidFill>
                  <a:srgbClr val="000000"/>
                </a:solidFill>
              </a:rPr>
              <a:t>any arrangement of 8 queens, one per column in the leftmost columns</a:t>
            </a:r>
          </a:p>
          <a:p>
            <a:pPr lvl="2">
              <a:buFont typeface="Wingdings" panose="05000000000000000000" pitchFamily="2" charset="2"/>
              <a:buChar char="v"/>
            </a:pPr>
            <a:r>
              <a:rPr lang="en-US" altLang="zh-TW" sz="2400" dirty="0">
                <a:solidFill>
                  <a:srgbClr val="000000"/>
                </a:solidFill>
              </a:rPr>
              <a:t>Operators: move an attacked queen to a row, not attacked by any other</a:t>
            </a:r>
          </a:p>
          <a:p>
            <a:pPr lvl="1">
              <a:buFont typeface="Courier New" panose="02070309020205020404" pitchFamily="49" charset="0"/>
              <a:buChar char="o"/>
            </a:pPr>
            <a:r>
              <a:rPr lang="en-US" altLang="zh-TW" sz="2400" dirty="0">
                <a:solidFill>
                  <a:srgbClr val="000000"/>
                </a:solidFill>
              </a:rPr>
              <a:t>the right formulation makes a big difference to the size of the search space </a:t>
            </a:r>
            <a:endParaRPr lang="zh-TW" altLang="en-US" sz="2400" dirty="0">
              <a:solidFill>
                <a:srgbClr val="000000"/>
              </a:solidFill>
            </a:endParaRPr>
          </a:p>
          <a:p>
            <a:pPr lvl="1">
              <a:buFont typeface="Wingdings" panose="05000000000000000000" pitchFamily="2" charset="2"/>
              <a:buChar char="v"/>
            </a:pPr>
            <a:endParaRPr lang="en-US" altLang="zh-TW" sz="2800" dirty="0">
              <a:solidFill>
                <a:srgbClr val="000000"/>
              </a:solidFill>
            </a:endParaRPr>
          </a:p>
        </p:txBody>
      </p:sp>
    </p:spTree>
    <p:extLst>
      <p:ext uri="{BB962C8B-B14F-4D97-AF65-F5344CB8AC3E}">
        <p14:creationId xmlns:p14="http://schemas.microsoft.com/office/powerpoint/2010/main" val="807697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07C7FC2C-2A5A-9B58-551B-3A7A2B64A191}"/>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xmlns="" id="{761A61A6-C3AE-6D78-28AC-148C4A5E5236}"/>
              </a:ext>
            </a:extLst>
          </p:cNvPr>
          <p:cNvSpPr>
            <a:spLocks noGrp="1"/>
          </p:cNvSpPr>
          <p:nvPr>
            <p:ph type="sldNum" sz="quarter" idx="12"/>
          </p:nvPr>
        </p:nvSpPr>
        <p:spPr/>
        <p:txBody>
          <a:bodyPr/>
          <a:lstStyle/>
          <a:p>
            <a:fld id="{1E81A027-E3F7-4FC9-A752-E855AD4A687D}" type="slidenum">
              <a:rPr lang="en-IN" smtClean="0"/>
              <a:t>35</a:t>
            </a:fld>
            <a:endParaRPr lang="en-IN"/>
          </a:p>
        </p:txBody>
      </p:sp>
      <p:sp>
        <p:nvSpPr>
          <p:cNvPr id="5" name="Content Placeholder 4">
            <a:extLst>
              <a:ext uri="{FF2B5EF4-FFF2-40B4-BE49-F238E27FC236}">
                <a16:creationId xmlns:a16="http://schemas.microsoft.com/office/drawing/2014/main" xmlns="" id="{73907867-3F9C-DCF6-0B6F-E922BED967DD}"/>
              </a:ext>
            </a:extLst>
          </p:cNvPr>
          <p:cNvSpPr>
            <a:spLocks noGrp="1"/>
          </p:cNvSpPr>
          <p:nvPr>
            <p:ph idx="4294967295"/>
          </p:nvPr>
        </p:nvSpPr>
        <p:spPr>
          <a:xfrm>
            <a:off x="422787" y="373627"/>
            <a:ext cx="11769213" cy="5495362"/>
          </a:xfrm>
        </p:spPr>
        <p:txBody>
          <a:bodyPr>
            <a:normAutofit/>
          </a:bodyPr>
          <a:lstStyle/>
          <a:p>
            <a:r>
              <a:rPr lang="en-IN" sz="1800" dirty="0">
                <a:solidFill>
                  <a:srgbClr val="000000"/>
                </a:solidFill>
              </a:rPr>
              <a:t>I</a:t>
            </a:r>
            <a:r>
              <a:rPr lang="en-IN" sz="1800" dirty="0">
                <a:solidFill>
                  <a:srgbClr val="000000"/>
                </a:solidFill>
                <a:effectLst/>
              </a:rPr>
              <a:t>ncremental formulation</a:t>
            </a:r>
          </a:p>
          <a:p>
            <a:endParaRPr lang="en-IN" sz="1800" dirty="0">
              <a:solidFill>
                <a:srgbClr val="000000"/>
              </a:solidFill>
            </a:endParaRPr>
          </a:p>
          <a:p>
            <a:endParaRPr lang="en-IN" sz="1800" dirty="0">
              <a:solidFill>
                <a:srgbClr val="000000"/>
              </a:solidFill>
              <a:effectLst/>
            </a:endParaRPr>
          </a:p>
          <a:p>
            <a:endParaRPr lang="en-IN" sz="1800" dirty="0">
              <a:solidFill>
                <a:srgbClr val="000000"/>
              </a:solidFill>
            </a:endParaRPr>
          </a:p>
          <a:p>
            <a:endParaRPr lang="en-IN" sz="1800" dirty="0">
              <a:solidFill>
                <a:srgbClr val="000000"/>
              </a:solidFill>
              <a:effectLst/>
            </a:endParaRPr>
          </a:p>
          <a:p>
            <a:r>
              <a:rPr lang="en-US" sz="1800" dirty="0">
                <a:solidFill>
                  <a:srgbClr val="000000"/>
                </a:solidFill>
                <a:effectLst/>
              </a:rPr>
              <a:t>In this formulation, we have 64 · 63 ··· 57 ≈ 1.8 × 1014 possible sequences to investigate. A better formulation would prohibit placing a queen in any square that is already attacked:</a:t>
            </a:r>
          </a:p>
          <a:p>
            <a:endParaRPr lang="en-US" sz="1800" dirty="0">
              <a:solidFill>
                <a:srgbClr val="000000"/>
              </a:solidFill>
            </a:endParaRPr>
          </a:p>
          <a:p>
            <a:endParaRPr lang="en-US" sz="1800" dirty="0">
              <a:solidFill>
                <a:srgbClr val="000000"/>
              </a:solidFill>
              <a:effectLst/>
            </a:endParaRPr>
          </a:p>
          <a:p>
            <a:endParaRPr lang="en-US" sz="1800" dirty="0">
              <a:solidFill>
                <a:srgbClr val="000000"/>
              </a:solidFill>
            </a:endParaRPr>
          </a:p>
          <a:p>
            <a:r>
              <a:rPr lang="en-US" sz="1800" dirty="0">
                <a:solidFill>
                  <a:srgbClr val="000000"/>
                </a:solidFill>
                <a:effectLst/>
              </a:rPr>
              <a:t>This formulation reduces the 8-queens state space from 1.8 × 1014 to just 2,057, and solutions are easy to find. On the other hand, for 100 queens the reduction is from roughly 10400 states to about 1052 states (Exercise 3.5)—a big improvement, but not enough to make the problem tractable</a:t>
            </a:r>
          </a:p>
          <a:p>
            <a:endParaRPr lang="en-US" sz="1800" dirty="0">
              <a:solidFill>
                <a:srgbClr val="000000"/>
              </a:solidFill>
              <a:effectLst/>
            </a:endParaRPr>
          </a:p>
          <a:p>
            <a:endParaRPr lang="en-IN" sz="1800" dirty="0">
              <a:solidFill>
                <a:srgbClr val="000000"/>
              </a:solidFill>
              <a:effectLst/>
            </a:endParaRPr>
          </a:p>
          <a:p>
            <a:endParaRPr lang="en-IN" dirty="0"/>
          </a:p>
        </p:txBody>
      </p:sp>
      <p:pic>
        <p:nvPicPr>
          <p:cNvPr id="7" name="Picture 6">
            <a:extLst>
              <a:ext uri="{FF2B5EF4-FFF2-40B4-BE49-F238E27FC236}">
                <a16:creationId xmlns:a16="http://schemas.microsoft.com/office/drawing/2014/main" xmlns="" id="{1C6C962C-DD12-B2BA-9B2D-90CBC88BCE9E}"/>
              </a:ext>
            </a:extLst>
          </p:cNvPr>
          <p:cNvPicPr>
            <a:picLocks noChangeAspect="1"/>
          </p:cNvPicPr>
          <p:nvPr/>
        </p:nvPicPr>
        <p:blipFill>
          <a:blip r:embed="rId2"/>
          <a:stretch>
            <a:fillRect/>
          </a:stretch>
        </p:blipFill>
        <p:spPr>
          <a:xfrm>
            <a:off x="1482740" y="810849"/>
            <a:ext cx="7026249" cy="1539373"/>
          </a:xfrm>
          <a:prstGeom prst="rect">
            <a:avLst/>
          </a:prstGeom>
        </p:spPr>
      </p:pic>
      <p:pic>
        <p:nvPicPr>
          <p:cNvPr id="9" name="Picture 8">
            <a:extLst>
              <a:ext uri="{FF2B5EF4-FFF2-40B4-BE49-F238E27FC236}">
                <a16:creationId xmlns:a16="http://schemas.microsoft.com/office/drawing/2014/main" xmlns="" id="{7BED5D75-E9FC-CC8D-F4EE-6980D7656078}"/>
              </a:ext>
            </a:extLst>
          </p:cNvPr>
          <p:cNvPicPr>
            <a:picLocks noChangeAspect="1"/>
          </p:cNvPicPr>
          <p:nvPr/>
        </p:nvPicPr>
        <p:blipFill>
          <a:blip r:embed="rId3"/>
          <a:stretch>
            <a:fillRect/>
          </a:stretch>
        </p:blipFill>
        <p:spPr>
          <a:xfrm>
            <a:off x="1728669" y="3151459"/>
            <a:ext cx="7712108" cy="1158340"/>
          </a:xfrm>
          <a:prstGeom prst="rect">
            <a:avLst/>
          </a:prstGeom>
        </p:spPr>
      </p:pic>
    </p:spTree>
    <p:extLst>
      <p:ext uri="{BB962C8B-B14F-4D97-AF65-F5344CB8AC3E}">
        <p14:creationId xmlns:p14="http://schemas.microsoft.com/office/powerpoint/2010/main" val="2906110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03A1E465-518F-E030-6230-8BD879B76013}"/>
              </a:ext>
            </a:extLst>
          </p:cNvPr>
          <p:cNvSpPr>
            <a:spLocks noGrp="1"/>
          </p:cNvSpPr>
          <p:nvPr>
            <p:ph type="title"/>
          </p:nvPr>
        </p:nvSpPr>
        <p:spPr/>
        <p:txBody>
          <a:bodyPr>
            <a:normAutofit/>
          </a:bodyPr>
          <a:lstStyle/>
          <a:p>
            <a:r>
              <a:rPr lang="en-IN" dirty="0">
                <a:solidFill>
                  <a:srgbClr val="000000"/>
                </a:solidFill>
                <a:effectLst/>
              </a:rPr>
              <a:t>Real-world problems- R</a:t>
            </a:r>
            <a:r>
              <a:rPr lang="en-IN" dirty="0">
                <a:solidFill>
                  <a:srgbClr val="000000"/>
                </a:solidFill>
              </a:rPr>
              <a:t>oute-Finding problem</a:t>
            </a:r>
          </a:p>
        </p:txBody>
      </p:sp>
      <p:sp>
        <p:nvSpPr>
          <p:cNvPr id="5" name="Content Placeholder 4">
            <a:extLst>
              <a:ext uri="{FF2B5EF4-FFF2-40B4-BE49-F238E27FC236}">
                <a16:creationId xmlns:a16="http://schemas.microsoft.com/office/drawing/2014/main" xmlns="" id="{44B76C10-EA2A-3B98-5CF6-21B8BAFD28FF}"/>
              </a:ext>
            </a:extLst>
          </p:cNvPr>
          <p:cNvSpPr>
            <a:spLocks noGrp="1"/>
          </p:cNvSpPr>
          <p:nvPr>
            <p:ph idx="1"/>
          </p:nvPr>
        </p:nvSpPr>
        <p:spPr/>
        <p:txBody>
          <a:bodyPr>
            <a:normAutofit/>
          </a:bodyPr>
          <a:lstStyle/>
          <a:p>
            <a:pPr>
              <a:buFont typeface="Wingdings" panose="05000000000000000000" pitchFamily="2" charset="2"/>
              <a:buChar char="q"/>
            </a:pPr>
            <a:r>
              <a:rPr lang="en-IN" dirty="0"/>
              <a:t>Route-finding problems </a:t>
            </a:r>
          </a:p>
          <a:p>
            <a:pPr>
              <a:buFont typeface="Wingdings" panose="05000000000000000000" pitchFamily="2" charset="2"/>
              <a:buChar char="q"/>
            </a:pPr>
            <a:r>
              <a:rPr lang="en-IN" dirty="0"/>
              <a:t>Touring problems </a:t>
            </a:r>
          </a:p>
          <a:p>
            <a:pPr>
              <a:buFont typeface="Wingdings" panose="05000000000000000000" pitchFamily="2" charset="2"/>
              <a:buChar char="q"/>
            </a:pPr>
            <a:r>
              <a:rPr lang="en-IN" dirty="0"/>
              <a:t>Traveling Salesman problem </a:t>
            </a:r>
          </a:p>
          <a:p>
            <a:pPr>
              <a:buFont typeface="Wingdings" panose="05000000000000000000" pitchFamily="2" charset="2"/>
              <a:buChar char="q"/>
            </a:pPr>
            <a:r>
              <a:rPr lang="en-IN" dirty="0"/>
              <a:t>VLSI layout problem </a:t>
            </a:r>
          </a:p>
          <a:p>
            <a:pPr>
              <a:buFont typeface="Wingdings" panose="05000000000000000000" pitchFamily="2" charset="2"/>
              <a:buChar char="q"/>
            </a:pPr>
            <a:r>
              <a:rPr lang="en-IN" dirty="0"/>
              <a:t>Robot navigation </a:t>
            </a:r>
          </a:p>
          <a:p>
            <a:pPr>
              <a:buFont typeface="Wingdings" panose="05000000000000000000" pitchFamily="2" charset="2"/>
              <a:buChar char="q"/>
            </a:pPr>
            <a:r>
              <a:rPr lang="en-IN" dirty="0"/>
              <a:t>Automatic assembly sequencing </a:t>
            </a:r>
          </a:p>
          <a:p>
            <a:pPr>
              <a:buFont typeface="Wingdings" panose="05000000000000000000" pitchFamily="2" charset="2"/>
              <a:buChar char="q"/>
            </a:pPr>
            <a:r>
              <a:rPr lang="en-IN" dirty="0"/>
              <a:t>Internet searching </a:t>
            </a:r>
            <a:endParaRPr lang="en-IN" sz="2800" dirty="0"/>
          </a:p>
        </p:txBody>
      </p:sp>
      <p:sp>
        <p:nvSpPr>
          <p:cNvPr id="2" name="Footer Placeholder 1">
            <a:extLst>
              <a:ext uri="{FF2B5EF4-FFF2-40B4-BE49-F238E27FC236}">
                <a16:creationId xmlns:a16="http://schemas.microsoft.com/office/drawing/2014/main" xmlns="" id="{F7374CDA-822F-C732-4832-4492DB17D075}"/>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xmlns="" id="{D80FBBDB-BEA4-7E58-8035-46598064B7F7}"/>
              </a:ext>
            </a:extLst>
          </p:cNvPr>
          <p:cNvSpPr>
            <a:spLocks noGrp="1"/>
          </p:cNvSpPr>
          <p:nvPr>
            <p:ph type="sldNum" sz="quarter" idx="12"/>
          </p:nvPr>
        </p:nvSpPr>
        <p:spPr/>
        <p:txBody>
          <a:bodyPr/>
          <a:lstStyle/>
          <a:p>
            <a:fld id="{1E81A027-E3F7-4FC9-A752-E855AD4A687D}" type="slidenum">
              <a:rPr lang="en-IN" smtClean="0"/>
              <a:t>36</a:t>
            </a:fld>
            <a:endParaRPr lang="en-IN"/>
          </a:p>
        </p:txBody>
      </p:sp>
    </p:spTree>
    <p:extLst>
      <p:ext uri="{BB962C8B-B14F-4D97-AF65-F5344CB8AC3E}">
        <p14:creationId xmlns:p14="http://schemas.microsoft.com/office/powerpoint/2010/main" val="4778008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FE56A7-0DF7-70EA-A6EE-74878191CFCE}"/>
              </a:ext>
            </a:extLst>
          </p:cNvPr>
          <p:cNvSpPr>
            <a:spLocks noGrp="1"/>
          </p:cNvSpPr>
          <p:nvPr>
            <p:ph type="title"/>
          </p:nvPr>
        </p:nvSpPr>
        <p:spPr/>
        <p:txBody>
          <a:bodyPr/>
          <a:lstStyle/>
          <a:p>
            <a:r>
              <a:rPr lang="en-IN" dirty="0"/>
              <a:t>Searching for solution</a:t>
            </a:r>
          </a:p>
        </p:txBody>
      </p:sp>
      <p:sp>
        <p:nvSpPr>
          <p:cNvPr id="3" name="Content Placeholder 2">
            <a:extLst>
              <a:ext uri="{FF2B5EF4-FFF2-40B4-BE49-F238E27FC236}">
                <a16:creationId xmlns:a16="http://schemas.microsoft.com/office/drawing/2014/main" xmlns="" id="{4AF84C40-7EB0-0C74-33D1-BEF96ED5C87E}"/>
              </a:ext>
            </a:extLst>
          </p:cNvPr>
          <p:cNvSpPr>
            <a:spLocks noGrp="1"/>
          </p:cNvSpPr>
          <p:nvPr>
            <p:ph idx="1"/>
          </p:nvPr>
        </p:nvSpPr>
        <p:spPr/>
        <p:txBody>
          <a:bodyPr>
            <a:normAutofit/>
          </a:bodyPr>
          <a:lstStyle/>
          <a:p>
            <a:r>
              <a:rPr lang="en-US" sz="2400" dirty="0">
                <a:solidFill>
                  <a:srgbClr val="000000"/>
                </a:solidFill>
                <a:effectLst/>
              </a:rPr>
              <a:t>A solution is an action sequence, so search algorithms work by considering various possible action sequences. </a:t>
            </a:r>
          </a:p>
          <a:p>
            <a:r>
              <a:rPr lang="en-US" sz="2400" dirty="0">
                <a:solidFill>
                  <a:srgbClr val="000000"/>
                </a:solidFill>
                <a:effectLst/>
              </a:rPr>
              <a:t>The possible action sequences starting at the initial state form a </a:t>
            </a:r>
            <a:r>
              <a:rPr lang="en-US" sz="2400" b="1" dirty="0">
                <a:solidFill>
                  <a:srgbClr val="000000"/>
                </a:solidFill>
                <a:effectLst/>
              </a:rPr>
              <a:t>search tree </a:t>
            </a:r>
            <a:r>
              <a:rPr lang="en-US" sz="2400" dirty="0">
                <a:solidFill>
                  <a:srgbClr val="000000"/>
                </a:solidFill>
                <a:effectLst/>
              </a:rPr>
              <a:t>with the initial state </a:t>
            </a:r>
            <a:r>
              <a:rPr lang="en-US" sz="2400" dirty="0"/>
              <a:t> </a:t>
            </a:r>
            <a:r>
              <a:rPr lang="en-US" sz="2400" dirty="0">
                <a:solidFill>
                  <a:srgbClr val="000000"/>
                </a:solidFill>
                <a:effectLst/>
              </a:rPr>
              <a:t>at the root</a:t>
            </a:r>
          </a:p>
          <a:p>
            <a:r>
              <a:rPr lang="en-US" sz="2400" dirty="0">
                <a:solidFill>
                  <a:srgbClr val="000000"/>
                </a:solidFill>
                <a:effectLst/>
              </a:rPr>
              <a:t>The branches are actions and the </a:t>
            </a:r>
            <a:r>
              <a:rPr lang="en-US" sz="2400" b="1" dirty="0">
                <a:solidFill>
                  <a:srgbClr val="000000"/>
                </a:solidFill>
                <a:effectLst/>
              </a:rPr>
              <a:t>nodes </a:t>
            </a:r>
            <a:r>
              <a:rPr lang="en-US" sz="2400" dirty="0">
                <a:solidFill>
                  <a:srgbClr val="000000"/>
                </a:solidFill>
                <a:effectLst/>
              </a:rPr>
              <a:t>correspond to states in the state space of the problem.</a:t>
            </a:r>
            <a:endParaRPr lang="en-IN" sz="2400" dirty="0"/>
          </a:p>
        </p:txBody>
      </p:sp>
      <p:sp>
        <p:nvSpPr>
          <p:cNvPr id="4" name="Footer Placeholder 3">
            <a:extLst>
              <a:ext uri="{FF2B5EF4-FFF2-40B4-BE49-F238E27FC236}">
                <a16:creationId xmlns:a16="http://schemas.microsoft.com/office/drawing/2014/main" xmlns="" id="{D03C999B-3F38-3A61-C4C9-240C7115BBB6}"/>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13848E48-4F3A-8B3A-1FAD-AA813795E88F}"/>
              </a:ext>
            </a:extLst>
          </p:cNvPr>
          <p:cNvSpPr>
            <a:spLocks noGrp="1"/>
          </p:cNvSpPr>
          <p:nvPr>
            <p:ph type="sldNum" sz="quarter" idx="12"/>
          </p:nvPr>
        </p:nvSpPr>
        <p:spPr/>
        <p:txBody>
          <a:bodyPr/>
          <a:lstStyle/>
          <a:p>
            <a:fld id="{1E81A027-E3F7-4FC9-A752-E855AD4A687D}" type="slidenum">
              <a:rPr lang="en-IN" smtClean="0"/>
              <a:t>37</a:t>
            </a:fld>
            <a:endParaRPr lang="en-IN"/>
          </a:p>
        </p:txBody>
      </p:sp>
    </p:spTree>
    <p:extLst>
      <p:ext uri="{BB962C8B-B14F-4D97-AF65-F5344CB8AC3E}">
        <p14:creationId xmlns:p14="http://schemas.microsoft.com/office/powerpoint/2010/main" val="3548062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77F039-D20C-0EDC-C734-3B68940D87E4}"/>
              </a:ext>
            </a:extLst>
          </p:cNvPr>
          <p:cNvSpPr>
            <a:spLocks noGrp="1"/>
          </p:cNvSpPr>
          <p:nvPr>
            <p:ph type="title"/>
          </p:nvPr>
        </p:nvSpPr>
        <p:spPr>
          <a:xfrm>
            <a:off x="1038285" y="2025445"/>
            <a:ext cx="3612372" cy="2212258"/>
          </a:xfrm>
        </p:spPr>
        <p:txBody>
          <a:bodyPr>
            <a:normAutofit/>
          </a:bodyPr>
          <a:lstStyle/>
          <a:p>
            <a:r>
              <a:rPr lang="en-US" sz="3600" dirty="0">
                <a:solidFill>
                  <a:srgbClr val="000000"/>
                </a:solidFill>
              </a:rPr>
              <a:t>S</a:t>
            </a:r>
            <a:r>
              <a:rPr lang="en-US" sz="3600" dirty="0">
                <a:solidFill>
                  <a:srgbClr val="000000"/>
                </a:solidFill>
                <a:effectLst/>
              </a:rPr>
              <a:t>earch tree for finding a route </a:t>
            </a:r>
            <a:br>
              <a:rPr lang="en-US" sz="3600" dirty="0">
                <a:solidFill>
                  <a:srgbClr val="000000"/>
                </a:solidFill>
                <a:effectLst/>
              </a:rPr>
            </a:br>
            <a:r>
              <a:rPr lang="en-US" sz="3600" dirty="0">
                <a:solidFill>
                  <a:srgbClr val="000000"/>
                </a:solidFill>
                <a:effectLst/>
              </a:rPr>
              <a:t>from Arad to Bucharest</a:t>
            </a:r>
            <a:endParaRPr lang="en-IN" sz="8000" dirty="0"/>
          </a:p>
        </p:txBody>
      </p:sp>
      <p:sp>
        <p:nvSpPr>
          <p:cNvPr id="4" name="Footer Placeholder 3">
            <a:extLst>
              <a:ext uri="{FF2B5EF4-FFF2-40B4-BE49-F238E27FC236}">
                <a16:creationId xmlns:a16="http://schemas.microsoft.com/office/drawing/2014/main" xmlns="" id="{4F3C9F8D-BD6D-75CB-9E3B-13A44844A090}"/>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28F7588A-B84E-F79B-4DAD-2A43361AD8FF}"/>
              </a:ext>
            </a:extLst>
          </p:cNvPr>
          <p:cNvSpPr>
            <a:spLocks noGrp="1"/>
          </p:cNvSpPr>
          <p:nvPr>
            <p:ph type="sldNum" sz="quarter" idx="12"/>
          </p:nvPr>
        </p:nvSpPr>
        <p:spPr/>
        <p:txBody>
          <a:bodyPr/>
          <a:lstStyle/>
          <a:p>
            <a:fld id="{1E81A027-E3F7-4FC9-A752-E855AD4A687D}" type="slidenum">
              <a:rPr lang="en-IN" smtClean="0"/>
              <a:t>38</a:t>
            </a:fld>
            <a:endParaRPr lang="en-IN"/>
          </a:p>
        </p:txBody>
      </p:sp>
      <p:pic>
        <p:nvPicPr>
          <p:cNvPr id="7" name="Picture 6">
            <a:extLst>
              <a:ext uri="{FF2B5EF4-FFF2-40B4-BE49-F238E27FC236}">
                <a16:creationId xmlns:a16="http://schemas.microsoft.com/office/drawing/2014/main" xmlns="" id="{F29E2C24-C530-0484-8039-A026944D26E8}"/>
              </a:ext>
            </a:extLst>
          </p:cNvPr>
          <p:cNvPicPr>
            <a:picLocks noChangeAspect="1"/>
          </p:cNvPicPr>
          <p:nvPr/>
        </p:nvPicPr>
        <p:blipFill>
          <a:blip r:embed="rId2"/>
          <a:stretch>
            <a:fillRect/>
          </a:stretch>
        </p:blipFill>
        <p:spPr>
          <a:xfrm>
            <a:off x="4804858" y="130367"/>
            <a:ext cx="7387142" cy="6329418"/>
          </a:xfrm>
          <a:prstGeom prst="rect">
            <a:avLst/>
          </a:prstGeom>
        </p:spPr>
      </p:pic>
    </p:spTree>
    <p:extLst>
      <p:ext uri="{BB962C8B-B14F-4D97-AF65-F5344CB8AC3E}">
        <p14:creationId xmlns:p14="http://schemas.microsoft.com/office/powerpoint/2010/main" val="22867508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7D190C37-E8A4-20C0-8D61-33F12C0EC742}"/>
              </a:ext>
            </a:extLst>
          </p:cNvPr>
          <p:cNvSpPr>
            <a:spLocks noGrp="1"/>
          </p:cNvSpPr>
          <p:nvPr>
            <p:ph type="title"/>
          </p:nvPr>
        </p:nvSpPr>
        <p:spPr/>
        <p:txBody>
          <a:bodyPr/>
          <a:lstStyle/>
          <a:p>
            <a:r>
              <a:rPr lang="en-IN" i="0" dirty="0">
                <a:solidFill>
                  <a:srgbClr val="000000"/>
                </a:solidFill>
                <a:effectLst/>
              </a:rPr>
              <a:t>Frontier</a:t>
            </a:r>
            <a:endParaRPr lang="en-IN" dirty="0"/>
          </a:p>
        </p:txBody>
      </p:sp>
      <p:sp>
        <p:nvSpPr>
          <p:cNvPr id="5" name="Content Placeholder 4">
            <a:extLst>
              <a:ext uri="{FF2B5EF4-FFF2-40B4-BE49-F238E27FC236}">
                <a16:creationId xmlns:a16="http://schemas.microsoft.com/office/drawing/2014/main" xmlns="" id="{5E6D4F91-9A2E-9160-C944-64E2D29CCD37}"/>
              </a:ext>
            </a:extLst>
          </p:cNvPr>
          <p:cNvSpPr>
            <a:spLocks noGrp="1"/>
          </p:cNvSpPr>
          <p:nvPr>
            <p:ph idx="1"/>
          </p:nvPr>
        </p:nvSpPr>
        <p:spPr/>
        <p:txBody>
          <a:bodyPr>
            <a:normAutofit/>
          </a:bodyPr>
          <a:lstStyle/>
          <a:p>
            <a:r>
              <a:rPr lang="en-US" sz="2400" i="0" dirty="0">
                <a:solidFill>
                  <a:srgbClr val="000000"/>
                </a:solidFill>
                <a:effectLst/>
              </a:rPr>
              <a:t> We reach a state when we identify a path from the start state to it. But, we say that we expanded it if we had followed all its outward edges and reached all its children.</a:t>
            </a:r>
          </a:p>
          <a:p>
            <a:r>
              <a:rPr lang="en-US" sz="2400" i="0" dirty="0">
                <a:solidFill>
                  <a:srgbClr val="000000"/>
                </a:solidFill>
                <a:effectLst/>
              </a:rPr>
              <a:t>So, we can also think of a search as a sequence of expansions, and we first have to reach a state before expanding it. </a:t>
            </a:r>
          </a:p>
          <a:p>
            <a:pPr algn="ctr"/>
            <a:r>
              <a:rPr lang="en-US" sz="2400" b="1" i="0" dirty="0">
                <a:solidFill>
                  <a:srgbClr val="FF0000"/>
                </a:solidFill>
                <a:effectLst/>
              </a:rPr>
              <a:t>Frontier is </a:t>
            </a:r>
            <a:r>
              <a:rPr lang="en-US" sz="2400" b="1" i="0" dirty="0">
                <a:solidFill>
                  <a:srgbClr val="00B0F0"/>
                </a:solidFill>
                <a:effectLst/>
              </a:rPr>
              <a:t>the reached but unexpanded </a:t>
            </a:r>
            <a:r>
              <a:rPr lang="en-US" sz="2400" b="1" i="0" dirty="0">
                <a:solidFill>
                  <a:srgbClr val="FF0000"/>
                </a:solidFill>
                <a:effectLst/>
              </a:rPr>
              <a:t>states because we can expand only them</a:t>
            </a:r>
            <a:endParaRPr lang="en-IN" sz="2400" b="1" dirty="0">
              <a:solidFill>
                <a:srgbClr val="FF0000"/>
              </a:solidFill>
            </a:endParaRPr>
          </a:p>
        </p:txBody>
      </p:sp>
      <p:sp>
        <p:nvSpPr>
          <p:cNvPr id="2" name="Footer Placeholder 1">
            <a:extLst>
              <a:ext uri="{FF2B5EF4-FFF2-40B4-BE49-F238E27FC236}">
                <a16:creationId xmlns:a16="http://schemas.microsoft.com/office/drawing/2014/main" xmlns="" id="{A42B0926-F083-2CCD-58EA-62DA939E5E84}"/>
              </a:ext>
            </a:extLst>
          </p:cNvPr>
          <p:cNvSpPr>
            <a:spLocks noGrp="1"/>
          </p:cNvSpPr>
          <p:nvPr>
            <p:ph type="ftr" sz="quarter" idx="11"/>
          </p:nvPr>
        </p:nvSpPr>
        <p:spPr/>
        <p:txBody>
          <a:bodyPr/>
          <a:lstStyle/>
          <a:p>
            <a:r>
              <a:rPr lang="en-IN" dirty="0"/>
              <a:t>DEPARTMENT OF CSE SNGCE</a:t>
            </a:r>
          </a:p>
        </p:txBody>
      </p:sp>
      <p:sp>
        <p:nvSpPr>
          <p:cNvPr id="3" name="Slide Number Placeholder 2">
            <a:extLst>
              <a:ext uri="{FF2B5EF4-FFF2-40B4-BE49-F238E27FC236}">
                <a16:creationId xmlns:a16="http://schemas.microsoft.com/office/drawing/2014/main" xmlns="" id="{F3C9E281-3B53-D93F-251B-1739079412F4}"/>
              </a:ext>
            </a:extLst>
          </p:cNvPr>
          <p:cNvSpPr>
            <a:spLocks noGrp="1"/>
          </p:cNvSpPr>
          <p:nvPr>
            <p:ph type="sldNum" sz="quarter" idx="12"/>
          </p:nvPr>
        </p:nvSpPr>
        <p:spPr/>
        <p:txBody>
          <a:bodyPr/>
          <a:lstStyle/>
          <a:p>
            <a:fld id="{1E81A027-E3F7-4FC9-A752-E855AD4A687D}" type="slidenum">
              <a:rPr lang="en-IN" smtClean="0"/>
              <a:t>39</a:t>
            </a:fld>
            <a:endParaRPr lang="en-IN"/>
          </a:p>
        </p:txBody>
      </p:sp>
    </p:spTree>
    <p:extLst>
      <p:ext uri="{BB962C8B-B14F-4D97-AF65-F5344CB8AC3E}">
        <p14:creationId xmlns:p14="http://schemas.microsoft.com/office/powerpoint/2010/main" val="30505970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009D6534-D8D4-6818-58A8-F791014DC77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C875FEAA-239B-4235-9FA4-9CDF0F536437}"/>
              </a:ext>
            </a:extLst>
          </p:cNvPr>
          <p:cNvSpPr>
            <a:spLocks noGrp="1"/>
          </p:cNvSpPr>
          <p:nvPr>
            <p:ph type="sldNum" sz="quarter" idx="12"/>
          </p:nvPr>
        </p:nvSpPr>
        <p:spPr/>
        <p:txBody>
          <a:bodyPr/>
          <a:lstStyle/>
          <a:p>
            <a:fld id="{1E81A027-E3F7-4FC9-A752-E855AD4A687D}" type="slidenum">
              <a:rPr lang="en-IN" smtClean="0"/>
              <a:t>40</a:t>
            </a:fld>
            <a:endParaRPr lang="en-IN"/>
          </a:p>
        </p:txBody>
      </p:sp>
      <p:sp>
        <p:nvSpPr>
          <p:cNvPr id="3" name="Content Placeholder 2">
            <a:extLst>
              <a:ext uri="{FF2B5EF4-FFF2-40B4-BE49-F238E27FC236}">
                <a16:creationId xmlns:a16="http://schemas.microsoft.com/office/drawing/2014/main" xmlns="" id="{63DFD269-E7AB-11D5-6580-CFCBBAC64F1C}"/>
              </a:ext>
            </a:extLst>
          </p:cNvPr>
          <p:cNvSpPr>
            <a:spLocks noGrp="1"/>
          </p:cNvSpPr>
          <p:nvPr>
            <p:ph idx="4294967295"/>
          </p:nvPr>
        </p:nvSpPr>
        <p:spPr>
          <a:xfrm>
            <a:off x="570271" y="393290"/>
            <a:ext cx="11267768" cy="5475699"/>
          </a:xfrm>
        </p:spPr>
        <p:txBody>
          <a:bodyPr>
            <a:normAutofit/>
          </a:bodyPr>
          <a:lstStyle/>
          <a:p>
            <a:r>
              <a:rPr lang="en-US" sz="2400" dirty="0">
                <a:solidFill>
                  <a:srgbClr val="000000"/>
                </a:solidFill>
                <a:effectLst/>
              </a:rPr>
              <a:t>The root node of the tree corresponds to the initial state, </a:t>
            </a:r>
            <a:r>
              <a:rPr lang="en-US" sz="2400" i="1" dirty="0">
                <a:solidFill>
                  <a:srgbClr val="000000"/>
                </a:solidFill>
                <a:effectLst/>
              </a:rPr>
              <a:t>In(Arad)</a:t>
            </a:r>
            <a:r>
              <a:rPr lang="en-US" sz="2400" dirty="0">
                <a:solidFill>
                  <a:srgbClr val="000000"/>
                </a:solidFill>
                <a:effectLst/>
              </a:rPr>
              <a:t>. </a:t>
            </a:r>
            <a:endParaRPr lang="en-US" sz="2400" dirty="0"/>
          </a:p>
          <a:p>
            <a:r>
              <a:rPr lang="en-US" sz="2400" dirty="0">
                <a:solidFill>
                  <a:srgbClr val="000000"/>
                </a:solidFill>
                <a:effectLst/>
              </a:rPr>
              <a:t>The first step is to test whether this is a goal state.</a:t>
            </a:r>
          </a:p>
          <a:p>
            <a:r>
              <a:rPr lang="en-US" sz="2400" dirty="0">
                <a:solidFill>
                  <a:srgbClr val="000000"/>
                </a:solidFill>
                <a:effectLst/>
              </a:rPr>
              <a:t>Then we need to consider taking various actions. We do this by </a:t>
            </a:r>
            <a:r>
              <a:rPr lang="en-US" sz="2400" b="1" dirty="0">
                <a:solidFill>
                  <a:srgbClr val="000000"/>
                </a:solidFill>
                <a:effectLst/>
              </a:rPr>
              <a:t>expanding </a:t>
            </a:r>
            <a:r>
              <a:rPr lang="en-US" sz="2400" dirty="0">
                <a:solidFill>
                  <a:srgbClr val="000000"/>
                </a:solidFill>
                <a:effectLst/>
              </a:rPr>
              <a:t>the  current state;  </a:t>
            </a:r>
            <a:endParaRPr lang="en-US" sz="2400" dirty="0"/>
          </a:p>
          <a:p>
            <a:r>
              <a:rPr lang="en-US" sz="2400" dirty="0">
                <a:solidFill>
                  <a:srgbClr val="000000"/>
                </a:solidFill>
                <a:effectLst/>
              </a:rPr>
              <a:t>applying each legal action to the current state, thereby </a:t>
            </a:r>
            <a:r>
              <a:rPr lang="en-US" sz="2400" b="1" dirty="0">
                <a:solidFill>
                  <a:srgbClr val="000000"/>
                </a:solidFill>
                <a:effectLst/>
              </a:rPr>
              <a:t>generating </a:t>
            </a:r>
            <a:r>
              <a:rPr lang="en-US" sz="2400" dirty="0">
                <a:solidFill>
                  <a:srgbClr val="000000"/>
                </a:solidFill>
                <a:effectLst/>
              </a:rPr>
              <a:t>a new set of states. </a:t>
            </a:r>
          </a:p>
          <a:p>
            <a:r>
              <a:rPr lang="en-US" sz="2400" dirty="0">
                <a:solidFill>
                  <a:srgbClr val="000000"/>
                </a:solidFill>
                <a:effectLst/>
              </a:rPr>
              <a:t>In this case, we add three branches from the </a:t>
            </a:r>
            <a:r>
              <a:rPr lang="en-US" sz="2400" b="1" dirty="0">
                <a:solidFill>
                  <a:srgbClr val="000000"/>
                </a:solidFill>
                <a:effectLst/>
              </a:rPr>
              <a:t>parent node </a:t>
            </a:r>
            <a:r>
              <a:rPr lang="en-US" sz="2400" i="1" dirty="0">
                <a:solidFill>
                  <a:srgbClr val="000000"/>
                </a:solidFill>
                <a:effectLst/>
              </a:rPr>
              <a:t>In(Arad) </a:t>
            </a:r>
            <a:r>
              <a:rPr lang="en-US" sz="2400" dirty="0">
                <a:solidFill>
                  <a:srgbClr val="000000"/>
                </a:solidFill>
                <a:effectLst/>
              </a:rPr>
              <a:t>leading to three new </a:t>
            </a:r>
            <a:r>
              <a:rPr lang="en-US" sz="2400" b="1" dirty="0">
                <a:solidFill>
                  <a:srgbClr val="000000"/>
                </a:solidFill>
                <a:effectLst/>
              </a:rPr>
              <a:t>child nodes</a:t>
            </a:r>
            <a:r>
              <a:rPr lang="en-US" sz="2400" dirty="0">
                <a:solidFill>
                  <a:srgbClr val="000000"/>
                </a:solidFill>
                <a:effectLst/>
              </a:rPr>
              <a:t>: </a:t>
            </a:r>
            <a:r>
              <a:rPr lang="en-US" sz="2400" i="1" dirty="0">
                <a:solidFill>
                  <a:srgbClr val="000000"/>
                </a:solidFill>
                <a:effectLst/>
              </a:rPr>
              <a:t>In(Sibiu), In(Timisoara), </a:t>
            </a:r>
            <a:r>
              <a:rPr lang="en-US" sz="2400" dirty="0">
                <a:solidFill>
                  <a:srgbClr val="000000"/>
                </a:solidFill>
                <a:effectLst/>
              </a:rPr>
              <a:t>and </a:t>
            </a:r>
            <a:r>
              <a:rPr lang="en-US" sz="2400" i="1" dirty="0">
                <a:solidFill>
                  <a:srgbClr val="000000"/>
                </a:solidFill>
                <a:effectLst/>
              </a:rPr>
              <a:t>In(</a:t>
            </a:r>
            <a:r>
              <a:rPr lang="en-US" sz="2400" i="1" dirty="0" err="1">
                <a:solidFill>
                  <a:srgbClr val="000000"/>
                </a:solidFill>
                <a:effectLst/>
              </a:rPr>
              <a:t>Zerind</a:t>
            </a:r>
            <a:r>
              <a:rPr lang="en-US" sz="2400" i="1" dirty="0">
                <a:solidFill>
                  <a:srgbClr val="000000"/>
                </a:solidFill>
                <a:effectLst/>
              </a:rPr>
              <a:t>)</a:t>
            </a:r>
            <a:r>
              <a:rPr lang="en-US" sz="2400" dirty="0">
                <a:solidFill>
                  <a:srgbClr val="000000"/>
                </a:solidFill>
                <a:effectLst/>
              </a:rPr>
              <a:t>. </a:t>
            </a:r>
          </a:p>
          <a:p>
            <a:r>
              <a:rPr lang="en-US" sz="2400" dirty="0">
                <a:solidFill>
                  <a:srgbClr val="000000"/>
                </a:solidFill>
                <a:effectLst/>
              </a:rPr>
              <a:t>Now we must choose which of these three possibilities to consider further.</a:t>
            </a:r>
          </a:p>
          <a:p>
            <a:r>
              <a:rPr lang="en-US" sz="2400" dirty="0">
                <a:solidFill>
                  <a:srgbClr val="000000"/>
                </a:solidFill>
              </a:rPr>
              <a:t>The </a:t>
            </a:r>
            <a:r>
              <a:rPr lang="en-US" sz="2400" dirty="0">
                <a:solidFill>
                  <a:srgbClr val="FF0000"/>
                </a:solidFill>
              </a:rPr>
              <a:t>process of expanding nodes on the frontier continues </a:t>
            </a:r>
            <a:r>
              <a:rPr lang="en-US" sz="2400" dirty="0">
                <a:solidFill>
                  <a:srgbClr val="000000"/>
                </a:solidFill>
              </a:rPr>
              <a:t>until either a solution is found or there are no more states to expand.</a:t>
            </a:r>
          </a:p>
          <a:p>
            <a:pPr algn="ctr"/>
            <a:r>
              <a:rPr lang="en-IN" sz="2400" b="1" dirty="0">
                <a:solidFill>
                  <a:srgbClr val="002060"/>
                </a:solidFill>
              </a:rPr>
              <a:t>search strategy</a:t>
            </a:r>
            <a:r>
              <a:rPr lang="en-US" sz="2400" dirty="0">
                <a:solidFill>
                  <a:srgbClr val="002060"/>
                </a:solidFill>
              </a:rPr>
              <a:t>: how they choose which state to expand next</a:t>
            </a:r>
            <a:endParaRPr lang="en-IN" sz="2400" dirty="0">
              <a:solidFill>
                <a:srgbClr val="002060"/>
              </a:solidFill>
            </a:endParaRPr>
          </a:p>
        </p:txBody>
      </p:sp>
    </p:spTree>
    <p:extLst>
      <p:ext uri="{BB962C8B-B14F-4D97-AF65-F5344CB8AC3E}">
        <p14:creationId xmlns:p14="http://schemas.microsoft.com/office/powerpoint/2010/main" val="42846457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009D6534-D8D4-6818-58A8-F791014DC77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C875FEAA-239B-4235-9FA4-9CDF0F536437}"/>
              </a:ext>
            </a:extLst>
          </p:cNvPr>
          <p:cNvSpPr>
            <a:spLocks noGrp="1"/>
          </p:cNvSpPr>
          <p:nvPr>
            <p:ph type="sldNum" sz="quarter" idx="12"/>
          </p:nvPr>
        </p:nvSpPr>
        <p:spPr/>
        <p:txBody>
          <a:bodyPr/>
          <a:lstStyle/>
          <a:p>
            <a:fld id="{1E81A027-E3F7-4FC9-A752-E855AD4A687D}" type="slidenum">
              <a:rPr lang="en-IN" smtClean="0"/>
              <a:t>41</a:t>
            </a:fld>
            <a:endParaRPr lang="en-IN"/>
          </a:p>
        </p:txBody>
      </p:sp>
      <p:sp>
        <p:nvSpPr>
          <p:cNvPr id="3" name="Content Placeholder 2">
            <a:extLst>
              <a:ext uri="{FF2B5EF4-FFF2-40B4-BE49-F238E27FC236}">
                <a16:creationId xmlns:a16="http://schemas.microsoft.com/office/drawing/2014/main" xmlns="" id="{63DFD269-E7AB-11D5-6580-CFCBBAC64F1C}"/>
              </a:ext>
            </a:extLst>
          </p:cNvPr>
          <p:cNvSpPr>
            <a:spLocks noGrp="1"/>
          </p:cNvSpPr>
          <p:nvPr>
            <p:ph idx="4294967295"/>
          </p:nvPr>
        </p:nvSpPr>
        <p:spPr>
          <a:xfrm>
            <a:off x="570271" y="393290"/>
            <a:ext cx="11267768" cy="5475699"/>
          </a:xfrm>
        </p:spPr>
        <p:txBody>
          <a:bodyPr>
            <a:normAutofit/>
          </a:bodyPr>
          <a:lstStyle/>
          <a:p>
            <a:r>
              <a:rPr lang="en-IN" sz="2400" b="1" dirty="0">
                <a:solidFill>
                  <a:srgbClr val="000000"/>
                </a:solidFill>
                <a:effectLst/>
              </a:rPr>
              <a:t>loopy path: </a:t>
            </a:r>
            <a:r>
              <a:rPr lang="en-US" sz="2400" dirty="0">
                <a:solidFill>
                  <a:srgbClr val="000000"/>
                </a:solidFill>
                <a:effectLst/>
              </a:rPr>
              <a:t>path from Arad to Sibiu and back to Arad again! We say that </a:t>
            </a:r>
            <a:r>
              <a:rPr lang="en-US" sz="2400" i="1" dirty="0">
                <a:solidFill>
                  <a:srgbClr val="000000"/>
                </a:solidFill>
                <a:effectLst/>
              </a:rPr>
              <a:t>In(Arad) </a:t>
            </a:r>
            <a:r>
              <a:rPr lang="en-US" sz="2400" dirty="0">
                <a:solidFill>
                  <a:srgbClr val="000000"/>
                </a:solidFill>
                <a:effectLst/>
              </a:rPr>
              <a:t>is a </a:t>
            </a:r>
            <a:r>
              <a:rPr lang="en-US" sz="2400" b="1" dirty="0">
                <a:solidFill>
                  <a:srgbClr val="000000"/>
                </a:solidFill>
                <a:effectLst/>
              </a:rPr>
              <a:t>repeated state </a:t>
            </a:r>
            <a:r>
              <a:rPr lang="en-US" sz="2400" dirty="0">
                <a:solidFill>
                  <a:srgbClr val="000000"/>
                </a:solidFill>
                <a:effectLst/>
              </a:rPr>
              <a:t>in the search tree, generated in this case by a </a:t>
            </a:r>
            <a:r>
              <a:rPr lang="en-US" sz="2400" b="1" dirty="0">
                <a:solidFill>
                  <a:srgbClr val="000000"/>
                </a:solidFill>
                <a:effectLst/>
              </a:rPr>
              <a:t>loopy path</a:t>
            </a:r>
          </a:p>
          <a:p>
            <a:r>
              <a:rPr lang="en-US" sz="2400" dirty="0">
                <a:solidFill>
                  <a:srgbClr val="000000"/>
                </a:solidFill>
                <a:effectLst/>
              </a:rPr>
              <a:t>Considering such loopy paths means that the complete search tree for Romania is </a:t>
            </a:r>
            <a:r>
              <a:rPr lang="en-US" sz="2400" i="1" dirty="0">
                <a:solidFill>
                  <a:srgbClr val="000000"/>
                </a:solidFill>
                <a:effectLst/>
              </a:rPr>
              <a:t>infinite </a:t>
            </a:r>
            <a:r>
              <a:rPr lang="en-US" sz="2400" dirty="0">
                <a:solidFill>
                  <a:srgbClr val="000000"/>
                </a:solidFill>
                <a:effectLst/>
              </a:rPr>
              <a:t>because there </a:t>
            </a:r>
            <a:r>
              <a:rPr lang="en-US" sz="2800" dirty="0"/>
              <a:t> </a:t>
            </a:r>
            <a:r>
              <a:rPr lang="en-US" sz="2400" dirty="0">
                <a:solidFill>
                  <a:srgbClr val="000000"/>
                </a:solidFill>
                <a:effectLst/>
              </a:rPr>
              <a:t>is no limit to how often one can traverse a loop</a:t>
            </a:r>
          </a:p>
          <a:p>
            <a:r>
              <a:rPr lang="en-IN" sz="2400" dirty="0">
                <a:solidFill>
                  <a:srgbClr val="000000"/>
                </a:solidFill>
                <a:effectLst/>
              </a:rPr>
              <a:t>loops can cause </a:t>
            </a:r>
            <a:r>
              <a:rPr lang="en-US" sz="2400" dirty="0">
                <a:solidFill>
                  <a:srgbClr val="000000"/>
                </a:solidFill>
                <a:effectLst/>
              </a:rPr>
              <a:t>certain algorithms to fail, making otherwise solvable problems unsolvable.</a:t>
            </a:r>
          </a:p>
          <a:p>
            <a:r>
              <a:rPr lang="en-US" sz="2400" dirty="0">
                <a:solidFill>
                  <a:srgbClr val="000000"/>
                </a:solidFill>
                <a:effectLst/>
              </a:rPr>
              <a:t>there is no need to consider loopy paths. </a:t>
            </a:r>
          </a:p>
          <a:p>
            <a:r>
              <a:rPr lang="en-US" sz="2400" dirty="0">
                <a:solidFill>
                  <a:srgbClr val="000000"/>
                </a:solidFill>
                <a:effectLst/>
              </a:rPr>
              <a:t>We can rely on more than intuition for this: because path costs are additive and step costs are nonnegative, a loopy path to any given state is never better than the same path with the loop removed.</a:t>
            </a:r>
          </a:p>
          <a:p>
            <a:r>
              <a:rPr lang="en-IN" sz="2400" b="1" dirty="0">
                <a:solidFill>
                  <a:srgbClr val="000000"/>
                </a:solidFill>
                <a:effectLst/>
              </a:rPr>
              <a:t>redundant paths</a:t>
            </a:r>
            <a:r>
              <a:rPr lang="en-US" sz="2400" b="1" dirty="0">
                <a:solidFill>
                  <a:srgbClr val="000000"/>
                </a:solidFill>
              </a:rPr>
              <a:t>: </a:t>
            </a:r>
            <a:r>
              <a:rPr lang="en-US" sz="2400" dirty="0">
                <a:solidFill>
                  <a:srgbClr val="000000"/>
                </a:solidFill>
                <a:effectLst/>
              </a:rPr>
              <a:t>exist whenever there is more than one way to get from one state to another</a:t>
            </a:r>
            <a:r>
              <a:rPr lang="en-US" sz="2400" dirty="0">
                <a:solidFill>
                  <a:srgbClr val="000000"/>
                </a:solidFill>
              </a:rPr>
              <a:t> </a:t>
            </a:r>
            <a:r>
              <a:rPr lang="en-US" sz="2400" dirty="0" err="1">
                <a:solidFill>
                  <a:srgbClr val="000000"/>
                </a:solidFill>
              </a:rPr>
              <a:t>eg</a:t>
            </a:r>
            <a:r>
              <a:rPr lang="en-US" sz="2400" dirty="0">
                <a:solidFill>
                  <a:srgbClr val="000000"/>
                </a:solidFill>
              </a:rPr>
              <a:t>, </a:t>
            </a:r>
            <a:r>
              <a:rPr lang="en-US" sz="2400" dirty="0">
                <a:solidFill>
                  <a:srgbClr val="000000"/>
                </a:solidFill>
                <a:effectLst/>
              </a:rPr>
              <a:t>the paths </a:t>
            </a:r>
            <a:endParaRPr lang="en-US" sz="2800" dirty="0"/>
          </a:p>
          <a:p>
            <a:r>
              <a:rPr lang="en-US" sz="2400" dirty="0">
                <a:solidFill>
                  <a:srgbClr val="000000"/>
                </a:solidFill>
                <a:effectLst/>
              </a:rPr>
              <a:t>Arad–Sibiu (140 km long) and Arad–</a:t>
            </a:r>
            <a:r>
              <a:rPr lang="en-US" sz="2400" dirty="0" err="1">
                <a:solidFill>
                  <a:srgbClr val="000000"/>
                </a:solidFill>
                <a:effectLst/>
              </a:rPr>
              <a:t>Zerind</a:t>
            </a:r>
            <a:r>
              <a:rPr lang="en-US" sz="2400" dirty="0">
                <a:solidFill>
                  <a:srgbClr val="000000"/>
                </a:solidFill>
                <a:effectLst/>
              </a:rPr>
              <a:t>–Oradea–Sibiu (297 km long). </a:t>
            </a:r>
            <a:endParaRPr lang="en-IN" sz="3200" dirty="0">
              <a:solidFill>
                <a:srgbClr val="000000"/>
              </a:solidFill>
            </a:endParaRPr>
          </a:p>
        </p:txBody>
      </p:sp>
    </p:spTree>
    <p:extLst>
      <p:ext uri="{BB962C8B-B14F-4D97-AF65-F5344CB8AC3E}">
        <p14:creationId xmlns:p14="http://schemas.microsoft.com/office/powerpoint/2010/main" val="40549751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B69F37-442A-A81A-6DEA-3686F75C59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E965C235-0CFF-0940-6032-F997F50F57C4}"/>
              </a:ext>
            </a:extLst>
          </p:cNvPr>
          <p:cNvSpPr>
            <a:spLocks noGrp="1"/>
          </p:cNvSpPr>
          <p:nvPr>
            <p:ph idx="1"/>
          </p:nvPr>
        </p:nvSpPr>
        <p:spPr/>
        <p:txBody>
          <a:bodyPr>
            <a:normAutofit/>
          </a:bodyPr>
          <a:lstStyle/>
          <a:p>
            <a:r>
              <a:rPr lang="en-US" sz="2400" b="0" i="0" dirty="0">
                <a:solidFill>
                  <a:srgbClr val="000000"/>
                </a:solidFill>
                <a:effectLst/>
              </a:rPr>
              <a:t> </a:t>
            </a:r>
            <a:r>
              <a:rPr lang="en-US" sz="2400" b="1" i="0" dirty="0">
                <a:solidFill>
                  <a:srgbClr val="000000"/>
                </a:solidFill>
                <a:effectLst/>
              </a:rPr>
              <a:t>a search strategy has two components</a:t>
            </a:r>
            <a:r>
              <a:rPr lang="en-US" sz="2400" b="0" i="0" dirty="0">
                <a:solidFill>
                  <a:srgbClr val="000000"/>
                </a:solidFill>
                <a:effectLst/>
              </a:rPr>
              <a:t>:</a:t>
            </a:r>
          </a:p>
          <a:p>
            <a:pPr lvl="1">
              <a:buFont typeface="Arial" panose="020B0604020202020204" pitchFamily="34" charset="0"/>
              <a:buChar char="•"/>
            </a:pPr>
            <a:r>
              <a:rPr lang="en-US" sz="2000" b="0" i="0" dirty="0">
                <a:solidFill>
                  <a:srgbClr val="000000"/>
                </a:solidFill>
                <a:effectLst/>
              </a:rPr>
              <a:t>rule(s) to decide whether or not to place the node in the frontier</a:t>
            </a:r>
          </a:p>
          <a:p>
            <a:pPr lvl="1">
              <a:buFont typeface="Arial" panose="020B0604020202020204" pitchFamily="34" charset="0"/>
              <a:buChar char="•"/>
            </a:pPr>
            <a:r>
              <a:rPr lang="en-US" sz="2000" b="0" i="0" dirty="0">
                <a:solidFill>
                  <a:srgbClr val="000000"/>
                </a:solidFill>
                <a:effectLst/>
              </a:rPr>
              <a:t>rule(s) to choose the next frontier node for expansion</a:t>
            </a:r>
          </a:p>
          <a:p>
            <a:endParaRPr lang="en-IN" sz="2400" dirty="0"/>
          </a:p>
        </p:txBody>
      </p:sp>
      <p:sp>
        <p:nvSpPr>
          <p:cNvPr id="4" name="Footer Placeholder 3">
            <a:extLst>
              <a:ext uri="{FF2B5EF4-FFF2-40B4-BE49-F238E27FC236}">
                <a16:creationId xmlns:a16="http://schemas.microsoft.com/office/drawing/2014/main" xmlns="" id="{CFBBAE01-943E-12BC-EEC4-7D3F5BC05356}"/>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9B866449-A532-D254-7885-8DDCBF9BD8E9}"/>
              </a:ext>
            </a:extLst>
          </p:cNvPr>
          <p:cNvSpPr>
            <a:spLocks noGrp="1"/>
          </p:cNvSpPr>
          <p:nvPr>
            <p:ph type="sldNum" sz="quarter" idx="12"/>
          </p:nvPr>
        </p:nvSpPr>
        <p:spPr/>
        <p:txBody>
          <a:bodyPr/>
          <a:lstStyle/>
          <a:p>
            <a:fld id="{1E81A027-E3F7-4FC9-A752-E855AD4A687D}" type="slidenum">
              <a:rPr lang="en-IN" smtClean="0"/>
              <a:t>42</a:t>
            </a:fld>
            <a:endParaRPr lang="en-IN"/>
          </a:p>
        </p:txBody>
      </p:sp>
    </p:spTree>
    <p:extLst>
      <p:ext uri="{BB962C8B-B14F-4D97-AF65-F5344CB8AC3E}">
        <p14:creationId xmlns:p14="http://schemas.microsoft.com/office/powerpoint/2010/main" val="5085356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AD3BE4ED-D801-2C51-7116-0079C2378653}"/>
              </a:ext>
            </a:extLst>
          </p:cNvPr>
          <p:cNvSpPr>
            <a:spLocks noGrp="1"/>
          </p:cNvSpPr>
          <p:nvPr>
            <p:ph type="title"/>
          </p:nvPr>
        </p:nvSpPr>
        <p:spPr/>
        <p:txBody>
          <a:bodyPr/>
          <a:lstStyle/>
          <a:p>
            <a:r>
              <a:rPr lang="en-US" sz="4800" dirty="0">
                <a:solidFill>
                  <a:srgbClr val="000000"/>
                </a:solidFill>
                <a:effectLst/>
              </a:rPr>
              <a:t>TREE-SEARCH algorithm </a:t>
            </a:r>
            <a:endParaRPr lang="en-IN" dirty="0"/>
          </a:p>
        </p:txBody>
      </p:sp>
      <p:sp>
        <p:nvSpPr>
          <p:cNvPr id="3" name="Content Placeholder 2">
            <a:extLst>
              <a:ext uri="{FF2B5EF4-FFF2-40B4-BE49-F238E27FC236}">
                <a16:creationId xmlns:a16="http://schemas.microsoft.com/office/drawing/2014/main" xmlns="" id="{63DFD269-E7AB-11D5-6580-CFCBBAC64F1C}"/>
              </a:ext>
            </a:extLst>
          </p:cNvPr>
          <p:cNvSpPr>
            <a:spLocks noGrp="1"/>
          </p:cNvSpPr>
          <p:nvPr>
            <p:ph idx="1"/>
          </p:nvPr>
        </p:nvSpPr>
        <p:spPr/>
        <p:txBody>
          <a:bodyPr>
            <a:normAutofit/>
          </a:bodyPr>
          <a:lstStyle/>
          <a:p>
            <a:r>
              <a:rPr lang="en-US" sz="2400" dirty="0">
                <a:solidFill>
                  <a:srgbClr val="000000"/>
                </a:solidFill>
                <a:effectLst/>
              </a:rPr>
              <a:t>with a data structure called the </a:t>
            </a:r>
            <a:r>
              <a:rPr lang="en-US" sz="2400" b="1" dirty="0">
                <a:solidFill>
                  <a:srgbClr val="000000"/>
                </a:solidFill>
                <a:effectLst/>
              </a:rPr>
              <a:t>explored set </a:t>
            </a:r>
            <a:r>
              <a:rPr lang="en-US" sz="2400" dirty="0">
                <a:solidFill>
                  <a:srgbClr val="000000"/>
                </a:solidFill>
                <a:effectLst/>
              </a:rPr>
              <a:t>(also known as the </a:t>
            </a:r>
            <a:r>
              <a:rPr lang="en-US" sz="2400" b="1" dirty="0">
                <a:solidFill>
                  <a:srgbClr val="000000"/>
                </a:solidFill>
                <a:effectLst/>
              </a:rPr>
              <a:t>closed list</a:t>
            </a:r>
            <a:r>
              <a:rPr lang="en-US" sz="2400" dirty="0">
                <a:solidFill>
                  <a:srgbClr val="000000"/>
                </a:solidFill>
                <a:effectLst/>
              </a:rPr>
              <a:t>), which </a:t>
            </a:r>
            <a:r>
              <a:rPr lang="en-US" sz="2400" b="1" dirty="0">
                <a:solidFill>
                  <a:srgbClr val="00B050"/>
                </a:solidFill>
                <a:effectLst/>
              </a:rPr>
              <a:t>remembers every expanded node</a:t>
            </a:r>
            <a:r>
              <a:rPr lang="en-US" sz="2400" dirty="0">
                <a:solidFill>
                  <a:srgbClr val="000000"/>
                </a:solidFill>
                <a:effectLst/>
              </a:rPr>
              <a:t>. </a:t>
            </a:r>
          </a:p>
          <a:p>
            <a:r>
              <a:rPr lang="en-US" sz="2400" dirty="0">
                <a:solidFill>
                  <a:srgbClr val="000000"/>
                </a:solidFill>
                <a:effectLst/>
              </a:rPr>
              <a:t>Newly generated nodes </a:t>
            </a:r>
            <a:r>
              <a:rPr lang="en-US" sz="2400" dirty="0">
                <a:solidFill>
                  <a:srgbClr val="FF0000"/>
                </a:solidFill>
                <a:effectLst/>
              </a:rPr>
              <a:t>that match previously generated </a:t>
            </a:r>
            <a:r>
              <a:rPr lang="en-US" sz="2400" dirty="0">
                <a:solidFill>
                  <a:srgbClr val="000000"/>
                </a:solidFill>
                <a:effectLst/>
              </a:rPr>
              <a:t>nodes ones in the explored set or the frontier </a:t>
            </a:r>
            <a:r>
              <a:rPr lang="en-US" sz="2400" dirty="0">
                <a:solidFill>
                  <a:srgbClr val="FF0000"/>
                </a:solidFill>
                <a:effectLst/>
              </a:rPr>
              <a:t>can be discarded i</a:t>
            </a:r>
            <a:r>
              <a:rPr lang="en-US" sz="2400" dirty="0">
                <a:solidFill>
                  <a:srgbClr val="000000"/>
                </a:solidFill>
                <a:effectLst/>
              </a:rPr>
              <a:t>nstead of being added to the frontier</a:t>
            </a:r>
          </a:p>
          <a:p>
            <a:pPr marL="0">
              <a:buNone/>
            </a:pPr>
            <a:endParaRPr lang="en-US" sz="2400" dirty="0">
              <a:solidFill>
                <a:srgbClr val="000000"/>
              </a:solidFill>
              <a:effectLst/>
            </a:endParaRPr>
          </a:p>
          <a:p>
            <a:pPr marL="0">
              <a:buNone/>
            </a:pPr>
            <a:endParaRPr lang="en-US" sz="2400" dirty="0">
              <a:solidFill>
                <a:srgbClr val="000000"/>
              </a:solidFill>
            </a:endParaRPr>
          </a:p>
          <a:p>
            <a:pPr marL="0">
              <a:buNone/>
            </a:pPr>
            <a:endParaRPr lang="en-US" sz="2400" dirty="0">
              <a:solidFill>
                <a:srgbClr val="000000"/>
              </a:solidFill>
              <a:effectLst/>
            </a:endParaRPr>
          </a:p>
          <a:p>
            <a:pPr marL="0">
              <a:buNone/>
            </a:pPr>
            <a:endParaRPr lang="en-US" sz="2400" dirty="0">
              <a:solidFill>
                <a:srgbClr val="000000"/>
              </a:solidFill>
            </a:endParaRPr>
          </a:p>
          <a:p>
            <a:pPr marL="0">
              <a:buNone/>
            </a:pPr>
            <a:endParaRPr lang="en-US" sz="2400" dirty="0">
              <a:solidFill>
                <a:srgbClr val="000000"/>
              </a:solidFill>
              <a:effectLst/>
            </a:endParaRPr>
          </a:p>
          <a:p>
            <a:pPr marL="0">
              <a:buNone/>
            </a:pPr>
            <a:endParaRPr lang="en-US" sz="2400" dirty="0">
              <a:solidFill>
                <a:srgbClr val="000000"/>
              </a:solidFill>
            </a:endParaRPr>
          </a:p>
          <a:p>
            <a:pPr marL="0">
              <a:buNone/>
            </a:pPr>
            <a:endParaRPr lang="en-US" sz="2400" dirty="0">
              <a:solidFill>
                <a:srgbClr val="000000"/>
              </a:solidFill>
              <a:effectLst/>
            </a:endParaRPr>
          </a:p>
          <a:p>
            <a:endParaRPr lang="en-IN" sz="3200" dirty="0">
              <a:solidFill>
                <a:srgbClr val="000000"/>
              </a:solidFill>
            </a:endParaRPr>
          </a:p>
        </p:txBody>
      </p:sp>
      <p:sp>
        <p:nvSpPr>
          <p:cNvPr id="4" name="Footer Placeholder 3">
            <a:extLst>
              <a:ext uri="{FF2B5EF4-FFF2-40B4-BE49-F238E27FC236}">
                <a16:creationId xmlns:a16="http://schemas.microsoft.com/office/drawing/2014/main" xmlns="" id="{009D6534-D8D4-6818-58A8-F791014DC77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C875FEAA-239B-4235-9FA4-9CDF0F536437}"/>
              </a:ext>
            </a:extLst>
          </p:cNvPr>
          <p:cNvSpPr>
            <a:spLocks noGrp="1"/>
          </p:cNvSpPr>
          <p:nvPr>
            <p:ph type="sldNum" sz="quarter" idx="12"/>
          </p:nvPr>
        </p:nvSpPr>
        <p:spPr/>
        <p:txBody>
          <a:bodyPr/>
          <a:lstStyle/>
          <a:p>
            <a:fld id="{1E81A027-E3F7-4FC9-A752-E855AD4A687D}" type="slidenum">
              <a:rPr lang="en-IN" smtClean="0"/>
              <a:t>43</a:t>
            </a:fld>
            <a:endParaRPr lang="en-IN"/>
          </a:p>
        </p:txBody>
      </p:sp>
      <p:pic>
        <p:nvPicPr>
          <p:cNvPr id="6" name="Picture 5">
            <a:extLst>
              <a:ext uri="{FF2B5EF4-FFF2-40B4-BE49-F238E27FC236}">
                <a16:creationId xmlns:a16="http://schemas.microsoft.com/office/drawing/2014/main" xmlns="" id="{A9E75C04-5B70-BF6F-4426-C2873927DB63}"/>
              </a:ext>
            </a:extLst>
          </p:cNvPr>
          <p:cNvPicPr>
            <a:picLocks noChangeAspect="1"/>
          </p:cNvPicPr>
          <p:nvPr/>
        </p:nvPicPr>
        <p:blipFill>
          <a:blip r:embed="rId2"/>
          <a:stretch>
            <a:fillRect/>
          </a:stretch>
        </p:blipFill>
        <p:spPr>
          <a:xfrm>
            <a:off x="2491677" y="3429000"/>
            <a:ext cx="7420502" cy="2745658"/>
          </a:xfrm>
          <a:prstGeom prst="rect">
            <a:avLst/>
          </a:prstGeom>
        </p:spPr>
      </p:pic>
      <p:pic>
        <p:nvPicPr>
          <p:cNvPr id="2" name="Picture 4" descr="romania-distances">
            <a:extLst>
              <a:ext uri="{FF2B5EF4-FFF2-40B4-BE49-F238E27FC236}">
                <a16:creationId xmlns:a16="http://schemas.microsoft.com/office/drawing/2014/main" xmlns="" id="{B6C3FAAF-E7FC-5158-44B2-57C46E91F9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246637" y="129412"/>
            <a:ext cx="2703994" cy="1625154"/>
          </a:xfrm>
          <a:prstGeom prst="rect">
            <a:avLst/>
          </a:prstGeom>
          <a:noFill/>
        </p:spPr>
      </p:pic>
      <p:sp>
        <p:nvSpPr>
          <p:cNvPr id="8" name="TextBox 7">
            <a:extLst>
              <a:ext uri="{FF2B5EF4-FFF2-40B4-BE49-F238E27FC236}">
                <a16:creationId xmlns:a16="http://schemas.microsoft.com/office/drawing/2014/main" xmlns="" id="{001E0487-E0F7-27A4-6505-432F4CAD634B}"/>
              </a:ext>
            </a:extLst>
          </p:cNvPr>
          <p:cNvSpPr txBox="1"/>
          <p:nvPr/>
        </p:nvSpPr>
        <p:spPr>
          <a:xfrm>
            <a:off x="5315521" y="3505770"/>
            <a:ext cx="970383" cy="276999"/>
          </a:xfrm>
          <a:prstGeom prst="rect">
            <a:avLst/>
          </a:prstGeom>
          <a:noFill/>
        </p:spPr>
        <p:txBody>
          <a:bodyPr wrap="square" rtlCol="0">
            <a:spAutoFit/>
          </a:bodyPr>
          <a:lstStyle/>
          <a:p>
            <a:r>
              <a:rPr lang="en-IN" sz="1200" dirty="0">
                <a:solidFill>
                  <a:srgbClr val="0070C0"/>
                </a:solidFill>
              </a:rPr>
              <a:t>ORADEA</a:t>
            </a:r>
          </a:p>
        </p:txBody>
      </p:sp>
    </p:spTree>
    <p:extLst>
      <p:ext uri="{BB962C8B-B14F-4D97-AF65-F5344CB8AC3E}">
        <p14:creationId xmlns:p14="http://schemas.microsoft.com/office/powerpoint/2010/main" val="1093512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8A4075-29AB-17DD-3707-305045BBA277}"/>
              </a:ext>
            </a:extLst>
          </p:cNvPr>
          <p:cNvSpPr>
            <a:spLocks noGrp="1"/>
          </p:cNvSpPr>
          <p:nvPr>
            <p:ph type="title"/>
          </p:nvPr>
        </p:nvSpPr>
        <p:spPr/>
        <p:txBody>
          <a:bodyPr/>
          <a:lstStyle/>
          <a:p>
            <a:r>
              <a:rPr lang="en-US" sz="4800" dirty="0">
                <a:solidFill>
                  <a:srgbClr val="000000"/>
                </a:solidFill>
                <a:effectLst/>
                <a:latin typeface="+mn-lt"/>
              </a:rPr>
              <a:t>GRAPH-SEARCH algorithm </a:t>
            </a:r>
            <a:endParaRPr lang="en-IN" dirty="0">
              <a:latin typeface="+mn-lt"/>
            </a:endParaRPr>
          </a:p>
        </p:txBody>
      </p:sp>
      <p:sp>
        <p:nvSpPr>
          <p:cNvPr id="3" name="Content Placeholder 2">
            <a:extLst>
              <a:ext uri="{FF2B5EF4-FFF2-40B4-BE49-F238E27FC236}">
                <a16:creationId xmlns:a16="http://schemas.microsoft.com/office/drawing/2014/main" xmlns="" id="{DEDDFE15-3352-B2E0-2EB2-2F3102E35C5A}"/>
              </a:ext>
            </a:extLst>
          </p:cNvPr>
          <p:cNvSpPr>
            <a:spLocks noGrp="1"/>
          </p:cNvSpPr>
          <p:nvPr>
            <p:ph idx="1"/>
          </p:nvPr>
        </p:nvSpPr>
        <p:spPr>
          <a:xfrm>
            <a:off x="61031" y="1845733"/>
            <a:ext cx="11536919" cy="4396447"/>
          </a:xfrm>
        </p:spPr>
        <p:txBody>
          <a:bodyPr>
            <a:noAutofit/>
          </a:bodyPr>
          <a:lstStyle/>
          <a:p>
            <a:pPr algn="ctr"/>
            <a:r>
              <a:rPr lang="en-US" b="1" i="0" dirty="0">
                <a:solidFill>
                  <a:srgbClr val="00B050"/>
                </a:solidFill>
                <a:effectLst/>
                <a:latin typeface="Raleway" panose="020B0604020202020204" pitchFamily="2" charset="0"/>
              </a:rPr>
              <a:t>Each state appears in the graph only once. But, it may appear in </a:t>
            </a:r>
            <a:r>
              <a:rPr lang="en-US" b="1" i="0" dirty="0">
                <a:solidFill>
                  <a:srgbClr val="7030A0"/>
                </a:solidFill>
                <a:effectLst/>
                <a:latin typeface="Raleway" panose="020B0604020202020204" pitchFamily="2" charset="0"/>
              </a:rPr>
              <a:t>the tree multiple times</a:t>
            </a:r>
            <a:endParaRPr lang="en-US" sz="2400" dirty="0">
              <a:solidFill>
                <a:srgbClr val="7030A0"/>
              </a:solidFill>
              <a:effectLst/>
            </a:endParaRPr>
          </a:p>
          <a:p>
            <a:r>
              <a:rPr lang="en-US" sz="2400" dirty="0">
                <a:solidFill>
                  <a:srgbClr val="000000"/>
                </a:solidFill>
                <a:effectLst/>
              </a:rPr>
              <a:t>contains </a:t>
            </a:r>
            <a:r>
              <a:rPr lang="en-US" sz="2400" dirty="0">
                <a:solidFill>
                  <a:srgbClr val="FF0000"/>
                </a:solidFill>
                <a:effectLst/>
              </a:rPr>
              <a:t>at most one copy of each state</a:t>
            </a:r>
            <a:r>
              <a:rPr lang="en-US" sz="2400" dirty="0">
                <a:solidFill>
                  <a:srgbClr val="000000"/>
                </a:solidFill>
                <a:effectLst/>
              </a:rPr>
              <a:t>, so we can think of it as </a:t>
            </a:r>
            <a:r>
              <a:rPr lang="en-US" sz="2400" dirty="0">
                <a:solidFill>
                  <a:srgbClr val="FF0000"/>
                </a:solidFill>
                <a:effectLst/>
              </a:rPr>
              <a:t>growing a tree</a:t>
            </a:r>
            <a:r>
              <a:rPr lang="en-US" sz="2400" dirty="0">
                <a:solidFill>
                  <a:srgbClr val="000000"/>
                </a:solidFill>
                <a:effectLst/>
              </a:rPr>
              <a:t> directly on the state-space graph, </a:t>
            </a:r>
            <a:endParaRPr lang="en-US" sz="2400" dirty="0"/>
          </a:p>
          <a:p>
            <a:r>
              <a:rPr lang="en-US" b="1" i="0" dirty="0">
                <a:solidFill>
                  <a:srgbClr val="000000"/>
                </a:solidFill>
                <a:effectLst/>
                <a:latin typeface="Raleway" pitchFamily="2" charset="0"/>
              </a:rPr>
              <a:t>Don’t add a node if its state has already been expanded or a node pointing to the same state is already in the frontier.</a:t>
            </a:r>
          </a:p>
          <a:p>
            <a:r>
              <a:rPr lang="en-US" sz="2400" dirty="0">
                <a:solidFill>
                  <a:srgbClr val="000000"/>
                </a:solidFill>
                <a:effectLst/>
              </a:rPr>
              <a:t>so that every path from </a:t>
            </a:r>
            <a:r>
              <a:rPr lang="en-US" sz="2400" dirty="0">
                <a:solidFill>
                  <a:srgbClr val="7030A0"/>
                </a:solidFill>
                <a:effectLst/>
              </a:rPr>
              <a:t>the initial state to an unexplored state has to pass through a state in the frontier</a:t>
            </a:r>
            <a:r>
              <a:rPr lang="en-US" sz="2400" dirty="0">
                <a:solidFill>
                  <a:srgbClr val="000000"/>
                </a:solidFill>
                <a:effectLst/>
              </a:rPr>
              <a:t>.</a:t>
            </a:r>
          </a:p>
          <a:p>
            <a:pPr algn="ctr"/>
            <a:r>
              <a:rPr lang="en-US" sz="2400" b="1" dirty="0">
                <a:solidFill>
                  <a:srgbClr val="0070C0"/>
                </a:solidFill>
              </a:rPr>
              <a:t>As every step moves a state from the frontier into the explored region while moving some states from the unexplored region into the frontier, </a:t>
            </a:r>
          </a:p>
          <a:p>
            <a:r>
              <a:rPr lang="en-US" sz="2400" dirty="0">
                <a:solidFill>
                  <a:srgbClr val="000000"/>
                </a:solidFill>
              </a:rPr>
              <a:t>we see that the algorithm </a:t>
            </a:r>
            <a:r>
              <a:rPr lang="en-US" sz="2400" dirty="0">
                <a:solidFill>
                  <a:srgbClr val="FF0000"/>
                </a:solidFill>
              </a:rPr>
              <a:t>is systematically examining the states in the state space, one by one, until it finds a solution.</a:t>
            </a:r>
          </a:p>
        </p:txBody>
      </p:sp>
      <p:sp>
        <p:nvSpPr>
          <p:cNvPr id="4" name="Footer Placeholder 3">
            <a:extLst>
              <a:ext uri="{FF2B5EF4-FFF2-40B4-BE49-F238E27FC236}">
                <a16:creationId xmlns:a16="http://schemas.microsoft.com/office/drawing/2014/main" xmlns="" id="{2251A7AB-5739-57EC-BDFA-CB06514FEED7}"/>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91856CA6-3BA0-206F-A5A2-1E26345B286D}"/>
              </a:ext>
            </a:extLst>
          </p:cNvPr>
          <p:cNvSpPr>
            <a:spLocks noGrp="1"/>
          </p:cNvSpPr>
          <p:nvPr>
            <p:ph type="sldNum" sz="quarter" idx="12"/>
          </p:nvPr>
        </p:nvSpPr>
        <p:spPr/>
        <p:txBody>
          <a:bodyPr/>
          <a:lstStyle/>
          <a:p>
            <a:fld id="{1E81A027-E3F7-4FC9-A752-E855AD4A687D}" type="slidenum">
              <a:rPr lang="en-IN" smtClean="0"/>
              <a:t>44</a:t>
            </a:fld>
            <a:endParaRPr lang="en-IN"/>
          </a:p>
        </p:txBody>
      </p:sp>
    </p:spTree>
    <p:extLst>
      <p:ext uri="{BB962C8B-B14F-4D97-AF65-F5344CB8AC3E}">
        <p14:creationId xmlns:p14="http://schemas.microsoft.com/office/powerpoint/2010/main" val="37743810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C74A9B-D899-70C1-85F8-2AF7A798F3B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9581DB1-F272-FA54-E449-4D1911719672}"/>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A7B21504-565D-EA4E-6F2F-69FC12DBAE0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89CDB9D1-C64F-9092-48D7-7AB2F6025EFA}"/>
              </a:ext>
            </a:extLst>
          </p:cNvPr>
          <p:cNvSpPr>
            <a:spLocks noGrp="1"/>
          </p:cNvSpPr>
          <p:nvPr>
            <p:ph type="sldNum" sz="quarter" idx="12"/>
          </p:nvPr>
        </p:nvSpPr>
        <p:spPr/>
        <p:txBody>
          <a:bodyPr/>
          <a:lstStyle/>
          <a:p>
            <a:fld id="{1E81A027-E3F7-4FC9-A752-E855AD4A687D}" type="slidenum">
              <a:rPr lang="en-IN" smtClean="0"/>
              <a:t>45</a:t>
            </a:fld>
            <a:endParaRPr lang="en-IN"/>
          </a:p>
        </p:txBody>
      </p:sp>
      <p:pic>
        <p:nvPicPr>
          <p:cNvPr id="6" name="Picture 5">
            <a:extLst>
              <a:ext uri="{FF2B5EF4-FFF2-40B4-BE49-F238E27FC236}">
                <a16:creationId xmlns:a16="http://schemas.microsoft.com/office/drawing/2014/main" xmlns="" id="{318611DC-0E9B-857B-6DED-52AF6466085A}"/>
              </a:ext>
            </a:extLst>
          </p:cNvPr>
          <p:cNvPicPr>
            <a:picLocks noChangeAspect="1"/>
          </p:cNvPicPr>
          <p:nvPr/>
        </p:nvPicPr>
        <p:blipFill>
          <a:blip r:embed="rId2"/>
          <a:stretch>
            <a:fillRect/>
          </a:stretch>
        </p:blipFill>
        <p:spPr>
          <a:xfrm>
            <a:off x="974115" y="1659092"/>
            <a:ext cx="9522823" cy="4849159"/>
          </a:xfrm>
          <a:prstGeom prst="rect">
            <a:avLst/>
          </a:prstGeom>
        </p:spPr>
      </p:pic>
    </p:spTree>
    <p:extLst>
      <p:ext uri="{BB962C8B-B14F-4D97-AF65-F5344CB8AC3E}">
        <p14:creationId xmlns:p14="http://schemas.microsoft.com/office/powerpoint/2010/main" val="4683327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470779"/>
          </a:xfrm>
        </p:spPr>
        <p:txBody>
          <a:bodyPr>
            <a:normAutofit fontScale="90000"/>
          </a:bodyPr>
          <a:lstStyle/>
          <a:p>
            <a:endParaRPr lang="en-US" dirty="0"/>
          </a:p>
        </p:txBody>
      </p:sp>
      <p:sp>
        <p:nvSpPr>
          <p:cNvPr id="4" name="Footer Placeholder 3"/>
          <p:cNvSpPr>
            <a:spLocks noGrp="1"/>
          </p:cNvSpPr>
          <p:nvPr>
            <p:ph type="ftr" sz="quarter" idx="11"/>
          </p:nvPr>
        </p:nvSpPr>
        <p:spPr/>
        <p:txBody>
          <a:bodyPr/>
          <a:lstStyle/>
          <a:p>
            <a:r>
              <a:rPr lang="en-IN" smtClean="0"/>
              <a:t>DEPARTMENT OF CSE SNGCE</a:t>
            </a:r>
            <a:endParaRPr lang="en-IN"/>
          </a:p>
        </p:txBody>
      </p:sp>
      <p:sp>
        <p:nvSpPr>
          <p:cNvPr id="5" name="Slide Number Placeholder 4"/>
          <p:cNvSpPr>
            <a:spLocks noGrp="1"/>
          </p:cNvSpPr>
          <p:nvPr>
            <p:ph type="sldNum" sz="quarter" idx="12"/>
          </p:nvPr>
        </p:nvSpPr>
        <p:spPr/>
        <p:txBody>
          <a:bodyPr/>
          <a:lstStyle/>
          <a:p>
            <a:fld id="{1E81A027-E3F7-4FC9-A752-E855AD4A687D}" type="slidenum">
              <a:rPr lang="en-IN" smtClean="0"/>
              <a:t>46</a:t>
            </a:fld>
            <a:endParaRPr lang="en-IN"/>
          </a:p>
        </p:txBody>
      </p:sp>
      <p:pic>
        <p:nvPicPr>
          <p:cNvPr id="6" name="Content Placeholder 5">
            <a:extLst>
              <a:ext uri="{FF2B5EF4-FFF2-40B4-BE49-F238E27FC236}">
                <a16:creationId xmlns:a16="http://schemas.microsoft.com/office/drawing/2014/main" xmlns="" id="{74219991-2FB9-0646-2696-1F6C99372C01}"/>
              </a:ext>
            </a:extLst>
          </p:cNvPr>
          <p:cNvPicPr>
            <a:picLocks noGrp="1" noChangeAspect="1"/>
          </p:cNvPicPr>
          <p:nvPr>
            <p:ph idx="1"/>
          </p:nvPr>
        </p:nvPicPr>
        <p:blipFill>
          <a:blip r:embed="rId2"/>
          <a:stretch>
            <a:fillRect/>
          </a:stretch>
        </p:blipFill>
        <p:spPr>
          <a:xfrm>
            <a:off x="1496291" y="1145309"/>
            <a:ext cx="8783782" cy="5098473"/>
          </a:xfrm>
          <a:prstGeom prst="rect">
            <a:avLst/>
          </a:prstGeom>
        </p:spPr>
      </p:pic>
    </p:spTree>
    <p:extLst>
      <p:ext uri="{BB962C8B-B14F-4D97-AF65-F5344CB8AC3E}">
        <p14:creationId xmlns:p14="http://schemas.microsoft.com/office/powerpoint/2010/main" val="2027782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77342AC0-ADF6-1EB6-B2EE-BBBAE2DB96B9}"/>
              </a:ext>
            </a:extLst>
          </p:cNvPr>
          <p:cNvSpPr>
            <a:spLocks noGrp="1"/>
          </p:cNvSpPr>
          <p:nvPr>
            <p:ph type="title"/>
          </p:nvPr>
        </p:nvSpPr>
        <p:spPr/>
        <p:txBody>
          <a:bodyPr>
            <a:normAutofit/>
          </a:bodyPr>
          <a:lstStyle/>
          <a:p>
            <a:r>
              <a:rPr lang="en-IN" dirty="0">
                <a:solidFill>
                  <a:srgbClr val="000000"/>
                </a:solidFill>
                <a:effectLst/>
              </a:rPr>
              <a:t>Infrastructure for search algorithms</a:t>
            </a:r>
            <a:endParaRPr lang="en-IN" dirty="0"/>
          </a:p>
        </p:txBody>
      </p:sp>
      <p:sp>
        <p:nvSpPr>
          <p:cNvPr id="5" name="Content Placeholder 4">
            <a:extLst>
              <a:ext uri="{FF2B5EF4-FFF2-40B4-BE49-F238E27FC236}">
                <a16:creationId xmlns:a16="http://schemas.microsoft.com/office/drawing/2014/main" xmlns="" id="{8DF205A4-FD28-6248-65AC-44CF96CC71E4}"/>
              </a:ext>
            </a:extLst>
          </p:cNvPr>
          <p:cNvSpPr>
            <a:spLocks noGrp="1"/>
          </p:cNvSpPr>
          <p:nvPr>
            <p:ph idx="1"/>
          </p:nvPr>
        </p:nvSpPr>
        <p:spPr>
          <a:xfrm>
            <a:off x="74785" y="1737360"/>
            <a:ext cx="11849737" cy="4506124"/>
          </a:xfrm>
        </p:spPr>
        <p:txBody>
          <a:bodyPr>
            <a:normAutofit lnSpcReduction="10000"/>
          </a:bodyPr>
          <a:lstStyle/>
          <a:p>
            <a:r>
              <a:rPr lang="en-US" sz="3600" dirty="0">
                <a:solidFill>
                  <a:srgbClr val="000000"/>
                </a:solidFill>
                <a:effectLst/>
              </a:rPr>
              <a:t>Search algorithms require a data structure to keep track of the search tree that is being constructed. For each node n of the tree, we have a structure that contains four components: </a:t>
            </a:r>
            <a:endParaRPr lang="en-US" sz="4000" dirty="0"/>
          </a:p>
          <a:p>
            <a:pPr lvl="1">
              <a:buFont typeface="Wingdings" panose="05000000000000000000" pitchFamily="2" charset="2"/>
              <a:buChar char="§"/>
            </a:pPr>
            <a:r>
              <a:rPr lang="en-US" sz="3200" dirty="0" err="1">
                <a:solidFill>
                  <a:srgbClr val="7030A0"/>
                </a:solidFill>
                <a:effectLst/>
              </a:rPr>
              <a:t>n.STATE</a:t>
            </a:r>
            <a:r>
              <a:rPr lang="en-US" sz="3200" dirty="0">
                <a:solidFill>
                  <a:srgbClr val="000000"/>
                </a:solidFill>
                <a:effectLst/>
              </a:rPr>
              <a:t>: the state in the state space to which the node corresponds; </a:t>
            </a:r>
            <a:endParaRPr lang="en-US" sz="3600" dirty="0"/>
          </a:p>
          <a:p>
            <a:pPr lvl="1">
              <a:buFont typeface="Wingdings" panose="05000000000000000000" pitchFamily="2" charset="2"/>
              <a:buChar char="§"/>
            </a:pPr>
            <a:r>
              <a:rPr lang="en-US" sz="3200" dirty="0" err="1">
                <a:solidFill>
                  <a:srgbClr val="FF0000"/>
                </a:solidFill>
                <a:effectLst/>
              </a:rPr>
              <a:t>n.PARENT</a:t>
            </a:r>
            <a:r>
              <a:rPr lang="en-US" sz="3200" dirty="0">
                <a:solidFill>
                  <a:srgbClr val="000000"/>
                </a:solidFill>
                <a:effectLst/>
              </a:rPr>
              <a:t>: the node in the search tree that generated this node; </a:t>
            </a:r>
            <a:endParaRPr lang="en-US" sz="3600" dirty="0"/>
          </a:p>
          <a:p>
            <a:pPr lvl="1">
              <a:buFont typeface="Wingdings" panose="05000000000000000000" pitchFamily="2" charset="2"/>
              <a:buChar char="§"/>
            </a:pPr>
            <a:r>
              <a:rPr lang="en-US" sz="3200" dirty="0" err="1">
                <a:solidFill>
                  <a:srgbClr val="00B050"/>
                </a:solidFill>
                <a:effectLst/>
              </a:rPr>
              <a:t>n.ACTION</a:t>
            </a:r>
            <a:r>
              <a:rPr lang="en-US" sz="3200" dirty="0">
                <a:solidFill>
                  <a:srgbClr val="000000"/>
                </a:solidFill>
                <a:effectLst/>
              </a:rPr>
              <a:t>: the action that was applied to the parent to generate the node; </a:t>
            </a:r>
            <a:endParaRPr lang="en-US" sz="3600" dirty="0"/>
          </a:p>
          <a:p>
            <a:pPr lvl="1">
              <a:buFont typeface="Wingdings" panose="05000000000000000000" pitchFamily="2" charset="2"/>
              <a:buChar char="§"/>
            </a:pPr>
            <a:r>
              <a:rPr lang="en-US" sz="3200" dirty="0" err="1">
                <a:solidFill>
                  <a:srgbClr val="0070C0"/>
                </a:solidFill>
                <a:effectLst/>
              </a:rPr>
              <a:t>n.PATH</a:t>
            </a:r>
            <a:r>
              <a:rPr lang="en-US" sz="3200" dirty="0">
                <a:solidFill>
                  <a:srgbClr val="0070C0"/>
                </a:solidFill>
                <a:effectLst/>
              </a:rPr>
              <a:t>-COST</a:t>
            </a:r>
            <a:r>
              <a:rPr lang="en-US" sz="3200" dirty="0">
                <a:solidFill>
                  <a:srgbClr val="000000"/>
                </a:solidFill>
                <a:effectLst/>
              </a:rPr>
              <a:t>: the cost, traditionally denoted by g(n), of the path from the initial state to the node, as indicated by the parent pointers.</a:t>
            </a:r>
            <a:endParaRPr lang="en-IN" sz="3600" dirty="0">
              <a:solidFill>
                <a:srgbClr val="000000"/>
              </a:solidFill>
              <a:effectLst/>
            </a:endParaRPr>
          </a:p>
          <a:p>
            <a:pPr marL="201168" lvl="1" indent="0">
              <a:buNone/>
            </a:pPr>
            <a:endParaRPr lang="en-US" sz="3200" dirty="0">
              <a:solidFill>
                <a:srgbClr val="000000"/>
              </a:solidFill>
              <a:effectLst/>
            </a:endParaRPr>
          </a:p>
        </p:txBody>
      </p:sp>
      <p:sp>
        <p:nvSpPr>
          <p:cNvPr id="2" name="Footer Placeholder 1">
            <a:extLst>
              <a:ext uri="{FF2B5EF4-FFF2-40B4-BE49-F238E27FC236}">
                <a16:creationId xmlns:a16="http://schemas.microsoft.com/office/drawing/2014/main" xmlns="" id="{2059E533-EE14-D8A4-8755-3270CACED701}"/>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xmlns="" id="{913BD6AE-E52F-4663-F302-D45480938704}"/>
              </a:ext>
            </a:extLst>
          </p:cNvPr>
          <p:cNvSpPr>
            <a:spLocks noGrp="1"/>
          </p:cNvSpPr>
          <p:nvPr>
            <p:ph type="sldNum" sz="quarter" idx="12"/>
          </p:nvPr>
        </p:nvSpPr>
        <p:spPr/>
        <p:txBody>
          <a:bodyPr/>
          <a:lstStyle/>
          <a:p>
            <a:fld id="{1E81A027-E3F7-4FC9-A752-E855AD4A687D}" type="slidenum">
              <a:rPr lang="en-IN" smtClean="0"/>
              <a:t>47</a:t>
            </a:fld>
            <a:endParaRPr lang="en-IN"/>
          </a:p>
        </p:txBody>
      </p:sp>
    </p:spTree>
    <p:extLst>
      <p:ext uri="{BB962C8B-B14F-4D97-AF65-F5344CB8AC3E}">
        <p14:creationId xmlns:p14="http://schemas.microsoft.com/office/powerpoint/2010/main" val="10015093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8846DD-C23C-3927-DB19-6E5D98A7404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C2F2B7CB-0537-42A6-0426-0E4EF7CB90A9}"/>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CC69D186-6FA2-1A53-AE7D-EFA9D2826D9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9476637D-5EC2-F638-7A36-5E8647F508D0}"/>
              </a:ext>
            </a:extLst>
          </p:cNvPr>
          <p:cNvSpPr>
            <a:spLocks noGrp="1"/>
          </p:cNvSpPr>
          <p:nvPr>
            <p:ph type="sldNum" sz="quarter" idx="12"/>
          </p:nvPr>
        </p:nvSpPr>
        <p:spPr/>
        <p:txBody>
          <a:bodyPr/>
          <a:lstStyle/>
          <a:p>
            <a:fld id="{1E81A027-E3F7-4FC9-A752-E855AD4A687D}" type="slidenum">
              <a:rPr lang="en-IN" smtClean="0"/>
              <a:t>48</a:t>
            </a:fld>
            <a:endParaRPr lang="en-IN"/>
          </a:p>
        </p:txBody>
      </p:sp>
      <p:pic>
        <p:nvPicPr>
          <p:cNvPr id="6" name="Picture 5">
            <a:extLst>
              <a:ext uri="{FF2B5EF4-FFF2-40B4-BE49-F238E27FC236}">
                <a16:creationId xmlns:a16="http://schemas.microsoft.com/office/drawing/2014/main" xmlns="" id="{77EFCA20-0DCA-F0F2-D3FD-CC2053A4A463}"/>
              </a:ext>
            </a:extLst>
          </p:cNvPr>
          <p:cNvPicPr>
            <a:picLocks noChangeAspect="1"/>
          </p:cNvPicPr>
          <p:nvPr/>
        </p:nvPicPr>
        <p:blipFill>
          <a:blip r:embed="rId2"/>
          <a:stretch>
            <a:fillRect/>
          </a:stretch>
        </p:blipFill>
        <p:spPr>
          <a:xfrm>
            <a:off x="521369" y="988906"/>
            <a:ext cx="11152749" cy="5103984"/>
          </a:xfrm>
          <a:prstGeom prst="rect">
            <a:avLst/>
          </a:prstGeom>
        </p:spPr>
      </p:pic>
    </p:spTree>
    <p:extLst>
      <p:ext uri="{BB962C8B-B14F-4D97-AF65-F5344CB8AC3E}">
        <p14:creationId xmlns:p14="http://schemas.microsoft.com/office/powerpoint/2010/main" val="27599517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01F664-99EE-D985-C7ED-6594225AD75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BB6B5D8-8BAB-D257-B369-71DEA3E340BA}"/>
              </a:ext>
            </a:extLst>
          </p:cNvPr>
          <p:cNvSpPr>
            <a:spLocks noGrp="1"/>
          </p:cNvSpPr>
          <p:nvPr>
            <p:ph idx="1"/>
          </p:nvPr>
        </p:nvSpPr>
        <p:spPr/>
        <p:txBody>
          <a:bodyPr>
            <a:normAutofit fontScale="92500"/>
          </a:bodyPr>
          <a:lstStyle/>
          <a:p>
            <a:r>
              <a:rPr lang="en-US" sz="2400" dirty="0">
                <a:solidFill>
                  <a:srgbClr val="000000"/>
                </a:solidFill>
                <a:effectLst/>
              </a:rPr>
              <a:t>PARENT pointers string the nodes together into a tree structure. </a:t>
            </a:r>
          </a:p>
          <a:p>
            <a:r>
              <a:rPr lang="en-US" sz="2400" dirty="0">
                <a:solidFill>
                  <a:srgbClr val="000000"/>
                </a:solidFill>
                <a:effectLst/>
              </a:rPr>
              <a:t>These pointers also allow the solution path to be extracted when a goal node is found; </a:t>
            </a:r>
          </a:p>
          <a:p>
            <a:r>
              <a:rPr lang="en-US" sz="2400" dirty="0">
                <a:solidFill>
                  <a:srgbClr val="000000"/>
                </a:solidFill>
                <a:effectLst/>
              </a:rPr>
              <a:t>we use the SOLUTION function to return the sequence of actions obtained by following parent pointers back to the root.</a:t>
            </a:r>
          </a:p>
          <a:p>
            <a:r>
              <a:rPr lang="en-US" sz="2400" dirty="0">
                <a:solidFill>
                  <a:srgbClr val="000000"/>
                </a:solidFill>
              </a:rPr>
              <a:t>A node is a bookkeeping data structure used to represent the search tree. </a:t>
            </a:r>
          </a:p>
          <a:p>
            <a:r>
              <a:rPr lang="en-US" sz="2400" dirty="0">
                <a:solidFill>
                  <a:srgbClr val="000000"/>
                </a:solidFill>
              </a:rPr>
              <a:t>A state corresponds to a configuration of the world. </a:t>
            </a:r>
          </a:p>
          <a:p>
            <a:r>
              <a:rPr lang="en-US" sz="2400" dirty="0">
                <a:solidFill>
                  <a:srgbClr val="000000"/>
                </a:solidFill>
              </a:rPr>
              <a:t>nodes are on particular paths, as defined by PARENT pointers, whereas states are not. </a:t>
            </a:r>
          </a:p>
          <a:p>
            <a:r>
              <a:rPr lang="en-US" sz="2400" dirty="0">
                <a:solidFill>
                  <a:srgbClr val="000000"/>
                </a:solidFill>
              </a:rPr>
              <a:t>Two different nodes can contain the same world state if that state is generated via two different search paths.</a:t>
            </a:r>
          </a:p>
          <a:p>
            <a:endParaRPr lang="en-IN" sz="2800" dirty="0"/>
          </a:p>
        </p:txBody>
      </p:sp>
      <p:sp>
        <p:nvSpPr>
          <p:cNvPr id="4" name="Footer Placeholder 3">
            <a:extLst>
              <a:ext uri="{FF2B5EF4-FFF2-40B4-BE49-F238E27FC236}">
                <a16:creationId xmlns:a16="http://schemas.microsoft.com/office/drawing/2014/main" xmlns="" id="{5DAECC7C-5B78-6FE0-17A2-C751F5D4E30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820CD5EF-94E8-C95E-F070-BBE550344260}"/>
              </a:ext>
            </a:extLst>
          </p:cNvPr>
          <p:cNvSpPr>
            <a:spLocks noGrp="1"/>
          </p:cNvSpPr>
          <p:nvPr>
            <p:ph type="sldNum" sz="quarter" idx="12"/>
          </p:nvPr>
        </p:nvSpPr>
        <p:spPr/>
        <p:txBody>
          <a:bodyPr/>
          <a:lstStyle/>
          <a:p>
            <a:fld id="{1E81A027-E3F7-4FC9-A752-E855AD4A687D}" type="slidenum">
              <a:rPr lang="en-IN" smtClean="0"/>
              <a:t>49</a:t>
            </a:fld>
            <a:endParaRPr lang="en-IN"/>
          </a:p>
        </p:txBody>
      </p:sp>
    </p:spTree>
    <p:extLst>
      <p:ext uri="{BB962C8B-B14F-4D97-AF65-F5344CB8AC3E}">
        <p14:creationId xmlns:p14="http://schemas.microsoft.com/office/powerpoint/2010/main" val="17177238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C839A1-F342-F2C9-98C3-2304C221511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97823437-85E4-6173-75A5-8172DBCC62E5}"/>
              </a:ext>
            </a:extLst>
          </p:cNvPr>
          <p:cNvSpPr>
            <a:spLocks noGrp="1"/>
          </p:cNvSpPr>
          <p:nvPr>
            <p:ph idx="1"/>
          </p:nvPr>
        </p:nvSpPr>
        <p:spPr/>
        <p:txBody>
          <a:bodyPr>
            <a:normAutofit/>
          </a:bodyPr>
          <a:lstStyle/>
          <a:p>
            <a:r>
              <a:rPr lang="en-US" sz="2400" dirty="0">
                <a:solidFill>
                  <a:srgbClr val="000000"/>
                </a:solidFill>
                <a:effectLst/>
                <a:latin typeface="Times-Roman"/>
              </a:rPr>
              <a:t>Given the components for a parent node, it is easy to see how to compute the necessary components for a child node. The function CHILD-NODE takes a parent node and an action and returns the resulting child node:</a:t>
            </a:r>
            <a:endParaRPr lang="en-IN" sz="2800" dirty="0"/>
          </a:p>
        </p:txBody>
      </p:sp>
      <p:sp>
        <p:nvSpPr>
          <p:cNvPr id="4" name="Footer Placeholder 3">
            <a:extLst>
              <a:ext uri="{FF2B5EF4-FFF2-40B4-BE49-F238E27FC236}">
                <a16:creationId xmlns:a16="http://schemas.microsoft.com/office/drawing/2014/main" xmlns="" id="{482F05BB-7D62-DE7B-9E40-812194DAE6CE}"/>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E29DD42B-6C2F-FEE8-EC74-A5976D77692F}"/>
              </a:ext>
            </a:extLst>
          </p:cNvPr>
          <p:cNvSpPr>
            <a:spLocks noGrp="1"/>
          </p:cNvSpPr>
          <p:nvPr>
            <p:ph type="sldNum" sz="quarter" idx="12"/>
          </p:nvPr>
        </p:nvSpPr>
        <p:spPr/>
        <p:txBody>
          <a:bodyPr/>
          <a:lstStyle/>
          <a:p>
            <a:fld id="{1E81A027-E3F7-4FC9-A752-E855AD4A687D}" type="slidenum">
              <a:rPr lang="en-IN" smtClean="0"/>
              <a:t>50</a:t>
            </a:fld>
            <a:endParaRPr lang="en-IN"/>
          </a:p>
        </p:txBody>
      </p:sp>
      <p:pic>
        <p:nvPicPr>
          <p:cNvPr id="7" name="Picture 6">
            <a:extLst>
              <a:ext uri="{FF2B5EF4-FFF2-40B4-BE49-F238E27FC236}">
                <a16:creationId xmlns:a16="http://schemas.microsoft.com/office/drawing/2014/main" xmlns="" id="{D69DBFC2-30FE-80E3-CC9A-4D8ACEEA9AD9}"/>
              </a:ext>
            </a:extLst>
          </p:cNvPr>
          <p:cNvPicPr>
            <a:picLocks noChangeAspect="1"/>
          </p:cNvPicPr>
          <p:nvPr/>
        </p:nvPicPr>
        <p:blipFill>
          <a:blip r:embed="rId2"/>
          <a:stretch>
            <a:fillRect/>
          </a:stretch>
        </p:blipFill>
        <p:spPr>
          <a:xfrm>
            <a:off x="0" y="3019141"/>
            <a:ext cx="12201519" cy="2588557"/>
          </a:xfrm>
          <a:prstGeom prst="rect">
            <a:avLst/>
          </a:prstGeom>
        </p:spPr>
      </p:pic>
    </p:spTree>
    <p:extLst>
      <p:ext uri="{BB962C8B-B14F-4D97-AF65-F5344CB8AC3E}">
        <p14:creationId xmlns:p14="http://schemas.microsoft.com/office/powerpoint/2010/main" val="28569965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12ED39-A3B6-18FF-4766-E2DC5463DC02}"/>
              </a:ext>
            </a:extLst>
          </p:cNvPr>
          <p:cNvSpPr>
            <a:spLocks noGrp="1"/>
          </p:cNvSpPr>
          <p:nvPr>
            <p:ph type="title"/>
          </p:nvPr>
        </p:nvSpPr>
        <p:spPr/>
        <p:txBody>
          <a:bodyPr>
            <a:normAutofit/>
          </a:bodyPr>
          <a:lstStyle/>
          <a:p>
            <a:r>
              <a:rPr lang="en-IN" dirty="0">
                <a:solidFill>
                  <a:srgbClr val="000000"/>
                </a:solidFill>
                <a:effectLst/>
                <a:latin typeface="+mn-lt"/>
              </a:rPr>
              <a:t>Measuring problem-solving performance</a:t>
            </a:r>
            <a:endParaRPr lang="en-IN" dirty="0">
              <a:latin typeface="+mn-lt"/>
            </a:endParaRPr>
          </a:p>
        </p:txBody>
      </p:sp>
      <p:sp>
        <p:nvSpPr>
          <p:cNvPr id="3" name="Content Placeholder 2">
            <a:extLst>
              <a:ext uri="{FF2B5EF4-FFF2-40B4-BE49-F238E27FC236}">
                <a16:creationId xmlns:a16="http://schemas.microsoft.com/office/drawing/2014/main" xmlns="" id="{1D594A39-1BDA-2E06-5BCE-B9620108ADC3}"/>
              </a:ext>
            </a:extLst>
          </p:cNvPr>
          <p:cNvSpPr>
            <a:spLocks noGrp="1"/>
          </p:cNvSpPr>
          <p:nvPr>
            <p:ph idx="1"/>
          </p:nvPr>
        </p:nvSpPr>
        <p:spPr/>
        <p:txBody>
          <a:bodyPr>
            <a:normAutofit/>
          </a:bodyPr>
          <a:lstStyle/>
          <a:p>
            <a:r>
              <a:rPr lang="en-US" sz="2400" dirty="0">
                <a:solidFill>
                  <a:srgbClr val="000000"/>
                </a:solidFill>
                <a:effectLst/>
              </a:rPr>
              <a:t>We can evaluate an algorithm’s performance in four ways: </a:t>
            </a:r>
            <a:endParaRPr lang="en-US" sz="2800" dirty="0"/>
          </a:p>
          <a:p>
            <a:r>
              <a:rPr lang="en-US" sz="2400" dirty="0">
                <a:solidFill>
                  <a:srgbClr val="000000"/>
                </a:solidFill>
                <a:effectLst/>
              </a:rPr>
              <a:t>• </a:t>
            </a:r>
            <a:r>
              <a:rPr lang="en-US" sz="2400" b="1" dirty="0">
                <a:solidFill>
                  <a:srgbClr val="000000"/>
                </a:solidFill>
                <a:effectLst/>
              </a:rPr>
              <a:t>Completeness</a:t>
            </a:r>
            <a:r>
              <a:rPr lang="en-US" sz="2400" dirty="0">
                <a:solidFill>
                  <a:srgbClr val="000000"/>
                </a:solidFill>
                <a:effectLst/>
              </a:rPr>
              <a:t>: Is the algorithm guaranteed to find a solution when there is one? </a:t>
            </a:r>
            <a:endParaRPr lang="en-US" sz="2800" dirty="0"/>
          </a:p>
          <a:p>
            <a:r>
              <a:rPr lang="en-US" sz="2400" dirty="0">
                <a:solidFill>
                  <a:srgbClr val="000000"/>
                </a:solidFill>
                <a:effectLst/>
              </a:rPr>
              <a:t>• </a:t>
            </a:r>
            <a:r>
              <a:rPr lang="en-US" sz="2400" b="1" dirty="0">
                <a:solidFill>
                  <a:srgbClr val="000000"/>
                </a:solidFill>
                <a:effectLst/>
              </a:rPr>
              <a:t>Optimality</a:t>
            </a:r>
            <a:r>
              <a:rPr lang="en-US" sz="2400" dirty="0">
                <a:solidFill>
                  <a:srgbClr val="000000"/>
                </a:solidFill>
                <a:effectLst/>
              </a:rPr>
              <a:t>: Does the strategy find the optimal solution?</a:t>
            </a:r>
            <a:endParaRPr lang="en-US" sz="2800" dirty="0"/>
          </a:p>
          <a:p>
            <a:r>
              <a:rPr lang="en-US" sz="2400" dirty="0">
                <a:solidFill>
                  <a:srgbClr val="000000"/>
                </a:solidFill>
                <a:effectLst/>
              </a:rPr>
              <a:t>• </a:t>
            </a:r>
            <a:r>
              <a:rPr lang="en-US" sz="2400" b="1" dirty="0">
                <a:solidFill>
                  <a:srgbClr val="000000"/>
                </a:solidFill>
                <a:effectLst/>
              </a:rPr>
              <a:t>Time complexity</a:t>
            </a:r>
            <a:r>
              <a:rPr lang="en-US" sz="2400" dirty="0">
                <a:solidFill>
                  <a:srgbClr val="000000"/>
                </a:solidFill>
                <a:effectLst/>
              </a:rPr>
              <a:t>: How long does it take to find a solution? </a:t>
            </a:r>
            <a:endParaRPr lang="en-US" sz="2800" dirty="0"/>
          </a:p>
          <a:p>
            <a:r>
              <a:rPr lang="en-US" sz="2400" dirty="0">
                <a:solidFill>
                  <a:srgbClr val="000000"/>
                </a:solidFill>
                <a:effectLst/>
              </a:rPr>
              <a:t>• </a:t>
            </a:r>
            <a:r>
              <a:rPr lang="en-US" sz="2400" b="1" dirty="0">
                <a:solidFill>
                  <a:srgbClr val="000000"/>
                </a:solidFill>
                <a:effectLst/>
              </a:rPr>
              <a:t>Space complexity</a:t>
            </a:r>
            <a:r>
              <a:rPr lang="en-US" sz="2400" dirty="0">
                <a:solidFill>
                  <a:srgbClr val="000000"/>
                </a:solidFill>
                <a:effectLst/>
              </a:rPr>
              <a:t>: How much memory is needed to perform the search?</a:t>
            </a:r>
          </a:p>
          <a:p>
            <a:r>
              <a:rPr lang="en-US" sz="2400" dirty="0">
                <a:solidFill>
                  <a:srgbClr val="000000"/>
                </a:solidFill>
              </a:rPr>
              <a:t>C</a:t>
            </a:r>
            <a:r>
              <a:rPr lang="en-US" sz="2400" dirty="0">
                <a:solidFill>
                  <a:srgbClr val="000000"/>
                </a:solidFill>
                <a:effectLst/>
              </a:rPr>
              <a:t>omplexity is expressed in terms of three quantities: b, the </a:t>
            </a:r>
            <a:r>
              <a:rPr lang="en-US" sz="2400" b="1" dirty="0">
                <a:solidFill>
                  <a:srgbClr val="000000"/>
                </a:solidFill>
                <a:effectLst/>
              </a:rPr>
              <a:t>branching factor </a:t>
            </a:r>
            <a:r>
              <a:rPr lang="en-US" sz="2400" dirty="0">
                <a:solidFill>
                  <a:srgbClr val="000000"/>
                </a:solidFill>
                <a:effectLst/>
              </a:rPr>
              <a:t>or maximum number of successors of any node; d, the </a:t>
            </a:r>
            <a:r>
              <a:rPr lang="en-US" sz="2400" b="1" dirty="0">
                <a:solidFill>
                  <a:srgbClr val="000000"/>
                </a:solidFill>
                <a:effectLst/>
              </a:rPr>
              <a:t>depth </a:t>
            </a:r>
            <a:r>
              <a:rPr lang="en-US" sz="2400" dirty="0">
                <a:solidFill>
                  <a:srgbClr val="000000"/>
                </a:solidFill>
                <a:effectLst/>
              </a:rPr>
              <a:t>of the shallowest goal node and m, the maximum length of any path in the state space. </a:t>
            </a:r>
            <a:endParaRPr lang="en-IN" sz="2800" dirty="0"/>
          </a:p>
        </p:txBody>
      </p:sp>
      <p:sp>
        <p:nvSpPr>
          <p:cNvPr id="4" name="Footer Placeholder 3">
            <a:extLst>
              <a:ext uri="{FF2B5EF4-FFF2-40B4-BE49-F238E27FC236}">
                <a16:creationId xmlns:a16="http://schemas.microsoft.com/office/drawing/2014/main" xmlns="" id="{0120A642-7289-7225-C18D-0B512F8D32F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68372DEA-EE85-1DC9-5732-57DC08F00F1C}"/>
              </a:ext>
            </a:extLst>
          </p:cNvPr>
          <p:cNvSpPr>
            <a:spLocks noGrp="1"/>
          </p:cNvSpPr>
          <p:nvPr>
            <p:ph type="sldNum" sz="quarter" idx="12"/>
          </p:nvPr>
        </p:nvSpPr>
        <p:spPr/>
        <p:txBody>
          <a:bodyPr/>
          <a:lstStyle/>
          <a:p>
            <a:fld id="{1E81A027-E3F7-4FC9-A752-E855AD4A687D}" type="slidenum">
              <a:rPr lang="en-IN" smtClean="0"/>
              <a:t>51</a:t>
            </a:fld>
            <a:endParaRPr lang="en-IN"/>
          </a:p>
        </p:txBody>
      </p:sp>
    </p:spTree>
    <p:extLst>
      <p:ext uri="{BB962C8B-B14F-4D97-AF65-F5344CB8AC3E}">
        <p14:creationId xmlns:p14="http://schemas.microsoft.com/office/powerpoint/2010/main" val="38557380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233E3A-7190-40AE-4866-1F84C437211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6A67B77-AA7F-28BA-ACA1-CD4F1A0E2019}"/>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xmlns="" id="{2290A0BB-FA83-04D9-530B-CDAC5DA5DF4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3CDFD427-A0D5-7AA5-BB05-504818B66AEA}"/>
              </a:ext>
            </a:extLst>
          </p:cNvPr>
          <p:cNvSpPr>
            <a:spLocks noGrp="1"/>
          </p:cNvSpPr>
          <p:nvPr>
            <p:ph type="sldNum" sz="quarter" idx="12"/>
          </p:nvPr>
        </p:nvSpPr>
        <p:spPr/>
        <p:txBody>
          <a:bodyPr/>
          <a:lstStyle/>
          <a:p>
            <a:fld id="{1E81A027-E3F7-4FC9-A752-E855AD4A687D}" type="slidenum">
              <a:rPr lang="en-IN" smtClean="0"/>
              <a:t>52</a:t>
            </a:fld>
            <a:endParaRPr lang="en-IN"/>
          </a:p>
        </p:txBody>
      </p:sp>
      <p:pic>
        <p:nvPicPr>
          <p:cNvPr id="7" name="Picture 6">
            <a:extLst>
              <a:ext uri="{FF2B5EF4-FFF2-40B4-BE49-F238E27FC236}">
                <a16:creationId xmlns:a16="http://schemas.microsoft.com/office/drawing/2014/main" xmlns="" id="{65B3DFCC-758D-CE7B-4CD0-A7C7198EEC45}"/>
              </a:ext>
            </a:extLst>
          </p:cNvPr>
          <p:cNvPicPr>
            <a:picLocks noChangeAspect="1"/>
          </p:cNvPicPr>
          <p:nvPr/>
        </p:nvPicPr>
        <p:blipFill>
          <a:blip r:embed="rId2"/>
          <a:stretch>
            <a:fillRect/>
          </a:stretch>
        </p:blipFill>
        <p:spPr>
          <a:xfrm>
            <a:off x="1342172" y="2049659"/>
            <a:ext cx="9092131" cy="1814417"/>
          </a:xfrm>
          <a:prstGeom prst="rect">
            <a:avLst/>
          </a:prstGeom>
        </p:spPr>
      </p:pic>
    </p:spTree>
    <p:extLst>
      <p:ext uri="{BB962C8B-B14F-4D97-AF65-F5344CB8AC3E}">
        <p14:creationId xmlns:p14="http://schemas.microsoft.com/office/powerpoint/2010/main" val="35183879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07FE93-E5B0-58D7-7CB1-206C10FC2A11}"/>
              </a:ext>
            </a:extLst>
          </p:cNvPr>
          <p:cNvSpPr>
            <a:spLocks noGrp="1"/>
          </p:cNvSpPr>
          <p:nvPr>
            <p:ph type="title"/>
          </p:nvPr>
        </p:nvSpPr>
        <p:spPr/>
        <p:txBody>
          <a:bodyPr/>
          <a:lstStyle/>
          <a:p>
            <a:r>
              <a:rPr lang="en-US" dirty="0"/>
              <a:t>DIFFERENT TYPES OF SEARCHING </a:t>
            </a:r>
            <a:endParaRPr lang="en-IN" dirty="0"/>
          </a:p>
        </p:txBody>
      </p:sp>
      <p:sp>
        <p:nvSpPr>
          <p:cNvPr id="4" name="Footer Placeholder 3">
            <a:extLst>
              <a:ext uri="{FF2B5EF4-FFF2-40B4-BE49-F238E27FC236}">
                <a16:creationId xmlns:a16="http://schemas.microsoft.com/office/drawing/2014/main" xmlns="" id="{66A8A9F4-7090-7D6D-936E-A1E0422BCC9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AE68BEAE-F7EE-EAF3-99FB-4F5BFFDD8F16}"/>
              </a:ext>
            </a:extLst>
          </p:cNvPr>
          <p:cNvSpPr>
            <a:spLocks noGrp="1"/>
          </p:cNvSpPr>
          <p:nvPr>
            <p:ph type="sldNum" sz="quarter" idx="12"/>
          </p:nvPr>
        </p:nvSpPr>
        <p:spPr/>
        <p:txBody>
          <a:bodyPr/>
          <a:lstStyle/>
          <a:p>
            <a:fld id="{1E81A027-E3F7-4FC9-A752-E855AD4A687D}" type="slidenum">
              <a:rPr lang="en-IN" smtClean="0"/>
              <a:t>53</a:t>
            </a:fld>
            <a:endParaRPr lang="en-IN"/>
          </a:p>
        </p:txBody>
      </p:sp>
      <p:pic>
        <p:nvPicPr>
          <p:cNvPr id="6" name="Picture 2" descr="C:\Users\admin\Desktop\Capture.PNG">
            <a:extLst>
              <a:ext uri="{FF2B5EF4-FFF2-40B4-BE49-F238E27FC236}">
                <a16:creationId xmlns:a16="http://schemas.microsoft.com/office/drawing/2014/main" xmlns="" id="{B1BD13C9-5948-24F5-C122-B11FD1D715F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57825" y="1737360"/>
            <a:ext cx="6822149" cy="4830351"/>
          </a:xfrm>
          <a:prstGeom prst="rect">
            <a:avLst/>
          </a:prstGeom>
          <a:noFill/>
          <a:ln>
            <a:noFill/>
          </a:ln>
        </p:spPr>
      </p:pic>
    </p:spTree>
    <p:extLst>
      <p:ext uri="{BB962C8B-B14F-4D97-AF65-F5344CB8AC3E}">
        <p14:creationId xmlns:p14="http://schemas.microsoft.com/office/powerpoint/2010/main" val="40570257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E65BC2-24D1-F576-29D2-53DF3B167701}"/>
              </a:ext>
            </a:extLst>
          </p:cNvPr>
          <p:cNvSpPr>
            <a:spLocks noGrp="1"/>
          </p:cNvSpPr>
          <p:nvPr>
            <p:ph type="title"/>
          </p:nvPr>
        </p:nvSpPr>
        <p:spPr/>
        <p:txBody>
          <a:bodyPr/>
          <a:lstStyle/>
          <a:p>
            <a:r>
              <a:rPr lang="en-US" dirty="0"/>
              <a:t>Uninformed Search Strategies</a:t>
            </a:r>
            <a:endParaRPr lang="en-IN" dirty="0"/>
          </a:p>
        </p:txBody>
      </p:sp>
      <p:sp>
        <p:nvSpPr>
          <p:cNvPr id="3" name="Content Placeholder 2">
            <a:extLst>
              <a:ext uri="{FF2B5EF4-FFF2-40B4-BE49-F238E27FC236}">
                <a16:creationId xmlns:a16="http://schemas.microsoft.com/office/drawing/2014/main" xmlns="" id="{E5B6F3E4-F732-59DF-C2FB-9037E118892E}"/>
              </a:ext>
            </a:extLst>
          </p:cNvPr>
          <p:cNvSpPr>
            <a:spLocks noGrp="1"/>
          </p:cNvSpPr>
          <p:nvPr>
            <p:ph idx="1"/>
          </p:nvPr>
        </p:nvSpPr>
        <p:spPr/>
        <p:txBody>
          <a:bodyPr>
            <a:normAutofit/>
          </a:bodyPr>
          <a:lstStyle/>
          <a:p>
            <a:r>
              <a:rPr lang="en-US" sz="2800" dirty="0"/>
              <a:t>no additional information about states beyond that provided in the problem definition</a:t>
            </a:r>
          </a:p>
          <a:p>
            <a:r>
              <a:rPr lang="en-US" sz="2800" dirty="0"/>
              <a:t>All they can do is generate successors and distinguish a goal state from a non-goal state.</a:t>
            </a:r>
          </a:p>
          <a:p>
            <a:r>
              <a:rPr lang="en-US" sz="2800" dirty="0"/>
              <a:t>they that </a:t>
            </a:r>
            <a:r>
              <a:rPr lang="en-US" sz="2800" dirty="0">
                <a:solidFill>
                  <a:srgbClr val="FF0000"/>
                </a:solidFill>
              </a:rPr>
              <a:t>do not take</a:t>
            </a:r>
            <a:r>
              <a:rPr lang="en-US" sz="2800" dirty="0"/>
              <a:t> into account the </a:t>
            </a:r>
            <a:r>
              <a:rPr lang="en-US" sz="2800" dirty="0">
                <a:solidFill>
                  <a:srgbClr val="FF0000"/>
                </a:solidFill>
              </a:rPr>
              <a:t>location of the goal</a:t>
            </a:r>
            <a:r>
              <a:rPr lang="en-US" sz="2800" dirty="0"/>
              <a:t>. These algorithms</a:t>
            </a:r>
            <a:r>
              <a:rPr lang="en-US" sz="2800" dirty="0">
                <a:solidFill>
                  <a:srgbClr val="FF0000"/>
                </a:solidFill>
              </a:rPr>
              <a:t> ignore where they are going until they find a goal </a:t>
            </a:r>
            <a:r>
              <a:rPr lang="en-US" sz="2800" dirty="0"/>
              <a:t>and report success.</a:t>
            </a:r>
          </a:p>
          <a:p>
            <a:pPr marL="0" indent="0">
              <a:buNone/>
            </a:pPr>
            <a:endParaRPr lang="en-IN" dirty="0"/>
          </a:p>
        </p:txBody>
      </p:sp>
      <p:sp>
        <p:nvSpPr>
          <p:cNvPr id="4" name="Footer Placeholder 3">
            <a:extLst>
              <a:ext uri="{FF2B5EF4-FFF2-40B4-BE49-F238E27FC236}">
                <a16:creationId xmlns:a16="http://schemas.microsoft.com/office/drawing/2014/main" xmlns="" id="{D8E45847-A0C8-49C8-81DC-5AF392DCB9A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EBD04126-FB4E-8854-635F-9601BC75FEFC}"/>
              </a:ext>
            </a:extLst>
          </p:cNvPr>
          <p:cNvSpPr>
            <a:spLocks noGrp="1"/>
          </p:cNvSpPr>
          <p:nvPr>
            <p:ph type="sldNum" sz="quarter" idx="12"/>
          </p:nvPr>
        </p:nvSpPr>
        <p:spPr/>
        <p:txBody>
          <a:bodyPr/>
          <a:lstStyle/>
          <a:p>
            <a:fld id="{1E81A027-E3F7-4FC9-A752-E855AD4A687D}" type="slidenum">
              <a:rPr lang="en-IN" smtClean="0"/>
              <a:t>54</a:t>
            </a:fld>
            <a:endParaRPr lang="en-IN"/>
          </a:p>
        </p:txBody>
      </p:sp>
    </p:spTree>
    <p:extLst>
      <p:ext uri="{BB962C8B-B14F-4D97-AF65-F5344CB8AC3E}">
        <p14:creationId xmlns:p14="http://schemas.microsoft.com/office/powerpoint/2010/main" val="42116370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83A9CD-D0B1-1961-E6B4-D6D4AFC37121}"/>
              </a:ext>
            </a:extLst>
          </p:cNvPr>
          <p:cNvSpPr>
            <a:spLocks noGrp="1"/>
          </p:cNvSpPr>
          <p:nvPr>
            <p:ph type="title"/>
          </p:nvPr>
        </p:nvSpPr>
        <p:spPr/>
        <p:txBody>
          <a:bodyPr>
            <a:normAutofit/>
          </a:bodyPr>
          <a:lstStyle/>
          <a:p>
            <a:r>
              <a:rPr lang="en-IN" dirty="0">
                <a:solidFill>
                  <a:srgbClr val="000000"/>
                </a:solidFill>
                <a:effectLst/>
              </a:rPr>
              <a:t>1. Breadth-First search</a:t>
            </a:r>
            <a:endParaRPr lang="en-IN" dirty="0"/>
          </a:p>
        </p:txBody>
      </p:sp>
      <p:sp>
        <p:nvSpPr>
          <p:cNvPr id="3" name="Content Placeholder 2">
            <a:extLst>
              <a:ext uri="{FF2B5EF4-FFF2-40B4-BE49-F238E27FC236}">
                <a16:creationId xmlns:a16="http://schemas.microsoft.com/office/drawing/2014/main" xmlns="" id="{8A8F1E79-8B1C-3B32-E8CB-909E27C4F43B}"/>
              </a:ext>
            </a:extLst>
          </p:cNvPr>
          <p:cNvSpPr>
            <a:spLocks noGrp="1"/>
          </p:cNvSpPr>
          <p:nvPr>
            <p:ph idx="1"/>
          </p:nvPr>
        </p:nvSpPr>
        <p:spPr>
          <a:xfrm>
            <a:off x="1097280" y="1737360"/>
            <a:ext cx="10058400" cy="4131734"/>
          </a:xfrm>
        </p:spPr>
        <p:txBody>
          <a:bodyPr>
            <a:noAutofit/>
          </a:bodyPr>
          <a:lstStyle/>
          <a:p>
            <a:pPr algn="ctr"/>
            <a:r>
              <a:rPr lang="en-US" sz="2800" dirty="0">
                <a:solidFill>
                  <a:srgbClr val="FF0000"/>
                </a:solidFill>
                <a:effectLst/>
              </a:rPr>
              <a:t>root node is expanded first, then all the successors of the root node are expanded next, then </a:t>
            </a:r>
            <a:r>
              <a:rPr lang="en-US" sz="2800" i="1" dirty="0">
                <a:solidFill>
                  <a:srgbClr val="FF0000"/>
                </a:solidFill>
                <a:effectLst/>
              </a:rPr>
              <a:t>their </a:t>
            </a:r>
            <a:r>
              <a:rPr lang="en-US" sz="2800" dirty="0">
                <a:solidFill>
                  <a:srgbClr val="FF0000"/>
                </a:solidFill>
                <a:effectLst/>
              </a:rPr>
              <a:t>successors, and so on. </a:t>
            </a:r>
          </a:p>
          <a:p>
            <a:r>
              <a:rPr lang="en-US" sz="2800" dirty="0">
                <a:solidFill>
                  <a:srgbClr val="000000"/>
                </a:solidFill>
                <a:effectLst/>
              </a:rPr>
              <a:t>all the nodes are expanded at a given depth in the search tree before any nodes at the next level are expanded.</a:t>
            </a:r>
          </a:p>
          <a:p>
            <a:r>
              <a:rPr lang="en-US" sz="2800" dirty="0">
                <a:solidFill>
                  <a:srgbClr val="000000"/>
                </a:solidFill>
                <a:effectLst/>
              </a:rPr>
              <a:t>Breadth-first search is </a:t>
            </a:r>
            <a:r>
              <a:rPr lang="en-US" sz="2800" dirty="0">
                <a:solidFill>
                  <a:srgbClr val="FF0000"/>
                </a:solidFill>
                <a:effectLst/>
              </a:rPr>
              <a:t>an instance of the general graph-search </a:t>
            </a:r>
            <a:r>
              <a:rPr lang="en-US" sz="2800" dirty="0">
                <a:solidFill>
                  <a:srgbClr val="000000"/>
                </a:solidFill>
                <a:effectLst/>
              </a:rPr>
              <a:t>algorithm</a:t>
            </a:r>
          </a:p>
          <a:p>
            <a:r>
              <a:rPr lang="en-US" sz="2800" dirty="0">
                <a:solidFill>
                  <a:srgbClr val="000000"/>
                </a:solidFill>
                <a:effectLst/>
              </a:rPr>
              <a:t>in which the </a:t>
            </a:r>
            <a:r>
              <a:rPr lang="en-US" sz="2800" i="1" dirty="0">
                <a:solidFill>
                  <a:srgbClr val="0070C0"/>
                </a:solidFill>
                <a:effectLst/>
              </a:rPr>
              <a:t>shallowest </a:t>
            </a:r>
            <a:r>
              <a:rPr lang="en-US" sz="2800" dirty="0">
                <a:solidFill>
                  <a:srgbClr val="0070C0"/>
                </a:solidFill>
                <a:effectLst/>
              </a:rPr>
              <a:t>unexpanded</a:t>
            </a:r>
            <a:r>
              <a:rPr lang="en-US" sz="2800" dirty="0">
                <a:solidFill>
                  <a:srgbClr val="000000"/>
                </a:solidFill>
                <a:effectLst/>
              </a:rPr>
              <a:t> node is chosen for expansion</a:t>
            </a:r>
          </a:p>
          <a:p>
            <a:r>
              <a:rPr lang="en-US" sz="2800" dirty="0">
                <a:solidFill>
                  <a:srgbClr val="000000"/>
                </a:solidFill>
                <a:effectLst/>
              </a:rPr>
              <a:t>This is achieved very simply by using </a:t>
            </a:r>
            <a:r>
              <a:rPr lang="en-US" sz="2800" dirty="0">
                <a:solidFill>
                  <a:srgbClr val="7030A0"/>
                </a:solidFill>
                <a:effectLst/>
              </a:rPr>
              <a:t>a FIFO queue for the frontier</a:t>
            </a:r>
          </a:p>
        </p:txBody>
      </p:sp>
      <p:sp>
        <p:nvSpPr>
          <p:cNvPr id="4" name="Footer Placeholder 3">
            <a:extLst>
              <a:ext uri="{FF2B5EF4-FFF2-40B4-BE49-F238E27FC236}">
                <a16:creationId xmlns:a16="http://schemas.microsoft.com/office/drawing/2014/main" xmlns="" id="{B0449442-FEE2-B338-99EC-0962F2222308}"/>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05618331-0FC9-A69C-D579-2AE2B1E11240}"/>
              </a:ext>
            </a:extLst>
          </p:cNvPr>
          <p:cNvSpPr>
            <a:spLocks noGrp="1"/>
          </p:cNvSpPr>
          <p:nvPr>
            <p:ph type="sldNum" sz="quarter" idx="12"/>
          </p:nvPr>
        </p:nvSpPr>
        <p:spPr/>
        <p:txBody>
          <a:bodyPr/>
          <a:lstStyle/>
          <a:p>
            <a:fld id="{1E81A027-E3F7-4FC9-A752-E855AD4A687D}" type="slidenum">
              <a:rPr lang="en-IN" smtClean="0"/>
              <a:t>55</a:t>
            </a:fld>
            <a:endParaRPr lang="en-IN"/>
          </a:p>
        </p:txBody>
      </p:sp>
    </p:spTree>
    <p:extLst>
      <p:ext uri="{BB962C8B-B14F-4D97-AF65-F5344CB8AC3E}">
        <p14:creationId xmlns:p14="http://schemas.microsoft.com/office/powerpoint/2010/main" val="39291173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F57259-658F-7D4A-6E36-540A3759C38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EE349B0C-7EC5-3528-06C8-2FF347BF9B7B}"/>
              </a:ext>
            </a:extLst>
          </p:cNvPr>
          <p:cNvSpPr>
            <a:spLocks noGrp="1"/>
          </p:cNvSpPr>
          <p:nvPr>
            <p:ph idx="1"/>
          </p:nvPr>
        </p:nvSpPr>
        <p:spPr/>
        <p:txBody>
          <a:bodyPr>
            <a:normAutofit/>
          </a:bodyPr>
          <a:lstStyle/>
          <a:p>
            <a:r>
              <a:rPr lang="en-US" sz="3200" dirty="0">
                <a:solidFill>
                  <a:srgbClr val="000000"/>
                </a:solidFill>
                <a:effectLst/>
              </a:rPr>
              <a:t>new nodes go to the back of the queue, and old nodes, which are shallower than the new nodes, get expanded first</a:t>
            </a:r>
          </a:p>
          <a:p>
            <a:r>
              <a:rPr lang="en-US" sz="3200" dirty="0">
                <a:solidFill>
                  <a:srgbClr val="000000"/>
                </a:solidFill>
                <a:effectLst/>
              </a:rPr>
              <a:t>the goal test is applied to each node when it is </a:t>
            </a:r>
            <a:r>
              <a:rPr lang="en-US" sz="3200" i="1" dirty="0">
                <a:solidFill>
                  <a:srgbClr val="000000"/>
                </a:solidFill>
                <a:effectLst/>
              </a:rPr>
              <a:t>generated </a:t>
            </a:r>
            <a:r>
              <a:rPr lang="en-US" sz="3200" dirty="0">
                <a:solidFill>
                  <a:srgbClr val="000000"/>
                </a:solidFill>
                <a:effectLst/>
              </a:rPr>
              <a:t>rather than when it is selected for expansion</a:t>
            </a:r>
          </a:p>
          <a:p>
            <a:r>
              <a:rPr lang="en-US" sz="3200" dirty="0">
                <a:solidFill>
                  <a:srgbClr val="000000"/>
                </a:solidFill>
                <a:effectLst/>
              </a:rPr>
              <a:t>breadth-first search always has the shallowest path to every node on the frontier</a:t>
            </a:r>
          </a:p>
          <a:p>
            <a:endParaRPr lang="en-IN" sz="3200" dirty="0"/>
          </a:p>
        </p:txBody>
      </p:sp>
      <p:sp>
        <p:nvSpPr>
          <p:cNvPr id="4" name="Footer Placeholder 3">
            <a:extLst>
              <a:ext uri="{FF2B5EF4-FFF2-40B4-BE49-F238E27FC236}">
                <a16:creationId xmlns:a16="http://schemas.microsoft.com/office/drawing/2014/main" xmlns="" id="{C2EEE838-EE26-52BD-4803-3D6AABBC6D1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FF3CBC68-D7C0-BA2D-153B-893ECAC7BD8A}"/>
              </a:ext>
            </a:extLst>
          </p:cNvPr>
          <p:cNvSpPr>
            <a:spLocks noGrp="1"/>
          </p:cNvSpPr>
          <p:nvPr>
            <p:ph type="sldNum" sz="quarter" idx="12"/>
          </p:nvPr>
        </p:nvSpPr>
        <p:spPr/>
        <p:txBody>
          <a:bodyPr/>
          <a:lstStyle/>
          <a:p>
            <a:fld id="{1E81A027-E3F7-4FC9-A752-E855AD4A687D}" type="slidenum">
              <a:rPr lang="en-IN" smtClean="0"/>
              <a:t>56</a:t>
            </a:fld>
            <a:endParaRPr lang="en-IN"/>
          </a:p>
        </p:txBody>
      </p:sp>
    </p:spTree>
    <p:extLst>
      <p:ext uri="{BB962C8B-B14F-4D97-AF65-F5344CB8AC3E}">
        <p14:creationId xmlns:p14="http://schemas.microsoft.com/office/powerpoint/2010/main" val="28850194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32B1E7-8421-0F5F-D0ED-808211DCA48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0C2C632-1DA5-8928-A2C9-1E5FFFE388EF}"/>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xmlns="" id="{7A210804-BA17-92EE-8353-A06DF99ADB3D}"/>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52FC0E99-4743-66F5-73C5-4C82A8CE355A}"/>
              </a:ext>
            </a:extLst>
          </p:cNvPr>
          <p:cNvSpPr>
            <a:spLocks noGrp="1"/>
          </p:cNvSpPr>
          <p:nvPr>
            <p:ph type="sldNum" sz="quarter" idx="12"/>
          </p:nvPr>
        </p:nvSpPr>
        <p:spPr/>
        <p:txBody>
          <a:bodyPr/>
          <a:lstStyle/>
          <a:p>
            <a:fld id="{1E81A027-E3F7-4FC9-A752-E855AD4A687D}" type="slidenum">
              <a:rPr lang="en-IN" smtClean="0"/>
              <a:t>57</a:t>
            </a:fld>
            <a:endParaRPr lang="en-IN"/>
          </a:p>
        </p:txBody>
      </p:sp>
      <p:pic>
        <p:nvPicPr>
          <p:cNvPr id="7" name="Picture 6">
            <a:extLst>
              <a:ext uri="{FF2B5EF4-FFF2-40B4-BE49-F238E27FC236}">
                <a16:creationId xmlns:a16="http://schemas.microsoft.com/office/drawing/2014/main" xmlns="" id="{817596AF-EB80-A49E-D4EB-ECEF3F5A5F71}"/>
              </a:ext>
            </a:extLst>
          </p:cNvPr>
          <p:cNvPicPr>
            <a:picLocks noChangeAspect="1"/>
          </p:cNvPicPr>
          <p:nvPr/>
        </p:nvPicPr>
        <p:blipFill>
          <a:blip r:embed="rId2"/>
          <a:stretch>
            <a:fillRect/>
          </a:stretch>
        </p:blipFill>
        <p:spPr>
          <a:xfrm>
            <a:off x="313610" y="1816061"/>
            <a:ext cx="11219630" cy="3058917"/>
          </a:xfrm>
          <a:prstGeom prst="rect">
            <a:avLst/>
          </a:prstGeom>
        </p:spPr>
      </p:pic>
    </p:spTree>
    <p:extLst>
      <p:ext uri="{BB962C8B-B14F-4D97-AF65-F5344CB8AC3E}">
        <p14:creationId xmlns:p14="http://schemas.microsoft.com/office/powerpoint/2010/main" val="40812107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1DEC5A-DE20-F263-8920-7B2EBF8D75DD}"/>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xmlns="" id="{714D8739-3FE9-1082-73C6-D0E5157A87D4}"/>
              </a:ext>
            </a:extLst>
          </p:cNvPr>
          <p:cNvPicPr>
            <a:picLocks noGrp="1" noChangeAspect="1"/>
          </p:cNvPicPr>
          <p:nvPr>
            <p:ph idx="1"/>
          </p:nvPr>
        </p:nvPicPr>
        <p:blipFill>
          <a:blip r:embed="rId2"/>
          <a:stretch>
            <a:fillRect/>
          </a:stretch>
        </p:blipFill>
        <p:spPr>
          <a:xfrm>
            <a:off x="-98748" y="-55627"/>
            <a:ext cx="10875605" cy="5924616"/>
          </a:xfrm>
        </p:spPr>
      </p:pic>
      <p:sp>
        <p:nvSpPr>
          <p:cNvPr id="4" name="Footer Placeholder 3">
            <a:extLst>
              <a:ext uri="{FF2B5EF4-FFF2-40B4-BE49-F238E27FC236}">
                <a16:creationId xmlns:a16="http://schemas.microsoft.com/office/drawing/2014/main" xmlns="" id="{3736FFEA-16C7-A1FF-6C51-6F509AE68006}"/>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893A0ED3-0179-5F79-51B9-12223F16C54C}"/>
              </a:ext>
            </a:extLst>
          </p:cNvPr>
          <p:cNvSpPr>
            <a:spLocks noGrp="1"/>
          </p:cNvSpPr>
          <p:nvPr>
            <p:ph type="sldNum" sz="quarter" idx="12"/>
          </p:nvPr>
        </p:nvSpPr>
        <p:spPr/>
        <p:txBody>
          <a:bodyPr/>
          <a:lstStyle/>
          <a:p>
            <a:fld id="{1E81A027-E3F7-4FC9-A752-E855AD4A687D}" type="slidenum">
              <a:rPr lang="en-IN" smtClean="0"/>
              <a:t>58</a:t>
            </a:fld>
            <a:endParaRPr lang="en-IN"/>
          </a:p>
        </p:txBody>
      </p:sp>
    </p:spTree>
    <p:extLst>
      <p:ext uri="{BB962C8B-B14F-4D97-AF65-F5344CB8AC3E}">
        <p14:creationId xmlns:p14="http://schemas.microsoft.com/office/powerpoint/2010/main" val="5413244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2DE205-C9B4-1AAD-A676-68BBF5D8D510}"/>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xmlns="" id="{5378076F-2CA2-1629-CC7F-ED56129B8D77}"/>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346348A2-B74E-9068-58D0-716ADC53FB9B}"/>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A5A26953-48D0-9BE1-6C3B-571A05C5B3BB}"/>
              </a:ext>
            </a:extLst>
          </p:cNvPr>
          <p:cNvSpPr>
            <a:spLocks noGrp="1"/>
          </p:cNvSpPr>
          <p:nvPr>
            <p:ph type="sldNum" sz="quarter" idx="12"/>
          </p:nvPr>
        </p:nvSpPr>
        <p:spPr/>
        <p:txBody>
          <a:bodyPr/>
          <a:lstStyle/>
          <a:p>
            <a:fld id="{1E81A027-E3F7-4FC9-A752-E855AD4A687D}" type="slidenum">
              <a:rPr lang="en-IN" smtClean="0"/>
              <a:t>59</a:t>
            </a:fld>
            <a:endParaRPr lang="en-IN"/>
          </a:p>
        </p:txBody>
      </p:sp>
      <p:sp>
        <p:nvSpPr>
          <p:cNvPr id="6" name="Rectangle 2">
            <a:extLst>
              <a:ext uri="{FF2B5EF4-FFF2-40B4-BE49-F238E27FC236}">
                <a16:creationId xmlns:a16="http://schemas.microsoft.com/office/drawing/2014/main" xmlns="" id="{9DC45DFF-9B50-EC5A-1322-52EE2077F6B6}"/>
              </a:ext>
            </a:extLst>
          </p:cNvPr>
          <p:cNvSpPr txBox="1">
            <a:spLocks noChangeArrowheads="1"/>
          </p:cNvSpPr>
          <p:nvPr/>
        </p:nvSpPr>
        <p:spPr>
          <a:xfrm>
            <a:off x="827088" y="333375"/>
            <a:ext cx="7543800" cy="609600"/>
          </a:xfrm>
          <a:prstGeom prst="rect">
            <a:avLst/>
          </a:prstGeom>
        </p:spPr>
        <p:txBody>
          <a:bodyPr vert="horz" lIns="91440" tIns="45720" rIns="91440" bIns="45720" rtlCol="0" anchor="b">
            <a:normAutofit fontScale="90000" lnSpcReduction="100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defRPr/>
            </a:pPr>
            <a:r>
              <a:rPr lang="es-MX" altLang="en-US">
                <a:solidFill>
                  <a:srgbClr val="1D0401"/>
                </a:solidFill>
              </a:rPr>
              <a:t>Breadth-first search</a:t>
            </a:r>
            <a:endParaRPr lang="es-MX" altLang="he-IL" dirty="0">
              <a:solidFill>
                <a:srgbClr val="1D0401"/>
              </a:solidFill>
            </a:endParaRPr>
          </a:p>
        </p:txBody>
      </p:sp>
      <p:sp>
        <p:nvSpPr>
          <p:cNvPr id="7" name="Oval 3">
            <a:extLst>
              <a:ext uri="{FF2B5EF4-FFF2-40B4-BE49-F238E27FC236}">
                <a16:creationId xmlns:a16="http://schemas.microsoft.com/office/drawing/2014/main" xmlns="" id="{8E310B2F-5C29-B674-93B9-F2B0B966FE3F}"/>
              </a:ext>
            </a:extLst>
          </p:cNvPr>
          <p:cNvSpPr>
            <a:spLocks noChangeArrowheads="1"/>
          </p:cNvSpPr>
          <p:nvPr/>
        </p:nvSpPr>
        <p:spPr bwMode="auto">
          <a:xfrm>
            <a:off x="4184650" y="9461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8" name="Oval 4">
            <a:extLst>
              <a:ext uri="{FF2B5EF4-FFF2-40B4-BE49-F238E27FC236}">
                <a16:creationId xmlns:a16="http://schemas.microsoft.com/office/drawing/2014/main" xmlns="" id="{7C696F91-DD74-BAE9-08C8-36BCFE1F7DC1}"/>
              </a:ext>
            </a:extLst>
          </p:cNvPr>
          <p:cNvSpPr>
            <a:spLocks noChangeArrowheads="1"/>
          </p:cNvSpPr>
          <p:nvPr/>
        </p:nvSpPr>
        <p:spPr bwMode="auto">
          <a:xfrm>
            <a:off x="2813050" y="16319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9" name="Oval 5">
            <a:extLst>
              <a:ext uri="{FF2B5EF4-FFF2-40B4-BE49-F238E27FC236}">
                <a16:creationId xmlns:a16="http://schemas.microsoft.com/office/drawing/2014/main" xmlns="" id="{6B134A95-617A-954C-E71C-26EA6EBF2DF6}"/>
              </a:ext>
            </a:extLst>
          </p:cNvPr>
          <p:cNvSpPr>
            <a:spLocks noChangeArrowheads="1"/>
          </p:cNvSpPr>
          <p:nvPr/>
        </p:nvSpPr>
        <p:spPr bwMode="auto">
          <a:xfrm>
            <a:off x="2051050" y="24701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0" name="Oval 6">
            <a:extLst>
              <a:ext uri="{FF2B5EF4-FFF2-40B4-BE49-F238E27FC236}">
                <a16:creationId xmlns:a16="http://schemas.microsoft.com/office/drawing/2014/main" xmlns="" id="{98CEA270-59C4-EF08-A72D-76060E2B3544}"/>
              </a:ext>
            </a:extLst>
          </p:cNvPr>
          <p:cNvSpPr>
            <a:spLocks noChangeArrowheads="1"/>
          </p:cNvSpPr>
          <p:nvPr/>
        </p:nvSpPr>
        <p:spPr bwMode="auto">
          <a:xfrm>
            <a:off x="5327650" y="16319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1" name="Oval 7">
            <a:extLst>
              <a:ext uri="{FF2B5EF4-FFF2-40B4-BE49-F238E27FC236}">
                <a16:creationId xmlns:a16="http://schemas.microsoft.com/office/drawing/2014/main" xmlns="" id="{45946A72-90A4-DA52-5C62-08E8DF8A1E88}"/>
              </a:ext>
            </a:extLst>
          </p:cNvPr>
          <p:cNvSpPr>
            <a:spLocks noChangeArrowheads="1"/>
          </p:cNvSpPr>
          <p:nvPr/>
        </p:nvSpPr>
        <p:spPr bwMode="auto">
          <a:xfrm>
            <a:off x="3270250" y="24701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2" name="Oval 8">
            <a:extLst>
              <a:ext uri="{FF2B5EF4-FFF2-40B4-BE49-F238E27FC236}">
                <a16:creationId xmlns:a16="http://schemas.microsoft.com/office/drawing/2014/main" xmlns="" id="{55384DF7-F8ED-89C7-680A-E4CCFEEE71F6}"/>
              </a:ext>
            </a:extLst>
          </p:cNvPr>
          <p:cNvSpPr>
            <a:spLocks noChangeArrowheads="1"/>
          </p:cNvSpPr>
          <p:nvPr/>
        </p:nvSpPr>
        <p:spPr bwMode="auto">
          <a:xfrm>
            <a:off x="6165850" y="24701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3" name="Oval 9">
            <a:extLst>
              <a:ext uri="{FF2B5EF4-FFF2-40B4-BE49-F238E27FC236}">
                <a16:creationId xmlns:a16="http://schemas.microsoft.com/office/drawing/2014/main" xmlns="" id="{AA1AF113-8E90-D39A-658A-87AC97B16EF2}"/>
              </a:ext>
            </a:extLst>
          </p:cNvPr>
          <p:cNvSpPr>
            <a:spLocks noChangeArrowheads="1"/>
          </p:cNvSpPr>
          <p:nvPr/>
        </p:nvSpPr>
        <p:spPr bwMode="auto">
          <a:xfrm>
            <a:off x="4489450" y="24701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4" name="Oval 10">
            <a:extLst>
              <a:ext uri="{FF2B5EF4-FFF2-40B4-BE49-F238E27FC236}">
                <a16:creationId xmlns:a16="http://schemas.microsoft.com/office/drawing/2014/main" xmlns="" id="{E5863DD2-FF63-0880-E5A5-EB3E6C6C280B}"/>
              </a:ext>
            </a:extLst>
          </p:cNvPr>
          <p:cNvSpPr>
            <a:spLocks noChangeArrowheads="1"/>
          </p:cNvSpPr>
          <p:nvPr/>
        </p:nvSpPr>
        <p:spPr bwMode="auto">
          <a:xfrm>
            <a:off x="1822450" y="3384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5" name="Oval 11">
            <a:extLst>
              <a:ext uri="{FF2B5EF4-FFF2-40B4-BE49-F238E27FC236}">
                <a16:creationId xmlns:a16="http://schemas.microsoft.com/office/drawing/2014/main" xmlns="" id="{F30018B6-B5EB-66B0-D724-D5CD82C97E72}"/>
              </a:ext>
            </a:extLst>
          </p:cNvPr>
          <p:cNvSpPr>
            <a:spLocks noChangeArrowheads="1"/>
          </p:cNvSpPr>
          <p:nvPr/>
        </p:nvSpPr>
        <p:spPr bwMode="auto">
          <a:xfrm>
            <a:off x="3651250" y="3384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6" name="Oval 12">
            <a:extLst>
              <a:ext uri="{FF2B5EF4-FFF2-40B4-BE49-F238E27FC236}">
                <a16:creationId xmlns:a16="http://schemas.microsoft.com/office/drawing/2014/main" xmlns="" id="{10446F83-D47B-5A36-B265-4B47AE11DD53}"/>
              </a:ext>
            </a:extLst>
          </p:cNvPr>
          <p:cNvSpPr>
            <a:spLocks noChangeArrowheads="1"/>
          </p:cNvSpPr>
          <p:nvPr/>
        </p:nvSpPr>
        <p:spPr bwMode="auto">
          <a:xfrm>
            <a:off x="2584450" y="3384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7" name="Oval 13">
            <a:extLst>
              <a:ext uri="{FF2B5EF4-FFF2-40B4-BE49-F238E27FC236}">
                <a16:creationId xmlns:a16="http://schemas.microsoft.com/office/drawing/2014/main" xmlns="" id="{65F57E5F-852B-EB65-28AE-E455089A5BAC}"/>
              </a:ext>
            </a:extLst>
          </p:cNvPr>
          <p:cNvSpPr>
            <a:spLocks noChangeArrowheads="1"/>
          </p:cNvSpPr>
          <p:nvPr/>
        </p:nvSpPr>
        <p:spPr bwMode="auto">
          <a:xfrm>
            <a:off x="4565650" y="3384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8" name="Oval 14">
            <a:extLst>
              <a:ext uri="{FF2B5EF4-FFF2-40B4-BE49-F238E27FC236}">
                <a16:creationId xmlns:a16="http://schemas.microsoft.com/office/drawing/2014/main" xmlns="" id="{224F82AE-E87C-6284-9A9B-094B299D2CA7}"/>
              </a:ext>
            </a:extLst>
          </p:cNvPr>
          <p:cNvSpPr>
            <a:spLocks noChangeArrowheads="1"/>
          </p:cNvSpPr>
          <p:nvPr/>
        </p:nvSpPr>
        <p:spPr bwMode="auto">
          <a:xfrm>
            <a:off x="6394450" y="3384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9" name="Oval 15">
            <a:extLst>
              <a:ext uri="{FF2B5EF4-FFF2-40B4-BE49-F238E27FC236}">
                <a16:creationId xmlns:a16="http://schemas.microsoft.com/office/drawing/2014/main" xmlns="" id="{4DA6470F-2445-BF13-4B67-293B5718DEDE}"/>
              </a:ext>
            </a:extLst>
          </p:cNvPr>
          <p:cNvSpPr>
            <a:spLocks noChangeArrowheads="1"/>
          </p:cNvSpPr>
          <p:nvPr/>
        </p:nvSpPr>
        <p:spPr bwMode="auto">
          <a:xfrm>
            <a:off x="5403850" y="3384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0" name="Oval 16">
            <a:extLst>
              <a:ext uri="{FF2B5EF4-FFF2-40B4-BE49-F238E27FC236}">
                <a16:creationId xmlns:a16="http://schemas.microsoft.com/office/drawing/2014/main" xmlns="" id="{4CFB48EE-773D-D280-3A24-34E232604E0A}"/>
              </a:ext>
            </a:extLst>
          </p:cNvPr>
          <p:cNvSpPr>
            <a:spLocks noChangeArrowheads="1"/>
          </p:cNvSpPr>
          <p:nvPr/>
        </p:nvSpPr>
        <p:spPr bwMode="auto">
          <a:xfrm>
            <a:off x="24320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1" name="Oval 17">
            <a:extLst>
              <a:ext uri="{FF2B5EF4-FFF2-40B4-BE49-F238E27FC236}">
                <a16:creationId xmlns:a16="http://schemas.microsoft.com/office/drawing/2014/main" xmlns="" id="{4510C88D-49C2-5F5C-CF0C-4E6BDC9EA0A5}"/>
              </a:ext>
            </a:extLst>
          </p:cNvPr>
          <p:cNvSpPr>
            <a:spLocks noChangeArrowheads="1"/>
          </p:cNvSpPr>
          <p:nvPr/>
        </p:nvSpPr>
        <p:spPr bwMode="auto">
          <a:xfrm>
            <a:off x="18224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2" name="Oval 18">
            <a:extLst>
              <a:ext uri="{FF2B5EF4-FFF2-40B4-BE49-F238E27FC236}">
                <a16:creationId xmlns:a16="http://schemas.microsoft.com/office/drawing/2014/main" xmlns="" id="{3769666F-6A51-1313-B484-69D992CA209B}"/>
              </a:ext>
            </a:extLst>
          </p:cNvPr>
          <p:cNvSpPr>
            <a:spLocks noChangeArrowheads="1"/>
          </p:cNvSpPr>
          <p:nvPr/>
        </p:nvSpPr>
        <p:spPr bwMode="auto">
          <a:xfrm>
            <a:off x="31178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3" name="Oval 19">
            <a:extLst>
              <a:ext uri="{FF2B5EF4-FFF2-40B4-BE49-F238E27FC236}">
                <a16:creationId xmlns:a16="http://schemas.microsoft.com/office/drawing/2014/main" xmlns="" id="{833AF41B-D983-1B6D-2AFA-12CE601FE94F}"/>
              </a:ext>
            </a:extLst>
          </p:cNvPr>
          <p:cNvSpPr>
            <a:spLocks noChangeArrowheads="1"/>
          </p:cNvSpPr>
          <p:nvPr/>
        </p:nvSpPr>
        <p:spPr bwMode="auto">
          <a:xfrm>
            <a:off x="37274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4" name="Oval 20">
            <a:extLst>
              <a:ext uri="{FF2B5EF4-FFF2-40B4-BE49-F238E27FC236}">
                <a16:creationId xmlns:a16="http://schemas.microsoft.com/office/drawing/2014/main" xmlns="" id="{124BE688-5058-55E1-8590-825419D3EFAE}"/>
              </a:ext>
            </a:extLst>
          </p:cNvPr>
          <p:cNvSpPr>
            <a:spLocks noChangeArrowheads="1"/>
          </p:cNvSpPr>
          <p:nvPr/>
        </p:nvSpPr>
        <p:spPr bwMode="auto">
          <a:xfrm>
            <a:off x="49466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5" name="Oval 21">
            <a:extLst>
              <a:ext uri="{FF2B5EF4-FFF2-40B4-BE49-F238E27FC236}">
                <a16:creationId xmlns:a16="http://schemas.microsoft.com/office/drawing/2014/main" xmlns="" id="{3DA1CC15-FE10-7D4B-02A4-52EFFDF6EFF9}"/>
              </a:ext>
            </a:extLst>
          </p:cNvPr>
          <p:cNvSpPr>
            <a:spLocks noChangeArrowheads="1"/>
          </p:cNvSpPr>
          <p:nvPr/>
        </p:nvSpPr>
        <p:spPr bwMode="auto">
          <a:xfrm>
            <a:off x="43370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6" name="Oval 22">
            <a:extLst>
              <a:ext uri="{FF2B5EF4-FFF2-40B4-BE49-F238E27FC236}">
                <a16:creationId xmlns:a16="http://schemas.microsoft.com/office/drawing/2014/main" xmlns="" id="{3FD5556E-C13F-4870-3961-B5829FF33D7F}"/>
              </a:ext>
            </a:extLst>
          </p:cNvPr>
          <p:cNvSpPr>
            <a:spLocks noChangeArrowheads="1"/>
          </p:cNvSpPr>
          <p:nvPr/>
        </p:nvSpPr>
        <p:spPr bwMode="auto">
          <a:xfrm>
            <a:off x="55562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7" name="Oval 23">
            <a:extLst>
              <a:ext uri="{FF2B5EF4-FFF2-40B4-BE49-F238E27FC236}">
                <a16:creationId xmlns:a16="http://schemas.microsoft.com/office/drawing/2014/main" xmlns="" id="{6B9B394B-9CE5-5E97-7359-F993E91CE4C5}"/>
              </a:ext>
            </a:extLst>
          </p:cNvPr>
          <p:cNvSpPr>
            <a:spLocks noChangeArrowheads="1"/>
          </p:cNvSpPr>
          <p:nvPr/>
        </p:nvSpPr>
        <p:spPr bwMode="auto">
          <a:xfrm>
            <a:off x="61658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8" name="Oval 24">
            <a:extLst>
              <a:ext uri="{FF2B5EF4-FFF2-40B4-BE49-F238E27FC236}">
                <a16:creationId xmlns:a16="http://schemas.microsoft.com/office/drawing/2014/main" xmlns="" id="{64B812EC-DD5F-9456-187B-11E9ABCCECC0}"/>
              </a:ext>
            </a:extLst>
          </p:cNvPr>
          <p:cNvSpPr>
            <a:spLocks noChangeArrowheads="1"/>
          </p:cNvSpPr>
          <p:nvPr/>
        </p:nvSpPr>
        <p:spPr bwMode="auto">
          <a:xfrm>
            <a:off x="67754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9" name="Oval 25">
            <a:extLst>
              <a:ext uri="{FF2B5EF4-FFF2-40B4-BE49-F238E27FC236}">
                <a16:creationId xmlns:a16="http://schemas.microsoft.com/office/drawing/2014/main" xmlns="" id="{37C06F25-A829-8942-3FFA-2CC3E5415E24}"/>
              </a:ext>
            </a:extLst>
          </p:cNvPr>
          <p:cNvSpPr>
            <a:spLocks noChangeArrowheads="1"/>
          </p:cNvSpPr>
          <p:nvPr/>
        </p:nvSpPr>
        <p:spPr bwMode="auto">
          <a:xfrm>
            <a:off x="2432050" y="54419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30" name="Oval 26">
            <a:extLst>
              <a:ext uri="{FF2B5EF4-FFF2-40B4-BE49-F238E27FC236}">
                <a16:creationId xmlns:a16="http://schemas.microsoft.com/office/drawing/2014/main" xmlns="" id="{1D7711DC-0087-3973-86AD-A4DD9D686FB0}"/>
              </a:ext>
            </a:extLst>
          </p:cNvPr>
          <p:cNvSpPr>
            <a:spLocks noChangeArrowheads="1"/>
          </p:cNvSpPr>
          <p:nvPr/>
        </p:nvSpPr>
        <p:spPr bwMode="auto">
          <a:xfrm>
            <a:off x="3117850" y="54419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31" name="Oval 27">
            <a:extLst>
              <a:ext uri="{FF2B5EF4-FFF2-40B4-BE49-F238E27FC236}">
                <a16:creationId xmlns:a16="http://schemas.microsoft.com/office/drawing/2014/main" xmlns="" id="{A491E4CF-FA0A-7C81-178B-AF71AAB8C330}"/>
              </a:ext>
            </a:extLst>
          </p:cNvPr>
          <p:cNvSpPr>
            <a:spLocks noChangeArrowheads="1"/>
          </p:cNvSpPr>
          <p:nvPr/>
        </p:nvSpPr>
        <p:spPr bwMode="auto">
          <a:xfrm>
            <a:off x="3727450" y="54419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32" name="Oval 28">
            <a:extLst>
              <a:ext uri="{FF2B5EF4-FFF2-40B4-BE49-F238E27FC236}">
                <a16:creationId xmlns:a16="http://schemas.microsoft.com/office/drawing/2014/main" xmlns="" id="{328C7FB6-0CD7-2EF2-B8DC-3C05E00867B3}"/>
              </a:ext>
            </a:extLst>
          </p:cNvPr>
          <p:cNvSpPr>
            <a:spLocks noChangeArrowheads="1"/>
          </p:cNvSpPr>
          <p:nvPr/>
        </p:nvSpPr>
        <p:spPr bwMode="auto">
          <a:xfrm>
            <a:off x="4946650" y="54419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33" name="Line 29">
            <a:extLst>
              <a:ext uri="{FF2B5EF4-FFF2-40B4-BE49-F238E27FC236}">
                <a16:creationId xmlns:a16="http://schemas.microsoft.com/office/drawing/2014/main" xmlns="" id="{2FA160E1-5AD3-A602-2F55-3A1EE9B666F9}"/>
              </a:ext>
            </a:extLst>
          </p:cNvPr>
          <p:cNvSpPr>
            <a:spLocks noChangeShapeType="1"/>
          </p:cNvSpPr>
          <p:nvPr/>
        </p:nvSpPr>
        <p:spPr bwMode="auto">
          <a:xfrm flipH="1">
            <a:off x="3189288" y="1322388"/>
            <a:ext cx="1141412" cy="379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4" name="Line 30">
            <a:extLst>
              <a:ext uri="{FF2B5EF4-FFF2-40B4-BE49-F238E27FC236}">
                <a16:creationId xmlns:a16="http://schemas.microsoft.com/office/drawing/2014/main" xmlns="" id="{1E5F6A40-06C5-3D04-955C-4DCDB0E4BEBF}"/>
              </a:ext>
            </a:extLst>
          </p:cNvPr>
          <p:cNvSpPr>
            <a:spLocks noChangeShapeType="1"/>
          </p:cNvSpPr>
          <p:nvPr/>
        </p:nvSpPr>
        <p:spPr bwMode="auto">
          <a:xfrm>
            <a:off x="4332288" y="1322388"/>
            <a:ext cx="989012" cy="4556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5" name="Line 31">
            <a:extLst>
              <a:ext uri="{FF2B5EF4-FFF2-40B4-BE49-F238E27FC236}">
                <a16:creationId xmlns:a16="http://schemas.microsoft.com/office/drawing/2014/main" xmlns="" id="{E7BD1F13-761F-64B4-C8E2-3F312DB162F4}"/>
              </a:ext>
            </a:extLst>
          </p:cNvPr>
          <p:cNvSpPr>
            <a:spLocks noChangeShapeType="1"/>
          </p:cNvSpPr>
          <p:nvPr/>
        </p:nvSpPr>
        <p:spPr bwMode="auto">
          <a:xfrm flipH="1">
            <a:off x="2351088" y="2008188"/>
            <a:ext cx="608012"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6" name="Line 32">
            <a:extLst>
              <a:ext uri="{FF2B5EF4-FFF2-40B4-BE49-F238E27FC236}">
                <a16:creationId xmlns:a16="http://schemas.microsoft.com/office/drawing/2014/main" xmlns="" id="{8A1FD0BF-12DF-4F4F-AA57-1430DCF8E1B6}"/>
              </a:ext>
            </a:extLst>
          </p:cNvPr>
          <p:cNvSpPr>
            <a:spLocks noChangeShapeType="1"/>
          </p:cNvSpPr>
          <p:nvPr/>
        </p:nvSpPr>
        <p:spPr bwMode="auto">
          <a:xfrm>
            <a:off x="2960688" y="2008188"/>
            <a:ext cx="379412" cy="4556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7" name="Line 33">
            <a:extLst>
              <a:ext uri="{FF2B5EF4-FFF2-40B4-BE49-F238E27FC236}">
                <a16:creationId xmlns:a16="http://schemas.microsoft.com/office/drawing/2014/main" xmlns="" id="{A680D27F-3EE8-3125-1749-8C14FCD31042}"/>
              </a:ext>
            </a:extLst>
          </p:cNvPr>
          <p:cNvSpPr>
            <a:spLocks noChangeShapeType="1"/>
          </p:cNvSpPr>
          <p:nvPr/>
        </p:nvSpPr>
        <p:spPr bwMode="auto">
          <a:xfrm flipH="1">
            <a:off x="4865688" y="2008188"/>
            <a:ext cx="608012"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8" name="Line 34">
            <a:extLst>
              <a:ext uri="{FF2B5EF4-FFF2-40B4-BE49-F238E27FC236}">
                <a16:creationId xmlns:a16="http://schemas.microsoft.com/office/drawing/2014/main" xmlns="" id="{55911BC2-6FB1-C09E-B480-6B789434A227}"/>
              </a:ext>
            </a:extLst>
          </p:cNvPr>
          <p:cNvSpPr>
            <a:spLocks noChangeShapeType="1"/>
          </p:cNvSpPr>
          <p:nvPr/>
        </p:nvSpPr>
        <p:spPr bwMode="auto">
          <a:xfrm>
            <a:off x="5475288" y="2008188"/>
            <a:ext cx="760412" cy="4556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9" name="Line 35">
            <a:extLst>
              <a:ext uri="{FF2B5EF4-FFF2-40B4-BE49-F238E27FC236}">
                <a16:creationId xmlns:a16="http://schemas.microsoft.com/office/drawing/2014/main" xmlns="" id="{1BEEAE7A-E0AA-5F54-51EB-A278A39A38FA}"/>
              </a:ext>
            </a:extLst>
          </p:cNvPr>
          <p:cNvSpPr>
            <a:spLocks noChangeShapeType="1"/>
          </p:cNvSpPr>
          <p:nvPr/>
        </p:nvSpPr>
        <p:spPr bwMode="auto">
          <a:xfrm flipV="1">
            <a:off x="2122488" y="2846388"/>
            <a:ext cx="150812"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0" name="Line 36">
            <a:extLst>
              <a:ext uri="{FF2B5EF4-FFF2-40B4-BE49-F238E27FC236}">
                <a16:creationId xmlns:a16="http://schemas.microsoft.com/office/drawing/2014/main" xmlns="" id="{438D56CE-72BB-F628-3434-09C63EA08E69}"/>
              </a:ext>
            </a:extLst>
          </p:cNvPr>
          <p:cNvSpPr>
            <a:spLocks noChangeShapeType="1"/>
          </p:cNvSpPr>
          <p:nvPr/>
        </p:nvSpPr>
        <p:spPr bwMode="auto">
          <a:xfrm>
            <a:off x="2274888" y="2846388"/>
            <a:ext cx="379412"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1" name="Line 37">
            <a:extLst>
              <a:ext uri="{FF2B5EF4-FFF2-40B4-BE49-F238E27FC236}">
                <a16:creationId xmlns:a16="http://schemas.microsoft.com/office/drawing/2014/main" xmlns="" id="{88856180-A1F0-D180-F49B-0EF218948849}"/>
              </a:ext>
            </a:extLst>
          </p:cNvPr>
          <p:cNvSpPr>
            <a:spLocks noChangeShapeType="1"/>
          </p:cNvSpPr>
          <p:nvPr/>
        </p:nvSpPr>
        <p:spPr bwMode="auto">
          <a:xfrm>
            <a:off x="3494088" y="2846388"/>
            <a:ext cx="303212"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2" name="Line 38">
            <a:extLst>
              <a:ext uri="{FF2B5EF4-FFF2-40B4-BE49-F238E27FC236}">
                <a16:creationId xmlns:a16="http://schemas.microsoft.com/office/drawing/2014/main" xmlns="" id="{F376F145-2BCF-BD74-E6E9-59E380CDE3A8}"/>
              </a:ext>
            </a:extLst>
          </p:cNvPr>
          <p:cNvSpPr>
            <a:spLocks noChangeShapeType="1"/>
          </p:cNvSpPr>
          <p:nvPr/>
        </p:nvSpPr>
        <p:spPr bwMode="auto">
          <a:xfrm>
            <a:off x="4711700" y="2846388"/>
            <a:ext cx="0"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3" name="Line 39">
            <a:extLst>
              <a:ext uri="{FF2B5EF4-FFF2-40B4-BE49-F238E27FC236}">
                <a16:creationId xmlns:a16="http://schemas.microsoft.com/office/drawing/2014/main" xmlns="" id="{F21EEEC7-158E-4FC7-DB5C-EBCDD8F54612}"/>
              </a:ext>
            </a:extLst>
          </p:cNvPr>
          <p:cNvSpPr>
            <a:spLocks noChangeShapeType="1"/>
          </p:cNvSpPr>
          <p:nvPr/>
        </p:nvSpPr>
        <p:spPr bwMode="auto">
          <a:xfrm flipV="1">
            <a:off x="5703888" y="2846388"/>
            <a:ext cx="608012" cy="6080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4" name="Line 40">
            <a:extLst>
              <a:ext uri="{FF2B5EF4-FFF2-40B4-BE49-F238E27FC236}">
                <a16:creationId xmlns:a16="http://schemas.microsoft.com/office/drawing/2014/main" xmlns="" id="{2E57A603-8936-4B89-667B-D82BF99595B1}"/>
              </a:ext>
            </a:extLst>
          </p:cNvPr>
          <p:cNvSpPr>
            <a:spLocks noChangeShapeType="1"/>
          </p:cNvSpPr>
          <p:nvPr/>
        </p:nvSpPr>
        <p:spPr bwMode="auto">
          <a:xfrm>
            <a:off x="6313488" y="2846388"/>
            <a:ext cx="227012"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5" name="Line 41">
            <a:extLst>
              <a:ext uri="{FF2B5EF4-FFF2-40B4-BE49-F238E27FC236}">
                <a16:creationId xmlns:a16="http://schemas.microsoft.com/office/drawing/2014/main" xmlns="" id="{40D15E74-E1EF-05CA-0F7D-BC173D507709}"/>
              </a:ext>
            </a:extLst>
          </p:cNvPr>
          <p:cNvSpPr>
            <a:spLocks noChangeShapeType="1"/>
          </p:cNvSpPr>
          <p:nvPr/>
        </p:nvSpPr>
        <p:spPr bwMode="auto">
          <a:xfrm flipV="1">
            <a:off x="2122488" y="3760788"/>
            <a:ext cx="6080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6" name="Line 42">
            <a:extLst>
              <a:ext uri="{FF2B5EF4-FFF2-40B4-BE49-F238E27FC236}">
                <a16:creationId xmlns:a16="http://schemas.microsoft.com/office/drawing/2014/main" xmlns="" id="{F924C095-75FE-E120-3438-9517576773A3}"/>
              </a:ext>
            </a:extLst>
          </p:cNvPr>
          <p:cNvSpPr>
            <a:spLocks noChangeShapeType="1"/>
          </p:cNvSpPr>
          <p:nvPr/>
        </p:nvSpPr>
        <p:spPr bwMode="auto">
          <a:xfrm flipH="1">
            <a:off x="2655888" y="3760788"/>
            <a:ext cx="746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7" name="Line 43">
            <a:extLst>
              <a:ext uri="{FF2B5EF4-FFF2-40B4-BE49-F238E27FC236}">
                <a16:creationId xmlns:a16="http://schemas.microsoft.com/office/drawing/2014/main" xmlns="" id="{4C1BE390-B4E0-5E98-FE5A-05B5365DB9B3}"/>
              </a:ext>
            </a:extLst>
          </p:cNvPr>
          <p:cNvSpPr>
            <a:spLocks noChangeShapeType="1"/>
          </p:cNvSpPr>
          <p:nvPr/>
        </p:nvSpPr>
        <p:spPr bwMode="auto">
          <a:xfrm flipV="1">
            <a:off x="3341688" y="3760788"/>
            <a:ext cx="4556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8" name="Line 44">
            <a:extLst>
              <a:ext uri="{FF2B5EF4-FFF2-40B4-BE49-F238E27FC236}">
                <a16:creationId xmlns:a16="http://schemas.microsoft.com/office/drawing/2014/main" xmlns="" id="{B28E73C1-18EF-A39D-F04A-F053F5369BA2}"/>
              </a:ext>
            </a:extLst>
          </p:cNvPr>
          <p:cNvSpPr>
            <a:spLocks noChangeShapeType="1"/>
          </p:cNvSpPr>
          <p:nvPr/>
        </p:nvSpPr>
        <p:spPr bwMode="auto">
          <a:xfrm>
            <a:off x="3798888" y="3760788"/>
            <a:ext cx="746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9" name="Line 45">
            <a:extLst>
              <a:ext uri="{FF2B5EF4-FFF2-40B4-BE49-F238E27FC236}">
                <a16:creationId xmlns:a16="http://schemas.microsoft.com/office/drawing/2014/main" xmlns="" id="{811CDFF8-2431-BFEE-DDF5-9EABCA98AA7D}"/>
              </a:ext>
            </a:extLst>
          </p:cNvPr>
          <p:cNvSpPr>
            <a:spLocks noChangeShapeType="1"/>
          </p:cNvSpPr>
          <p:nvPr/>
        </p:nvSpPr>
        <p:spPr bwMode="auto">
          <a:xfrm flipV="1">
            <a:off x="4560888" y="3760788"/>
            <a:ext cx="2270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0" name="Line 46">
            <a:extLst>
              <a:ext uri="{FF2B5EF4-FFF2-40B4-BE49-F238E27FC236}">
                <a16:creationId xmlns:a16="http://schemas.microsoft.com/office/drawing/2014/main" xmlns="" id="{48401BB7-FC9A-4643-F3C5-026FFCFE5C90}"/>
              </a:ext>
            </a:extLst>
          </p:cNvPr>
          <p:cNvSpPr>
            <a:spLocks noChangeShapeType="1"/>
          </p:cNvSpPr>
          <p:nvPr/>
        </p:nvSpPr>
        <p:spPr bwMode="auto">
          <a:xfrm>
            <a:off x="4789488" y="3760788"/>
            <a:ext cx="3032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1" name="Line 47">
            <a:extLst>
              <a:ext uri="{FF2B5EF4-FFF2-40B4-BE49-F238E27FC236}">
                <a16:creationId xmlns:a16="http://schemas.microsoft.com/office/drawing/2014/main" xmlns="" id="{56156734-EAEE-B9D1-BE3E-429C5EBA29BB}"/>
              </a:ext>
            </a:extLst>
          </p:cNvPr>
          <p:cNvSpPr>
            <a:spLocks noChangeShapeType="1"/>
          </p:cNvSpPr>
          <p:nvPr/>
        </p:nvSpPr>
        <p:spPr bwMode="auto">
          <a:xfrm flipH="1" flipV="1">
            <a:off x="5627688" y="3760788"/>
            <a:ext cx="746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2" name="Line 48">
            <a:extLst>
              <a:ext uri="{FF2B5EF4-FFF2-40B4-BE49-F238E27FC236}">
                <a16:creationId xmlns:a16="http://schemas.microsoft.com/office/drawing/2014/main" xmlns="" id="{F83C7E69-D19D-C522-804B-6C8935948086}"/>
              </a:ext>
            </a:extLst>
          </p:cNvPr>
          <p:cNvSpPr>
            <a:spLocks noChangeShapeType="1"/>
          </p:cNvSpPr>
          <p:nvPr/>
        </p:nvSpPr>
        <p:spPr bwMode="auto">
          <a:xfrm>
            <a:off x="5627688" y="3760788"/>
            <a:ext cx="6842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3" name="Line 49">
            <a:extLst>
              <a:ext uri="{FF2B5EF4-FFF2-40B4-BE49-F238E27FC236}">
                <a16:creationId xmlns:a16="http://schemas.microsoft.com/office/drawing/2014/main" xmlns="" id="{ED86F1EE-1DF8-863F-DF71-988A4797A355}"/>
              </a:ext>
            </a:extLst>
          </p:cNvPr>
          <p:cNvSpPr>
            <a:spLocks noChangeShapeType="1"/>
          </p:cNvSpPr>
          <p:nvPr/>
        </p:nvSpPr>
        <p:spPr bwMode="auto">
          <a:xfrm flipH="1" flipV="1">
            <a:off x="6618288" y="3760788"/>
            <a:ext cx="3032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4" name="Line 50">
            <a:extLst>
              <a:ext uri="{FF2B5EF4-FFF2-40B4-BE49-F238E27FC236}">
                <a16:creationId xmlns:a16="http://schemas.microsoft.com/office/drawing/2014/main" xmlns="" id="{3155AA5D-DA48-FEE8-5B96-44FD21387855}"/>
              </a:ext>
            </a:extLst>
          </p:cNvPr>
          <p:cNvSpPr>
            <a:spLocks noChangeShapeType="1"/>
          </p:cNvSpPr>
          <p:nvPr/>
        </p:nvSpPr>
        <p:spPr bwMode="auto">
          <a:xfrm flipV="1">
            <a:off x="2654300" y="4903788"/>
            <a:ext cx="0"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5" name="Line 51">
            <a:extLst>
              <a:ext uri="{FF2B5EF4-FFF2-40B4-BE49-F238E27FC236}">
                <a16:creationId xmlns:a16="http://schemas.microsoft.com/office/drawing/2014/main" xmlns="" id="{5889CB94-86E1-17FF-D642-AEFD2B4164ED}"/>
              </a:ext>
            </a:extLst>
          </p:cNvPr>
          <p:cNvSpPr>
            <a:spLocks noChangeShapeType="1"/>
          </p:cNvSpPr>
          <p:nvPr/>
        </p:nvSpPr>
        <p:spPr bwMode="auto">
          <a:xfrm flipV="1">
            <a:off x="3263900" y="4903788"/>
            <a:ext cx="0"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6" name="Line 52">
            <a:extLst>
              <a:ext uri="{FF2B5EF4-FFF2-40B4-BE49-F238E27FC236}">
                <a16:creationId xmlns:a16="http://schemas.microsoft.com/office/drawing/2014/main" xmlns="" id="{42EBB103-59CE-DF5D-AF06-2814B8F42ECC}"/>
              </a:ext>
            </a:extLst>
          </p:cNvPr>
          <p:cNvSpPr>
            <a:spLocks noChangeShapeType="1"/>
          </p:cNvSpPr>
          <p:nvPr/>
        </p:nvSpPr>
        <p:spPr bwMode="auto">
          <a:xfrm flipV="1">
            <a:off x="3949700" y="4903788"/>
            <a:ext cx="0"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7" name="Line 53">
            <a:extLst>
              <a:ext uri="{FF2B5EF4-FFF2-40B4-BE49-F238E27FC236}">
                <a16:creationId xmlns:a16="http://schemas.microsoft.com/office/drawing/2014/main" xmlns="" id="{23444BC0-4DE5-D167-E73C-3F5E50F8813A}"/>
              </a:ext>
            </a:extLst>
          </p:cNvPr>
          <p:cNvSpPr>
            <a:spLocks noChangeShapeType="1"/>
          </p:cNvSpPr>
          <p:nvPr/>
        </p:nvSpPr>
        <p:spPr bwMode="auto">
          <a:xfrm flipV="1">
            <a:off x="5092700" y="4903788"/>
            <a:ext cx="0"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8" name="Line 54">
            <a:extLst>
              <a:ext uri="{FF2B5EF4-FFF2-40B4-BE49-F238E27FC236}">
                <a16:creationId xmlns:a16="http://schemas.microsoft.com/office/drawing/2014/main" xmlns="" id="{4B79C82B-7AE7-D7DC-A673-2E1FAA1CE8DD}"/>
              </a:ext>
            </a:extLst>
          </p:cNvPr>
          <p:cNvSpPr>
            <a:spLocks noChangeShapeType="1"/>
          </p:cNvSpPr>
          <p:nvPr/>
        </p:nvSpPr>
        <p:spPr bwMode="auto">
          <a:xfrm flipH="1" flipV="1">
            <a:off x="5092700" y="5818188"/>
            <a:ext cx="12700" cy="277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9" name="Rectangle 55">
            <a:extLst>
              <a:ext uri="{FF2B5EF4-FFF2-40B4-BE49-F238E27FC236}">
                <a16:creationId xmlns:a16="http://schemas.microsoft.com/office/drawing/2014/main" xmlns="" id="{7F870574-A716-63A3-84C3-2E9FB75C1564}"/>
              </a:ext>
            </a:extLst>
          </p:cNvPr>
          <p:cNvSpPr>
            <a:spLocks noChangeArrowheads="1"/>
          </p:cNvSpPr>
          <p:nvPr/>
        </p:nvSpPr>
        <p:spPr bwMode="auto">
          <a:xfrm>
            <a:off x="4191000" y="990600"/>
            <a:ext cx="2968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dirty="0">
                <a:solidFill>
                  <a:srgbClr val="1D0401"/>
                </a:solidFill>
                <a:latin typeface="Times New Roman" panose="02020603050405020304" pitchFamily="18" charset="0"/>
                <a:ea typeface="PMingLiU" panose="02020500000000000000" pitchFamily="18" charset="-120"/>
              </a:rPr>
              <a:t>S</a:t>
            </a:r>
          </a:p>
        </p:txBody>
      </p:sp>
      <p:sp>
        <p:nvSpPr>
          <p:cNvPr id="60" name="Rectangle 56">
            <a:extLst>
              <a:ext uri="{FF2B5EF4-FFF2-40B4-BE49-F238E27FC236}">
                <a16:creationId xmlns:a16="http://schemas.microsoft.com/office/drawing/2014/main" xmlns="" id="{C21AC545-A765-42B0-9DFF-224558B8772A}"/>
              </a:ext>
            </a:extLst>
          </p:cNvPr>
          <p:cNvSpPr>
            <a:spLocks noChangeArrowheads="1"/>
          </p:cNvSpPr>
          <p:nvPr/>
        </p:nvSpPr>
        <p:spPr bwMode="auto">
          <a:xfrm>
            <a:off x="2819400" y="16764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A</a:t>
            </a:r>
          </a:p>
        </p:txBody>
      </p:sp>
      <p:sp>
        <p:nvSpPr>
          <p:cNvPr id="61" name="Rectangle 57">
            <a:extLst>
              <a:ext uri="{FF2B5EF4-FFF2-40B4-BE49-F238E27FC236}">
                <a16:creationId xmlns:a16="http://schemas.microsoft.com/office/drawing/2014/main" xmlns="" id="{70EE01C7-4C39-C382-5B1B-79C9FC244DC3}"/>
              </a:ext>
            </a:extLst>
          </p:cNvPr>
          <p:cNvSpPr>
            <a:spLocks noChangeArrowheads="1"/>
          </p:cNvSpPr>
          <p:nvPr/>
        </p:nvSpPr>
        <p:spPr bwMode="auto">
          <a:xfrm>
            <a:off x="5334000" y="16764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D</a:t>
            </a:r>
          </a:p>
        </p:txBody>
      </p:sp>
      <p:sp>
        <p:nvSpPr>
          <p:cNvPr id="62" name="Rectangle 58">
            <a:extLst>
              <a:ext uri="{FF2B5EF4-FFF2-40B4-BE49-F238E27FC236}">
                <a16:creationId xmlns:a16="http://schemas.microsoft.com/office/drawing/2014/main" xmlns="" id="{361668CB-6B03-CDD2-93C0-67E9845F7257}"/>
              </a:ext>
            </a:extLst>
          </p:cNvPr>
          <p:cNvSpPr>
            <a:spLocks noChangeArrowheads="1"/>
          </p:cNvSpPr>
          <p:nvPr/>
        </p:nvSpPr>
        <p:spPr bwMode="auto">
          <a:xfrm>
            <a:off x="2057400" y="25146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B</a:t>
            </a:r>
          </a:p>
        </p:txBody>
      </p:sp>
      <p:sp>
        <p:nvSpPr>
          <p:cNvPr id="63" name="Rectangle 59">
            <a:extLst>
              <a:ext uri="{FF2B5EF4-FFF2-40B4-BE49-F238E27FC236}">
                <a16:creationId xmlns:a16="http://schemas.microsoft.com/office/drawing/2014/main" xmlns="" id="{E945AD91-5167-ABB8-A933-A0B14D5ACFF5}"/>
              </a:ext>
            </a:extLst>
          </p:cNvPr>
          <p:cNvSpPr>
            <a:spLocks noChangeArrowheads="1"/>
          </p:cNvSpPr>
          <p:nvPr/>
        </p:nvSpPr>
        <p:spPr bwMode="auto">
          <a:xfrm>
            <a:off x="3276600" y="25146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D</a:t>
            </a:r>
          </a:p>
        </p:txBody>
      </p:sp>
      <p:sp>
        <p:nvSpPr>
          <p:cNvPr id="64" name="Rectangle 60">
            <a:extLst>
              <a:ext uri="{FF2B5EF4-FFF2-40B4-BE49-F238E27FC236}">
                <a16:creationId xmlns:a16="http://schemas.microsoft.com/office/drawing/2014/main" xmlns="" id="{55B92F38-0DBB-3258-B9E8-0487CDF36065}"/>
              </a:ext>
            </a:extLst>
          </p:cNvPr>
          <p:cNvSpPr>
            <a:spLocks noChangeArrowheads="1"/>
          </p:cNvSpPr>
          <p:nvPr/>
        </p:nvSpPr>
        <p:spPr bwMode="auto">
          <a:xfrm>
            <a:off x="4495800" y="25146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A</a:t>
            </a:r>
          </a:p>
        </p:txBody>
      </p:sp>
      <p:sp>
        <p:nvSpPr>
          <p:cNvPr id="65" name="Rectangle 61">
            <a:extLst>
              <a:ext uri="{FF2B5EF4-FFF2-40B4-BE49-F238E27FC236}">
                <a16:creationId xmlns:a16="http://schemas.microsoft.com/office/drawing/2014/main" xmlns="" id="{EA15BC4E-8785-6A90-DBB8-2EE8E74BC9A1}"/>
              </a:ext>
            </a:extLst>
          </p:cNvPr>
          <p:cNvSpPr>
            <a:spLocks noChangeArrowheads="1"/>
          </p:cNvSpPr>
          <p:nvPr/>
        </p:nvSpPr>
        <p:spPr bwMode="auto">
          <a:xfrm>
            <a:off x="6172200" y="25146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E</a:t>
            </a:r>
          </a:p>
        </p:txBody>
      </p:sp>
      <p:sp>
        <p:nvSpPr>
          <p:cNvPr id="66" name="Rectangle 62">
            <a:extLst>
              <a:ext uri="{FF2B5EF4-FFF2-40B4-BE49-F238E27FC236}">
                <a16:creationId xmlns:a16="http://schemas.microsoft.com/office/drawing/2014/main" xmlns="" id="{69605297-8A18-B7E6-8CBC-748F84B3B5BA}"/>
              </a:ext>
            </a:extLst>
          </p:cNvPr>
          <p:cNvSpPr>
            <a:spLocks noChangeArrowheads="1"/>
          </p:cNvSpPr>
          <p:nvPr/>
        </p:nvSpPr>
        <p:spPr bwMode="auto">
          <a:xfrm>
            <a:off x="1828800" y="34290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C</a:t>
            </a:r>
          </a:p>
        </p:txBody>
      </p:sp>
      <p:sp>
        <p:nvSpPr>
          <p:cNvPr id="67" name="Rectangle 63">
            <a:extLst>
              <a:ext uri="{FF2B5EF4-FFF2-40B4-BE49-F238E27FC236}">
                <a16:creationId xmlns:a16="http://schemas.microsoft.com/office/drawing/2014/main" xmlns="" id="{DBEBE453-7F7C-CE84-0E8A-D948E38CDB3F}"/>
              </a:ext>
            </a:extLst>
          </p:cNvPr>
          <p:cNvSpPr>
            <a:spLocks noChangeArrowheads="1"/>
          </p:cNvSpPr>
          <p:nvPr/>
        </p:nvSpPr>
        <p:spPr bwMode="auto">
          <a:xfrm>
            <a:off x="2590800" y="34290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E</a:t>
            </a:r>
          </a:p>
        </p:txBody>
      </p:sp>
      <p:sp>
        <p:nvSpPr>
          <p:cNvPr id="68" name="Rectangle 64">
            <a:extLst>
              <a:ext uri="{FF2B5EF4-FFF2-40B4-BE49-F238E27FC236}">
                <a16:creationId xmlns:a16="http://schemas.microsoft.com/office/drawing/2014/main" xmlns="" id="{EBB25721-B13D-5C34-7CA0-35DA85345A6E}"/>
              </a:ext>
            </a:extLst>
          </p:cNvPr>
          <p:cNvSpPr>
            <a:spLocks noChangeArrowheads="1"/>
          </p:cNvSpPr>
          <p:nvPr/>
        </p:nvSpPr>
        <p:spPr bwMode="auto">
          <a:xfrm>
            <a:off x="3657600" y="34290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E</a:t>
            </a:r>
          </a:p>
        </p:txBody>
      </p:sp>
      <p:sp>
        <p:nvSpPr>
          <p:cNvPr id="69" name="Rectangle 65">
            <a:extLst>
              <a:ext uri="{FF2B5EF4-FFF2-40B4-BE49-F238E27FC236}">
                <a16:creationId xmlns:a16="http://schemas.microsoft.com/office/drawing/2014/main" xmlns="" id="{28466C01-C838-D378-D9F6-E5B2FE128134}"/>
              </a:ext>
            </a:extLst>
          </p:cNvPr>
          <p:cNvSpPr>
            <a:spLocks noChangeArrowheads="1"/>
          </p:cNvSpPr>
          <p:nvPr/>
        </p:nvSpPr>
        <p:spPr bwMode="auto">
          <a:xfrm>
            <a:off x="4572000" y="34290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B</a:t>
            </a:r>
          </a:p>
        </p:txBody>
      </p:sp>
      <p:sp>
        <p:nvSpPr>
          <p:cNvPr id="70" name="Rectangle 66">
            <a:extLst>
              <a:ext uri="{FF2B5EF4-FFF2-40B4-BE49-F238E27FC236}">
                <a16:creationId xmlns:a16="http://schemas.microsoft.com/office/drawing/2014/main" xmlns="" id="{B666345F-7446-D8AA-BE40-86A8E2165480}"/>
              </a:ext>
            </a:extLst>
          </p:cNvPr>
          <p:cNvSpPr>
            <a:spLocks noChangeArrowheads="1"/>
          </p:cNvSpPr>
          <p:nvPr/>
        </p:nvSpPr>
        <p:spPr bwMode="auto">
          <a:xfrm>
            <a:off x="5410200" y="34290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B</a:t>
            </a:r>
          </a:p>
        </p:txBody>
      </p:sp>
      <p:sp>
        <p:nvSpPr>
          <p:cNvPr id="71" name="Rectangle 67">
            <a:extLst>
              <a:ext uri="{FF2B5EF4-FFF2-40B4-BE49-F238E27FC236}">
                <a16:creationId xmlns:a16="http://schemas.microsoft.com/office/drawing/2014/main" xmlns="" id="{EB8BC286-F8F1-8CFE-C94F-3F2E1CDAB24E}"/>
              </a:ext>
            </a:extLst>
          </p:cNvPr>
          <p:cNvSpPr>
            <a:spLocks noChangeArrowheads="1"/>
          </p:cNvSpPr>
          <p:nvPr/>
        </p:nvSpPr>
        <p:spPr bwMode="auto">
          <a:xfrm>
            <a:off x="6400800" y="3429000"/>
            <a:ext cx="3127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F</a:t>
            </a:r>
          </a:p>
        </p:txBody>
      </p:sp>
      <p:sp>
        <p:nvSpPr>
          <p:cNvPr id="72" name="Rectangle 68">
            <a:extLst>
              <a:ext uri="{FF2B5EF4-FFF2-40B4-BE49-F238E27FC236}">
                <a16:creationId xmlns:a16="http://schemas.microsoft.com/office/drawing/2014/main" xmlns="" id="{D11921C0-FFCF-862E-4A4C-A0803FD7012B}"/>
              </a:ext>
            </a:extLst>
          </p:cNvPr>
          <p:cNvSpPr>
            <a:spLocks noChangeArrowheads="1"/>
          </p:cNvSpPr>
          <p:nvPr/>
        </p:nvSpPr>
        <p:spPr bwMode="auto">
          <a:xfrm>
            <a:off x="1828800" y="45720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D</a:t>
            </a:r>
          </a:p>
        </p:txBody>
      </p:sp>
      <p:sp>
        <p:nvSpPr>
          <p:cNvPr id="73" name="Rectangle 69">
            <a:extLst>
              <a:ext uri="{FF2B5EF4-FFF2-40B4-BE49-F238E27FC236}">
                <a16:creationId xmlns:a16="http://schemas.microsoft.com/office/drawing/2014/main" xmlns="" id="{04DFEEBC-4448-633C-DB03-61654052D601}"/>
              </a:ext>
            </a:extLst>
          </p:cNvPr>
          <p:cNvSpPr>
            <a:spLocks noChangeArrowheads="1"/>
          </p:cNvSpPr>
          <p:nvPr/>
        </p:nvSpPr>
        <p:spPr bwMode="auto">
          <a:xfrm>
            <a:off x="2438400" y="4572000"/>
            <a:ext cx="3127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F</a:t>
            </a:r>
          </a:p>
        </p:txBody>
      </p:sp>
      <p:sp>
        <p:nvSpPr>
          <p:cNvPr id="74" name="Rectangle 70">
            <a:extLst>
              <a:ext uri="{FF2B5EF4-FFF2-40B4-BE49-F238E27FC236}">
                <a16:creationId xmlns:a16="http://schemas.microsoft.com/office/drawing/2014/main" xmlns="" id="{B248F18A-B05A-ED6B-98A2-0B48AE04A1A9}"/>
              </a:ext>
            </a:extLst>
          </p:cNvPr>
          <p:cNvSpPr>
            <a:spLocks noChangeArrowheads="1"/>
          </p:cNvSpPr>
          <p:nvPr/>
        </p:nvSpPr>
        <p:spPr bwMode="auto">
          <a:xfrm>
            <a:off x="3124200" y="45720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B</a:t>
            </a:r>
          </a:p>
        </p:txBody>
      </p:sp>
      <p:sp>
        <p:nvSpPr>
          <p:cNvPr id="75" name="Rectangle 71">
            <a:extLst>
              <a:ext uri="{FF2B5EF4-FFF2-40B4-BE49-F238E27FC236}">
                <a16:creationId xmlns:a16="http://schemas.microsoft.com/office/drawing/2014/main" xmlns="" id="{CB39F8BA-6B23-10D8-DAD7-3AD5BBA93DBD}"/>
              </a:ext>
            </a:extLst>
          </p:cNvPr>
          <p:cNvSpPr>
            <a:spLocks noChangeArrowheads="1"/>
          </p:cNvSpPr>
          <p:nvPr/>
        </p:nvSpPr>
        <p:spPr bwMode="auto">
          <a:xfrm>
            <a:off x="3733800" y="4572000"/>
            <a:ext cx="3127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F</a:t>
            </a:r>
          </a:p>
        </p:txBody>
      </p:sp>
      <p:sp>
        <p:nvSpPr>
          <p:cNvPr id="76" name="Rectangle 72">
            <a:extLst>
              <a:ext uri="{FF2B5EF4-FFF2-40B4-BE49-F238E27FC236}">
                <a16:creationId xmlns:a16="http://schemas.microsoft.com/office/drawing/2014/main" xmlns="" id="{42EE402A-1E49-15E6-650A-7B90B08504F8}"/>
              </a:ext>
            </a:extLst>
          </p:cNvPr>
          <p:cNvSpPr>
            <a:spLocks noChangeArrowheads="1"/>
          </p:cNvSpPr>
          <p:nvPr/>
        </p:nvSpPr>
        <p:spPr bwMode="auto">
          <a:xfrm>
            <a:off x="4343400" y="45720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C</a:t>
            </a:r>
          </a:p>
        </p:txBody>
      </p:sp>
      <p:sp>
        <p:nvSpPr>
          <p:cNvPr id="77" name="Rectangle 73">
            <a:extLst>
              <a:ext uri="{FF2B5EF4-FFF2-40B4-BE49-F238E27FC236}">
                <a16:creationId xmlns:a16="http://schemas.microsoft.com/office/drawing/2014/main" xmlns="" id="{D43C07E6-3365-D5B2-02D9-8AB7818DD7F6}"/>
              </a:ext>
            </a:extLst>
          </p:cNvPr>
          <p:cNvSpPr>
            <a:spLocks noChangeArrowheads="1"/>
          </p:cNvSpPr>
          <p:nvPr/>
        </p:nvSpPr>
        <p:spPr bwMode="auto">
          <a:xfrm>
            <a:off x="4953000" y="45720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E</a:t>
            </a:r>
          </a:p>
        </p:txBody>
      </p:sp>
      <p:sp>
        <p:nvSpPr>
          <p:cNvPr id="78" name="Rectangle 74">
            <a:extLst>
              <a:ext uri="{FF2B5EF4-FFF2-40B4-BE49-F238E27FC236}">
                <a16:creationId xmlns:a16="http://schemas.microsoft.com/office/drawing/2014/main" xmlns="" id="{FF76247F-3CD1-2FAE-D481-8DE8DE158A2F}"/>
              </a:ext>
            </a:extLst>
          </p:cNvPr>
          <p:cNvSpPr>
            <a:spLocks noChangeArrowheads="1"/>
          </p:cNvSpPr>
          <p:nvPr/>
        </p:nvSpPr>
        <p:spPr bwMode="auto">
          <a:xfrm>
            <a:off x="5562600" y="45720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A</a:t>
            </a:r>
          </a:p>
        </p:txBody>
      </p:sp>
      <p:sp>
        <p:nvSpPr>
          <p:cNvPr id="79" name="Rectangle 75">
            <a:extLst>
              <a:ext uri="{FF2B5EF4-FFF2-40B4-BE49-F238E27FC236}">
                <a16:creationId xmlns:a16="http://schemas.microsoft.com/office/drawing/2014/main" xmlns="" id="{47E74045-290E-04B7-1898-3D8963FC491E}"/>
              </a:ext>
            </a:extLst>
          </p:cNvPr>
          <p:cNvSpPr>
            <a:spLocks noChangeArrowheads="1"/>
          </p:cNvSpPr>
          <p:nvPr/>
        </p:nvSpPr>
        <p:spPr bwMode="auto">
          <a:xfrm>
            <a:off x="6172200" y="45720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C</a:t>
            </a:r>
          </a:p>
        </p:txBody>
      </p:sp>
      <p:sp>
        <p:nvSpPr>
          <p:cNvPr id="80" name="Rectangle 76">
            <a:extLst>
              <a:ext uri="{FF2B5EF4-FFF2-40B4-BE49-F238E27FC236}">
                <a16:creationId xmlns:a16="http://schemas.microsoft.com/office/drawing/2014/main" xmlns="" id="{163B4D78-4A68-5120-1600-D1545832711F}"/>
              </a:ext>
            </a:extLst>
          </p:cNvPr>
          <p:cNvSpPr>
            <a:spLocks noChangeArrowheads="1"/>
          </p:cNvSpPr>
          <p:nvPr/>
        </p:nvSpPr>
        <p:spPr bwMode="auto">
          <a:xfrm>
            <a:off x="6781800" y="4572000"/>
            <a:ext cx="3635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G</a:t>
            </a:r>
          </a:p>
        </p:txBody>
      </p:sp>
      <p:sp>
        <p:nvSpPr>
          <p:cNvPr id="81" name="Rectangle 77">
            <a:extLst>
              <a:ext uri="{FF2B5EF4-FFF2-40B4-BE49-F238E27FC236}">
                <a16:creationId xmlns:a16="http://schemas.microsoft.com/office/drawing/2014/main" xmlns="" id="{6742B998-54AF-92EE-A4F0-1A4E773C963E}"/>
              </a:ext>
            </a:extLst>
          </p:cNvPr>
          <p:cNvSpPr>
            <a:spLocks noChangeArrowheads="1"/>
          </p:cNvSpPr>
          <p:nvPr/>
        </p:nvSpPr>
        <p:spPr bwMode="auto">
          <a:xfrm>
            <a:off x="2438400" y="5486400"/>
            <a:ext cx="3635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G</a:t>
            </a:r>
          </a:p>
        </p:txBody>
      </p:sp>
      <p:sp>
        <p:nvSpPr>
          <p:cNvPr id="82" name="Rectangle 78">
            <a:extLst>
              <a:ext uri="{FF2B5EF4-FFF2-40B4-BE49-F238E27FC236}">
                <a16:creationId xmlns:a16="http://schemas.microsoft.com/office/drawing/2014/main" xmlns="" id="{8238EEAE-EB27-F387-AF31-573809B673B8}"/>
              </a:ext>
            </a:extLst>
          </p:cNvPr>
          <p:cNvSpPr>
            <a:spLocks noChangeArrowheads="1"/>
          </p:cNvSpPr>
          <p:nvPr/>
        </p:nvSpPr>
        <p:spPr bwMode="auto">
          <a:xfrm>
            <a:off x="3124200" y="54864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C</a:t>
            </a:r>
          </a:p>
        </p:txBody>
      </p:sp>
      <p:sp>
        <p:nvSpPr>
          <p:cNvPr id="83" name="Rectangle 79">
            <a:extLst>
              <a:ext uri="{FF2B5EF4-FFF2-40B4-BE49-F238E27FC236}">
                <a16:creationId xmlns:a16="http://schemas.microsoft.com/office/drawing/2014/main" xmlns="" id="{8BCC79D0-B240-4B55-B29D-1C05F1C1A4E6}"/>
              </a:ext>
            </a:extLst>
          </p:cNvPr>
          <p:cNvSpPr>
            <a:spLocks noChangeArrowheads="1"/>
          </p:cNvSpPr>
          <p:nvPr/>
        </p:nvSpPr>
        <p:spPr bwMode="auto">
          <a:xfrm>
            <a:off x="3733800" y="5486400"/>
            <a:ext cx="3635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G</a:t>
            </a:r>
          </a:p>
        </p:txBody>
      </p:sp>
      <p:sp>
        <p:nvSpPr>
          <p:cNvPr id="84" name="Rectangle 80">
            <a:extLst>
              <a:ext uri="{FF2B5EF4-FFF2-40B4-BE49-F238E27FC236}">
                <a16:creationId xmlns:a16="http://schemas.microsoft.com/office/drawing/2014/main" xmlns="" id="{CA1D6FCA-1F5F-5DE5-6E50-FCFB5A1B92B8}"/>
              </a:ext>
            </a:extLst>
          </p:cNvPr>
          <p:cNvSpPr>
            <a:spLocks noChangeArrowheads="1"/>
          </p:cNvSpPr>
          <p:nvPr/>
        </p:nvSpPr>
        <p:spPr bwMode="auto">
          <a:xfrm>
            <a:off x="4953000" y="5486400"/>
            <a:ext cx="3127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F</a:t>
            </a:r>
          </a:p>
        </p:txBody>
      </p:sp>
      <p:sp>
        <p:nvSpPr>
          <p:cNvPr id="85" name="Rectangle 81">
            <a:extLst>
              <a:ext uri="{FF2B5EF4-FFF2-40B4-BE49-F238E27FC236}">
                <a16:creationId xmlns:a16="http://schemas.microsoft.com/office/drawing/2014/main" xmlns="" id="{78052C9E-2AC1-9B03-3213-A9CF1A279E9B}"/>
              </a:ext>
            </a:extLst>
          </p:cNvPr>
          <p:cNvSpPr>
            <a:spLocks noChangeArrowheads="1"/>
          </p:cNvSpPr>
          <p:nvPr/>
        </p:nvSpPr>
        <p:spPr bwMode="auto">
          <a:xfrm>
            <a:off x="1828800" y="49530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14</a:t>
            </a:r>
          </a:p>
        </p:txBody>
      </p:sp>
      <p:sp>
        <p:nvSpPr>
          <p:cNvPr id="86" name="Rectangle 82">
            <a:extLst>
              <a:ext uri="{FF2B5EF4-FFF2-40B4-BE49-F238E27FC236}">
                <a16:creationId xmlns:a16="http://schemas.microsoft.com/office/drawing/2014/main" xmlns="" id="{37BB6D5A-6CC1-F491-E1C3-B2AE9BDE0F66}"/>
              </a:ext>
            </a:extLst>
          </p:cNvPr>
          <p:cNvSpPr>
            <a:spLocks noChangeArrowheads="1"/>
          </p:cNvSpPr>
          <p:nvPr/>
        </p:nvSpPr>
        <p:spPr bwMode="auto">
          <a:xfrm>
            <a:off x="2362200" y="58674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19</a:t>
            </a:r>
          </a:p>
        </p:txBody>
      </p:sp>
      <p:sp>
        <p:nvSpPr>
          <p:cNvPr id="87" name="Rectangle 83">
            <a:extLst>
              <a:ext uri="{FF2B5EF4-FFF2-40B4-BE49-F238E27FC236}">
                <a16:creationId xmlns:a16="http://schemas.microsoft.com/office/drawing/2014/main" xmlns="" id="{6D47422A-40A3-0D46-6441-856040B244A5}"/>
              </a:ext>
            </a:extLst>
          </p:cNvPr>
          <p:cNvSpPr>
            <a:spLocks noChangeArrowheads="1"/>
          </p:cNvSpPr>
          <p:nvPr/>
        </p:nvSpPr>
        <p:spPr bwMode="auto">
          <a:xfrm>
            <a:off x="3124200" y="58674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19</a:t>
            </a:r>
          </a:p>
        </p:txBody>
      </p:sp>
      <p:sp>
        <p:nvSpPr>
          <p:cNvPr id="88" name="Rectangle 84">
            <a:extLst>
              <a:ext uri="{FF2B5EF4-FFF2-40B4-BE49-F238E27FC236}">
                <a16:creationId xmlns:a16="http://schemas.microsoft.com/office/drawing/2014/main" xmlns="" id="{ADB211E5-6BB8-3A81-7182-32EB810E0119}"/>
              </a:ext>
            </a:extLst>
          </p:cNvPr>
          <p:cNvSpPr>
            <a:spLocks noChangeArrowheads="1"/>
          </p:cNvSpPr>
          <p:nvPr/>
        </p:nvSpPr>
        <p:spPr bwMode="auto">
          <a:xfrm>
            <a:off x="3733800" y="58674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17</a:t>
            </a:r>
          </a:p>
        </p:txBody>
      </p:sp>
      <p:sp>
        <p:nvSpPr>
          <p:cNvPr id="89" name="Rectangle 85">
            <a:extLst>
              <a:ext uri="{FF2B5EF4-FFF2-40B4-BE49-F238E27FC236}">
                <a16:creationId xmlns:a16="http://schemas.microsoft.com/office/drawing/2014/main" xmlns="" id="{F8D48D63-6B54-549A-7F00-2CFA7F9E8A9A}"/>
              </a:ext>
            </a:extLst>
          </p:cNvPr>
          <p:cNvSpPr>
            <a:spLocks noChangeArrowheads="1"/>
          </p:cNvSpPr>
          <p:nvPr/>
        </p:nvSpPr>
        <p:spPr bwMode="auto">
          <a:xfrm>
            <a:off x="4267200" y="49530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17</a:t>
            </a:r>
          </a:p>
        </p:txBody>
      </p:sp>
      <p:sp>
        <p:nvSpPr>
          <p:cNvPr id="90" name="Rectangle 86">
            <a:extLst>
              <a:ext uri="{FF2B5EF4-FFF2-40B4-BE49-F238E27FC236}">
                <a16:creationId xmlns:a16="http://schemas.microsoft.com/office/drawing/2014/main" xmlns="" id="{8FE2F7D8-27A2-73BC-BE16-E1D0D1E0204C}"/>
              </a:ext>
            </a:extLst>
          </p:cNvPr>
          <p:cNvSpPr>
            <a:spLocks noChangeArrowheads="1"/>
          </p:cNvSpPr>
          <p:nvPr/>
        </p:nvSpPr>
        <p:spPr bwMode="auto">
          <a:xfrm>
            <a:off x="5562600" y="49530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15</a:t>
            </a:r>
          </a:p>
        </p:txBody>
      </p:sp>
      <p:sp>
        <p:nvSpPr>
          <p:cNvPr id="91" name="Rectangle 87">
            <a:extLst>
              <a:ext uri="{FF2B5EF4-FFF2-40B4-BE49-F238E27FC236}">
                <a16:creationId xmlns:a16="http://schemas.microsoft.com/office/drawing/2014/main" xmlns="" id="{85A24B9E-7949-0D71-A013-171720B3CFE1}"/>
              </a:ext>
            </a:extLst>
          </p:cNvPr>
          <p:cNvSpPr>
            <a:spLocks noChangeArrowheads="1"/>
          </p:cNvSpPr>
          <p:nvPr/>
        </p:nvSpPr>
        <p:spPr bwMode="auto">
          <a:xfrm>
            <a:off x="6172200" y="49530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15</a:t>
            </a:r>
          </a:p>
        </p:txBody>
      </p:sp>
      <p:sp>
        <p:nvSpPr>
          <p:cNvPr id="92" name="Rectangle 88">
            <a:extLst>
              <a:ext uri="{FF2B5EF4-FFF2-40B4-BE49-F238E27FC236}">
                <a16:creationId xmlns:a16="http://schemas.microsoft.com/office/drawing/2014/main" xmlns="" id="{28E5EB7B-97A9-4D4A-251F-AFDC73A9B570}"/>
              </a:ext>
            </a:extLst>
          </p:cNvPr>
          <p:cNvSpPr>
            <a:spLocks noChangeArrowheads="1"/>
          </p:cNvSpPr>
          <p:nvPr/>
        </p:nvSpPr>
        <p:spPr bwMode="auto">
          <a:xfrm>
            <a:off x="6781800" y="49530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13</a:t>
            </a:r>
          </a:p>
        </p:txBody>
      </p:sp>
      <p:sp>
        <p:nvSpPr>
          <p:cNvPr id="93" name="Oval 89">
            <a:extLst>
              <a:ext uri="{FF2B5EF4-FFF2-40B4-BE49-F238E27FC236}">
                <a16:creationId xmlns:a16="http://schemas.microsoft.com/office/drawing/2014/main" xmlns="" id="{63F5DD3A-FB32-0411-EA13-CE63315BA3C2}"/>
              </a:ext>
            </a:extLst>
          </p:cNvPr>
          <p:cNvSpPr>
            <a:spLocks noChangeArrowheads="1"/>
          </p:cNvSpPr>
          <p:nvPr/>
        </p:nvSpPr>
        <p:spPr bwMode="auto">
          <a:xfrm>
            <a:off x="4946650" y="59753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94" name="Rectangle 90">
            <a:extLst>
              <a:ext uri="{FF2B5EF4-FFF2-40B4-BE49-F238E27FC236}">
                <a16:creationId xmlns:a16="http://schemas.microsoft.com/office/drawing/2014/main" xmlns="" id="{10D0C806-99F9-4E50-F1D0-16DBB7BB16A6}"/>
              </a:ext>
            </a:extLst>
          </p:cNvPr>
          <p:cNvSpPr>
            <a:spLocks noChangeArrowheads="1"/>
          </p:cNvSpPr>
          <p:nvPr/>
        </p:nvSpPr>
        <p:spPr bwMode="auto">
          <a:xfrm>
            <a:off x="4953000" y="6019800"/>
            <a:ext cx="3635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G</a:t>
            </a:r>
          </a:p>
        </p:txBody>
      </p:sp>
      <p:sp>
        <p:nvSpPr>
          <p:cNvPr id="95" name="Rectangle 91">
            <a:extLst>
              <a:ext uri="{FF2B5EF4-FFF2-40B4-BE49-F238E27FC236}">
                <a16:creationId xmlns:a16="http://schemas.microsoft.com/office/drawing/2014/main" xmlns="" id="{F6716E85-2FEE-802A-1BDC-0F8A1AACECD3}"/>
              </a:ext>
            </a:extLst>
          </p:cNvPr>
          <p:cNvSpPr>
            <a:spLocks noChangeArrowheads="1"/>
          </p:cNvSpPr>
          <p:nvPr/>
        </p:nvSpPr>
        <p:spPr bwMode="auto">
          <a:xfrm>
            <a:off x="5334000" y="60198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25</a:t>
            </a:r>
          </a:p>
        </p:txBody>
      </p:sp>
      <p:sp>
        <p:nvSpPr>
          <p:cNvPr id="96" name="Rectangle 92">
            <a:extLst>
              <a:ext uri="{FF2B5EF4-FFF2-40B4-BE49-F238E27FC236}">
                <a16:creationId xmlns:a16="http://schemas.microsoft.com/office/drawing/2014/main" xmlns="" id="{A3189145-ABB8-8402-2F59-07D62CC5B68B}"/>
              </a:ext>
            </a:extLst>
          </p:cNvPr>
          <p:cNvSpPr>
            <a:spLocks noChangeArrowheads="1"/>
          </p:cNvSpPr>
          <p:nvPr/>
        </p:nvSpPr>
        <p:spPr bwMode="auto">
          <a:xfrm>
            <a:off x="1752600" y="38100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11</a:t>
            </a:r>
          </a:p>
        </p:txBody>
      </p:sp>
      <p:sp>
        <p:nvSpPr>
          <p:cNvPr id="97" name="Oval 93">
            <a:extLst>
              <a:ext uri="{FF2B5EF4-FFF2-40B4-BE49-F238E27FC236}">
                <a16:creationId xmlns:a16="http://schemas.microsoft.com/office/drawing/2014/main" xmlns="" id="{47855D8B-CDEF-EFE0-E517-7EB4AE313BA1}"/>
              </a:ext>
            </a:extLst>
          </p:cNvPr>
          <p:cNvSpPr>
            <a:spLocks noChangeArrowheads="1"/>
          </p:cNvSpPr>
          <p:nvPr/>
        </p:nvSpPr>
        <p:spPr bwMode="auto">
          <a:xfrm>
            <a:off x="4519613" y="3352800"/>
            <a:ext cx="379412" cy="379413"/>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98" name="Line 94">
            <a:extLst>
              <a:ext uri="{FF2B5EF4-FFF2-40B4-BE49-F238E27FC236}">
                <a16:creationId xmlns:a16="http://schemas.microsoft.com/office/drawing/2014/main" xmlns="" id="{73A37C75-12B9-C584-88E9-5B79A2814716}"/>
              </a:ext>
            </a:extLst>
          </p:cNvPr>
          <p:cNvSpPr>
            <a:spLocks noChangeShapeType="1"/>
          </p:cNvSpPr>
          <p:nvPr/>
        </p:nvSpPr>
        <p:spPr bwMode="auto">
          <a:xfrm flipH="1">
            <a:off x="3124200" y="1143000"/>
            <a:ext cx="912813" cy="3794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99" name="Line 95">
            <a:extLst>
              <a:ext uri="{FF2B5EF4-FFF2-40B4-BE49-F238E27FC236}">
                <a16:creationId xmlns:a16="http://schemas.microsoft.com/office/drawing/2014/main" xmlns="" id="{CA4A2ACD-79FB-3AC5-285B-8712CF3E3ED2}"/>
              </a:ext>
            </a:extLst>
          </p:cNvPr>
          <p:cNvSpPr>
            <a:spLocks noChangeShapeType="1"/>
          </p:cNvSpPr>
          <p:nvPr/>
        </p:nvSpPr>
        <p:spPr bwMode="auto">
          <a:xfrm>
            <a:off x="3200400" y="1827213"/>
            <a:ext cx="1979613"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0" name="Line 96">
            <a:extLst>
              <a:ext uri="{FF2B5EF4-FFF2-40B4-BE49-F238E27FC236}">
                <a16:creationId xmlns:a16="http://schemas.microsoft.com/office/drawing/2014/main" xmlns="" id="{B4C50915-FEB3-CDA1-6A00-43FD4D788997}"/>
              </a:ext>
            </a:extLst>
          </p:cNvPr>
          <p:cNvSpPr>
            <a:spLocks noChangeShapeType="1"/>
          </p:cNvSpPr>
          <p:nvPr/>
        </p:nvSpPr>
        <p:spPr bwMode="auto">
          <a:xfrm>
            <a:off x="5791200" y="1752600"/>
            <a:ext cx="531813" cy="1508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1" name="Line 97">
            <a:extLst>
              <a:ext uri="{FF2B5EF4-FFF2-40B4-BE49-F238E27FC236}">
                <a16:creationId xmlns:a16="http://schemas.microsoft.com/office/drawing/2014/main" xmlns="" id="{08E4E938-A83C-B96E-42D1-5A7A039BD1C4}"/>
              </a:ext>
            </a:extLst>
          </p:cNvPr>
          <p:cNvSpPr>
            <a:spLocks noChangeShapeType="1"/>
          </p:cNvSpPr>
          <p:nvPr/>
        </p:nvSpPr>
        <p:spPr bwMode="auto">
          <a:xfrm flipH="1">
            <a:off x="1828800" y="2132013"/>
            <a:ext cx="4646613"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2" name="Line 98">
            <a:extLst>
              <a:ext uri="{FF2B5EF4-FFF2-40B4-BE49-F238E27FC236}">
                <a16:creationId xmlns:a16="http://schemas.microsoft.com/office/drawing/2014/main" xmlns="" id="{7C47CBEE-CBC6-FCD9-7E0F-603265CA0EB4}"/>
              </a:ext>
            </a:extLst>
          </p:cNvPr>
          <p:cNvSpPr>
            <a:spLocks noChangeShapeType="1"/>
          </p:cNvSpPr>
          <p:nvPr/>
        </p:nvSpPr>
        <p:spPr bwMode="auto">
          <a:xfrm>
            <a:off x="1676400" y="2209800"/>
            <a:ext cx="303213" cy="227013"/>
          </a:xfrm>
          <a:prstGeom prst="line">
            <a:avLst/>
          </a:prstGeom>
          <a:noFill/>
          <a:ln w="50800">
            <a:solidFill>
              <a:schemeClr val="tx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3" name="Line 99">
            <a:extLst>
              <a:ext uri="{FF2B5EF4-FFF2-40B4-BE49-F238E27FC236}">
                <a16:creationId xmlns:a16="http://schemas.microsoft.com/office/drawing/2014/main" xmlns="" id="{C7CC08B4-0989-4026-B7C6-56B4313CB0AA}"/>
              </a:ext>
            </a:extLst>
          </p:cNvPr>
          <p:cNvSpPr>
            <a:spLocks noChangeShapeType="1"/>
          </p:cNvSpPr>
          <p:nvPr/>
        </p:nvSpPr>
        <p:spPr bwMode="auto">
          <a:xfrm>
            <a:off x="2514600" y="2665413"/>
            <a:ext cx="608013"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4" name="Line 100">
            <a:extLst>
              <a:ext uri="{FF2B5EF4-FFF2-40B4-BE49-F238E27FC236}">
                <a16:creationId xmlns:a16="http://schemas.microsoft.com/office/drawing/2014/main" xmlns="" id="{225CF13B-E3E2-9C96-7709-FC09C630FAA7}"/>
              </a:ext>
            </a:extLst>
          </p:cNvPr>
          <p:cNvSpPr>
            <a:spLocks noChangeShapeType="1"/>
          </p:cNvSpPr>
          <p:nvPr/>
        </p:nvSpPr>
        <p:spPr bwMode="auto">
          <a:xfrm>
            <a:off x="3657600" y="2589213"/>
            <a:ext cx="760413"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5" name="Line 101">
            <a:extLst>
              <a:ext uri="{FF2B5EF4-FFF2-40B4-BE49-F238E27FC236}">
                <a16:creationId xmlns:a16="http://schemas.microsoft.com/office/drawing/2014/main" xmlns="" id="{95254038-4905-3051-069D-6408FC684CCD}"/>
              </a:ext>
            </a:extLst>
          </p:cNvPr>
          <p:cNvSpPr>
            <a:spLocks noChangeShapeType="1"/>
          </p:cNvSpPr>
          <p:nvPr/>
        </p:nvSpPr>
        <p:spPr bwMode="auto">
          <a:xfrm>
            <a:off x="4953000" y="2665413"/>
            <a:ext cx="1065213"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6" name="Line 102">
            <a:extLst>
              <a:ext uri="{FF2B5EF4-FFF2-40B4-BE49-F238E27FC236}">
                <a16:creationId xmlns:a16="http://schemas.microsoft.com/office/drawing/2014/main" xmlns="" id="{63CC19F7-8ACA-757E-3161-367D36C588A2}"/>
              </a:ext>
            </a:extLst>
          </p:cNvPr>
          <p:cNvSpPr>
            <a:spLocks noChangeShapeType="1"/>
          </p:cNvSpPr>
          <p:nvPr/>
        </p:nvSpPr>
        <p:spPr bwMode="auto">
          <a:xfrm>
            <a:off x="6553200" y="2743200"/>
            <a:ext cx="379413" cy="2270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7" name="Line 103">
            <a:extLst>
              <a:ext uri="{FF2B5EF4-FFF2-40B4-BE49-F238E27FC236}">
                <a16:creationId xmlns:a16="http://schemas.microsoft.com/office/drawing/2014/main" xmlns="" id="{90E29278-7A27-979E-E231-A438BF679BA0}"/>
              </a:ext>
            </a:extLst>
          </p:cNvPr>
          <p:cNvSpPr>
            <a:spLocks noChangeShapeType="1"/>
          </p:cNvSpPr>
          <p:nvPr/>
        </p:nvSpPr>
        <p:spPr bwMode="auto">
          <a:xfrm flipH="1">
            <a:off x="1600200" y="3122613"/>
            <a:ext cx="5332413"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8" name="Line 104">
            <a:extLst>
              <a:ext uri="{FF2B5EF4-FFF2-40B4-BE49-F238E27FC236}">
                <a16:creationId xmlns:a16="http://schemas.microsoft.com/office/drawing/2014/main" xmlns="" id="{1613EFEF-4FEE-F943-921F-B24C96C4B835}"/>
              </a:ext>
            </a:extLst>
          </p:cNvPr>
          <p:cNvSpPr>
            <a:spLocks noChangeShapeType="1"/>
          </p:cNvSpPr>
          <p:nvPr/>
        </p:nvSpPr>
        <p:spPr bwMode="auto">
          <a:xfrm>
            <a:off x="1600200" y="3200400"/>
            <a:ext cx="150813" cy="2270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9" name="Line 105">
            <a:extLst>
              <a:ext uri="{FF2B5EF4-FFF2-40B4-BE49-F238E27FC236}">
                <a16:creationId xmlns:a16="http://schemas.microsoft.com/office/drawing/2014/main" xmlns="" id="{33E8DE4D-A46C-7284-EE2F-9150E5AEE413}"/>
              </a:ext>
            </a:extLst>
          </p:cNvPr>
          <p:cNvSpPr>
            <a:spLocks noChangeShapeType="1"/>
          </p:cNvSpPr>
          <p:nvPr/>
        </p:nvSpPr>
        <p:spPr bwMode="auto">
          <a:xfrm>
            <a:off x="2209800" y="3579813"/>
            <a:ext cx="227013"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0" name="Line 106">
            <a:extLst>
              <a:ext uri="{FF2B5EF4-FFF2-40B4-BE49-F238E27FC236}">
                <a16:creationId xmlns:a16="http://schemas.microsoft.com/office/drawing/2014/main" xmlns="" id="{21ED8AC2-84F5-1A6A-4D5E-33C751091FE9}"/>
              </a:ext>
            </a:extLst>
          </p:cNvPr>
          <p:cNvSpPr>
            <a:spLocks noChangeShapeType="1"/>
          </p:cNvSpPr>
          <p:nvPr/>
        </p:nvSpPr>
        <p:spPr bwMode="auto">
          <a:xfrm>
            <a:off x="2971800" y="3579813"/>
            <a:ext cx="608013"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1" name="Line 107">
            <a:extLst>
              <a:ext uri="{FF2B5EF4-FFF2-40B4-BE49-F238E27FC236}">
                <a16:creationId xmlns:a16="http://schemas.microsoft.com/office/drawing/2014/main" xmlns="" id="{2712B95B-3117-B6AF-8D9A-5E193EDC9E02}"/>
              </a:ext>
            </a:extLst>
          </p:cNvPr>
          <p:cNvSpPr>
            <a:spLocks noChangeShapeType="1"/>
          </p:cNvSpPr>
          <p:nvPr/>
        </p:nvSpPr>
        <p:spPr bwMode="auto">
          <a:xfrm>
            <a:off x="4114800" y="3579813"/>
            <a:ext cx="379413"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2" name="Line 108">
            <a:extLst>
              <a:ext uri="{FF2B5EF4-FFF2-40B4-BE49-F238E27FC236}">
                <a16:creationId xmlns:a16="http://schemas.microsoft.com/office/drawing/2014/main" xmlns="" id="{8CAE311C-A03E-851E-9BAC-3AD328AC0718}"/>
              </a:ext>
            </a:extLst>
          </p:cNvPr>
          <p:cNvSpPr>
            <a:spLocks noChangeShapeType="1"/>
          </p:cNvSpPr>
          <p:nvPr/>
        </p:nvSpPr>
        <p:spPr bwMode="auto">
          <a:xfrm>
            <a:off x="4953000" y="3579813"/>
            <a:ext cx="379413"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3" name="Line 109">
            <a:extLst>
              <a:ext uri="{FF2B5EF4-FFF2-40B4-BE49-F238E27FC236}">
                <a16:creationId xmlns:a16="http://schemas.microsoft.com/office/drawing/2014/main" xmlns="" id="{C07DEDC6-0563-2836-92F4-61851D115E0B}"/>
              </a:ext>
            </a:extLst>
          </p:cNvPr>
          <p:cNvSpPr>
            <a:spLocks noChangeShapeType="1"/>
          </p:cNvSpPr>
          <p:nvPr/>
        </p:nvSpPr>
        <p:spPr bwMode="auto">
          <a:xfrm>
            <a:off x="5867400" y="3579813"/>
            <a:ext cx="455613"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4" name="Line 110">
            <a:extLst>
              <a:ext uri="{FF2B5EF4-FFF2-40B4-BE49-F238E27FC236}">
                <a16:creationId xmlns:a16="http://schemas.microsoft.com/office/drawing/2014/main" xmlns="" id="{01788CF0-21CC-BB46-A3D7-FA771B74F2E2}"/>
              </a:ext>
            </a:extLst>
          </p:cNvPr>
          <p:cNvSpPr>
            <a:spLocks noChangeShapeType="1"/>
          </p:cNvSpPr>
          <p:nvPr/>
        </p:nvSpPr>
        <p:spPr bwMode="auto">
          <a:xfrm>
            <a:off x="6781800" y="3733800"/>
            <a:ext cx="227013" cy="2270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5" name="Line 111">
            <a:extLst>
              <a:ext uri="{FF2B5EF4-FFF2-40B4-BE49-F238E27FC236}">
                <a16:creationId xmlns:a16="http://schemas.microsoft.com/office/drawing/2014/main" xmlns="" id="{CFAA8C56-E1A5-CD2C-8968-220DD3346CFC}"/>
              </a:ext>
            </a:extLst>
          </p:cNvPr>
          <p:cNvSpPr>
            <a:spLocks noChangeShapeType="1"/>
          </p:cNvSpPr>
          <p:nvPr/>
        </p:nvSpPr>
        <p:spPr bwMode="auto">
          <a:xfrm flipH="1">
            <a:off x="1600200" y="4113213"/>
            <a:ext cx="5408613"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6" name="Line 112">
            <a:extLst>
              <a:ext uri="{FF2B5EF4-FFF2-40B4-BE49-F238E27FC236}">
                <a16:creationId xmlns:a16="http://schemas.microsoft.com/office/drawing/2014/main" xmlns="" id="{DF17D24B-0CFD-A73D-5E5F-DB7F8C46523F}"/>
              </a:ext>
            </a:extLst>
          </p:cNvPr>
          <p:cNvSpPr>
            <a:spLocks noChangeShapeType="1"/>
          </p:cNvSpPr>
          <p:nvPr/>
        </p:nvSpPr>
        <p:spPr bwMode="auto">
          <a:xfrm>
            <a:off x="1600200" y="4191000"/>
            <a:ext cx="150813" cy="379413"/>
          </a:xfrm>
          <a:prstGeom prst="line">
            <a:avLst/>
          </a:prstGeom>
          <a:noFill/>
          <a:ln w="50800">
            <a:solidFill>
              <a:schemeClr val="tx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7" name="Line 113">
            <a:extLst>
              <a:ext uri="{FF2B5EF4-FFF2-40B4-BE49-F238E27FC236}">
                <a16:creationId xmlns:a16="http://schemas.microsoft.com/office/drawing/2014/main" xmlns="" id="{3CC2918B-14EB-1332-EAFA-6533C79D1D14}"/>
              </a:ext>
            </a:extLst>
          </p:cNvPr>
          <p:cNvSpPr>
            <a:spLocks noChangeShapeType="1"/>
          </p:cNvSpPr>
          <p:nvPr/>
        </p:nvSpPr>
        <p:spPr bwMode="auto">
          <a:xfrm>
            <a:off x="1752600" y="4722813"/>
            <a:ext cx="4875213"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Tree>
    <p:extLst>
      <p:ext uri="{BB962C8B-B14F-4D97-AF65-F5344CB8AC3E}">
        <p14:creationId xmlns:p14="http://schemas.microsoft.com/office/powerpoint/2010/main" val="93750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blinds(horizontal)">
                                      <p:cBhvr>
                                        <p:cTn id="7" dur="500"/>
                                        <p:tgtEl>
                                          <p:spTgt spid="9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blinds(horizontal)">
                                      <p:cBhvr>
                                        <p:cTn id="12" dur="5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blinds(horizontal)">
                                      <p:cBhvr>
                                        <p:cTn id="17" dur="500"/>
                                        <p:tgtEl>
                                          <p:spTgt spid="100"/>
                                        </p:tgtEl>
                                      </p:cBhvr>
                                    </p:animEffect>
                                  </p:childTnLst>
                                </p:cTn>
                              </p:par>
                              <p:par>
                                <p:cTn id="18" presetID="3" presetClass="entr" presetSubtype="10" fill="hold" nodeType="withEffect">
                                  <p:stCondLst>
                                    <p:cond delay="0"/>
                                  </p:stCondLst>
                                  <p:childTnLst>
                                    <p:set>
                                      <p:cBhvr>
                                        <p:cTn id="19" dur="1" fill="hold">
                                          <p:stCondLst>
                                            <p:cond delay="0"/>
                                          </p:stCondLst>
                                        </p:cTn>
                                        <p:tgtEl>
                                          <p:spTgt spid="101"/>
                                        </p:tgtEl>
                                        <p:attrNameLst>
                                          <p:attrName>style.visibility</p:attrName>
                                        </p:attrNameLst>
                                      </p:cBhvr>
                                      <p:to>
                                        <p:strVal val="visible"/>
                                      </p:to>
                                    </p:set>
                                    <p:animEffect transition="in" filter="blinds(horizontal)">
                                      <p:cBhvr>
                                        <p:cTn id="20" dur="500"/>
                                        <p:tgtEl>
                                          <p:spTgt spid="101"/>
                                        </p:tgtEl>
                                      </p:cBhvr>
                                    </p:animEffect>
                                  </p:childTnLst>
                                </p:cTn>
                              </p:par>
                              <p:par>
                                <p:cTn id="21" presetID="3" presetClass="entr" presetSubtype="10" fill="hold" nodeType="withEffect">
                                  <p:stCondLst>
                                    <p:cond delay="0"/>
                                  </p:stCondLst>
                                  <p:childTnLst>
                                    <p:set>
                                      <p:cBhvr>
                                        <p:cTn id="22" dur="1" fill="hold">
                                          <p:stCondLst>
                                            <p:cond delay="0"/>
                                          </p:stCondLst>
                                        </p:cTn>
                                        <p:tgtEl>
                                          <p:spTgt spid="102"/>
                                        </p:tgtEl>
                                        <p:attrNameLst>
                                          <p:attrName>style.visibility</p:attrName>
                                        </p:attrNameLst>
                                      </p:cBhvr>
                                      <p:to>
                                        <p:strVal val="visible"/>
                                      </p:to>
                                    </p:set>
                                    <p:animEffect transition="in" filter="blinds(horizontal)">
                                      <p:cBhvr>
                                        <p:cTn id="23" dur="500"/>
                                        <p:tgtEl>
                                          <p:spTgt spid="10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03"/>
                                        </p:tgtEl>
                                        <p:attrNameLst>
                                          <p:attrName>style.visibility</p:attrName>
                                        </p:attrNameLst>
                                      </p:cBhvr>
                                      <p:to>
                                        <p:strVal val="visible"/>
                                      </p:to>
                                    </p:set>
                                    <p:animEffect transition="in" filter="blinds(horizontal)">
                                      <p:cBhvr>
                                        <p:cTn id="28" dur="500"/>
                                        <p:tgtEl>
                                          <p:spTgt spid="103"/>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04"/>
                                        </p:tgtEl>
                                        <p:attrNameLst>
                                          <p:attrName>style.visibility</p:attrName>
                                        </p:attrNameLst>
                                      </p:cBhvr>
                                      <p:to>
                                        <p:strVal val="visible"/>
                                      </p:to>
                                    </p:set>
                                    <p:animEffect transition="in" filter="blinds(horizontal)">
                                      <p:cBhvr>
                                        <p:cTn id="33" dur="500"/>
                                        <p:tgtEl>
                                          <p:spTgt spid="104"/>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05"/>
                                        </p:tgtEl>
                                        <p:attrNameLst>
                                          <p:attrName>style.visibility</p:attrName>
                                        </p:attrNameLst>
                                      </p:cBhvr>
                                      <p:to>
                                        <p:strVal val="visible"/>
                                      </p:to>
                                    </p:set>
                                    <p:animEffect transition="in" filter="blinds(horizontal)">
                                      <p:cBhvr>
                                        <p:cTn id="38" dur="500"/>
                                        <p:tgtEl>
                                          <p:spTgt spid="105"/>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06"/>
                                        </p:tgtEl>
                                        <p:attrNameLst>
                                          <p:attrName>style.visibility</p:attrName>
                                        </p:attrNameLst>
                                      </p:cBhvr>
                                      <p:to>
                                        <p:strVal val="visible"/>
                                      </p:to>
                                    </p:set>
                                    <p:animEffect transition="in" filter="blinds(horizontal)">
                                      <p:cBhvr>
                                        <p:cTn id="43" dur="500"/>
                                        <p:tgtEl>
                                          <p:spTgt spid="106"/>
                                        </p:tgtEl>
                                      </p:cBhvr>
                                    </p:animEffect>
                                  </p:childTnLst>
                                </p:cTn>
                              </p:par>
                              <p:par>
                                <p:cTn id="44" presetID="3" presetClass="entr" presetSubtype="10" fill="hold" nodeType="withEffect">
                                  <p:stCondLst>
                                    <p:cond delay="0"/>
                                  </p:stCondLst>
                                  <p:childTnLst>
                                    <p:set>
                                      <p:cBhvr>
                                        <p:cTn id="45" dur="1" fill="hold">
                                          <p:stCondLst>
                                            <p:cond delay="0"/>
                                          </p:stCondLst>
                                        </p:cTn>
                                        <p:tgtEl>
                                          <p:spTgt spid="107"/>
                                        </p:tgtEl>
                                        <p:attrNameLst>
                                          <p:attrName>style.visibility</p:attrName>
                                        </p:attrNameLst>
                                      </p:cBhvr>
                                      <p:to>
                                        <p:strVal val="visible"/>
                                      </p:to>
                                    </p:set>
                                    <p:animEffect transition="in" filter="blinds(horizontal)">
                                      <p:cBhvr>
                                        <p:cTn id="46" dur="500"/>
                                        <p:tgtEl>
                                          <p:spTgt spid="107"/>
                                        </p:tgtEl>
                                      </p:cBhvr>
                                    </p:animEffect>
                                  </p:childTnLst>
                                </p:cTn>
                              </p:par>
                              <p:par>
                                <p:cTn id="47" presetID="3" presetClass="entr" presetSubtype="10" fill="hold" nodeType="withEffect">
                                  <p:stCondLst>
                                    <p:cond delay="0"/>
                                  </p:stCondLst>
                                  <p:childTnLst>
                                    <p:set>
                                      <p:cBhvr>
                                        <p:cTn id="48" dur="1" fill="hold">
                                          <p:stCondLst>
                                            <p:cond delay="0"/>
                                          </p:stCondLst>
                                        </p:cTn>
                                        <p:tgtEl>
                                          <p:spTgt spid="108"/>
                                        </p:tgtEl>
                                        <p:attrNameLst>
                                          <p:attrName>style.visibility</p:attrName>
                                        </p:attrNameLst>
                                      </p:cBhvr>
                                      <p:to>
                                        <p:strVal val="visible"/>
                                      </p:to>
                                    </p:set>
                                    <p:animEffect transition="in" filter="blinds(horizontal)">
                                      <p:cBhvr>
                                        <p:cTn id="49" dur="500"/>
                                        <p:tgtEl>
                                          <p:spTgt spid="108"/>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09"/>
                                        </p:tgtEl>
                                        <p:attrNameLst>
                                          <p:attrName>style.visibility</p:attrName>
                                        </p:attrNameLst>
                                      </p:cBhvr>
                                      <p:to>
                                        <p:strVal val="visible"/>
                                      </p:to>
                                    </p:set>
                                    <p:animEffect transition="in" filter="blinds(horizontal)">
                                      <p:cBhvr>
                                        <p:cTn id="54" dur="500"/>
                                        <p:tgtEl>
                                          <p:spTgt spid="109"/>
                                        </p:tgtEl>
                                      </p:cBhvr>
                                    </p:animEffect>
                                  </p:childTnLst>
                                </p:cTn>
                              </p:par>
                              <p:par>
                                <p:cTn id="55" presetID="3" presetClass="entr" presetSubtype="10" fill="hold" nodeType="withEffect">
                                  <p:stCondLst>
                                    <p:cond delay="0"/>
                                  </p:stCondLst>
                                  <p:childTnLst>
                                    <p:set>
                                      <p:cBhvr>
                                        <p:cTn id="56" dur="1" fill="hold">
                                          <p:stCondLst>
                                            <p:cond delay="0"/>
                                          </p:stCondLst>
                                        </p:cTn>
                                        <p:tgtEl>
                                          <p:spTgt spid="110"/>
                                        </p:tgtEl>
                                        <p:attrNameLst>
                                          <p:attrName>style.visibility</p:attrName>
                                        </p:attrNameLst>
                                      </p:cBhvr>
                                      <p:to>
                                        <p:strVal val="visible"/>
                                      </p:to>
                                    </p:set>
                                    <p:animEffect transition="in" filter="blinds(horizontal)">
                                      <p:cBhvr>
                                        <p:cTn id="57" dur="500"/>
                                        <p:tgtEl>
                                          <p:spTgt spid="110"/>
                                        </p:tgtEl>
                                      </p:cBhvr>
                                    </p:animEffect>
                                  </p:childTnLst>
                                </p:cTn>
                              </p:par>
                              <p:par>
                                <p:cTn id="58" presetID="3" presetClass="entr" presetSubtype="10" fill="hold" nodeType="withEffect">
                                  <p:stCondLst>
                                    <p:cond delay="0"/>
                                  </p:stCondLst>
                                  <p:childTnLst>
                                    <p:set>
                                      <p:cBhvr>
                                        <p:cTn id="59" dur="1" fill="hold">
                                          <p:stCondLst>
                                            <p:cond delay="0"/>
                                          </p:stCondLst>
                                        </p:cTn>
                                        <p:tgtEl>
                                          <p:spTgt spid="111"/>
                                        </p:tgtEl>
                                        <p:attrNameLst>
                                          <p:attrName>style.visibility</p:attrName>
                                        </p:attrNameLst>
                                      </p:cBhvr>
                                      <p:to>
                                        <p:strVal val="visible"/>
                                      </p:to>
                                    </p:set>
                                    <p:animEffect transition="in" filter="blinds(horizontal)">
                                      <p:cBhvr>
                                        <p:cTn id="60" dur="500"/>
                                        <p:tgtEl>
                                          <p:spTgt spid="111"/>
                                        </p:tgtEl>
                                      </p:cBhvr>
                                    </p:animEffect>
                                  </p:childTnLst>
                                </p:cTn>
                              </p:par>
                              <p:par>
                                <p:cTn id="61" presetID="3" presetClass="entr" presetSubtype="10" fill="hold" nodeType="withEffect">
                                  <p:stCondLst>
                                    <p:cond delay="0"/>
                                  </p:stCondLst>
                                  <p:childTnLst>
                                    <p:set>
                                      <p:cBhvr>
                                        <p:cTn id="62" dur="1" fill="hold">
                                          <p:stCondLst>
                                            <p:cond delay="0"/>
                                          </p:stCondLst>
                                        </p:cTn>
                                        <p:tgtEl>
                                          <p:spTgt spid="112"/>
                                        </p:tgtEl>
                                        <p:attrNameLst>
                                          <p:attrName>style.visibility</p:attrName>
                                        </p:attrNameLst>
                                      </p:cBhvr>
                                      <p:to>
                                        <p:strVal val="visible"/>
                                      </p:to>
                                    </p:set>
                                    <p:animEffect transition="in" filter="blinds(horizontal)">
                                      <p:cBhvr>
                                        <p:cTn id="63" dur="500"/>
                                        <p:tgtEl>
                                          <p:spTgt spid="112"/>
                                        </p:tgtEl>
                                      </p:cBhvr>
                                    </p:animEffect>
                                  </p:childTnLst>
                                </p:cTn>
                              </p:par>
                              <p:par>
                                <p:cTn id="64" presetID="3" presetClass="entr" presetSubtype="10" fill="hold" nodeType="withEffect">
                                  <p:stCondLst>
                                    <p:cond delay="0"/>
                                  </p:stCondLst>
                                  <p:childTnLst>
                                    <p:set>
                                      <p:cBhvr>
                                        <p:cTn id="65" dur="1" fill="hold">
                                          <p:stCondLst>
                                            <p:cond delay="0"/>
                                          </p:stCondLst>
                                        </p:cTn>
                                        <p:tgtEl>
                                          <p:spTgt spid="113"/>
                                        </p:tgtEl>
                                        <p:attrNameLst>
                                          <p:attrName>style.visibility</p:attrName>
                                        </p:attrNameLst>
                                      </p:cBhvr>
                                      <p:to>
                                        <p:strVal val="visible"/>
                                      </p:to>
                                    </p:set>
                                    <p:animEffect transition="in" filter="blinds(horizontal)">
                                      <p:cBhvr>
                                        <p:cTn id="66" dur="500"/>
                                        <p:tgtEl>
                                          <p:spTgt spid="113"/>
                                        </p:tgtEl>
                                      </p:cBhvr>
                                    </p:animEffect>
                                  </p:childTnLst>
                                </p:cTn>
                              </p:par>
                              <p:par>
                                <p:cTn id="67" presetID="3" presetClass="entr" presetSubtype="10" fill="hold" nodeType="withEffect">
                                  <p:stCondLst>
                                    <p:cond delay="0"/>
                                  </p:stCondLst>
                                  <p:childTnLst>
                                    <p:set>
                                      <p:cBhvr>
                                        <p:cTn id="68" dur="1" fill="hold">
                                          <p:stCondLst>
                                            <p:cond delay="0"/>
                                          </p:stCondLst>
                                        </p:cTn>
                                        <p:tgtEl>
                                          <p:spTgt spid="114"/>
                                        </p:tgtEl>
                                        <p:attrNameLst>
                                          <p:attrName>style.visibility</p:attrName>
                                        </p:attrNameLst>
                                      </p:cBhvr>
                                      <p:to>
                                        <p:strVal val="visible"/>
                                      </p:to>
                                    </p:set>
                                    <p:animEffect transition="in" filter="blinds(horizontal)">
                                      <p:cBhvr>
                                        <p:cTn id="69" dur="500"/>
                                        <p:tgtEl>
                                          <p:spTgt spid="114"/>
                                        </p:tgtEl>
                                      </p:cBhvr>
                                    </p:animEffect>
                                  </p:childTnLst>
                                </p:cTn>
                              </p:par>
                              <p:par>
                                <p:cTn id="70" presetID="3" presetClass="entr" presetSubtype="10" fill="hold" nodeType="withEffect">
                                  <p:stCondLst>
                                    <p:cond delay="0"/>
                                  </p:stCondLst>
                                  <p:childTnLst>
                                    <p:set>
                                      <p:cBhvr>
                                        <p:cTn id="71" dur="1" fill="hold">
                                          <p:stCondLst>
                                            <p:cond delay="0"/>
                                          </p:stCondLst>
                                        </p:cTn>
                                        <p:tgtEl>
                                          <p:spTgt spid="115"/>
                                        </p:tgtEl>
                                        <p:attrNameLst>
                                          <p:attrName>style.visibility</p:attrName>
                                        </p:attrNameLst>
                                      </p:cBhvr>
                                      <p:to>
                                        <p:strVal val="visible"/>
                                      </p:to>
                                    </p:set>
                                    <p:animEffect transition="in" filter="blinds(horizontal)">
                                      <p:cBhvr>
                                        <p:cTn id="72" dur="500"/>
                                        <p:tgtEl>
                                          <p:spTgt spid="115"/>
                                        </p:tgtEl>
                                      </p:cBhvr>
                                    </p:animEffect>
                                  </p:childTnLst>
                                </p:cTn>
                              </p:par>
                              <p:par>
                                <p:cTn id="73" presetID="3" presetClass="entr" presetSubtype="10" fill="hold" nodeType="withEffect">
                                  <p:stCondLst>
                                    <p:cond delay="0"/>
                                  </p:stCondLst>
                                  <p:childTnLst>
                                    <p:set>
                                      <p:cBhvr>
                                        <p:cTn id="74" dur="1" fill="hold">
                                          <p:stCondLst>
                                            <p:cond delay="0"/>
                                          </p:stCondLst>
                                        </p:cTn>
                                        <p:tgtEl>
                                          <p:spTgt spid="116"/>
                                        </p:tgtEl>
                                        <p:attrNameLst>
                                          <p:attrName>style.visibility</p:attrName>
                                        </p:attrNameLst>
                                      </p:cBhvr>
                                      <p:to>
                                        <p:strVal val="visible"/>
                                      </p:to>
                                    </p:set>
                                    <p:animEffect transition="in" filter="blinds(horizontal)">
                                      <p:cBhvr>
                                        <p:cTn id="75" dur="500"/>
                                        <p:tgtEl>
                                          <p:spTgt spid="116"/>
                                        </p:tgtEl>
                                      </p:cBhvr>
                                    </p:animEffect>
                                  </p:childTnLst>
                                </p:cTn>
                              </p:par>
                              <p:par>
                                <p:cTn id="76" presetID="3" presetClass="entr" presetSubtype="10" fill="hold" nodeType="withEffect">
                                  <p:stCondLst>
                                    <p:cond delay="0"/>
                                  </p:stCondLst>
                                  <p:childTnLst>
                                    <p:set>
                                      <p:cBhvr>
                                        <p:cTn id="77" dur="1" fill="hold">
                                          <p:stCondLst>
                                            <p:cond delay="0"/>
                                          </p:stCondLst>
                                        </p:cTn>
                                        <p:tgtEl>
                                          <p:spTgt spid="117"/>
                                        </p:tgtEl>
                                        <p:attrNameLst>
                                          <p:attrName>style.visibility</p:attrName>
                                        </p:attrNameLst>
                                      </p:cBhvr>
                                      <p:to>
                                        <p:strVal val="visible"/>
                                      </p:to>
                                    </p:set>
                                    <p:animEffect transition="in" filter="blinds(horizontal)">
                                      <p:cBhvr>
                                        <p:cTn id="78"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B9DF9F-EDD9-B4F6-534D-551D89304BBF}"/>
              </a:ext>
            </a:extLst>
          </p:cNvPr>
          <p:cNvSpPr>
            <a:spLocks noGrp="1"/>
          </p:cNvSpPr>
          <p:nvPr>
            <p:ph type="title"/>
          </p:nvPr>
        </p:nvSpPr>
        <p:spPr/>
        <p:txBody>
          <a:bodyPr/>
          <a:lstStyle/>
          <a:p>
            <a:r>
              <a:rPr lang="en-IN" dirty="0"/>
              <a:t>Problem solving performance-BFS</a:t>
            </a:r>
          </a:p>
        </p:txBody>
      </p:sp>
      <p:sp>
        <p:nvSpPr>
          <p:cNvPr id="3" name="Content Placeholder 2">
            <a:extLst>
              <a:ext uri="{FF2B5EF4-FFF2-40B4-BE49-F238E27FC236}">
                <a16:creationId xmlns:a16="http://schemas.microsoft.com/office/drawing/2014/main" xmlns="" id="{6DE99424-1D5D-4D0B-B7E6-DB96FA73458A}"/>
              </a:ext>
            </a:extLst>
          </p:cNvPr>
          <p:cNvSpPr>
            <a:spLocks noGrp="1"/>
          </p:cNvSpPr>
          <p:nvPr>
            <p:ph idx="1"/>
          </p:nvPr>
        </p:nvSpPr>
        <p:spPr/>
        <p:txBody>
          <a:bodyPr>
            <a:normAutofit fontScale="85000" lnSpcReduction="10000"/>
          </a:bodyPr>
          <a:lstStyle/>
          <a:p>
            <a:r>
              <a:rPr lang="en-US" sz="2400" b="1" dirty="0">
                <a:solidFill>
                  <a:srgbClr val="000000"/>
                </a:solidFill>
                <a:effectLst/>
              </a:rPr>
              <a:t>complete</a:t>
            </a:r>
            <a:r>
              <a:rPr lang="en-US" sz="2400" dirty="0">
                <a:solidFill>
                  <a:srgbClr val="000000"/>
                </a:solidFill>
                <a:effectLst/>
              </a:rPr>
              <a:t>—if the shallowest goal node is at some finite depth d, breadth-first search will eventually find it after generating all shallower nodes</a:t>
            </a:r>
          </a:p>
          <a:p>
            <a:r>
              <a:rPr lang="en-US" sz="2400" b="1" dirty="0">
                <a:solidFill>
                  <a:srgbClr val="000000"/>
                </a:solidFill>
                <a:effectLst/>
              </a:rPr>
              <a:t>not optimal one</a:t>
            </a:r>
            <a:r>
              <a:rPr lang="en-US" sz="2400" dirty="0">
                <a:solidFill>
                  <a:srgbClr val="000000"/>
                </a:solidFill>
                <a:effectLst/>
              </a:rPr>
              <a:t>: breadth-first search is optimal if the path cost is a nondecreasing function of the depth of the node. The most common such scenario is that all actions have the same cost.</a:t>
            </a:r>
          </a:p>
          <a:p>
            <a:r>
              <a:rPr lang="en-US" altLang="en-US" sz="2400" b="1" dirty="0">
                <a:solidFill>
                  <a:srgbClr val="1D0401"/>
                </a:solidFill>
              </a:rPr>
              <a:t>Time Complexity</a:t>
            </a:r>
            <a:r>
              <a:rPr lang="en-US" altLang="en-US" sz="2400" dirty="0">
                <a:solidFill>
                  <a:srgbClr val="1D0401"/>
                </a:solidFill>
              </a:rPr>
              <a:t>: </a:t>
            </a:r>
            <a:r>
              <a:rPr lang="en-US" sz="2400" dirty="0">
                <a:solidFill>
                  <a:srgbClr val="000000"/>
                </a:solidFill>
                <a:effectLst/>
              </a:rPr>
              <a:t>The root of the search tree generates b nodes at the first level, each of which generates b more nodes, for a total of b2 at the second level. Each of </a:t>
            </a:r>
            <a:r>
              <a:rPr lang="en-US" sz="2400" i="1" dirty="0">
                <a:solidFill>
                  <a:srgbClr val="000000"/>
                </a:solidFill>
                <a:effectLst/>
              </a:rPr>
              <a:t>these </a:t>
            </a:r>
            <a:r>
              <a:rPr lang="en-US" sz="2400" dirty="0">
                <a:solidFill>
                  <a:srgbClr val="000000"/>
                </a:solidFill>
                <a:effectLst/>
              </a:rPr>
              <a:t>generates b more nodes, yielding b</a:t>
            </a:r>
            <a:r>
              <a:rPr lang="en-US" sz="2400" baseline="30000" dirty="0">
                <a:solidFill>
                  <a:srgbClr val="000000"/>
                </a:solidFill>
                <a:effectLst/>
              </a:rPr>
              <a:t>3</a:t>
            </a:r>
            <a:r>
              <a:rPr lang="en-US" sz="2400" dirty="0"/>
              <a:t> </a:t>
            </a:r>
            <a:r>
              <a:rPr lang="en-US" sz="2400" dirty="0">
                <a:solidFill>
                  <a:srgbClr val="000000"/>
                </a:solidFill>
                <a:effectLst/>
              </a:rPr>
              <a:t>nodes at the third level, and so on. Now suppose that the solution is at depth d. In the worst case, it is the last node generated at that level. Then the total number of nodes generated is </a:t>
            </a:r>
            <a:endParaRPr lang="en-US" sz="2400" dirty="0"/>
          </a:p>
          <a:p>
            <a:pPr algn="ctr"/>
            <a:r>
              <a:rPr lang="en-US" sz="2400" dirty="0">
                <a:solidFill>
                  <a:srgbClr val="000000"/>
                </a:solidFill>
                <a:effectLst/>
              </a:rPr>
              <a:t>b + b</a:t>
            </a:r>
            <a:r>
              <a:rPr lang="en-US" sz="2400" baseline="30000" dirty="0">
                <a:solidFill>
                  <a:srgbClr val="000000"/>
                </a:solidFill>
                <a:effectLst/>
              </a:rPr>
              <a:t>2</a:t>
            </a:r>
            <a:r>
              <a:rPr lang="en-US" sz="2400" dirty="0">
                <a:solidFill>
                  <a:srgbClr val="000000"/>
                </a:solidFill>
                <a:effectLst/>
              </a:rPr>
              <a:t> + b</a:t>
            </a:r>
            <a:r>
              <a:rPr lang="en-US" sz="2400" baseline="30000" dirty="0">
                <a:solidFill>
                  <a:srgbClr val="000000"/>
                </a:solidFill>
                <a:effectLst/>
              </a:rPr>
              <a:t>3</a:t>
            </a:r>
            <a:r>
              <a:rPr lang="en-US" sz="2400" dirty="0">
                <a:solidFill>
                  <a:srgbClr val="000000"/>
                </a:solidFill>
                <a:effectLst/>
              </a:rPr>
              <a:t> + ··· + b</a:t>
            </a:r>
            <a:r>
              <a:rPr lang="en-US" sz="2400" baseline="30000" dirty="0">
                <a:solidFill>
                  <a:srgbClr val="000000"/>
                </a:solidFill>
                <a:effectLst/>
              </a:rPr>
              <a:t>d</a:t>
            </a:r>
            <a:r>
              <a:rPr lang="en-US" sz="2400" dirty="0">
                <a:solidFill>
                  <a:srgbClr val="000000"/>
                </a:solidFill>
                <a:effectLst/>
              </a:rPr>
              <a:t> = O(b</a:t>
            </a:r>
            <a:r>
              <a:rPr lang="en-US" sz="2400" baseline="30000" dirty="0">
                <a:solidFill>
                  <a:srgbClr val="000000"/>
                </a:solidFill>
                <a:effectLst/>
              </a:rPr>
              <a:t>d</a:t>
            </a:r>
            <a:r>
              <a:rPr lang="en-US" sz="2400" dirty="0">
                <a:solidFill>
                  <a:srgbClr val="000000"/>
                </a:solidFill>
                <a:effectLst/>
              </a:rPr>
              <a:t>) </a:t>
            </a:r>
            <a:endParaRPr lang="en-US" altLang="en-US" sz="2400" dirty="0">
              <a:solidFill>
                <a:srgbClr val="1D0401"/>
              </a:solidFill>
            </a:endParaRPr>
          </a:p>
          <a:p>
            <a:r>
              <a:rPr lang="en-US" altLang="en-US" sz="2400" b="1" dirty="0">
                <a:solidFill>
                  <a:srgbClr val="1D0401"/>
                </a:solidFill>
              </a:rPr>
              <a:t>Space Complexity</a:t>
            </a:r>
            <a:r>
              <a:rPr lang="en-US" altLang="en-US" sz="2400" dirty="0">
                <a:solidFill>
                  <a:srgbClr val="1D0401"/>
                </a:solidFill>
              </a:rPr>
              <a:t>: </a:t>
            </a:r>
            <a:r>
              <a:rPr lang="en-US" sz="2400" dirty="0">
                <a:solidFill>
                  <a:srgbClr val="000000"/>
                </a:solidFill>
                <a:effectLst/>
              </a:rPr>
              <a:t>every node generated remains in memory. There will be O(b</a:t>
            </a:r>
            <a:r>
              <a:rPr lang="en-US" sz="2400" baseline="30000" dirty="0">
                <a:solidFill>
                  <a:srgbClr val="000000"/>
                </a:solidFill>
                <a:effectLst/>
              </a:rPr>
              <a:t>d−1</a:t>
            </a:r>
            <a:r>
              <a:rPr lang="en-US" sz="2400" dirty="0">
                <a:solidFill>
                  <a:srgbClr val="000000"/>
                </a:solidFill>
                <a:effectLst/>
              </a:rPr>
              <a:t>) nodes in the explored set and O(b</a:t>
            </a:r>
            <a:r>
              <a:rPr lang="en-US" sz="2400" baseline="30000" dirty="0">
                <a:solidFill>
                  <a:srgbClr val="000000"/>
                </a:solidFill>
                <a:effectLst/>
              </a:rPr>
              <a:t>d</a:t>
            </a:r>
            <a:r>
              <a:rPr lang="en-US" sz="2400" dirty="0">
                <a:solidFill>
                  <a:srgbClr val="000000"/>
                </a:solidFill>
                <a:effectLst/>
              </a:rPr>
              <a:t>) nodes in the frontier so the space complexity is O(b</a:t>
            </a:r>
            <a:r>
              <a:rPr lang="en-US" sz="2400" baseline="30000" dirty="0">
                <a:solidFill>
                  <a:srgbClr val="000000"/>
                </a:solidFill>
                <a:effectLst/>
              </a:rPr>
              <a:t>d</a:t>
            </a:r>
            <a:r>
              <a:rPr lang="en-US" sz="2400" dirty="0">
                <a:solidFill>
                  <a:srgbClr val="000000"/>
                </a:solidFill>
                <a:effectLst/>
              </a:rPr>
              <a:t>), </a:t>
            </a:r>
            <a:r>
              <a:rPr lang="en-IN" sz="2400" dirty="0">
                <a:solidFill>
                  <a:srgbClr val="000000"/>
                </a:solidFill>
                <a:effectLst/>
              </a:rPr>
              <a:t>exponential complexity</a:t>
            </a:r>
            <a:endParaRPr lang="en-IN" sz="2400" dirty="0"/>
          </a:p>
        </p:txBody>
      </p:sp>
      <p:sp>
        <p:nvSpPr>
          <p:cNvPr id="4" name="Footer Placeholder 3">
            <a:extLst>
              <a:ext uri="{FF2B5EF4-FFF2-40B4-BE49-F238E27FC236}">
                <a16:creationId xmlns:a16="http://schemas.microsoft.com/office/drawing/2014/main" xmlns="" id="{47F949D9-3DB0-9EAA-1499-498DE1FDD542}"/>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6A940DF8-56DB-9596-2540-0AE5D4454D7D}"/>
              </a:ext>
            </a:extLst>
          </p:cNvPr>
          <p:cNvSpPr>
            <a:spLocks noGrp="1"/>
          </p:cNvSpPr>
          <p:nvPr>
            <p:ph type="sldNum" sz="quarter" idx="12"/>
          </p:nvPr>
        </p:nvSpPr>
        <p:spPr/>
        <p:txBody>
          <a:bodyPr/>
          <a:lstStyle/>
          <a:p>
            <a:fld id="{1E81A027-E3F7-4FC9-A752-E855AD4A687D}" type="slidenum">
              <a:rPr lang="en-IN" smtClean="0"/>
              <a:t>60</a:t>
            </a:fld>
            <a:endParaRPr lang="en-IN"/>
          </a:p>
        </p:txBody>
      </p:sp>
    </p:spTree>
    <p:extLst>
      <p:ext uri="{BB962C8B-B14F-4D97-AF65-F5344CB8AC3E}">
        <p14:creationId xmlns:p14="http://schemas.microsoft.com/office/powerpoint/2010/main" val="2021145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5D2F15-FF02-6A46-C332-D01DD650989F}"/>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xmlns="" id="{E16768C3-C629-4BD0-3F47-8BDFAA20DFE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ED4BBB2C-CCA6-BA70-22B7-F6E63EB1B148}"/>
              </a:ext>
            </a:extLst>
          </p:cNvPr>
          <p:cNvSpPr>
            <a:spLocks noGrp="1"/>
          </p:cNvSpPr>
          <p:nvPr>
            <p:ph type="sldNum" sz="quarter" idx="12"/>
          </p:nvPr>
        </p:nvSpPr>
        <p:spPr/>
        <p:txBody>
          <a:bodyPr/>
          <a:lstStyle/>
          <a:p>
            <a:fld id="{1E81A027-E3F7-4FC9-A752-E855AD4A687D}" type="slidenum">
              <a:rPr lang="en-IN" smtClean="0"/>
              <a:t>61</a:t>
            </a:fld>
            <a:endParaRPr lang="en-IN"/>
          </a:p>
        </p:txBody>
      </p:sp>
      <p:pic>
        <p:nvPicPr>
          <p:cNvPr id="8" name="Content Placeholder 7">
            <a:extLst>
              <a:ext uri="{FF2B5EF4-FFF2-40B4-BE49-F238E27FC236}">
                <a16:creationId xmlns:a16="http://schemas.microsoft.com/office/drawing/2014/main" xmlns="" id="{CAD7123B-99B2-156A-AEF4-48D306BA7D71}"/>
              </a:ext>
            </a:extLst>
          </p:cNvPr>
          <p:cNvPicPr>
            <a:picLocks noGrp="1" noChangeAspect="1"/>
          </p:cNvPicPr>
          <p:nvPr>
            <p:ph idx="1"/>
          </p:nvPr>
        </p:nvPicPr>
        <p:blipFill>
          <a:blip r:embed="rId2"/>
          <a:stretch>
            <a:fillRect/>
          </a:stretch>
        </p:blipFill>
        <p:spPr>
          <a:xfrm>
            <a:off x="475861" y="1498008"/>
            <a:ext cx="11131421" cy="4666968"/>
          </a:xfrm>
          <a:prstGeom prst="rect">
            <a:avLst/>
          </a:prstGeom>
        </p:spPr>
      </p:pic>
    </p:spTree>
    <p:extLst>
      <p:ext uri="{BB962C8B-B14F-4D97-AF65-F5344CB8AC3E}">
        <p14:creationId xmlns:p14="http://schemas.microsoft.com/office/powerpoint/2010/main" val="22677399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C058A9-E095-F6CE-FA4A-833219850D42}"/>
              </a:ext>
            </a:extLst>
          </p:cNvPr>
          <p:cNvSpPr>
            <a:spLocks noGrp="1"/>
          </p:cNvSpPr>
          <p:nvPr>
            <p:ph type="title"/>
          </p:nvPr>
        </p:nvSpPr>
        <p:spPr/>
        <p:txBody>
          <a:bodyPr/>
          <a:lstStyle/>
          <a:p>
            <a:r>
              <a:rPr lang="en-IN" dirty="0"/>
              <a:t>2. Uniform-cost search</a:t>
            </a:r>
          </a:p>
        </p:txBody>
      </p:sp>
      <p:sp>
        <p:nvSpPr>
          <p:cNvPr id="3" name="Content Placeholder 2">
            <a:extLst>
              <a:ext uri="{FF2B5EF4-FFF2-40B4-BE49-F238E27FC236}">
                <a16:creationId xmlns:a16="http://schemas.microsoft.com/office/drawing/2014/main" xmlns="" id="{F3392024-56D8-7D2D-4086-DD82C81B974A}"/>
              </a:ext>
            </a:extLst>
          </p:cNvPr>
          <p:cNvSpPr>
            <a:spLocks noGrp="1"/>
          </p:cNvSpPr>
          <p:nvPr>
            <p:ph idx="1"/>
          </p:nvPr>
        </p:nvSpPr>
        <p:spPr/>
        <p:txBody>
          <a:bodyPr>
            <a:normAutofit/>
          </a:bodyPr>
          <a:lstStyle/>
          <a:p>
            <a:r>
              <a:rPr lang="en-US" sz="2800" dirty="0">
                <a:solidFill>
                  <a:srgbClr val="000000"/>
                </a:solidFill>
                <a:effectLst/>
              </a:rPr>
              <a:t>Instead of expanding the shallowest node, </a:t>
            </a:r>
            <a:r>
              <a:rPr lang="en-US" sz="2800" b="1" dirty="0">
                <a:solidFill>
                  <a:srgbClr val="000000"/>
                </a:solidFill>
                <a:effectLst/>
              </a:rPr>
              <a:t>uniform-cost search </a:t>
            </a:r>
            <a:r>
              <a:rPr lang="en-US" sz="2800" dirty="0">
                <a:solidFill>
                  <a:srgbClr val="000000"/>
                </a:solidFill>
                <a:effectLst/>
              </a:rPr>
              <a:t>expands the node n with the </a:t>
            </a:r>
            <a:r>
              <a:rPr lang="en-US" sz="2800" i="1" dirty="0">
                <a:solidFill>
                  <a:srgbClr val="000000"/>
                </a:solidFill>
                <a:effectLst/>
              </a:rPr>
              <a:t>lowest path cost </a:t>
            </a:r>
            <a:r>
              <a:rPr lang="en-US" sz="2800" dirty="0">
                <a:solidFill>
                  <a:srgbClr val="000000"/>
                </a:solidFill>
                <a:effectLst/>
              </a:rPr>
              <a:t>g(n). This is done by storing the frontier as a priority queue ordered by g.</a:t>
            </a:r>
          </a:p>
          <a:p>
            <a:r>
              <a:rPr lang="en-US" sz="2800" dirty="0">
                <a:solidFill>
                  <a:srgbClr val="000000"/>
                </a:solidFill>
                <a:effectLst/>
              </a:rPr>
              <a:t>the goal test is applied to a node when it is </a:t>
            </a:r>
            <a:r>
              <a:rPr lang="en-US" sz="2800" i="1" dirty="0">
                <a:solidFill>
                  <a:srgbClr val="000000"/>
                </a:solidFill>
                <a:effectLst/>
              </a:rPr>
              <a:t>selected for expansion because </a:t>
            </a:r>
            <a:r>
              <a:rPr lang="en-US" sz="2800" dirty="0">
                <a:solidFill>
                  <a:srgbClr val="000000"/>
                </a:solidFill>
                <a:effectLst/>
              </a:rPr>
              <a:t>the first goal node that is </a:t>
            </a:r>
            <a:r>
              <a:rPr lang="en-US" sz="2800" i="1" dirty="0">
                <a:solidFill>
                  <a:srgbClr val="000000"/>
                </a:solidFill>
                <a:effectLst/>
              </a:rPr>
              <a:t>generated </a:t>
            </a:r>
            <a:r>
              <a:rPr lang="en-US" sz="2800" dirty="0">
                <a:solidFill>
                  <a:srgbClr val="000000"/>
                </a:solidFill>
                <a:effectLst/>
              </a:rPr>
              <a:t>may be on a suboptimal path</a:t>
            </a:r>
          </a:p>
          <a:p>
            <a:r>
              <a:rPr lang="en-US" sz="2800" dirty="0">
                <a:solidFill>
                  <a:srgbClr val="000000"/>
                </a:solidFill>
                <a:effectLst/>
              </a:rPr>
              <a:t>a test is added in case a better path is found to a node currently on the frontier</a:t>
            </a:r>
            <a:endParaRPr lang="en-IN" sz="3200" dirty="0"/>
          </a:p>
        </p:txBody>
      </p:sp>
      <p:sp>
        <p:nvSpPr>
          <p:cNvPr id="4" name="Footer Placeholder 3">
            <a:extLst>
              <a:ext uri="{FF2B5EF4-FFF2-40B4-BE49-F238E27FC236}">
                <a16:creationId xmlns:a16="http://schemas.microsoft.com/office/drawing/2014/main" xmlns="" id="{A334B66A-A7C7-36F5-96DD-2D3D64593E63}"/>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5FBDC8E3-E615-DDE0-B1E9-0A732EE85C40}"/>
              </a:ext>
            </a:extLst>
          </p:cNvPr>
          <p:cNvSpPr>
            <a:spLocks noGrp="1"/>
          </p:cNvSpPr>
          <p:nvPr>
            <p:ph type="sldNum" sz="quarter" idx="12"/>
          </p:nvPr>
        </p:nvSpPr>
        <p:spPr/>
        <p:txBody>
          <a:bodyPr/>
          <a:lstStyle/>
          <a:p>
            <a:fld id="{1E81A027-E3F7-4FC9-A752-E855AD4A687D}" type="slidenum">
              <a:rPr lang="en-IN" smtClean="0"/>
              <a:t>62</a:t>
            </a:fld>
            <a:endParaRPr lang="en-IN"/>
          </a:p>
        </p:txBody>
      </p:sp>
    </p:spTree>
    <p:extLst>
      <p:ext uri="{BB962C8B-B14F-4D97-AF65-F5344CB8AC3E}">
        <p14:creationId xmlns:p14="http://schemas.microsoft.com/office/powerpoint/2010/main" val="5522315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D1617C-F69E-CAF6-BFE2-8D2B2275F26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F9DFFBE3-591E-54A2-1AF0-130F7DDFE587}"/>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xmlns="" id="{8AC231B2-C4AC-021C-D18A-C80A8811E00E}"/>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4478E6EB-5372-06C5-C60C-11BDE4779650}"/>
              </a:ext>
            </a:extLst>
          </p:cNvPr>
          <p:cNvSpPr>
            <a:spLocks noGrp="1"/>
          </p:cNvSpPr>
          <p:nvPr>
            <p:ph type="sldNum" sz="quarter" idx="12"/>
          </p:nvPr>
        </p:nvSpPr>
        <p:spPr/>
        <p:txBody>
          <a:bodyPr/>
          <a:lstStyle/>
          <a:p>
            <a:fld id="{1E81A027-E3F7-4FC9-A752-E855AD4A687D}" type="slidenum">
              <a:rPr lang="en-IN" smtClean="0"/>
              <a:t>63</a:t>
            </a:fld>
            <a:endParaRPr lang="en-IN"/>
          </a:p>
        </p:txBody>
      </p:sp>
      <p:pic>
        <p:nvPicPr>
          <p:cNvPr id="7" name="Picture 6">
            <a:extLst>
              <a:ext uri="{FF2B5EF4-FFF2-40B4-BE49-F238E27FC236}">
                <a16:creationId xmlns:a16="http://schemas.microsoft.com/office/drawing/2014/main" xmlns="" id="{82CF40C3-E38E-4D1A-C621-F85AA933F249}"/>
              </a:ext>
            </a:extLst>
          </p:cNvPr>
          <p:cNvPicPr>
            <a:picLocks noChangeAspect="1"/>
          </p:cNvPicPr>
          <p:nvPr/>
        </p:nvPicPr>
        <p:blipFill>
          <a:blip r:embed="rId2"/>
          <a:stretch>
            <a:fillRect/>
          </a:stretch>
        </p:blipFill>
        <p:spPr>
          <a:xfrm>
            <a:off x="1711454" y="286603"/>
            <a:ext cx="8641913" cy="5928754"/>
          </a:xfrm>
          <a:prstGeom prst="rect">
            <a:avLst/>
          </a:prstGeom>
        </p:spPr>
      </p:pic>
    </p:spTree>
    <p:extLst>
      <p:ext uri="{BB962C8B-B14F-4D97-AF65-F5344CB8AC3E}">
        <p14:creationId xmlns:p14="http://schemas.microsoft.com/office/powerpoint/2010/main" val="7593650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A3006AB3-6B7F-B957-2E75-4D05056177B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104F460B-6653-4AA3-941E-90D2BBFEEA1D}"/>
              </a:ext>
            </a:extLst>
          </p:cNvPr>
          <p:cNvSpPr>
            <a:spLocks noGrp="1"/>
          </p:cNvSpPr>
          <p:nvPr>
            <p:ph type="sldNum" sz="quarter" idx="12"/>
          </p:nvPr>
        </p:nvSpPr>
        <p:spPr/>
        <p:txBody>
          <a:bodyPr/>
          <a:lstStyle/>
          <a:p>
            <a:fld id="{1E81A027-E3F7-4FC9-A752-E855AD4A687D}" type="slidenum">
              <a:rPr lang="en-IN" smtClean="0"/>
              <a:t>64</a:t>
            </a:fld>
            <a:endParaRPr lang="en-IN"/>
          </a:p>
        </p:txBody>
      </p:sp>
      <p:sp>
        <p:nvSpPr>
          <p:cNvPr id="3" name="Content Placeholder 2">
            <a:extLst>
              <a:ext uri="{FF2B5EF4-FFF2-40B4-BE49-F238E27FC236}">
                <a16:creationId xmlns:a16="http://schemas.microsoft.com/office/drawing/2014/main" xmlns="" id="{3A80712C-EA8D-AA40-A920-04C47BCA5964}"/>
              </a:ext>
            </a:extLst>
          </p:cNvPr>
          <p:cNvSpPr>
            <a:spLocks noGrp="1"/>
          </p:cNvSpPr>
          <p:nvPr>
            <p:ph idx="4294967295"/>
          </p:nvPr>
        </p:nvSpPr>
        <p:spPr>
          <a:xfrm>
            <a:off x="0" y="287338"/>
            <a:ext cx="11131420" cy="5581650"/>
          </a:xfrm>
        </p:spPr>
        <p:txBody>
          <a:bodyPr>
            <a:normAutofit fontScale="92500" lnSpcReduction="20000"/>
          </a:bodyPr>
          <a:lstStyle/>
          <a:p>
            <a:r>
              <a:rPr lang="en-US" sz="3200" dirty="0">
                <a:solidFill>
                  <a:srgbClr val="000000"/>
                </a:solidFill>
              </a:rPr>
              <a:t>problem is to get from Sibiu to Bucharest</a:t>
            </a:r>
          </a:p>
          <a:p>
            <a:r>
              <a:rPr lang="en-US" sz="3200" dirty="0">
                <a:solidFill>
                  <a:srgbClr val="000000"/>
                </a:solidFill>
              </a:rPr>
              <a:t>The successors of Sibiu are </a:t>
            </a:r>
            <a:r>
              <a:rPr lang="en-US" sz="3200" dirty="0" err="1">
                <a:solidFill>
                  <a:srgbClr val="000000"/>
                </a:solidFill>
              </a:rPr>
              <a:t>Rimnicu</a:t>
            </a:r>
            <a:r>
              <a:rPr lang="en-US" sz="3200" dirty="0">
                <a:solidFill>
                  <a:srgbClr val="000000"/>
                </a:solidFill>
              </a:rPr>
              <a:t> </a:t>
            </a:r>
            <a:r>
              <a:rPr lang="en-US" sz="3200" dirty="0" err="1">
                <a:solidFill>
                  <a:srgbClr val="000000"/>
                </a:solidFill>
              </a:rPr>
              <a:t>Vilcea</a:t>
            </a:r>
            <a:r>
              <a:rPr lang="en-US" sz="3200" dirty="0">
                <a:solidFill>
                  <a:srgbClr val="000000"/>
                </a:solidFill>
              </a:rPr>
              <a:t> and </a:t>
            </a:r>
            <a:r>
              <a:rPr lang="en-US" sz="3200" dirty="0" err="1">
                <a:solidFill>
                  <a:srgbClr val="000000"/>
                </a:solidFill>
              </a:rPr>
              <a:t>Fagaras</a:t>
            </a:r>
            <a:r>
              <a:rPr lang="en-US" sz="3200" dirty="0">
                <a:solidFill>
                  <a:srgbClr val="000000"/>
                </a:solidFill>
              </a:rPr>
              <a:t>, with costs 80 and 99, respectively. </a:t>
            </a:r>
          </a:p>
          <a:p>
            <a:r>
              <a:rPr lang="en-US" sz="3200" dirty="0">
                <a:solidFill>
                  <a:srgbClr val="000000"/>
                </a:solidFill>
              </a:rPr>
              <a:t>The least-cost node, </a:t>
            </a:r>
            <a:r>
              <a:rPr lang="en-US" sz="3200" dirty="0" err="1">
                <a:solidFill>
                  <a:srgbClr val="000000"/>
                </a:solidFill>
              </a:rPr>
              <a:t>Rimnicu</a:t>
            </a:r>
            <a:r>
              <a:rPr lang="en-US" sz="3200" dirty="0">
                <a:solidFill>
                  <a:srgbClr val="000000"/>
                </a:solidFill>
              </a:rPr>
              <a:t> </a:t>
            </a:r>
            <a:r>
              <a:rPr lang="en-US" sz="3200" dirty="0" err="1">
                <a:solidFill>
                  <a:srgbClr val="000000"/>
                </a:solidFill>
              </a:rPr>
              <a:t>Vilcea</a:t>
            </a:r>
            <a:r>
              <a:rPr lang="en-US" sz="3200" dirty="0">
                <a:solidFill>
                  <a:srgbClr val="000000"/>
                </a:solidFill>
              </a:rPr>
              <a:t>, is expanded next, adding Pitesti with cost 80 + 97 = 177. </a:t>
            </a:r>
          </a:p>
          <a:p>
            <a:r>
              <a:rPr lang="en-US" sz="3200" dirty="0">
                <a:solidFill>
                  <a:srgbClr val="000000"/>
                </a:solidFill>
              </a:rPr>
              <a:t>The least-cost node is now </a:t>
            </a:r>
            <a:r>
              <a:rPr lang="en-US" sz="3200" dirty="0" err="1">
                <a:solidFill>
                  <a:srgbClr val="000000"/>
                </a:solidFill>
              </a:rPr>
              <a:t>Fagaras</a:t>
            </a:r>
            <a:r>
              <a:rPr lang="en-US" sz="3200" dirty="0">
                <a:solidFill>
                  <a:srgbClr val="000000"/>
                </a:solidFill>
              </a:rPr>
              <a:t>, so it is expanded, adding Bucharest with cost 99 + 211 = 310. </a:t>
            </a:r>
          </a:p>
          <a:p>
            <a:r>
              <a:rPr lang="en-US" sz="3200" dirty="0">
                <a:solidFill>
                  <a:srgbClr val="000000"/>
                </a:solidFill>
              </a:rPr>
              <a:t>Now a goal node has been generated, but uniform-cost search keeps going, choosing Pitesti for expansion and adding a second path to Bucharest with cost 80+ 97+ 101 = 278. </a:t>
            </a:r>
          </a:p>
          <a:p>
            <a:r>
              <a:rPr lang="en-US" sz="3200" dirty="0">
                <a:solidFill>
                  <a:srgbClr val="000000"/>
                </a:solidFill>
              </a:rPr>
              <a:t>Now the algorithm checks to see if this new path is better than the old one; it is, so the old one is discarded. Bucharest, now with g-cost 278, is selected for expansion and the solution is returned.</a:t>
            </a:r>
            <a:endParaRPr lang="en-IN" sz="3200" dirty="0">
              <a:solidFill>
                <a:srgbClr val="000000"/>
              </a:solidFill>
            </a:endParaRPr>
          </a:p>
        </p:txBody>
      </p:sp>
    </p:spTree>
    <p:extLst>
      <p:ext uri="{BB962C8B-B14F-4D97-AF65-F5344CB8AC3E}">
        <p14:creationId xmlns:p14="http://schemas.microsoft.com/office/powerpoint/2010/main" val="20705330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0FB05FE1-87AF-AAF8-25BE-A2E4061D2F52}"/>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xmlns="" id="{CCF6D3EC-FEF6-1777-81CB-4CC3E114D9A2}"/>
              </a:ext>
            </a:extLst>
          </p:cNvPr>
          <p:cNvSpPr>
            <a:spLocks noGrp="1"/>
          </p:cNvSpPr>
          <p:nvPr>
            <p:ph type="sldNum" sz="quarter" idx="12"/>
          </p:nvPr>
        </p:nvSpPr>
        <p:spPr/>
        <p:txBody>
          <a:bodyPr/>
          <a:lstStyle/>
          <a:p>
            <a:fld id="{1E81A027-E3F7-4FC9-A752-E855AD4A687D}" type="slidenum">
              <a:rPr lang="en-IN" smtClean="0"/>
              <a:t>65</a:t>
            </a:fld>
            <a:endParaRPr lang="en-IN"/>
          </a:p>
        </p:txBody>
      </p:sp>
      <p:pic>
        <p:nvPicPr>
          <p:cNvPr id="4" name="Picture 3">
            <a:extLst>
              <a:ext uri="{FF2B5EF4-FFF2-40B4-BE49-F238E27FC236}">
                <a16:creationId xmlns:a16="http://schemas.microsoft.com/office/drawing/2014/main" xmlns="" id="{36E3D0B5-1D7C-A451-9E9B-97706C646E73}"/>
              </a:ext>
            </a:extLst>
          </p:cNvPr>
          <p:cNvPicPr>
            <a:picLocks noChangeAspect="1"/>
          </p:cNvPicPr>
          <p:nvPr/>
        </p:nvPicPr>
        <p:blipFill>
          <a:blip r:embed="rId2"/>
          <a:stretch>
            <a:fillRect/>
          </a:stretch>
        </p:blipFill>
        <p:spPr>
          <a:xfrm>
            <a:off x="321906" y="1087847"/>
            <a:ext cx="11548188" cy="4682306"/>
          </a:xfrm>
          <a:prstGeom prst="rect">
            <a:avLst/>
          </a:prstGeom>
        </p:spPr>
      </p:pic>
    </p:spTree>
    <p:extLst>
      <p:ext uri="{BB962C8B-B14F-4D97-AF65-F5344CB8AC3E}">
        <p14:creationId xmlns:p14="http://schemas.microsoft.com/office/powerpoint/2010/main" val="36884822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B9DF9F-EDD9-B4F6-534D-551D89304BBF}"/>
              </a:ext>
            </a:extLst>
          </p:cNvPr>
          <p:cNvSpPr>
            <a:spLocks noGrp="1"/>
          </p:cNvSpPr>
          <p:nvPr>
            <p:ph type="title"/>
          </p:nvPr>
        </p:nvSpPr>
        <p:spPr/>
        <p:txBody>
          <a:bodyPr/>
          <a:lstStyle/>
          <a:p>
            <a:r>
              <a:rPr lang="en-IN" dirty="0"/>
              <a:t>Problem solving performance-UCS</a:t>
            </a:r>
          </a:p>
        </p:txBody>
      </p:sp>
      <p:sp>
        <p:nvSpPr>
          <p:cNvPr id="3" name="Content Placeholder 2">
            <a:extLst>
              <a:ext uri="{FF2B5EF4-FFF2-40B4-BE49-F238E27FC236}">
                <a16:creationId xmlns:a16="http://schemas.microsoft.com/office/drawing/2014/main" xmlns="" id="{6DE99424-1D5D-4D0B-B7E6-DB96FA73458A}"/>
              </a:ext>
            </a:extLst>
          </p:cNvPr>
          <p:cNvSpPr>
            <a:spLocks noGrp="1"/>
          </p:cNvSpPr>
          <p:nvPr>
            <p:ph idx="1"/>
          </p:nvPr>
        </p:nvSpPr>
        <p:spPr/>
        <p:txBody>
          <a:bodyPr>
            <a:normAutofit/>
          </a:bodyPr>
          <a:lstStyle/>
          <a:p>
            <a:r>
              <a:rPr lang="en-US" sz="2400" b="1" dirty="0">
                <a:solidFill>
                  <a:srgbClr val="000000"/>
                </a:solidFill>
              </a:rPr>
              <a:t>C</a:t>
            </a:r>
            <a:r>
              <a:rPr lang="en-US" sz="2400" b="1" dirty="0">
                <a:solidFill>
                  <a:srgbClr val="000000"/>
                </a:solidFill>
                <a:effectLst/>
              </a:rPr>
              <a:t>omplete</a:t>
            </a:r>
            <a:r>
              <a:rPr lang="en-US" sz="2400" b="1" dirty="0">
                <a:solidFill>
                  <a:srgbClr val="000000"/>
                </a:solidFill>
              </a:rPr>
              <a:t>: </a:t>
            </a:r>
            <a:r>
              <a:rPr lang="en-US" sz="2400" dirty="0">
                <a:solidFill>
                  <a:srgbClr val="1D0401"/>
                </a:solidFill>
              </a:rPr>
              <a:t>guaranteed provided the cost of every step exceeds some small positive constant </a:t>
            </a:r>
            <a:r>
              <a:rPr lang="el-GR" altLang="en-US" sz="2400" dirty="0">
                <a:solidFill>
                  <a:srgbClr val="1D0401"/>
                </a:solidFill>
                <a:cs typeface="Arial" panose="020B0604020202020204" pitchFamily="34" charset="0"/>
              </a:rPr>
              <a:t>ε</a:t>
            </a:r>
            <a:endParaRPr lang="en-US" sz="2400" dirty="0">
              <a:solidFill>
                <a:srgbClr val="1D0401"/>
              </a:solidFill>
            </a:endParaRPr>
          </a:p>
          <a:p>
            <a:r>
              <a:rPr lang="en-US" sz="2400" b="1" dirty="0">
                <a:solidFill>
                  <a:srgbClr val="000000"/>
                </a:solidFill>
                <a:effectLst/>
              </a:rPr>
              <a:t>Optimal: </a:t>
            </a:r>
            <a:r>
              <a:rPr lang="en-US" sz="2400" dirty="0">
                <a:solidFill>
                  <a:srgbClr val="000000"/>
                </a:solidFill>
                <a:effectLst/>
              </a:rPr>
              <a:t> </a:t>
            </a:r>
            <a:r>
              <a:rPr lang="en-US" sz="2400" dirty="0">
                <a:solidFill>
                  <a:srgbClr val="1D0401"/>
                </a:solidFill>
              </a:rPr>
              <a:t>optimal path to that node has been found. because step costs are nonnegative, paths never get shorter as nodes are added. uniform-cost search expands nodes in order of their optimal path cost.</a:t>
            </a:r>
          </a:p>
          <a:p>
            <a:r>
              <a:rPr lang="en-US" altLang="en-US" sz="2400" b="1" dirty="0">
                <a:solidFill>
                  <a:srgbClr val="1D0401"/>
                </a:solidFill>
              </a:rPr>
              <a:t>Time Complexity</a:t>
            </a:r>
            <a:r>
              <a:rPr lang="en-US" altLang="en-US" sz="2400" dirty="0">
                <a:solidFill>
                  <a:srgbClr val="1D0401"/>
                </a:solidFill>
              </a:rPr>
              <a:t>: # of nodes with </a:t>
            </a:r>
            <a:r>
              <a:rPr lang="en-US" altLang="en-US" sz="2400" i="1" dirty="0">
                <a:solidFill>
                  <a:srgbClr val="1D0401"/>
                </a:solidFill>
              </a:rPr>
              <a:t>g </a:t>
            </a:r>
            <a:r>
              <a:rPr lang="en-US" altLang="en-US" sz="2400" dirty="0">
                <a:solidFill>
                  <a:srgbClr val="1D0401"/>
                </a:solidFill>
                <a:cs typeface="Arial" panose="020B0604020202020204" pitchFamily="34" charset="0"/>
              </a:rPr>
              <a:t>≤</a:t>
            </a:r>
            <a:r>
              <a:rPr lang="en-US" altLang="en-US" sz="2400" dirty="0">
                <a:solidFill>
                  <a:srgbClr val="1D0401"/>
                </a:solidFill>
              </a:rPr>
              <a:t> cost of optimal solution, </a:t>
            </a:r>
            <a:r>
              <a:rPr lang="en-US" altLang="en-US" sz="2400" i="1" dirty="0">
                <a:solidFill>
                  <a:srgbClr val="1D0401"/>
                </a:solidFill>
              </a:rPr>
              <a:t>O(</a:t>
            </a:r>
            <a:r>
              <a:rPr lang="en-US" altLang="en-US" sz="2400" i="1" dirty="0" err="1">
                <a:solidFill>
                  <a:srgbClr val="1D0401"/>
                </a:solidFill>
              </a:rPr>
              <a:t>b</a:t>
            </a:r>
            <a:r>
              <a:rPr lang="en-US" altLang="en-US" sz="2400" i="1" baseline="30000" dirty="0" err="1">
                <a:solidFill>
                  <a:srgbClr val="1D0401"/>
                </a:solidFill>
              </a:rPr>
              <a:t>ceiling</a:t>
            </a:r>
            <a:r>
              <a:rPr lang="en-US" altLang="en-US" sz="2400" i="1" baseline="30000" dirty="0">
                <a:solidFill>
                  <a:srgbClr val="1D0401"/>
                </a:solidFill>
              </a:rPr>
              <a:t>(C*/ </a:t>
            </a:r>
            <a:r>
              <a:rPr lang="el-GR" altLang="en-US" sz="2400" i="1" baseline="30000" dirty="0">
                <a:solidFill>
                  <a:srgbClr val="1D0401"/>
                </a:solidFill>
                <a:cs typeface="Arial" panose="020B0604020202020204" pitchFamily="34" charset="0"/>
              </a:rPr>
              <a:t>ε</a:t>
            </a:r>
            <a:r>
              <a:rPr lang="en-US" altLang="en-US" sz="2400" i="1" baseline="30000" dirty="0">
                <a:solidFill>
                  <a:srgbClr val="1D0401"/>
                </a:solidFill>
                <a:cs typeface="Arial" panose="020B0604020202020204" pitchFamily="34" charset="0"/>
              </a:rPr>
              <a:t>)</a:t>
            </a:r>
            <a:r>
              <a:rPr lang="en-US" altLang="en-US" sz="2400" i="1" dirty="0">
                <a:solidFill>
                  <a:srgbClr val="1D0401"/>
                </a:solidFill>
              </a:rPr>
              <a:t>)</a:t>
            </a:r>
            <a:r>
              <a:rPr lang="en-US" altLang="en-US" sz="2400" dirty="0">
                <a:solidFill>
                  <a:srgbClr val="1D0401"/>
                </a:solidFill>
              </a:rPr>
              <a:t> where </a:t>
            </a:r>
            <a:r>
              <a:rPr lang="en-US" altLang="en-US" sz="2400" i="1" dirty="0">
                <a:solidFill>
                  <a:srgbClr val="1D0401"/>
                </a:solidFill>
              </a:rPr>
              <a:t>C</a:t>
            </a:r>
            <a:r>
              <a:rPr lang="en-US" altLang="en-US" sz="2400" baseline="30000" dirty="0">
                <a:solidFill>
                  <a:srgbClr val="1D0401"/>
                </a:solidFill>
              </a:rPr>
              <a:t>*</a:t>
            </a:r>
            <a:r>
              <a:rPr lang="en-US" altLang="en-US" sz="2400" dirty="0">
                <a:solidFill>
                  <a:srgbClr val="1D0401"/>
                </a:solidFill>
              </a:rPr>
              <a:t> is the cost of the optimal solution </a:t>
            </a:r>
          </a:p>
          <a:p>
            <a:r>
              <a:rPr lang="en-US" altLang="en-US" sz="2400" b="1" dirty="0">
                <a:solidFill>
                  <a:srgbClr val="1D0401"/>
                </a:solidFill>
              </a:rPr>
              <a:t>Space Complexity</a:t>
            </a:r>
            <a:r>
              <a:rPr lang="en-US" altLang="en-US" sz="2400" dirty="0">
                <a:solidFill>
                  <a:srgbClr val="1D0401"/>
                </a:solidFill>
              </a:rPr>
              <a:t>: # of nodes with </a:t>
            </a:r>
            <a:r>
              <a:rPr lang="en-US" altLang="en-US" sz="2400" i="1" dirty="0">
                <a:solidFill>
                  <a:srgbClr val="1D0401"/>
                </a:solidFill>
              </a:rPr>
              <a:t>g</a:t>
            </a:r>
            <a:r>
              <a:rPr lang="en-US" altLang="en-US" sz="2400" dirty="0">
                <a:solidFill>
                  <a:srgbClr val="1D0401"/>
                </a:solidFill>
              </a:rPr>
              <a:t> </a:t>
            </a:r>
            <a:r>
              <a:rPr lang="en-US" altLang="en-US" sz="2400" dirty="0">
                <a:solidFill>
                  <a:srgbClr val="1D0401"/>
                </a:solidFill>
                <a:cs typeface="Arial" panose="020B0604020202020204" pitchFamily="34" charset="0"/>
              </a:rPr>
              <a:t>≤ </a:t>
            </a:r>
            <a:r>
              <a:rPr lang="en-US" altLang="en-US" sz="2400" dirty="0">
                <a:solidFill>
                  <a:srgbClr val="1D0401"/>
                </a:solidFill>
              </a:rPr>
              <a:t>cost of optimal solution, </a:t>
            </a:r>
            <a:r>
              <a:rPr lang="en-US" altLang="en-US" sz="2400" i="1" dirty="0">
                <a:solidFill>
                  <a:srgbClr val="1D0401"/>
                </a:solidFill>
              </a:rPr>
              <a:t>O(</a:t>
            </a:r>
            <a:r>
              <a:rPr lang="en-US" altLang="en-US" sz="2400" i="1" dirty="0" err="1">
                <a:solidFill>
                  <a:srgbClr val="1D0401"/>
                </a:solidFill>
              </a:rPr>
              <a:t>b</a:t>
            </a:r>
            <a:r>
              <a:rPr lang="en-US" altLang="en-US" sz="2400" i="1" baseline="30000" dirty="0" err="1">
                <a:solidFill>
                  <a:srgbClr val="1D0401"/>
                </a:solidFill>
              </a:rPr>
              <a:t>ceiling</a:t>
            </a:r>
            <a:r>
              <a:rPr lang="en-US" altLang="en-US" sz="2400" i="1" baseline="30000" dirty="0">
                <a:solidFill>
                  <a:srgbClr val="1D0401"/>
                </a:solidFill>
              </a:rPr>
              <a:t>(C*/ </a:t>
            </a:r>
            <a:r>
              <a:rPr lang="el-GR" altLang="en-US" sz="2400" i="1" baseline="30000" dirty="0">
                <a:solidFill>
                  <a:srgbClr val="1D0401"/>
                </a:solidFill>
                <a:cs typeface="Arial" panose="020B0604020202020204" pitchFamily="34" charset="0"/>
              </a:rPr>
              <a:t>ε</a:t>
            </a:r>
            <a:r>
              <a:rPr lang="en-US" altLang="en-US" sz="2400" i="1" baseline="30000" dirty="0">
                <a:solidFill>
                  <a:srgbClr val="1D0401"/>
                </a:solidFill>
                <a:cs typeface="Arial" panose="020B0604020202020204" pitchFamily="34" charset="0"/>
              </a:rPr>
              <a:t>)</a:t>
            </a:r>
            <a:r>
              <a:rPr lang="en-US" altLang="en-US" sz="2400" i="1" dirty="0">
                <a:solidFill>
                  <a:srgbClr val="1D0401"/>
                </a:solidFill>
              </a:rPr>
              <a:t>)</a:t>
            </a:r>
            <a:endParaRPr lang="en-IN" sz="2400" dirty="0"/>
          </a:p>
        </p:txBody>
      </p:sp>
      <p:sp>
        <p:nvSpPr>
          <p:cNvPr id="4" name="Footer Placeholder 3">
            <a:extLst>
              <a:ext uri="{FF2B5EF4-FFF2-40B4-BE49-F238E27FC236}">
                <a16:creationId xmlns:a16="http://schemas.microsoft.com/office/drawing/2014/main" xmlns="" id="{47F949D9-3DB0-9EAA-1499-498DE1FDD542}"/>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6A940DF8-56DB-9596-2540-0AE5D4454D7D}"/>
              </a:ext>
            </a:extLst>
          </p:cNvPr>
          <p:cNvSpPr>
            <a:spLocks noGrp="1"/>
          </p:cNvSpPr>
          <p:nvPr>
            <p:ph type="sldNum" sz="quarter" idx="12"/>
          </p:nvPr>
        </p:nvSpPr>
        <p:spPr/>
        <p:txBody>
          <a:bodyPr/>
          <a:lstStyle/>
          <a:p>
            <a:fld id="{1E81A027-E3F7-4FC9-A752-E855AD4A687D}" type="slidenum">
              <a:rPr lang="en-IN" smtClean="0"/>
              <a:t>66</a:t>
            </a:fld>
            <a:endParaRPr lang="en-IN"/>
          </a:p>
        </p:txBody>
      </p:sp>
    </p:spTree>
    <p:extLst>
      <p:ext uri="{BB962C8B-B14F-4D97-AF65-F5344CB8AC3E}">
        <p14:creationId xmlns:p14="http://schemas.microsoft.com/office/powerpoint/2010/main" val="21446007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58CAD5CF-E04E-E643-23A6-6EE7079054E8}"/>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D7C2A75F-1468-29AC-33DA-D442166DCB36}"/>
              </a:ext>
            </a:extLst>
          </p:cNvPr>
          <p:cNvSpPr>
            <a:spLocks noGrp="1"/>
          </p:cNvSpPr>
          <p:nvPr>
            <p:ph type="sldNum" sz="quarter" idx="12"/>
          </p:nvPr>
        </p:nvSpPr>
        <p:spPr/>
        <p:txBody>
          <a:bodyPr/>
          <a:lstStyle/>
          <a:p>
            <a:fld id="{1E81A027-E3F7-4FC9-A752-E855AD4A687D}" type="slidenum">
              <a:rPr lang="en-IN" smtClean="0"/>
              <a:t>67</a:t>
            </a:fld>
            <a:endParaRPr lang="en-IN"/>
          </a:p>
        </p:txBody>
      </p:sp>
      <p:sp>
        <p:nvSpPr>
          <p:cNvPr id="3" name="Content Placeholder 2">
            <a:extLst>
              <a:ext uri="{FF2B5EF4-FFF2-40B4-BE49-F238E27FC236}">
                <a16:creationId xmlns:a16="http://schemas.microsoft.com/office/drawing/2014/main" xmlns="" id="{1A07DA09-205F-636E-A647-772003CEE7E0}"/>
              </a:ext>
            </a:extLst>
          </p:cNvPr>
          <p:cNvSpPr>
            <a:spLocks noGrp="1"/>
          </p:cNvSpPr>
          <p:nvPr>
            <p:ph idx="4294967295"/>
          </p:nvPr>
        </p:nvSpPr>
        <p:spPr>
          <a:xfrm>
            <a:off x="570271" y="422787"/>
            <a:ext cx="11021961" cy="5446201"/>
          </a:xfrm>
        </p:spPr>
        <p:txBody>
          <a:bodyPr>
            <a:normAutofit lnSpcReduction="10000"/>
          </a:bodyPr>
          <a:lstStyle/>
          <a:p>
            <a:r>
              <a:rPr lang="en-US" sz="2400" dirty="0">
                <a:solidFill>
                  <a:srgbClr val="7030A0"/>
                </a:solidFill>
                <a:effectLst/>
              </a:rPr>
              <a:t>Uniform-cost search is guided by path cost</a:t>
            </a:r>
            <a:r>
              <a:rPr lang="en-US" sz="2400" dirty="0">
                <a:solidFill>
                  <a:srgbClr val="000000"/>
                </a:solidFill>
                <a:effectLst/>
              </a:rPr>
              <a:t>s rather than depths, so its complexity is not easily characterized in terms of b and d. </a:t>
            </a:r>
          </a:p>
          <a:p>
            <a:pPr algn="ctr"/>
            <a:r>
              <a:rPr lang="en-US" sz="2400" dirty="0">
                <a:solidFill>
                  <a:srgbClr val="FF0000"/>
                </a:solidFill>
                <a:effectLst/>
              </a:rPr>
              <a:t>let </a:t>
            </a:r>
            <a:r>
              <a:rPr lang="en-US" sz="2400" dirty="0">
                <a:solidFill>
                  <a:srgbClr val="0070C0"/>
                </a:solidFill>
                <a:effectLst/>
              </a:rPr>
              <a:t>C</a:t>
            </a:r>
            <a:r>
              <a:rPr lang="en-US" sz="2400" baseline="30000" dirty="0">
                <a:solidFill>
                  <a:srgbClr val="0070C0"/>
                </a:solidFill>
                <a:effectLst/>
              </a:rPr>
              <a:t>∗</a:t>
            </a:r>
            <a:r>
              <a:rPr lang="en-US" sz="2400" dirty="0">
                <a:solidFill>
                  <a:srgbClr val="FF0000"/>
                </a:solidFill>
                <a:effectLst/>
              </a:rPr>
              <a:t> be the cost of the optimal solution and that every action costs at least </a:t>
            </a:r>
            <a:r>
              <a:rPr lang="el-GR" altLang="en-US" sz="2400" dirty="0">
                <a:solidFill>
                  <a:srgbClr val="0070C0"/>
                </a:solidFill>
                <a:cs typeface="Arial" panose="020B0604020202020204" pitchFamily="34" charset="0"/>
              </a:rPr>
              <a:t>ε</a:t>
            </a:r>
            <a:endParaRPr lang="en-US" altLang="en-US" sz="2400" dirty="0">
              <a:solidFill>
                <a:srgbClr val="0070C0"/>
              </a:solidFill>
              <a:cs typeface="Arial" panose="020B0604020202020204" pitchFamily="34" charset="0"/>
            </a:endParaRPr>
          </a:p>
          <a:p>
            <a:r>
              <a:rPr lang="en-US" sz="2400" dirty="0">
                <a:solidFill>
                  <a:srgbClr val="000000"/>
                </a:solidFill>
                <a:effectLst/>
              </a:rPr>
              <a:t>Then the algorithm’s worst-case time and space complexity is                      which can be much greater than b</a:t>
            </a:r>
            <a:r>
              <a:rPr lang="en-US" sz="2400" baseline="30000" dirty="0">
                <a:solidFill>
                  <a:srgbClr val="000000"/>
                </a:solidFill>
                <a:effectLst/>
              </a:rPr>
              <a:t>d</a:t>
            </a:r>
            <a:r>
              <a:rPr lang="en-US" sz="2400" dirty="0">
                <a:solidFill>
                  <a:srgbClr val="000000"/>
                </a:solidFill>
                <a:effectLst/>
              </a:rPr>
              <a:t>. </a:t>
            </a:r>
          </a:p>
          <a:p>
            <a:r>
              <a:rPr lang="en-US" sz="2400" dirty="0">
                <a:solidFill>
                  <a:srgbClr val="000000"/>
                </a:solidFill>
                <a:effectLst/>
              </a:rPr>
              <a:t>This is because uniform</a:t>
            </a:r>
            <a:r>
              <a:rPr lang="en-US" sz="2800" dirty="0"/>
              <a:t> </a:t>
            </a:r>
            <a:r>
              <a:rPr lang="en-US" sz="2400" dirty="0">
                <a:solidFill>
                  <a:srgbClr val="000000"/>
                </a:solidFill>
                <a:effectLst/>
              </a:rPr>
              <a:t>cost search can </a:t>
            </a:r>
            <a:r>
              <a:rPr lang="en-US" sz="2400" dirty="0">
                <a:solidFill>
                  <a:srgbClr val="FF0000"/>
                </a:solidFill>
                <a:effectLst/>
              </a:rPr>
              <a:t>explore large trees of small step</a:t>
            </a:r>
            <a:r>
              <a:rPr lang="en-US" sz="2400" dirty="0">
                <a:solidFill>
                  <a:srgbClr val="000000"/>
                </a:solidFill>
                <a:effectLst/>
              </a:rPr>
              <a:t>s before exploring paths involving large and perhaps useful steps. </a:t>
            </a:r>
          </a:p>
          <a:p>
            <a:r>
              <a:rPr lang="en-US" sz="2400" dirty="0">
                <a:solidFill>
                  <a:srgbClr val="000000"/>
                </a:solidFill>
                <a:effectLst/>
              </a:rPr>
              <a:t>When all step costs are equal                  is just b</a:t>
            </a:r>
            <a:r>
              <a:rPr lang="en-US" sz="2400" baseline="30000" dirty="0">
                <a:solidFill>
                  <a:srgbClr val="000000"/>
                </a:solidFill>
                <a:effectLst/>
              </a:rPr>
              <a:t>d+1</a:t>
            </a:r>
            <a:r>
              <a:rPr lang="en-US" sz="2400" dirty="0">
                <a:solidFill>
                  <a:srgbClr val="000000"/>
                </a:solidFill>
                <a:effectLst/>
              </a:rPr>
              <a:t>. </a:t>
            </a:r>
          </a:p>
          <a:p>
            <a:r>
              <a:rPr lang="en-US" sz="2400" dirty="0">
                <a:solidFill>
                  <a:srgbClr val="000000"/>
                </a:solidFill>
                <a:effectLst/>
              </a:rPr>
              <a:t>When </a:t>
            </a:r>
            <a:r>
              <a:rPr lang="en-US" sz="2400" dirty="0">
                <a:solidFill>
                  <a:srgbClr val="FF0000"/>
                </a:solidFill>
                <a:effectLst/>
              </a:rPr>
              <a:t>all step costs are the same</a:t>
            </a:r>
            <a:r>
              <a:rPr lang="en-US" sz="2400" dirty="0">
                <a:solidFill>
                  <a:srgbClr val="000000"/>
                </a:solidFill>
                <a:effectLst/>
              </a:rPr>
              <a:t>, uniform-cost search is </a:t>
            </a:r>
            <a:r>
              <a:rPr lang="en-US" sz="2400" dirty="0">
                <a:solidFill>
                  <a:srgbClr val="FF0000"/>
                </a:solidFill>
                <a:effectLst/>
              </a:rPr>
              <a:t>similar to breadth-first search</a:t>
            </a:r>
            <a:r>
              <a:rPr lang="en-US" sz="2400" dirty="0">
                <a:solidFill>
                  <a:srgbClr val="000000"/>
                </a:solidFill>
                <a:effectLst/>
              </a:rPr>
              <a:t>, except that </a:t>
            </a:r>
            <a:r>
              <a:rPr lang="en-US" sz="2400" dirty="0" err="1">
                <a:solidFill>
                  <a:srgbClr val="000000"/>
                </a:solidFill>
                <a:effectLst/>
              </a:rPr>
              <a:t>bfs</a:t>
            </a:r>
            <a:r>
              <a:rPr lang="en-US" sz="2800" dirty="0"/>
              <a:t> </a:t>
            </a:r>
            <a:r>
              <a:rPr lang="en-US" sz="2400" dirty="0">
                <a:solidFill>
                  <a:srgbClr val="000000"/>
                </a:solidFill>
                <a:effectLst/>
              </a:rPr>
              <a:t>stops as soon as it generates a goal, </a:t>
            </a:r>
            <a:endParaRPr lang="en-US" sz="2400" dirty="0">
              <a:solidFill>
                <a:srgbClr val="000000"/>
              </a:solidFill>
            </a:endParaRPr>
          </a:p>
          <a:p>
            <a:r>
              <a:rPr lang="en-US" sz="2400" dirty="0">
                <a:solidFill>
                  <a:srgbClr val="000000"/>
                </a:solidFill>
                <a:effectLst/>
              </a:rPr>
              <a:t>whereas </a:t>
            </a:r>
            <a:r>
              <a:rPr lang="en-US" sz="2400" b="1" dirty="0">
                <a:solidFill>
                  <a:srgbClr val="0070C0"/>
                </a:solidFill>
                <a:effectLst/>
              </a:rPr>
              <a:t>uniform-cost search examines all the nodes at the goal’s depth to see if one has a lower cost </a:t>
            </a:r>
            <a:r>
              <a:rPr lang="en-US" sz="2400" dirty="0">
                <a:solidFill>
                  <a:srgbClr val="000000"/>
                </a:solidFill>
                <a:effectLst/>
              </a:rPr>
              <a:t>thus uniform-cost search does strictly more work by expanding nodes at depth d unnecessarily</a:t>
            </a:r>
            <a:endParaRPr lang="en-IN" sz="2800" dirty="0"/>
          </a:p>
        </p:txBody>
      </p:sp>
      <p:pic>
        <p:nvPicPr>
          <p:cNvPr id="7" name="Picture 6">
            <a:extLst>
              <a:ext uri="{FF2B5EF4-FFF2-40B4-BE49-F238E27FC236}">
                <a16:creationId xmlns:a16="http://schemas.microsoft.com/office/drawing/2014/main" xmlns="" id="{07F5F748-9DBE-072A-1C34-C3803F6FA971}"/>
              </a:ext>
            </a:extLst>
          </p:cNvPr>
          <p:cNvPicPr>
            <a:picLocks noChangeAspect="1"/>
          </p:cNvPicPr>
          <p:nvPr/>
        </p:nvPicPr>
        <p:blipFill>
          <a:blip r:embed="rId2"/>
          <a:stretch>
            <a:fillRect/>
          </a:stretch>
        </p:blipFill>
        <p:spPr>
          <a:xfrm>
            <a:off x="8285104" y="1679950"/>
            <a:ext cx="1247154" cy="345495"/>
          </a:xfrm>
          <a:prstGeom prst="rect">
            <a:avLst/>
          </a:prstGeom>
        </p:spPr>
      </p:pic>
      <p:pic>
        <p:nvPicPr>
          <p:cNvPr id="9" name="Picture 8">
            <a:extLst>
              <a:ext uri="{FF2B5EF4-FFF2-40B4-BE49-F238E27FC236}">
                <a16:creationId xmlns:a16="http://schemas.microsoft.com/office/drawing/2014/main" xmlns="" id="{53313AC0-340B-446C-A0F3-2BB273B1E4FD}"/>
              </a:ext>
            </a:extLst>
          </p:cNvPr>
          <p:cNvPicPr>
            <a:picLocks noChangeAspect="1"/>
          </p:cNvPicPr>
          <p:nvPr/>
        </p:nvPicPr>
        <p:blipFill>
          <a:blip r:embed="rId3"/>
          <a:stretch>
            <a:fillRect/>
          </a:stretch>
        </p:blipFill>
        <p:spPr>
          <a:xfrm>
            <a:off x="4253398" y="3255015"/>
            <a:ext cx="1257184" cy="347970"/>
          </a:xfrm>
          <a:prstGeom prst="rect">
            <a:avLst/>
          </a:prstGeom>
        </p:spPr>
      </p:pic>
    </p:spTree>
    <p:extLst>
      <p:ext uri="{BB962C8B-B14F-4D97-AF65-F5344CB8AC3E}">
        <p14:creationId xmlns:p14="http://schemas.microsoft.com/office/powerpoint/2010/main" val="37122224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E89D6C4A-C307-5C71-491E-3AFC36724986}"/>
              </a:ext>
            </a:extLst>
          </p:cNvPr>
          <p:cNvSpPr>
            <a:spLocks noGrp="1"/>
          </p:cNvSpPr>
          <p:nvPr>
            <p:ph type="title"/>
          </p:nvPr>
        </p:nvSpPr>
        <p:spPr>
          <a:xfrm>
            <a:off x="762983" y="263527"/>
            <a:ext cx="10058400" cy="1450757"/>
          </a:xfrm>
        </p:spPr>
        <p:txBody>
          <a:bodyPr>
            <a:normAutofit/>
          </a:bodyPr>
          <a:lstStyle/>
          <a:p>
            <a:r>
              <a:rPr lang="en-IN" dirty="0">
                <a:solidFill>
                  <a:srgbClr val="000000"/>
                </a:solidFill>
                <a:effectLst/>
              </a:rPr>
              <a:t>Depth-first search</a:t>
            </a:r>
            <a:endParaRPr lang="en-IN" dirty="0"/>
          </a:p>
        </p:txBody>
      </p:sp>
      <p:sp>
        <p:nvSpPr>
          <p:cNvPr id="5" name="Content Placeholder 4">
            <a:extLst>
              <a:ext uri="{FF2B5EF4-FFF2-40B4-BE49-F238E27FC236}">
                <a16:creationId xmlns:a16="http://schemas.microsoft.com/office/drawing/2014/main" xmlns="" id="{11BADC67-D0FE-C6C0-AD87-4CA545B07DA6}"/>
              </a:ext>
            </a:extLst>
          </p:cNvPr>
          <p:cNvSpPr>
            <a:spLocks noGrp="1"/>
          </p:cNvSpPr>
          <p:nvPr>
            <p:ph idx="1"/>
          </p:nvPr>
        </p:nvSpPr>
        <p:spPr>
          <a:xfrm>
            <a:off x="196645" y="1845734"/>
            <a:ext cx="11802522" cy="4023360"/>
          </a:xfrm>
        </p:spPr>
        <p:txBody>
          <a:bodyPr>
            <a:noAutofit/>
          </a:bodyPr>
          <a:lstStyle/>
          <a:p>
            <a:r>
              <a:rPr lang="en-US" sz="2400" b="1" dirty="0">
                <a:solidFill>
                  <a:srgbClr val="000000"/>
                </a:solidFill>
                <a:effectLst/>
              </a:rPr>
              <a:t>Depth-first search </a:t>
            </a:r>
            <a:r>
              <a:rPr lang="en-US" sz="2400" dirty="0">
                <a:solidFill>
                  <a:srgbClr val="000000"/>
                </a:solidFill>
                <a:effectLst/>
              </a:rPr>
              <a:t>always expands the </a:t>
            </a:r>
            <a:r>
              <a:rPr lang="en-US" sz="2400" i="1" dirty="0">
                <a:solidFill>
                  <a:srgbClr val="000000"/>
                </a:solidFill>
                <a:effectLst/>
              </a:rPr>
              <a:t>deepest </a:t>
            </a:r>
            <a:r>
              <a:rPr lang="en-US" sz="2400" dirty="0">
                <a:solidFill>
                  <a:srgbClr val="000000"/>
                </a:solidFill>
                <a:effectLst/>
              </a:rPr>
              <a:t>node in the current frontier of the search tree.</a:t>
            </a:r>
          </a:p>
          <a:p>
            <a:r>
              <a:rPr lang="en-US" sz="2400" dirty="0">
                <a:solidFill>
                  <a:srgbClr val="000000"/>
                </a:solidFill>
                <a:effectLst/>
              </a:rPr>
              <a:t>The search proceeds immediately to the deepest level of the search tree, where the nodes have no successors. </a:t>
            </a:r>
          </a:p>
          <a:p>
            <a:r>
              <a:rPr lang="en-US" sz="2400" dirty="0">
                <a:solidFill>
                  <a:srgbClr val="000000"/>
                </a:solidFill>
                <a:effectLst/>
              </a:rPr>
              <a:t>As those nodes are expanded, they are dropped from the frontier, so then the search “backs up” to the next deepest node that still has unexplored successors.</a:t>
            </a:r>
          </a:p>
          <a:p>
            <a:r>
              <a:rPr lang="en-US" sz="2400" dirty="0">
                <a:solidFill>
                  <a:srgbClr val="FF0000"/>
                </a:solidFill>
              </a:rPr>
              <a:t>D</a:t>
            </a:r>
            <a:r>
              <a:rPr lang="en-US" sz="2400" dirty="0">
                <a:solidFill>
                  <a:srgbClr val="FF0000"/>
                </a:solidFill>
                <a:effectLst/>
              </a:rPr>
              <a:t>epth-first search uses a LIFO queue</a:t>
            </a:r>
            <a:endParaRPr lang="en-US" sz="2400" dirty="0">
              <a:solidFill>
                <a:srgbClr val="FF0000"/>
              </a:solidFill>
            </a:endParaRPr>
          </a:p>
          <a:p>
            <a:r>
              <a:rPr lang="en-US" sz="2400" dirty="0">
                <a:solidFill>
                  <a:srgbClr val="000000"/>
                </a:solidFill>
                <a:effectLst/>
              </a:rPr>
              <a:t>A LIFO queue means that the most recently generated node is chosen for expansion. This </a:t>
            </a:r>
            <a:endParaRPr lang="en-US" sz="2400" dirty="0"/>
          </a:p>
          <a:p>
            <a:r>
              <a:rPr lang="en-US" sz="2400" dirty="0">
                <a:solidFill>
                  <a:srgbClr val="000000"/>
                </a:solidFill>
                <a:effectLst/>
              </a:rPr>
              <a:t>must be the deepest unexpanded node because it is one deeper than its parent—which, in turn, was the deepest unexpanded node when it was selected</a:t>
            </a:r>
            <a:endParaRPr lang="en-IN" sz="2400" dirty="0"/>
          </a:p>
        </p:txBody>
      </p:sp>
      <p:sp>
        <p:nvSpPr>
          <p:cNvPr id="2" name="Footer Placeholder 1">
            <a:extLst>
              <a:ext uri="{FF2B5EF4-FFF2-40B4-BE49-F238E27FC236}">
                <a16:creationId xmlns:a16="http://schemas.microsoft.com/office/drawing/2014/main" xmlns="" id="{D2CAB6DD-15C5-2CFF-EDF5-9C3334A7D1BB}"/>
              </a:ext>
            </a:extLst>
          </p:cNvPr>
          <p:cNvSpPr>
            <a:spLocks noGrp="1"/>
          </p:cNvSpPr>
          <p:nvPr>
            <p:ph type="ftr" sz="quarter" idx="11"/>
          </p:nvPr>
        </p:nvSpPr>
        <p:spPr/>
        <p:txBody>
          <a:bodyPr/>
          <a:lstStyle/>
          <a:p>
            <a:r>
              <a:rPr lang="en-IN" dirty="0"/>
              <a:t>DEPARTMENT OF CSE SNGCE</a:t>
            </a:r>
          </a:p>
        </p:txBody>
      </p:sp>
      <p:sp>
        <p:nvSpPr>
          <p:cNvPr id="3" name="Slide Number Placeholder 2">
            <a:extLst>
              <a:ext uri="{FF2B5EF4-FFF2-40B4-BE49-F238E27FC236}">
                <a16:creationId xmlns:a16="http://schemas.microsoft.com/office/drawing/2014/main" xmlns="" id="{BE0E327A-28ED-62BC-641D-BD31B75067EF}"/>
              </a:ext>
            </a:extLst>
          </p:cNvPr>
          <p:cNvSpPr>
            <a:spLocks noGrp="1"/>
          </p:cNvSpPr>
          <p:nvPr>
            <p:ph type="sldNum" sz="quarter" idx="12"/>
          </p:nvPr>
        </p:nvSpPr>
        <p:spPr/>
        <p:txBody>
          <a:bodyPr/>
          <a:lstStyle/>
          <a:p>
            <a:fld id="{1E81A027-E3F7-4FC9-A752-E855AD4A687D}" type="slidenum">
              <a:rPr lang="en-IN" smtClean="0"/>
              <a:t>68</a:t>
            </a:fld>
            <a:endParaRPr lang="en-IN"/>
          </a:p>
        </p:txBody>
      </p:sp>
    </p:spTree>
    <p:extLst>
      <p:ext uri="{BB962C8B-B14F-4D97-AF65-F5344CB8AC3E}">
        <p14:creationId xmlns:p14="http://schemas.microsoft.com/office/powerpoint/2010/main" val="36131859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45E79A-583D-EC44-C465-1DF5DCFB9FF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BA71CF34-C89E-884D-4B3C-BFAC7F025826}"/>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2B815D4F-60D5-C838-23F0-555AE1D7970F}"/>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3113B2DA-9CF5-7E39-387D-BA80660A5FB3}"/>
              </a:ext>
            </a:extLst>
          </p:cNvPr>
          <p:cNvSpPr>
            <a:spLocks noGrp="1"/>
          </p:cNvSpPr>
          <p:nvPr>
            <p:ph type="sldNum" sz="quarter" idx="12"/>
          </p:nvPr>
        </p:nvSpPr>
        <p:spPr/>
        <p:txBody>
          <a:bodyPr/>
          <a:lstStyle/>
          <a:p>
            <a:fld id="{1E81A027-E3F7-4FC9-A752-E855AD4A687D}" type="slidenum">
              <a:rPr lang="en-IN" smtClean="0"/>
              <a:t>69</a:t>
            </a:fld>
            <a:endParaRPr lang="en-IN"/>
          </a:p>
        </p:txBody>
      </p:sp>
      <p:pic>
        <p:nvPicPr>
          <p:cNvPr id="6" name="Picture 5">
            <a:extLst>
              <a:ext uri="{FF2B5EF4-FFF2-40B4-BE49-F238E27FC236}">
                <a16:creationId xmlns:a16="http://schemas.microsoft.com/office/drawing/2014/main" xmlns="" id="{25390430-3D4A-862F-330D-62D436CF47CF}"/>
              </a:ext>
            </a:extLst>
          </p:cNvPr>
          <p:cNvPicPr>
            <a:picLocks noChangeAspect="1"/>
          </p:cNvPicPr>
          <p:nvPr/>
        </p:nvPicPr>
        <p:blipFill>
          <a:blip r:embed="rId2"/>
          <a:stretch>
            <a:fillRect/>
          </a:stretch>
        </p:blipFill>
        <p:spPr>
          <a:xfrm>
            <a:off x="0" y="-13563"/>
            <a:ext cx="12192001" cy="6308716"/>
          </a:xfrm>
          <a:prstGeom prst="rect">
            <a:avLst/>
          </a:prstGeom>
        </p:spPr>
      </p:pic>
    </p:spTree>
    <p:extLst>
      <p:ext uri="{BB962C8B-B14F-4D97-AF65-F5344CB8AC3E}">
        <p14:creationId xmlns:p14="http://schemas.microsoft.com/office/powerpoint/2010/main" val="34024967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A608BB-3E96-94D9-6A43-0D936F5040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7F30B141-690B-9597-3044-D02BE762394C}"/>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AD80B100-3A72-9510-CCAB-E6306F14DF9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CDD7186B-DC71-2921-4C6F-F1F9F08C296D}"/>
              </a:ext>
            </a:extLst>
          </p:cNvPr>
          <p:cNvSpPr>
            <a:spLocks noGrp="1"/>
          </p:cNvSpPr>
          <p:nvPr>
            <p:ph type="sldNum" sz="quarter" idx="12"/>
          </p:nvPr>
        </p:nvSpPr>
        <p:spPr/>
        <p:txBody>
          <a:bodyPr/>
          <a:lstStyle/>
          <a:p>
            <a:fld id="{1E81A027-E3F7-4FC9-A752-E855AD4A687D}" type="slidenum">
              <a:rPr lang="en-IN" smtClean="0"/>
              <a:t>70</a:t>
            </a:fld>
            <a:endParaRPr lang="en-IN"/>
          </a:p>
        </p:txBody>
      </p:sp>
      <p:sp>
        <p:nvSpPr>
          <p:cNvPr id="6" name="Rectangle 2">
            <a:extLst>
              <a:ext uri="{FF2B5EF4-FFF2-40B4-BE49-F238E27FC236}">
                <a16:creationId xmlns:a16="http://schemas.microsoft.com/office/drawing/2014/main" xmlns="" id="{457E1B3A-72F2-3889-E1C2-1C1FD48D2944}"/>
              </a:ext>
            </a:extLst>
          </p:cNvPr>
          <p:cNvSpPr txBox="1">
            <a:spLocks noChangeArrowheads="1"/>
          </p:cNvSpPr>
          <p:nvPr/>
        </p:nvSpPr>
        <p:spPr>
          <a:xfrm>
            <a:off x="827088" y="260350"/>
            <a:ext cx="7696200" cy="838200"/>
          </a:xfrm>
          <a:prstGeom prst="rect">
            <a:avLst/>
          </a:prstGeom>
        </p:spPr>
        <p:txBody>
          <a:bodyPr vert="horz" lIns="91440" tIns="45720" rIns="91440" bIns="45720" rtlCol="0" anchor="b">
            <a:norm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defRPr/>
            </a:pPr>
            <a:r>
              <a:rPr lang="es-MX" altLang="en-US"/>
              <a:t>Depth-first search</a:t>
            </a:r>
            <a:endParaRPr lang="en-US" altLang="es-MX" dirty="0"/>
          </a:p>
        </p:txBody>
      </p:sp>
      <p:sp>
        <p:nvSpPr>
          <p:cNvPr id="7" name="Oval 3">
            <a:extLst>
              <a:ext uri="{FF2B5EF4-FFF2-40B4-BE49-F238E27FC236}">
                <a16:creationId xmlns:a16="http://schemas.microsoft.com/office/drawing/2014/main" xmlns="" id="{F1A3F79F-C0B7-F9C1-5935-D7EA6EA99719}"/>
              </a:ext>
            </a:extLst>
          </p:cNvPr>
          <p:cNvSpPr>
            <a:spLocks noChangeArrowheads="1"/>
          </p:cNvSpPr>
          <p:nvPr/>
        </p:nvSpPr>
        <p:spPr bwMode="auto">
          <a:xfrm>
            <a:off x="4348163" y="10715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8" name="Oval 4">
            <a:extLst>
              <a:ext uri="{FF2B5EF4-FFF2-40B4-BE49-F238E27FC236}">
                <a16:creationId xmlns:a16="http://schemas.microsoft.com/office/drawing/2014/main" xmlns="" id="{887A9E11-0204-23F2-35B9-CC33D2EB7A43}"/>
              </a:ext>
            </a:extLst>
          </p:cNvPr>
          <p:cNvSpPr>
            <a:spLocks noChangeArrowheads="1"/>
          </p:cNvSpPr>
          <p:nvPr/>
        </p:nvSpPr>
        <p:spPr bwMode="auto">
          <a:xfrm>
            <a:off x="2976563" y="17573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9" name="Oval 5">
            <a:extLst>
              <a:ext uri="{FF2B5EF4-FFF2-40B4-BE49-F238E27FC236}">
                <a16:creationId xmlns:a16="http://schemas.microsoft.com/office/drawing/2014/main" xmlns="" id="{1795FF78-D9A7-E5CF-1007-8772F7D31D7A}"/>
              </a:ext>
            </a:extLst>
          </p:cNvPr>
          <p:cNvSpPr>
            <a:spLocks noChangeArrowheads="1"/>
          </p:cNvSpPr>
          <p:nvPr/>
        </p:nvSpPr>
        <p:spPr bwMode="auto">
          <a:xfrm>
            <a:off x="2214563" y="25955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0" name="Oval 6">
            <a:extLst>
              <a:ext uri="{FF2B5EF4-FFF2-40B4-BE49-F238E27FC236}">
                <a16:creationId xmlns:a16="http://schemas.microsoft.com/office/drawing/2014/main" xmlns="" id="{B777A350-F94E-7A1F-4652-EFF93868C3B2}"/>
              </a:ext>
            </a:extLst>
          </p:cNvPr>
          <p:cNvSpPr>
            <a:spLocks noChangeArrowheads="1"/>
          </p:cNvSpPr>
          <p:nvPr/>
        </p:nvSpPr>
        <p:spPr bwMode="auto">
          <a:xfrm>
            <a:off x="5491163" y="17573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1" name="Oval 7">
            <a:extLst>
              <a:ext uri="{FF2B5EF4-FFF2-40B4-BE49-F238E27FC236}">
                <a16:creationId xmlns:a16="http://schemas.microsoft.com/office/drawing/2014/main" xmlns="" id="{9AE550DE-8C85-17C4-4BE6-3C62D44B46BB}"/>
              </a:ext>
            </a:extLst>
          </p:cNvPr>
          <p:cNvSpPr>
            <a:spLocks noChangeArrowheads="1"/>
          </p:cNvSpPr>
          <p:nvPr/>
        </p:nvSpPr>
        <p:spPr bwMode="auto">
          <a:xfrm>
            <a:off x="3433763" y="25955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2" name="Oval 8">
            <a:extLst>
              <a:ext uri="{FF2B5EF4-FFF2-40B4-BE49-F238E27FC236}">
                <a16:creationId xmlns:a16="http://schemas.microsoft.com/office/drawing/2014/main" xmlns="" id="{A0A9E10A-DFCF-13A3-30D3-09EB2D4D46FD}"/>
              </a:ext>
            </a:extLst>
          </p:cNvPr>
          <p:cNvSpPr>
            <a:spLocks noChangeArrowheads="1"/>
          </p:cNvSpPr>
          <p:nvPr/>
        </p:nvSpPr>
        <p:spPr bwMode="auto">
          <a:xfrm>
            <a:off x="6329363" y="25955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3" name="Oval 9">
            <a:extLst>
              <a:ext uri="{FF2B5EF4-FFF2-40B4-BE49-F238E27FC236}">
                <a16:creationId xmlns:a16="http://schemas.microsoft.com/office/drawing/2014/main" xmlns="" id="{C87342F0-D522-E82B-7F8C-40EFE9D3A759}"/>
              </a:ext>
            </a:extLst>
          </p:cNvPr>
          <p:cNvSpPr>
            <a:spLocks noChangeArrowheads="1"/>
          </p:cNvSpPr>
          <p:nvPr/>
        </p:nvSpPr>
        <p:spPr bwMode="auto">
          <a:xfrm>
            <a:off x="4652963" y="25955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4" name="Oval 10">
            <a:extLst>
              <a:ext uri="{FF2B5EF4-FFF2-40B4-BE49-F238E27FC236}">
                <a16:creationId xmlns:a16="http://schemas.microsoft.com/office/drawing/2014/main" xmlns="" id="{488E8DE9-4B3D-F933-1068-436D715B17EB}"/>
              </a:ext>
            </a:extLst>
          </p:cNvPr>
          <p:cNvSpPr>
            <a:spLocks noChangeArrowheads="1"/>
          </p:cNvSpPr>
          <p:nvPr/>
        </p:nvSpPr>
        <p:spPr bwMode="auto">
          <a:xfrm>
            <a:off x="1985963" y="3509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5" name="Oval 11">
            <a:extLst>
              <a:ext uri="{FF2B5EF4-FFF2-40B4-BE49-F238E27FC236}">
                <a16:creationId xmlns:a16="http://schemas.microsoft.com/office/drawing/2014/main" xmlns="" id="{DBD5ECE6-99A7-D75B-EE2C-6A2B85D3CA58}"/>
              </a:ext>
            </a:extLst>
          </p:cNvPr>
          <p:cNvSpPr>
            <a:spLocks noChangeArrowheads="1"/>
          </p:cNvSpPr>
          <p:nvPr/>
        </p:nvSpPr>
        <p:spPr bwMode="auto">
          <a:xfrm>
            <a:off x="3814763" y="3509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6" name="Oval 12">
            <a:extLst>
              <a:ext uri="{FF2B5EF4-FFF2-40B4-BE49-F238E27FC236}">
                <a16:creationId xmlns:a16="http://schemas.microsoft.com/office/drawing/2014/main" xmlns="" id="{115A8921-61DD-5EF6-BE0C-62AE0A19BAD6}"/>
              </a:ext>
            </a:extLst>
          </p:cNvPr>
          <p:cNvSpPr>
            <a:spLocks noChangeArrowheads="1"/>
          </p:cNvSpPr>
          <p:nvPr/>
        </p:nvSpPr>
        <p:spPr bwMode="auto">
          <a:xfrm>
            <a:off x="2747963" y="3509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7" name="Oval 13">
            <a:extLst>
              <a:ext uri="{FF2B5EF4-FFF2-40B4-BE49-F238E27FC236}">
                <a16:creationId xmlns:a16="http://schemas.microsoft.com/office/drawing/2014/main" xmlns="" id="{6A6AE18D-AC46-2A5B-F9CE-E0407B284508}"/>
              </a:ext>
            </a:extLst>
          </p:cNvPr>
          <p:cNvSpPr>
            <a:spLocks noChangeArrowheads="1"/>
          </p:cNvSpPr>
          <p:nvPr/>
        </p:nvSpPr>
        <p:spPr bwMode="auto">
          <a:xfrm>
            <a:off x="4729163" y="3509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8" name="Oval 14">
            <a:extLst>
              <a:ext uri="{FF2B5EF4-FFF2-40B4-BE49-F238E27FC236}">
                <a16:creationId xmlns:a16="http://schemas.microsoft.com/office/drawing/2014/main" xmlns="" id="{2AAEA73D-992C-769C-732F-F0A3C5B84708}"/>
              </a:ext>
            </a:extLst>
          </p:cNvPr>
          <p:cNvSpPr>
            <a:spLocks noChangeArrowheads="1"/>
          </p:cNvSpPr>
          <p:nvPr/>
        </p:nvSpPr>
        <p:spPr bwMode="auto">
          <a:xfrm>
            <a:off x="6557963" y="3509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9" name="Oval 15">
            <a:extLst>
              <a:ext uri="{FF2B5EF4-FFF2-40B4-BE49-F238E27FC236}">
                <a16:creationId xmlns:a16="http://schemas.microsoft.com/office/drawing/2014/main" xmlns="" id="{558D58D9-1686-76F3-CCC5-AB7DBB1654E7}"/>
              </a:ext>
            </a:extLst>
          </p:cNvPr>
          <p:cNvSpPr>
            <a:spLocks noChangeArrowheads="1"/>
          </p:cNvSpPr>
          <p:nvPr/>
        </p:nvSpPr>
        <p:spPr bwMode="auto">
          <a:xfrm>
            <a:off x="5567363" y="3509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0" name="Oval 16">
            <a:extLst>
              <a:ext uri="{FF2B5EF4-FFF2-40B4-BE49-F238E27FC236}">
                <a16:creationId xmlns:a16="http://schemas.microsoft.com/office/drawing/2014/main" xmlns="" id="{98BFF1BF-CDBB-F55F-6EDD-DC31CC6F5737}"/>
              </a:ext>
            </a:extLst>
          </p:cNvPr>
          <p:cNvSpPr>
            <a:spLocks noChangeArrowheads="1"/>
          </p:cNvSpPr>
          <p:nvPr/>
        </p:nvSpPr>
        <p:spPr bwMode="auto">
          <a:xfrm>
            <a:off x="2595563" y="4652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1" name="Oval 17">
            <a:extLst>
              <a:ext uri="{FF2B5EF4-FFF2-40B4-BE49-F238E27FC236}">
                <a16:creationId xmlns:a16="http://schemas.microsoft.com/office/drawing/2014/main" xmlns="" id="{B05AE2BC-20CA-9D93-D523-DE701D8DF270}"/>
              </a:ext>
            </a:extLst>
          </p:cNvPr>
          <p:cNvSpPr>
            <a:spLocks noChangeArrowheads="1"/>
          </p:cNvSpPr>
          <p:nvPr/>
        </p:nvSpPr>
        <p:spPr bwMode="auto">
          <a:xfrm>
            <a:off x="1985963" y="4652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2" name="Oval 18">
            <a:extLst>
              <a:ext uri="{FF2B5EF4-FFF2-40B4-BE49-F238E27FC236}">
                <a16:creationId xmlns:a16="http://schemas.microsoft.com/office/drawing/2014/main" xmlns="" id="{678EFEB0-37FD-698C-A5C4-844F864D14B7}"/>
              </a:ext>
            </a:extLst>
          </p:cNvPr>
          <p:cNvSpPr>
            <a:spLocks noChangeArrowheads="1"/>
          </p:cNvSpPr>
          <p:nvPr/>
        </p:nvSpPr>
        <p:spPr bwMode="auto">
          <a:xfrm>
            <a:off x="3281363" y="4652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3" name="Oval 19">
            <a:extLst>
              <a:ext uri="{FF2B5EF4-FFF2-40B4-BE49-F238E27FC236}">
                <a16:creationId xmlns:a16="http://schemas.microsoft.com/office/drawing/2014/main" xmlns="" id="{BF1FD644-B140-6B0C-3A58-26B588FEDA35}"/>
              </a:ext>
            </a:extLst>
          </p:cNvPr>
          <p:cNvSpPr>
            <a:spLocks noChangeArrowheads="1"/>
          </p:cNvSpPr>
          <p:nvPr/>
        </p:nvSpPr>
        <p:spPr bwMode="auto">
          <a:xfrm>
            <a:off x="3890963" y="4652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4" name="Oval 20">
            <a:extLst>
              <a:ext uri="{FF2B5EF4-FFF2-40B4-BE49-F238E27FC236}">
                <a16:creationId xmlns:a16="http://schemas.microsoft.com/office/drawing/2014/main" xmlns="" id="{D0EA5A09-7EC5-E85D-07D6-5C13107865E4}"/>
              </a:ext>
            </a:extLst>
          </p:cNvPr>
          <p:cNvSpPr>
            <a:spLocks noChangeArrowheads="1"/>
          </p:cNvSpPr>
          <p:nvPr/>
        </p:nvSpPr>
        <p:spPr bwMode="auto">
          <a:xfrm>
            <a:off x="5110163" y="4652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5" name="Oval 21">
            <a:extLst>
              <a:ext uri="{FF2B5EF4-FFF2-40B4-BE49-F238E27FC236}">
                <a16:creationId xmlns:a16="http://schemas.microsoft.com/office/drawing/2014/main" xmlns="" id="{B9DB09A4-3269-7F89-2B4F-2DB0070F2023}"/>
              </a:ext>
            </a:extLst>
          </p:cNvPr>
          <p:cNvSpPr>
            <a:spLocks noChangeArrowheads="1"/>
          </p:cNvSpPr>
          <p:nvPr/>
        </p:nvSpPr>
        <p:spPr bwMode="auto">
          <a:xfrm>
            <a:off x="4500563" y="4652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6" name="Oval 22">
            <a:extLst>
              <a:ext uri="{FF2B5EF4-FFF2-40B4-BE49-F238E27FC236}">
                <a16:creationId xmlns:a16="http://schemas.microsoft.com/office/drawing/2014/main" xmlns="" id="{EA03E226-3AAD-4690-9FFA-84B6C73A55F0}"/>
              </a:ext>
            </a:extLst>
          </p:cNvPr>
          <p:cNvSpPr>
            <a:spLocks noChangeArrowheads="1"/>
          </p:cNvSpPr>
          <p:nvPr/>
        </p:nvSpPr>
        <p:spPr bwMode="auto">
          <a:xfrm>
            <a:off x="5719763" y="4652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7" name="Oval 23">
            <a:extLst>
              <a:ext uri="{FF2B5EF4-FFF2-40B4-BE49-F238E27FC236}">
                <a16:creationId xmlns:a16="http://schemas.microsoft.com/office/drawing/2014/main" xmlns="" id="{2B642D26-74C6-09A0-5906-AFF9482323F2}"/>
              </a:ext>
            </a:extLst>
          </p:cNvPr>
          <p:cNvSpPr>
            <a:spLocks noChangeArrowheads="1"/>
          </p:cNvSpPr>
          <p:nvPr/>
        </p:nvSpPr>
        <p:spPr bwMode="auto">
          <a:xfrm>
            <a:off x="6329363" y="4652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8" name="Oval 24">
            <a:extLst>
              <a:ext uri="{FF2B5EF4-FFF2-40B4-BE49-F238E27FC236}">
                <a16:creationId xmlns:a16="http://schemas.microsoft.com/office/drawing/2014/main" xmlns="" id="{309216B9-6B7C-6030-31DE-2D0F31CC0A79}"/>
              </a:ext>
            </a:extLst>
          </p:cNvPr>
          <p:cNvSpPr>
            <a:spLocks noChangeArrowheads="1"/>
          </p:cNvSpPr>
          <p:nvPr/>
        </p:nvSpPr>
        <p:spPr bwMode="auto">
          <a:xfrm>
            <a:off x="6938963" y="46529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9" name="Oval 25">
            <a:extLst>
              <a:ext uri="{FF2B5EF4-FFF2-40B4-BE49-F238E27FC236}">
                <a16:creationId xmlns:a16="http://schemas.microsoft.com/office/drawing/2014/main" xmlns="" id="{A2EA941A-4754-5EBB-FF2C-F15C4B7744D4}"/>
              </a:ext>
            </a:extLst>
          </p:cNvPr>
          <p:cNvSpPr>
            <a:spLocks noChangeArrowheads="1"/>
          </p:cNvSpPr>
          <p:nvPr/>
        </p:nvSpPr>
        <p:spPr bwMode="auto">
          <a:xfrm>
            <a:off x="2595563" y="55673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30" name="Oval 26">
            <a:extLst>
              <a:ext uri="{FF2B5EF4-FFF2-40B4-BE49-F238E27FC236}">
                <a16:creationId xmlns:a16="http://schemas.microsoft.com/office/drawing/2014/main" xmlns="" id="{EC532BB3-8E35-ACE3-D2D5-C6E78CDEF7CF}"/>
              </a:ext>
            </a:extLst>
          </p:cNvPr>
          <p:cNvSpPr>
            <a:spLocks noChangeArrowheads="1"/>
          </p:cNvSpPr>
          <p:nvPr/>
        </p:nvSpPr>
        <p:spPr bwMode="auto">
          <a:xfrm>
            <a:off x="3281363" y="55673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31" name="Oval 27">
            <a:extLst>
              <a:ext uri="{FF2B5EF4-FFF2-40B4-BE49-F238E27FC236}">
                <a16:creationId xmlns:a16="http://schemas.microsoft.com/office/drawing/2014/main" xmlns="" id="{B3DB225D-9628-0563-AE42-B409DDC074C1}"/>
              </a:ext>
            </a:extLst>
          </p:cNvPr>
          <p:cNvSpPr>
            <a:spLocks noChangeArrowheads="1"/>
          </p:cNvSpPr>
          <p:nvPr/>
        </p:nvSpPr>
        <p:spPr bwMode="auto">
          <a:xfrm>
            <a:off x="3890963" y="55673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32" name="Oval 28">
            <a:extLst>
              <a:ext uri="{FF2B5EF4-FFF2-40B4-BE49-F238E27FC236}">
                <a16:creationId xmlns:a16="http://schemas.microsoft.com/office/drawing/2014/main" xmlns="" id="{03AB1C7F-137E-42ED-4752-1001F003836D}"/>
              </a:ext>
            </a:extLst>
          </p:cNvPr>
          <p:cNvSpPr>
            <a:spLocks noChangeArrowheads="1"/>
          </p:cNvSpPr>
          <p:nvPr/>
        </p:nvSpPr>
        <p:spPr bwMode="auto">
          <a:xfrm>
            <a:off x="5110163" y="55673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33" name="Line 29">
            <a:extLst>
              <a:ext uri="{FF2B5EF4-FFF2-40B4-BE49-F238E27FC236}">
                <a16:creationId xmlns:a16="http://schemas.microsoft.com/office/drawing/2014/main" xmlns="" id="{D84D8EFE-C44B-8091-691C-205D11BD08C7}"/>
              </a:ext>
            </a:extLst>
          </p:cNvPr>
          <p:cNvSpPr>
            <a:spLocks noChangeShapeType="1"/>
          </p:cNvSpPr>
          <p:nvPr/>
        </p:nvSpPr>
        <p:spPr bwMode="auto">
          <a:xfrm flipH="1">
            <a:off x="3352800" y="1447800"/>
            <a:ext cx="1141413" cy="3794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4" name="Line 30">
            <a:extLst>
              <a:ext uri="{FF2B5EF4-FFF2-40B4-BE49-F238E27FC236}">
                <a16:creationId xmlns:a16="http://schemas.microsoft.com/office/drawing/2014/main" xmlns="" id="{695E4561-C53C-38EE-4769-78BEF8901FA4}"/>
              </a:ext>
            </a:extLst>
          </p:cNvPr>
          <p:cNvSpPr>
            <a:spLocks noChangeShapeType="1"/>
          </p:cNvSpPr>
          <p:nvPr/>
        </p:nvSpPr>
        <p:spPr bwMode="auto">
          <a:xfrm>
            <a:off x="4495800" y="1447800"/>
            <a:ext cx="989013" cy="4556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5" name="Line 31">
            <a:extLst>
              <a:ext uri="{FF2B5EF4-FFF2-40B4-BE49-F238E27FC236}">
                <a16:creationId xmlns:a16="http://schemas.microsoft.com/office/drawing/2014/main" xmlns="" id="{D8EE6D9B-14F3-812C-DFF7-A22B68D9525C}"/>
              </a:ext>
            </a:extLst>
          </p:cNvPr>
          <p:cNvSpPr>
            <a:spLocks noChangeShapeType="1"/>
          </p:cNvSpPr>
          <p:nvPr/>
        </p:nvSpPr>
        <p:spPr bwMode="auto">
          <a:xfrm flipH="1">
            <a:off x="2514600" y="2133600"/>
            <a:ext cx="608013" cy="5318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6" name="Line 32">
            <a:extLst>
              <a:ext uri="{FF2B5EF4-FFF2-40B4-BE49-F238E27FC236}">
                <a16:creationId xmlns:a16="http://schemas.microsoft.com/office/drawing/2014/main" xmlns="" id="{B5E53712-F6AA-0E7D-0E2A-8E4AF6900236}"/>
              </a:ext>
            </a:extLst>
          </p:cNvPr>
          <p:cNvSpPr>
            <a:spLocks noChangeShapeType="1"/>
          </p:cNvSpPr>
          <p:nvPr/>
        </p:nvSpPr>
        <p:spPr bwMode="auto">
          <a:xfrm>
            <a:off x="3124200" y="2133600"/>
            <a:ext cx="379413" cy="4556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7" name="Line 33">
            <a:extLst>
              <a:ext uri="{FF2B5EF4-FFF2-40B4-BE49-F238E27FC236}">
                <a16:creationId xmlns:a16="http://schemas.microsoft.com/office/drawing/2014/main" xmlns="" id="{8BC92055-FF70-7E3F-424D-1665EAE8C154}"/>
              </a:ext>
            </a:extLst>
          </p:cNvPr>
          <p:cNvSpPr>
            <a:spLocks noChangeShapeType="1"/>
          </p:cNvSpPr>
          <p:nvPr/>
        </p:nvSpPr>
        <p:spPr bwMode="auto">
          <a:xfrm flipH="1">
            <a:off x="5029200" y="2133600"/>
            <a:ext cx="608013" cy="5318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8" name="Line 34">
            <a:extLst>
              <a:ext uri="{FF2B5EF4-FFF2-40B4-BE49-F238E27FC236}">
                <a16:creationId xmlns:a16="http://schemas.microsoft.com/office/drawing/2014/main" xmlns="" id="{1F449F17-CDFD-88F9-CD2E-293A5849075C}"/>
              </a:ext>
            </a:extLst>
          </p:cNvPr>
          <p:cNvSpPr>
            <a:spLocks noChangeShapeType="1"/>
          </p:cNvSpPr>
          <p:nvPr/>
        </p:nvSpPr>
        <p:spPr bwMode="auto">
          <a:xfrm>
            <a:off x="5638800" y="2133600"/>
            <a:ext cx="760413" cy="4556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9" name="Line 35">
            <a:extLst>
              <a:ext uri="{FF2B5EF4-FFF2-40B4-BE49-F238E27FC236}">
                <a16:creationId xmlns:a16="http://schemas.microsoft.com/office/drawing/2014/main" xmlns="" id="{F8D71362-60D1-F7DC-06DB-9CCA895EB723}"/>
              </a:ext>
            </a:extLst>
          </p:cNvPr>
          <p:cNvSpPr>
            <a:spLocks noChangeShapeType="1"/>
          </p:cNvSpPr>
          <p:nvPr/>
        </p:nvSpPr>
        <p:spPr bwMode="auto">
          <a:xfrm flipV="1">
            <a:off x="2286000" y="2971800"/>
            <a:ext cx="150813" cy="5318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0" name="Line 36">
            <a:extLst>
              <a:ext uri="{FF2B5EF4-FFF2-40B4-BE49-F238E27FC236}">
                <a16:creationId xmlns:a16="http://schemas.microsoft.com/office/drawing/2014/main" xmlns="" id="{1E23E72E-9748-1152-9601-59C4912D6C67}"/>
              </a:ext>
            </a:extLst>
          </p:cNvPr>
          <p:cNvSpPr>
            <a:spLocks noChangeShapeType="1"/>
          </p:cNvSpPr>
          <p:nvPr/>
        </p:nvSpPr>
        <p:spPr bwMode="auto">
          <a:xfrm>
            <a:off x="2438400" y="2971800"/>
            <a:ext cx="379413" cy="5318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1" name="Line 37">
            <a:extLst>
              <a:ext uri="{FF2B5EF4-FFF2-40B4-BE49-F238E27FC236}">
                <a16:creationId xmlns:a16="http://schemas.microsoft.com/office/drawing/2014/main" xmlns="" id="{16474081-2F9F-8A1C-5591-CE89D3A6C599}"/>
              </a:ext>
            </a:extLst>
          </p:cNvPr>
          <p:cNvSpPr>
            <a:spLocks noChangeShapeType="1"/>
          </p:cNvSpPr>
          <p:nvPr/>
        </p:nvSpPr>
        <p:spPr bwMode="auto">
          <a:xfrm>
            <a:off x="3657600" y="2971800"/>
            <a:ext cx="303213" cy="5318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2" name="Line 38">
            <a:extLst>
              <a:ext uri="{FF2B5EF4-FFF2-40B4-BE49-F238E27FC236}">
                <a16:creationId xmlns:a16="http://schemas.microsoft.com/office/drawing/2014/main" xmlns="" id="{B4F94ACF-C4EC-7339-FE33-070042BE98F2}"/>
              </a:ext>
            </a:extLst>
          </p:cNvPr>
          <p:cNvSpPr>
            <a:spLocks noChangeShapeType="1"/>
          </p:cNvSpPr>
          <p:nvPr/>
        </p:nvSpPr>
        <p:spPr bwMode="auto">
          <a:xfrm>
            <a:off x="4875213" y="2971800"/>
            <a:ext cx="0" cy="5318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3" name="Line 39">
            <a:extLst>
              <a:ext uri="{FF2B5EF4-FFF2-40B4-BE49-F238E27FC236}">
                <a16:creationId xmlns:a16="http://schemas.microsoft.com/office/drawing/2014/main" xmlns="" id="{E8A5538A-81C6-11C4-C574-D83EFCBCB5EE}"/>
              </a:ext>
            </a:extLst>
          </p:cNvPr>
          <p:cNvSpPr>
            <a:spLocks noChangeShapeType="1"/>
          </p:cNvSpPr>
          <p:nvPr/>
        </p:nvSpPr>
        <p:spPr bwMode="auto">
          <a:xfrm flipV="1">
            <a:off x="5867400" y="2971800"/>
            <a:ext cx="608013" cy="6080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4" name="Line 40">
            <a:extLst>
              <a:ext uri="{FF2B5EF4-FFF2-40B4-BE49-F238E27FC236}">
                <a16:creationId xmlns:a16="http://schemas.microsoft.com/office/drawing/2014/main" xmlns="" id="{B1C090EA-7CE1-2CA0-8364-A6E9EBD17C44}"/>
              </a:ext>
            </a:extLst>
          </p:cNvPr>
          <p:cNvSpPr>
            <a:spLocks noChangeShapeType="1"/>
          </p:cNvSpPr>
          <p:nvPr/>
        </p:nvSpPr>
        <p:spPr bwMode="auto">
          <a:xfrm>
            <a:off x="6477000" y="2971800"/>
            <a:ext cx="227013" cy="5318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5" name="Line 41">
            <a:extLst>
              <a:ext uri="{FF2B5EF4-FFF2-40B4-BE49-F238E27FC236}">
                <a16:creationId xmlns:a16="http://schemas.microsoft.com/office/drawing/2014/main" xmlns="" id="{F272EF95-0F16-720C-F803-2A892723C8B3}"/>
              </a:ext>
            </a:extLst>
          </p:cNvPr>
          <p:cNvSpPr>
            <a:spLocks noChangeShapeType="1"/>
          </p:cNvSpPr>
          <p:nvPr/>
        </p:nvSpPr>
        <p:spPr bwMode="auto">
          <a:xfrm flipV="1">
            <a:off x="2286000" y="3886200"/>
            <a:ext cx="608013" cy="7604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6" name="Line 42">
            <a:extLst>
              <a:ext uri="{FF2B5EF4-FFF2-40B4-BE49-F238E27FC236}">
                <a16:creationId xmlns:a16="http://schemas.microsoft.com/office/drawing/2014/main" xmlns="" id="{F1F2B902-E7E9-B136-71A2-125B54D05878}"/>
              </a:ext>
            </a:extLst>
          </p:cNvPr>
          <p:cNvSpPr>
            <a:spLocks noChangeShapeType="1"/>
          </p:cNvSpPr>
          <p:nvPr/>
        </p:nvSpPr>
        <p:spPr bwMode="auto">
          <a:xfrm flipH="1">
            <a:off x="2819400" y="3886200"/>
            <a:ext cx="74613" cy="7604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7" name="Line 43">
            <a:extLst>
              <a:ext uri="{FF2B5EF4-FFF2-40B4-BE49-F238E27FC236}">
                <a16:creationId xmlns:a16="http://schemas.microsoft.com/office/drawing/2014/main" xmlns="" id="{9128C390-71FC-2FE1-7FB3-9AF2AD787D60}"/>
              </a:ext>
            </a:extLst>
          </p:cNvPr>
          <p:cNvSpPr>
            <a:spLocks noChangeShapeType="1"/>
          </p:cNvSpPr>
          <p:nvPr/>
        </p:nvSpPr>
        <p:spPr bwMode="auto">
          <a:xfrm flipV="1">
            <a:off x="3505200" y="3886200"/>
            <a:ext cx="455613" cy="7604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8" name="Line 44">
            <a:extLst>
              <a:ext uri="{FF2B5EF4-FFF2-40B4-BE49-F238E27FC236}">
                <a16:creationId xmlns:a16="http://schemas.microsoft.com/office/drawing/2014/main" xmlns="" id="{8C9ABDE0-243E-AB65-34FF-DB170D19016E}"/>
              </a:ext>
            </a:extLst>
          </p:cNvPr>
          <p:cNvSpPr>
            <a:spLocks noChangeShapeType="1"/>
          </p:cNvSpPr>
          <p:nvPr/>
        </p:nvSpPr>
        <p:spPr bwMode="auto">
          <a:xfrm>
            <a:off x="3962400" y="3886200"/>
            <a:ext cx="74613" cy="7604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9" name="Line 45">
            <a:extLst>
              <a:ext uri="{FF2B5EF4-FFF2-40B4-BE49-F238E27FC236}">
                <a16:creationId xmlns:a16="http://schemas.microsoft.com/office/drawing/2014/main" xmlns="" id="{A24FDE08-A644-7009-9047-A62EBF96B197}"/>
              </a:ext>
            </a:extLst>
          </p:cNvPr>
          <p:cNvSpPr>
            <a:spLocks noChangeShapeType="1"/>
          </p:cNvSpPr>
          <p:nvPr/>
        </p:nvSpPr>
        <p:spPr bwMode="auto">
          <a:xfrm flipV="1">
            <a:off x="4724400" y="3886200"/>
            <a:ext cx="227013" cy="7604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0" name="Line 46">
            <a:extLst>
              <a:ext uri="{FF2B5EF4-FFF2-40B4-BE49-F238E27FC236}">
                <a16:creationId xmlns:a16="http://schemas.microsoft.com/office/drawing/2014/main" xmlns="" id="{625CF253-9B67-5F1D-43E7-E07E70C1BA1F}"/>
              </a:ext>
            </a:extLst>
          </p:cNvPr>
          <p:cNvSpPr>
            <a:spLocks noChangeShapeType="1"/>
          </p:cNvSpPr>
          <p:nvPr/>
        </p:nvSpPr>
        <p:spPr bwMode="auto">
          <a:xfrm>
            <a:off x="4953000" y="3886200"/>
            <a:ext cx="303213" cy="7604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1" name="Line 47">
            <a:extLst>
              <a:ext uri="{FF2B5EF4-FFF2-40B4-BE49-F238E27FC236}">
                <a16:creationId xmlns:a16="http://schemas.microsoft.com/office/drawing/2014/main" xmlns="" id="{0250B7FF-EE37-2C1D-D8A5-94DC027A266E}"/>
              </a:ext>
            </a:extLst>
          </p:cNvPr>
          <p:cNvSpPr>
            <a:spLocks noChangeShapeType="1"/>
          </p:cNvSpPr>
          <p:nvPr/>
        </p:nvSpPr>
        <p:spPr bwMode="auto">
          <a:xfrm flipH="1" flipV="1">
            <a:off x="5791200" y="3886200"/>
            <a:ext cx="74613" cy="7604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2" name="Line 48">
            <a:extLst>
              <a:ext uri="{FF2B5EF4-FFF2-40B4-BE49-F238E27FC236}">
                <a16:creationId xmlns:a16="http://schemas.microsoft.com/office/drawing/2014/main" xmlns="" id="{91431D8B-1654-FCA1-693A-4E81EFC7F83E}"/>
              </a:ext>
            </a:extLst>
          </p:cNvPr>
          <p:cNvSpPr>
            <a:spLocks noChangeShapeType="1"/>
          </p:cNvSpPr>
          <p:nvPr/>
        </p:nvSpPr>
        <p:spPr bwMode="auto">
          <a:xfrm>
            <a:off x="5791200" y="3886200"/>
            <a:ext cx="684213" cy="7604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3" name="Line 49">
            <a:extLst>
              <a:ext uri="{FF2B5EF4-FFF2-40B4-BE49-F238E27FC236}">
                <a16:creationId xmlns:a16="http://schemas.microsoft.com/office/drawing/2014/main" xmlns="" id="{962F28FA-4FB5-65FC-1CD9-EE6FD223E26A}"/>
              </a:ext>
            </a:extLst>
          </p:cNvPr>
          <p:cNvSpPr>
            <a:spLocks noChangeShapeType="1"/>
          </p:cNvSpPr>
          <p:nvPr/>
        </p:nvSpPr>
        <p:spPr bwMode="auto">
          <a:xfrm flipH="1" flipV="1">
            <a:off x="6781800" y="3886200"/>
            <a:ext cx="303213" cy="7604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4" name="Line 50">
            <a:extLst>
              <a:ext uri="{FF2B5EF4-FFF2-40B4-BE49-F238E27FC236}">
                <a16:creationId xmlns:a16="http://schemas.microsoft.com/office/drawing/2014/main" xmlns="" id="{0DC246B5-D11F-2C9B-2DBB-6291BAE35B85}"/>
              </a:ext>
            </a:extLst>
          </p:cNvPr>
          <p:cNvSpPr>
            <a:spLocks noChangeShapeType="1"/>
          </p:cNvSpPr>
          <p:nvPr/>
        </p:nvSpPr>
        <p:spPr bwMode="auto">
          <a:xfrm flipV="1">
            <a:off x="2817813" y="5029200"/>
            <a:ext cx="0" cy="5318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5" name="Line 51">
            <a:extLst>
              <a:ext uri="{FF2B5EF4-FFF2-40B4-BE49-F238E27FC236}">
                <a16:creationId xmlns:a16="http://schemas.microsoft.com/office/drawing/2014/main" xmlns="" id="{3E1E7864-9CFA-734B-0CB1-59CFB0DBF345}"/>
              </a:ext>
            </a:extLst>
          </p:cNvPr>
          <p:cNvSpPr>
            <a:spLocks noChangeShapeType="1"/>
          </p:cNvSpPr>
          <p:nvPr/>
        </p:nvSpPr>
        <p:spPr bwMode="auto">
          <a:xfrm flipV="1">
            <a:off x="3427413" y="5029200"/>
            <a:ext cx="0" cy="5318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6" name="Line 52">
            <a:extLst>
              <a:ext uri="{FF2B5EF4-FFF2-40B4-BE49-F238E27FC236}">
                <a16:creationId xmlns:a16="http://schemas.microsoft.com/office/drawing/2014/main" xmlns="" id="{0A35D9B2-FE24-4AA6-7237-6C046A03DA4B}"/>
              </a:ext>
            </a:extLst>
          </p:cNvPr>
          <p:cNvSpPr>
            <a:spLocks noChangeShapeType="1"/>
          </p:cNvSpPr>
          <p:nvPr/>
        </p:nvSpPr>
        <p:spPr bwMode="auto">
          <a:xfrm flipV="1">
            <a:off x="4113213" y="5029200"/>
            <a:ext cx="0" cy="5318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7" name="Line 53">
            <a:extLst>
              <a:ext uri="{FF2B5EF4-FFF2-40B4-BE49-F238E27FC236}">
                <a16:creationId xmlns:a16="http://schemas.microsoft.com/office/drawing/2014/main" xmlns="" id="{3682207C-B99E-0A17-0807-4A0C3ACF2BAF}"/>
              </a:ext>
            </a:extLst>
          </p:cNvPr>
          <p:cNvSpPr>
            <a:spLocks noChangeShapeType="1"/>
          </p:cNvSpPr>
          <p:nvPr/>
        </p:nvSpPr>
        <p:spPr bwMode="auto">
          <a:xfrm flipV="1">
            <a:off x="5256213" y="5029200"/>
            <a:ext cx="0" cy="5318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8" name="Line 54">
            <a:extLst>
              <a:ext uri="{FF2B5EF4-FFF2-40B4-BE49-F238E27FC236}">
                <a16:creationId xmlns:a16="http://schemas.microsoft.com/office/drawing/2014/main" xmlns="" id="{D15C43A7-2FEF-7117-60DD-520E62B3F739}"/>
              </a:ext>
            </a:extLst>
          </p:cNvPr>
          <p:cNvSpPr>
            <a:spLocks noChangeShapeType="1"/>
          </p:cNvSpPr>
          <p:nvPr/>
        </p:nvSpPr>
        <p:spPr bwMode="auto">
          <a:xfrm flipH="1" flipV="1">
            <a:off x="5256213" y="5943600"/>
            <a:ext cx="12700" cy="27781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9" name="Rectangle 55">
            <a:extLst>
              <a:ext uri="{FF2B5EF4-FFF2-40B4-BE49-F238E27FC236}">
                <a16:creationId xmlns:a16="http://schemas.microsoft.com/office/drawing/2014/main" xmlns="" id="{19421C47-E0F5-7DC2-549D-6CA9DF49C827}"/>
              </a:ext>
            </a:extLst>
          </p:cNvPr>
          <p:cNvSpPr>
            <a:spLocks noChangeArrowheads="1"/>
          </p:cNvSpPr>
          <p:nvPr/>
        </p:nvSpPr>
        <p:spPr bwMode="auto">
          <a:xfrm>
            <a:off x="4354513" y="1116013"/>
            <a:ext cx="4492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S</a:t>
            </a:r>
          </a:p>
        </p:txBody>
      </p:sp>
      <p:sp>
        <p:nvSpPr>
          <p:cNvPr id="60" name="Rectangle 56">
            <a:extLst>
              <a:ext uri="{FF2B5EF4-FFF2-40B4-BE49-F238E27FC236}">
                <a16:creationId xmlns:a16="http://schemas.microsoft.com/office/drawing/2014/main" xmlns="" id="{B7D1ACC6-B05F-7CEE-26A2-97EA2498DA60}"/>
              </a:ext>
            </a:extLst>
          </p:cNvPr>
          <p:cNvSpPr>
            <a:spLocks noChangeArrowheads="1"/>
          </p:cNvSpPr>
          <p:nvPr/>
        </p:nvSpPr>
        <p:spPr bwMode="auto">
          <a:xfrm>
            <a:off x="2982913" y="1801813"/>
            <a:ext cx="5000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A</a:t>
            </a:r>
          </a:p>
        </p:txBody>
      </p:sp>
      <p:sp>
        <p:nvSpPr>
          <p:cNvPr id="61" name="Rectangle 57">
            <a:extLst>
              <a:ext uri="{FF2B5EF4-FFF2-40B4-BE49-F238E27FC236}">
                <a16:creationId xmlns:a16="http://schemas.microsoft.com/office/drawing/2014/main" xmlns="" id="{E99A30F9-2FAA-570E-5E22-349167B4C56D}"/>
              </a:ext>
            </a:extLst>
          </p:cNvPr>
          <p:cNvSpPr>
            <a:spLocks noChangeArrowheads="1"/>
          </p:cNvSpPr>
          <p:nvPr/>
        </p:nvSpPr>
        <p:spPr bwMode="auto">
          <a:xfrm>
            <a:off x="5497513" y="1801813"/>
            <a:ext cx="5000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D</a:t>
            </a:r>
          </a:p>
        </p:txBody>
      </p:sp>
      <p:sp>
        <p:nvSpPr>
          <p:cNvPr id="62" name="Rectangle 58">
            <a:extLst>
              <a:ext uri="{FF2B5EF4-FFF2-40B4-BE49-F238E27FC236}">
                <a16:creationId xmlns:a16="http://schemas.microsoft.com/office/drawing/2014/main" xmlns="" id="{DC074A90-09F7-2681-1656-D36AE2C59806}"/>
              </a:ext>
            </a:extLst>
          </p:cNvPr>
          <p:cNvSpPr>
            <a:spLocks noChangeArrowheads="1"/>
          </p:cNvSpPr>
          <p:nvPr/>
        </p:nvSpPr>
        <p:spPr bwMode="auto">
          <a:xfrm>
            <a:off x="2220913" y="2640013"/>
            <a:ext cx="4826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B</a:t>
            </a:r>
          </a:p>
        </p:txBody>
      </p:sp>
      <p:sp>
        <p:nvSpPr>
          <p:cNvPr id="63" name="Rectangle 59">
            <a:extLst>
              <a:ext uri="{FF2B5EF4-FFF2-40B4-BE49-F238E27FC236}">
                <a16:creationId xmlns:a16="http://schemas.microsoft.com/office/drawing/2014/main" xmlns="" id="{35241ECE-76A8-D056-34D1-D37C17539456}"/>
              </a:ext>
            </a:extLst>
          </p:cNvPr>
          <p:cNvSpPr>
            <a:spLocks noChangeArrowheads="1"/>
          </p:cNvSpPr>
          <p:nvPr/>
        </p:nvSpPr>
        <p:spPr bwMode="auto">
          <a:xfrm>
            <a:off x="3440113" y="2640013"/>
            <a:ext cx="5000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D</a:t>
            </a:r>
          </a:p>
        </p:txBody>
      </p:sp>
      <p:sp>
        <p:nvSpPr>
          <p:cNvPr id="64" name="Rectangle 60">
            <a:extLst>
              <a:ext uri="{FF2B5EF4-FFF2-40B4-BE49-F238E27FC236}">
                <a16:creationId xmlns:a16="http://schemas.microsoft.com/office/drawing/2014/main" xmlns="" id="{B5BBB72D-366D-FF4E-ED75-F9A5D3A71985}"/>
              </a:ext>
            </a:extLst>
          </p:cNvPr>
          <p:cNvSpPr>
            <a:spLocks noChangeArrowheads="1"/>
          </p:cNvSpPr>
          <p:nvPr/>
        </p:nvSpPr>
        <p:spPr bwMode="auto">
          <a:xfrm>
            <a:off x="4659313" y="2640013"/>
            <a:ext cx="5000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A</a:t>
            </a:r>
          </a:p>
        </p:txBody>
      </p:sp>
      <p:sp>
        <p:nvSpPr>
          <p:cNvPr id="65" name="Rectangle 61">
            <a:extLst>
              <a:ext uri="{FF2B5EF4-FFF2-40B4-BE49-F238E27FC236}">
                <a16:creationId xmlns:a16="http://schemas.microsoft.com/office/drawing/2014/main" xmlns="" id="{EA4BF8A5-8E20-E151-6BD1-EA32CA224008}"/>
              </a:ext>
            </a:extLst>
          </p:cNvPr>
          <p:cNvSpPr>
            <a:spLocks noChangeArrowheads="1"/>
          </p:cNvSpPr>
          <p:nvPr/>
        </p:nvSpPr>
        <p:spPr bwMode="auto">
          <a:xfrm>
            <a:off x="6335713" y="2640013"/>
            <a:ext cx="4826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E</a:t>
            </a:r>
          </a:p>
        </p:txBody>
      </p:sp>
      <p:sp>
        <p:nvSpPr>
          <p:cNvPr id="66" name="Rectangle 62">
            <a:extLst>
              <a:ext uri="{FF2B5EF4-FFF2-40B4-BE49-F238E27FC236}">
                <a16:creationId xmlns:a16="http://schemas.microsoft.com/office/drawing/2014/main" xmlns="" id="{64280B4E-59ED-8516-34F7-2B2CED50F442}"/>
              </a:ext>
            </a:extLst>
          </p:cNvPr>
          <p:cNvSpPr>
            <a:spLocks noChangeArrowheads="1"/>
          </p:cNvSpPr>
          <p:nvPr/>
        </p:nvSpPr>
        <p:spPr bwMode="auto">
          <a:xfrm>
            <a:off x="1992313" y="3554413"/>
            <a:ext cx="5000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C</a:t>
            </a:r>
          </a:p>
        </p:txBody>
      </p:sp>
      <p:sp>
        <p:nvSpPr>
          <p:cNvPr id="67" name="Rectangle 63">
            <a:extLst>
              <a:ext uri="{FF2B5EF4-FFF2-40B4-BE49-F238E27FC236}">
                <a16:creationId xmlns:a16="http://schemas.microsoft.com/office/drawing/2014/main" xmlns="" id="{B79DF6B6-8EBA-DC1A-6420-F8980A2D0E70}"/>
              </a:ext>
            </a:extLst>
          </p:cNvPr>
          <p:cNvSpPr>
            <a:spLocks noChangeArrowheads="1"/>
          </p:cNvSpPr>
          <p:nvPr/>
        </p:nvSpPr>
        <p:spPr bwMode="auto">
          <a:xfrm>
            <a:off x="2754313" y="3554413"/>
            <a:ext cx="4826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E</a:t>
            </a:r>
          </a:p>
        </p:txBody>
      </p:sp>
      <p:sp>
        <p:nvSpPr>
          <p:cNvPr id="68" name="Rectangle 64">
            <a:extLst>
              <a:ext uri="{FF2B5EF4-FFF2-40B4-BE49-F238E27FC236}">
                <a16:creationId xmlns:a16="http://schemas.microsoft.com/office/drawing/2014/main" xmlns="" id="{DE49BF0E-A252-B8F0-18A2-CBE06FA5324C}"/>
              </a:ext>
            </a:extLst>
          </p:cNvPr>
          <p:cNvSpPr>
            <a:spLocks noChangeArrowheads="1"/>
          </p:cNvSpPr>
          <p:nvPr/>
        </p:nvSpPr>
        <p:spPr bwMode="auto">
          <a:xfrm>
            <a:off x="3821113" y="3554413"/>
            <a:ext cx="4826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E</a:t>
            </a:r>
          </a:p>
        </p:txBody>
      </p:sp>
      <p:sp>
        <p:nvSpPr>
          <p:cNvPr id="69" name="Rectangle 65">
            <a:extLst>
              <a:ext uri="{FF2B5EF4-FFF2-40B4-BE49-F238E27FC236}">
                <a16:creationId xmlns:a16="http://schemas.microsoft.com/office/drawing/2014/main" xmlns="" id="{05AC49D0-8614-8A2C-C8DB-048F6416EE12}"/>
              </a:ext>
            </a:extLst>
          </p:cNvPr>
          <p:cNvSpPr>
            <a:spLocks noChangeArrowheads="1"/>
          </p:cNvSpPr>
          <p:nvPr/>
        </p:nvSpPr>
        <p:spPr bwMode="auto">
          <a:xfrm>
            <a:off x="4735513" y="3554413"/>
            <a:ext cx="4826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B</a:t>
            </a:r>
          </a:p>
        </p:txBody>
      </p:sp>
      <p:sp>
        <p:nvSpPr>
          <p:cNvPr id="70" name="Rectangle 66">
            <a:extLst>
              <a:ext uri="{FF2B5EF4-FFF2-40B4-BE49-F238E27FC236}">
                <a16:creationId xmlns:a16="http://schemas.microsoft.com/office/drawing/2014/main" xmlns="" id="{5FC68EAB-3A6A-7211-A965-10ECF19048B2}"/>
              </a:ext>
            </a:extLst>
          </p:cNvPr>
          <p:cNvSpPr>
            <a:spLocks noChangeArrowheads="1"/>
          </p:cNvSpPr>
          <p:nvPr/>
        </p:nvSpPr>
        <p:spPr bwMode="auto">
          <a:xfrm>
            <a:off x="5573713" y="3554413"/>
            <a:ext cx="4826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B</a:t>
            </a:r>
          </a:p>
        </p:txBody>
      </p:sp>
      <p:sp>
        <p:nvSpPr>
          <p:cNvPr id="71" name="Rectangle 67">
            <a:extLst>
              <a:ext uri="{FF2B5EF4-FFF2-40B4-BE49-F238E27FC236}">
                <a16:creationId xmlns:a16="http://schemas.microsoft.com/office/drawing/2014/main" xmlns="" id="{DC30C5D6-B9FB-DEC1-187A-FEF8A922DF8C}"/>
              </a:ext>
            </a:extLst>
          </p:cNvPr>
          <p:cNvSpPr>
            <a:spLocks noChangeArrowheads="1"/>
          </p:cNvSpPr>
          <p:nvPr/>
        </p:nvSpPr>
        <p:spPr bwMode="auto">
          <a:xfrm>
            <a:off x="6564313" y="3554413"/>
            <a:ext cx="46513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F</a:t>
            </a:r>
          </a:p>
        </p:txBody>
      </p:sp>
      <p:sp>
        <p:nvSpPr>
          <p:cNvPr id="72" name="Rectangle 68">
            <a:extLst>
              <a:ext uri="{FF2B5EF4-FFF2-40B4-BE49-F238E27FC236}">
                <a16:creationId xmlns:a16="http://schemas.microsoft.com/office/drawing/2014/main" xmlns="" id="{19C76267-E65E-9699-B019-32D7E48D9859}"/>
              </a:ext>
            </a:extLst>
          </p:cNvPr>
          <p:cNvSpPr>
            <a:spLocks noChangeArrowheads="1"/>
          </p:cNvSpPr>
          <p:nvPr/>
        </p:nvSpPr>
        <p:spPr bwMode="auto">
          <a:xfrm>
            <a:off x="1992313" y="4697413"/>
            <a:ext cx="5000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D</a:t>
            </a:r>
          </a:p>
        </p:txBody>
      </p:sp>
      <p:sp>
        <p:nvSpPr>
          <p:cNvPr id="73" name="Rectangle 69">
            <a:extLst>
              <a:ext uri="{FF2B5EF4-FFF2-40B4-BE49-F238E27FC236}">
                <a16:creationId xmlns:a16="http://schemas.microsoft.com/office/drawing/2014/main" xmlns="" id="{B938BBA2-641C-DB5E-5EE0-0B3A6415D3B5}"/>
              </a:ext>
            </a:extLst>
          </p:cNvPr>
          <p:cNvSpPr>
            <a:spLocks noChangeArrowheads="1"/>
          </p:cNvSpPr>
          <p:nvPr/>
        </p:nvSpPr>
        <p:spPr bwMode="auto">
          <a:xfrm>
            <a:off x="2601913" y="4697413"/>
            <a:ext cx="46513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F</a:t>
            </a:r>
          </a:p>
        </p:txBody>
      </p:sp>
      <p:sp>
        <p:nvSpPr>
          <p:cNvPr id="74" name="Rectangle 70">
            <a:extLst>
              <a:ext uri="{FF2B5EF4-FFF2-40B4-BE49-F238E27FC236}">
                <a16:creationId xmlns:a16="http://schemas.microsoft.com/office/drawing/2014/main" xmlns="" id="{8CA26BA2-2077-36EC-990C-52F995C29C9B}"/>
              </a:ext>
            </a:extLst>
          </p:cNvPr>
          <p:cNvSpPr>
            <a:spLocks noChangeArrowheads="1"/>
          </p:cNvSpPr>
          <p:nvPr/>
        </p:nvSpPr>
        <p:spPr bwMode="auto">
          <a:xfrm>
            <a:off x="3287713" y="4697413"/>
            <a:ext cx="4826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B</a:t>
            </a:r>
          </a:p>
        </p:txBody>
      </p:sp>
      <p:sp>
        <p:nvSpPr>
          <p:cNvPr id="75" name="Rectangle 71">
            <a:extLst>
              <a:ext uri="{FF2B5EF4-FFF2-40B4-BE49-F238E27FC236}">
                <a16:creationId xmlns:a16="http://schemas.microsoft.com/office/drawing/2014/main" xmlns="" id="{C1A57058-2516-8F65-2E12-2045AC81C80A}"/>
              </a:ext>
            </a:extLst>
          </p:cNvPr>
          <p:cNvSpPr>
            <a:spLocks noChangeArrowheads="1"/>
          </p:cNvSpPr>
          <p:nvPr/>
        </p:nvSpPr>
        <p:spPr bwMode="auto">
          <a:xfrm>
            <a:off x="3897313" y="4697413"/>
            <a:ext cx="46513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F</a:t>
            </a:r>
          </a:p>
        </p:txBody>
      </p:sp>
      <p:sp>
        <p:nvSpPr>
          <p:cNvPr id="76" name="Rectangle 72">
            <a:extLst>
              <a:ext uri="{FF2B5EF4-FFF2-40B4-BE49-F238E27FC236}">
                <a16:creationId xmlns:a16="http://schemas.microsoft.com/office/drawing/2014/main" xmlns="" id="{BCADD50F-E30B-A9AB-BA01-6119CA5E9C5B}"/>
              </a:ext>
            </a:extLst>
          </p:cNvPr>
          <p:cNvSpPr>
            <a:spLocks noChangeArrowheads="1"/>
          </p:cNvSpPr>
          <p:nvPr/>
        </p:nvSpPr>
        <p:spPr bwMode="auto">
          <a:xfrm>
            <a:off x="4506913" y="4697413"/>
            <a:ext cx="5000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C</a:t>
            </a:r>
          </a:p>
        </p:txBody>
      </p:sp>
      <p:sp>
        <p:nvSpPr>
          <p:cNvPr id="77" name="Rectangle 73">
            <a:extLst>
              <a:ext uri="{FF2B5EF4-FFF2-40B4-BE49-F238E27FC236}">
                <a16:creationId xmlns:a16="http://schemas.microsoft.com/office/drawing/2014/main" xmlns="" id="{4AF161D7-4071-6B6C-AA2E-FB08E9707EA9}"/>
              </a:ext>
            </a:extLst>
          </p:cNvPr>
          <p:cNvSpPr>
            <a:spLocks noChangeArrowheads="1"/>
          </p:cNvSpPr>
          <p:nvPr/>
        </p:nvSpPr>
        <p:spPr bwMode="auto">
          <a:xfrm>
            <a:off x="5116513" y="4697413"/>
            <a:ext cx="4826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E</a:t>
            </a:r>
          </a:p>
        </p:txBody>
      </p:sp>
      <p:sp>
        <p:nvSpPr>
          <p:cNvPr id="78" name="Rectangle 74">
            <a:extLst>
              <a:ext uri="{FF2B5EF4-FFF2-40B4-BE49-F238E27FC236}">
                <a16:creationId xmlns:a16="http://schemas.microsoft.com/office/drawing/2014/main" xmlns="" id="{BF980D9A-58C9-041B-206E-432EC5739547}"/>
              </a:ext>
            </a:extLst>
          </p:cNvPr>
          <p:cNvSpPr>
            <a:spLocks noChangeArrowheads="1"/>
          </p:cNvSpPr>
          <p:nvPr/>
        </p:nvSpPr>
        <p:spPr bwMode="auto">
          <a:xfrm>
            <a:off x="5726113" y="4697413"/>
            <a:ext cx="5000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A</a:t>
            </a:r>
          </a:p>
        </p:txBody>
      </p:sp>
      <p:sp>
        <p:nvSpPr>
          <p:cNvPr id="79" name="Rectangle 75">
            <a:extLst>
              <a:ext uri="{FF2B5EF4-FFF2-40B4-BE49-F238E27FC236}">
                <a16:creationId xmlns:a16="http://schemas.microsoft.com/office/drawing/2014/main" xmlns="" id="{7772BF3E-C5EC-610F-45B2-05850DB8FE40}"/>
              </a:ext>
            </a:extLst>
          </p:cNvPr>
          <p:cNvSpPr>
            <a:spLocks noChangeArrowheads="1"/>
          </p:cNvSpPr>
          <p:nvPr/>
        </p:nvSpPr>
        <p:spPr bwMode="auto">
          <a:xfrm>
            <a:off x="6335713" y="4697413"/>
            <a:ext cx="5000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C</a:t>
            </a:r>
          </a:p>
        </p:txBody>
      </p:sp>
      <p:sp>
        <p:nvSpPr>
          <p:cNvPr id="80" name="Rectangle 76">
            <a:extLst>
              <a:ext uri="{FF2B5EF4-FFF2-40B4-BE49-F238E27FC236}">
                <a16:creationId xmlns:a16="http://schemas.microsoft.com/office/drawing/2014/main" xmlns="" id="{92EA05DC-B886-81B6-087C-3E71A6F5BC4E}"/>
              </a:ext>
            </a:extLst>
          </p:cNvPr>
          <p:cNvSpPr>
            <a:spLocks noChangeArrowheads="1"/>
          </p:cNvSpPr>
          <p:nvPr/>
        </p:nvSpPr>
        <p:spPr bwMode="auto">
          <a:xfrm>
            <a:off x="6945313" y="4697413"/>
            <a:ext cx="51593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G</a:t>
            </a:r>
          </a:p>
        </p:txBody>
      </p:sp>
      <p:sp>
        <p:nvSpPr>
          <p:cNvPr id="81" name="Rectangle 77">
            <a:extLst>
              <a:ext uri="{FF2B5EF4-FFF2-40B4-BE49-F238E27FC236}">
                <a16:creationId xmlns:a16="http://schemas.microsoft.com/office/drawing/2014/main" xmlns="" id="{266E38B8-01F8-05CC-6E08-A015490D54C3}"/>
              </a:ext>
            </a:extLst>
          </p:cNvPr>
          <p:cNvSpPr>
            <a:spLocks noChangeArrowheads="1"/>
          </p:cNvSpPr>
          <p:nvPr/>
        </p:nvSpPr>
        <p:spPr bwMode="auto">
          <a:xfrm>
            <a:off x="2601913" y="5611813"/>
            <a:ext cx="51593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G</a:t>
            </a:r>
          </a:p>
        </p:txBody>
      </p:sp>
      <p:sp>
        <p:nvSpPr>
          <p:cNvPr id="82" name="Rectangle 78">
            <a:extLst>
              <a:ext uri="{FF2B5EF4-FFF2-40B4-BE49-F238E27FC236}">
                <a16:creationId xmlns:a16="http://schemas.microsoft.com/office/drawing/2014/main" xmlns="" id="{A89227AC-0E42-C10C-C0E3-55C133485578}"/>
              </a:ext>
            </a:extLst>
          </p:cNvPr>
          <p:cNvSpPr>
            <a:spLocks noChangeArrowheads="1"/>
          </p:cNvSpPr>
          <p:nvPr/>
        </p:nvSpPr>
        <p:spPr bwMode="auto">
          <a:xfrm>
            <a:off x="3287713" y="5611813"/>
            <a:ext cx="500062"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C</a:t>
            </a:r>
          </a:p>
        </p:txBody>
      </p:sp>
      <p:sp>
        <p:nvSpPr>
          <p:cNvPr id="83" name="Rectangle 79">
            <a:extLst>
              <a:ext uri="{FF2B5EF4-FFF2-40B4-BE49-F238E27FC236}">
                <a16:creationId xmlns:a16="http://schemas.microsoft.com/office/drawing/2014/main" xmlns="" id="{6E0DC17B-E6E1-3C32-1777-FDA964D7638E}"/>
              </a:ext>
            </a:extLst>
          </p:cNvPr>
          <p:cNvSpPr>
            <a:spLocks noChangeArrowheads="1"/>
          </p:cNvSpPr>
          <p:nvPr/>
        </p:nvSpPr>
        <p:spPr bwMode="auto">
          <a:xfrm>
            <a:off x="3897313" y="5611813"/>
            <a:ext cx="51593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G</a:t>
            </a:r>
          </a:p>
        </p:txBody>
      </p:sp>
      <p:sp>
        <p:nvSpPr>
          <p:cNvPr id="84" name="Rectangle 80">
            <a:extLst>
              <a:ext uri="{FF2B5EF4-FFF2-40B4-BE49-F238E27FC236}">
                <a16:creationId xmlns:a16="http://schemas.microsoft.com/office/drawing/2014/main" xmlns="" id="{9D6C9288-4775-C69A-33CA-515E26A2CF98}"/>
              </a:ext>
            </a:extLst>
          </p:cNvPr>
          <p:cNvSpPr>
            <a:spLocks noChangeArrowheads="1"/>
          </p:cNvSpPr>
          <p:nvPr/>
        </p:nvSpPr>
        <p:spPr bwMode="auto">
          <a:xfrm>
            <a:off x="5116513" y="5611813"/>
            <a:ext cx="46513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F</a:t>
            </a:r>
          </a:p>
        </p:txBody>
      </p:sp>
      <p:sp>
        <p:nvSpPr>
          <p:cNvPr id="85" name="Rectangle 81">
            <a:extLst>
              <a:ext uri="{FF2B5EF4-FFF2-40B4-BE49-F238E27FC236}">
                <a16:creationId xmlns:a16="http://schemas.microsoft.com/office/drawing/2014/main" xmlns="" id="{7F1F5ABA-9AFA-616F-1FE8-371938C6D332}"/>
              </a:ext>
            </a:extLst>
          </p:cNvPr>
          <p:cNvSpPr>
            <a:spLocks noChangeArrowheads="1"/>
          </p:cNvSpPr>
          <p:nvPr/>
        </p:nvSpPr>
        <p:spPr bwMode="auto">
          <a:xfrm>
            <a:off x="1992313" y="5078413"/>
            <a:ext cx="584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latin typeface="Times New Roman" panose="02020603050405020304" pitchFamily="18" charset="0"/>
                <a:ea typeface="PMingLiU" panose="02020500000000000000" pitchFamily="18" charset="-120"/>
              </a:rPr>
              <a:t>14</a:t>
            </a:r>
          </a:p>
        </p:txBody>
      </p:sp>
      <p:sp>
        <p:nvSpPr>
          <p:cNvPr id="86" name="Rectangle 82">
            <a:extLst>
              <a:ext uri="{FF2B5EF4-FFF2-40B4-BE49-F238E27FC236}">
                <a16:creationId xmlns:a16="http://schemas.microsoft.com/office/drawing/2014/main" xmlns="" id="{F72A4B51-5E70-FF58-2423-E932574089A8}"/>
              </a:ext>
            </a:extLst>
          </p:cNvPr>
          <p:cNvSpPr>
            <a:spLocks noChangeArrowheads="1"/>
          </p:cNvSpPr>
          <p:nvPr/>
        </p:nvSpPr>
        <p:spPr bwMode="auto">
          <a:xfrm>
            <a:off x="2525713" y="5992813"/>
            <a:ext cx="584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latin typeface="Times New Roman" panose="02020603050405020304" pitchFamily="18" charset="0"/>
                <a:ea typeface="PMingLiU" panose="02020500000000000000" pitchFamily="18" charset="-120"/>
              </a:rPr>
              <a:t>19</a:t>
            </a:r>
          </a:p>
        </p:txBody>
      </p:sp>
      <p:sp>
        <p:nvSpPr>
          <p:cNvPr id="87" name="Rectangle 83">
            <a:extLst>
              <a:ext uri="{FF2B5EF4-FFF2-40B4-BE49-F238E27FC236}">
                <a16:creationId xmlns:a16="http://schemas.microsoft.com/office/drawing/2014/main" xmlns="" id="{A87C5730-5FAF-4763-1805-053027808740}"/>
              </a:ext>
            </a:extLst>
          </p:cNvPr>
          <p:cNvSpPr>
            <a:spLocks noChangeArrowheads="1"/>
          </p:cNvSpPr>
          <p:nvPr/>
        </p:nvSpPr>
        <p:spPr bwMode="auto">
          <a:xfrm>
            <a:off x="3287713" y="5992813"/>
            <a:ext cx="584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latin typeface="Times New Roman" panose="02020603050405020304" pitchFamily="18" charset="0"/>
                <a:ea typeface="PMingLiU" panose="02020500000000000000" pitchFamily="18" charset="-120"/>
              </a:rPr>
              <a:t>19</a:t>
            </a:r>
          </a:p>
        </p:txBody>
      </p:sp>
      <p:sp>
        <p:nvSpPr>
          <p:cNvPr id="88" name="Rectangle 84">
            <a:extLst>
              <a:ext uri="{FF2B5EF4-FFF2-40B4-BE49-F238E27FC236}">
                <a16:creationId xmlns:a16="http://schemas.microsoft.com/office/drawing/2014/main" xmlns="" id="{009C629E-7CE9-0551-ACAE-C62259384167}"/>
              </a:ext>
            </a:extLst>
          </p:cNvPr>
          <p:cNvSpPr>
            <a:spLocks noChangeArrowheads="1"/>
          </p:cNvSpPr>
          <p:nvPr/>
        </p:nvSpPr>
        <p:spPr bwMode="auto">
          <a:xfrm>
            <a:off x="3897313" y="5992813"/>
            <a:ext cx="584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latin typeface="Times New Roman" panose="02020603050405020304" pitchFamily="18" charset="0"/>
                <a:ea typeface="PMingLiU" panose="02020500000000000000" pitchFamily="18" charset="-120"/>
              </a:rPr>
              <a:t>17</a:t>
            </a:r>
          </a:p>
        </p:txBody>
      </p:sp>
      <p:sp>
        <p:nvSpPr>
          <p:cNvPr id="89" name="Rectangle 85">
            <a:extLst>
              <a:ext uri="{FF2B5EF4-FFF2-40B4-BE49-F238E27FC236}">
                <a16:creationId xmlns:a16="http://schemas.microsoft.com/office/drawing/2014/main" xmlns="" id="{920A5A95-D7EC-9C14-59DB-B394CB0BCF68}"/>
              </a:ext>
            </a:extLst>
          </p:cNvPr>
          <p:cNvSpPr>
            <a:spLocks noChangeArrowheads="1"/>
          </p:cNvSpPr>
          <p:nvPr/>
        </p:nvSpPr>
        <p:spPr bwMode="auto">
          <a:xfrm>
            <a:off x="4430713" y="5078413"/>
            <a:ext cx="584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latin typeface="Times New Roman" panose="02020603050405020304" pitchFamily="18" charset="0"/>
                <a:ea typeface="PMingLiU" panose="02020500000000000000" pitchFamily="18" charset="-120"/>
              </a:rPr>
              <a:t>17</a:t>
            </a:r>
          </a:p>
        </p:txBody>
      </p:sp>
      <p:sp>
        <p:nvSpPr>
          <p:cNvPr id="90" name="Rectangle 86">
            <a:extLst>
              <a:ext uri="{FF2B5EF4-FFF2-40B4-BE49-F238E27FC236}">
                <a16:creationId xmlns:a16="http://schemas.microsoft.com/office/drawing/2014/main" xmlns="" id="{59F41027-2231-4857-F3E1-B27DED3F7A47}"/>
              </a:ext>
            </a:extLst>
          </p:cNvPr>
          <p:cNvSpPr>
            <a:spLocks noChangeArrowheads="1"/>
          </p:cNvSpPr>
          <p:nvPr/>
        </p:nvSpPr>
        <p:spPr bwMode="auto">
          <a:xfrm>
            <a:off x="5726113" y="5078413"/>
            <a:ext cx="584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latin typeface="Times New Roman" panose="02020603050405020304" pitchFamily="18" charset="0"/>
                <a:ea typeface="PMingLiU" panose="02020500000000000000" pitchFamily="18" charset="-120"/>
              </a:rPr>
              <a:t>15</a:t>
            </a:r>
          </a:p>
        </p:txBody>
      </p:sp>
      <p:sp>
        <p:nvSpPr>
          <p:cNvPr id="91" name="Rectangle 87">
            <a:extLst>
              <a:ext uri="{FF2B5EF4-FFF2-40B4-BE49-F238E27FC236}">
                <a16:creationId xmlns:a16="http://schemas.microsoft.com/office/drawing/2014/main" xmlns="" id="{4D04D01B-BDB4-F992-499D-C6CC4BFA8EA3}"/>
              </a:ext>
            </a:extLst>
          </p:cNvPr>
          <p:cNvSpPr>
            <a:spLocks noChangeArrowheads="1"/>
          </p:cNvSpPr>
          <p:nvPr/>
        </p:nvSpPr>
        <p:spPr bwMode="auto">
          <a:xfrm>
            <a:off x="6335713" y="5078413"/>
            <a:ext cx="584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latin typeface="Times New Roman" panose="02020603050405020304" pitchFamily="18" charset="0"/>
                <a:ea typeface="PMingLiU" panose="02020500000000000000" pitchFamily="18" charset="-120"/>
              </a:rPr>
              <a:t>15</a:t>
            </a:r>
          </a:p>
        </p:txBody>
      </p:sp>
      <p:sp>
        <p:nvSpPr>
          <p:cNvPr id="92" name="Rectangle 88">
            <a:extLst>
              <a:ext uri="{FF2B5EF4-FFF2-40B4-BE49-F238E27FC236}">
                <a16:creationId xmlns:a16="http://schemas.microsoft.com/office/drawing/2014/main" xmlns="" id="{4507E7FE-7127-5226-DD07-7221BB5FB03A}"/>
              </a:ext>
            </a:extLst>
          </p:cNvPr>
          <p:cNvSpPr>
            <a:spLocks noChangeArrowheads="1"/>
          </p:cNvSpPr>
          <p:nvPr/>
        </p:nvSpPr>
        <p:spPr bwMode="auto">
          <a:xfrm>
            <a:off x="6945313" y="5078413"/>
            <a:ext cx="584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latin typeface="Times New Roman" panose="02020603050405020304" pitchFamily="18" charset="0"/>
                <a:ea typeface="PMingLiU" panose="02020500000000000000" pitchFamily="18" charset="-120"/>
              </a:rPr>
              <a:t>13</a:t>
            </a:r>
          </a:p>
        </p:txBody>
      </p:sp>
      <p:sp>
        <p:nvSpPr>
          <p:cNvPr id="93" name="Oval 89">
            <a:extLst>
              <a:ext uri="{FF2B5EF4-FFF2-40B4-BE49-F238E27FC236}">
                <a16:creationId xmlns:a16="http://schemas.microsoft.com/office/drawing/2014/main" xmlns="" id="{205C03E7-BC23-E5DE-2EF0-982574499C5A}"/>
              </a:ext>
            </a:extLst>
          </p:cNvPr>
          <p:cNvSpPr>
            <a:spLocks noChangeArrowheads="1"/>
          </p:cNvSpPr>
          <p:nvPr/>
        </p:nvSpPr>
        <p:spPr bwMode="auto">
          <a:xfrm>
            <a:off x="5110163" y="6100763"/>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94" name="Rectangle 90">
            <a:extLst>
              <a:ext uri="{FF2B5EF4-FFF2-40B4-BE49-F238E27FC236}">
                <a16:creationId xmlns:a16="http://schemas.microsoft.com/office/drawing/2014/main" xmlns="" id="{0A81EF51-73A4-82E5-D5F8-9183E5F3460E}"/>
              </a:ext>
            </a:extLst>
          </p:cNvPr>
          <p:cNvSpPr>
            <a:spLocks noChangeArrowheads="1"/>
          </p:cNvSpPr>
          <p:nvPr/>
        </p:nvSpPr>
        <p:spPr bwMode="auto">
          <a:xfrm>
            <a:off x="5116513" y="6145213"/>
            <a:ext cx="51593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latin typeface="Times New Roman" panose="02020603050405020304" pitchFamily="18" charset="0"/>
                <a:ea typeface="PMingLiU" panose="02020500000000000000" pitchFamily="18" charset="-120"/>
              </a:rPr>
              <a:t>G</a:t>
            </a:r>
          </a:p>
        </p:txBody>
      </p:sp>
      <p:sp>
        <p:nvSpPr>
          <p:cNvPr id="95" name="Rectangle 91">
            <a:extLst>
              <a:ext uri="{FF2B5EF4-FFF2-40B4-BE49-F238E27FC236}">
                <a16:creationId xmlns:a16="http://schemas.microsoft.com/office/drawing/2014/main" xmlns="" id="{4E27F8AC-EB8C-5F39-159E-6ECB4E5E9C51}"/>
              </a:ext>
            </a:extLst>
          </p:cNvPr>
          <p:cNvSpPr>
            <a:spLocks noChangeArrowheads="1"/>
          </p:cNvSpPr>
          <p:nvPr/>
        </p:nvSpPr>
        <p:spPr bwMode="auto">
          <a:xfrm>
            <a:off x="5497513" y="6145213"/>
            <a:ext cx="584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latin typeface="Times New Roman" panose="02020603050405020304" pitchFamily="18" charset="0"/>
                <a:ea typeface="PMingLiU" panose="02020500000000000000" pitchFamily="18" charset="-120"/>
              </a:rPr>
              <a:t>25</a:t>
            </a:r>
          </a:p>
        </p:txBody>
      </p:sp>
      <p:sp>
        <p:nvSpPr>
          <p:cNvPr id="96" name="Rectangle 92">
            <a:extLst>
              <a:ext uri="{FF2B5EF4-FFF2-40B4-BE49-F238E27FC236}">
                <a16:creationId xmlns:a16="http://schemas.microsoft.com/office/drawing/2014/main" xmlns="" id="{9627896A-56F5-4B8F-1BB9-638C6FD03F9E}"/>
              </a:ext>
            </a:extLst>
          </p:cNvPr>
          <p:cNvSpPr>
            <a:spLocks noChangeArrowheads="1"/>
          </p:cNvSpPr>
          <p:nvPr/>
        </p:nvSpPr>
        <p:spPr bwMode="auto">
          <a:xfrm>
            <a:off x="1916113" y="3935413"/>
            <a:ext cx="584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latin typeface="Times New Roman" panose="02020603050405020304" pitchFamily="18" charset="0"/>
                <a:ea typeface="PMingLiU" panose="02020500000000000000" pitchFamily="18" charset="-120"/>
              </a:rPr>
              <a:t>11</a:t>
            </a:r>
          </a:p>
        </p:txBody>
      </p:sp>
      <p:sp>
        <p:nvSpPr>
          <p:cNvPr id="97" name="Line 93">
            <a:extLst>
              <a:ext uri="{FF2B5EF4-FFF2-40B4-BE49-F238E27FC236}">
                <a16:creationId xmlns:a16="http://schemas.microsoft.com/office/drawing/2014/main" xmlns="" id="{417FFCEB-7601-B732-14AB-92063AA63FF9}"/>
              </a:ext>
            </a:extLst>
          </p:cNvPr>
          <p:cNvSpPr>
            <a:spLocks noChangeShapeType="1"/>
          </p:cNvSpPr>
          <p:nvPr/>
        </p:nvSpPr>
        <p:spPr bwMode="auto">
          <a:xfrm flipH="1">
            <a:off x="3200400" y="1219200"/>
            <a:ext cx="836613" cy="3794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98" name="Line 94">
            <a:extLst>
              <a:ext uri="{FF2B5EF4-FFF2-40B4-BE49-F238E27FC236}">
                <a16:creationId xmlns:a16="http://schemas.microsoft.com/office/drawing/2014/main" xmlns="" id="{21B2B8DF-FB86-1EB8-363D-19E0FD56ED1A}"/>
              </a:ext>
            </a:extLst>
          </p:cNvPr>
          <p:cNvSpPr>
            <a:spLocks noChangeShapeType="1"/>
          </p:cNvSpPr>
          <p:nvPr/>
        </p:nvSpPr>
        <p:spPr bwMode="auto">
          <a:xfrm flipH="1">
            <a:off x="2209800" y="1981200"/>
            <a:ext cx="531813" cy="6080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99" name="Line 95">
            <a:extLst>
              <a:ext uri="{FF2B5EF4-FFF2-40B4-BE49-F238E27FC236}">
                <a16:creationId xmlns:a16="http://schemas.microsoft.com/office/drawing/2014/main" xmlns="" id="{58668C2C-D9BD-E523-4A8F-DC3348580BC5}"/>
              </a:ext>
            </a:extLst>
          </p:cNvPr>
          <p:cNvSpPr>
            <a:spLocks noChangeShapeType="1"/>
          </p:cNvSpPr>
          <p:nvPr/>
        </p:nvSpPr>
        <p:spPr bwMode="auto">
          <a:xfrm flipH="1">
            <a:off x="1905000" y="2743200"/>
            <a:ext cx="150813" cy="8366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0" name="Line 96">
            <a:extLst>
              <a:ext uri="{FF2B5EF4-FFF2-40B4-BE49-F238E27FC236}">
                <a16:creationId xmlns:a16="http://schemas.microsoft.com/office/drawing/2014/main" xmlns="" id="{E120DC31-F818-C41A-5C94-523EBA209201}"/>
              </a:ext>
            </a:extLst>
          </p:cNvPr>
          <p:cNvSpPr>
            <a:spLocks noChangeShapeType="1"/>
          </p:cNvSpPr>
          <p:nvPr/>
        </p:nvSpPr>
        <p:spPr bwMode="auto">
          <a:xfrm flipV="1">
            <a:off x="2360613" y="3200400"/>
            <a:ext cx="0" cy="7604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1" name="Line 97">
            <a:extLst>
              <a:ext uri="{FF2B5EF4-FFF2-40B4-BE49-F238E27FC236}">
                <a16:creationId xmlns:a16="http://schemas.microsoft.com/office/drawing/2014/main" xmlns="" id="{C603C911-A41B-7DEF-9B7D-71769DD8FA7F}"/>
              </a:ext>
            </a:extLst>
          </p:cNvPr>
          <p:cNvSpPr>
            <a:spLocks noChangeShapeType="1"/>
          </p:cNvSpPr>
          <p:nvPr/>
        </p:nvSpPr>
        <p:spPr bwMode="auto">
          <a:xfrm>
            <a:off x="2514600" y="3124200"/>
            <a:ext cx="150813" cy="7604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2" name="Line 98">
            <a:extLst>
              <a:ext uri="{FF2B5EF4-FFF2-40B4-BE49-F238E27FC236}">
                <a16:creationId xmlns:a16="http://schemas.microsoft.com/office/drawing/2014/main" xmlns="" id="{0A6048E7-A375-E221-DB8A-D24CBB22E4B2}"/>
              </a:ext>
            </a:extLst>
          </p:cNvPr>
          <p:cNvSpPr>
            <a:spLocks noChangeShapeType="1"/>
          </p:cNvSpPr>
          <p:nvPr/>
        </p:nvSpPr>
        <p:spPr bwMode="auto">
          <a:xfrm flipH="1">
            <a:off x="2057400" y="4038600"/>
            <a:ext cx="531813" cy="5318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3" name="Line 99">
            <a:extLst>
              <a:ext uri="{FF2B5EF4-FFF2-40B4-BE49-F238E27FC236}">
                <a16:creationId xmlns:a16="http://schemas.microsoft.com/office/drawing/2014/main" xmlns="" id="{AD3A2C25-8C26-FE67-F4D5-ACCF660A0AD0}"/>
              </a:ext>
            </a:extLst>
          </p:cNvPr>
          <p:cNvSpPr>
            <a:spLocks noChangeShapeType="1"/>
          </p:cNvSpPr>
          <p:nvPr/>
        </p:nvSpPr>
        <p:spPr bwMode="auto">
          <a:xfrm flipV="1">
            <a:off x="2286000" y="4267200"/>
            <a:ext cx="455613" cy="5318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4" name="Line 100">
            <a:extLst>
              <a:ext uri="{FF2B5EF4-FFF2-40B4-BE49-F238E27FC236}">
                <a16:creationId xmlns:a16="http://schemas.microsoft.com/office/drawing/2014/main" xmlns="" id="{55436009-29E6-65FD-676A-5F6B8A86B91F}"/>
              </a:ext>
            </a:extLst>
          </p:cNvPr>
          <p:cNvSpPr>
            <a:spLocks noChangeShapeType="1"/>
          </p:cNvSpPr>
          <p:nvPr/>
        </p:nvSpPr>
        <p:spPr bwMode="auto">
          <a:xfrm>
            <a:off x="2970213" y="3962400"/>
            <a:ext cx="0" cy="9128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5" name="Line 101">
            <a:extLst>
              <a:ext uri="{FF2B5EF4-FFF2-40B4-BE49-F238E27FC236}">
                <a16:creationId xmlns:a16="http://schemas.microsoft.com/office/drawing/2014/main" xmlns="" id="{40221A1F-E24F-2AB5-6D03-51303279E3AC}"/>
              </a:ext>
            </a:extLst>
          </p:cNvPr>
          <p:cNvSpPr>
            <a:spLocks noChangeShapeType="1"/>
          </p:cNvSpPr>
          <p:nvPr/>
        </p:nvSpPr>
        <p:spPr bwMode="auto">
          <a:xfrm>
            <a:off x="2970213" y="5029200"/>
            <a:ext cx="0" cy="836613"/>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Tree>
    <p:extLst>
      <p:ext uri="{BB962C8B-B14F-4D97-AF65-F5344CB8AC3E}">
        <p14:creationId xmlns:p14="http://schemas.microsoft.com/office/powerpoint/2010/main" val="100417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blinds(horizontal)">
                                      <p:cBhvr>
                                        <p:cTn id="7" dur="5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8"/>
                                        </p:tgtEl>
                                        <p:attrNameLst>
                                          <p:attrName>style.visibility</p:attrName>
                                        </p:attrNameLst>
                                      </p:cBhvr>
                                      <p:to>
                                        <p:strVal val="visible"/>
                                      </p:to>
                                    </p:set>
                                    <p:animEffect transition="in" filter="blinds(horizontal)">
                                      <p:cBhvr>
                                        <p:cTn id="12" dur="500"/>
                                        <p:tgtEl>
                                          <p:spTgt spid="9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blinds(horizontal)">
                                      <p:cBhvr>
                                        <p:cTn id="17" dur="500"/>
                                        <p:tgtEl>
                                          <p:spTgt spid="9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0"/>
                                        </p:tgtEl>
                                        <p:attrNameLst>
                                          <p:attrName>style.visibility</p:attrName>
                                        </p:attrNameLst>
                                      </p:cBhvr>
                                      <p:to>
                                        <p:strVal val="visible"/>
                                      </p:to>
                                    </p:set>
                                    <p:animEffect transition="in" filter="blinds(horizontal)">
                                      <p:cBhvr>
                                        <p:cTn id="22" dur="500"/>
                                        <p:tgtEl>
                                          <p:spTgt spid="10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1"/>
                                        </p:tgtEl>
                                        <p:attrNameLst>
                                          <p:attrName>style.visibility</p:attrName>
                                        </p:attrNameLst>
                                      </p:cBhvr>
                                      <p:to>
                                        <p:strVal val="visible"/>
                                      </p:to>
                                    </p:set>
                                    <p:animEffect transition="in" filter="blinds(horizontal)">
                                      <p:cBhvr>
                                        <p:cTn id="27" dur="500"/>
                                        <p:tgtEl>
                                          <p:spTgt spid="10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02"/>
                                        </p:tgtEl>
                                        <p:attrNameLst>
                                          <p:attrName>style.visibility</p:attrName>
                                        </p:attrNameLst>
                                      </p:cBhvr>
                                      <p:to>
                                        <p:strVal val="visible"/>
                                      </p:to>
                                    </p:set>
                                    <p:animEffect transition="in" filter="blinds(horizontal)">
                                      <p:cBhvr>
                                        <p:cTn id="32" dur="500"/>
                                        <p:tgtEl>
                                          <p:spTgt spid="10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03"/>
                                        </p:tgtEl>
                                        <p:attrNameLst>
                                          <p:attrName>style.visibility</p:attrName>
                                        </p:attrNameLst>
                                      </p:cBhvr>
                                      <p:to>
                                        <p:strVal val="visible"/>
                                      </p:to>
                                    </p:set>
                                    <p:animEffect transition="in" filter="blinds(horizontal)">
                                      <p:cBhvr>
                                        <p:cTn id="37" dur="500"/>
                                        <p:tgtEl>
                                          <p:spTgt spid="10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04"/>
                                        </p:tgtEl>
                                        <p:attrNameLst>
                                          <p:attrName>style.visibility</p:attrName>
                                        </p:attrNameLst>
                                      </p:cBhvr>
                                      <p:to>
                                        <p:strVal val="visible"/>
                                      </p:to>
                                    </p:set>
                                    <p:animEffect transition="in" filter="blinds(horizontal)">
                                      <p:cBhvr>
                                        <p:cTn id="42" dur="500"/>
                                        <p:tgtEl>
                                          <p:spTgt spid="10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05"/>
                                        </p:tgtEl>
                                        <p:attrNameLst>
                                          <p:attrName>style.visibility</p:attrName>
                                        </p:attrNameLst>
                                      </p:cBhvr>
                                      <p:to>
                                        <p:strVal val="visible"/>
                                      </p:to>
                                    </p:set>
                                    <p:animEffect transition="in" filter="blinds(horizontal)">
                                      <p:cBhvr>
                                        <p:cTn id="4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FFE16CFB-8963-35A7-6642-9DCD80C15DA6}"/>
              </a:ext>
            </a:extLst>
          </p:cNvPr>
          <p:cNvSpPr>
            <a:spLocks noGrp="1"/>
          </p:cNvSpPr>
          <p:nvPr>
            <p:ph type="title"/>
          </p:nvPr>
        </p:nvSpPr>
        <p:spPr/>
        <p:txBody>
          <a:bodyPr/>
          <a:lstStyle/>
          <a:p>
            <a:r>
              <a:rPr lang="en-IN" dirty="0"/>
              <a:t>Problem solving performance-DFS</a:t>
            </a:r>
          </a:p>
        </p:txBody>
      </p:sp>
      <p:sp>
        <p:nvSpPr>
          <p:cNvPr id="3" name="Content Placeholder 2">
            <a:extLst>
              <a:ext uri="{FF2B5EF4-FFF2-40B4-BE49-F238E27FC236}">
                <a16:creationId xmlns:a16="http://schemas.microsoft.com/office/drawing/2014/main" xmlns="" id="{48A657B3-7964-9C11-C21C-E497C91E34BC}"/>
              </a:ext>
            </a:extLst>
          </p:cNvPr>
          <p:cNvSpPr>
            <a:spLocks noGrp="1"/>
          </p:cNvSpPr>
          <p:nvPr>
            <p:ph idx="1"/>
          </p:nvPr>
        </p:nvSpPr>
        <p:spPr/>
        <p:txBody>
          <a:bodyPr>
            <a:normAutofit fontScale="92500" lnSpcReduction="10000"/>
          </a:bodyPr>
          <a:lstStyle/>
          <a:p>
            <a:r>
              <a:rPr lang="en-US" sz="2400" b="1" dirty="0">
                <a:solidFill>
                  <a:srgbClr val="000000"/>
                </a:solidFill>
              </a:rPr>
              <a:t>C</a:t>
            </a:r>
            <a:r>
              <a:rPr lang="en-US" sz="2400" b="1" dirty="0">
                <a:solidFill>
                  <a:srgbClr val="000000"/>
                </a:solidFill>
                <a:effectLst/>
              </a:rPr>
              <a:t>ompleteness:</a:t>
            </a:r>
          </a:p>
          <a:p>
            <a:pPr lvl="1"/>
            <a:r>
              <a:rPr lang="en-US" sz="2200" dirty="0">
                <a:solidFill>
                  <a:srgbClr val="000000"/>
                </a:solidFill>
                <a:effectLst/>
              </a:rPr>
              <a:t>depth-first search is implemented with a recursive function that calls itself on each of its children in turn.</a:t>
            </a:r>
          </a:p>
          <a:p>
            <a:pPr lvl="1"/>
            <a:r>
              <a:rPr lang="en-US" sz="2200" dirty="0">
                <a:solidFill>
                  <a:srgbClr val="000000"/>
                </a:solidFill>
                <a:effectLst/>
              </a:rPr>
              <a:t>The properties of depth-first search depend strongly on whether the graph-search or </a:t>
            </a:r>
            <a:endParaRPr lang="en-US" sz="2200" dirty="0"/>
          </a:p>
          <a:p>
            <a:pPr lvl="1"/>
            <a:r>
              <a:rPr lang="en-US" sz="2200" dirty="0">
                <a:solidFill>
                  <a:srgbClr val="000000"/>
                </a:solidFill>
                <a:effectLst/>
              </a:rPr>
              <a:t>tree-search version is used. </a:t>
            </a:r>
          </a:p>
          <a:p>
            <a:pPr lvl="1"/>
            <a:r>
              <a:rPr lang="en-US" sz="2200" dirty="0">
                <a:solidFill>
                  <a:srgbClr val="000000"/>
                </a:solidFill>
                <a:effectLst/>
              </a:rPr>
              <a:t>The graph-search version, which avoids repeated states and redundant paths, is complete in finite state spaces because it will eventually expand every node. </a:t>
            </a:r>
            <a:endParaRPr lang="en-US" sz="2200" dirty="0"/>
          </a:p>
          <a:p>
            <a:pPr lvl="1"/>
            <a:r>
              <a:rPr lang="en-US" sz="2200" dirty="0">
                <a:solidFill>
                  <a:srgbClr val="000000"/>
                </a:solidFill>
                <a:effectLst/>
              </a:rPr>
              <a:t>The tree-search version, on the other hand, is </a:t>
            </a:r>
            <a:r>
              <a:rPr lang="en-US" sz="2200" i="1" dirty="0">
                <a:solidFill>
                  <a:srgbClr val="000000"/>
                </a:solidFill>
                <a:effectLst/>
              </a:rPr>
              <a:t>not </a:t>
            </a:r>
            <a:r>
              <a:rPr lang="en-US" sz="2200" dirty="0">
                <a:solidFill>
                  <a:srgbClr val="000000"/>
                </a:solidFill>
                <a:effectLst/>
              </a:rPr>
              <a:t>complete</a:t>
            </a:r>
          </a:p>
          <a:p>
            <a:pPr lvl="1"/>
            <a:r>
              <a:rPr lang="en-US" sz="2200" dirty="0">
                <a:solidFill>
                  <a:srgbClr val="000000"/>
                </a:solidFill>
                <a:effectLst/>
              </a:rPr>
              <a:t>Depth-first tree search can be modified at no extra memory cost so that it checks new states against those on the path from the root to the current node; </a:t>
            </a:r>
          </a:p>
          <a:p>
            <a:pPr lvl="1"/>
            <a:r>
              <a:rPr lang="en-US" sz="2200" dirty="0">
                <a:solidFill>
                  <a:srgbClr val="000000"/>
                </a:solidFill>
                <a:effectLst/>
              </a:rPr>
              <a:t>this avoids infinite loops in finite state spaces but does not avoid the proliferation of redundant paths. </a:t>
            </a:r>
          </a:p>
          <a:p>
            <a:pPr lvl="1"/>
            <a:r>
              <a:rPr lang="en-US" sz="2200" dirty="0">
                <a:solidFill>
                  <a:srgbClr val="000000"/>
                </a:solidFill>
                <a:effectLst/>
              </a:rPr>
              <a:t>In infinite state spaces, both versions fail if an infinite non-goal path is encountered.</a:t>
            </a:r>
            <a:endParaRPr lang="en-IN" sz="2200" dirty="0"/>
          </a:p>
        </p:txBody>
      </p:sp>
      <p:sp>
        <p:nvSpPr>
          <p:cNvPr id="4" name="Footer Placeholder 3">
            <a:extLst>
              <a:ext uri="{FF2B5EF4-FFF2-40B4-BE49-F238E27FC236}">
                <a16:creationId xmlns:a16="http://schemas.microsoft.com/office/drawing/2014/main" xmlns="" id="{E1873AFA-F559-0CDF-0C79-F02D40A0999C}"/>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26CA95CE-C3E5-6EFD-BD3B-BA375B1B4614}"/>
              </a:ext>
            </a:extLst>
          </p:cNvPr>
          <p:cNvSpPr>
            <a:spLocks noGrp="1"/>
          </p:cNvSpPr>
          <p:nvPr>
            <p:ph type="sldNum" sz="quarter" idx="12"/>
          </p:nvPr>
        </p:nvSpPr>
        <p:spPr/>
        <p:txBody>
          <a:bodyPr/>
          <a:lstStyle/>
          <a:p>
            <a:fld id="{1E81A027-E3F7-4FC9-A752-E855AD4A687D}" type="slidenum">
              <a:rPr lang="en-IN" smtClean="0"/>
              <a:t>71</a:t>
            </a:fld>
            <a:endParaRPr lang="en-IN"/>
          </a:p>
        </p:txBody>
      </p:sp>
    </p:spTree>
    <p:extLst>
      <p:ext uri="{BB962C8B-B14F-4D97-AF65-F5344CB8AC3E}">
        <p14:creationId xmlns:p14="http://schemas.microsoft.com/office/powerpoint/2010/main" val="18398783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E1873AFA-F559-0CDF-0C79-F02D40A0999C}"/>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26CA95CE-C3E5-6EFD-BD3B-BA375B1B4614}"/>
              </a:ext>
            </a:extLst>
          </p:cNvPr>
          <p:cNvSpPr>
            <a:spLocks noGrp="1"/>
          </p:cNvSpPr>
          <p:nvPr>
            <p:ph type="sldNum" sz="quarter" idx="12"/>
          </p:nvPr>
        </p:nvSpPr>
        <p:spPr/>
        <p:txBody>
          <a:bodyPr/>
          <a:lstStyle/>
          <a:p>
            <a:fld id="{1E81A027-E3F7-4FC9-A752-E855AD4A687D}" type="slidenum">
              <a:rPr lang="en-IN" smtClean="0"/>
              <a:t>72</a:t>
            </a:fld>
            <a:endParaRPr lang="en-IN"/>
          </a:p>
        </p:txBody>
      </p:sp>
      <p:sp>
        <p:nvSpPr>
          <p:cNvPr id="3" name="Content Placeholder 2">
            <a:extLst>
              <a:ext uri="{FF2B5EF4-FFF2-40B4-BE49-F238E27FC236}">
                <a16:creationId xmlns:a16="http://schemas.microsoft.com/office/drawing/2014/main" xmlns="" id="{48A657B3-7964-9C11-C21C-E497C91E34BC}"/>
              </a:ext>
            </a:extLst>
          </p:cNvPr>
          <p:cNvSpPr>
            <a:spLocks noGrp="1"/>
          </p:cNvSpPr>
          <p:nvPr>
            <p:ph idx="4294967295"/>
          </p:nvPr>
        </p:nvSpPr>
        <p:spPr>
          <a:xfrm>
            <a:off x="275304" y="294969"/>
            <a:ext cx="11415252" cy="5574020"/>
          </a:xfrm>
        </p:spPr>
        <p:txBody>
          <a:bodyPr>
            <a:normAutofit lnSpcReduction="10000"/>
          </a:bodyPr>
          <a:lstStyle/>
          <a:p>
            <a:r>
              <a:rPr lang="en-US" b="1" dirty="0">
                <a:solidFill>
                  <a:srgbClr val="000000"/>
                </a:solidFill>
              </a:rPr>
              <a:t>N</a:t>
            </a:r>
            <a:r>
              <a:rPr lang="en-US" b="1" dirty="0">
                <a:solidFill>
                  <a:srgbClr val="000000"/>
                </a:solidFill>
                <a:effectLst/>
              </a:rPr>
              <a:t>ot optimal</a:t>
            </a:r>
          </a:p>
          <a:p>
            <a:pPr lvl="1"/>
            <a:r>
              <a:rPr lang="en-US" dirty="0">
                <a:solidFill>
                  <a:srgbClr val="000000"/>
                </a:solidFill>
                <a:effectLst/>
              </a:rPr>
              <a:t>depth- first search will explore the entire left subtree even if node C is a goal node. </a:t>
            </a:r>
          </a:p>
          <a:p>
            <a:pPr lvl="1"/>
            <a:r>
              <a:rPr lang="en-US" dirty="0">
                <a:solidFill>
                  <a:srgbClr val="000000"/>
                </a:solidFill>
                <a:effectLst/>
              </a:rPr>
              <a:t>If node J were also a goal node, then depth-first search would return it as a solution instead of C, which would be a better solution; hence, depth-first search is not optimal.</a:t>
            </a:r>
          </a:p>
          <a:p>
            <a:r>
              <a:rPr lang="en-IN" b="1" dirty="0">
                <a:solidFill>
                  <a:srgbClr val="000000"/>
                </a:solidFill>
              </a:rPr>
              <a:t>T</a:t>
            </a:r>
            <a:r>
              <a:rPr lang="en-IN" b="1" dirty="0">
                <a:solidFill>
                  <a:srgbClr val="000000"/>
                </a:solidFill>
                <a:effectLst/>
              </a:rPr>
              <a:t>ime complexity</a:t>
            </a:r>
          </a:p>
          <a:p>
            <a:pPr lvl="1"/>
            <a:r>
              <a:rPr lang="en-US" dirty="0">
                <a:solidFill>
                  <a:srgbClr val="000000"/>
                </a:solidFill>
                <a:effectLst/>
              </a:rPr>
              <a:t>depth-first graph search is bounded by the size of the state space </a:t>
            </a:r>
            <a:endParaRPr lang="en-US" sz="2000" dirty="0"/>
          </a:p>
          <a:p>
            <a:pPr lvl="1"/>
            <a:r>
              <a:rPr lang="en-US" dirty="0">
                <a:solidFill>
                  <a:srgbClr val="000000"/>
                </a:solidFill>
                <a:effectLst/>
              </a:rPr>
              <a:t>A depth-first tree search, on the other hand, may generate all of the O(b</a:t>
            </a:r>
            <a:r>
              <a:rPr lang="en-US" baseline="30000" dirty="0">
                <a:solidFill>
                  <a:srgbClr val="000000"/>
                </a:solidFill>
                <a:effectLst/>
              </a:rPr>
              <a:t>m</a:t>
            </a:r>
            <a:r>
              <a:rPr lang="en-US" dirty="0">
                <a:solidFill>
                  <a:srgbClr val="000000"/>
                </a:solidFill>
                <a:effectLst/>
              </a:rPr>
              <a:t>) nodes in the search tree, where m is the maximum depth of any node; this can be much greater than the size of the state space. </a:t>
            </a:r>
          </a:p>
          <a:p>
            <a:pPr lvl="1"/>
            <a:r>
              <a:rPr lang="en-US" dirty="0">
                <a:solidFill>
                  <a:srgbClr val="000000"/>
                </a:solidFill>
                <a:effectLst/>
              </a:rPr>
              <a:t>m itself can be much larger than d (the depth of the shallowest solution) and is infinite if the tree is unbounded</a:t>
            </a:r>
          </a:p>
          <a:p>
            <a:r>
              <a:rPr lang="en-IN" b="1" dirty="0">
                <a:solidFill>
                  <a:srgbClr val="000000"/>
                </a:solidFill>
              </a:rPr>
              <a:t>S</a:t>
            </a:r>
            <a:r>
              <a:rPr lang="en-IN" b="1" dirty="0">
                <a:solidFill>
                  <a:srgbClr val="000000"/>
                </a:solidFill>
                <a:effectLst/>
              </a:rPr>
              <a:t>pace complexity</a:t>
            </a:r>
          </a:p>
          <a:p>
            <a:pPr lvl="1"/>
            <a:r>
              <a:rPr lang="en-US" dirty="0">
                <a:solidFill>
                  <a:srgbClr val="000000"/>
                </a:solidFill>
                <a:effectLst/>
              </a:rPr>
              <a:t>a depth-first tree search needs to store only a single path from the root </a:t>
            </a:r>
            <a:r>
              <a:rPr lang="en-US" dirty="0">
                <a:solidFill>
                  <a:srgbClr val="000000"/>
                </a:solidFill>
              </a:rPr>
              <a:t> </a:t>
            </a:r>
            <a:r>
              <a:rPr lang="en-US" dirty="0">
                <a:solidFill>
                  <a:srgbClr val="000000"/>
                </a:solidFill>
                <a:effectLst/>
              </a:rPr>
              <a:t>to a leaf node, along with the remaining unexpanded sibling nodes for each node on the path. </a:t>
            </a:r>
          </a:p>
          <a:p>
            <a:pPr lvl="1"/>
            <a:r>
              <a:rPr lang="en-US" dirty="0">
                <a:solidFill>
                  <a:srgbClr val="000000"/>
                </a:solidFill>
                <a:effectLst/>
              </a:rPr>
              <a:t>Once a node has been expanded, it can be removed from memory as soon as all its descendants have been fully explored. </a:t>
            </a:r>
          </a:p>
          <a:p>
            <a:pPr lvl="1"/>
            <a:r>
              <a:rPr lang="en-US" sz="2000" dirty="0">
                <a:solidFill>
                  <a:srgbClr val="000000"/>
                </a:solidFill>
                <a:effectLst/>
              </a:rPr>
              <a:t>For a state space with branching factor b and maximum depth m, depth-first search requires storage of only O(bm) nodes. </a:t>
            </a:r>
          </a:p>
          <a:p>
            <a:pPr lvl="1"/>
            <a:r>
              <a:rPr lang="en-US" sz="2000" dirty="0">
                <a:solidFill>
                  <a:srgbClr val="000000"/>
                </a:solidFill>
                <a:effectLst/>
              </a:rPr>
              <a:t>assuming that nodes at the same depth as the goal node have no successors, we find that depth-first search would require 156 kilobytes instead of 10 exabytes at depth d = 16, a factor of </a:t>
            </a:r>
            <a:r>
              <a:rPr lang="en-US" sz="2000" b="1" dirty="0">
                <a:solidFill>
                  <a:srgbClr val="000000"/>
                </a:solidFill>
                <a:effectLst/>
              </a:rPr>
              <a:t>7 trillion times less space</a:t>
            </a:r>
            <a:r>
              <a:rPr lang="en-US" sz="2000" dirty="0">
                <a:solidFill>
                  <a:srgbClr val="000000"/>
                </a:solidFill>
                <a:effectLst/>
              </a:rPr>
              <a:t>.</a:t>
            </a:r>
            <a:endParaRPr lang="en-US" dirty="0">
              <a:solidFill>
                <a:srgbClr val="000000"/>
              </a:solidFill>
              <a:effectLst/>
            </a:endParaRPr>
          </a:p>
        </p:txBody>
      </p:sp>
    </p:spTree>
    <p:extLst>
      <p:ext uri="{BB962C8B-B14F-4D97-AF65-F5344CB8AC3E}">
        <p14:creationId xmlns:p14="http://schemas.microsoft.com/office/powerpoint/2010/main" val="29237833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stretch>
            <a:fillRect/>
          </a:stretch>
        </p:blipFill>
        <p:spPr>
          <a:xfrm>
            <a:off x="1340355" y="1846263"/>
            <a:ext cx="9571615" cy="4022725"/>
          </a:xfrm>
          <a:prstGeom prst="rect">
            <a:avLst/>
          </a:prstGeom>
        </p:spPr>
      </p:pic>
      <p:sp>
        <p:nvSpPr>
          <p:cNvPr id="4" name="Footer Placeholder 3"/>
          <p:cNvSpPr>
            <a:spLocks noGrp="1"/>
          </p:cNvSpPr>
          <p:nvPr>
            <p:ph type="ftr" sz="quarter" idx="11"/>
          </p:nvPr>
        </p:nvSpPr>
        <p:spPr/>
        <p:txBody>
          <a:bodyPr/>
          <a:lstStyle/>
          <a:p>
            <a:r>
              <a:rPr lang="en-IN" smtClean="0"/>
              <a:t>DEPARTMENT OF CSE SNGCE</a:t>
            </a:r>
            <a:endParaRPr lang="en-IN"/>
          </a:p>
        </p:txBody>
      </p:sp>
      <p:sp>
        <p:nvSpPr>
          <p:cNvPr id="5" name="Slide Number Placeholder 4"/>
          <p:cNvSpPr>
            <a:spLocks noGrp="1"/>
          </p:cNvSpPr>
          <p:nvPr>
            <p:ph type="sldNum" sz="quarter" idx="12"/>
          </p:nvPr>
        </p:nvSpPr>
        <p:spPr/>
        <p:txBody>
          <a:bodyPr/>
          <a:lstStyle/>
          <a:p>
            <a:fld id="{1E81A027-E3F7-4FC9-A752-E855AD4A687D}" type="slidenum">
              <a:rPr lang="en-IN" smtClean="0"/>
              <a:t>73</a:t>
            </a:fld>
            <a:endParaRPr lang="en-IN"/>
          </a:p>
        </p:txBody>
      </p:sp>
    </p:spTree>
    <p:extLst>
      <p:ext uri="{BB962C8B-B14F-4D97-AF65-F5344CB8AC3E}">
        <p14:creationId xmlns:p14="http://schemas.microsoft.com/office/powerpoint/2010/main" val="9337126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343C4A46-2A59-290A-BC05-2F7D8025B54E}"/>
              </a:ext>
            </a:extLst>
          </p:cNvPr>
          <p:cNvSpPr>
            <a:spLocks noGrp="1"/>
          </p:cNvSpPr>
          <p:nvPr>
            <p:ph type="title"/>
          </p:nvPr>
        </p:nvSpPr>
        <p:spPr/>
        <p:txBody>
          <a:bodyPr>
            <a:normAutofit/>
          </a:bodyPr>
          <a:lstStyle/>
          <a:p>
            <a:r>
              <a:rPr lang="en-IN" dirty="0">
                <a:solidFill>
                  <a:srgbClr val="000000"/>
                </a:solidFill>
                <a:effectLst/>
              </a:rPr>
              <a:t>Backtracking search</a:t>
            </a:r>
            <a:endParaRPr lang="en-IN" dirty="0"/>
          </a:p>
        </p:txBody>
      </p:sp>
      <p:sp>
        <p:nvSpPr>
          <p:cNvPr id="5" name="Content Placeholder 4">
            <a:extLst>
              <a:ext uri="{FF2B5EF4-FFF2-40B4-BE49-F238E27FC236}">
                <a16:creationId xmlns:a16="http://schemas.microsoft.com/office/drawing/2014/main" xmlns="" id="{16E38C6F-784D-5A7F-FB78-EB31B0EE34D9}"/>
              </a:ext>
            </a:extLst>
          </p:cNvPr>
          <p:cNvSpPr>
            <a:spLocks noGrp="1"/>
          </p:cNvSpPr>
          <p:nvPr>
            <p:ph idx="1"/>
          </p:nvPr>
        </p:nvSpPr>
        <p:spPr/>
        <p:txBody>
          <a:bodyPr>
            <a:normAutofit lnSpcReduction="10000"/>
          </a:bodyPr>
          <a:lstStyle/>
          <a:p>
            <a:r>
              <a:rPr lang="en-US" sz="2400" dirty="0">
                <a:solidFill>
                  <a:srgbClr val="000000"/>
                </a:solidFill>
                <a:effectLst/>
              </a:rPr>
              <a:t>A variant of depth-first search called </a:t>
            </a:r>
            <a:r>
              <a:rPr lang="en-US" sz="2400" b="1" dirty="0">
                <a:solidFill>
                  <a:srgbClr val="000000"/>
                </a:solidFill>
                <a:effectLst/>
              </a:rPr>
              <a:t>backtracking search </a:t>
            </a:r>
            <a:r>
              <a:rPr lang="en-US" sz="2400" dirty="0">
                <a:solidFill>
                  <a:srgbClr val="000000"/>
                </a:solidFill>
                <a:effectLst/>
              </a:rPr>
              <a:t>uses still less memory</a:t>
            </a:r>
          </a:p>
          <a:p>
            <a:r>
              <a:rPr lang="en-US" sz="2400" dirty="0">
                <a:solidFill>
                  <a:srgbClr val="000000"/>
                </a:solidFill>
                <a:effectLst/>
              </a:rPr>
              <a:t>only one successor is generated at a time rather than all successors; each partially expanded node remembers which successor to generate next. </a:t>
            </a:r>
          </a:p>
          <a:p>
            <a:r>
              <a:rPr lang="en-US" sz="2400" dirty="0">
                <a:solidFill>
                  <a:srgbClr val="000000"/>
                </a:solidFill>
                <a:effectLst/>
              </a:rPr>
              <a:t>Only O(m) memory is needed rather than O(bm). </a:t>
            </a:r>
          </a:p>
          <a:p>
            <a:r>
              <a:rPr lang="en-US" sz="2400" dirty="0">
                <a:solidFill>
                  <a:srgbClr val="000000"/>
                </a:solidFill>
                <a:effectLst/>
              </a:rPr>
              <a:t>Backtracking search facilitates the idea of generating a successor by </a:t>
            </a:r>
            <a:r>
              <a:rPr lang="en-US" sz="2400" i="1" dirty="0">
                <a:solidFill>
                  <a:srgbClr val="000000"/>
                </a:solidFill>
                <a:effectLst/>
              </a:rPr>
              <a:t>modifying </a:t>
            </a:r>
            <a:r>
              <a:rPr lang="en-US" sz="2400" dirty="0">
                <a:solidFill>
                  <a:srgbClr val="000000"/>
                </a:solidFill>
                <a:effectLst/>
              </a:rPr>
              <a:t>the current state description directly rather than copying it first. </a:t>
            </a:r>
          </a:p>
          <a:p>
            <a:r>
              <a:rPr lang="en-US" sz="2400" dirty="0">
                <a:solidFill>
                  <a:srgbClr val="000000"/>
                </a:solidFill>
                <a:effectLst/>
              </a:rPr>
              <a:t>This reduces the memory requirements to just one state description and O(m) actions. </a:t>
            </a:r>
          </a:p>
          <a:p>
            <a:r>
              <a:rPr lang="en-US" sz="2400" dirty="0">
                <a:solidFill>
                  <a:srgbClr val="000000"/>
                </a:solidFill>
                <a:effectLst/>
              </a:rPr>
              <a:t>For this to work, we must be able to undo each modification when we go back to generate the next successor</a:t>
            </a:r>
            <a:endParaRPr lang="en-IN" sz="2800" dirty="0"/>
          </a:p>
        </p:txBody>
      </p:sp>
      <p:sp>
        <p:nvSpPr>
          <p:cNvPr id="2" name="Footer Placeholder 1">
            <a:extLst>
              <a:ext uri="{FF2B5EF4-FFF2-40B4-BE49-F238E27FC236}">
                <a16:creationId xmlns:a16="http://schemas.microsoft.com/office/drawing/2014/main" xmlns="" id="{32BDCA24-4F06-5653-66BC-380D27B9D6B8}"/>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xmlns="" id="{22ECD5EA-56F4-6BEB-6CF7-20B163069AF0}"/>
              </a:ext>
            </a:extLst>
          </p:cNvPr>
          <p:cNvSpPr>
            <a:spLocks noGrp="1"/>
          </p:cNvSpPr>
          <p:nvPr>
            <p:ph type="sldNum" sz="quarter" idx="12"/>
          </p:nvPr>
        </p:nvSpPr>
        <p:spPr/>
        <p:txBody>
          <a:bodyPr/>
          <a:lstStyle/>
          <a:p>
            <a:fld id="{1E81A027-E3F7-4FC9-A752-E855AD4A687D}" type="slidenum">
              <a:rPr lang="en-IN" smtClean="0"/>
              <a:t>74</a:t>
            </a:fld>
            <a:endParaRPr lang="en-IN"/>
          </a:p>
        </p:txBody>
      </p:sp>
    </p:spTree>
    <p:extLst>
      <p:ext uri="{BB962C8B-B14F-4D97-AF65-F5344CB8AC3E}">
        <p14:creationId xmlns:p14="http://schemas.microsoft.com/office/powerpoint/2010/main" val="22534461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29009DD7-055A-CC1E-2546-EE1435CF9B44}"/>
              </a:ext>
            </a:extLst>
          </p:cNvPr>
          <p:cNvSpPr>
            <a:spLocks noGrp="1"/>
          </p:cNvSpPr>
          <p:nvPr>
            <p:ph type="title"/>
          </p:nvPr>
        </p:nvSpPr>
        <p:spPr/>
        <p:txBody>
          <a:bodyPr>
            <a:normAutofit/>
          </a:bodyPr>
          <a:lstStyle/>
          <a:p>
            <a:r>
              <a:rPr lang="en-IN" dirty="0">
                <a:solidFill>
                  <a:srgbClr val="000000"/>
                </a:solidFill>
                <a:effectLst/>
              </a:rPr>
              <a:t>Depth-limited search</a:t>
            </a:r>
            <a:endParaRPr lang="en-IN" dirty="0"/>
          </a:p>
        </p:txBody>
      </p:sp>
      <p:sp>
        <p:nvSpPr>
          <p:cNvPr id="5" name="Content Placeholder 4">
            <a:extLst>
              <a:ext uri="{FF2B5EF4-FFF2-40B4-BE49-F238E27FC236}">
                <a16:creationId xmlns:a16="http://schemas.microsoft.com/office/drawing/2014/main" xmlns="" id="{AAE7A8AE-185D-77CA-930A-7F123CCC1944}"/>
              </a:ext>
            </a:extLst>
          </p:cNvPr>
          <p:cNvSpPr>
            <a:spLocks noGrp="1"/>
          </p:cNvSpPr>
          <p:nvPr>
            <p:ph idx="1"/>
          </p:nvPr>
        </p:nvSpPr>
        <p:spPr/>
        <p:txBody>
          <a:bodyPr>
            <a:normAutofit lnSpcReduction="10000"/>
          </a:bodyPr>
          <a:lstStyle/>
          <a:p>
            <a:r>
              <a:rPr lang="en-US" sz="2400" dirty="0">
                <a:solidFill>
                  <a:srgbClr val="000000"/>
                </a:solidFill>
                <a:effectLst/>
              </a:rPr>
              <a:t>depth-first search with a </a:t>
            </a:r>
            <a:r>
              <a:rPr lang="en-US" sz="2400" dirty="0">
                <a:solidFill>
                  <a:srgbClr val="FF0000"/>
                </a:solidFill>
                <a:effectLst/>
              </a:rPr>
              <a:t>predetermined depth limit </a:t>
            </a:r>
            <a:r>
              <a:rPr lang="en-US" sz="2400" dirty="0">
                <a:solidFill>
                  <a:srgbClr val="FF0000"/>
                </a:solidFill>
                <a:effectLst/>
                <a:latin typeface="Viner Hand ITC" panose="03070502030502020203" pitchFamily="66" charset="0"/>
              </a:rPr>
              <a:t>l</a:t>
            </a:r>
          </a:p>
          <a:p>
            <a:r>
              <a:rPr lang="en-US" sz="2400" dirty="0">
                <a:solidFill>
                  <a:srgbClr val="FF0000"/>
                </a:solidFill>
                <a:effectLst/>
              </a:rPr>
              <a:t>nodes at depth l are treated as if they have no successors</a:t>
            </a:r>
            <a:r>
              <a:rPr lang="en-US" sz="2400" dirty="0">
                <a:solidFill>
                  <a:srgbClr val="000000"/>
                </a:solidFill>
                <a:effectLst/>
              </a:rPr>
              <a:t>.</a:t>
            </a:r>
          </a:p>
          <a:p>
            <a:r>
              <a:rPr lang="en-US" sz="2400" dirty="0">
                <a:solidFill>
                  <a:srgbClr val="000000"/>
                </a:solidFill>
                <a:effectLst/>
              </a:rPr>
              <a:t>The depth limit solves </a:t>
            </a:r>
            <a:r>
              <a:rPr lang="en-US" sz="2400" dirty="0">
                <a:solidFill>
                  <a:srgbClr val="00B0F0"/>
                </a:solidFill>
                <a:effectLst/>
              </a:rPr>
              <a:t>the infinite-path problem</a:t>
            </a:r>
            <a:r>
              <a:rPr lang="en-US" sz="2400" dirty="0">
                <a:solidFill>
                  <a:srgbClr val="000000"/>
                </a:solidFill>
                <a:effectLst/>
              </a:rPr>
              <a:t>. </a:t>
            </a:r>
          </a:p>
          <a:p>
            <a:r>
              <a:rPr lang="en-US" sz="2400" dirty="0">
                <a:solidFill>
                  <a:srgbClr val="000000"/>
                </a:solidFill>
              </a:rPr>
              <a:t>I</a:t>
            </a:r>
            <a:r>
              <a:rPr lang="en-US" sz="2400" dirty="0">
                <a:solidFill>
                  <a:srgbClr val="000000"/>
                </a:solidFill>
                <a:effectLst/>
              </a:rPr>
              <a:t>t also introduces an additional </a:t>
            </a:r>
            <a:r>
              <a:rPr lang="en-US" sz="2400" dirty="0">
                <a:solidFill>
                  <a:srgbClr val="00B050"/>
                </a:solidFill>
                <a:effectLst/>
              </a:rPr>
              <a:t>source of incompleteness </a:t>
            </a:r>
            <a:r>
              <a:rPr lang="en-US" sz="2400" dirty="0">
                <a:solidFill>
                  <a:srgbClr val="000000"/>
                </a:solidFill>
                <a:effectLst/>
              </a:rPr>
              <a:t>if we choose </a:t>
            </a:r>
            <a:r>
              <a:rPr lang="en-US" sz="2400" dirty="0">
                <a:solidFill>
                  <a:srgbClr val="00B050"/>
                </a:solidFill>
                <a:effectLst/>
                <a:latin typeface="Viner Hand ITC" panose="03070502030502020203" pitchFamily="66" charset="0"/>
              </a:rPr>
              <a:t>l</a:t>
            </a:r>
            <a:r>
              <a:rPr lang="en-US" sz="2400" dirty="0">
                <a:solidFill>
                  <a:srgbClr val="00B050"/>
                </a:solidFill>
                <a:effectLst/>
              </a:rPr>
              <a:t>&lt;d,</a:t>
            </a:r>
            <a:r>
              <a:rPr lang="en-US" sz="2400" dirty="0">
                <a:solidFill>
                  <a:srgbClr val="000000"/>
                </a:solidFill>
                <a:effectLst/>
              </a:rPr>
              <a:t> that is, the shallowest goal is beyond the depth limit. </a:t>
            </a:r>
          </a:p>
          <a:p>
            <a:r>
              <a:rPr lang="en-US" sz="2400" dirty="0">
                <a:solidFill>
                  <a:srgbClr val="000000"/>
                </a:solidFill>
                <a:effectLst/>
              </a:rPr>
              <a:t>Depth-limited search will also </a:t>
            </a:r>
            <a:r>
              <a:rPr lang="en-US" sz="2400" dirty="0">
                <a:solidFill>
                  <a:srgbClr val="0070C0"/>
                </a:solidFill>
                <a:effectLst/>
              </a:rPr>
              <a:t>be non optimal if we choose </a:t>
            </a:r>
            <a:r>
              <a:rPr lang="en-US" sz="2400" dirty="0">
                <a:solidFill>
                  <a:srgbClr val="0070C0"/>
                </a:solidFill>
                <a:effectLst/>
                <a:latin typeface="Viner Hand ITC" panose="03070502030502020203" pitchFamily="66" charset="0"/>
              </a:rPr>
              <a:t>l</a:t>
            </a:r>
            <a:r>
              <a:rPr lang="en-US" sz="2400" dirty="0">
                <a:solidFill>
                  <a:srgbClr val="0070C0"/>
                </a:solidFill>
                <a:effectLst/>
              </a:rPr>
              <a:t> &gt;d. </a:t>
            </a:r>
          </a:p>
          <a:p>
            <a:r>
              <a:rPr lang="en-US" sz="2400" dirty="0">
                <a:solidFill>
                  <a:srgbClr val="C00000"/>
                </a:solidFill>
                <a:effectLst/>
              </a:rPr>
              <a:t>Its time complexity is O(b</a:t>
            </a:r>
            <a:r>
              <a:rPr lang="en-US" sz="2400" baseline="30000" dirty="0">
                <a:solidFill>
                  <a:srgbClr val="C00000"/>
                </a:solidFill>
                <a:effectLst/>
                <a:latin typeface="Viner Hand ITC" panose="03070502030502020203" pitchFamily="66" charset="0"/>
              </a:rPr>
              <a:t>l</a:t>
            </a:r>
            <a:r>
              <a:rPr lang="en-US" sz="2400" dirty="0">
                <a:solidFill>
                  <a:srgbClr val="C00000"/>
                </a:solidFill>
                <a:effectLst/>
              </a:rPr>
              <a:t> ) and its space complexity is O(b</a:t>
            </a:r>
            <a:r>
              <a:rPr lang="en-US" sz="2400" dirty="0">
                <a:solidFill>
                  <a:srgbClr val="C00000"/>
                </a:solidFill>
                <a:effectLst/>
                <a:latin typeface="Viner Hand ITC" panose="03070502030502020203" pitchFamily="66" charset="0"/>
              </a:rPr>
              <a:t>l</a:t>
            </a:r>
            <a:r>
              <a:rPr lang="en-US" sz="2400" dirty="0">
                <a:solidFill>
                  <a:srgbClr val="C00000"/>
                </a:solidFill>
                <a:effectLst/>
              </a:rPr>
              <a:t> ) </a:t>
            </a:r>
          </a:p>
          <a:p>
            <a:r>
              <a:rPr lang="en-US" sz="2400" dirty="0">
                <a:solidFill>
                  <a:srgbClr val="000000"/>
                </a:solidFill>
                <a:effectLst/>
              </a:rPr>
              <a:t>Depth-first search can be viewed as a special case of depth-limited search with  </a:t>
            </a:r>
            <a:r>
              <a:rPr lang="en-US" sz="2400" dirty="0">
                <a:solidFill>
                  <a:srgbClr val="000000"/>
                </a:solidFill>
                <a:effectLst/>
                <a:latin typeface="Viner Hand ITC" panose="03070502030502020203" pitchFamily="66" charset="0"/>
              </a:rPr>
              <a:t>l</a:t>
            </a:r>
            <a:r>
              <a:rPr lang="en-US" sz="2400" dirty="0">
                <a:solidFill>
                  <a:srgbClr val="000000"/>
                </a:solidFill>
                <a:effectLst/>
              </a:rPr>
              <a:t>=∞.</a:t>
            </a:r>
            <a:endParaRPr lang="en-IN" sz="2800" dirty="0"/>
          </a:p>
        </p:txBody>
      </p:sp>
      <p:sp>
        <p:nvSpPr>
          <p:cNvPr id="2" name="Footer Placeholder 1">
            <a:extLst>
              <a:ext uri="{FF2B5EF4-FFF2-40B4-BE49-F238E27FC236}">
                <a16:creationId xmlns:a16="http://schemas.microsoft.com/office/drawing/2014/main" xmlns="" id="{3401F645-6851-CC83-1912-88884B963009}"/>
              </a:ext>
            </a:extLst>
          </p:cNvPr>
          <p:cNvSpPr>
            <a:spLocks noGrp="1"/>
          </p:cNvSpPr>
          <p:nvPr>
            <p:ph type="ftr" sz="quarter" idx="11"/>
          </p:nvPr>
        </p:nvSpPr>
        <p:spPr/>
        <p:txBody>
          <a:bodyPr/>
          <a:lstStyle/>
          <a:p>
            <a:r>
              <a:rPr lang="en-IN"/>
              <a:t>DEPARTMENT OF CSE SNGCE</a:t>
            </a:r>
          </a:p>
        </p:txBody>
      </p:sp>
      <p:sp>
        <p:nvSpPr>
          <p:cNvPr id="3" name="Slide Number Placeholder 2">
            <a:extLst>
              <a:ext uri="{FF2B5EF4-FFF2-40B4-BE49-F238E27FC236}">
                <a16:creationId xmlns:a16="http://schemas.microsoft.com/office/drawing/2014/main" xmlns="" id="{5362D728-6C13-2C41-726E-F4A73001D502}"/>
              </a:ext>
            </a:extLst>
          </p:cNvPr>
          <p:cNvSpPr>
            <a:spLocks noGrp="1"/>
          </p:cNvSpPr>
          <p:nvPr>
            <p:ph type="sldNum" sz="quarter" idx="12"/>
          </p:nvPr>
        </p:nvSpPr>
        <p:spPr/>
        <p:txBody>
          <a:bodyPr/>
          <a:lstStyle/>
          <a:p>
            <a:fld id="{1E81A027-E3F7-4FC9-A752-E855AD4A687D}" type="slidenum">
              <a:rPr lang="en-IN" smtClean="0"/>
              <a:t>75</a:t>
            </a:fld>
            <a:endParaRPr lang="en-IN"/>
          </a:p>
        </p:txBody>
      </p:sp>
    </p:spTree>
    <p:extLst>
      <p:ext uri="{BB962C8B-B14F-4D97-AF65-F5344CB8AC3E}">
        <p14:creationId xmlns:p14="http://schemas.microsoft.com/office/powerpoint/2010/main" val="2563905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1485E4-1CDC-6880-C6EC-6114772203AA}"/>
              </a:ext>
            </a:extLst>
          </p:cNvPr>
          <p:cNvSpPr>
            <a:spLocks noGrp="1"/>
          </p:cNvSpPr>
          <p:nvPr>
            <p:ph type="title"/>
          </p:nvPr>
        </p:nvSpPr>
        <p:spPr/>
        <p:txBody>
          <a:bodyPr/>
          <a:lstStyle/>
          <a:p>
            <a:r>
              <a:rPr lang="en-IN" dirty="0">
                <a:solidFill>
                  <a:srgbClr val="000000"/>
                </a:solidFill>
                <a:effectLst/>
              </a:rPr>
              <a:t>Depth-limited search</a:t>
            </a:r>
            <a:endParaRPr lang="en-IN" dirty="0"/>
          </a:p>
        </p:txBody>
      </p:sp>
      <p:sp>
        <p:nvSpPr>
          <p:cNvPr id="3" name="Content Placeholder 2">
            <a:extLst>
              <a:ext uri="{FF2B5EF4-FFF2-40B4-BE49-F238E27FC236}">
                <a16:creationId xmlns:a16="http://schemas.microsoft.com/office/drawing/2014/main" xmlns="" id="{E7012F24-6769-7E8B-534B-F22BAA297C9E}"/>
              </a:ext>
            </a:extLst>
          </p:cNvPr>
          <p:cNvSpPr>
            <a:spLocks noGrp="1"/>
          </p:cNvSpPr>
          <p:nvPr>
            <p:ph idx="1"/>
          </p:nvPr>
        </p:nvSpPr>
        <p:spPr/>
        <p:txBody>
          <a:bodyPr>
            <a:normAutofit/>
          </a:bodyPr>
          <a:lstStyle/>
          <a:p>
            <a:pPr eaLnBrk="1" hangingPunct="1"/>
            <a:r>
              <a:rPr lang="en-US" altLang="zh-TW" sz="2800" dirty="0">
                <a:solidFill>
                  <a:srgbClr val="1D0401"/>
                </a:solidFill>
              </a:rPr>
              <a:t>It is depth-first search </a:t>
            </a:r>
          </a:p>
          <a:p>
            <a:pPr lvl="1" eaLnBrk="1" hangingPunct="1"/>
            <a:r>
              <a:rPr lang="en-US" altLang="zh-TW" sz="2400" dirty="0">
                <a:solidFill>
                  <a:srgbClr val="1D0401"/>
                </a:solidFill>
              </a:rPr>
              <a:t>with a </a:t>
            </a:r>
            <a:r>
              <a:rPr lang="en-US" altLang="zh-TW" sz="2400" b="1" dirty="0">
                <a:solidFill>
                  <a:srgbClr val="1D0401"/>
                </a:solidFill>
              </a:rPr>
              <a:t>predefined</a:t>
            </a:r>
            <a:r>
              <a:rPr lang="en-US" altLang="zh-TW" sz="2400" dirty="0">
                <a:solidFill>
                  <a:srgbClr val="1D0401"/>
                </a:solidFill>
              </a:rPr>
              <a:t> maximum depth </a:t>
            </a:r>
          </a:p>
          <a:p>
            <a:pPr lvl="1" eaLnBrk="1" hangingPunct="1"/>
            <a:r>
              <a:rPr lang="en-US" altLang="zh-TW" sz="2400" dirty="0">
                <a:solidFill>
                  <a:srgbClr val="1D0401"/>
                </a:solidFill>
              </a:rPr>
              <a:t>However, it is usually not easy to define the suitable maximum depth </a:t>
            </a:r>
          </a:p>
          <a:p>
            <a:pPr lvl="1" eaLnBrk="1" hangingPunct="1"/>
            <a:r>
              <a:rPr lang="en-US" altLang="zh-TW" sz="2400" dirty="0">
                <a:solidFill>
                  <a:srgbClr val="1D0401"/>
                </a:solidFill>
              </a:rPr>
              <a:t>too small </a:t>
            </a:r>
            <a:r>
              <a:rPr lang="en-US" altLang="zh-TW" sz="2400" dirty="0">
                <a:solidFill>
                  <a:srgbClr val="1D0401"/>
                </a:solidFill>
                <a:sym typeface="Wingdings" panose="05000000000000000000" pitchFamily="2" charset="2"/>
              </a:rPr>
              <a:t></a:t>
            </a:r>
            <a:r>
              <a:rPr lang="en-US" altLang="zh-TW" sz="2400" dirty="0">
                <a:solidFill>
                  <a:srgbClr val="1D0401"/>
                </a:solidFill>
              </a:rPr>
              <a:t> no solution can be found</a:t>
            </a:r>
          </a:p>
          <a:p>
            <a:pPr lvl="1" eaLnBrk="1" hangingPunct="1"/>
            <a:r>
              <a:rPr lang="en-US" altLang="zh-TW" sz="2400" dirty="0">
                <a:solidFill>
                  <a:srgbClr val="1D0401"/>
                </a:solidFill>
              </a:rPr>
              <a:t>too large </a:t>
            </a:r>
            <a:r>
              <a:rPr lang="en-US" altLang="zh-TW" sz="2400" dirty="0">
                <a:solidFill>
                  <a:srgbClr val="1D0401"/>
                </a:solidFill>
                <a:sym typeface="Wingdings" panose="05000000000000000000" pitchFamily="2" charset="2"/>
              </a:rPr>
              <a:t></a:t>
            </a:r>
            <a:r>
              <a:rPr lang="en-US" altLang="zh-TW" sz="2400" dirty="0">
                <a:solidFill>
                  <a:srgbClr val="1D0401"/>
                </a:solidFill>
              </a:rPr>
              <a:t> the same problems are suffered from</a:t>
            </a:r>
          </a:p>
          <a:p>
            <a:pPr eaLnBrk="1" hangingPunct="1"/>
            <a:r>
              <a:rPr lang="en-US" altLang="zh-TW" sz="2800" dirty="0">
                <a:solidFill>
                  <a:srgbClr val="1D0401"/>
                </a:solidFill>
              </a:rPr>
              <a:t>Anyway the search is </a:t>
            </a:r>
          </a:p>
          <a:p>
            <a:pPr lvl="1" eaLnBrk="1" hangingPunct="1"/>
            <a:r>
              <a:rPr lang="en-US" altLang="zh-TW" sz="2400" dirty="0">
                <a:solidFill>
                  <a:srgbClr val="1D0401"/>
                </a:solidFill>
              </a:rPr>
              <a:t>complete </a:t>
            </a:r>
          </a:p>
          <a:p>
            <a:pPr lvl="1" eaLnBrk="1" hangingPunct="1"/>
            <a:r>
              <a:rPr lang="en-US" altLang="zh-TW" sz="2400" dirty="0">
                <a:solidFill>
                  <a:srgbClr val="1D0401"/>
                </a:solidFill>
              </a:rPr>
              <a:t>but still not optimal</a:t>
            </a:r>
            <a:endParaRPr lang="en-IN" sz="2400" dirty="0"/>
          </a:p>
        </p:txBody>
      </p:sp>
      <p:sp>
        <p:nvSpPr>
          <p:cNvPr id="4" name="Footer Placeholder 3">
            <a:extLst>
              <a:ext uri="{FF2B5EF4-FFF2-40B4-BE49-F238E27FC236}">
                <a16:creationId xmlns:a16="http://schemas.microsoft.com/office/drawing/2014/main" xmlns="" id="{BE1E0A86-7854-4F4E-5C6C-9F3A9598DF60}"/>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C3298FB9-8628-10FE-1FEB-4980BF1858E6}"/>
              </a:ext>
            </a:extLst>
          </p:cNvPr>
          <p:cNvSpPr>
            <a:spLocks noGrp="1"/>
          </p:cNvSpPr>
          <p:nvPr>
            <p:ph type="sldNum" sz="quarter" idx="12"/>
          </p:nvPr>
        </p:nvSpPr>
        <p:spPr/>
        <p:txBody>
          <a:bodyPr/>
          <a:lstStyle/>
          <a:p>
            <a:fld id="{1E81A027-E3F7-4FC9-A752-E855AD4A687D}" type="slidenum">
              <a:rPr lang="en-IN" smtClean="0"/>
              <a:t>76</a:t>
            </a:fld>
            <a:endParaRPr lang="en-IN"/>
          </a:p>
        </p:txBody>
      </p:sp>
    </p:spTree>
    <p:extLst>
      <p:ext uri="{BB962C8B-B14F-4D97-AF65-F5344CB8AC3E}">
        <p14:creationId xmlns:p14="http://schemas.microsoft.com/office/powerpoint/2010/main" val="31597755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DB6339-7774-0F9D-1780-E212C26461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0AA60EB-6B71-5FBD-E6A7-C152EF7D9422}"/>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9143B7BB-AD3F-24ED-6446-4560C2D4D49B}"/>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62F856E2-9849-3120-45CE-4258989A66BA}"/>
              </a:ext>
            </a:extLst>
          </p:cNvPr>
          <p:cNvSpPr>
            <a:spLocks noGrp="1"/>
          </p:cNvSpPr>
          <p:nvPr>
            <p:ph type="sldNum" sz="quarter" idx="12"/>
          </p:nvPr>
        </p:nvSpPr>
        <p:spPr/>
        <p:txBody>
          <a:bodyPr/>
          <a:lstStyle/>
          <a:p>
            <a:fld id="{1E81A027-E3F7-4FC9-A752-E855AD4A687D}" type="slidenum">
              <a:rPr lang="en-IN" smtClean="0"/>
              <a:t>77</a:t>
            </a:fld>
            <a:endParaRPr lang="en-IN"/>
          </a:p>
        </p:txBody>
      </p:sp>
      <p:sp>
        <p:nvSpPr>
          <p:cNvPr id="6" name="Rectangle 2">
            <a:extLst>
              <a:ext uri="{FF2B5EF4-FFF2-40B4-BE49-F238E27FC236}">
                <a16:creationId xmlns:a16="http://schemas.microsoft.com/office/drawing/2014/main" xmlns="" id="{AE3C649D-6D8C-9DBD-7747-08747DE8F48A}"/>
              </a:ext>
            </a:extLst>
          </p:cNvPr>
          <p:cNvSpPr txBox="1">
            <a:spLocks noChangeArrowheads="1"/>
          </p:cNvSpPr>
          <p:nvPr/>
        </p:nvSpPr>
        <p:spPr>
          <a:xfrm>
            <a:off x="979488" y="609600"/>
            <a:ext cx="6891337" cy="457200"/>
          </a:xfrm>
          <a:prstGeom prst="rect">
            <a:avLst/>
          </a:prstGeom>
        </p:spPr>
        <p:txBody>
          <a:bodyPr vert="horz" lIns="91440" tIns="45720" rIns="91440" bIns="45720" rtlCol="0" anchor="b">
            <a:normAutofit fontScale="75000" lnSpcReduction="200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defRPr/>
            </a:pPr>
            <a:r>
              <a:rPr lang="es-MX" altLang="en-US">
                <a:solidFill>
                  <a:srgbClr val="1D0401"/>
                </a:solidFill>
              </a:rPr>
              <a:t>Depth-limited search </a:t>
            </a:r>
            <a:endParaRPr lang="es-MX" altLang="he-IL">
              <a:solidFill>
                <a:srgbClr val="1D0401"/>
              </a:solidFill>
            </a:endParaRPr>
          </a:p>
        </p:txBody>
      </p:sp>
      <p:sp>
        <p:nvSpPr>
          <p:cNvPr id="7" name="Oval 3">
            <a:extLst>
              <a:ext uri="{FF2B5EF4-FFF2-40B4-BE49-F238E27FC236}">
                <a16:creationId xmlns:a16="http://schemas.microsoft.com/office/drawing/2014/main" xmlns="" id="{81606444-A4E1-1353-C0FF-DB2712B7B88C}"/>
              </a:ext>
            </a:extLst>
          </p:cNvPr>
          <p:cNvSpPr>
            <a:spLocks noChangeArrowheads="1"/>
          </p:cNvSpPr>
          <p:nvPr/>
        </p:nvSpPr>
        <p:spPr bwMode="auto">
          <a:xfrm>
            <a:off x="4184650" y="9461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8" name="Oval 4">
            <a:extLst>
              <a:ext uri="{FF2B5EF4-FFF2-40B4-BE49-F238E27FC236}">
                <a16:creationId xmlns:a16="http://schemas.microsoft.com/office/drawing/2014/main" xmlns="" id="{F0EA1030-9A3C-7BEB-9BEA-35085ACF6640}"/>
              </a:ext>
            </a:extLst>
          </p:cNvPr>
          <p:cNvSpPr>
            <a:spLocks noChangeArrowheads="1"/>
          </p:cNvSpPr>
          <p:nvPr/>
        </p:nvSpPr>
        <p:spPr bwMode="auto">
          <a:xfrm>
            <a:off x="2813050" y="16319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9" name="Oval 5">
            <a:extLst>
              <a:ext uri="{FF2B5EF4-FFF2-40B4-BE49-F238E27FC236}">
                <a16:creationId xmlns:a16="http://schemas.microsoft.com/office/drawing/2014/main" xmlns="" id="{E3828504-B2D8-0941-CD16-235EE5D2BBBC}"/>
              </a:ext>
            </a:extLst>
          </p:cNvPr>
          <p:cNvSpPr>
            <a:spLocks noChangeArrowheads="1"/>
          </p:cNvSpPr>
          <p:nvPr/>
        </p:nvSpPr>
        <p:spPr bwMode="auto">
          <a:xfrm>
            <a:off x="2051050" y="24701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0" name="Oval 6">
            <a:extLst>
              <a:ext uri="{FF2B5EF4-FFF2-40B4-BE49-F238E27FC236}">
                <a16:creationId xmlns:a16="http://schemas.microsoft.com/office/drawing/2014/main" xmlns="" id="{30C6524D-4E5D-29FA-C6D2-2EA7EE6962E2}"/>
              </a:ext>
            </a:extLst>
          </p:cNvPr>
          <p:cNvSpPr>
            <a:spLocks noChangeArrowheads="1"/>
          </p:cNvSpPr>
          <p:nvPr/>
        </p:nvSpPr>
        <p:spPr bwMode="auto">
          <a:xfrm>
            <a:off x="5327650" y="16319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1" name="Oval 7">
            <a:extLst>
              <a:ext uri="{FF2B5EF4-FFF2-40B4-BE49-F238E27FC236}">
                <a16:creationId xmlns:a16="http://schemas.microsoft.com/office/drawing/2014/main" xmlns="" id="{CE112272-A566-DFD9-FED0-04C23DA42436}"/>
              </a:ext>
            </a:extLst>
          </p:cNvPr>
          <p:cNvSpPr>
            <a:spLocks noChangeArrowheads="1"/>
          </p:cNvSpPr>
          <p:nvPr/>
        </p:nvSpPr>
        <p:spPr bwMode="auto">
          <a:xfrm>
            <a:off x="3270250" y="24701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2" name="Oval 8">
            <a:extLst>
              <a:ext uri="{FF2B5EF4-FFF2-40B4-BE49-F238E27FC236}">
                <a16:creationId xmlns:a16="http://schemas.microsoft.com/office/drawing/2014/main" xmlns="" id="{739D86B7-B2C1-4A09-53CD-A9957CB360FD}"/>
              </a:ext>
            </a:extLst>
          </p:cNvPr>
          <p:cNvSpPr>
            <a:spLocks noChangeArrowheads="1"/>
          </p:cNvSpPr>
          <p:nvPr/>
        </p:nvSpPr>
        <p:spPr bwMode="auto">
          <a:xfrm>
            <a:off x="6165850" y="24701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3" name="Oval 9">
            <a:extLst>
              <a:ext uri="{FF2B5EF4-FFF2-40B4-BE49-F238E27FC236}">
                <a16:creationId xmlns:a16="http://schemas.microsoft.com/office/drawing/2014/main" xmlns="" id="{F6C460DB-04A2-0EBC-6216-1D82DC344F05}"/>
              </a:ext>
            </a:extLst>
          </p:cNvPr>
          <p:cNvSpPr>
            <a:spLocks noChangeArrowheads="1"/>
          </p:cNvSpPr>
          <p:nvPr/>
        </p:nvSpPr>
        <p:spPr bwMode="auto">
          <a:xfrm>
            <a:off x="4489450" y="24701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4" name="Oval 10">
            <a:extLst>
              <a:ext uri="{FF2B5EF4-FFF2-40B4-BE49-F238E27FC236}">
                <a16:creationId xmlns:a16="http://schemas.microsoft.com/office/drawing/2014/main" xmlns="" id="{4C13E4E1-DDCD-172F-EB2E-7FD9D74FC636}"/>
              </a:ext>
            </a:extLst>
          </p:cNvPr>
          <p:cNvSpPr>
            <a:spLocks noChangeArrowheads="1"/>
          </p:cNvSpPr>
          <p:nvPr/>
        </p:nvSpPr>
        <p:spPr bwMode="auto">
          <a:xfrm>
            <a:off x="1822450" y="3384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5" name="Oval 11">
            <a:extLst>
              <a:ext uri="{FF2B5EF4-FFF2-40B4-BE49-F238E27FC236}">
                <a16:creationId xmlns:a16="http://schemas.microsoft.com/office/drawing/2014/main" xmlns="" id="{7C009BAF-74AC-DFB0-5526-67E0842185A3}"/>
              </a:ext>
            </a:extLst>
          </p:cNvPr>
          <p:cNvSpPr>
            <a:spLocks noChangeArrowheads="1"/>
          </p:cNvSpPr>
          <p:nvPr/>
        </p:nvSpPr>
        <p:spPr bwMode="auto">
          <a:xfrm>
            <a:off x="3651250" y="3384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6" name="Oval 12">
            <a:extLst>
              <a:ext uri="{FF2B5EF4-FFF2-40B4-BE49-F238E27FC236}">
                <a16:creationId xmlns:a16="http://schemas.microsoft.com/office/drawing/2014/main" xmlns="" id="{AACE2982-2C69-E438-9616-A717FADB62FD}"/>
              </a:ext>
            </a:extLst>
          </p:cNvPr>
          <p:cNvSpPr>
            <a:spLocks noChangeArrowheads="1"/>
          </p:cNvSpPr>
          <p:nvPr/>
        </p:nvSpPr>
        <p:spPr bwMode="auto">
          <a:xfrm>
            <a:off x="2584450" y="3384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7" name="Oval 13">
            <a:extLst>
              <a:ext uri="{FF2B5EF4-FFF2-40B4-BE49-F238E27FC236}">
                <a16:creationId xmlns:a16="http://schemas.microsoft.com/office/drawing/2014/main" xmlns="" id="{F81FC8D9-199D-6530-0EF3-3A109CD06E5E}"/>
              </a:ext>
            </a:extLst>
          </p:cNvPr>
          <p:cNvSpPr>
            <a:spLocks noChangeArrowheads="1"/>
          </p:cNvSpPr>
          <p:nvPr/>
        </p:nvSpPr>
        <p:spPr bwMode="auto">
          <a:xfrm>
            <a:off x="4565650" y="3384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8" name="Oval 14">
            <a:extLst>
              <a:ext uri="{FF2B5EF4-FFF2-40B4-BE49-F238E27FC236}">
                <a16:creationId xmlns:a16="http://schemas.microsoft.com/office/drawing/2014/main" xmlns="" id="{60D93833-8605-05F3-0EC3-E9748106001B}"/>
              </a:ext>
            </a:extLst>
          </p:cNvPr>
          <p:cNvSpPr>
            <a:spLocks noChangeArrowheads="1"/>
          </p:cNvSpPr>
          <p:nvPr/>
        </p:nvSpPr>
        <p:spPr bwMode="auto">
          <a:xfrm>
            <a:off x="6394450" y="3384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19" name="Oval 15">
            <a:extLst>
              <a:ext uri="{FF2B5EF4-FFF2-40B4-BE49-F238E27FC236}">
                <a16:creationId xmlns:a16="http://schemas.microsoft.com/office/drawing/2014/main" xmlns="" id="{6FC41441-2AC6-6308-EEA6-F948E11EEDF9}"/>
              </a:ext>
            </a:extLst>
          </p:cNvPr>
          <p:cNvSpPr>
            <a:spLocks noChangeArrowheads="1"/>
          </p:cNvSpPr>
          <p:nvPr/>
        </p:nvSpPr>
        <p:spPr bwMode="auto">
          <a:xfrm>
            <a:off x="5403850" y="3384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0" name="Oval 16">
            <a:extLst>
              <a:ext uri="{FF2B5EF4-FFF2-40B4-BE49-F238E27FC236}">
                <a16:creationId xmlns:a16="http://schemas.microsoft.com/office/drawing/2014/main" xmlns="" id="{EA7A9F7F-54D2-77D7-9FFA-BA670046F96A}"/>
              </a:ext>
            </a:extLst>
          </p:cNvPr>
          <p:cNvSpPr>
            <a:spLocks noChangeArrowheads="1"/>
          </p:cNvSpPr>
          <p:nvPr/>
        </p:nvSpPr>
        <p:spPr bwMode="auto">
          <a:xfrm>
            <a:off x="24320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1" name="Oval 17">
            <a:extLst>
              <a:ext uri="{FF2B5EF4-FFF2-40B4-BE49-F238E27FC236}">
                <a16:creationId xmlns:a16="http://schemas.microsoft.com/office/drawing/2014/main" xmlns="" id="{02EA97E8-FC31-A7AA-2E4B-D03E265EBAC7}"/>
              </a:ext>
            </a:extLst>
          </p:cNvPr>
          <p:cNvSpPr>
            <a:spLocks noChangeArrowheads="1"/>
          </p:cNvSpPr>
          <p:nvPr/>
        </p:nvSpPr>
        <p:spPr bwMode="auto">
          <a:xfrm>
            <a:off x="18224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2" name="Oval 18">
            <a:extLst>
              <a:ext uri="{FF2B5EF4-FFF2-40B4-BE49-F238E27FC236}">
                <a16:creationId xmlns:a16="http://schemas.microsoft.com/office/drawing/2014/main" xmlns="" id="{6B6CD8C0-832E-D4BA-9FBA-05A68D37705E}"/>
              </a:ext>
            </a:extLst>
          </p:cNvPr>
          <p:cNvSpPr>
            <a:spLocks noChangeArrowheads="1"/>
          </p:cNvSpPr>
          <p:nvPr/>
        </p:nvSpPr>
        <p:spPr bwMode="auto">
          <a:xfrm>
            <a:off x="31178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3" name="Oval 19">
            <a:extLst>
              <a:ext uri="{FF2B5EF4-FFF2-40B4-BE49-F238E27FC236}">
                <a16:creationId xmlns:a16="http://schemas.microsoft.com/office/drawing/2014/main" xmlns="" id="{D0638B06-97A0-8191-7A3E-76C8130C84CD}"/>
              </a:ext>
            </a:extLst>
          </p:cNvPr>
          <p:cNvSpPr>
            <a:spLocks noChangeArrowheads="1"/>
          </p:cNvSpPr>
          <p:nvPr/>
        </p:nvSpPr>
        <p:spPr bwMode="auto">
          <a:xfrm>
            <a:off x="37274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4" name="Oval 20">
            <a:extLst>
              <a:ext uri="{FF2B5EF4-FFF2-40B4-BE49-F238E27FC236}">
                <a16:creationId xmlns:a16="http://schemas.microsoft.com/office/drawing/2014/main" xmlns="" id="{74419AF1-8BD8-916A-F929-0B0B9D86C70D}"/>
              </a:ext>
            </a:extLst>
          </p:cNvPr>
          <p:cNvSpPr>
            <a:spLocks noChangeArrowheads="1"/>
          </p:cNvSpPr>
          <p:nvPr/>
        </p:nvSpPr>
        <p:spPr bwMode="auto">
          <a:xfrm>
            <a:off x="49466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5" name="Oval 21">
            <a:extLst>
              <a:ext uri="{FF2B5EF4-FFF2-40B4-BE49-F238E27FC236}">
                <a16:creationId xmlns:a16="http://schemas.microsoft.com/office/drawing/2014/main" xmlns="" id="{577DC240-1A03-E84B-E572-8719668B6DA2}"/>
              </a:ext>
            </a:extLst>
          </p:cNvPr>
          <p:cNvSpPr>
            <a:spLocks noChangeArrowheads="1"/>
          </p:cNvSpPr>
          <p:nvPr/>
        </p:nvSpPr>
        <p:spPr bwMode="auto">
          <a:xfrm>
            <a:off x="43370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6" name="Oval 22">
            <a:extLst>
              <a:ext uri="{FF2B5EF4-FFF2-40B4-BE49-F238E27FC236}">
                <a16:creationId xmlns:a16="http://schemas.microsoft.com/office/drawing/2014/main" xmlns="" id="{1569CAB6-25B4-084A-21E9-0A8E7657689C}"/>
              </a:ext>
            </a:extLst>
          </p:cNvPr>
          <p:cNvSpPr>
            <a:spLocks noChangeArrowheads="1"/>
          </p:cNvSpPr>
          <p:nvPr/>
        </p:nvSpPr>
        <p:spPr bwMode="auto">
          <a:xfrm>
            <a:off x="55562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7" name="Oval 23">
            <a:extLst>
              <a:ext uri="{FF2B5EF4-FFF2-40B4-BE49-F238E27FC236}">
                <a16:creationId xmlns:a16="http://schemas.microsoft.com/office/drawing/2014/main" xmlns="" id="{FB3D6A84-CF92-A4AE-3932-AFBB1CD7E50D}"/>
              </a:ext>
            </a:extLst>
          </p:cNvPr>
          <p:cNvSpPr>
            <a:spLocks noChangeArrowheads="1"/>
          </p:cNvSpPr>
          <p:nvPr/>
        </p:nvSpPr>
        <p:spPr bwMode="auto">
          <a:xfrm>
            <a:off x="61658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8" name="Oval 24">
            <a:extLst>
              <a:ext uri="{FF2B5EF4-FFF2-40B4-BE49-F238E27FC236}">
                <a16:creationId xmlns:a16="http://schemas.microsoft.com/office/drawing/2014/main" xmlns="" id="{72FFCC6B-823E-AB20-2065-BC081565D7B3}"/>
              </a:ext>
            </a:extLst>
          </p:cNvPr>
          <p:cNvSpPr>
            <a:spLocks noChangeArrowheads="1"/>
          </p:cNvSpPr>
          <p:nvPr/>
        </p:nvSpPr>
        <p:spPr bwMode="auto">
          <a:xfrm>
            <a:off x="6775450" y="45275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29" name="Oval 25">
            <a:extLst>
              <a:ext uri="{FF2B5EF4-FFF2-40B4-BE49-F238E27FC236}">
                <a16:creationId xmlns:a16="http://schemas.microsoft.com/office/drawing/2014/main" xmlns="" id="{37F1E569-7061-1732-0045-59CB050CA93B}"/>
              </a:ext>
            </a:extLst>
          </p:cNvPr>
          <p:cNvSpPr>
            <a:spLocks noChangeArrowheads="1"/>
          </p:cNvSpPr>
          <p:nvPr/>
        </p:nvSpPr>
        <p:spPr bwMode="auto">
          <a:xfrm>
            <a:off x="2432050" y="54419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30" name="Oval 26">
            <a:extLst>
              <a:ext uri="{FF2B5EF4-FFF2-40B4-BE49-F238E27FC236}">
                <a16:creationId xmlns:a16="http://schemas.microsoft.com/office/drawing/2014/main" xmlns="" id="{BE227503-DF40-E383-F043-489CA6F1BBB5}"/>
              </a:ext>
            </a:extLst>
          </p:cNvPr>
          <p:cNvSpPr>
            <a:spLocks noChangeArrowheads="1"/>
          </p:cNvSpPr>
          <p:nvPr/>
        </p:nvSpPr>
        <p:spPr bwMode="auto">
          <a:xfrm>
            <a:off x="3117850" y="54419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31" name="Oval 27">
            <a:extLst>
              <a:ext uri="{FF2B5EF4-FFF2-40B4-BE49-F238E27FC236}">
                <a16:creationId xmlns:a16="http://schemas.microsoft.com/office/drawing/2014/main" xmlns="" id="{9E7BDB0F-246F-CAC2-0176-032D48E7D0AB}"/>
              </a:ext>
            </a:extLst>
          </p:cNvPr>
          <p:cNvSpPr>
            <a:spLocks noChangeArrowheads="1"/>
          </p:cNvSpPr>
          <p:nvPr/>
        </p:nvSpPr>
        <p:spPr bwMode="auto">
          <a:xfrm>
            <a:off x="3727450" y="54419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32" name="Oval 28">
            <a:extLst>
              <a:ext uri="{FF2B5EF4-FFF2-40B4-BE49-F238E27FC236}">
                <a16:creationId xmlns:a16="http://schemas.microsoft.com/office/drawing/2014/main" xmlns="" id="{D003F20E-7110-8DFE-76B7-0C25E6C998D0}"/>
              </a:ext>
            </a:extLst>
          </p:cNvPr>
          <p:cNvSpPr>
            <a:spLocks noChangeArrowheads="1"/>
          </p:cNvSpPr>
          <p:nvPr/>
        </p:nvSpPr>
        <p:spPr bwMode="auto">
          <a:xfrm>
            <a:off x="4946650" y="54419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33" name="Line 29">
            <a:extLst>
              <a:ext uri="{FF2B5EF4-FFF2-40B4-BE49-F238E27FC236}">
                <a16:creationId xmlns:a16="http://schemas.microsoft.com/office/drawing/2014/main" xmlns="" id="{235388DE-79E3-2A14-601B-A2A7E2DA489C}"/>
              </a:ext>
            </a:extLst>
          </p:cNvPr>
          <p:cNvSpPr>
            <a:spLocks noChangeShapeType="1"/>
          </p:cNvSpPr>
          <p:nvPr/>
        </p:nvSpPr>
        <p:spPr bwMode="auto">
          <a:xfrm flipH="1">
            <a:off x="3189288" y="1322388"/>
            <a:ext cx="1141412" cy="379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4" name="Line 30">
            <a:extLst>
              <a:ext uri="{FF2B5EF4-FFF2-40B4-BE49-F238E27FC236}">
                <a16:creationId xmlns:a16="http://schemas.microsoft.com/office/drawing/2014/main" xmlns="" id="{3AB9A126-15DB-9384-8554-59EA47C060CE}"/>
              </a:ext>
            </a:extLst>
          </p:cNvPr>
          <p:cNvSpPr>
            <a:spLocks noChangeShapeType="1"/>
          </p:cNvSpPr>
          <p:nvPr/>
        </p:nvSpPr>
        <p:spPr bwMode="auto">
          <a:xfrm>
            <a:off x="4332288" y="1322388"/>
            <a:ext cx="989012" cy="4556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5" name="Line 31">
            <a:extLst>
              <a:ext uri="{FF2B5EF4-FFF2-40B4-BE49-F238E27FC236}">
                <a16:creationId xmlns:a16="http://schemas.microsoft.com/office/drawing/2014/main" xmlns="" id="{39B86ADD-A886-443D-862B-ABFA0619C35D}"/>
              </a:ext>
            </a:extLst>
          </p:cNvPr>
          <p:cNvSpPr>
            <a:spLocks noChangeShapeType="1"/>
          </p:cNvSpPr>
          <p:nvPr/>
        </p:nvSpPr>
        <p:spPr bwMode="auto">
          <a:xfrm flipH="1">
            <a:off x="2351088" y="2008188"/>
            <a:ext cx="608012"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6" name="Line 32">
            <a:extLst>
              <a:ext uri="{FF2B5EF4-FFF2-40B4-BE49-F238E27FC236}">
                <a16:creationId xmlns:a16="http://schemas.microsoft.com/office/drawing/2014/main" xmlns="" id="{E7C86FAE-1605-B8A8-ED12-C74BE802FE03}"/>
              </a:ext>
            </a:extLst>
          </p:cNvPr>
          <p:cNvSpPr>
            <a:spLocks noChangeShapeType="1"/>
          </p:cNvSpPr>
          <p:nvPr/>
        </p:nvSpPr>
        <p:spPr bwMode="auto">
          <a:xfrm>
            <a:off x="2960688" y="2008188"/>
            <a:ext cx="379412" cy="4556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7" name="Line 33">
            <a:extLst>
              <a:ext uri="{FF2B5EF4-FFF2-40B4-BE49-F238E27FC236}">
                <a16:creationId xmlns:a16="http://schemas.microsoft.com/office/drawing/2014/main" xmlns="" id="{C83927A8-CBCF-EE36-0852-C34383F411AF}"/>
              </a:ext>
            </a:extLst>
          </p:cNvPr>
          <p:cNvSpPr>
            <a:spLocks noChangeShapeType="1"/>
          </p:cNvSpPr>
          <p:nvPr/>
        </p:nvSpPr>
        <p:spPr bwMode="auto">
          <a:xfrm flipH="1">
            <a:off x="4865688" y="2008188"/>
            <a:ext cx="608012"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8" name="Line 34">
            <a:extLst>
              <a:ext uri="{FF2B5EF4-FFF2-40B4-BE49-F238E27FC236}">
                <a16:creationId xmlns:a16="http://schemas.microsoft.com/office/drawing/2014/main" xmlns="" id="{5FB03467-AA96-3913-0794-A2013217F5E7}"/>
              </a:ext>
            </a:extLst>
          </p:cNvPr>
          <p:cNvSpPr>
            <a:spLocks noChangeShapeType="1"/>
          </p:cNvSpPr>
          <p:nvPr/>
        </p:nvSpPr>
        <p:spPr bwMode="auto">
          <a:xfrm>
            <a:off x="5475288" y="2008188"/>
            <a:ext cx="760412" cy="4556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39" name="Line 35">
            <a:extLst>
              <a:ext uri="{FF2B5EF4-FFF2-40B4-BE49-F238E27FC236}">
                <a16:creationId xmlns:a16="http://schemas.microsoft.com/office/drawing/2014/main" xmlns="" id="{857BCE5F-5B07-1873-52F1-2A564BA441D0}"/>
              </a:ext>
            </a:extLst>
          </p:cNvPr>
          <p:cNvSpPr>
            <a:spLocks noChangeShapeType="1"/>
          </p:cNvSpPr>
          <p:nvPr/>
        </p:nvSpPr>
        <p:spPr bwMode="auto">
          <a:xfrm flipV="1">
            <a:off x="2122488" y="2846388"/>
            <a:ext cx="150812"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0" name="Line 36">
            <a:extLst>
              <a:ext uri="{FF2B5EF4-FFF2-40B4-BE49-F238E27FC236}">
                <a16:creationId xmlns:a16="http://schemas.microsoft.com/office/drawing/2014/main" xmlns="" id="{12783156-70B7-6B14-6606-792459700DD3}"/>
              </a:ext>
            </a:extLst>
          </p:cNvPr>
          <p:cNvSpPr>
            <a:spLocks noChangeShapeType="1"/>
          </p:cNvSpPr>
          <p:nvPr/>
        </p:nvSpPr>
        <p:spPr bwMode="auto">
          <a:xfrm>
            <a:off x="2274888" y="2846388"/>
            <a:ext cx="379412"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1" name="Line 37">
            <a:extLst>
              <a:ext uri="{FF2B5EF4-FFF2-40B4-BE49-F238E27FC236}">
                <a16:creationId xmlns:a16="http://schemas.microsoft.com/office/drawing/2014/main" xmlns="" id="{DC8D169C-C27A-5942-51D1-54C281A2602F}"/>
              </a:ext>
            </a:extLst>
          </p:cNvPr>
          <p:cNvSpPr>
            <a:spLocks noChangeShapeType="1"/>
          </p:cNvSpPr>
          <p:nvPr/>
        </p:nvSpPr>
        <p:spPr bwMode="auto">
          <a:xfrm>
            <a:off x="3494088" y="2846388"/>
            <a:ext cx="303212"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2" name="Line 38">
            <a:extLst>
              <a:ext uri="{FF2B5EF4-FFF2-40B4-BE49-F238E27FC236}">
                <a16:creationId xmlns:a16="http://schemas.microsoft.com/office/drawing/2014/main" xmlns="" id="{65A78176-ED96-1ADD-BAA6-44A9E36A8849}"/>
              </a:ext>
            </a:extLst>
          </p:cNvPr>
          <p:cNvSpPr>
            <a:spLocks noChangeShapeType="1"/>
          </p:cNvSpPr>
          <p:nvPr/>
        </p:nvSpPr>
        <p:spPr bwMode="auto">
          <a:xfrm>
            <a:off x="4711700" y="2846388"/>
            <a:ext cx="0"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3" name="Line 39">
            <a:extLst>
              <a:ext uri="{FF2B5EF4-FFF2-40B4-BE49-F238E27FC236}">
                <a16:creationId xmlns:a16="http://schemas.microsoft.com/office/drawing/2014/main" xmlns="" id="{2973A38E-6369-5E02-DC21-9B887F40B790}"/>
              </a:ext>
            </a:extLst>
          </p:cNvPr>
          <p:cNvSpPr>
            <a:spLocks noChangeShapeType="1"/>
          </p:cNvSpPr>
          <p:nvPr/>
        </p:nvSpPr>
        <p:spPr bwMode="auto">
          <a:xfrm flipV="1">
            <a:off x="5703888" y="2846388"/>
            <a:ext cx="608012" cy="6080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4" name="Line 40">
            <a:extLst>
              <a:ext uri="{FF2B5EF4-FFF2-40B4-BE49-F238E27FC236}">
                <a16:creationId xmlns:a16="http://schemas.microsoft.com/office/drawing/2014/main" xmlns="" id="{9E1E12B2-DB2E-98C0-1003-0C3F6EB0EC56}"/>
              </a:ext>
            </a:extLst>
          </p:cNvPr>
          <p:cNvSpPr>
            <a:spLocks noChangeShapeType="1"/>
          </p:cNvSpPr>
          <p:nvPr/>
        </p:nvSpPr>
        <p:spPr bwMode="auto">
          <a:xfrm>
            <a:off x="6313488" y="2846388"/>
            <a:ext cx="227012"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5" name="Line 41">
            <a:extLst>
              <a:ext uri="{FF2B5EF4-FFF2-40B4-BE49-F238E27FC236}">
                <a16:creationId xmlns:a16="http://schemas.microsoft.com/office/drawing/2014/main" xmlns="" id="{67035F60-9934-1882-992C-864D20DA26C9}"/>
              </a:ext>
            </a:extLst>
          </p:cNvPr>
          <p:cNvSpPr>
            <a:spLocks noChangeShapeType="1"/>
          </p:cNvSpPr>
          <p:nvPr/>
        </p:nvSpPr>
        <p:spPr bwMode="auto">
          <a:xfrm flipV="1">
            <a:off x="2122488" y="3760788"/>
            <a:ext cx="6080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6" name="Line 42">
            <a:extLst>
              <a:ext uri="{FF2B5EF4-FFF2-40B4-BE49-F238E27FC236}">
                <a16:creationId xmlns:a16="http://schemas.microsoft.com/office/drawing/2014/main" xmlns="" id="{C34CAB1C-61DE-5574-CE71-5F5D4825E2B5}"/>
              </a:ext>
            </a:extLst>
          </p:cNvPr>
          <p:cNvSpPr>
            <a:spLocks noChangeShapeType="1"/>
          </p:cNvSpPr>
          <p:nvPr/>
        </p:nvSpPr>
        <p:spPr bwMode="auto">
          <a:xfrm flipH="1">
            <a:off x="2655888" y="3760788"/>
            <a:ext cx="746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7" name="Line 43">
            <a:extLst>
              <a:ext uri="{FF2B5EF4-FFF2-40B4-BE49-F238E27FC236}">
                <a16:creationId xmlns:a16="http://schemas.microsoft.com/office/drawing/2014/main" xmlns="" id="{B653EB25-51FB-EC0E-78F2-2EA80B72F9E4}"/>
              </a:ext>
            </a:extLst>
          </p:cNvPr>
          <p:cNvSpPr>
            <a:spLocks noChangeShapeType="1"/>
          </p:cNvSpPr>
          <p:nvPr/>
        </p:nvSpPr>
        <p:spPr bwMode="auto">
          <a:xfrm flipV="1">
            <a:off x="3341688" y="3760788"/>
            <a:ext cx="4556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8" name="Line 44">
            <a:extLst>
              <a:ext uri="{FF2B5EF4-FFF2-40B4-BE49-F238E27FC236}">
                <a16:creationId xmlns:a16="http://schemas.microsoft.com/office/drawing/2014/main" xmlns="" id="{17A7DB86-2970-0201-53D7-4AEB9006D39C}"/>
              </a:ext>
            </a:extLst>
          </p:cNvPr>
          <p:cNvSpPr>
            <a:spLocks noChangeShapeType="1"/>
          </p:cNvSpPr>
          <p:nvPr/>
        </p:nvSpPr>
        <p:spPr bwMode="auto">
          <a:xfrm>
            <a:off x="3798888" y="3760788"/>
            <a:ext cx="746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49" name="Line 45">
            <a:extLst>
              <a:ext uri="{FF2B5EF4-FFF2-40B4-BE49-F238E27FC236}">
                <a16:creationId xmlns:a16="http://schemas.microsoft.com/office/drawing/2014/main" xmlns="" id="{3F3C4C18-8718-5C90-BEEE-AD98F3A65626}"/>
              </a:ext>
            </a:extLst>
          </p:cNvPr>
          <p:cNvSpPr>
            <a:spLocks noChangeShapeType="1"/>
          </p:cNvSpPr>
          <p:nvPr/>
        </p:nvSpPr>
        <p:spPr bwMode="auto">
          <a:xfrm flipV="1">
            <a:off x="4560888" y="3760788"/>
            <a:ext cx="2270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0" name="Line 46">
            <a:extLst>
              <a:ext uri="{FF2B5EF4-FFF2-40B4-BE49-F238E27FC236}">
                <a16:creationId xmlns:a16="http://schemas.microsoft.com/office/drawing/2014/main" xmlns="" id="{B95DC351-8624-EDEC-F457-9DBAD40BC409}"/>
              </a:ext>
            </a:extLst>
          </p:cNvPr>
          <p:cNvSpPr>
            <a:spLocks noChangeShapeType="1"/>
          </p:cNvSpPr>
          <p:nvPr/>
        </p:nvSpPr>
        <p:spPr bwMode="auto">
          <a:xfrm>
            <a:off x="4789488" y="3760788"/>
            <a:ext cx="3032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1" name="Line 47">
            <a:extLst>
              <a:ext uri="{FF2B5EF4-FFF2-40B4-BE49-F238E27FC236}">
                <a16:creationId xmlns:a16="http://schemas.microsoft.com/office/drawing/2014/main" xmlns="" id="{45DBB76C-3D5E-93ED-27E7-85460C33A4EA}"/>
              </a:ext>
            </a:extLst>
          </p:cNvPr>
          <p:cNvSpPr>
            <a:spLocks noChangeShapeType="1"/>
          </p:cNvSpPr>
          <p:nvPr/>
        </p:nvSpPr>
        <p:spPr bwMode="auto">
          <a:xfrm flipH="1" flipV="1">
            <a:off x="5627688" y="3760788"/>
            <a:ext cx="746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2" name="Line 48">
            <a:extLst>
              <a:ext uri="{FF2B5EF4-FFF2-40B4-BE49-F238E27FC236}">
                <a16:creationId xmlns:a16="http://schemas.microsoft.com/office/drawing/2014/main" xmlns="" id="{D8C91B9D-2D00-01F8-AF9D-1096517FA012}"/>
              </a:ext>
            </a:extLst>
          </p:cNvPr>
          <p:cNvSpPr>
            <a:spLocks noChangeShapeType="1"/>
          </p:cNvSpPr>
          <p:nvPr/>
        </p:nvSpPr>
        <p:spPr bwMode="auto">
          <a:xfrm>
            <a:off x="5627688" y="3760788"/>
            <a:ext cx="6842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3" name="Line 49">
            <a:extLst>
              <a:ext uri="{FF2B5EF4-FFF2-40B4-BE49-F238E27FC236}">
                <a16:creationId xmlns:a16="http://schemas.microsoft.com/office/drawing/2014/main" xmlns="" id="{C2CB22A4-1BE1-6290-F335-EFF865710F32}"/>
              </a:ext>
            </a:extLst>
          </p:cNvPr>
          <p:cNvSpPr>
            <a:spLocks noChangeShapeType="1"/>
          </p:cNvSpPr>
          <p:nvPr/>
        </p:nvSpPr>
        <p:spPr bwMode="auto">
          <a:xfrm flipH="1" flipV="1">
            <a:off x="6618288" y="3760788"/>
            <a:ext cx="303212" cy="7604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4" name="Line 50">
            <a:extLst>
              <a:ext uri="{FF2B5EF4-FFF2-40B4-BE49-F238E27FC236}">
                <a16:creationId xmlns:a16="http://schemas.microsoft.com/office/drawing/2014/main" xmlns="" id="{5FE9C34A-CF72-4C94-E715-972A0E6498CB}"/>
              </a:ext>
            </a:extLst>
          </p:cNvPr>
          <p:cNvSpPr>
            <a:spLocks noChangeShapeType="1"/>
          </p:cNvSpPr>
          <p:nvPr/>
        </p:nvSpPr>
        <p:spPr bwMode="auto">
          <a:xfrm flipV="1">
            <a:off x="2654300" y="4903788"/>
            <a:ext cx="0"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5" name="Line 51">
            <a:extLst>
              <a:ext uri="{FF2B5EF4-FFF2-40B4-BE49-F238E27FC236}">
                <a16:creationId xmlns:a16="http://schemas.microsoft.com/office/drawing/2014/main" xmlns="" id="{2062B69C-CF23-54D4-C462-46B5B39BC3AB}"/>
              </a:ext>
            </a:extLst>
          </p:cNvPr>
          <p:cNvSpPr>
            <a:spLocks noChangeShapeType="1"/>
          </p:cNvSpPr>
          <p:nvPr/>
        </p:nvSpPr>
        <p:spPr bwMode="auto">
          <a:xfrm flipV="1">
            <a:off x="3263900" y="4903788"/>
            <a:ext cx="0"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6" name="Line 52">
            <a:extLst>
              <a:ext uri="{FF2B5EF4-FFF2-40B4-BE49-F238E27FC236}">
                <a16:creationId xmlns:a16="http://schemas.microsoft.com/office/drawing/2014/main" xmlns="" id="{6AD5A34E-8E3A-9473-E413-56F314A83DF0}"/>
              </a:ext>
            </a:extLst>
          </p:cNvPr>
          <p:cNvSpPr>
            <a:spLocks noChangeShapeType="1"/>
          </p:cNvSpPr>
          <p:nvPr/>
        </p:nvSpPr>
        <p:spPr bwMode="auto">
          <a:xfrm flipV="1">
            <a:off x="3949700" y="4903788"/>
            <a:ext cx="0"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7" name="Line 53">
            <a:extLst>
              <a:ext uri="{FF2B5EF4-FFF2-40B4-BE49-F238E27FC236}">
                <a16:creationId xmlns:a16="http://schemas.microsoft.com/office/drawing/2014/main" xmlns="" id="{7694B55F-08D2-DFD3-8FD1-F05DD437C606}"/>
              </a:ext>
            </a:extLst>
          </p:cNvPr>
          <p:cNvSpPr>
            <a:spLocks noChangeShapeType="1"/>
          </p:cNvSpPr>
          <p:nvPr/>
        </p:nvSpPr>
        <p:spPr bwMode="auto">
          <a:xfrm flipV="1">
            <a:off x="5092700" y="4903788"/>
            <a:ext cx="0" cy="531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8" name="Line 54">
            <a:extLst>
              <a:ext uri="{FF2B5EF4-FFF2-40B4-BE49-F238E27FC236}">
                <a16:creationId xmlns:a16="http://schemas.microsoft.com/office/drawing/2014/main" xmlns="" id="{2AE616FA-5CE1-11C0-A6CC-2CEB405A2E5B}"/>
              </a:ext>
            </a:extLst>
          </p:cNvPr>
          <p:cNvSpPr>
            <a:spLocks noChangeShapeType="1"/>
          </p:cNvSpPr>
          <p:nvPr/>
        </p:nvSpPr>
        <p:spPr bwMode="auto">
          <a:xfrm flipH="1" flipV="1">
            <a:off x="5092700" y="5818188"/>
            <a:ext cx="12700" cy="2778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a:p>
        </p:txBody>
      </p:sp>
      <p:sp>
        <p:nvSpPr>
          <p:cNvPr id="59" name="Rectangle 55">
            <a:extLst>
              <a:ext uri="{FF2B5EF4-FFF2-40B4-BE49-F238E27FC236}">
                <a16:creationId xmlns:a16="http://schemas.microsoft.com/office/drawing/2014/main" xmlns="" id="{2913A787-4B8B-5D98-A2A7-42508734D962}"/>
              </a:ext>
            </a:extLst>
          </p:cNvPr>
          <p:cNvSpPr>
            <a:spLocks noChangeArrowheads="1"/>
          </p:cNvSpPr>
          <p:nvPr/>
        </p:nvSpPr>
        <p:spPr bwMode="auto">
          <a:xfrm>
            <a:off x="4191000" y="990600"/>
            <a:ext cx="2968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S</a:t>
            </a:r>
          </a:p>
        </p:txBody>
      </p:sp>
      <p:sp>
        <p:nvSpPr>
          <p:cNvPr id="60" name="Rectangle 56">
            <a:extLst>
              <a:ext uri="{FF2B5EF4-FFF2-40B4-BE49-F238E27FC236}">
                <a16:creationId xmlns:a16="http://schemas.microsoft.com/office/drawing/2014/main" xmlns="" id="{222930C8-E9E4-DA14-2081-EE68C92D0B39}"/>
              </a:ext>
            </a:extLst>
          </p:cNvPr>
          <p:cNvSpPr>
            <a:spLocks noChangeArrowheads="1"/>
          </p:cNvSpPr>
          <p:nvPr/>
        </p:nvSpPr>
        <p:spPr bwMode="auto">
          <a:xfrm>
            <a:off x="2819400" y="16764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A</a:t>
            </a:r>
          </a:p>
        </p:txBody>
      </p:sp>
      <p:sp>
        <p:nvSpPr>
          <p:cNvPr id="61" name="Rectangle 57">
            <a:extLst>
              <a:ext uri="{FF2B5EF4-FFF2-40B4-BE49-F238E27FC236}">
                <a16:creationId xmlns:a16="http://schemas.microsoft.com/office/drawing/2014/main" xmlns="" id="{489605F0-C41E-8D17-F431-1DE69D728D6A}"/>
              </a:ext>
            </a:extLst>
          </p:cNvPr>
          <p:cNvSpPr>
            <a:spLocks noChangeArrowheads="1"/>
          </p:cNvSpPr>
          <p:nvPr/>
        </p:nvSpPr>
        <p:spPr bwMode="auto">
          <a:xfrm>
            <a:off x="5334000" y="16764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D</a:t>
            </a:r>
          </a:p>
        </p:txBody>
      </p:sp>
      <p:sp>
        <p:nvSpPr>
          <p:cNvPr id="62" name="Rectangle 58">
            <a:extLst>
              <a:ext uri="{FF2B5EF4-FFF2-40B4-BE49-F238E27FC236}">
                <a16:creationId xmlns:a16="http://schemas.microsoft.com/office/drawing/2014/main" xmlns="" id="{40549F95-CD7E-BFF8-24E6-4A2D5D78E872}"/>
              </a:ext>
            </a:extLst>
          </p:cNvPr>
          <p:cNvSpPr>
            <a:spLocks noChangeArrowheads="1"/>
          </p:cNvSpPr>
          <p:nvPr/>
        </p:nvSpPr>
        <p:spPr bwMode="auto">
          <a:xfrm>
            <a:off x="2057400" y="25146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B</a:t>
            </a:r>
          </a:p>
        </p:txBody>
      </p:sp>
      <p:sp>
        <p:nvSpPr>
          <p:cNvPr id="63" name="Rectangle 59">
            <a:extLst>
              <a:ext uri="{FF2B5EF4-FFF2-40B4-BE49-F238E27FC236}">
                <a16:creationId xmlns:a16="http://schemas.microsoft.com/office/drawing/2014/main" xmlns="" id="{06399766-351C-F7DA-333E-A792B5D009F5}"/>
              </a:ext>
            </a:extLst>
          </p:cNvPr>
          <p:cNvSpPr>
            <a:spLocks noChangeArrowheads="1"/>
          </p:cNvSpPr>
          <p:nvPr/>
        </p:nvSpPr>
        <p:spPr bwMode="auto">
          <a:xfrm>
            <a:off x="3276600" y="25146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D</a:t>
            </a:r>
          </a:p>
        </p:txBody>
      </p:sp>
      <p:sp>
        <p:nvSpPr>
          <p:cNvPr id="64" name="Rectangle 60">
            <a:extLst>
              <a:ext uri="{FF2B5EF4-FFF2-40B4-BE49-F238E27FC236}">
                <a16:creationId xmlns:a16="http://schemas.microsoft.com/office/drawing/2014/main" xmlns="" id="{CCF23EAE-D472-CF2E-E134-C049EDE04CD7}"/>
              </a:ext>
            </a:extLst>
          </p:cNvPr>
          <p:cNvSpPr>
            <a:spLocks noChangeArrowheads="1"/>
          </p:cNvSpPr>
          <p:nvPr/>
        </p:nvSpPr>
        <p:spPr bwMode="auto">
          <a:xfrm>
            <a:off x="4495800" y="25146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A</a:t>
            </a:r>
          </a:p>
        </p:txBody>
      </p:sp>
      <p:sp>
        <p:nvSpPr>
          <p:cNvPr id="65" name="Rectangle 61">
            <a:extLst>
              <a:ext uri="{FF2B5EF4-FFF2-40B4-BE49-F238E27FC236}">
                <a16:creationId xmlns:a16="http://schemas.microsoft.com/office/drawing/2014/main" xmlns="" id="{589AB09B-B14C-F749-2834-6BB9B3EAD8F0}"/>
              </a:ext>
            </a:extLst>
          </p:cNvPr>
          <p:cNvSpPr>
            <a:spLocks noChangeArrowheads="1"/>
          </p:cNvSpPr>
          <p:nvPr/>
        </p:nvSpPr>
        <p:spPr bwMode="auto">
          <a:xfrm>
            <a:off x="6172200" y="25146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E</a:t>
            </a:r>
          </a:p>
        </p:txBody>
      </p:sp>
      <p:sp>
        <p:nvSpPr>
          <p:cNvPr id="66" name="Rectangle 62">
            <a:extLst>
              <a:ext uri="{FF2B5EF4-FFF2-40B4-BE49-F238E27FC236}">
                <a16:creationId xmlns:a16="http://schemas.microsoft.com/office/drawing/2014/main" xmlns="" id="{E61D3D74-5E04-EA44-7823-0AE5D6603E03}"/>
              </a:ext>
            </a:extLst>
          </p:cNvPr>
          <p:cNvSpPr>
            <a:spLocks noChangeArrowheads="1"/>
          </p:cNvSpPr>
          <p:nvPr/>
        </p:nvSpPr>
        <p:spPr bwMode="auto">
          <a:xfrm>
            <a:off x="1828800" y="34290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C</a:t>
            </a:r>
          </a:p>
        </p:txBody>
      </p:sp>
      <p:sp>
        <p:nvSpPr>
          <p:cNvPr id="67" name="Rectangle 63">
            <a:extLst>
              <a:ext uri="{FF2B5EF4-FFF2-40B4-BE49-F238E27FC236}">
                <a16:creationId xmlns:a16="http://schemas.microsoft.com/office/drawing/2014/main" xmlns="" id="{12DFA755-D334-45CD-444E-CB31E1E941D7}"/>
              </a:ext>
            </a:extLst>
          </p:cNvPr>
          <p:cNvSpPr>
            <a:spLocks noChangeArrowheads="1"/>
          </p:cNvSpPr>
          <p:nvPr/>
        </p:nvSpPr>
        <p:spPr bwMode="auto">
          <a:xfrm>
            <a:off x="2590800" y="34290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E</a:t>
            </a:r>
          </a:p>
        </p:txBody>
      </p:sp>
      <p:sp>
        <p:nvSpPr>
          <p:cNvPr id="68" name="Rectangle 64">
            <a:extLst>
              <a:ext uri="{FF2B5EF4-FFF2-40B4-BE49-F238E27FC236}">
                <a16:creationId xmlns:a16="http://schemas.microsoft.com/office/drawing/2014/main" xmlns="" id="{64952D7D-82C2-EB6F-2870-A3DC25DFE33F}"/>
              </a:ext>
            </a:extLst>
          </p:cNvPr>
          <p:cNvSpPr>
            <a:spLocks noChangeArrowheads="1"/>
          </p:cNvSpPr>
          <p:nvPr/>
        </p:nvSpPr>
        <p:spPr bwMode="auto">
          <a:xfrm>
            <a:off x="3657600" y="34290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E</a:t>
            </a:r>
          </a:p>
        </p:txBody>
      </p:sp>
      <p:sp>
        <p:nvSpPr>
          <p:cNvPr id="69" name="Rectangle 65">
            <a:extLst>
              <a:ext uri="{FF2B5EF4-FFF2-40B4-BE49-F238E27FC236}">
                <a16:creationId xmlns:a16="http://schemas.microsoft.com/office/drawing/2014/main" xmlns="" id="{C889A5C6-01FB-E0EE-FAB7-91840F277576}"/>
              </a:ext>
            </a:extLst>
          </p:cNvPr>
          <p:cNvSpPr>
            <a:spLocks noChangeArrowheads="1"/>
          </p:cNvSpPr>
          <p:nvPr/>
        </p:nvSpPr>
        <p:spPr bwMode="auto">
          <a:xfrm>
            <a:off x="4572000" y="34290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B</a:t>
            </a:r>
          </a:p>
        </p:txBody>
      </p:sp>
      <p:sp>
        <p:nvSpPr>
          <p:cNvPr id="70" name="Rectangle 66">
            <a:extLst>
              <a:ext uri="{FF2B5EF4-FFF2-40B4-BE49-F238E27FC236}">
                <a16:creationId xmlns:a16="http://schemas.microsoft.com/office/drawing/2014/main" xmlns="" id="{9FA07E85-0668-741F-8201-3FAF3E57E977}"/>
              </a:ext>
            </a:extLst>
          </p:cNvPr>
          <p:cNvSpPr>
            <a:spLocks noChangeArrowheads="1"/>
          </p:cNvSpPr>
          <p:nvPr/>
        </p:nvSpPr>
        <p:spPr bwMode="auto">
          <a:xfrm>
            <a:off x="5410200" y="34290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B</a:t>
            </a:r>
          </a:p>
        </p:txBody>
      </p:sp>
      <p:sp>
        <p:nvSpPr>
          <p:cNvPr id="71" name="Rectangle 67">
            <a:extLst>
              <a:ext uri="{FF2B5EF4-FFF2-40B4-BE49-F238E27FC236}">
                <a16:creationId xmlns:a16="http://schemas.microsoft.com/office/drawing/2014/main" xmlns="" id="{E29274C0-3BC6-413B-F7F6-EA4BA6BF293B}"/>
              </a:ext>
            </a:extLst>
          </p:cNvPr>
          <p:cNvSpPr>
            <a:spLocks noChangeArrowheads="1"/>
          </p:cNvSpPr>
          <p:nvPr/>
        </p:nvSpPr>
        <p:spPr bwMode="auto">
          <a:xfrm>
            <a:off x="6400800" y="3429000"/>
            <a:ext cx="3127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F</a:t>
            </a:r>
          </a:p>
        </p:txBody>
      </p:sp>
      <p:sp>
        <p:nvSpPr>
          <p:cNvPr id="72" name="Rectangle 68">
            <a:extLst>
              <a:ext uri="{FF2B5EF4-FFF2-40B4-BE49-F238E27FC236}">
                <a16:creationId xmlns:a16="http://schemas.microsoft.com/office/drawing/2014/main" xmlns="" id="{849D65E9-AA5E-BEBB-67A1-4DA32C38F678}"/>
              </a:ext>
            </a:extLst>
          </p:cNvPr>
          <p:cNvSpPr>
            <a:spLocks noChangeArrowheads="1"/>
          </p:cNvSpPr>
          <p:nvPr/>
        </p:nvSpPr>
        <p:spPr bwMode="auto">
          <a:xfrm>
            <a:off x="1828800" y="45720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D</a:t>
            </a:r>
          </a:p>
        </p:txBody>
      </p:sp>
      <p:sp>
        <p:nvSpPr>
          <p:cNvPr id="73" name="Rectangle 69">
            <a:extLst>
              <a:ext uri="{FF2B5EF4-FFF2-40B4-BE49-F238E27FC236}">
                <a16:creationId xmlns:a16="http://schemas.microsoft.com/office/drawing/2014/main" xmlns="" id="{56A8F30E-58E6-BE50-9A36-52D2E15C5034}"/>
              </a:ext>
            </a:extLst>
          </p:cNvPr>
          <p:cNvSpPr>
            <a:spLocks noChangeArrowheads="1"/>
          </p:cNvSpPr>
          <p:nvPr/>
        </p:nvSpPr>
        <p:spPr bwMode="auto">
          <a:xfrm>
            <a:off x="2438400" y="4572000"/>
            <a:ext cx="3127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F</a:t>
            </a:r>
          </a:p>
        </p:txBody>
      </p:sp>
      <p:sp>
        <p:nvSpPr>
          <p:cNvPr id="74" name="Rectangle 70">
            <a:extLst>
              <a:ext uri="{FF2B5EF4-FFF2-40B4-BE49-F238E27FC236}">
                <a16:creationId xmlns:a16="http://schemas.microsoft.com/office/drawing/2014/main" xmlns="" id="{A47D4B42-C218-E462-20AF-56989C177B6F}"/>
              </a:ext>
            </a:extLst>
          </p:cNvPr>
          <p:cNvSpPr>
            <a:spLocks noChangeArrowheads="1"/>
          </p:cNvSpPr>
          <p:nvPr/>
        </p:nvSpPr>
        <p:spPr bwMode="auto">
          <a:xfrm>
            <a:off x="3124200" y="45720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B</a:t>
            </a:r>
          </a:p>
        </p:txBody>
      </p:sp>
      <p:sp>
        <p:nvSpPr>
          <p:cNvPr id="75" name="Rectangle 71">
            <a:extLst>
              <a:ext uri="{FF2B5EF4-FFF2-40B4-BE49-F238E27FC236}">
                <a16:creationId xmlns:a16="http://schemas.microsoft.com/office/drawing/2014/main" xmlns="" id="{7C6BB5A5-FE24-0E43-DF7C-8FFA4C9D06C3}"/>
              </a:ext>
            </a:extLst>
          </p:cNvPr>
          <p:cNvSpPr>
            <a:spLocks noChangeArrowheads="1"/>
          </p:cNvSpPr>
          <p:nvPr/>
        </p:nvSpPr>
        <p:spPr bwMode="auto">
          <a:xfrm>
            <a:off x="3733800" y="4572000"/>
            <a:ext cx="3127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F</a:t>
            </a:r>
          </a:p>
        </p:txBody>
      </p:sp>
      <p:sp>
        <p:nvSpPr>
          <p:cNvPr id="76" name="Rectangle 72">
            <a:extLst>
              <a:ext uri="{FF2B5EF4-FFF2-40B4-BE49-F238E27FC236}">
                <a16:creationId xmlns:a16="http://schemas.microsoft.com/office/drawing/2014/main" xmlns="" id="{8A9EC228-C9F9-D519-4B41-FADBCCFF0941}"/>
              </a:ext>
            </a:extLst>
          </p:cNvPr>
          <p:cNvSpPr>
            <a:spLocks noChangeArrowheads="1"/>
          </p:cNvSpPr>
          <p:nvPr/>
        </p:nvSpPr>
        <p:spPr bwMode="auto">
          <a:xfrm>
            <a:off x="4343400" y="45720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C</a:t>
            </a:r>
          </a:p>
        </p:txBody>
      </p:sp>
      <p:sp>
        <p:nvSpPr>
          <p:cNvPr id="77" name="Rectangle 73">
            <a:extLst>
              <a:ext uri="{FF2B5EF4-FFF2-40B4-BE49-F238E27FC236}">
                <a16:creationId xmlns:a16="http://schemas.microsoft.com/office/drawing/2014/main" xmlns="" id="{D70EA5D0-7AFC-62F5-3849-23292967D6BB}"/>
              </a:ext>
            </a:extLst>
          </p:cNvPr>
          <p:cNvSpPr>
            <a:spLocks noChangeArrowheads="1"/>
          </p:cNvSpPr>
          <p:nvPr/>
        </p:nvSpPr>
        <p:spPr bwMode="auto">
          <a:xfrm>
            <a:off x="4953000" y="4572000"/>
            <a:ext cx="3302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E</a:t>
            </a:r>
          </a:p>
        </p:txBody>
      </p:sp>
      <p:sp>
        <p:nvSpPr>
          <p:cNvPr id="78" name="Rectangle 74">
            <a:extLst>
              <a:ext uri="{FF2B5EF4-FFF2-40B4-BE49-F238E27FC236}">
                <a16:creationId xmlns:a16="http://schemas.microsoft.com/office/drawing/2014/main" xmlns="" id="{B30F5F37-63AB-9879-F7E5-0F75D7B1629F}"/>
              </a:ext>
            </a:extLst>
          </p:cNvPr>
          <p:cNvSpPr>
            <a:spLocks noChangeArrowheads="1"/>
          </p:cNvSpPr>
          <p:nvPr/>
        </p:nvSpPr>
        <p:spPr bwMode="auto">
          <a:xfrm>
            <a:off x="5562600" y="45720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A</a:t>
            </a:r>
          </a:p>
        </p:txBody>
      </p:sp>
      <p:sp>
        <p:nvSpPr>
          <p:cNvPr id="79" name="Rectangle 75">
            <a:extLst>
              <a:ext uri="{FF2B5EF4-FFF2-40B4-BE49-F238E27FC236}">
                <a16:creationId xmlns:a16="http://schemas.microsoft.com/office/drawing/2014/main" xmlns="" id="{5DB242FD-926B-7FBB-F2C2-BBDDDB429089}"/>
              </a:ext>
            </a:extLst>
          </p:cNvPr>
          <p:cNvSpPr>
            <a:spLocks noChangeArrowheads="1"/>
          </p:cNvSpPr>
          <p:nvPr/>
        </p:nvSpPr>
        <p:spPr bwMode="auto">
          <a:xfrm>
            <a:off x="6172200" y="45720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C</a:t>
            </a:r>
          </a:p>
        </p:txBody>
      </p:sp>
      <p:sp>
        <p:nvSpPr>
          <p:cNvPr id="80" name="Rectangle 76">
            <a:extLst>
              <a:ext uri="{FF2B5EF4-FFF2-40B4-BE49-F238E27FC236}">
                <a16:creationId xmlns:a16="http://schemas.microsoft.com/office/drawing/2014/main" xmlns="" id="{AD8AED31-8B5F-251D-4AC6-27D151BAAA0D}"/>
              </a:ext>
            </a:extLst>
          </p:cNvPr>
          <p:cNvSpPr>
            <a:spLocks noChangeArrowheads="1"/>
          </p:cNvSpPr>
          <p:nvPr/>
        </p:nvSpPr>
        <p:spPr bwMode="auto">
          <a:xfrm>
            <a:off x="6781800" y="4572000"/>
            <a:ext cx="3635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G</a:t>
            </a:r>
          </a:p>
        </p:txBody>
      </p:sp>
      <p:sp>
        <p:nvSpPr>
          <p:cNvPr id="81" name="Rectangle 77">
            <a:extLst>
              <a:ext uri="{FF2B5EF4-FFF2-40B4-BE49-F238E27FC236}">
                <a16:creationId xmlns:a16="http://schemas.microsoft.com/office/drawing/2014/main" xmlns="" id="{F36497DF-D283-85A4-C135-718FB23A7A9F}"/>
              </a:ext>
            </a:extLst>
          </p:cNvPr>
          <p:cNvSpPr>
            <a:spLocks noChangeArrowheads="1"/>
          </p:cNvSpPr>
          <p:nvPr/>
        </p:nvSpPr>
        <p:spPr bwMode="auto">
          <a:xfrm>
            <a:off x="2438400" y="5486400"/>
            <a:ext cx="3635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G</a:t>
            </a:r>
          </a:p>
        </p:txBody>
      </p:sp>
      <p:sp>
        <p:nvSpPr>
          <p:cNvPr id="82" name="Rectangle 78">
            <a:extLst>
              <a:ext uri="{FF2B5EF4-FFF2-40B4-BE49-F238E27FC236}">
                <a16:creationId xmlns:a16="http://schemas.microsoft.com/office/drawing/2014/main" xmlns="" id="{2AF3B8A5-13A8-C76C-2AFE-8D3D21B8AB2B}"/>
              </a:ext>
            </a:extLst>
          </p:cNvPr>
          <p:cNvSpPr>
            <a:spLocks noChangeArrowheads="1"/>
          </p:cNvSpPr>
          <p:nvPr/>
        </p:nvSpPr>
        <p:spPr bwMode="auto">
          <a:xfrm>
            <a:off x="3124200" y="5486400"/>
            <a:ext cx="347663"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C</a:t>
            </a:r>
          </a:p>
        </p:txBody>
      </p:sp>
      <p:sp>
        <p:nvSpPr>
          <p:cNvPr id="83" name="Rectangle 79">
            <a:extLst>
              <a:ext uri="{FF2B5EF4-FFF2-40B4-BE49-F238E27FC236}">
                <a16:creationId xmlns:a16="http://schemas.microsoft.com/office/drawing/2014/main" xmlns="" id="{92C0883C-D3FB-76A9-5E49-B9592E7EB017}"/>
              </a:ext>
            </a:extLst>
          </p:cNvPr>
          <p:cNvSpPr>
            <a:spLocks noChangeArrowheads="1"/>
          </p:cNvSpPr>
          <p:nvPr/>
        </p:nvSpPr>
        <p:spPr bwMode="auto">
          <a:xfrm>
            <a:off x="3733800" y="5486400"/>
            <a:ext cx="3635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G</a:t>
            </a:r>
          </a:p>
        </p:txBody>
      </p:sp>
      <p:sp>
        <p:nvSpPr>
          <p:cNvPr id="84" name="Rectangle 80">
            <a:extLst>
              <a:ext uri="{FF2B5EF4-FFF2-40B4-BE49-F238E27FC236}">
                <a16:creationId xmlns:a16="http://schemas.microsoft.com/office/drawing/2014/main" xmlns="" id="{92460B89-4000-DEB0-3486-E7D6309D908F}"/>
              </a:ext>
            </a:extLst>
          </p:cNvPr>
          <p:cNvSpPr>
            <a:spLocks noChangeArrowheads="1"/>
          </p:cNvSpPr>
          <p:nvPr/>
        </p:nvSpPr>
        <p:spPr bwMode="auto">
          <a:xfrm>
            <a:off x="4953000" y="5486400"/>
            <a:ext cx="3127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F</a:t>
            </a:r>
          </a:p>
        </p:txBody>
      </p:sp>
      <p:sp>
        <p:nvSpPr>
          <p:cNvPr id="85" name="Rectangle 81">
            <a:extLst>
              <a:ext uri="{FF2B5EF4-FFF2-40B4-BE49-F238E27FC236}">
                <a16:creationId xmlns:a16="http://schemas.microsoft.com/office/drawing/2014/main" xmlns="" id="{83DA9DC2-097A-AF0F-013B-1CE5DB26B1E2}"/>
              </a:ext>
            </a:extLst>
          </p:cNvPr>
          <p:cNvSpPr>
            <a:spLocks noChangeArrowheads="1"/>
          </p:cNvSpPr>
          <p:nvPr/>
        </p:nvSpPr>
        <p:spPr bwMode="auto">
          <a:xfrm>
            <a:off x="1828800" y="49530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14</a:t>
            </a:r>
          </a:p>
        </p:txBody>
      </p:sp>
      <p:sp>
        <p:nvSpPr>
          <p:cNvPr id="86" name="Rectangle 82">
            <a:extLst>
              <a:ext uri="{FF2B5EF4-FFF2-40B4-BE49-F238E27FC236}">
                <a16:creationId xmlns:a16="http://schemas.microsoft.com/office/drawing/2014/main" xmlns="" id="{D282C9E0-848F-BD1C-BB7E-5A876AC92D3A}"/>
              </a:ext>
            </a:extLst>
          </p:cNvPr>
          <p:cNvSpPr>
            <a:spLocks noChangeArrowheads="1"/>
          </p:cNvSpPr>
          <p:nvPr/>
        </p:nvSpPr>
        <p:spPr bwMode="auto">
          <a:xfrm>
            <a:off x="2362200" y="58674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19</a:t>
            </a:r>
          </a:p>
        </p:txBody>
      </p:sp>
      <p:sp>
        <p:nvSpPr>
          <p:cNvPr id="87" name="Rectangle 83">
            <a:extLst>
              <a:ext uri="{FF2B5EF4-FFF2-40B4-BE49-F238E27FC236}">
                <a16:creationId xmlns:a16="http://schemas.microsoft.com/office/drawing/2014/main" xmlns="" id="{1F166824-7BF3-5090-AA7B-39F778AE72FD}"/>
              </a:ext>
            </a:extLst>
          </p:cNvPr>
          <p:cNvSpPr>
            <a:spLocks noChangeArrowheads="1"/>
          </p:cNvSpPr>
          <p:nvPr/>
        </p:nvSpPr>
        <p:spPr bwMode="auto">
          <a:xfrm>
            <a:off x="3124200" y="58674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19</a:t>
            </a:r>
          </a:p>
        </p:txBody>
      </p:sp>
      <p:sp>
        <p:nvSpPr>
          <p:cNvPr id="88" name="Rectangle 84">
            <a:extLst>
              <a:ext uri="{FF2B5EF4-FFF2-40B4-BE49-F238E27FC236}">
                <a16:creationId xmlns:a16="http://schemas.microsoft.com/office/drawing/2014/main" xmlns="" id="{E404789C-E3D1-6ABC-BF6F-AF4EC7214350}"/>
              </a:ext>
            </a:extLst>
          </p:cNvPr>
          <p:cNvSpPr>
            <a:spLocks noChangeArrowheads="1"/>
          </p:cNvSpPr>
          <p:nvPr/>
        </p:nvSpPr>
        <p:spPr bwMode="auto">
          <a:xfrm>
            <a:off x="3733800" y="58674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17</a:t>
            </a:r>
          </a:p>
        </p:txBody>
      </p:sp>
      <p:sp>
        <p:nvSpPr>
          <p:cNvPr id="89" name="Rectangle 85">
            <a:extLst>
              <a:ext uri="{FF2B5EF4-FFF2-40B4-BE49-F238E27FC236}">
                <a16:creationId xmlns:a16="http://schemas.microsoft.com/office/drawing/2014/main" xmlns="" id="{D44119F6-C790-D884-7642-83747B957F02}"/>
              </a:ext>
            </a:extLst>
          </p:cNvPr>
          <p:cNvSpPr>
            <a:spLocks noChangeArrowheads="1"/>
          </p:cNvSpPr>
          <p:nvPr/>
        </p:nvSpPr>
        <p:spPr bwMode="auto">
          <a:xfrm>
            <a:off x="4267200" y="49530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17</a:t>
            </a:r>
          </a:p>
        </p:txBody>
      </p:sp>
      <p:sp>
        <p:nvSpPr>
          <p:cNvPr id="90" name="Rectangle 86">
            <a:extLst>
              <a:ext uri="{FF2B5EF4-FFF2-40B4-BE49-F238E27FC236}">
                <a16:creationId xmlns:a16="http://schemas.microsoft.com/office/drawing/2014/main" xmlns="" id="{18E30E01-BEE6-14FC-FF82-090FC6179028}"/>
              </a:ext>
            </a:extLst>
          </p:cNvPr>
          <p:cNvSpPr>
            <a:spLocks noChangeArrowheads="1"/>
          </p:cNvSpPr>
          <p:nvPr/>
        </p:nvSpPr>
        <p:spPr bwMode="auto">
          <a:xfrm>
            <a:off x="5562600" y="49530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15</a:t>
            </a:r>
          </a:p>
        </p:txBody>
      </p:sp>
      <p:sp>
        <p:nvSpPr>
          <p:cNvPr id="91" name="Rectangle 87">
            <a:extLst>
              <a:ext uri="{FF2B5EF4-FFF2-40B4-BE49-F238E27FC236}">
                <a16:creationId xmlns:a16="http://schemas.microsoft.com/office/drawing/2014/main" xmlns="" id="{C41B4EDF-A615-F2B8-272F-66BAD1685588}"/>
              </a:ext>
            </a:extLst>
          </p:cNvPr>
          <p:cNvSpPr>
            <a:spLocks noChangeArrowheads="1"/>
          </p:cNvSpPr>
          <p:nvPr/>
        </p:nvSpPr>
        <p:spPr bwMode="auto">
          <a:xfrm>
            <a:off x="6172200" y="49530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15</a:t>
            </a:r>
          </a:p>
        </p:txBody>
      </p:sp>
      <p:sp>
        <p:nvSpPr>
          <p:cNvPr id="92" name="Rectangle 88">
            <a:extLst>
              <a:ext uri="{FF2B5EF4-FFF2-40B4-BE49-F238E27FC236}">
                <a16:creationId xmlns:a16="http://schemas.microsoft.com/office/drawing/2014/main" xmlns="" id="{4797E399-1149-1960-33AC-8CDBC4D05569}"/>
              </a:ext>
            </a:extLst>
          </p:cNvPr>
          <p:cNvSpPr>
            <a:spLocks noChangeArrowheads="1"/>
          </p:cNvSpPr>
          <p:nvPr/>
        </p:nvSpPr>
        <p:spPr bwMode="auto">
          <a:xfrm>
            <a:off x="6781800" y="49530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13</a:t>
            </a:r>
          </a:p>
        </p:txBody>
      </p:sp>
      <p:sp>
        <p:nvSpPr>
          <p:cNvPr id="93" name="Oval 89">
            <a:extLst>
              <a:ext uri="{FF2B5EF4-FFF2-40B4-BE49-F238E27FC236}">
                <a16:creationId xmlns:a16="http://schemas.microsoft.com/office/drawing/2014/main" xmlns="" id="{FED4B391-A1CB-B505-8F1B-470905683C54}"/>
              </a:ext>
            </a:extLst>
          </p:cNvPr>
          <p:cNvSpPr>
            <a:spLocks noChangeArrowheads="1"/>
          </p:cNvSpPr>
          <p:nvPr/>
        </p:nvSpPr>
        <p:spPr bwMode="auto">
          <a:xfrm>
            <a:off x="4946650" y="5975350"/>
            <a:ext cx="368300" cy="3683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kumimoji="1" lang="en-US" altLang="en-US" sz="2400">
              <a:solidFill>
                <a:srgbClr val="1D0401"/>
              </a:solidFill>
              <a:latin typeface="Times New Roman" panose="02020603050405020304" pitchFamily="18" charset="0"/>
              <a:ea typeface="PMingLiU" panose="02020500000000000000" pitchFamily="18" charset="-120"/>
            </a:endParaRPr>
          </a:p>
        </p:txBody>
      </p:sp>
      <p:sp>
        <p:nvSpPr>
          <p:cNvPr id="94" name="Rectangle 90">
            <a:extLst>
              <a:ext uri="{FF2B5EF4-FFF2-40B4-BE49-F238E27FC236}">
                <a16:creationId xmlns:a16="http://schemas.microsoft.com/office/drawing/2014/main" xmlns="" id="{28458F7D-D52B-9ED7-D9F6-B8BF6DFB05A7}"/>
              </a:ext>
            </a:extLst>
          </p:cNvPr>
          <p:cNvSpPr>
            <a:spLocks noChangeArrowheads="1"/>
          </p:cNvSpPr>
          <p:nvPr/>
        </p:nvSpPr>
        <p:spPr bwMode="auto">
          <a:xfrm>
            <a:off x="4953000" y="6019800"/>
            <a:ext cx="3635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s-MX" altLang="he-IL" sz="2400" b="1">
                <a:solidFill>
                  <a:srgbClr val="1D0401"/>
                </a:solidFill>
                <a:latin typeface="Times New Roman" panose="02020603050405020304" pitchFamily="18" charset="0"/>
                <a:ea typeface="PMingLiU" panose="02020500000000000000" pitchFamily="18" charset="-120"/>
              </a:rPr>
              <a:t>G</a:t>
            </a:r>
          </a:p>
        </p:txBody>
      </p:sp>
      <p:sp>
        <p:nvSpPr>
          <p:cNvPr id="95" name="Rectangle 91">
            <a:extLst>
              <a:ext uri="{FF2B5EF4-FFF2-40B4-BE49-F238E27FC236}">
                <a16:creationId xmlns:a16="http://schemas.microsoft.com/office/drawing/2014/main" xmlns="" id="{A8BB6240-F789-9923-3279-97502F763BA8}"/>
              </a:ext>
            </a:extLst>
          </p:cNvPr>
          <p:cNvSpPr>
            <a:spLocks noChangeArrowheads="1"/>
          </p:cNvSpPr>
          <p:nvPr/>
        </p:nvSpPr>
        <p:spPr bwMode="auto">
          <a:xfrm>
            <a:off x="5334000" y="60198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25</a:t>
            </a:r>
          </a:p>
        </p:txBody>
      </p:sp>
      <p:sp>
        <p:nvSpPr>
          <p:cNvPr id="96" name="Rectangle 92">
            <a:extLst>
              <a:ext uri="{FF2B5EF4-FFF2-40B4-BE49-F238E27FC236}">
                <a16:creationId xmlns:a16="http://schemas.microsoft.com/office/drawing/2014/main" xmlns="" id="{0C4DF9D5-4AD5-9158-D678-D8BB37D33F04}"/>
              </a:ext>
            </a:extLst>
          </p:cNvPr>
          <p:cNvSpPr>
            <a:spLocks noChangeArrowheads="1"/>
          </p:cNvSpPr>
          <p:nvPr/>
        </p:nvSpPr>
        <p:spPr bwMode="auto">
          <a:xfrm>
            <a:off x="1752600" y="3810000"/>
            <a:ext cx="431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3500" tIns="25400" rIns="63500" bIns="2540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85000"/>
              </a:lnSpc>
            </a:pPr>
            <a:r>
              <a:rPr lang="en-US" altLang="es-MX" sz="2400" b="1">
                <a:solidFill>
                  <a:srgbClr val="1D0401"/>
                </a:solidFill>
                <a:latin typeface="Times New Roman" panose="02020603050405020304" pitchFamily="18" charset="0"/>
                <a:ea typeface="PMingLiU" panose="02020500000000000000" pitchFamily="18" charset="-120"/>
              </a:rPr>
              <a:t>11</a:t>
            </a:r>
          </a:p>
        </p:txBody>
      </p:sp>
      <p:sp>
        <p:nvSpPr>
          <p:cNvPr id="97" name="Line 93">
            <a:extLst>
              <a:ext uri="{FF2B5EF4-FFF2-40B4-BE49-F238E27FC236}">
                <a16:creationId xmlns:a16="http://schemas.microsoft.com/office/drawing/2014/main" xmlns="" id="{EC8126AA-B902-A6C3-95A1-C20644DF8407}"/>
              </a:ext>
            </a:extLst>
          </p:cNvPr>
          <p:cNvSpPr>
            <a:spLocks noChangeShapeType="1"/>
          </p:cNvSpPr>
          <p:nvPr/>
        </p:nvSpPr>
        <p:spPr bwMode="auto">
          <a:xfrm>
            <a:off x="2514600" y="5029200"/>
            <a:ext cx="0" cy="381000"/>
          </a:xfrm>
          <a:prstGeom prst="line">
            <a:avLst/>
          </a:prstGeom>
          <a:noFill/>
          <a:ln w="50800" cap="rnd">
            <a:solidFill>
              <a:srgbClr val="FF66CC"/>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98" name="Line 94">
            <a:extLst>
              <a:ext uri="{FF2B5EF4-FFF2-40B4-BE49-F238E27FC236}">
                <a16:creationId xmlns:a16="http://schemas.microsoft.com/office/drawing/2014/main" xmlns="" id="{6DA89D5D-1A1C-C3DA-89A4-1373FB608C29}"/>
              </a:ext>
            </a:extLst>
          </p:cNvPr>
          <p:cNvSpPr>
            <a:spLocks noChangeShapeType="1"/>
          </p:cNvSpPr>
          <p:nvPr/>
        </p:nvSpPr>
        <p:spPr bwMode="auto">
          <a:xfrm flipV="1">
            <a:off x="2590800" y="2133600"/>
            <a:ext cx="381000" cy="38100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99" name="Line 95">
            <a:extLst>
              <a:ext uri="{FF2B5EF4-FFF2-40B4-BE49-F238E27FC236}">
                <a16:creationId xmlns:a16="http://schemas.microsoft.com/office/drawing/2014/main" xmlns="" id="{851919EF-DA05-ACE2-8781-A00D7BDF2495}"/>
              </a:ext>
            </a:extLst>
          </p:cNvPr>
          <p:cNvSpPr>
            <a:spLocks noChangeShapeType="1"/>
          </p:cNvSpPr>
          <p:nvPr/>
        </p:nvSpPr>
        <p:spPr bwMode="auto">
          <a:xfrm flipH="1" flipV="1">
            <a:off x="2667000" y="2514600"/>
            <a:ext cx="304800" cy="53340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0" name="Line 96">
            <a:extLst>
              <a:ext uri="{FF2B5EF4-FFF2-40B4-BE49-F238E27FC236}">
                <a16:creationId xmlns:a16="http://schemas.microsoft.com/office/drawing/2014/main" xmlns="" id="{33284EE4-C023-E10D-7DA7-CC1C33BC907B}"/>
              </a:ext>
            </a:extLst>
          </p:cNvPr>
          <p:cNvSpPr>
            <a:spLocks noChangeShapeType="1"/>
          </p:cNvSpPr>
          <p:nvPr/>
        </p:nvSpPr>
        <p:spPr bwMode="auto">
          <a:xfrm>
            <a:off x="2514600" y="2667000"/>
            <a:ext cx="381000" cy="60960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1" name="Line 97">
            <a:extLst>
              <a:ext uri="{FF2B5EF4-FFF2-40B4-BE49-F238E27FC236}">
                <a16:creationId xmlns:a16="http://schemas.microsoft.com/office/drawing/2014/main" xmlns="" id="{ECCB2A09-0B5E-C62F-A08C-4719365F059A}"/>
              </a:ext>
            </a:extLst>
          </p:cNvPr>
          <p:cNvSpPr>
            <a:spLocks noChangeShapeType="1"/>
          </p:cNvSpPr>
          <p:nvPr/>
        </p:nvSpPr>
        <p:spPr bwMode="auto">
          <a:xfrm flipV="1">
            <a:off x="2209800" y="2971800"/>
            <a:ext cx="228600" cy="60960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2" name="Line 98">
            <a:extLst>
              <a:ext uri="{FF2B5EF4-FFF2-40B4-BE49-F238E27FC236}">
                <a16:creationId xmlns:a16="http://schemas.microsoft.com/office/drawing/2014/main" xmlns="" id="{0BE8D8FC-A578-5306-70AB-2F7A65C27628}"/>
              </a:ext>
            </a:extLst>
          </p:cNvPr>
          <p:cNvSpPr>
            <a:spLocks noChangeShapeType="1"/>
          </p:cNvSpPr>
          <p:nvPr/>
        </p:nvSpPr>
        <p:spPr bwMode="auto">
          <a:xfrm flipH="1">
            <a:off x="1676400" y="2819400"/>
            <a:ext cx="303213" cy="68580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3" name="Line 99">
            <a:extLst>
              <a:ext uri="{FF2B5EF4-FFF2-40B4-BE49-F238E27FC236}">
                <a16:creationId xmlns:a16="http://schemas.microsoft.com/office/drawing/2014/main" xmlns="" id="{37B77CEF-C8B4-4270-2818-27BA62FC3A71}"/>
              </a:ext>
            </a:extLst>
          </p:cNvPr>
          <p:cNvSpPr>
            <a:spLocks noChangeShapeType="1"/>
          </p:cNvSpPr>
          <p:nvPr/>
        </p:nvSpPr>
        <p:spPr bwMode="auto">
          <a:xfrm flipH="1">
            <a:off x="2133600" y="1752600"/>
            <a:ext cx="609600" cy="53340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4" name="Line 100">
            <a:extLst>
              <a:ext uri="{FF2B5EF4-FFF2-40B4-BE49-F238E27FC236}">
                <a16:creationId xmlns:a16="http://schemas.microsoft.com/office/drawing/2014/main" xmlns="" id="{601BB378-B140-6935-2029-AC81EDD2228A}"/>
              </a:ext>
            </a:extLst>
          </p:cNvPr>
          <p:cNvSpPr>
            <a:spLocks noChangeShapeType="1"/>
          </p:cNvSpPr>
          <p:nvPr/>
        </p:nvSpPr>
        <p:spPr bwMode="auto">
          <a:xfrm>
            <a:off x="2971800" y="2362200"/>
            <a:ext cx="304800" cy="53340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5" name="Line 101">
            <a:extLst>
              <a:ext uri="{FF2B5EF4-FFF2-40B4-BE49-F238E27FC236}">
                <a16:creationId xmlns:a16="http://schemas.microsoft.com/office/drawing/2014/main" xmlns="" id="{C108D318-4064-FBF9-C41F-2B84ED31762C}"/>
              </a:ext>
            </a:extLst>
          </p:cNvPr>
          <p:cNvSpPr>
            <a:spLocks noChangeShapeType="1"/>
          </p:cNvSpPr>
          <p:nvPr/>
        </p:nvSpPr>
        <p:spPr bwMode="auto">
          <a:xfrm>
            <a:off x="3429000" y="2971800"/>
            <a:ext cx="152400" cy="60960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6" name="Line 102">
            <a:extLst>
              <a:ext uri="{FF2B5EF4-FFF2-40B4-BE49-F238E27FC236}">
                <a16:creationId xmlns:a16="http://schemas.microsoft.com/office/drawing/2014/main" xmlns="" id="{97F39563-1AA9-D21A-E096-0CFD2EA5348A}"/>
              </a:ext>
            </a:extLst>
          </p:cNvPr>
          <p:cNvSpPr>
            <a:spLocks noChangeShapeType="1"/>
          </p:cNvSpPr>
          <p:nvPr/>
        </p:nvSpPr>
        <p:spPr bwMode="auto">
          <a:xfrm flipH="1" flipV="1">
            <a:off x="3810000" y="2819400"/>
            <a:ext cx="228600" cy="53340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7" name="Line 103">
            <a:extLst>
              <a:ext uri="{FF2B5EF4-FFF2-40B4-BE49-F238E27FC236}">
                <a16:creationId xmlns:a16="http://schemas.microsoft.com/office/drawing/2014/main" xmlns="" id="{611EBC07-A4AA-C90B-89C8-C7A1CD9F57C1}"/>
              </a:ext>
            </a:extLst>
          </p:cNvPr>
          <p:cNvSpPr>
            <a:spLocks noChangeShapeType="1"/>
          </p:cNvSpPr>
          <p:nvPr/>
        </p:nvSpPr>
        <p:spPr bwMode="auto">
          <a:xfrm flipH="1">
            <a:off x="5638800" y="2819400"/>
            <a:ext cx="531813" cy="45720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8" name="Line 104">
            <a:extLst>
              <a:ext uri="{FF2B5EF4-FFF2-40B4-BE49-F238E27FC236}">
                <a16:creationId xmlns:a16="http://schemas.microsoft.com/office/drawing/2014/main" xmlns="" id="{14149D83-035B-DA68-9A16-2CA2156AF28B}"/>
              </a:ext>
            </a:extLst>
          </p:cNvPr>
          <p:cNvSpPr>
            <a:spLocks noChangeShapeType="1"/>
          </p:cNvSpPr>
          <p:nvPr/>
        </p:nvSpPr>
        <p:spPr bwMode="auto">
          <a:xfrm flipV="1">
            <a:off x="5943600" y="3048000"/>
            <a:ext cx="381000" cy="38100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09" name="Line 105">
            <a:extLst>
              <a:ext uri="{FF2B5EF4-FFF2-40B4-BE49-F238E27FC236}">
                <a16:creationId xmlns:a16="http://schemas.microsoft.com/office/drawing/2014/main" xmlns="" id="{93571E99-1CE9-3837-B76E-1B49470FDF92}"/>
              </a:ext>
            </a:extLst>
          </p:cNvPr>
          <p:cNvSpPr>
            <a:spLocks noChangeShapeType="1"/>
          </p:cNvSpPr>
          <p:nvPr/>
        </p:nvSpPr>
        <p:spPr bwMode="auto">
          <a:xfrm>
            <a:off x="6553200" y="2895600"/>
            <a:ext cx="152400" cy="38100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0" name="Line 106">
            <a:extLst>
              <a:ext uri="{FF2B5EF4-FFF2-40B4-BE49-F238E27FC236}">
                <a16:creationId xmlns:a16="http://schemas.microsoft.com/office/drawing/2014/main" xmlns="" id="{AD6DFFE3-4C31-A358-614C-851516F2E2C4}"/>
              </a:ext>
            </a:extLst>
          </p:cNvPr>
          <p:cNvSpPr>
            <a:spLocks noChangeShapeType="1"/>
          </p:cNvSpPr>
          <p:nvPr/>
        </p:nvSpPr>
        <p:spPr bwMode="auto">
          <a:xfrm flipH="1">
            <a:off x="2819400" y="3886200"/>
            <a:ext cx="76200" cy="685800"/>
          </a:xfrm>
          <a:prstGeom prst="line">
            <a:avLst/>
          </a:prstGeom>
          <a:noFill/>
          <a:ln w="50800" cap="rnd">
            <a:solidFill>
              <a:srgbClr val="FF66CC"/>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1" name="Line 107">
            <a:extLst>
              <a:ext uri="{FF2B5EF4-FFF2-40B4-BE49-F238E27FC236}">
                <a16:creationId xmlns:a16="http://schemas.microsoft.com/office/drawing/2014/main" xmlns="" id="{AABE888C-EC63-1C35-882C-A8B4981D6124}"/>
              </a:ext>
            </a:extLst>
          </p:cNvPr>
          <p:cNvSpPr>
            <a:spLocks noChangeShapeType="1"/>
          </p:cNvSpPr>
          <p:nvPr/>
        </p:nvSpPr>
        <p:spPr bwMode="auto">
          <a:xfrm flipV="1">
            <a:off x="2286000" y="4038600"/>
            <a:ext cx="381000" cy="533400"/>
          </a:xfrm>
          <a:prstGeom prst="line">
            <a:avLst/>
          </a:prstGeom>
          <a:noFill/>
          <a:ln w="50800" cap="rnd">
            <a:solidFill>
              <a:srgbClr val="FF66CC"/>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2" name="Line 108">
            <a:extLst>
              <a:ext uri="{FF2B5EF4-FFF2-40B4-BE49-F238E27FC236}">
                <a16:creationId xmlns:a16="http://schemas.microsoft.com/office/drawing/2014/main" xmlns="" id="{773DA467-7425-F1BC-9023-02EE1BCA9B19}"/>
              </a:ext>
            </a:extLst>
          </p:cNvPr>
          <p:cNvSpPr>
            <a:spLocks noChangeShapeType="1"/>
          </p:cNvSpPr>
          <p:nvPr/>
        </p:nvSpPr>
        <p:spPr bwMode="auto">
          <a:xfrm flipH="1">
            <a:off x="1981200" y="3733800"/>
            <a:ext cx="531813" cy="685800"/>
          </a:xfrm>
          <a:prstGeom prst="line">
            <a:avLst/>
          </a:prstGeom>
          <a:noFill/>
          <a:ln w="50800" cap="rnd">
            <a:solidFill>
              <a:srgbClr val="FF66CC"/>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3" name="Line 109">
            <a:extLst>
              <a:ext uri="{FF2B5EF4-FFF2-40B4-BE49-F238E27FC236}">
                <a16:creationId xmlns:a16="http://schemas.microsoft.com/office/drawing/2014/main" xmlns="" id="{090F18FB-8ADA-226A-C1BD-64A9B870DE5F}"/>
              </a:ext>
            </a:extLst>
          </p:cNvPr>
          <p:cNvSpPr>
            <a:spLocks noChangeShapeType="1"/>
          </p:cNvSpPr>
          <p:nvPr/>
        </p:nvSpPr>
        <p:spPr bwMode="auto">
          <a:xfrm flipV="1">
            <a:off x="2819400" y="4724400"/>
            <a:ext cx="76200" cy="685800"/>
          </a:xfrm>
          <a:prstGeom prst="line">
            <a:avLst/>
          </a:prstGeom>
          <a:noFill/>
          <a:ln w="50800" cap="rnd">
            <a:solidFill>
              <a:srgbClr val="FF66CC"/>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4" name="Text Box 110">
            <a:extLst>
              <a:ext uri="{FF2B5EF4-FFF2-40B4-BE49-F238E27FC236}">
                <a16:creationId xmlns:a16="http://schemas.microsoft.com/office/drawing/2014/main" xmlns="" id="{54CE5422-B554-F9A4-5590-C84CD7529AEE}"/>
              </a:ext>
            </a:extLst>
          </p:cNvPr>
          <p:cNvSpPr txBox="1">
            <a:spLocks noChangeArrowheads="1"/>
          </p:cNvSpPr>
          <p:nvPr/>
        </p:nvSpPr>
        <p:spPr bwMode="auto">
          <a:xfrm>
            <a:off x="6629400" y="1066800"/>
            <a:ext cx="13366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bIns="0"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spcBef>
                <a:spcPct val="50000"/>
              </a:spcBef>
            </a:pPr>
            <a:r>
              <a:rPr lang="es-MX" altLang="he-IL" sz="2400">
                <a:solidFill>
                  <a:srgbClr val="1D0401"/>
                </a:solidFill>
                <a:latin typeface="Times New Roman" panose="02020603050405020304" pitchFamily="18" charset="0"/>
                <a:ea typeface="PMingLiU" panose="02020500000000000000" pitchFamily="18" charset="-120"/>
              </a:rPr>
              <a:t>depth = 3</a:t>
            </a:r>
          </a:p>
        </p:txBody>
      </p:sp>
      <p:sp>
        <p:nvSpPr>
          <p:cNvPr id="115" name="Line 111">
            <a:extLst>
              <a:ext uri="{FF2B5EF4-FFF2-40B4-BE49-F238E27FC236}">
                <a16:creationId xmlns:a16="http://schemas.microsoft.com/office/drawing/2014/main" xmlns="" id="{0A9A58A9-C077-97A0-3F17-1837B372B5A8}"/>
              </a:ext>
            </a:extLst>
          </p:cNvPr>
          <p:cNvSpPr>
            <a:spLocks noChangeShapeType="1"/>
          </p:cNvSpPr>
          <p:nvPr/>
        </p:nvSpPr>
        <p:spPr bwMode="auto">
          <a:xfrm>
            <a:off x="6858000" y="1828800"/>
            <a:ext cx="1143000" cy="0"/>
          </a:xfrm>
          <a:prstGeom prst="line">
            <a:avLst/>
          </a:prstGeom>
          <a:noFill/>
          <a:ln w="50800">
            <a:solidFill>
              <a:schemeClr val="accent1"/>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6" name="Line 112">
            <a:extLst>
              <a:ext uri="{FF2B5EF4-FFF2-40B4-BE49-F238E27FC236}">
                <a16:creationId xmlns:a16="http://schemas.microsoft.com/office/drawing/2014/main" xmlns="" id="{1E1493CF-9FC1-587F-FA20-8773FC936718}"/>
              </a:ext>
            </a:extLst>
          </p:cNvPr>
          <p:cNvSpPr>
            <a:spLocks noChangeShapeType="1"/>
          </p:cNvSpPr>
          <p:nvPr/>
        </p:nvSpPr>
        <p:spPr bwMode="auto">
          <a:xfrm>
            <a:off x="6858000" y="2362200"/>
            <a:ext cx="1066800" cy="0"/>
          </a:xfrm>
          <a:prstGeom prst="line">
            <a:avLst/>
          </a:prstGeom>
          <a:noFill/>
          <a:ln w="50800" cap="rnd">
            <a:solidFill>
              <a:srgbClr val="FF66CC"/>
            </a:solidFill>
            <a:prstDash val="sysDot"/>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IN"/>
          </a:p>
        </p:txBody>
      </p:sp>
      <p:sp>
        <p:nvSpPr>
          <p:cNvPr id="117" name="Text Box 113">
            <a:extLst>
              <a:ext uri="{FF2B5EF4-FFF2-40B4-BE49-F238E27FC236}">
                <a16:creationId xmlns:a16="http://schemas.microsoft.com/office/drawing/2014/main" xmlns="" id="{CD44E9E0-90B4-0019-C42A-BBFC1F5BF936}"/>
              </a:ext>
            </a:extLst>
          </p:cNvPr>
          <p:cNvSpPr txBox="1">
            <a:spLocks noChangeArrowheads="1"/>
          </p:cNvSpPr>
          <p:nvPr/>
        </p:nvSpPr>
        <p:spPr bwMode="auto">
          <a:xfrm>
            <a:off x="8382000" y="1600200"/>
            <a:ext cx="336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bIns="0"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es-MX" sz="2400">
                <a:solidFill>
                  <a:srgbClr val="1D0401"/>
                </a:solidFill>
                <a:latin typeface="Times New Roman" panose="02020603050405020304" pitchFamily="18" charset="0"/>
                <a:ea typeface="PMingLiU" panose="02020500000000000000" pitchFamily="18" charset="-120"/>
              </a:rPr>
              <a:t>3</a:t>
            </a:r>
          </a:p>
        </p:txBody>
      </p:sp>
      <p:sp>
        <p:nvSpPr>
          <p:cNvPr id="118" name="Text Box 114">
            <a:extLst>
              <a:ext uri="{FF2B5EF4-FFF2-40B4-BE49-F238E27FC236}">
                <a16:creationId xmlns:a16="http://schemas.microsoft.com/office/drawing/2014/main" xmlns="" id="{AFC7F62C-778C-0F2D-9F42-5EA43C150EC3}"/>
              </a:ext>
            </a:extLst>
          </p:cNvPr>
          <p:cNvSpPr txBox="1">
            <a:spLocks noChangeArrowheads="1"/>
          </p:cNvSpPr>
          <p:nvPr/>
        </p:nvSpPr>
        <p:spPr bwMode="auto">
          <a:xfrm>
            <a:off x="8382000" y="2133600"/>
            <a:ext cx="336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bIns="0"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spcBef>
                <a:spcPct val="50000"/>
              </a:spcBef>
            </a:pPr>
            <a:r>
              <a:rPr lang="en-US" altLang="es-MX" sz="2400">
                <a:solidFill>
                  <a:srgbClr val="1D0401"/>
                </a:solidFill>
                <a:latin typeface="Times New Roman" panose="02020603050405020304" pitchFamily="18" charset="0"/>
                <a:ea typeface="PMingLiU" panose="02020500000000000000" pitchFamily="18" charset="-120"/>
              </a:rPr>
              <a:t>6</a:t>
            </a:r>
          </a:p>
        </p:txBody>
      </p:sp>
    </p:spTree>
    <p:extLst>
      <p:ext uri="{BB962C8B-B14F-4D97-AF65-F5344CB8AC3E}">
        <p14:creationId xmlns:p14="http://schemas.microsoft.com/office/powerpoint/2010/main" val="23739373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B2FDE5-CEBD-5605-98FE-C145D85DBD32}"/>
              </a:ext>
            </a:extLst>
          </p:cNvPr>
          <p:cNvSpPr>
            <a:spLocks noGrp="1"/>
          </p:cNvSpPr>
          <p:nvPr>
            <p:ph type="title"/>
          </p:nvPr>
        </p:nvSpPr>
        <p:spPr/>
        <p:txBody>
          <a:bodyPr/>
          <a:lstStyle/>
          <a:p>
            <a:endParaRPr lang="en-IN"/>
          </a:p>
        </p:txBody>
      </p:sp>
      <p:pic>
        <p:nvPicPr>
          <p:cNvPr id="9" name="Content Placeholder 8">
            <a:extLst>
              <a:ext uri="{FF2B5EF4-FFF2-40B4-BE49-F238E27FC236}">
                <a16:creationId xmlns:a16="http://schemas.microsoft.com/office/drawing/2014/main" xmlns="" id="{7AA0478A-B3AF-9A58-EAF5-0A9EBA55D7B0}"/>
              </a:ext>
            </a:extLst>
          </p:cNvPr>
          <p:cNvPicPr>
            <a:picLocks noGrp="1" noChangeAspect="1"/>
          </p:cNvPicPr>
          <p:nvPr>
            <p:ph idx="1"/>
          </p:nvPr>
        </p:nvPicPr>
        <p:blipFill>
          <a:blip r:embed="rId2"/>
          <a:stretch>
            <a:fillRect/>
          </a:stretch>
        </p:blipFill>
        <p:spPr>
          <a:xfrm>
            <a:off x="0" y="-148245"/>
            <a:ext cx="11579290" cy="6017234"/>
          </a:xfrm>
        </p:spPr>
      </p:pic>
      <p:sp>
        <p:nvSpPr>
          <p:cNvPr id="4" name="Footer Placeholder 3">
            <a:extLst>
              <a:ext uri="{FF2B5EF4-FFF2-40B4-BE49-F238E27FC236}">
                <a16:creationId xmlns:a16="http://schemas.microsoft.com/office/drawing/2014/main" xmlns="" id="{F99DB9AF-0666-7421-E068-C57D9364E32F}"/>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D9449A5C-23AF-8492-4CDA-19230BB277F6}"/>
              </a:ext>
            </a:extLst>
          </p:cNvPr>
          <p:cNvSpPr>
            <a:spLocks noGrp="1"/>
          </p:cNvSpPr>
          <p:nvPr>
            <p:ph type="sldNum" sz="quarter" idx="12"/>
          </p:nvPr>
        </p:nvSpPr>
        <p:spPr/>
        <p:txBody>
          <a:bodyPr/>
          <a:lstStyle/>
          <a:p>
            <a:fld id="{1E81A027-E3F7-4FC9-A752-E855AD4A687D}" type="slidenum">
              <a:rPr lang="en-IN" smtClean="0"/>
              <a:t>78</a:t>
            </a:fld>
            <a:endParaRPr lang="en-IN"/>
          </a:p>
        </p:txBody>
      </p:sp>
    </p:spTree>
    <p:extLst>
      <p:ext uri="{BB962C8B-B14F-4D97-AF65-F5344CB8AC3E}">
        <p14:creationId xmlns:p14="http://schemas.microsoft.com/office/powerpoint/2010/main" val="40127249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997B563-A37D-FE68-F2B5-E2E9EF32E8D6}"/>
              </a:ext>
            </a:extLst>
          </p:cNvPr>
          <p:cNvSpPr>
            <a:spLocks noGrp="1"/>
          </p:cNvSpPr>
          <p:nvPr>
            <p:ph type="title"/>
          </p:nvPr>
        </p:nvSpPr>
        <p:spPr>
          <a:xfrm>
            <a:off x="0" y="263528"/>
            <a:ext cx="6538452" cy="1299802"/>
          </a:xfrm>
        </p:spPr>
        <p:txBody>
          <a:bodyPr>
            <a:normAutofit fontScale="90000"/>
          </a:bodyPr>
          <a:lstStyle/>
          <a:p>
            <a:r>
              <a:rPr lang="en-IN" dirty="0">
                <a:solidFill>
                  <a:srgbClr val="000000"/>
                </a:solidFill>
                <a:effectLst/>
                <a:latin typeface="+mn-lt"/>
              </a:rPr>
              <a:t>Iterative deepening depth-first search</a:t>
            </a:r>
            <a:endParaRPr lang="en-IN" dirty="0">
              <a:latin typeface="+mn-lt"/>
            </a:endParaRPr>
          </a:p>
        </p:txBody>
      </p:sp>
      <p:sp>
        <p:nvSpPr>
          <p:cNvPr id="3" name="Content Placeholder 2">
            <a:extLst>
              <a:ext uri="{FF2B5EF4-FFF2-40B4-BE49-F238E27FC236}">
                <a16:creationId xmlns:a16="http://schemas.microsoft.com/office/drawing/2014/main" xmlns="" id="{6E694DCB-841E-D770-1A3A-D8B20BA39C8A}"/>
              </a:ext>
            </a:extLst>
          </p:cNvPr>
          <p:cNvSpPr>
            <a:spLocks noGrp="1"/>
          </p:cNvSpPr>
          <p:nvPr>
            <p:ph idx="1"/>
          </p:nvPr>
        </p:nvSpPr>
        <p:spPr>
          <a:xfrm>
            <a:off x="186813" y="1845734"/>
            <a:ext cx="11541767" cy="4023360"/>
          </a:xfrm>
        </p:spPr>
        <p:txBody>
          <a:bodyPr>
            <a:normAutofit/>
          </a:bodyPr>
          <a:lstStyle/>
          <a:p>
            <a:r>
              <a:rPr lang="en-US" sz="3200" b="1" dirty="0">
                <a:solidFill>
                  <a:srgbClr val="000000"/>
                </a:solidFill>
                <a:effectLst/>
              </a:rPr>
              <a:t>Iterative deepening search </a:t>
            </a:r>
            <a:r>
              <a:rPr lang="en-US" sz="3200" dirty="0">
                <a:solidFill>
                  <a:srgbClr val="000000"/>
                </a:solidFill>
                <a:effectLst/>
              </a:rPr>
              <a:t>is often used in combination with depth-first tree search, that finds the best depth limit.</a:t>
            </a:r>
          </a:p>
          <a:p>
            <a:r>
              <a:rPr lang="en-US" sz="3200" dirty="0">
                <a:solidFill>
                  <a:srgbClr val="000000"/>
                </a:solidFill>
                <a:effectLst/>
              </a:rPr>
              <a:t>It does this by gradually increasing the limit—first 0, then 1, then 2, and so on until a goal is found.</a:t>
            </a:r>
          </a:p>
          <a:p>
            <a:r>
              <a:rPr lang="en-US" sz="3200" dirty="0">
                <a:solidFill>
                  <a:srgbClr val="000000"/>
                </a:solidFill>
                <a:effectLst/>
              </a:rPr>
              <a:t>This will occur when the depth limit reaches d, the depth of the shallowest goal node</a:t>
            </a:r>
          </a:p>
          <a:p>
            <a:endParaRPr lang="en-IN" sz="3600" dirty="0"/>
          </a:p>
        </p:txBody>
      </p:sp>
      <p:sp>
        <p:nvSpPr>
          <p:cNvPr id="4" name="Footer Placeholder 3">
            <a:extLst>
              <a:ext uri="{FF2B5EF4-FFF2-40B4-BE49-F238E27FC236}">
                <a16:creationId xmlns:a16="http://schemas.microsoft.com/office/drawing/2014/main" xmlns="" id="{B77FCDF1-90FE-EEE7-C271-D0EE50DE7FC7}"/>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B1CA8EA1-EC00-3B54-E4A6-E8DA45AE2941}"/>
              </a:ext>
            </a:extLst>
          </p:cNvPr>
          <p:cNvSpPr>
            <a:spLocks noGrp="1"/>
          </p:cNvSpPr>
          <p:nvPr>
            <p:ph type="sldNum" sz="quarter" idx="12"/>
          </p:nvPr>
        </p:nvSpPr>
        <p:spPr/>
        <p:txBody>
          <a:bodyPr/>
          <a:lstStyle/>
          <a:p>
            <a:fld id="{1E81A027-E3F7-4FC9-A752-E855AD4A687D}" type="slidenum">
              <a:rPr lang="en-IN" smtClean="0"/>
              <a:t>79</a:t>
            </a:fld>
            <a:endParaRPr lang="en-IN"/>
          </a:p>
        </p:txBody>
      </p:sp>
    </p:spTree>
    <p:extLst>
      <p:ext uri="{BB962C8B-B14F-4D97-AF65-F5344CB8AC3E}">
        <p14:creationId xmlns:p14="http://schemas.microsoft.com/office/powerpoint/2010/main" val="10671564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10D918-FAA7-FECE-66F1-2651917B576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E59ABBEE-62C4-3D64-415A-A174174EA758}"/>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4F1A59F9-F1E1-6FDB-385F-E1697680A24F}"/>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B0E03C0C-1565-0799-880D-A6D8E19CA971}"/>
              </a:ext>
            </a:extLst>
          </p:cNvPr>
          <p:cNvSpPr>
            <a:spLocks noGrp="1"/>
          </p:cNvSpPr>
          <p:nvPr>
            <p:ph type="sldNum" sz="quarter" idx="12"/>
          </p:nvPr>
        </p:nvSpPr>
        <p:spPr/>
        <p:txBody>
          <a:bodyPr/>
          <a:lstStyle/>
          <a:p>
            <a:fld id="{1E81A027-E3F7-4FC9-A752-E855AD4A687D}" type="slidenum">
              <a:rPr lang="en-IN" smtClean="0"/>
              <a:t>80</a:t>
            </a:fld>
            <a:endParaRPr lang="en-IN"/>
          </a:p>
        </p:txBody>
      </p:sp>
      <p:pic>
        <p:nvPicPr>
          <p:cNvPr id="6" name="Picture 5">
            <a:extLst>
              <a:ext uri="{FF2B5EF4-FFF2-40B4-BE49-F238E27FC236}">
                <a16:creationId xmlns:a16="http://schemas.microsoft.com/office/drawing/2014/main" xmlns="" id="{23F00EF6-5DA0-8C72-23A2-251866D1656A}"/>
              </a:ext>
            </a:extLst>
          </p:cNvPr>
          <p:cNvPicPr>
            <a:picLocks noChangeAspect="1"/>
          </p:cNvPicPr>
          <p:nvPr/>
        </p:nvPicPr>
        <p:blipFill>
          <a:blip r:embed="rId2"/>
          <a:stretch>
            <a:fillRect/>
          </a:stretch>
        </p:blipFill>
        <p:spPr>
          <a:xfrm>
            <a:off x="167951" y="152465"/>
            <a:ext cx="12160196" cy="6672445"/>
          </a:xfrm>
          <a:prstGeom prst="rect">
            <a:avLst/>
          </a:prstGeom>
        </p:spPr>
      </p:pic>
    </p:spTree>
    <p:extLst>
      <p:ext uri="{BB962C8B-B14F-4D97-AF65-F5344CB8AC3E}">
        <p14:creationId xmlns:p14="http://schemas.microsoft.com/office/powerpoint/2010/main" val="24445817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DA4AC2-1F3A-76D8-7122-2AF5C677322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D5AF525A-31F3-B6DD-FD6D-3B8FEE766711}"/>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E043131F-47CE-96BC-1315-02C24EA9350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A77F809D-E53C-B8E8-8790-AB895253DA7A}"/>
              </a:ext>
            </a:extLst>
          </p:cNvPr>
          <p:cNvSpPr>
            <a:spLocks noGrp="1"/>
          </p:cNvSpPr>
          <p:nvPr>
            <p:ph type="sldNum" sz="quarter" idx="12"/>
          </p:nvPr>
        </p:nvSpPr>
        <p:spPr/>
        <p:txBody>
          <a:bodyPr/>
          <a:lstStyle/>
          <a:p>
            <a:fld id="{1E81A027-E3F7-4FC9-A752-E855AD4A687D}" type="slidenum">
              <a:rPr lang="en-IN" smtClean="0"/>
              <a:t>81</a:t>
            </a:fld>
            <a:endParaRPr lang="en-IN"/>
          </a:p>
        </p:txBody>
      </p:sp>
      <p:pic>
        <p:nvPicPr>
          <p:cNvPr id="7" name="Picture 6">
            <a:extLst>
              <a:ext uri="{FF2B5EF4-FFF2-40B4-BE49-F238E27FC236}">
                <a16:creationId xmlns:a16="http://schemas.microsoft.com/office/drawing/2014/main" xmlns="" id="{38515884-07C4-480F-70C8-F13BEF29B190}"/>
              </a:ext>
            </a:extLst>
          </p:cNvPr>
          <p:cNvPicPr>
            <a:picLocks noChangeAspect="1"/>
          </p:cNvPicPr>
          <p:nvPr/>
        </p:nvPicPr>
        <p:blipFill>
          <a:blip r:embed="rId2"/>
          <a:stretch>
            <a:fillRect/>
          </a:stretch>
        </p:blipFill>
        <p:spPr>
          <a:xfrm>
            <a:off x="223934" y="1560603"/>
            <a:ext cx="11821885" cy="3780319"/>
          </a:xfrm>
          <a:prstGeom prst="rect">
            <a:avLst/>
          </a:prstGeom>
        </p:spPr>
      </p:pic>
    </p:spTree>
    <p:extLst>
      <p:ext uri="{BB962C8B-B14F-4D97-AF65-F5344CB8AC3E}">
        <p14:creationId xmlns:p14="http://schemas.microsoft.com/office/powerpoint/2010/main" val="8709949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DA1FB8CA-74DE-4BFE-2BCB-2348E6EEA11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2226C92B-1853-1ACC-9C54-EC6643A3B46A}"/>
              </a:ext>
            </a:extLst>
          </p:cNvPr>
          <p:cNvSpPr>
            <a:spLocks noGrp="1"/>
          </p:cNvSpPr>
          <p:nvPr>
            <p:ph type="sldNum" sz="quarter" idx="12"/>
          </p:nvPr>
        </p:nvSpPr>
        <p:spPr/>
        <p:txBody>
          <a:bodyPr/>
          <a:lstStyle/>
          <a:p>
            <a:fld id="{1E81A027-E3F7-4FC9-A752-E855AD4A687D}" type="slidenum">
              <a:rPr lang="en-IN" smtClean="0"/>
              <a:t>82</a:t>
            </a:fld>
            <a:endParaRPr lang="en-IN"/>
          </a:p>
        </p:txBody>
      </p:sp>
      <p:sp>
        <p:nvSpPr>
          <p:cNvPr id="3" name="Content Placeholder 2">
            <a:extLst>
              <a:ext uri="{FF2B5EF4-FFF2-40B4-BE49-F238E27FC236}">
                <a16:creationId xmlns:a16="http://schemas.microsoft.com/office/drawing/2014/main" xmlns="" id="{55909095-2B80-1646-2D8A-33DC6564B5D1}"/>
              </a:ext>
            </a:extLst>
          </p:cNvPr>
          <p:cNvSpPr>
            <a:spLocks noGrp="1"/>
          </p:cNvSpPr>
          <p:nvPr>
            <p:ph idx="4294967295"/>
          </p:nvPr>
        </p:nvSpPr>
        <p:spPr>
          <a:xfrm>
            <a:off x="294967" y="304801"/>
            <a:ext cx="11474245" cy="5564188"/>
          </a:xfrm>
        </p:spPr>
        <p:txBody>
          <a:bodyPr>
            <a:normAutofit lnSpcReduction="10000"/>
          </a:bodyPr>
          <a:lstStyle/>
          <a:p>
            <a:r>
              <a:rPr lang="en-US" sz="2400" dirty="0">
                <a:solidFill>
                  <a:srgbClr val="000000"/>
                </a:solidFill>
                <a:effectLst/>
              </a:rPr>
              <a:t>Iterative deepening search may seem wasteful because states are generated multiple times but it is </a:t>
            </a:r>
            <a:r>
              <a:rPr lang="en-US" sz="2400" dirty="0" err="1">
                <a:solidFill>
                  <a:srgbClr val="000000"/>
                </a:solidFill>
                <a:effectLst/>
              </a:rPr>
              <a:t>is</a:t>
            </a:r>
            <a:r>
              <a:rPr lang="en-US" sz="2400" dirty="0">
                <a:solidFill>
                  <a:srgbClr val="000000"/>
                </a:solidFill>
                <a:effectLst/>
              </a:rPr>
              <a:t> not too costly. </a:t>
            </a:r>
          </a:p>
          <a:p>
            <a:pPr lvl="1"/>
            <a:r>
              <a:rPr lang="en-US" sz="2000" dirty="0">
                <a:solidFill>
                  <a:srgbClr val="000000"/>
                </a:solidFill>
                <a:effectLst/>
              </a:rPr>
              <a:t>Because search tree with the same (or nearly the same) branching factor at each level, most of the nodes are in the bottom level, so it does not matter much that the upper levels are generated multiple times</a:t>
            </a:r>
          </a:p>
          <a:p>
            <a:r>
              <a:rPr lang="en-US" sz="2400" dirty="0">
                <a:solidFill>
                  <a:srgbClr val="000000"/>
                </a:solidFill>
                <a:effectLst/>
              </a:rPr>
              <a:t>the nodes on the bottom level (depth d) are generated once, those on the next-to-bottom level are generated twice, and so on, up to the children of the root, which are generated d times. </a:t>
            </a:r>
          </a:p>
          <a:p>
            <a:r>
              <a:rPr lang="en-US" sz="2400" dirty="0">
                <a:solidFill>
                  <a:srgbClr val="000000"/>
                </a:solidFill>
                <a:effectLst/>
              </a:rPr>
              <a:t>So the total number of nodes generated in the worst case is </a:t>
            </a:r>
            <a:endParaRPr lang="en-US" sz="2800" dirty="0"/>
          </a:p>
          <a:p>
            <a:pPr lvl="1"/>
            <a:r>
              <a:rPr lang="en-US" sz="2000" dirty="0">
                <a:solidFill>
                  <a:srgbClr val="000000"/>
                </a:solidFill>
                <a:effectLst/>
              </a:rPr>
              <a:t>N(IDS)=(d)b + (d − 1)b</a:t>
            </a:r>
            <a:r>
              <a:rPr lang="en-US" sz="2000" baseline="30000" dirty="0">
                <a:solidFill>
                  <a:srgbClr val="000000"/>
                </a:solidFill>
                <a:effectLst/>
              </a:rPr>
              <a:t>2</a:t>
            </a:r>
            <a:r>
              <a:rPr lang="en-US" sz="2000" dirty="0">
                <a:solidFill>
                  <a:srgbClr val="000000"/>
                </a:solidFill>
                <a:effectLst/>
              </a:rPr>
              <a:t> + ··· + (1)b</a:t>
            </a:r>
            <a:r>
              <a:rPr lang="en-US" sz="2000" baseline="30000" dirty="0">
                <a:solidFill>
                  <a:srgbClr val="000000"/>
                </a:solidFill>
                <a:effectLst/>
              </a:rPr>
              <a:t>d</a:t>
            </a:r>
            <a:r>
              <a:rPr lang="en-US" sz="2000" dirty="0">
                <a:solidFill>
                  <a:srgbClr val="000000"/>
                </a:solidFill>
                <a:effectLst/>
              </a:rPr>
              <a:t> , </a:t>
            </a:r>
            <a:endParaRPr lang="en-US" sz="2400" dirty="0"/>
          </a:p>
          <a:p>
            <a:r>
              <a:rPr lang="en-US" sz="2400" dirty="0">
                <a:solidFill>
                  <a:srgbClr val="000000"/>
                </a:solidFill>
                <a:effectLst/>
              </a:rPr>
              <a:t>which gives a time complexity of O(b</a:t>
            </a:r>
            <a:r>
              <a:rPr lang="en-US" sz="2400" baseline="30000" dirty="0">
                <a:solidFill>
                  <a:srgbClr val="000000"/>
                </a:solidFill>
                <a:effectLst/>
              </a:rPr>
              <a:t>d</a:t>
            </a:r>
            <a:r>
              <a:rPr lang="en-US" sz="2400" dirty="0">
                <a:solidFill>
                  <a:srgbClr val="000000"/>
                </a:solidFill>
                <a:effectLst/>
              </a:rPr>
              <a:t>) asymptotically the same as breadth-first search. </a:t>
            </a:r>
          </a:p>
          <a:p>
            <a:r>
              <a:rPr lang="en-US" sz="2400" dirty="0">
                <a:solidFill>
                  <a:srgbClr val="000000"/>
                </a:solidFill>
                <a:effectLst/>
              </a:rPr>
              <a:t>Iterative deepening search is </a:t>
            </a:r>
            <a:r>
              <a:rPr lang="en-US" sz="2400" dirty="0">
                <a:solidFill>
                  <a:srgbClr val="0070C0"/>
                </a:solidFill>
                <a:effectLst/>
              </a:rPr>
              <a:t>analogous to breadth-first search</a:t>
            </a:r>
            <a:r>
              <a:rPr lang="en-US" sz="2400" dirty="0">
                <a:solidFill>
                  <a:srgbClr val="000000"/>
                </a:solidFill>
                <a:effectLst/>
              </a:rPr>
              <a:t> in that </a:t>
            </a:r>
            <a:r>
              <a:rPr lang="en-US" sz="2400" dirty="0">
                <a:solidFill>
                  <a:srgbClr val="0070C0"/>
                </a:solidFill>
                <a:effectLst/>
              </a:rPr>
              <a:t>it explores a complete layer of new nodes at each iteration </a:t>
            </a:r>
            <a:r>
              <a:rPr lang="en-US" sz="2400" dirty="0">
                <a:solidFill>
                  <a:srgbClr val="000000"/>
                </a:solidFill>
                <a:effectLst/>
              </a:rPr>
              <a:t>before going on to the next layer</a:t>
            </a:r>
          </a:p>
          <a:p>
            <a:pPr algn="ctr"/>
            <a:r>
              <a:rPr lang="en-US" sz="2400" i="1" dirty="0">
                <a:solidFill>
                  <a:srgbClr val="FF0000"/>
                </a:solidFill>
                <a:effectLst/>
              </a:rPr>
              <a:t>iterative deepening is the preferred uninformed search method when the search space is large and the depth of the solution is not known</a:t>
            </a:r>
            <a:endParaRPr lang="en-US" sz="2800" dirty="0">
              <a:solidFill>
                <a:srgbClr val="FF0000"/>
              </a:solidFill>
            </a:endParaRPr>
          </a:p>
        </p:txBody>
      </p:sp>
    </p:spTree>
    <p:extLst>
      <p:ext uri="{BB962C8B-B14F-4D97-AF65-F5344CB8AC3E}">
        <p14:creationId xmlns:p14="http://schemas.microsoft.com/office/powerpoint/2010/main" val="29600029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0C21A5-2DEC-1D01-234F-1BFCF26DEA1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7813235-6FCA-DF26-B8B1-916B4E38EFC0}"/>
              </a:ext>
            </a:extLst>
          </p:cNvPr>
          <p:cNvSpPr>
            <a:spLocks noGrp="1"/>
          </p:cNvSpPr>
          <p:nvPr>
            <p:ph idx="1"/>
          </p:nvPr>
        </p:nvSpPr>
        <p:spPr/>
        <p:txBody>
          <a:bodyPr/>
          <a:lstStyle/>
          <a:p>
            <a:pPr eaLnBrk="1" hangingPunct="1"/>
            <a:r>
              <a:rPr lang="en-US" altLang="en-US" u="sng" dirty="0">
                <a:solidFill>
                  <a:srgbClr val="0C0C12"/>
                </a:solidFill>
              </a:rPr>
              <a:t>Complete?</a:t>
            </a:r>
            <a:r>
              <a:rPr lang="en-US" altLang="en-US" dirty="0">
                <a:solidFill>
                  <a:srgbClr val="0C0C12"/>
                </a:solidFill>
              </a:rPr>
              <a:t> Yes
</a:t>
            </a:r>
          </a:p>
          <a:p>
            <a:pPr eaLnBrk="1" hangingPunct="1"/>
            <a:r>
              <a:rPr lang="en-US" altLang="en-US" u="sng" dirty="0">
                <a:solidFill>
                  <a:srgbClr val="0C0C12"/>
                </a:solidFill>
              </a:rPr>
              <a:t>Time?</a:t>
            </a:r>
            <a:r>
              <a:rPr lang="en-US" altLang="en-US" dirty="0">
                <a:solidFill>
                  <a:srgbClr val="0C0C12"/>
                </a:solidFill>
              </a:rPr>
              <a:t> </a:t>
            </a:r>
            <a:r>
              <a:rPr lang="en-US" altLang="en-US" i="1" dirty="0">
                <a:solidFill>
                  <a:srgbClr val="0C0C12"/>
                </a:solidFill>
              </a:rPr>
              <a:t>(d+1)b</a:t>
            </a:r>
            <a:r>
              <a:rPr lang="en-US" altLang="en-US" i="1" baseline="30000" dirty="0">
                <a:solidFill>
                  <a:srgbClr val="0C0C12"/>
                </a:solidFill>
              </a:rPr>
              <a:t>0</a:t>
            </a:r>
            <a:r>
              <a:rPr lang="en-US" altLang="en-US" i="1" dirty="0">
                <a:solidFill>
                  <a:srgbClr val="0C0C12"/>
                </a:solidFill>
              </a:rPr>
              <a:t> + d b</a:t>
            </a:r>
            <a:r>
              <a:rPr lang="en-US" altLang="en-US" i="1" baseline="30000" dirty="0">
                <a:solidFill>
                  <a:srgbClr val="0C0C12"/>
                </a:solidFill>
              </a:rPr>
              <a:t>1</a:t>
            </a:r>
            <a:r>
              <a:rPr lang="en-US" altLang="en-US" i="1" dirty="0">
                <a:solidFill>
                  <a:srgbClr val="0C0C12"/>
                </a:solidFill>
              </a:rPr>
              <a:t> + (d-1)b</a:t>
            </a:r>
            <a:r>
              <a:rPr lang="en-US" altLang="en-US" i="1" baseline="30000" dirty="0">
                <a:solidFill>
                  <a:srgbClr val="0C0C12"/>
                </a:solidFill>
              </a:rPr>
              <a:t>2</a:t>
            </a:r>
            <a:r>
              <a:rPr lang="en-US" altLang="en-US" i="1" dirty="0">
                <a:solidFill>
                  <a:srgbClr val="0C0C12"/>
                </a:solidFill>
              </a:rPr>
              <a:t> + </a:t>
            </a:r>
            <a:r>
              <a:rPr lang="en-US" altLang="en-US" i="1" dirty="0">
                <a:solidFill>
                  <a:srgbClr val="0C0C12"/>
                </a:solidFill>
                <a:latin typeface="Times New Roman" panose="02020603050405020304" pitchFamily="18" charset="0"/>
              </a:rPr>
              <a:t>…</a:t>
            </a:r>
            <a:r>
              <a:rPr lang="en-US" altLang="en-US" i="1" dirty="0">
                <a:solidFill>
                  <a:srgbClr val="0C0C12"/>
                </a:solidFill>
              </a:rPr>
              <a:t> + b</a:t>
            </a:r>
            <a:r>
              <a:rPr lang="en-US" altLang="en-US" i="1" baseline="30000" dirty="0">
                <a:solidFill>
                  <a:srgbClr val="0C0C12"/>
                </a:solidFill>
              </a:rPr>
              <a:t>d</a:t>
            </a:r>
            <a:r>
              <a:rPr lang="en-US" altLang="en-US" i="1" dirty="0">
                <a:solidFill>
                  <a:srgbClr val="0C0C12"/>
                </a:solidFill>
              </a:rPr>
              <a:t> = O(b</a:t>
            </a:r>
            <a:r>
              <a:rPr lang="en-US" altLang="en-US" i="1" baseline="30000" dirty="0">
                <a:solidFill>
                  <a:srgbClr val="0C0C12"/>
                </a:solidFill>
              </a:rPr>
              <a:t>d</a:t>
            </a:r>
            <a:r>
              <a:rPr lang="en-US" altLang="en-US" i="1" dirty="0">
                <a:solidFill>
                  <a:srgbClr val="0C0C12"/>
                </a:solidFill>
              </a:rPr>
              <a:t>)</a:t>
            </a:r>
            <a:r>
              <a:rPr lang="en-US" altLang="en-US" dirty="0">
                <a:solidFill>
                  <a:srgbClr val="0C0C12"/>
                </a:solidFill>
              </a:rPr>
              <a:t>
</a:t>
            </a:r>
          </a:p>
          <a:p>
            <a:pPr eaLnBrk="1" hangingPunct="1"/>
            <a:r>
              <a:rPr lang="en-US" altLang="en-US" u="sng" dirty="0">
                <a:solidFill>
                  <a:srgbClr val="0C0C12"/>
                </a:solidFill>
              </a:rPr>
              <a:t>Space?</a:t>
            </a:r>
            <a:r>
              <a:rPr lang="en-US" altLang="en-US" dirty="0">
                <a:solidFill>
                  <a:srgbClr val="0C0C12"/>
                </a:solidFill>
              </a:rPr>
              <a:t> </a:t>
            </a:r>
            <a:r>
              <a:rPr lang="en-US" altLang="en-US" i="1" dirty="0">
                <a:solidFill>
                  <a:srgbClr val="0C0C12"/>
                </a:solidFill>
              </a:rPr>
              <a:t>O(bd)</a:t>
            </a:r>
            <a:r>
              <a:rPr lang="en-US" altLang="en-US" dirty="0">
                <a:solidFill>
                  <a:srgbClr val="0C0C12"/>
                </a:solidFill>
              </a:rPr>
              <a:t>
</a:t>
            </a:r>
          </a:p>
          <a:p>
            <a:pPr eaLnBrk="1" hangingPunct="1"/>
            <a:r>
              <a:rPr lang="en-US" altLang="en-US" u="sng" dirty="0">
                <a:solidFill>
                  <a:srgbClr val="0C0C12"/>
                </a:solidFill>
              </a:rPr>
              <a:t>Optimal?</a:t>
            </a:r>
            <a:r>
              <a:rPr lang="en-US" altLang="en-US" dirty="0">
                <a:solidFill>
                  <a:srgbClr val="0C0C12"/>
                </a:solidFill>
              </a:rPr>
              <a:t> Yes, if step cost = 1</a:t>
            </a:r>
          </a:p>
          <a:p>
            <a:pPr eaLnBrk="1" hangingPunct="1"/>
            <a:endParaRPr lang="en-US" altLang="en-US" dirty="0">
              <a:solidFill>
                <a:srgbClr val="0C0C12"/>
              </a:solidFill>
            </a:endParaRPr>
          </a:p>
          <a:p>
            <a:endParaRPr lang="en-IN" dirty="0"/>
          </a:p>
        </p:txBody>
      </p:sp>
      <p:sp>
        <p:nvSpPr>
          <p:cNvPr id="4" name="Footer Placeholder 3">
            <a:extLst>
              <a:ext uri="{FF2B5EF4-FFF2-40B4-BE49-F238E27FC236}">
                <a16:creationId xmlns:a16="http://schemas.microsoft.com/office/drawing/2014/main" xmlns="" id="{1FA7CFF7-01D0-8E87-7586-2B3602651DD4}"/>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BF332A67-17DF-404C-3324-1589462501DF}"/>
              </a:ext>
            </a:extLst>
          </p:cNvPr>
          <p:cNvSpPr>
            <a:spLocks noGrp="1"/>
          </p:cNvSpPr>
          <p:nvPr>
            <p:ph type="sldNum" sz="quarter" idx="12"/>
          </p:nvPr>
        </p:nvSpPr>
        <p:spPr/>
        <p:txBody>
          <a:bodyPr/>
          <a:lstStyle/>
          <a:p>
            <a:fld id="{1E81A027-E3F7-4FC9-A752-E855AD4A687D}" type="slidenum">
              <a:rPr lang="en-IN" smtClean="0"/>
              <a:t>83</a:t>
            </a:fld>
            <a:endParaRPr lang="en-IN"/>
          </a:p>
        </p:txBody>
      </p:sp>
    </p:spTree>
    <p:extLst>
      <p:ext uri="{BB962C8B-B14F-4D97-AF65-F5344CB8AC3E}">
        <p14:creationId xmlns:p14="http://schemas.microsoft.com/office/powerpoint/2010/main" val="423997982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220B59-F1F7-A07E-5569-1B056129397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F90A74C9-FB39-A8A9-767A-5A49547E2B54}"/>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xmlns="" id="{D932732D-B65A-F455-1A72-F4FA020B7C44}"/>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D786CAD7-E4A1-718B-A7B1-209E4C5A3CBB}"/>
              </a:ext>
            </a:extLst>
          </p:cNvPr>
          <p:cNvSpPr>
            <a:spLocks noGrp="1"/>
          </p:cNvSpPr>
          <p:nvPr>
            <p:ph type="sldNum" sz="quarter" idx="12"/>
          </p:nvPr>
        </p:nvSpPr>
        <p:spPr/>
        <p:txBody>
          <a:bodyPr/>
          <a:lstStyle/>
          <a:p>
            <a:fld id="{1E81A027-E3F7-4FC9-A752-E855AD4A687D}" type="slidenum">
              <a:rPr lang="en-IN" smtClean="0"/>
              <a:t>84</a:t>
            </a:fld>
            <a:endParaRPr lang="en-IN"/>
          </a:p>
        </p:txBody>
      </p:sp>
      <p:pic>
        <p:nvPicPr>
          <p:cNvPr id="7" name="Picture 6">
            <a:extLst>
              <a:ext uri="{FF2B5EF4-FFF2-40B4-BE49-F238E27FC236}">
                <a16:creationId xmlns:a16="http://schemas.microsoft.com/office/drawing/2014/main" xmlns="" id="{D3D4933D-C3D8-43F6-0090-8182F79735AA}"/>
              </a:ext>
            </a:extLst>
          </p:cNvPr>
          <p:cNvPicPr>
            <a:picLocks noChangeAspect="1"/>
          </p:cNvPicPr>
          <p:nvPr/>
        </p:nvPicPr>
        <p:blipFill>
          <a:blip r:embed="rId2"/>
          <a:stretch>
            <a:fillRect/>
          </a:stretch>
        </p:blipFill>
        <p:spPr>
          <a:xfrm>
            <a:off x="348061" y="1255043"/>
            <a:ext cx="11022763" cy="4023360"/>
          </a:xfrm>
          <a:prstGeom prst="rect">
            <a:avLst/>
          </a:prstGeom>
        </p:spPr>
      </p:pic>
      <p:sp>
        <p:nvSpPr>
          <p:cNvPr id="8" name="Rectangle 7">
            <a:extLst>
              <a:ext uri="{FF2B5EF4-FFF2-40B4-BE49-F238E27FC236}">
                <a16:creationId xmlns:a16="http://schemas.microsoft.com/office/drawing/2014/main" xmlns="" id="{3CABF91B-CC33-34F1-6520-ED5C0589BF93}"/>
              </a:ext>
            </a:extLst>
          </p:cNvPr>
          <p:cNvSpPr/>
          <p:nvPr/>
        </p:nvSpPr>
        <p:spPr>
          <a:xfrm>
            <a:off x="9399639" y="1465006"/>
            <a:ext cx="1494503" cy="2104104"/>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5721921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8F114E-E626-16C7-E9FE-810BE02903F7}"/>
              </a:ext>
            </a:extLst>
          </p:cNvPr>
          <p:cNvSpPr>
            <a:spLocks noGrp="1"/>
          </p:cNvSpPr>
          <p:nvPr>
            <p:ph type="title"/>
          </p:nvPr>
        </p:nvSpPr>
        <p:spPr/>
        <p:txBody>
          <a:bodyPr>
            <a:normAutofit/>
          </a:bodyPr>
          <a:lstStyle/>
          <a:p>
            <a:r>
              <a:rPr lang="en-IN" dirty="0">
                <a:solidFill>
                  <a:srgbClr val="000000"/>
                </a:solidFill>
                <a:effectLst/>
              </a:rPr>
              <a:t>INFORMED (HEURISTIC) SEARCH STRATEGIES</a:t>
            </a:r>
            <a:endParaRPr lang="en-IN" dirty="0"/>
          </a:p>
        </p:txBody>
      </p:sp>
      <p:sp>
        <p:nvSpPr>
          <p:cNvPr id="3" name="Content Placeholder 2">
            <a:extLst>
              <a:ext uri="{FF2B5EF4-FFF2-40B4-BE49-F238E27FC236}">
                <a16:creationId xmlns:a16="http://schemas.microsoft.com/office/drawing/2014/main" xmlns="" id="{36F81DC9-204D-3949-ED00-302E5E571B67}"/>
              </a:ext>
            </a:extLst>
          </p:cNvPr>
          <p:cNvSpPr>
            <a:spLocks noGrp="1"/>
          </p:cNvSpPr>
          <p:nvPr>
            <p:ph idx="1"/>
          </p:nvPr>
        </p:nvSpPr>
        <p:spPr/>
        <p:txBody>
          <a:bodyPr>
            <a:normAutofit/>
          </a:bodyPr>
          <a:lstStyle/>
          <a:p>
            <a:r>
              <a:rPr lang="en-US" sz="2400" dirty="0">
                <a:solidFill>
                  <a:srgbClr val="000000"/>
                </a:solidFill>
                <a:effectLst/>
              </a:rPr>
              <a:t>problem-specific knowledge beyond the definition of the problem itself</a:t>
            </a:r>
          </a:p>
          <a:p>
            <a:r>
              <a:rPr lang="en-US" sz="2400" dirty="0">
                <a:solidFill>
                  <a:srgbClr val="000000"/>
                </a:solidFill>
                <a:effectLst/>
              </a:rPr>
              <a:t>can find solutions more efficiently than an uninformed strategy</a:t>
            </a:r>
            <a:endParaRPr lang="en-IN" sz="2800" dirty="0"/>
          </a:p>
        </p:txBody>
      </p:sp>
      <p:sp>
        <p:nvSpPr>
          <p:cNvPr id="4" name="Footer Placeholder 3">
            <a:extLst>
              <a:ext uri="{FF2B5EF4-FFF2-40B4-BE49-F238E27FC236}">
                <a16:creationId xmlns:a16="http://schemas.microsoft.com/office/drawing/2014/main" xmlns="" id="{86A86800-A967-DEE7-0A08-DAA018C730E6}"/>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407B7FE7-025E-BB6E-C438-4034DCB08457}"/>
              </a:ext>
            </a:extLst>
          </p:cNvPr>
          <p:cNvSpPr>
            <a:spLocks noGrp="1"/>
          </p:cNvSpPr>
          <p:nvPr>
            <p:ph type="sldNum" sz="quarter" idx="12"/>
          </p:nvPr>
        </p:nvSpPr>
        <p:spPr/>
        <p:txBody>
          <a:bodyPr/>
          <a:lstStyle/>
          <a:p>
            <a:fld id="{1E81A027-E3F7-4FC9-A752-E855AD4A687D}" type="slidenum">
              <a:rPr lang="en-IN" smtClean="0"/>
              <a:t>85</a:t>
            </a:fld>
            <a:endParaRPr lang="en-IN"/>
          </a:p>
        </p:txBody>
      </p:sp>
    </p:spTree>
    <p:extLst>
      <p:ext uri="{BB962C8B-B14F-4D97-AF65-F5344CB8AC3E}">
        <p14:creationId xmlns:p14="http://schemas.microsoft.com/office/powerpoint/2010/main" val="60313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FE7383-3FBA-FDA6-6ECD-BAF271C4A6E9}"/>
              </a:ext>
            </a:extLst>
          </p:cNvPr>
          <p:cNvSpPr>
            <a:spLocks noGrp="1"/>
          </p:cNvSpPr>
          <p:nvPr>
            <p:ph type="title"/>
          </p:nvPr>
        </p:nvSpPr>
        <p:spPr/>
        <p:txBody>
          <a:bodyPr>
            <a:normAutofit/>
          </a:bodyPr>
          <a:lstStyle/>
          <a:p>
            <a:r>
              <a:rPr lang="en-IN" dirty="0">
                <a:solidFill>
                  <a:srgbClr val="000000"/>
                </a:solidFill>
                <a:effectLst/>
                <a:latin typeface="+mn-lt"/>
              </a:rPr>
              <a:t>BEST-FIRST SEARCH</a:t>
            </a:r>
            <a:endParaRPr lang="en-IN" dirty="0">
              <a:latin typeface="+mn-lt"/>
            </a:endParaRPr>
          </a:p>
        </p:txBody>
      </p:sp>
      <p:sp>
        <p:nvSpPr>
          <p:cNvPr id="3" name="Content Placeholder 2">
            <a:extLst>
              <a:ext uri="{FF2B5EF4-FFF2-40B4-BE49-F238E27FC236}">
                <a16:creationId xmlns:a16="http://schemas.microsoft.com/office/drawing/2014/main" xmlns="" id="{2CB99271-A915-38B8-3EE4-6E122DFC2133}"/>
              </a:ext>
            </a:extLst>
          </p:cNvPr>
          <p:cNvSpPr>
            <a:spLocks noGrp="1"/>
          </p:cNvSpPr>
          <p:nvPr>
            <p:ph idx="1"/>
          </p:nvPr>
        </p:nvSpPr>
        <p:spPr>
          <a:xfrm>
            <a:off x="1097280" y="1737360"/>
            <a:ext cx="10058400" cy="4131734"/>
          </a:xfrm>
        </p:spPr>
        <p:txBody>
          <a:bodyPr>
            <a:noAutofit/>
          </a:bodyPr>
          <a:lstStyle/>
          <a:p>
            <a:r>
              <a:rPr lang="en-US" sz="2400" dirty="0">
                <a:solidFill>
                  <a:srgbClr val="000000"/>
                </a:solidFill>
                <a:effectLst/>
              </a:rPr>
              <a:t>Best-first search is an instance of the general TREE-SEARCH or GRAPH-SEARCH algorithm in which a node is selected for expansion based on an </a:t>
            </a:r>
            <a:r>
              <a:rPr lang="en-US" sz="2400" b="1" dirty="0">
                <a:solidFill>
                  <a:srgbClr val="000000"/>
                </a:solidFill>
                <a:effectLst/>
              </a:rPr>
              <a:t>evaluation function</a:t>
            </a:r>
            <a:r>
              <a:rPr lang="en-US" sz="2400" dirty="0">
                <a:solidFill>
                  <a:srgbClr val="000000"/>
                </a:solidFill>
                <a:effectLst/>
              </a:rPr>
              <a:t>, f(n). </a:t>
            </a:r>
          </a:p>
          <a:p>
            <a:r>
              <a:rPr lang="en-US" sz="2400" dirty="0">
                <a:solidFill>
                  <a:srgbClr val="000000"/>
                </a:solidFill>
                <a:effectLst/>
              </a:rPr>
              <a:t>The evaluation function is construed as a cost estimate, so the node with the </a:t>
            </a:r>
            <a:r>
              <a:rPr lang="en-US" sz="2400" i="1" dirty="0">
                <a:solidFill>
                  <a:srgbClr val="000000"/>
                </a:solidFill>
                <a:effectLst/>
              </a:rPr>
              <a:t>lowest </a:t>
            </a:r>
            <a:r>
              <a:rPr lang="en-US" sz="2400" dirty="0">
                <a:solidFill>
                  <a:srgbClr val="000000"/>
                </a:solidFill>
                <a:effectLst/>
              </a:rPr>
              <a:t>evaluation is expanded first. </a:t>
            </a:r>
          </a:p>
          <a:p>
            <a:r>
              <a:rPr lang="en-US" sz="2400" dirty="0">
                <a:solidFill>
                  <a:srgbClr val="000000"/>
                </a:solidFill>
                <a:effectLst/>
              </a:rPr>
              <a:t>The implementation of best-first graph search is identical to that for uniform-cost search except for the use of </a:t>
            </a:r>
            <a:r>
              <a:rPr lang="en-US" sz="2400" i="1" dirty="0">
                <a:solidFill>
                  <a:srgbClr val="000000"/>
                </a:solidFill>
                <a:effectLst/>
              </a:rPr>
              <a:t>f</a:t>
            </a:r>
            <a:r>
              <a:rPr lang="en-US" sz="2400" dirty="0">
                <a:solidFill>
                  <a:srgbClr val="000000"/>
                </a:solidFill>
                <a:effectLst/>
              </a:rPr>
              <a:t> instead of </a:t>
            </a:r>
            <a:r>
              <a:rPr lang="en-US" sz="2400" i="1" dirty="0">
                <a:solidFill>
                  <a:srgbClr val="000000"/>
                </a:solidFill>
                <a:effectLst/>
              </a:rPr>
              <a:t>g</a:t>
            </a:r>
            <a:r>
              <a:rPr lang="en-US" sz="2400" dirty="0">
                <a:solidFill>
                  <a:srgbClr val="000000"/>
                </a:solidFill>
                <a:effectLst/>
              </a:rPr>
              <a:t> to order the priority queue</a:t>
            </a:r>
          </a:p>
          <a:p>
            <a:r>
              <a:rPr lang="en-US" sz="2400" dirty="0">
                <a:solidFill>
                  <a:srgbClr val="000000"/>
                </a:solidFill>
                <a:effectLst/>
              </a:rPr>
              <a:t>The choice of </a:t>
            </a:r>
            <a:r>
              <a:rPr lang="en-US" sz="2400" i="1" dirty="0">
                <a:solidFill>
                  <a:srgbClr val="000000"/>
                </a:solidFill>
                <a:effectLst/>
              </a:rPr>
              <a:t>f</a:t>
            </a:r>
            <a:r>
              <a:rPr lang="en-US" sz="2400" dirty="0">
                <a:solidFill>
                  <a:srgbClr val="000000"/>
                </a:solidFill>
                <a:effectLst/>
              </a:rPr>
              <a:t> determines the search strategy. </a:t>
            </a:r>
          </a:p>
          <a:p>
            <a:endParaRPr lang="en-IN" sz="2400" dirty="0"/>
          </a:p>
        </p:txBody>
      </p:sp>
      <p:sp>
        <p:nvSpPr>
          <p:cNvPr id="4" name="Footer Placeholder 3">
            <a:extLst>
              <a:ext uri="{FF2B5EF4-FFF2-40B4-BE49-F238E27FC236}">
                <a16:creationId xmlns:a16="http://schemas.microsoft.com/office/drawing/2014/main" xmlns="" id="{9ECD726A-1EB3-22E9-0E74-5018ADFBE67F}"/>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B2EDB5BE-B251-22C7-6ACA-ABD60E13D925}"/>
              </a:ext>
            </a:extLst>
          </p:cNvPr>
          <p:cNvSpPr>
            <a:spLocks noGrp="1"/>
          </p:cNvSpPr>
          <p:nvPr>
            <p:ph type="sldNum" sz="quarter" idx="12"/>
          </p:nvPr>
        </p:nvSpPr>
        <p:spPr/>
        <p:txBody>
          <a:bodyPr/>
          <a:lstStyle/>
          <a:p>
            <a:fld id="{1E81A027-E3F7-4FC9-A752-E855AD4A687D}" type="slidenum">
              <a:rPr lang="en-IN" smtClean="0"/>
              <a:t>86</a:t>
            </a:fld>
            <a:endParaRPr lang="en-IN"/>
          </a:p>
        </p:txBody>
      </p:sp>
    </p:spTree>
    <p:extLst>
      <p:ext uri="{BB962C8B-B14F-4D97-AF65-F5344CB8AC3E}">
        <p14:creationId xmlns:p14="http://schemas.microsoft.com/office/powerpoint/2010/main" val="150859860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E75291-CF35-25E6-FDAD-95DDCB880DC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8B0DFE71-F716-B3D0-D2E1-BD941D1A4E11}"/>
              </a:ext>
            </a:extLst>
          </p:cNvPr>
          <p:cNvSpPr>
            <a:spLocks noGrp="1"/>
          </p:cNvSpPr>
          <p:nvPr>
            <p:ph idx="1"/>
          </p:nvPr>
        </p:nvSpPr>
        <p:spPr/>
        <p:txBody>
          <a:bodyPr>
            <a:normAutofit/>
          </a:bodyPr>
          <a:lstStyle/>
          <a:p>
            <a:r>
              <a:rPr lang="en-US" sz="2800" dirty="0">
                <a:solidFill>
                  <a:srgbClr val="000000"/>
                </a:solidFill>
                <a:effectLst/>
              </a:rPr>
              <a:t>Most best-first algorithms include as a component of </a:t>
            </a:r>
            <a:r>
              <a:rPr lang="en-US" sz="2800" i="1" dirty="0">
                <a:solidFill>
                  <a:srgbClr val="000000"/>
                </a:solidFill>
                <a:effectLst/>
              </a:rPr>
              <a:t>f</a:t>
            </a:r>
            <a:r>
              <a:rPr lang="en-US" sz="2800" dirty="0">
                <a:solidFill>
                  <a:srgbClr val="000000"/>
                </a:solidFill>
                <a:effectLst/>
              </a:rPr>
              <a:t> a </a:t>
            </a:r>
            <a:r>
              <a:rPr lang="en-US" sz="2800" b="1" dirty="0">
                <a:solidFill>
                  <a:srgbClr val="00B0F0"/>
                </a:solidFill>
                <a:effectLst/>
              </a:rPr>
              <a:t>heuristic function</a:t>
            </a:r>
            <a:r>
              <a:rPr lang="en-US" sz="2800" dirty="0">
                <a:solidFill>
                  <a:srgbClr val="000000"/>
                </a:solidFill>
                <a:effectLst/>
              </a:rPr>
              <a:t>, denoted h(n): </a:t>
            </a:r>
            <a:endParaRPr lang="en-US" sz="2800" dirty="0"/>
          </a:p>
          <a:p>
            <a:r>
              <a:rPr lang="en-US" sz="2800" dirty="0">
                <a:solidFill>
                  <a:srgbClr val="FF0000"/>
                </a:solidFill>
                <a:effectLst/>
              </a:rPr>
              <a:t>h(n) = estimated cost of the cheapest path from the state at node </a:t>
            </a:r>
            <a:r>
              <a:rPr lang="en-US" sz="2800" i="1" dirty="0">
                <a:solidFill>
                  <a:srgbClr val="FF0000"/>
                </a:solidFill>
                <a:effectLst/>
              </a:rPr>
              <a:t>n </a:t>
            </a:r>
            <a:r>
              <a:rPr lang="en-US" sz="2800" dirty="0">
                <a:solidFill>
                  <a:srgbClr val="FF0000"/>
                </a:solidFill>
                <a:effectLst/>
              </a:rPr>
              <a:t>to a goal state. </a:t>
            </a:r>
          </a:p>
          <a:p>
            <a:r>
              <a:rPr lang="en-US" sz="2800" dirty="0">
                <a:solidFill>
                  <a:srgbClr val="FF0000"/>
                </a:solidFill>
              </a:rPr>
              <a:t>if n is a goal node, then h(n)=0.</a:t>
            </a:r>
          </a:p>
          <a:p>
            <a:r>
              <a:rPr lang="en-US" sz="2800" dirty="0">
                <a:solidFill>
                  <a:srgbClr val="000000"/>
                </a:solidFill>
                <a:effectLst/>
              </a:rPr>
              <a:t>For example, in Romania, one might estimate the cost of the cheapest path from Arad to Bucharest via the straight-line distance from Arad to Bucharest.</a:t>
            </a:r>
            <a:endParaRPr lang="en-IN" sz="2800" dirty="0"/>
          </a:p>
          <a:p>
            <a:endParaRPr lang="en-IN" sz="2800" dirty="0"/>
          </a:p>
        </p:txBody>
      </p:sp>
      <p:sp>
        <p:nvSpPr>
          <p:cNvPr id="4" name="Footer Placeholder 3">
            <a:extLst>
              <a:ext uri="{FF2B5EF4-FFF2-40B4-BE49-F238E27FC236}">
                <a16:creationId xmlns:a16="http://schemas.microsoft.com/office/drawing/2014/main" xmlns="" id="{AE95FE39-2B64-AA11-512B-0463E1A8288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8C22FAA2-E3F2-5BB6-DA52-8E28345A268C}"/>
              </a:ext>
            </a:extLst>
          </p:cNvPr>
          <p:cNvSpPr>
            <a:spLocks noGrp="1"/>
          </p:cNvSpPr>
          <p:nvPr>
            <p:ph type="sldNum" sz="quarter" idx="12"/>
          </p:nvPr>
        </p:nvSpPr>
        <p:spPr/>
        <p:txBody>
          <a:bodyPr/>
          <a:lstStyle/>
          <a:p>
            <a:fld id="{1E81A027-E3F7-4FC9-A752-E855AD4A687D}" type="slidenum">
              <a:rPr lang="en-IN" smtClean="0"/>
              <a:t>87</a:t>
            </a:fld>
            <a:endParaRPr lang="en-IN"/>
          </a:p>
        </p:txBody>
      </p:sp>
    </p:spTree>
    <p:extLst>
      <p:ext uri="{BB962C8B-B14F-4D97-AF65-F5344CB8AC3E}">
        <p14:creationId xmlns:p14="http://schemas.microsoft.com/office/powerpoint/2010/main" val="409257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EC222A-B8EC-EE09-3471-F523BEA51BF4}"/>
              </a:ext>
            </a:extLst>
          </p:cNvPr>
          <p:cNvSpPr>
            <a:spLocks noGrp="1"/>
          </p:cNvSpPr>
          <p:nvPr>
            <p:ph type="title"/>
          </p:nvPr>
        </p:nvSpPr>
        <p:spPr/>
        <p:txBody>
          <a:bodyPr>
            <a:normAutofit/>
          </a:bodyPr>
          <a:lstStyle/>
          <a:p>
            <a:r>
              <a:rPr lang="en-IN" dirty="0">
                <a:solidFill>
                  <a:srgbClr val="000000"/>
                </a:solidFill>
                <a:effectLst/>
              </a:rPr>
              <a:t>Greedy best-first search</a:t>
            </a:r>
            <a:endParaRPr lang="en-IN" dirty="0"/>
          </a:p>
        </p:txBody>
      </p:sp>
      <p:sp>
        <p:nvSpPr>
          <p:cNvPr id="3" name="Content Placeholder 2">
            <a:extLst>
              <a:ext uri="{FF2B5EF4-FFF2-40B4-BE49-F238E27FC236}">
                <a16:creationId xmlns:a16="http://schemas.microsoft.com/office/drawing/2014/main" xmlns="" id="{389FC5CA-C549-6DF9-42D3-732E6754B7E6}"/>
              </a:ext>
            </a:extLst>
          </p:cNvPr>
          <p:cNvSpPr>
            <a:spLocks noGrp="1"/>
          </p:cNvSpPr>
          <p:nvPr>
            <p:ph idx="1"/>
          </p:nvPr>
        </p:nvSpPr>
        <p:spPr/>
        <p:txBody>
          <a:bodyPr>
            <a:normAutofit/>
          </a:bodyPr>
          <a:lstStyle/>
          <a:p>
            <a:r>
              <a:rPr lang="en-US" sz="2800" b="1" dirty="0">
                <a:solidFill>
                  <a:srgbClr val="000000"/>
                </a:solidFill>
                <a:effectLst/>
              </a:rPr>
              <a:t>Greedy best-first search</a:t>
            </a:r>
            <a:r>
              <a:rPr lang="en-US" sz="2800" dirty="0">
                <a:solidFill>
                  <a:srgbClr val="000000"/>
                </a:solidFill>
                <a:effectLst/>
              </a:rPr>
              <a:t> tries to </a:t>
            </a:r>
            <a:r>
              <a:rPr lang="en-US" sz="2800" dirty="0">
                <a:solidFill>
                  <a:srgbClr val="FF0000"/>
                </a:solidFill>
                <a:effectLst/>
              </a:rPr>
              <a:t>expand the node that is closest to the goal</a:t>
            </a:r>
            <a:r>
              <a:rPr lang="en-US" sz="2800" dirty="0">
                <a:solidFill>
                  <a:srgbClr val="000000"/>
                </a:solidFill>
                <a:effectLst/>
              </a:rPr>
              <a:t>, on the grounds that this is likely to lead to a solution quickly. </a:t>
            </a:r>
          </a:p>
          <a:p>
            <a:r>
              <a:rPr lang="en-US" sz="2800" dirty="0">
                <a:solidFill>
                  <a:srgbClr val="000000"/>
                </a:solidFill>
              </a:rPr>
              <a:t>I</a:t>
            </a:r>
            <a:r>
              <a:rPr lang="en-US" sz="2800" dirty="0">
                <a:solidFill>
                  <a:srgbClr val="000000"/>
                </a:solidFill>
                <a:effectLst/>
              </a:rPr>
              <a:t>t evaluates nodes by using just the heuristic function; that is, </a:t>
            </a:r>
            <a:r>
              <a:rPr lang="en-US" sz="2800" dirty="0">
                <a:solidFill>
                  <a:srgbClr val="FF0000"/>
                </a:solidFill>
                <a:effectLst/>
              </a:rPr>
              <a:t>f(n) = h(n).</a:t>
            </a:r>
          </a:p>
          <a:p>
            <a:endParaRPr lang="en-IN" sz="3200" dirty="0"/>
          </a:p>
        </p:txBody>
      </p:sp>
      <p:sp>
        <p:nvSpPr>
          <p:cNvPr id="4" name="Footer Placeholder 3">
            <a:extLst>
              <a:ext uri="{FF2B5EF4-FFF2-40B4-BE49-F238E27FC236}">
                <a16:creationId xmlns:a16="http://schemas.microsoft.com/office/drawing/2014/main" xmlns="" id="{08575C8F-96FC-BE1D-1592-A5DED0316C6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AF34F5C5-7C64-E40D-DFB8-3ADC56F70A15}"/>
              </a:ext>
            </a:extLst>
          </p:cNvPr>
          <p:cNvSpPr>
            <a:spLocks noGrp="1"/>
          </p:cNvSpPr>
          <p:nvPr>
            <p:ph type="sldNum" sz="quarter" idx="12"/>
          </p:nvPr>
        </p:nvSpPr>
        <p:spPr/>
        <p:txBody>
          <a:bodyPr/>
          <a:lstStyle/>
          <a:p>
            <a:fld id="{1E81A027-E3F7-4FC9-A752-E855AD4A687D}" type="slidenum">
              <a:rPr lang="en-IN" smtClean="0"/>
              <a:t>88</a:t>
            </a:fld>
            <a:endParaRPr lang="en-IN"/>
          </a:p>
        </p:txBody>
      </p:sp>
    </p:spTree>
    <p:extLst>
      <p:ext uri="{BB962C8B-B14F-4D97-AF65-F5344CB8AC3E}">
        <p14:creationId xmlns:p14="http://schemas.microsoft.com/office/powerpoint/2010/main" val="347517171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673301-E087-47BB-E2E4-97BBC14A1D9D}"/>
              </a:ext>
            </a:extLst>
          </p:cNvPr>
          <p:cNvSpPr>
            <a:spLocks noGrp="1"/>
          </p:cNvSpPr>
          <p:nvPr>
            <p:ph type="title"/>
          </p:nvPr>
        </p:nvSpPr>
        <p:spPr/>
        <p:txBody>
          <a:bodyPr>
            <a:normAutofit/>
          </a:bodyPr>
          <a:lstStyle/>
          <a:p>
            <a:r>
              <a:rPr lang="en-IN" dirty="0">
                <a:solidFill>
                  <a:srgbClr val="000000"/>
                </a:solidFill>
                <a:effectLst/>
              </a:rPr>
              <a:t>Greedy best-first </a:t>
            </a:r>
            <a:r>
              <a:rPr lang="en-IN" dirty="0">
                <a:solidFill>
                  <a:srgbClr val="000000"/>
                </a:solidFill>
              </a:rPr>
              <a:t>search- Route finding problems in Romania</a:t>
            </a:r>
          </a:p>
        </p:txBody>
      </p:sp>
      <p:sp>
        <p:nvSpPr>
          <p:cNvPr id="3" name="Content Placeholder 2">
            <a:extLst>
              <a:ext uri="{FF2B5EF4-FFF2-40B4-BE49-F238E27FC236}">
                <a16:creationId xmlns:a16="http://schemas.microsoft.com/office/drawing/2014/main" xmlns="" id="{7134BC43-C944-3D4A-4367-143BD874B74D}"/>
              </a:ext>
            </a:extLst>
          </p:cNvPr>
          <p:cNvSpPr>
            <a:spLocks noGrp="1"/>
          </p:cNvSpPr>
          <p:nvPr>
            <p:ph idx="1"/>
          </p:nvPr>
        </p:nvSpPr>
        <p:spPr/>
        <p:txBody>
          <a:bodyPr>
            <a:normAutofit/>
          </a:bodyPr>
          <a:lstStyle/>
          <a:p>
            <a:r>
              <a:rPr lang="en-US" sz="2400" b="1" dirty="0">
                <a:solidFill>
                  <a:srgbClr val="000000"/>
                </a:solidFill>
                <a:effectLst/>
              </a:rPr>
              <a:t>straight</a:t>
            </a:r>
            <a:r>
              <a:rPr lang="en-US" sz="2800" dirty="0"/>
              <a:t> </a:t>
            </a:r>
            <a:r>
              <a:rPr lang="en-US" sz="2400" b="1" dirty="0">
                <a:solidFill>
                  <a:srgbClr val="000000"/>
                </a:solidFill>
                <a:effectLst/>
              </a:rPr>
              <a:t>line distance </a:t>
            </a:r>
            <a:r>
              <a:rPr lang="en-US" sz="2400" dirty="0">
                <a:solidFill>
                  <a:srgbClr val="000000"/>
                </a:solidFill>
                <a:effectLst/>
              </a:rPr>
              <a:t>heuristic, </a:t>
            </a:r>
            <a:r>
              <a:rPr lang="en-IN" sz="2400" dirty="0" err="1">
                <a:solidFill>
                  <a:srgbClr val="000000"/>
                </a:solidFill>
                <a:effectLst/>
              </a:rPr>
              <a:t>H</a:t>
            </a:r>
            <a:r>
              <a:rPr lang="en-IN" sz="2400" baseline="-25000" dirty="0" err="1">
                <a:solidFill>
                  <a:srgbClr val="000000"/>
                </a:solidFill>
                <a:effectLst/>
              </a:rPr>
              <a:t>sld</a:t>
            </a:r>
            <a:endParaRPr lang="en-IN" sz="2400" baseline="-25000" dirty="0">
              <a:solidFill>
                <a:srgbClr val="000000"/>
              </a:solidFill>
              <a:effectLst/>
            </a:endParaRPr>
          </a:p>
          <a:p>
            <a:r>
              <a:rPr lang="en-US" sz="2400" dirty="0">
                <a:solidFill>
                  <a:srgbClr val="000000"/>
                </a:solidFill>
                <a:effectLst/>
              </a:rPr>
              <a:t>If the goal is Bucharest, we need to know the straight-line distances to Bucharest</a:t>
            </a:r>
          </a:p>
          <a:p>
            <a:r>
              <a:rPr lang="en-US" sz="2400" dirty="0" err="1">
                <a:solidFill>
                  <a:srgbClr val="000000"/>
                </a:solidFill>
                <a:effectLst/>
              </a:rPr>
              <a:t>h</a:t>
            </a:r>
            <a:r>
              <a:rPr lang="en-US" sz="2400" baseline="-25000" dirty="0" err="1">
                <a:solidFill>
                  <a:srgbClr val="000000"/>
                </a:solidFill>
                <a:effectLst/>
              </a:rPr>
              <a:t>SLD</a:t>
            </a:r>
            <a:r>
              <a:rPr lang="en-US" sz="2400" dirty="0">
                <a:solidFill>
                  <a:srgbClr val="000000"/>
                </a:solidFill>
                <a:effectLst/>
              </a:rPr>
              <a:t> is correlated with actual road distances and is, therefore, a useful heuristic</a:t>
            </a:r>
            <a:endParaRPr lang="en-IN" sz="2800" baseline="-25000" dirty="0"/>
          </a:p>
        </p:txBody>
      </p:sp>
      <p:sp>
        <p:nvSpPr>
          <p:cNvPr id="4" name="Footer Placeholder 3">
            <a:extLst>
              <a:ext uri="{FF2B5EF4-FFF2-40B4-BE49-F238E27FC236}">
                <a16:creationId xmlns:a16="http://schemas.microsoft.com/office/drawing/2014/main" xmlns="" id="{A785FFB8-41F0-2917-FC67-E168547183C0}"/>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BC9C5A54-1D10-6525-5097-457B40BAF1CF}"/>
              </a:ext>
            </a:extLst>
          </p:cNvPr>
          <p:cNvSpPr>
            <a:spLocks noGrp="1"/>
          </p:cNvSpPr>
          <p:nvPr>
            <p:ph type="sldNum" sz="quarter" idx="12"/>
          </p:nvPr>
        </p:nvSpPr>
        <p:spPr/>
        <p:txBody>
          <a:bodyPr/>
          <a:lstStyle/>
          <a:p>
            <a:fld id="{1E81A027-E3F7-4FC9-A752-E855AD4A687D}" type="slidenum">
              <a:rPr lang="en-IN" smtClean="0"/>
              <a:t>89</a:t>
            </a:fld>
            <a:endParaRPr lang="en-IN"/>
          </a:p>
        </p:txBody>
      </p:sp>
      <p:pic>
        <p:nvPicPr>
          <p:cNvPr id="7" name="Picture 6">
            <a:extLst>
              <a:ext uri="{FF2B5EF4-FFF2-40B4-BE49-F238E27FC236}">
                <a16:creationId xmlns:a16="http://schemas.microsoft.com/office/drawing/2014/main" xmlns="" id="{3532AC22-E19F-31EF-F50E-92E8614E22AF}"/>
              </a:ext>
            </a:extLst>
          </p:cNvPr>
          <p:cNvPicPr>
            <a:picLocks noChangeAspect="1"/>
          </p:cNvPicPr>
          <p:nvPr/>
        </p:nvPicPr>
        <p:blipFill>
          <a:blip r:embed="rId2"/>
          <a:stretch>
            <a:fillRect/>
          </a:stretch>
        </p:blipFill>
        <p:spPr>
          <a:xfrm>
            <a:off x="2182788" y="3273992"/>
            <a:ext cx="7887383" cy="2796782"/>
          </a:xfrm>
          <a:prstGeom prst="rect">
            <a:avLst/>
          </a:prstGeom>
        </p:spPr>
      </p:pic>
    </p:spTree>
    <p:extLst>
      <p:ext uri="{BB962C8B-B14F-4D97-AF65-F5344CB8AC3E}">
        <p14:creationId xmlns:p14="http://schemas.microsoft.com/office/powerpoint/2010/main" val="8157854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C2AE0F-1230-B0E4-A80C-02734FD5B24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2B1F2261-B3A2-B5F4-28B9-F6F0A0B410AA}"/>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C37D56E3-B892-6972-9BF9-96C473A9EF22}"/>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680F72AD-841B-4B2F-BB54-505F1F10B383}"/>
              </a:ext>
            </a:extLst>
          </p:cNvPr>
          <p:cNvSpPr>
            <a:spLocks noGrp="1"/>
          </p:cNvSpPr>
          <p:nvPr>
            <p:ph type="sldNum" sz="quarter" idx="12"/>
          </p:nvPr>
        </p:nvSpPr>
        <p:spPr/>
        <p:txBody>
          <a:bodyPr/>
          <a:lstStyle/>
          <a:p>
            <a:fld id="{1E81A027-E3F7-4FC9-A752-E855AD4A687D}" type="slidenum">
              <a:rPr lang="en-IN" smtClean="0"/>
              <a:t>90</a:t>
            </a:fld>
            <a:endParaRPr lang="en-IN"/>
          </a:p>
        </p:txBody>
      </p:sp>
      <p:pic>
        <p:nvPicPr>
          <p:cNvPr id="7" name="Picture 6">
            <a:extLst>
              <a:ext uri="{FF2B5EF4-FFF2-40B4-BE49-F238E27FC236}">
                <a16:creationId xmlns:a16="http://schemas.microsoft.com/office/drawing/2014/main" xmlns="" id="{51E2BC6C-4D24-FFD8-F7A1-282E76092E9B}"/>
              </a:ext>
            </a:extLst>
          </p:cNvPr>
          <p:cNvPicPr>
            <a:picLocks noChangeAspect="1"/>
          </p:cNvPicPr>
          <p:nvPr/>
        </p:nvPicPr>
        <p:blipFill>
          <a:blip r:embed="rId2"/>
          <a:stretch>
            <a:fillRect/>
          </a:stretch>
        </p:blipFill>
        <p:spPr>
          <a:xfrm>
            <a:off x="717037" y="2018570"/>
            <a:ext cx="10377683" cy="1011710"/>
          </a:xfrm>
          <a:prstGeom prst="rect">
            <a:avLst/>
          </a:prstGeom>
        </p:spPr>
      </p:pic>
    </p:spTree>
    <p:extLst>
      <p:ext uri="{BB962C8B-B14F-4D97-AF65-F5344CB8AC3E}">
        <p14:creationId xmlns:p14="http://schemas.microsoft.com/office/powerpoint/2010/main" val="231833816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6CA897-8BB0-247B-3A77-C9FDC5C1012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D0537318-D69F-390B-0870-B8C5912304F1}"/>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DA74CC07-1D03-5AA5-B4C4-33E1E454156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231A05DA-36CA-7AA8-54E9-A007E02428AE}"/>
              </a:ext>
            </a:extLst>
          </p:cNvPr>
          <p:cNvSpPr>
            <a:spLocks noGrp="1"/>
          </p:cNvSpPr>
          <p:nvPr>
            <p:ph type="sldNum" sz="quarter" idx="12"/>
          </p:nvPr>
        </p:nvSpPr>
        <p:spPr/>
        <p:txBody>
          <a:bodyPr/>
          <a:lstStyle/>
          <a:p>
            <a:fld id="{1E81A027-E3F7-4FC9-A752-E855AD4A687D}" type="slidenum">
              <a:rPr lang="en-IN" smtClean="0"/>
              <a:t>91</a:t>
            </a:fld>
            <a:endParaRPr lang="en-IN"/>
          </a:p>
        </p:txBody>
      </p:sp>
      <p:pic>
        <p:nvPicPr>
          <p:cNvPr id="7" name="Picture 6">
            <a:extLst>
              <a:ext uri="{FF2B5EF4-FFF2-40B4-BE49-F238E27FC236}">
                <a16:creationId xmlns:a16="http://schemas.microsoft.com/office/drawing/2014/main" xmlns="" id="{8C35A4C3-5B7F-5DA8-1ED1-B132ADFE4C3A}"/>
              </a:ext>
            </a:extLst>
          </p:cNvPr>
          <p:cNvPicPr>
            <a:picLocks noChangeAspect="1"/>
          </p:cNvPicPr>
          <p:nvPr/>
        </p:nvPicPr>
        <p:blipFill>
          <a:blip r:embed="rId2"/>
          <a:stretch>
            <a:fillRect/>
          </a:stretch>
        </p:blipFill>
        <p:spPr>
          <a:xfrm>
            <a:off x="1036320" y="1925666"/>
            <a:ext cx="9875174" cy="2019013"/>
          </a:xfrm>
          <a:prstGeom prst="rect">
            <a:avLst/>
          </a:prstGeom>
        </p:spPr>
      </p:pic>
    </p:spTree>
    <p:extLst>
      <p:ext uri="{BB962C8B-B14F-4D97-AF65-F5344CB8AC3E}">
        <p14:creationId xmlns:p14="http://schemas.microsoft.com/office/powerpoint/2010/main" val="10695765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9472E74-F642-7DB7-9C93-F7144883EA9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EEE96634-5AC3-043F-6FF7-544E36C202C8}"/>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E012528D-1A6D-41E8-DC53-6B103CAD0A75}"/>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FCE0A6E4-3490-5CB9-0DA6-8D182EDCA426}"/>
              </a:ext>
            </a:extLst>
          </p:cNvPr>
          <p:cNvSpPr>
            <a:spLocks noGrp="1"/>
          </p:cNvSpPr>
          <p:nvPr>
            <p:ph type="sldNum" sz="quarter" idx="12"/>
          </p:nvPr>
        </p:nvSpPr>
        <p:spPr/>
        <p:txBody>
          <a:bodyPr/>
          <a:lstStyle/>
          <a:p>
            <a:fld id="{1E81A027-E3F7-4FC9-A752-E855AD4A687D}" type="slidenum">
              <a:rPr lang="en-IN" smtClean="0"/>
              <a:t>92</a:t>
            </a:fld>
            <a:endParaRPr lang="en-IN"/>
          </a:p>
        </p:txBody>
      </p:sp>
      <p:pic>
        <p:nvPicPr>
          <p:cNvPr id="7" name="Picture 6">
            <a:extLst>
              <a:ext uri="{FF2B5EF4-FFF2-40B4-BE49-F238E27FC236}">
                <a16:creationId xmlns:a16="http://schemas.microsoft.com/office/drawing/2014/main" xmlns="" id="{0123A08B-C360-E962-46C6-8184EFCC793B}"/>
              </a:ext>
            </a:extLst>
          </p:cNvPr>
          <p:cNvPicPr>
            <a:picLocks noChangeAspect="1"/>
          </p:cNvPicPr>
          <p:nvPr/>
        </p:nvPicPr>
        <p:blipFill>
          <a:blip r:embed="rId2"/>
          <a:stretch>
            <a:fillRect/>
          </a:stretch>
        </p:blipFill>
        <p:spPr>
          <a:xfrm>
            <a:off x="949294" y="1196147"/>
            <a:ext cx="10349562" cy="3056876"/>
          </a:xfrm>
          <a:prstGeom prst="rect">
            <a:avLst/>
          </a:prstGeom>
        </p:spPr>
      </p:pic>
    </p:spTree>
    <p:extLst>
      <p:ext uri="{BB962C8B-B14F-4D97-AF65-F5344CB8AC3E}">
        <p14:creationId xmlns:p14="http://schemas.microsoft.com/office/powerpoint/2010/main" val="9222799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7DB7A2-F0DC-ED0C-0F50-B8075501012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A3A454AD-E0EF-6EA0-E602-D667168EF869}"/>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F71833A3-9202-7C24-3EDB-C56C7834F9C3}"/>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34967792-D976-A7D0-D3AE-4634AD58EC45}"/>
              </a:ext>
            </a:extLst>
          </p:cNvPr>
          <p:cNvSpPr>
            <a:spLocks noGrp="1"/>
          </p:cNvSpPr>
          <p:nvPr>
            <p:ph type="sldNum" sz="quarter" idx="12"/>
          </p:nvPr>
        </p:nvSpPr>
        <p:spPr/>
        <p:txBody>
          <a:bodyPr/>
          <a:lstStyle/>
          <a:p>
            <a:fld id="{1E81A027-E3F7-4FC9-A752-E855AD4A687D}" type="slidenum">
              <a:rPr lang="en-IN" smtClean="0"/>
              <a:t>93</a:t>
            </a:fld>
            <a:endParaRPr lang="en-IN"/>
          </a:p>
        </p:txBody>
      </p:sp>
      <p:pic>
        <p:nvPicPr>
          <p:cNvPr id="7" name="Picture 6">
            <a:extLst>
              <a:ext uri="{FF2B5EF4-FFF2-40B4-BE49-F238E27FC236}">
                <a16:creationId xmlns:a16="http://schemas.microsoft.com/office/drawing/2014/main" xmlns="" id="{2973F82F-B237-90FA-6D67-572C67853171}"/>
              </a:ext>
            </a:extLst>
          </p:cNvPr>
          <p:cNvPicPr>
            <a:picLocks noChangeAspect="1"/>
          </p:cNvPicPr>
          <p:nvPr/>
        </p:nvPicPr>
        <p:blipFill>
          <a:blip r:embed="rId2"/>
          <a:stretch>
            <a:fillRect/>
          </a:stretch>
        </p:blipFill>
        <p:spPr>
          <a:xfrm>
            <a:off x="517529" y="318021"/>
            <a:ext cx="11217901" cy="4263255"/>
          </a:xfrm>
          <a:prstGeom prst="rect">
            <a:avLst/>
          </a:prstGeom>
        </p:spPr>
      </p:pic>
      <p:pic>
        <p:nvPicPr>
          <p:cNvPr id="9" name="Picture 8">
            <a:extLst>
              <a:ext uri="{FF2B5EF4-FFF2-40B4-BE49-F238E27FC236}">
                <a16:creationId xmlns:a16="http://schemas.microsoft.com/office/drawing/2014/main" xmlns="" id="{DEB5D670-9431-14E7-5DFB-DA9857DFD1C7}"/>
              </a:ext>
            </a:extLst>
          </p:cNvPr>
          <p:cNvPicPr>
            <a:picLocks noChangeAspect="1"/>
          </p:cNvPicPr>
          <p:nvPr/>
        </p:nvPicPr>
        <p:blipFill>
          <a:blip r:embed="rId3"/>
          <a:stretch>
            <a:fillRect/>
          </a:stretch>
        </p:blipFill>
        <p:spPr>
          <a:xfrm>
            <a:off x="517529" y="4798428"/>
            <a:ext cx="10811375" cy="1179040"/>
          </a:xfrm>
          <a:prstGeom prst="rect">
            <a:avLst/>
          </a:prstGeom>
        </p:spPr>
      </p:pic>
    </p:spTree>
    <p:extLst>
      <p:ext uri="{BB962C8B-B14F-4D97-AF65-F5344CB8AC3E}">
        <p14:creationId xmlns:p14="http://schemas.microsoft.com/office/powerpoint/2010/main" val="297240897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21D87A-30AA-8122-302D-94C085EEBB54}"/>
              </a:ext>
            </a:extLst>
          </p:cNvPr>
          <p:cNvSpPr>
            <a:spLocks noGrp="1"/>
          </p:cNvSpPr>
          <p:nvPr>
            <p:ph type="title"/>
          </p:nvPr>
        </p:nvSpPr>
        <p:spPr/>
        <p:txBody>
          <a:bodyPr>
            <a:normAutofit/>
          </a:bodyPr>
          <a:lstStyle/>
          <a:p>
            <a:r>
              <a:rPr lang="en-US" dirty="0">
                <a:solidFill>
                  <a:srgbClr val="000000"/>
                </a:solidFill>
                <a:effectLst/>
              </a:rPr>
              <a:t>A* search: Minimizing the total estimated solution cost</a:t>
            </a:r>
            <a:endParaRPr lang="en-IN" dirty="0"/>
          </a:p>
        </p:txBody>
      </p:sp>
      <p:sp>
        <p:nvSpPr>
          <p:cNvPr id="3" name="Content Placeholder 2">
            <a:extLst>
              <a:ext uri="{FF2B5EF4-FFF2-40B4-BE49-F238E27FC236}">
                <a16:creationId xmlns:a16="http://schemas.microsoft.com/office/drawing/2014/main" xmlns="" id="{E6CC2A31-28E8-34FB-CE19-CA2A4E56D504}"/>
              </a:ext>
            </a:extLst>
          </p:cNvPr>
          <p:cNvSpPr>
            <a:spLocks noGrp="1"/>
          </p:cNvSpPr>
          <p:nvPr>
            <p:ph idx="1"/>
          </p:nvPr>
        </p:nvSpPr>
        <p:spPr/>
        <p:txBody>
          <a:bodyPr>
            <a:normAutofit lnSpcReduction="10000"/>
          </a:bodyPr>
          <a:lstStyle/>
          <a:p>
            <a:r>
              <a:rPr lang="en-US" sz="3200" dirty="0">
                <a:solidFill>
                  <a:srgbClr val="000000"/>
                </a:solidFill>
                <a:effectLst/>
              </a:rPr>
              <a:t>It evaluates nodes by combining g(n), the cost to reach the node, and h(n), the cost to get from the node to the goal: </a:t>
            </a:r>
            <a:endParaRPr lang="en-US" sz="3600" dirty="0"/>
          </a:p>
          <a:p>
            <a:pPr algn="ctr"/>
            <a:r>
              <a:rPr lang="en-US" sz="3200" dirty="0">
                <a:solidFill>
                  <a:srgbClr val="FF0000"/>
                </a:solidFill>
                <a:effectLst/>
              </a:rPr>
              <a:t>f(n) = g(n) + h(n) </a:t>
            </a:r>
            <a:endParaRPr lang="en-US" sz="3600" dirty="0">
              <a:solidFill>
                <a:srgbClr val="FF0000"/>
              </a:solidFill>
            </a:endParaRPr>
          </a:p>
          <a:p>
            <a:r>
              <a:rPr lang="en-US" sz="3200" dirty="0">
                <a:solidFill>
                  <a:srgbClr val="000000"/>
                </a:solidFill>
                <a:effectLst/>
              </a:rPr>
              <a:t>Since </a:t>
            </a:r>
            <a:r>
              <a:rPr lang="en-US" sz="3200" dirty="0">
                <a:solidFill>
                  <a:srgbClr val="00B050"/>
                </a:solidFill>
                <a:effectLst/>
              </a:rPr>
              <a:t>g(n) gives the path cost from the start node to node n</a:t>
            </a:r>
            <a:r>
              <a:rPr lang="en-US" sz="3200" dirty="0">
                <a:solidFill>
                  <a:srgbClr val="000000"/>
                </a:solidFill>
                <a:effectLst/>
              </a:rPr>
              <a:t>, and </a:t>
            </a:r>
          </a:p>
          <a:p>
            <a:r>
              <a:rPr lang="en-US" sz="3200" dirty="0">
                <a:solidFill>
                  <a:srgbClr val="00B0F0"/>
                </a:solidFill>
                <a:effectLst/>
              </a:rPr>
              <a:t>h(n) is the estimated cost of the cheapest path from n to the goal</a:t>
            </a:r>
            <a:r>
              <a:rPr lang="en-US" sz="3200" dirty="0">
                <a:solidFill>
                  <a:srgbClr val="000000"/>
                </a:solidFill>
                <a:effectLst/>
              </a:rPr>
              <a:t>, we have </a:t>
            </a:r>
            <a:endParaRPr lang="en-US" sz="3600" dirty="0"/>
          </a:p>
          <a:p>
            <a:r>
              <a:rPr lang="en-US" sz="3200" dirty="0">
                <a:solidFill>
                  <a:srgbClr val="7030A0"/>
                </a:solidFill>
                <a:effectLst/>
              </a:rPr>
              <a:t>f(n) = estimated cost of the cheapest solution through n</a:t>
            </a:r>
            <a:r>
              <a:rPr lang="en-US" sz="3200" dirty="0">
                <a:solidFill>
                  <a:srgbClr val="000000"/>
                </a:solidFill>
                <a:effectLst/>
              </a:rPr>
              <a:t> </a:t>
            </a:r>
          </a:p>
          <a:p>
            <a:endParaRPr lang="en-US" sz="3200" dirty="0">
              <a:solidFill>
                <a:srgbClr val="000000"/>
              </a:solidFill>
              <a:effectLst/>
            </a:endParaRPr>
          </a:p>
          <a:p>
            <a:endParaRPr lang="en-IN" sz="3600" dirty="0"/>
          </a:p>
        </p:txBody>
      </p:sp>
      <p:sp>
        <p:nvSpPr>
          <p:cNvPr id="4" name="Footer Placeholder 3">
            <a:extLst>
              <a:ext uri="{FF2B5EF4-FFF2-40B4-BE49-F238E27FC236}">
                <a16:creationId xmlns:a16="http://schemas.microsoft.com/office/drawing/2014/main" xmlns="" id="{4175D199-14AE-9D41-D289-BA8B987F0574}"/>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C81E4584-C45D-E462-E112-B29BDCAF9A92}"/>
              </a:ext>
            </a:extLst>
          </p:cNvPr>
          <p:cNvSpPr>
            <a:spLocks noGrp="1"/>
          </p:cNvSpPr>
          <p:nvPr>
            <p:ph type="sldNum" sz="quarter" idx="12"/>
          </p:nvPr>
        </p:nvSpPr>
        <p:spPr/>
        <p:txBody>
          <a:bodyPr/>
          <a:lstStyle/>
          <a:p>
            <a:fld id="{1E81A027-E3F7-4FC9-A752-E855AD4A687D}" type="slidenum">
              <a:rPr lang="en-IN" smtClean="0"/>
              <a:t>94</a:t>
            </a:fld>
            <a:endParaRPr lang="en-IN"/>
          </a:p>
        </p:txBody>
      </p:sp>
    </p:spTree>
    <p:extLst>
      <p:ext uri="{BB962C8B-B14F-4D97-AF65-F5344CB8AC3E}">
        <p14:creationId xmlns:p14="http://schemas.microsoft.com/office/powerpoint/2010/main" val="10108554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058397-85B5-012A-71E3-0D17BB71BE0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3C07DF9F-C494-9BCD-6A59-AEB093D2F455}"/>
              </a:ext>
            </a:extLst>
          </p:cNvPr>
          <p:cNvSpPr>
            <a:spLocks noGrp="1"/>
          </p:cNvSpPr>
          <p:nvPr>
            <p:ph idx="1"/>
          </p:nvPr>
        </p:nvSpPr>
        <p:spPr/>
        <p:txBody>
          <a:bodyPr>
            <a:normAutofit fontScale="92500"/>
          </a:bodyPr>
          <a:lstStyle/>
          <a:p>
            <a:r>
              <a:rPr lang="en-US" sz="3200" dirty="0">
                <a:solidFill>
                  <a:srgbClr val="000000"/>
                </a:solidFill>
                <a:effectLst/>
              </a:rPr>
              <a:t>if we are trying to find the cheapest solution, a reasonable thing to try first is the node with the lowest value of g(n) + h(n). </a:t>
            </a:r>
          </a:p>
          <a:p>
            <a:r>
              <a:rPr lang="en-US" sz="3200" dirty="0">
                <a:solidFill>
                  <a:srgbClr val="000000"/>
                </a:solidFill>
                <a:effectLst/>
              </a:rPr>
              <a:t>It turns out that this strategy is more than just reasonable: provided that the heuristic function h(n) satisfies certain conditions, </a:t>
            </a:r>
          </a:p>
          <a:p>
            <a:r>
              <a:rPr lang="en-US" sz="3600" dirty="0">
                <a:solidFill>
                  <a:srgbClr val="7030A0"/>
                </a:solidFill>
                <a:effectLst/>
              </a:rPr>
              <a:t>A∗ search is </a:t>
            </a:r>
            <a:r>
              <a:rPr lang="en-US" sz="3200" dirty="0">
                <a:solidFill>
                  <a:srgbClr val="7030A0"/>
                </a:solidFill>
                <a:effectLst/>
              </a:rPr>
              <a:t>both complete and optimal. </a:t>
            </a:r>
          </a:p>
          <a:p>
            <a:r>
              <a:rPr lang="en-US" sz="3200" dirty="0">
                <a:solidFill>
                  <a:srgbClr val="000000"/>
                </a:solidFill>
                <a:effectLst/>
              </a:rPr>
              <a:t>The algorithm is identical to UNIFORM-COST-SEARCH except that A∗ uses g + h instead of g.</a:t>
            </a:r>
            <a:endParaRPr lang="en-IN" sz="3600" dirty="0"/>
          </a:p>
        </p:txBody>
      </p:sp>
      <p:sp>
        <p:nvSpPr>
          <p:cNvPr id="4" name="Footer Placeholder 3">
            <a:extLst>
              <a:ext uri="{FF2B5EF4-FFF2-40B4-BE49-F238E27FC236}">
                <a16:creationId xmlns:a16="http://schemas.microsoft.com/office/drawing/2014/main" xmlns="" id="{89AFC405-78F4-0D8E-6160-CA1D17E24DF7}"/>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9737A9E1-90F0-2FD5-5A68-E36C465E9146}"/>
              </a:ext>
            </a:extLst>
          </p:cNvPr>
          <p:cNvSpPr>
            <a:spLocks noGrp="1"/>
          </p:cNvSpPr>
          <p:nvPr>
            <p:ph type="sldNum" sz="quarter" idx="12"/>
          </p:nvPr>
        </p:nvSpPr>
        <p:spPr/>
        <p:txBody>
          <a:bodyPr/>
          <a:lstStyle/>
          <a:p>
            <a:fld id="{1E81A027-E3F7-4FC9-A752-E855AD4A687D}" type="slidenum">
              <a:rPr lang="en-IN" smtClean="0"/>
              <a:t>95</a:t>
            </a:fld>
            <a:endParaRPr lang="en-IN"/>
          </a:p>
        </p:txBody>
      </p:sp>
    </p:spTree>
    <p:extLst>
      <p:ext uri="{BB962C8B-B14F-4D97-AF65-F5344CB8AC3E}">
        <p14:creationId xmlns:p14="http://schemas.microsoft.com/office/powerpoint/2010/main" val="80562643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29AC3D-6523-E530-A65C-2BC229867A49}"/>
              </a:ext>
            </a:extLst>
          </p:cNvPr>
          <p:cNvSpPr>
            <a:spLocks noGrp="1"/>
          </p:cNvSpPr>
          <p:nvPr>
            <p:ph type="title"/>
          </p:nvPr>
        </p:nvSpPr>
        <p:spPr/>
        <p:txBody>
          <a:bodyPr>
            <a:normAutofit/>
          </a:bodyPr>
          <a:lstStyle/>
          <a:p>
            <a:r>
              <a:rPr lang="en-US" dirty="0">
                <a:solidFill>
                  <a:srgbClr val="000000"/>
                </a:solidFill>
              </a:rPr>
              <a:t>P</a:t>
            </a:r>
            <a:r>
              <a:rPr lang="en-US" dirty="0">
                <a:solidFill>
                  <a:srgbClr val="000000"/>
                </a:solidFill>
                <a:effectLst/>
              </a:rPr>
              <a:t>rogress of an A∗ tree search</a:t>
            </a:r>
            <a:endParaRPr lang="en-IN" dirty="0"/>
          </a:p>
        </p:txBody>
      </p:sp>
      <p:sp>
        <p:nvSpPr>
          <p:cNvPr id="4" name="Footer Placeholder 3">
            <a:extLst>
              <a:ext uri="{FF2B5EF4-FFF2-40B4-BE49-F238E27FC236}">
                <a16:creationId xmlns:a16="http://schemas.microsoft.com/office/drawing/2014/main" xmlns="" id="{CCE236E4-6A0E-1856-312B-1B473B7C880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D7DB4195-E96D-F7C9-CFD5-02228323FBF0}"/>
              </a:ext>
            </a:extLst>
          </p:cNvPr>
          <p:cNvSpPr>
            <a:spLocks noGrp="1"/>
          </p:cNvSpPr>
          <p:nvPr>
            <p:ph type="sldNum" sz="quarter" idx="12"/>
          </p:nvPr>
        </p:nvSpPr>
        <p:spPr/>
        <p:txBody>
          <a:bodyPr/>
          <a:lstStyle/>
          <a:p>
            <a:fld id="{1E81A027-E3F7-4FC9-A752-E855AD4A687D}" type="slidenum">
              <a:rPr lang="en-IN" smtClean="0"/>
              <a:t>96</a:t>
            </a:fld>
            <a:endParaRPr lang="en-IN"/>
          </a:p>
        </p:txBody>
      </p:sp>
      <p:pic>
        <p:nvPicPr>
          <p:cNvPr id="6" name="Content Placeholder 5">
            <a:extLst>
              <a:ext uri="{FF2B5EF4-FFF2-40B4-BE49-F238E27FC236}">
                <a16:creationId xmlns:a16="http://schemas.microsoft.com/office/drawing/2014/main" xmlns="" id="{373A30F5-EDED-6339-A0A0-9256827402AF}"/>
              </a:ext>
            </a:extLst>
          </p:cNvPr>
          <p:cNvPicPr>
            <a:picLocks noGrp="1" noChangeAspect="1"/>
          </p:cNvPicPr>
          <p:nvPr>
            <p:ph idx="1"/>
          </p:nvPr>
        </p:nvPicPr>
        <p:blipFill>
          <a:blip r:embed="rId2"/>
          <a:stretch>
            <a:fillRect/>
          </a:stretch>
        </p:blipFill>
        <p:spPr>
          <a:xfrm>
            <a:off x="1097280" y="2087210"/>
            <a:ext cx="6057340" cy="4022725"/>
          </a:xfrm>
          <a:prstGeom prst="rect">
            <a:avLst/>
          </a:prstGeom>
        </p:spPr>
      </p:pic>
      <p:sp>
        <p:nvSpPr>
          <p:cNvPr id="7" name="Oval 6">
            <a:extLst>
              <a:ext uri="{FF2B5EF4-FFF2-40B4-BE49-F238E27FC236}">
                <a16:creationId xmlns:a16="http://schemas.microsoft.com/office/drawing/2014/main" xmlns="" id="{04A9182F-C928-36E2-938E-298C3AA700D5}"/>
              </a:ext>
            </a:extLst>
          </p:cNvPr>
          <p:cNvSpPr/>
          <p:nvPr/>
        </p:nvSpPr>
        <p:spPr>
          <a:xfrm>
            <a:off x="1236040" y="3014570"/>
            <a:ext cx="876072" cy="353961"/>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8" name="Oval 7">
            <a:extLst>
              <a:ext uri="{FF2B5EF4-FFF2-40B4-BE49-F238E27FC236}">
                <a16:creationId xmlns:a16="http://schemas.microsoft.com/office/drawing/2014/main" xmlns="" id="{A8B2A58A-1613-157F-1912-ABB07CABC4B9}"/>
              </a:ext>
            </a:extLst>
          </p:cNvPr>
          <p:cNvSpPr/>
          <p:nvPr/>
        </p:nvSpPr>
        <p:spPr>
          <a:xfrm>
            <a:off x="4664405" y="4842387"/>
            <a:ext cx="1057969" cy="496529"/>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0" name="Picture 9">
            <a:extLst>
              <a:ext uri="{FF2B5EF4-FFF2-40B4-BE49-F238E27FC236}">
                <a16:creationId xmlns:a16="http://schemas.microsoft.com/office/drawing/2014/main" xmlns="" id="{D463910B-4D23-F642-D07A-B9245E57141F}"/>
              </a:ext>
            </a:extLst>
          </p:cNvPr>
          <p:cNvPicPr>
            <a:picLocks noChangeAspect="1"/>
          </p:cNvPicPr>
          <p:nvPr/>
        </p:nvPicPr>
        <p:blipFill>
          <a:blip r:embed="rId3"/>
          <a:stretch>
            <a:fillRect/>
          </a:stretch>
        </p:blipFill>
        <p:spPr>
          <a:xfrm>
            <a:off x="7262438" y="3141161"/>
            <a:ext cx="4791862" cy="1701226"/>
          </a:xfrm>
          <a:prstGeom prst="rect">
            <a:avLst/>
          </a:prstGeom>
        </p:spPr>
      </p:pic>
    </p:spTree>
    <p:extLst>
      <p:ext uri="{BB962C8B-B14F-4D97-AF65-F5344CB8AC3E}">
        <p14:creationId xmlns:p14="http://schemas.microsoft.com/office/powerpoint/2010/main" val="14070382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77A125-A40A-5EA7-A936-6370862CEFF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2805AB7E-BBB1-BA7D-8A49-FCE88C860174}"/>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xmlns="" id="{407162EF-6E8E-3B2A-87F2-DF187E709765}"/>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06481F87-FE33-72C7-AE10-89C9F8BA1F71}"/>
              </a:ext>
            </a:extLst>
          </p:cNvPr>
          <p:cNvSpPr>
            <a:spLocks noGrp="1"/>
          </p:cNvSpPr>
          <p:nvPr>
            <p:ph type="sldNum" sz="quarter" idx="12"/>
          </p:nvPr>
        </p:nvSpPr>
        <p:spPr/>
        <p:txBody>
          <a:bodyPr/>
          <a:lstStyle/>
          <a:p>
            <a:fld id="{1E81A027-E3F7-4FC9-A752-E855AD4A687D}" type="slidenum">
              <a:rPr lang="en-IN" smtClean="0"/>
              <a:t>97</a:t>
            </a:fld>
            <a:endParaRPr lang="en-IN"/>
          </a:p>
        </p:txBody>
      </p:sp>
      <p:pic>
        <p:nvPicPr>
          <p:cNvPr id="7" name="Picture 6">
            <a:extLst>
              <a:ext uri="{FF2B5EF4-FFF2-40B4-BE49-F238E27FC236}">
                <a16:creationId xmlns:a16="http://schemas.microsoft.com/office/drawing/2014/main" xmlns="" id="{94276635-A521-F2B7-5EFC-4D3D99955C50}"/>
              </a:ext>
            </a:extLst>
          </p:cNvPr>
          <p:cNvPicPr>
            <a:picLocks noChangeAspect="1"/>
          </p:cNvPicPr>
          <p:nvPr/>
        </p:nvPicPr>
        <p:blipFill>
          <a:blip r:embed="rId2"/>
          <a:stretch>
            <a:fillRect/>
          </a:stretch>
        </p:blipFill>
        <p:spPr>
          <a:xfrm>
            <a:off x="546690" y="1484016"/>
            <a:ext cx="10747997" cy="1121531"/>
          </a:xfrm>
          <a:prstGeom prst="rect">
            <a:avLst/>
          </a:prstGeom>
        </p:spPr>
      </p:pic>
    </p:spTree>
    <p:extLst>
      <p:ext uri="{BB962C8B-B14F-4D97-AF65-F5344CB8AC3E}">
        <p14:creationId xmlns:p14="http://schemas.microsoft.com/office/powerpoint/2010/main" val="341388647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1E35AA-BF97-951B-12EC-7B1977500A5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2F97D17A-8447-50A4-117D-A7872A7D7396}"/>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EE72CDF2-A8A2-9651-A2B6-60992BF6EF9C}"/>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B9012E11-FBD1-C94B-FA7A-DB28B0AFC9BF}"/>
              </a:ext>
            </a:extLst>
          </p:cNvPr>
          <p:cNvSpPr>
            <a:spLocks noGrp="1"/>
          </p:cNvSpPr>
          <p:nvPr>
            <p:ph type="sldNum" sz="quarter" idx="12"/>
          </p:nvPr>
        </p:nvSpPr>
        <p:spPr/>
        <p:txBody>
          <a:bodyPr/>
          <a:lstStyle/>
          <a:p>
            <a:fld id="{1E81A027-E3F7-4FC9-A752-E855AD4A687D}" type="slidenum">
              <a:rPr lang="en-IN" smtClean="0"/>
              <a:t>98</a:t>
            </a:fld>
            <a:endParaRPr lang="en-IN"/>
          </a:p>
        </p:txBody>
      </p:sp>
      <p:pic>
        <p:nvPicPr>
          <p:cNvPr id="7" name="Picture 6">
            <a:extLst>
              <a:ext uri="{FF2B5EF4-FFF2-40B4-BE49-F238E27FC236}">
                <a16:creationId xmlns:a16="http://schemas.microsoft.com/office/drawing/2014/main" xmlns="" id="{2AB26041-A6F3-8E5E-4BA7-7679ABB33C1B}"/>
              </a:ext>
            </a:extLst>
          </p:cNvPr>
          <p:cNvPicPr>
            <a:picLocks noChangeAspect="1"/>
          </p:cNvPicPr>
          <p:nvPr/>
        </p:nvPicPr>
        <p:blipFill>
          <a:blip r:embed="rId2"/>
          <a:stretch>
            <a:fillRect/>
          </a:stretch>
        </p:blipFill>
        <p:spPr>
          <a:xfrm>
            <a:off x="956262" y="1734901"/>
            <a:ext cx="11105203" cy="1903033"/>
          </a:xfrm>
          <a:prstGeom prst="rect">
            <a:avLst/>
          </a:prstGeom>
        </p:spPr>
      </p:pic>
    </p:spTree>
    <p:extLst>
      <p:ext uri="{BB962C8B-B14F-4D97-AF65-F5344CB8AC3E}">
        <p14:creationId xmlns:p14="http://schemas.microsoft.com/office/powerpoint/2010/main" val="1217677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6132A3-2E07-1B15-AD07-A4970158F4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2DE5603D-3845-EEC6-AA37-0216634BD70E}"/>
              </a:ext>
            </a:extLst>
          </p:cNvPr>
          <p:cNvSpPr>
            <a:spLocks noGrp="1"/>
          </p:cNvSpPr>
          <p:nvPr>
            <p:ph idx="1"/>
          </p:nvPr>
        </p:nvSpPr>
        <p:spPr/>
        <p:txBody>
          <a:bodyPr/>
          <a:lstStyle/>
          <a:p>
            <a:endParaRPr lang="en-IN" dirty="0"/>
          </a:p>
        </p:txBody>
      </p:sp>
      <p:sp>
        <p:nvSpPr>
          <p:cNvPr id="4" name="Footer Placeholder 3">
            <a:extLst>
              <a:ext uri="{FF2B5EF4-FFF2-40B4-BE49-F238E27FC236}">
                <a16:creationId xmlns:a16="http://schemas.microsoft.com/office/drawing/2014/main" xmlns="" id="{48E91408-D47C-016B-EC15-AEC636AFF64D}"/>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2A4A0B1F-43F9-1DCD-5C17-0CD9C9AB344F}"/>
              </a:ext>
            </a:extLst>
          </p:cNvPr>
          <p:cNvSpPr>
            <a:spLocks noGrp="1"/>
          </p:cNvSpPr>
          <p:nvPr>
            <p:ph type="sldNum" sz="quarter" idx="12"/>
          </p:nvPr>
        </p:nvSpPr>
        <p:spPr/>
        <p:txBody>
          <a:bodyPr/>
          <a:lstStyle/>
          <a:p>
            <a:fld id="{1E81A027-E3F7-4FC9-A752-E855AD4A687D}" type="slidenum">
              <a:rPr lang="en-IN" smtClean="0"/>
              <a:t>99</a:t>
            </a:fld>
            <a:endParaRPr lang="en-IN"/>
          </a:p>
        </p:txBody>
      </p:sp>
      <p:pic>
        <p:nvPicPr>
          <p:cNvPr id="7" name="Picture 6">
            <a:extLst>
              <a:ext uri="{FF2B5EF4-FFF2-40B4-BE49-F238E27FC236}">
                <a16:creationId xmlns:a16="http://schemas.microsoft.com/office/drawing/2014/main" xmlns="" id="{5F4DFB8E-36F8-CF5F-C1FA-39B69AAFFD8B}"/>
              </a:ext>
            </a:extLst>
          </p:cNvPr>
          <p:cNvPicPr>
            <a:picLocks noChangeAspect="1"/>
          </p:cNvPicPr>
          <p:nvPr/>
        </p:nvPicPr>
        <p:blipFill>
          <a:blip r:embed="rId2"/>
          <a:stretch>
            <a:fillRect/>
          </a:stretch>
        </p:blipFill>
        <p:spPr>
          <a:xfrm>
            <a:off x="344525" y="1935351"/>
            <a:ext cx="11621685" cy="2597320"/>
          </a:xfrm>
          <a:prstGeom prst="rect">
            <a:avLst/>
          </a:prstGeom>
        </p:spPr>
      </p:pic>
    </p:spTree>
    <p:extLst>
      <p:ext uri="{BB962C8B-B14F-4D97-AF65-F5344CB8AC3E}">
        <p14:creationId xmlns:p14="http://schemas.microsoft.com/office/powerpoint/2010/main" val="256090126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B540FE-8D37-E61A-FE96-BFAE2437D2E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A35764D0-E121-8CBF-3B4D-5C894CCD571D}"/>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7E69F701-4159-4E67-947E-74DD40E30F71}"/>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863209CB-A6DB-0664-810E-409EFBE8CC40}"/>
              </a:ext>
            </a:extLst>
          </p:cNvPr>
          <p:cNvSpPr>
            <a:spLocks noGrp="1"/>
          </p:cNvSpPr>
          <p:nvPr>
            <p:ph type="sldNum" sz="quarter" idx="12"/>
          </p:nvPr>
        </p:nvSpPr>
        <p:spPr/>
        <p:txBody>
          <a:bodyPr/>
          <a:lstStyle/>
          <a:p>
            <a:fld id="{1E81A027-E3F7-4FC9-A752-E855AD4A687D}" type="slidenum">
              <a:rPr lang="en-IN" smtClean="0"/>
              <a:t>100</a:t>
            </a:fld>
            <a:endParaRPr lang="en-IN"/>
          </a:p>
        </p:txBody>
      </p:sp>
      <p:pic>
        <p:nvPicPr>
          <p:cNvPr id="7" name="Picture 6">
            <a:extLst>
              <a:ext uri="{FF2B5EF4-FFF2-40B4-BE49-F238E27FC236}">
                <a16:creationId xmlns:a16="http://schemas.microsoft.com/office/drawing/2014/main" xmlns="" id="{248B044A-6F55-296B-30D9-068AAC2838E8}"/>
              </a:ext>
            </a:extLst>
          </p:cNvPr>
          <p:cNvPicPr>
            <a:picLocks noChangeAspect="1"/>
          </p:cNvPicPr>
          <p:nvPr/>
        </p:nvPicPr>
        <p:blipFill>
          <a:blip r:embed="rId2"/>
          <a:stretch>
            <a:fillRect/>
          </a:stretch>
        </p:blipFill>
        <p:spPr>
          <a:xfrm>
            <a:off x="251511" y="1737359"/>
            <a:ext cx="11724179" cy="3513593"/>
          </a:xfrm>
          <a:prstGeom prst="rect">
            <a:avLst/>
          </a:prstGeom>
        </p:spPr>
      </p:pic>
    </p:spTree>
    <p:extLst>
      <p:ext uri="{BB962C8B-B14F-4D97-AF65-F5344CB8AC3E}">
        <p14:creationId xmlns:p14="http://schemas.microsoft.com/office/powerpoint/2010/main" val="10605114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80A23B-91FA-5AEC-E54C-114FE1AA317F}"/>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xmlns="" id="{1B739529-ABC7-3876-0528-0DD6C9A5E832}"/>
              </a:ext>
            </a:extLst>
          </p:cNvPr>
          <p:cNvSpPr>
            <a:spLocks noGrp="1"/>
          </p:cNvSpPr>
          <p:nvPr>
            <p:ph idx="1"/>
          </p:nvPr>
        </p:nvSpPr>
        <p:spPr>
          <a:xfrm>
            <a:off x="1097280" y="4227870"/>
            <a:ext cx="10058400" cy="1641223"/>
          </a:xfrm>
        </p:spPr>
        <p:txBody>
          <a:bodyPr/>
          <a:lstStyle/>
          <a:p>
            <a:r>
              <a:rPr lang="en-US" sz="1800" dirty="0">
                <a:solidFill>
                  <a:srgbClr val="000000"/>
                </a:solidFill>
                <a:effectLst/>
                <a:latin typeface="Times-Roman"/>
              </a:rPr>
              <a:t>Bucharest first appears on the frontier here but it is not selected for expansion because its </a:t>
            </a:r>
            <a:r>
              <a:rPr lang="en-US" sz="1800" dirty="0">
                <a:solidFill>
                  <a:srgbClr val="000000"/>
                </a:solidFill>
                <a:effectLst/>
                <a:latin typeface="CMMI10"/>
              </a:rPr>
              <a:t>f</a:t>
            </a:r>
            <a:r>
              <a:rPr lang="en-US" sz="1800" dirty="0">
                <a:solidFill>
                  <a:srgbClr val="000000"/>
                </a:solidFill>
                <a:effectLst/>
                <a:latin typeface="Times-Roman"/>
              </a:rPr>
              <a:t>-cost (450) is higher than that of Pitesti (417). </a:t>
            </a:r>
          </a:p>
          <a:p>
            <a:r>
              <a:rPr lang="en-US" sz="1800" dirty="0">
                <a:solidFill>
                  <a:srgbClr val="000000"/>
                </a:solidFill>
                <a:effectLst/>
                <a:latin typeface="Times-Roman"/>
              </a:rPr>
              <a:t>Another way to say this is that there </a:t>
            </a:r>
            <a:r>
              <a:rPr lang="en-US" sz="1800" i="1" dirty="0">
                <a:solidFill>
                  <a:srgbClr val="000000"/>
                </a:solidFill>
                <a:effectLst/>
                <a:latin typeface="Times-Italic"/>
              </a:rPr>
              <a:t>might </a:t>
            </a:r>
            <a:r>
              <a:rPr lang="en-US" sz="1800" dirty="0">
                <a:solidFill>
                  <a:srgbClr val="000000"/>
                </a:solidFill>
                <a:effectLst/>
                <a:latin typeface="Times-Roman"/>
              </a:rPr>
              <a:t>be a solution through Pitesti whose cost is as low as 417, so the algorithm will not settle for a solution that costs 450.</a:t>
            </a:r>
            <a:endParaRPr lang="en-IN" dirty="0"/>
          </a:p>
        </p:txBody>
      </p:sp>
      <p:sp>
        <p:nvSpPr>
          <p:cNvPr id="4" name="Footer Placeholder 3">
            <a:extLst>
              <a:ext uri="{FF2B5EF4-FFF2-40B4-BE49-F238E27FC236}">
                <a16:creationId xmlns:a16="http://schemas.microsoft.com/office/drawing/2014/main" xmlns="" id="{25EC59F2-317C-6ED4-BFE2-9BD06ECA4580}"/>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B4E0D70C-51DF-2787-93D2-A27D63893271}"/>
              </a:ext>
            </a:extLst>
          </p:cNvPr>
          <p:cNvSpPr>
            <a:spLocks noGrp="1"/>
          </p:cNvSpPr>
          <p:nvPr>
            <p:ph type="sldNum" sz="quarter" idx="12"/>
          </p:nvPr>
        </p:nvSpPr>
        <p:spPr/>
        <p:txBody>
          <a:bodyPr/>
          <a:lstStyle/>
          <a:p>
            <a:fld id="{1E81A027-E3F7-4FC9-A752-E855AD4A687D}" type="slidenum">
              <a:rPr lang="en-IN" smtClean="0"/>
              <a:t>101</a:t>
            </a:fld>
            <a:endParaRPr lang="en-IN"/>
          </a:p>
        </p:txBody>
      </p:sp>
      <p:pic>
        <p:nvPicPr>
          <p:cNvPr id="7" name="Picture 6">
            <a:extLst>
              <a:ext uri="{FF2B5EF4-FFF2-40B4-BE49-F238E27FC236}">
                <a16:creationId xmlns:a16="http://schemas.microsoft.com/office/drawing/2014/main" xmlns="" id="{91D24BA7-2A8E-79BF-5165-F2251448AD4F}"/>
              </a:ext>
            </a:extLst>
          </p:cNvPr>
          <p:cNvPicPr>
            <a:picLocks noChangeAspect="1"/>
          </p:cNvPicPr>
          <p:nvPr/>
        </p:nvPicPr>
        <p:blipFill>
          <a:blip r:embed="rId2"/>
          <a:stretch>
            <a:fillRect/>
          </a:stretch>
        </p:blipFill>
        <p:spPr>
          <a:xfrm>
            <a:off x="73170" y="355584"/>
            <a:ext cx="11721949" cy="3354245"/>
          </a:xfrm>
          <a:prstGeom prst="rect">
            <a:avLst/>
          </a:prstGeom>
        </p:spPr>
      </p:pic>
    </p:spTree>
    <p:extLst>
      <p:ext uri="{BB962C8B-B14F-4D97-AF65-F5344CB8AC3E}">
        <p14:creationId xmlns:p14="http://schemas.microsoft.com/office/powerpoint/2010/main" val="277176726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B1D69E-E706-4711-0EB6-09FA908F509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D44C50D1-6996-39D7-B7C4-4F5EE5B7CEB2}"/>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xmlns="" id="{B22A4E12-C7D1-F507-18E8-68E7DC6B5F2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24BE5B99-FF9A-03B1-E0DA-7691D7C7611E}"/>
              </a:ext>
            </a:extLst>
          </p:cNvPr>
          <p:cNvSpPr>
            <a:spLocks noGrp="1"/>
          </p:cNvSpPr>
          <p:nvPr>
            <p:ph type="sldNum" sz="quarter" idx="12"/>
          </p:nvPr>
        </p:nvSpPr>
        <p:spPr/>
        <p:txBody>
          <a:bodyPr/>
          <a:lstStyle/>
          <a:p>
            <a:fld id="{1E81A027-E3F7-4FC9-A752-E855AD4A687D}" type="slidenum">
              <a:rPr lang="en-IN" smtClean="0"/>
              <a:t>102</a:t>
            </a:fld>
            <a:endParaRPr lang="en-IN"/>
          </a:p>
        </p:txBody>
      </p:sp>
      <p:pic>
        <p:nvPicPr>
          <p:cNvPr id="7" name="Picture 6">
            <a:extLst>
              <a:ext uri="{FF2B5EF4-FFF2-40B4-BE49-F238E27FC236}">
                <a16:creationId xmlns:a16="http://schemas.microsoft.com/office/drawing/2014/main" xmlns="" id="{FE88E46C-906A-D02C-B1BF-FC8D3FAABD3D}"/>
              </a:ext>
            </a:extLst>
          </p:cNvPr>
          <p:cNvPicPr>
            <a:picLocks noChangeAspect="1"/>
          </p:cNvPicPr>
          <p:nvPr/>
        </p:nvPicPr>
        <p:blipFill>
          <a:blip r:embed="rId2"/>
          <a:stretch>
            <a:fillRect/>
          </a:stretch>
        </p:blipFill>
        <p:spPr>
          <a:xfrm>
            <a:off x="511439" y="1011981"/>
            <a:ext cx="10848751" cy="4716375"/>
          </a:xfrm>
          <a:prstGeom prst="rect">
            <a:avLst/>
          </a:prstGeom>
        </p:spPr>
      </p:pic>
    </p:spTree>
    <p:extLst>
      <p:ext uri="{BB962C8B-B14F-4D97-AF65-F5344CB8AC3E}">
        <p14:creationId xmlns:p14="http://schemas.microsoft.com/office/powerpoint/2010/main" val="251484316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Footer Placeholder 3"/>
          <p:cNvSpPr>
            <a:spLocks noGrp="1"/>
          </p:cNvSpPr>
          <p:nvPr>
            <p:ph type="ftr" sz="quarter" idx="11"/>
          </p:nvPr>
        </p:nvSpPr>
        <p:spPr/>
        <p:txBody>
          <a:bodyPr/>
          <a:lstStyle/>
          <a:p>
            <a:r>
              <a:rPr lang="en-IN" smtClean="0"/>
              <a:t>DEPARTMENT OF CSE SNGCE</a:t>
            </a:r>
            <a:endParaRPr lang="en-IN"/>
          </a:p>
        </p:txBody>
      </p:sp>
      <p:sp>
        <p:nvSpPr>
          <p:cNvPr id="5" name="Slide Number Placeholder 4"/>
          <p:cNvSpPr>
            <a:spLocks noGrp="1"/>
          </p:cNvSpPr>
          <p:nvPr>
            <p:ph type="sldNum" sz="quarter" idx="12"/>
          </p:nvPr>
        </p:nvSpPr>
        <p:spPr/>
        <p:txBody>
          <a:bodyPr/>
          <a:lstStyle/>
          <a:p>
            <a:fld id="{1E81A027-E3F7-4FC9-A752-E855AD4A687D}" type="slidenum">
              <a:rPr lang="en-IN" smtClean="0"/>
              <a:t>103</a:t>
            </a:fld>
            <a:endParaRPr lang="en-IN"/>
          </a:p>
        </p:txBody>
      </p:sp>
      <p:pic>
        <p:nvPicPr>
          <p:cNvPr id="6" name="Content Placeholder 5"/>
          <p:cNvPicPr>
            <a:picLocks noGrp="1" noChangeAspect="1"/>
          </p:cNvPicPr>
          <p:nvPr>
            <p:ph idx="1"/>
          </p:nvPr>
        </p:nvPicPr>
        <p:blipFill>
          <a:blip r:embed="rId2"/>
          <a:stretch>
            <a:fillRect/>
          </a:stretch>
        </p:blipFill>
        <p:spPr>
          <a:xfrm>
            <a:off x="2498931" y="1846263"/>
            <a:ext cx="7254464" cy="4022725"/>
          </a:xfrm>
          <a:prstGeom prst="rect">
            <a:avLst/>
          </a:prstGeom>
        </p:spPr>
      </p:pic>
    </p:spTree>
    <p:extLst>
      <p:ext uri="{BB962C8B-B14F-4D97-AF65-F5344CB8AC3E}">
        <p14:creationId xmlns:p14="http://schemas.microsoft.com/office/powerpoint/2010/main" val="175734612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11"/>
          </p:nvPr>
        </p:nvSpPr>
        <p:spPr/>
        <p:txBody>
          <a:bodyPr/>
          <a:lstStyle/>
          <a:p>
            <a:r>
              <a:rPr lang="en-IN" smtClean="0"/>
              <a:t>DEPARTMENT OF CSE SNGCE</a:t>
            </a:r>
            <a:endParaRPr lang="en-IN"/>
          </a:p>
        </p:txBody>
      </p:sp>
      <p:sp>
        <p:nvSpPr>
          <p:cNvPr id="5" name="Slide Number Placeholder 4"/>
          <p:cNvSpPr>
            <a:spLocks noGrp="1"/>
          </p:cNvSpPr>
          <p:nvPr>
            <p:ph type="sldNum" sz="quarter" idx="12"/>
          </p:nvPr>
        </p:nvSpPr>
        <p:spPr/>
        <p:txBody>
          <a:bodyPr/>
          <a:lstStyle/>
          <a:p>
            <a:fld id="{1E81A027-E3F7-4FC9-A752-E855AD4A687D}" type="slidenum">
              <a:rPr lang="en-IN" smtClean="0"/>
              <a:t>104</a:t>
            </a:fld>
            <a:endParaRPr lang="en-IN"/>
          </a:p>
        </p:txBody>
      </p:sp>
      <p:pic>
        <p:nvPicPr>
          <p:cNvPr id="6" name="Content Placeholder 5"/>
          <p:cNvPicPr>
            <a:picLocks noGrp="1" noChangeAspect="1"/>
          </p:cNvPicPr>
          <p:nvPr>
            <p:ph idx="1"/>
          </p:nvPr>
        </p:nvPicPr>
        <p:blipFill>
          <a:blip r:embed="rId2"/>
          <a:stretch>
            <a:fillRect/>
          </a:stretch>
        </p:blipFill>
        <p:spPr>
          <a:xfrm>
            <a:off x="2298544" y="1846263"/>
            <a:ext cx="7655237" cy="4022725"/>
          </a:xfrm>
          <a:prstGeom prst="rect">
            <a:avLst/>
          </a:prstGeom>
        </p:spPr>
      </p:pic>
    </p:spTree>
    <p:extLst>
      <p:ext uri="{BB962C8B-B14F-4D97-AF65-F5344CB8AC3E}">
        <p14:creationId xmlns:p14="http://schemas.microsoft.com/office/powerpoint/2010/main" val="295024587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5CE07C-6C08-34E6-82D6-0C0D3CA7B5A2}"/>
              </a:ext>
            </a:extLst>
          </p:cNvPr>
          <p:cNvSpPr>
            <a:spLocks noGrp="1"/>
          </p:cNvSpPr>
          <p:nvPr>
            <p:ph type="title"/>
          </p:nvPr>
        </p:nvSpPr>
        <p:spPr/>
        <p:txBody>
          <a:bodyPr>
            <a:normAutofit/>
          </a:bodyPr>
          <a:lstStyle/>
          <a:p>
            <a:r>
              <a:rPr lang="en-US" dirty="0">
                <a:solidFill>
                  <a:srgbClr val="000000"/>
                </a:solidFill>
                <a:effectLst/>
              </a:rPr>
              <a:t>Conditions for optimality: Admissibility</a:t>
            </a:r>
            <a:endParaRPr lang="en-IN" dirty="0"/>
          </a:p>
        </p:txBody>
      </p:sp>
      <p:sp>
        <p:nvSpPr>
          <p:cNvPr id="3" name="Content Placeholder 2">
            <a:extLst>
              <a:ext uri="{FF2B5EF4-FFF2-40B4-BE49-F238E27FC236}">
                <a16:creationId xmlns:a16="http://schemas.microsoft.com/office/drawing/2014/main" xmlns="" id="{202E341F-9893-7474-5D51-D717A1C52FA7}"/>
              </a:ext>
            </a:extLst>
          </p:cNvPr>
          <p:cNvSpPr>
            <a:spLocks noGrp="1"/>
          </p:cNvSpPr>
          <p:nvPr>
            <p:ph idx="1"/>
          </p:nvPr>
        </p:nvSpPr>
        <p:spPr/>
        <p:txBody>
          <a:bodyPr>
            <a:normAutofit fontScale="92500" lnSpcReduction="10000"/>
          </a:bodyPr>
          <a:lstStyle/>
          <a:p>
            <a:r>
              <a:rPr lang="en-US" sz="2400" dirty="0">
                <a:solidFill>
                  <a:srgbClr val="000000"/>
                </a:solidFill>
                <a:effectLst/>
              </a:rPr>
              <a:t>The first condition we require for optimality is that h(n) be an </a:t>
            </a:r>
            <a:r>
              <a:rPr lang="en-US" sz="2400" b="1" dirty="0">
                <a:solidFill>
                  <a:srgbClr val="000000"/>
                </a:solidFill>
                <a:effectLst/>
              </a:rPr>
              <a:t>admissible heuristic</a:t>
            </a:r>
            <a:r>
              <a:rPr lang="en-US" sz="2400" dirty="0">
                <a:solidFill>
                  <a:srgbClr val="000000"/>
                </a:solidFill>
                <a:effectLst/>
              </a:rPr>
              <a:t>. </a:t>
            </a:r>
          </a:p>
          <a:p>
            <a:pPr algn="ctr"/>
            <a:r>
              <a:rPr lang="en-US" sz="2400" dirty="0">
                <a:solidFill>
                  <a:srgbClr val="FF0000"/>
                </a:solidFill>
                <a:effectLst/>
              </a:rPr>
              <a:t>An admissible heuristic is one that </a:t>
            </a:r>
            <a:r>
              <a:rPr lang="en-US" sz="2400" i="1" dirty="0">
                <a:solidFill>
                  <a:srgbClr val="FF0000"/>
                </a:solidFill>
                <a:effectLst/>
              </a:rPr>
              <a:t>never overestimates </a:t>
            </a:r>
            <a:r>
              <a:rPr lang="en-US" sz="2400" dirty="0">
                <a:solidFill>
                  <a:srgbClr val="FF0000"/>
                </a:solidFill>
                <a:effectLst/>
              </a:rPr>
              <a:t>the cost to reach the goal. </a:t>
            </a:r>
          </a:p>
          <a:p>
            <a:r>
              <a:rPr lang="en-US" sz="2400" dirty="0">
                <a:solidFill>
                  <a:srgbClr val="000000"/>
                </a:solidFill>
                <a:effectLst/>
              </a:rPr>
              <a:t>g(n) is the actual cost to reach n along the current path, and </a:t>
            </a:r>
          </a:p>
          <a:p>
            <a:r>
              <a:rPr lang="en-US" sz="2400" dirty="0">
                <a:solidFill>
                  <a:srgbClr val="000000"/>
                </a:solidFill>
                <a:effectLst/>
              </a:rPr>
              <a:t>f(n) = g(n) + h(n), we have as an immediate consequence that f(n) never overestimates the true cost of a solution along the current path through n.</a:t>
            </a:r>
          </a:p>
          <a:p>
            <a:r>
              <a:rPr lang="en-US" sz="2400" dirty="0">
                <a:solidFill>
                  <a:srgbClr val="000000"/>
                </a:solidFill>
                <a:effectLst/>
              </a:rPr>
              <a:t>Admissible heuristics are by nature optimistic because they think the cost of solving the problem is less than it actually is</a:t>
            </a:r>
          </a:p>
          <a:p>
            <a:pPr lvl="1"/>
            <a:r>
              <a:rPr lang="en-US" sz="2400" dirty="0" err="1">
                <a:solidFill>
                  <a:srgbClr val="000000"/>
                </a:solidFill>
              </a:rPr>
              <a:t>Eg</a:t>
            </a:r>
            <a:r>
              <a:rPr lang="en-US" sz="2400" dirty="0">
                <a:solidFill>
                  <a:srgbClr val="000000"/>
                </a:solidFill>
              </a:rPr>
              <a:t>, </a:t>
            </a:r>
            <a:r>
              <a:rPr lang="en-US" sz="2400" dirty="0">
                <a:solidFill>
                  <a:srgbClr val="000000"/>
                </a:solidFill>
                <a:effectLst/>
              </a:rPr>
              <a:t>straight-line distance </a:t>
            </a:r>
            <a:r>
              <a:rPr lang="en-US" sz="2400" dirty="0" err="1">
                <a:solidFill>
                  <a:srgbClr val="000000"/>
                </a:solidFill>
                <a:effectLst/>
              </a:rPr>
              <a:t>h</a:t>
            </a:r>
            <a:r>
              <a:rPr lang="en-US" sz="2400" baseline="-25000" dirty="0" err="1">
                <a:solidFill>
                  <a:srgbClr val="000000"/>
                </a:solidFill>
                <a:effectLst/>
              </a:rPr>
              <a:t>SLD</a:t>
            </a:r>
            <a:r>
              <a:rPr lang="en-US" sz="2400" dirty="0">
                <a:solidFill>
                  <a:srgbClr val="000000"/>
                </a:solidFill>
                <a:effectLst/>
              </a:rPr>
              <a:t> that we used in getting to Bucharest</a:t>
            </a:r>
            <a:r>
              <a:rPr lang="en-US" sz="2400" dirty="0">
                <a:solidFill>
                  <a:srgbClr val="000000"/>
                </a:solidFill>
              </a:rPr>
              <a:t> is </a:t>
            </a:r>
            <a:r>
              <a:rPr lang="en-IN" sz="2400" dirty="0">
                <a:solidFill>
                  <a:srgbClr val="000000"/>
                </a:solidFill>
                <a:effectLst/>
              </a:rPr>
              <a:t>n admissible heuristic</a:t>
            </a:r>
            <a:endParaRPr lang="en-US" sz="2400" dirty="0">
              <a:solidFill>
                <a:srgbClr val="000000"/>
              </a:solidFill>
            </a:endParaRPr>
          </a:p>
          <a:p>
            <a:pPr lvl="1"/>
            <a:r>
              <a:rPr lang="en-US" sz="2400" dirty="0">
                <a:solidFill>
                  <a:srgbClr val="000000"/>
                </a:solidFill>
                <a:effectLst/>
              </a:rPr>
              <a:t>because the shortest path between any two points is a straight line</a:t>
            </a:r>
          </a:p>
          <a:p>
            <a:pPr lvl="1"/>
            <a:r>
              <a:rPr lang="en-IN" sz="2400" dirty="0">
                <a:solidFill>
                  <a:srgbClr val="000000"/>
                </a:solidFill>
                <a:effectLst/>
              </a:rPr>
              <a:t>Straight</a:t>
            </a:r>
            <a:r>
              <a:rPr lang="en-US" sz="2400" dirty="0">
                <a:solidFill>
                  <a:srgbClr val="000000"/>
                </a:solidFill>
              </a:rPr>
              <a:t> </a:t>
            </a:r>
            <a:r>
              <a:rPr lang="en-US" sz="2400" dirty="0">
                <a:solidFill>
                  <a:srgbClr val="000000"/>
                </a:solidFill>
                <a:effectLst/>
              </a:rPr>
              <a:t>line cannot be an overestimate</a:t>
            </a:r>
            <a:endParaRPr lang="en-IN" sz="2400" dirty="0"/>
          </a:p>
        </p:txBody>
      </p:sp>
      <p:sp>
        <p:nvSpPr>
          <p:cNvPr id="4" name="Footer Placeholder 3">
            <a:extLst>
              <a:ext uri="{FF2B5EF4-FFF2-40B4-BE49-F238E27FC236}">
                <a16:creationId xmlns:a16="http://schemas.microsoft.com/office/drawing/2014/main" xmlns="" id="{E44E0389-0866-FCB5-D9C0-A19D688D5A97}"/>
              </a:ext>
            </a:extLst>
          </p:cNvPr>
          <p:cNvSpPr>
            <a:spLocks noGrp="1"/>
          </p:cNvSpPr>
          <p:nvPr>
            <p:ph type="ftr" sz="quarter" idx="11"/>
          </p:nvPr>
        </p:nvSpPr>
        <p:spPr/>
        <p:txBody>
          <a:bodyPr/>
          <a:lstStyle/>
          <a:p>
            <a:r>
              <a:rPr lang="en-IN" dirty="0"/>
              <a:t>DEPARTMENT OF CSE SNGCE</a:t>
            </a:r>
          </a:p>
        </p:txBody>
      </p:sp>
      <p:sp>
        <p:nvSpPr>
          <p:cNvPr id="5" name="Slide Number Placeholder 4">
            <a:extLst>
              <a:ext uri="{FF2B5EF4-FFF2-40B4-BE49-F238E27FC236}">
                <a16:creationId xmlns:a16="http://schemas.microsoft.com/office/drawing/2014/main" xmlns="" id="{8F148DE0-2747-9935-82BF-14A4D5A80A77}"/>
              </a:ext>
            </a:extLst>
          </p:cNvPr>
          <p:cNvSpPr>
            <a:spLocks noGrp="1"/>
          </p:cNvSpPr>
          <p:nvPr>
            <p:ph type="sldNum" sz="quarter" idx="12"/>
          </p:nvPr>
        </p:nvSpPr>
        <p:spPr/>
        <p:txBody>
          <a:bodyPr/>
          <a:lstStyle/>
          <a:p>
            <a:fld id="{1E81A027-E3F7-4FC9-A752-E855AD4A687D}" type="slidenum">
              <a:rPr lang="en-IN" smtClean="0"/>
              <a:t>105</a:t>
            </a:fld>
            <a:endParaRPr lang="en-IN"/>
          </a:p>
        </p:txBody>
      </p:sp>
    </p:spTree>
    <p:extLst>
      <p:ext uri="{BB962C8B-B14F-4D97-AF65-F5344CB8AC3E}">
        <p14:creationId xmlns:p14="http://schemas.microsoft.com/office/powerpoint/2010/main" val="26639653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38CBF6-9D9A-5691-3680-72D2A3DF8559}"/>
              </a:ext>
            </a:extLst>
          </p:cNvPr>
          <p:cNvSpPr>
            <a:spLocks noGrp="1"/>
          </p:cNvSpPr>
          <p:nvPr>
            <p:ph type="title"/>
          </p:nvPr>
        </p:nvSpPr>
        <p:spPr/>
        <p:txBody>
          <a:bodyPr/>
          <a:lstStyle/>
          <a:p>
            <a:r>
              <a:rPr lang="en-US" dirty="0">
                <a:solidFill>
                  <a:srgbClr val="000000"/>
                </a:solidFill>
                <a:effectLst/>
              </a:rPr>
              <a:t>Conditions for optimality: Consistency</a:t>
            </a:r>
            <a:endParaRPr lang="en-IN" dirty="0"/>
          </a:p>
        </p:txBody>
      </p:sp>
      <p:sp>
        <p:nvSpPr>
          <p:cNvPr id="3" name="Content Placeholder 2">
            <a:extLst>
              <a:ext uri="{FF2B5EF4-FFF2-40B4-BE49-F238E27FC236}">
                <a16:creationId xmlns:a16="http://schemas.microsoft.com/office/drawing/2014/main" xmlns="" id="{28865F66-F06C-8144-8872-C5C384AB1E3A}"/>
              </a:ext>
            </a:extLst>
          </p:cNvPr>
          <p:cNvSpPr>
            <a:spLocks noGrp="1"/>
          </p:cNvSpPr>
          <p:nvPr>
            <p:ph idx="1"/>
          </p:nvPr>
        </p:nvSpPr>
        <p:spPr/>
        <p:txBody>
          <a:bodyPr>
            <a:normAutofit fontScale="92500" lnSpcReduction="10000"/>
          </a:bodyPr>
          <a:lstStyle/>
          <a:p>
            <a:r>
              <a:rPr lang="en-US" sz="2400" dirty="0">
                <a:solidFill>
                  <a:srgbClr val="000000"/>
                </a:solidFill>
                <a:effectLst/>
              </a:rPr>
              <a:t>It is required only for applications of A∗ to graph search</a:t>
            </a:r>
          </a:p>
          <a:p>
            <a:r>
              <a:rPr lang="en-US" sz="2400" dirty="0">
                <a:solidFill>
                  <a:srgbClr val="000000"/>
                </a:solidFill>
                <a:effectLst/>
              </a:rPr>
              <a:t>A heuristic h(n) is consistent if, for every node n and every successor n of n generated by any action a, the estimated cost of reaching the goal from n is no greater than the step cost of getting to n plus the estimated cost of reaching the goal from n : </a:t>
            </a:r>
            <a:endParaRPr lang="en-US" sz="2800" dirty="0"/>
          </a:p>
          <a:p>
            <a:r>
              <a:rPr lang="en-US" sz="2800" dirty="0">
                <a:solidFill>
                  <a:srgbClr val="000000"/>
                </a:solidFill>
                <a:effectLst/>
              </a:rPr>
              <a:t>h(n) ≤ c(n, a, n ) + h(n ) </a:t>
            </a:r>
            <a:endParaRPr lang="en-US" sz="2800" dirty="0">
              <a:solidFill>
                <a:srgbClr val="000000"/>
              </a:solidFill>
            </a:endParaRPr>
          </a:p>
          <a:p>
            <a:r>
              <a:rPr lang="en-US" sz="2400" dirty="0">
                <a:solidFill>
                  <a:srgbClr val="000000"/>
                </a:solidFill>
                <a:effectLst/>
              </a:rPr>
              <a:t>This is a form of the general </a:t>
            </a:r>
            <a:r>
              <a:rPr lang="en-US" sz="2400" b="1" dirty="0">
                <a:solidFill>
                  <a:srgbClr val="000000"/>
                </a:solidFill>
                <a:effectLst/>
              </a:rPr>
              <a:t>triangle inequality</a:t>
            </a:r>
            <a:r>
              <a:rPr lang="en-US" sz="2400" dirty="0">
                <a:solidFill>
                  <a:srgbClr val="000000"/>
                </a:solidFill>
                <a:effectLst/>
              </a:rPr>
              <a:t>, which stipulates that each side of a triangle cannot be longer than the sum of the other two sides</a:t>
            </a:r>
          </a:p>
          <a:p>
            <a:pPr lvl="1"/>
            <a:r>
              <a:rPr lang="en-US" sz="2000" dirty="0">
                <a:solidFill>
                  <a:srgbClr val="000000"/>
                </a:solidFill>
                <a:effectLst/>
              </a:rPr>
              <a:t>Here, the triangle is formed by n, n , </a:t>
            </a:r>
            <a:r>
              <a:rPr lang="en-US" sz="2400" dirty="0">
                <a:solidFill>
                  <a:srgbClr val="000000"/>
                </a:solidFill>
                <a:effectLst/>
              </a:rPr>
              <a:t>and the goal </a:t>
            </a:r>
            <a:r>
              <a:rPr lang="en-US" sz="2400" dirty="0" err="1">
                <a:solidFill>
                  <a:srgbClr val="000000"/>
                </a:solidFill>
                <a:effectLst/>
              </a:rPr>
              <a:t>Gn</a:t>
            </a:r>
            <a:r>
              <a:rPr lang="en-US" sz="2400" dirty="0">
                <a:solidFill>
                  <a:srgbClr val="000000"/>
                </a:solidFill>
                <a:effectLst/>
              </a:rPr>
              <a:t> closest to n. </a:t>
            </a:r>
          </a:p>
          <a:p>
            <a:pPr lvl="1"/>
            <a:r>
              <a:rPr lang="en-US" sz="2400" dirty="0">
                <a:solidFill>
                  <a:srgbClr val="000000"/>
                </a:solidFill>
                <a:effectLst/>
              </a:rPr>
              <a:t>For an admissible heuristic, the inequality makes perfect sense: </a:t>
            </a:r>
          </a:p>
          <a:p>
            <a:pPr lvl="2">
              <a:buFont typeface="Wingdings" panose="05000000000000000000" pitchFamily="2" charset="2"/>
              <a:buChar char="Ø"/>
            </a:pPr>
            <a:r>
              <a:rPr lang="en-US" sz="2200" dirty="0">
                <a:solidFill>
                  <a:srgbClr val="000000"/>
                </a:solidFill>
                <a:effectLst/>
              </a:rPr>
              <a:t>if there were a route from n to </a:t>
            </a:r>
            <a:r>
              <a:rPr lang="en-US" sz="2200" dirty="0" err="1">
                <a:solidFill>
                  <a:srgbClr val="000000"/>
                </a:solidFill>
                <a:effectLst/>
              </a:rPr>
              <a:t>Gn</a:t>
            </a:r>
            <a:r>
              <a:rPr lang="en-US" sz="2200" dirty="0">
                <a:solidFill>
                  <a:srgbClr val="000000"/>
                </a:solidFill>
                <a:effectLst/>
              </a:rPr>
              <a:t> via n that was cheaper than h(n), that would violate the property that h(n) is a lower bound on the cost to reach Gn.</a:t>
            </a:r>
            <a:endParaRPr lang="en-IN" sz="2200" dirty="0"/>
          </a:p>
        </p:txBody>
      </p:sp>
      <p:sp>
        <p:nvSpPr>
          <p:cNvPr id="4" name="Footer Placeholder 3">
            <a:extLst>
              <a:ext uri="{FF2B5EF4-FFF2-40B4-BE49-F238E27FC236}">
                <a16:creationId xmlns:a16="http://schemas.microsoft.com/office/drawing/2014/main" xmlns="" id="{C511D0CF-4BFB-CF18-18F4-DED42670A94C}"/>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5A675753-39C8-D4C7-0257-46BA286F6B2A}"/>
              </a:ext>
            </a:extLst>
          </p:cNvPr>
          <p:cNvSpPr>
            <a:spLocks noGrp="1"/>
          </p:cNvSpPr>
          <p:nvPr>
            <p:ph type="sldNum" sz="quarter" idx="12"/>
          </p:nvPr>
        </p:nvSpPr>
        <p:spPr/>
        <p:txBody>
          <a:bodyPr/>
          <a:lstStyle/>
          <a:p>
            <a:fld id="{1E81A027-E3F7-4FC9-A752-E855AD4A687D}" type="slidenum">
              <a:rPr lang="en-IN" smtClean="0"/>
              <a:t>106</a:t>
            </a:fld>
            <a:endParaRPr lang="en-IN"/>
          </a:p>
        </p:txBody>
      </p:sp>
    </p:spTree>
    <p:extLst>
      <p:ext uri="{BB962C8B-B14F-4D97-AF65-F5344CB8AC3E}">
        <p14:creationId xmlns:p14="http://schemas.microsoft.com/office/powerpoint/2010/main" val="118704296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63804C-CCBD-1A1C-3410-729689661B59}"/>
              </a:ext>
            </a:extLst>
          </p:cNvPr>
          <p:cNvSpPr>
            <a:spLocks noGrp="1"/>
          </p:cNvSpPr>
          <p:nvPr>
            <p:ph type="title"/>
          </p:nvPr>
        </p:nvSpPr>
        <p:spPr/>
        <p:txBody>
          <a:bodyPr>
            <a:normAutofit/>
          </a:bodyPr>
          <a:lstStyle/>
          <a:p>
            <a:r>
              <a:rPr lang="en-IN" dirty="0">
                <a:solidFill>
                  <a:srgbClr val="000000"/>
                </a:solidFill>
                <a:effectLst/>
              </a:rPr>
              <a:t>Optimality of A*</a:t>
            </a:r>
            <a:endParaRPr lang="en-IN" dirty="0"/>
          </a:p>
        </p:txBody>
      </p:sp>
      <p:sp>
        <p:nvSpPr>
          <p:cNvPr id="3" name="Content Placeholder 2">
            <a:extLst>
              <a:ext uri="{FF2B5EF4-FFF2-40B4-BE49-F238E27FC236}">
                <a16:creationId xmlns:a16="http://schemas.microsoft.com/office/drawing/2014/main" xmlns="" id="{597A46FC-B0C7-9106-7B62-A851AED13CC8}"/>
              </a:ext>
            </a:extLst>
          </p:cNvPr>
          <p:cNvSpPr>
            <a:spLocks noGrp="1"/>
          </p:cNvSpPr>
          <p:nvPr>
            <p:ph idx="1"/>
          </p:nvPr>
        </p:nvSpPr>
        <p:spPr/>
        <p:txBody>
          <a:bodyPr>
            <a:normAutofit/>
          </a:bodyPr>
          <a:lstStyle/>
          <a:p>
            <a:r>
              <a:rPr lang="en-US" i="1" dirty="0">
                <a:solidFill>
                  <a:srgbClr val="000000"/>
                </a:solidFill>
                <a:effectLst/>
              </a:rPr>
              <a:t>the tree-search version of </a:t>
            </a:r>
            <a:r>
              <a:rPr lang="en-US" dirty="0">
                <a:solidFill>
                  <a:srgbClr val="000000"/>
                </a:solidFill>
                <a:effectLst/>
              </a:rPr>
              <a:t>A∗ </a:t>
            </a:r>
            <a:r>
              <a:rPr lang="en-US" i="1" dirty="0">
                <a:solidFill>
                  <a:srgbClr val="000000"/>
                </a:solidFill>
                <a:effectLst/>
              </a:rPr>
              <a:t>is optimal if </a:t>
            </a:r>
            <a:r>
              <a:rPr lang="en-US" dirty="0">
                <a:solidFill>
                  <a:srgbClr val="000000"/>
                </a:solidFill>
                <a:effectLst/>
              </a:rPr>
              <a:t>h(n) </a:t>
            </a:r>
            <a:r>
              <a:rPr lang="en-US" i="1" dirty="0">
                <a:solidFill>
                  <a:srgbClr val="000000"/>
                </a:solidFill>
                <a:effectLst/>
              </a:rPr>
              <a:t>is admissible, while the graph-search version is optimal if </a:t>
            </a:r>
            <a:r>
              <a:rPr lang="en-US" dirty="0">
                <a:solidFill>
                  <a:srgbClr val="000000"/>
                </a:solidFill>
                <a:effectLst/>
              </a:rPr>
              <a:t>h(n) </a:t>
            </a:r>
            <a:r>
              <a:rPr lang="en-US" i="1" dirty="0">
                <a:solidFill>
                  <a:srgbClr val="000000"/>
                </a:solidFill>
                <a:effectLst/>
              </a:rPr>
              <a:t>is consistent.</a:t>
            </a:r>
          </a:p>
          <a:p>
            <a:r>
              <a:rPr lang="en-US" dirty="0">
                <a:solidFill>
                  <a:srgbClr val="000000"/>
                </a:solidFill>
                <a:effectLst/>
              </a:rPr>
              <a:t>A∗ expands no nodes with f(n) &gt; C∗—for example, Timisoara is not expanded in even though it is a child of the root</a:t>
            </a:r>
          </a:p>
          <a:p>
            <a:r>
              <a:rPr lang="en-IN" dirty="0">
                <a:solidFill>
                  <a:srgbClr val="000000"/>
                </a:solidFill>
                <a:effectLst/>
              </a:rPr>
              <a:t>the subtree below</a:t>
            </a:r>
            <a:r>
              <a:rPr lang="en-US" dirty="0">
                <a:solidFill>
                  <a:srgbClr val="000000"/>
                </a:solidFill>
              </a:rPr>
              <a:t> </a:t>
            </a:r>
            <a:r>
              <a:rPr lang="en-US" dirty="0">
                <a:solidFill>
                  <a:srgbClr val="000000"/>
                </a:solidFill>
                <a:effectLst/>
              </a:rPr>
              <a:t>Timisoara is </a:t>
            </a:r>
            <a:r>
              <a:rPr lang="en-US" b="1" dirty="0">
                <a:solidFill>
                  <a:srgbClr val="000000"/>
                </a:solidFill>
                <a:effectLst/>
              </a:rPr>
              <a:t>pruned</a:t>
            </a:r>
            <a:r>
              <a:rPr lang="en-US" dirty="0">
                <a:solidFill>
                  <a:srgbClr val="000000"/>
                </a:solidFill>
                <a:effectLst/>
              </a:rPr>
              <a:t>; because </a:t>
            </a:r>
            <a:r>
              <a:rPr lang="en-US" dirty="0" err="1">
                <a:solidFill>
                  <a:srgbClr val="000000"/>
                </a:solidFill>
                <a:effectLst/>
              </a:rPr>
              <a:t>hSLD</a:t>
            </a:r>
            <a:r>
              <a:rPr lang="en-US" dirty="0">
                <a:solidFill>
                  <a:srgbClr val="000000"/>
                </a:solidFill>
                <a:effectLst/>
              </a:rPr>
              <a:t> is admissible, the algorithm can safely ignore this subtree while still guaranteeing optimality</a:t>
            </a:r>
          </a:p>
          <a:p>
            <a:r>
              <a:rPr lang="en-US" dirty="0">
                <a:solidFill>
                  <a:srgbClr val="000000"/>
                </a:solidFill>
                <a:effectLst/>
              </a:rPr>
              <a:t>Pruning eliminates possibilities from consideration without having to examine them</a:t>
            </a:r>
          </a:p>
          <a:p>
            <a:r>
              <a:rPr lang="en-US" dirty="0">
                <a:solidFill>
                  <a:srgbClr val="000000"/>
                </a:solidFill>
                <a:effectLst/>
              </a:rPr>
              <a:t>A∗ is </a:t>
            </a:r>
            <a:r>
              <a:rPr lang="en-US" b="1" dirty="0">
                <a:solidFill>
                  <a:srgbClr val="000000"/>
                </a:solidFill>
                <a:effectLst/>
              </a:rPr>
              <a:t>optimally efficient </a:t>
            </a:r>
            <a:r>
              <a:rPr lang="en-US" dirty="0">
                <a:solidFill>
                  <a:srgbClr val="000000"/>
                </a:solidFill>
                <a:effectLst/>
              </a:rPr>
              <a:t>for any given consistent heuristic. </a:t>
            </a:r>
          </a:p>
          <a:p>
            <a:pPr lvl="1"/>
            <a:r>
              <a:rPr lang="en-US" sz="2000" dirty="0">
                <a:solidFill>
                  <a:srgbClr val="000000"/>
                </a:solidFill>
              </a:rPr>
              <a:t>That is, no other optimal algorithm is guaranteed to expand fewer nodes than A∗ </a:t>
            </a:r>
          </a:p>
          <a:p>
            <a:pPr lvl="1"/>
            <a:r>
              <a:rPr lang="en-US" sz="2000" dirty="0">
                <a:solidFill>
                  <a:srgbClr val="000000"/>
                </a:solidFill>
                <a:effectLst/>
              </a:rPr>
              <a:t>This is because any algorithm that </a:t>
            </a:r>
            <a:r>
              <a:rPr lang="en-US" sz="2000" i="1" dirty="0">
                <a:solidFill>
                  <a:srgbClr val="000000"/>
                </a:solidFill>
                <a:effectLst/>
              </a:rPr>
              <a:t>does not </a:t>
            </a:r>
            <a:r>
              <a:rPr lang="en-US" sz="2000" dirty="0">
                <a:solidFill>
                  <a:srgbClr val="000000"/>
                </a:solidFill>
                <a:effectLst/>
              </a:rPr>
              <a:t>expand all nodes with f(n) &lt; C∗ runs the risk of missing the optimal solution.</a:t>
            </a:r>
            <a:endParaRPr lang="en-US" sz="2000" i="1" dirty="0">
              <a:solidFill>
                <a:srgbClr val="000000"/>
              </a:solidFill>
              <a:effectLst/>
            </a:endParaRPr>
          </a:p>
        </p:txBody>
      </p:sp>
      <p:sp>
        <p:nvSpPr>
          <p:cNvPr id="4" name="Footer Placeholder 3">
            <a:extLst>
              <a:ext uri="{FF2B5EF4-FFF2-40B4-BE49-F238E27FC236}">
                <a16:creationId xmlns:a16="http://schemas.microsoft.com/office/drawing/2014/main" xmlns="" id="{0CDDAEF0-586A-1C9F-8390-A8F246ABA285}"/>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F415C11E-BB7D-8D3C-337E-BC4C2905FCEF}"/>
              </a:ext>
            </a:extLst>
          </p:cNvPr>
          <p:cNvSpPr>
            <a:spLocks noGrp="1"/>
          </p:cNvSpPr>
          <p:nvPr>
            <p:ph type="sldNum" sz="quarter" idx="12"/>
          </p:nvPr>
        </p:nvSpPr>
        <p:spPr/>
        <p:txBody>
          <a:bodyPr/>
          <a:lstStyle/>
          <a:p>
            <a:fld id="{1E81A027-E3F7-4FC9-A752-E855AD4A687D}" type="slidenum">
              <a:rPr lang="en-IN" smtClean="0"/>
              <a:t>107</a:t>
            </a:fld>
            <a:endParaRPr lang="en-IN"/>
          </a:p>
        </p:txBody>
      </p:sp>
    </p:spTree>
    <p:extLst>
      <p:ext uri="{BB962C8B-B14F-4D97-AF65-F5344CB8AC3E}">
        <p14:creationId xmlns:p14="http://schemas.microsoft.com/office/powerpoint/2010/main" val="348228645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503A8F-EC2D-9BFC-41B6-AC49227F8EC7}"/>
              </a:ext>
            </a:extLst>
          </p:cNvPr>
          <p:cNvSpPr>
            <a:spLocks noGrp="1"/>
          </p:cNvSpPr>
          <p:nvPr>
            <p:ph type="title"/>
          </p:nvPr>
        </p:nvSpPr>
        <p:spPr/>
        <p:txBody>
          <a:bodyPr>
            <a:normAutofit/>
          </a:bodyPr>
          <a:lstStyle/>
          <a:p>
            <a:r>
              <a:rPr lang="en-US" sz="4800" dirty="0">
                <a:solidFill>
                  <a:srgbClr val="000000"/>
                </a:solidFill>
                <a:effectLst/>
              </a:rPr>
              <a:t>if h(n) is consistent, then the values of f(n) along any path are nondecreasing. </a:t>
            </a:r>
            <a:endParaRPr lang="en-IN" dirty="0"/>
          </a:p>
        </p:txBody>
      </p:sp>
      <p:sp>
        <p:nvSpPr>
          <p:cNvPr id="3" name="Content Placeholder 2">
            <a:extLst>
              <a:ext uri="{FF2B5EF4-FFF2-40B4-BE49-F238E27FC236}">
                <a16:creationId xmlns:a16="http://schemas.microsoft.com/office/drawing/2014/main" xmlns="" id="{B72A11BA-BA83-F7BB-CF22-9E65587F82E7}"/>
              </a:ext>
            </a:extLst>
          </p:cNvPr>
          <p:cNvSpPr>
            <a:spLocks noGrp="1"/>
          </p:cNvSpPr>
          <p:nvPr>
            <p:ph idx="1"/>
          </p:nvPr>
        </p:nvSpPr>
        <p:spPr/>
        <p:txBody>
          <a:bodyPr/>
          <a:lstStyle/>
          <a:p>
            <a:r>
              <a:rPr lang="en-US" sz="2000" dirty="0">
                <a:solidFill>
                  <a:srgbClr val="000000"/>
                </a:solidFill>
                <a:effectLst/>
                <a:latin typeface="Times-Roman"/>
              </a:rPr>
              <a:t>The proof follows directly from the definition of consistency. </a:t>
            </a:r>
          </a:p>
          <a:p>
            <a:r>
              <a:rPr lang="en-US" sz="2000" dirty="0">
                <a:solidFill>
                  <a:srgbClr val="000000"/>
                </a:solidFill>
                <a:effectLst/>
                <a:latin typeface="Times-Roman"/>
              </a:rPr>
              <a:t>Suppose </a:t>
            </a:r>
            <a:r>
              <a:rPr lang="en-US" sz="2000" dirty="0">
                <a:solidFill>
                  <a:srgbClr val="000000"/>
                </a:solidFill>
                <a:effectLst/>
                <a:latin typeface="CMMI10"/>
              </a:rPr>
              <a:t>n</a:t>
            </a:r>
            <a:r>
              <a:rPr lang="en-US" sz="2000" dirty="0">
                <a:solidFill>
                  <a:srgbClr val="000000"/>
                </a:solidFill>
                <a:effectLst/>
                <a:latin typeface="CMSY8"/>
              </a:rPr>
              <a:t> </a:t>
            </a:r>
            <a:r>
              <a:rPr lang="en-US" sz="2000" dirty="0">
                <a:solidFill>
                  <a:srgbClr val="000000"/>
                </a:solidFill>
                <a:effectLst/>
                <a:latin typeface="Times-Roman"/>
              </a:rPr>
              <a:t>is a successor of </a:t>
            </a:r>
            <a:r>
              <a:rPr lang="en-US" sz="2000" dirty="0">
                <a:solidFill>
                  <a:srgbClr val="000000"/>
                </a:solidFill>
                <a:effectLst/>
                <a:latin typeface="CMMI10"/>
              </a:rPr>
              <a:t>n</a:t>
            </a:r>
            <a:r>
              <a:rPr lang="en-US" sz="2000" dirty="0">
                <a:solidFill>
                  <a:srgbClr val="000000"/>
                </a:solidFill>
                <a:effectLst/>
                <a:latin typeface="Times-Roman"/>
              </a:rPr>
              <a:t>; then </a:t>
            </a:r>
            <a:r>
              <a:rPr lang="en-US" sz="2000" dirty="0">
                <a:solidFill>
                  <a:srgbClr val="000000"/>
                </a:solidFill>
                <a:effectLst/>
                <a:latin typeface="CMMI10"/>
              </a:rPr>
              <a:t>g</a:t>
            </a:r>
            <a:r>
              <a:rPr lang="en-US" sz="2000" dirty="0">
                <a:solidFill>
                  <a:srgbClr val="000000"/>
                </a:solidFill>
                <a:effectLst/>
                <a:latin typeface="CMR10"/>
              </a:rPr>
              <a:t>(</a:t>
            </a:r>
            <a:r>
              <a:rPr lang="en-US" sz="2000" dirty="0">
                <a:solidFill>
                  <a:srgbClr val="000000"/>
                </a:solidFill>
                <a:effectLst/>
                <a:latin typeface="CMMI10"/>
              </a:rPr>
              <a:t>n</a:t>
            </a:r>
            <a:r>
              <a:rPr lang="en-US" sz="2000" dirty="0">
                <a:solidFill>
                  <a:srgbClr val="000000"/>
                </a:solidFill>
                <a:effectLst/>
                <a:latin typeface="CMSY8"/>
              </a:rPr>
              <a:t> </a:t>
            </a:r>
            <a:r>
              <a:rPr lang="en-US" sz="2000" dirty="0">
                <a:solidFill>
                  <a:srgbClr val="000000"/>
                </a:solidFill>
                <a:effectLst/>
                <a:latin typeface="CMR10"/>
              </a:rPr>
              <a:t>) = </a:t>
            </a:r>
            <a:r>
              <a:rPr lang="en-US" sz="2000" dirty="0">
                <a:solidFill>
                  <a:srgbClr val="000000"/>
                </a:solidFill>
                <a:effectLst/>
                <a:latin typeface="CMMI10"/>
              </a:rPr>
              <a:t>g</a:t>
            </a:r>
            <a:r>
              <a:rPr lang="en-US" sz="2000" dirty="0">
                <a:solidFill>
                  <a:srgbClr val="000000"/>
                </a:solidFill>
                <a:effectLst/>
                <a:latin typeface="CMR10"/>
              </a:rPr>
              <a:t>(</a:t>
            </a:r>
            <a:r>
              <a:rPr lang="en-US" sz="2000" dirty="0">
                <a:solidFill>
                  <a:srgbClr val="000000"/>
                </a:solidFill>
                <a:effectLst/>
                <a:latin typeface="CMMI10"/>
              </a:rPr>
              <a:t>n</a:t>
            </a:r>
            <a:r>
              <a:rPr lang="en-US" sz="2000" dirty="0">
                <a:solidFill>
                  <a:srgbClr val="000000"/>
                </a:solidFill>
                <a:effectLst/>
                <a:latin typeface="CMR10"/>
              </a:rPr>
              <a:t>) + </a:t>
            </a:r>
            <a:r>
              <a:rPr lang="en-US" sz="2000" dirty="0">
                <a:solidFill>
                  <a:srgbClr val="000000"/>
                </a:solidFill>
                <a:effectLst/>
                <a:latin typeface="CMMI10"/>
              </a:rPr>
              <a:t>c</a:t>
            </a:r>
            <a:r>
              <a:rPr lang="en-US" sz="2000" dirty="0">
                <a:solidFill>
                  <a:srgbClr val="000000"/>
                </a:solidFill>
                <a:effectLst/>
                <a:latin typeface="CMR10"/>
              </a:rPr>
              <a:t>(</a:t>
            </a:r>
            <a:r>
              <a:rPr lang="en-US" sz="2000" dirty="0">
                <a:solidFill>
                  <a:srgbClr val="000000"/>
                </a:solidFill>
                <a:effectLst/>
                <a:latin typeface="CMMI10"/>
              </a:rPr>
              <a:t>n, a, n</a:t>
            </a:r>
            <a:r>
              <a:rPr lang="en-US" sz="2000" dirty="0">
                <a:solidFill>
                  <a:srgbClr val="000000"/>
                </a:solidFill>
                <a:effectLst/>
                <a:latin typeface="CMSY8"/>
              </a:rPr>
              <a:t> </a:t>
            </a:r>
            <a:r>
              <a:rPr lang="en-US" sz="2000" dirty="0">
                <a:solidFill>
                  <a:srgbClr val="000000"/>
                </a:solidFill>
                <a:effectLst/>
                <a:latin typeface="CMR10"/>
              </a:rPr>
              <a:t>) </a:t>
            </a:r>
            <a:r>
              <a:rPr lang="en-US" sz="2000" dirty="0">
                <a:solidFill>
                  <a:srgbClr val="000000"/>
                </a:solidFill>
                <a:effectLst/>
                <a:latin typeface="Times-Roman"/>
              </a:rPr>
              <a:t>for some action </a:t>
            </a:r>
            <a:r>
              <a:rPr lang="en-US" sz="2000" dirty="0">
                <a:solidFill>
                  <a:srgbClr val="000000"/>
                </a:solidFill>
                <a:effectLst/>
                <a:latin typeface="CMMI10"/>
              </a:rPr>
              <a:t>a</a:t>
            </a:r>
            <a:r>
              <a:rPr lang="en-US" sz="2000" dirty="0">
                <a:solidFill>
                  <a:srgbClr val="000000"/>
                </a:solidFill>
                <a:effectLst/>
                <a:latin typeface="Times-Roman"/>
              </a:rPr>
              <a:t>, and we have </a:t>
            </a:r>
            <a:endParaRPr lang="en-US" dirty="0"/>
          </a:p>
          <a:p>
            <a:r>
              <a:rPr lang="en-US" sz="2000" dirty="0">
                <a:solidFill>
                  <a:srgbClr val="000000"/>
                </a:solidFill>
                <a:effectLst/>
                <a:latin typeface="CMMI10"/>
              </a:rPr>
              <a:t>f</a:t>
            </a:r>
            <a:r>
              <a:rPr lang="en-US" sz="2000" dirty="0">
                <a:solidFill>
                  <a:srgbClr val="000000"/>
                </a:solidFill>
                <a:effectLst/>
                <a:latin typeface="CMR10"/>
              </a:rPr>
              <a:t>(</a:t>
            </a:r>
            <a:r>
              <a:rPr lang="en-US" sz="2000" dirty="0">
                <a:solidFill>
                  <a:srgbClr val="000000"/>
                </a:solidFill>
                <a:effectLst/>
                <a:latin typeface="CMMI10"/>
              </a:rPr>
              <a:t>n</a:t>
            </a:r>
            <a:r>
              <a:rPr lang="en-US" sz="2000" dirty="0">
                <a:solidFill>
                  <a:srgbClr val="000000"/>
                </a:solidFill>
                <a:effectLst/>
                <a:latin typeface="CMSY8"/>
              </a:rPr>
              <a:t> </a:t>
            </a:r>
            <a:r>
              <a:rPr lang="en-US" sz="2000" dirty="0">
                <a:solidFill>
                  <a:srgbClr val="000000"/>
                </a:solidFill>
                <a:effectLst/>
                <a:latin typeface="CMR10"/>
              </a:rPr>
              <a:t>) = </a:t>
            </a:r>
            <a:r>
              <a:rPr lang="en-US" sz="2000" dirty="0">
                <a:solidFill>
                  <a:srgbClr val="000000"/>
                </a:solidFill>
                <a:effectLst/>
                <a:latin typeface="CMMI10"/>
              </a:rPr>
              <a:t>g</a:t>
            </a:r>
            <a:r>
              <a:rPr lang="en-US" sz="2000" dirty="0">
                <a:solidFill>
                  <a:srgbClr val="000000"/>
                </a:solidFill>
                <a:effectLst/>
                <a:latin typeface="CMR10"/>
              </a:rPr>
              <a:t>(</a:t>
            </a:r>
            <a:r>
              <a:rPr lang="en-US" sz="2000" dirty="0">
                <a:solidFill>
                  <a:srgbClr val="000000"/>
                </a:solidFill>
                <a:effectLst/>
                <a:latin typeface="CMMI10"/>
              </a:rPr>
              <a:t>n</a:t>
            </a:r>
            <a:r>
              <a:rPr lang="en-US" sz="2000" dirty="0">
                <a:solidFill>
                  <a:srgbClr val="000000"/>
                </a:solidFill>
                <a:effectLst/>
                <a:latin typeface="CMSY8"/>
              </a:rPr>
              <a:t> </a:t>
            </a:r>
            <a:r>
              <a:rPr lang="en-US" sz="2000" dirty="0">
                <a:solidFill>
                  <a:srgbClr val="000000"/>
                </a:solidFill>
                <a:effectLst/>
                <a:latin typeface="CMR10"/>
              </a:rPr>
              <a:t>) + </a:t>
            </a:r>
            <a:r>
              <a:rPr lang="en-US" sz="2000" dirty="0">
                <a:solidFill>
                  <a:srgbClr val="000000"/>
                </a:solidFill>
                <a:effectLst/>
                <a:latin typeface="CMMI10"/>
              </a:rPr>
              <a:t>h</a:t>
            </a:r>
            <a:r>
              <a:rPr lang="en-US" sz="2000" dirty="0">
                <a:solidFill>
                  <a:srgbClr val="000000"/>
                </a:solidFill>
                <a:effectLst/>
                <a:latin typeface="CMR10"/>
              </a:rPr>
              <a:t>(</a:t>
            </a:r>
            <a:r>
              <a:rPr lang="en-US" sz="2000" dirty="0">
                <a:solidFill>
                  <a:srgbClr val="000000"/>
                </a:solidFill>
                <a:effectLst/>
                <a:latin typeface="CMMI10"/>
              </a:rPr>
              <a:t>n</a:t>
            </a:r>
            <a:r>
              <a:rPr lang="en-US" sz="2000" dirty="0">
                <a:solidFill>
                  <a:srgbClr val="000000"/>
                </a:solidFill>
                <a:effectLst/>
                <a:latin typeface="CMSY8"/>
              </a:rPr>
              <a:t> </a:t>
            </a:r>
            <a:r>
              <a:rPr lang="en-US" sz="2000" dirty="0">
                <a:solidFill>
                  <a:srgbClr val="000000"/>
                </a:solidFill>
                <a:effectLst/>
                <a:latin typeface="CMR10"/>
              </a:rPr>
              <a:t>) = </a:t>
            </a:r>
            <a:r>
              <a:rPr lang="en-US" sz="2000" dirty="0">
                <a:solidFill>
                  <a:srgbClr val="000000"/>
                </a:solidFill>
                <a:effectLst/>
                <a:latin typeface="CMMI10"/>
              </a:rPr>
              <a:t>g</a:t>
            </a:r>
            <a:r>
              <a:rPr lang="en-US" sz="2000" dirty="0">
                <a:solidFill>
                  <a:srgbClr val="000000"/>
                </a:solidFill>
                <a:effectLst/>
                <a:latin typeface="CMR10"/>
              </a:rPr>
              <a:t>(</a:t>
            </a:r>
            <a:r>
              <a:rPr lang="en-US" sz="2000" dirty="0">
                <a:solidFill>
                  <a:srgbClr val="000000"/>
                </a:solidFill>
                <a:effectLst/>
                <a:latin typeface="CMMI10"/>
              </a:rPr>
              <a:t>n</a:t>
            </a:r>
            <a:r>
              <a:rPr lang="en-US" sz="2000" dirty="0">
                <a:solidFill>
                  <a:srgbClr val="000000"/>
                </a:solidFill>
                <a:effectLst/>
                <a:latin typeface="CMR10"/>
              </a:rPr>
              <a:t>) + </a:t>
            </a:r>
            <a:r>
              <a:rPr lang="en-US" sz="2000" dirty="0">
                <a:solidFill>
                  <a:srgbClr val="000000"/>
                </a:solidFill>
                <a:effectLst/>
                <a:latin typeface="CMMI10"/>
              </a:rPr>
              <a:t>c</a:t>
            </a:r>
            <a:r>
              <a:rPr lang="en-US" sz="2000" dirty="0">
                <a:solidFill>
                  <a:srgbClr val="000000"/>
                </a:solidFill>
                <a:effectLst/>
                <a:latin typeface="CMR10"/>
              </a:rPr>
              <a:t>(</a:t>
            </a:r>
            <a:r>
              <a:rPr lang="en-US" sz="2000" dirty="0">
                <a:solidFill>
                  <a:srgbClr val="000000"/>
                </a:solidFill>
                <a:effectLst/>
                <a:latin typeface="CMMI10"/>
              </a:rPr>
              <a:t>n, a, n</a:t>
            </a:r>
            <a:r>
              <a:rPr lang="en-US" sz="2000" dirty="0">
                <a:solidFill>
                  <a:srgbClr val="000000"/>
                </a:solidFill>
                <a:effectLst/>
                <a:latin typeface="CMSY8"/>
              </a:rPr>
              <a:t> </a:t>
            </a:r>
            <a:r>
              <a:rPr lang="en-US" sz="2000" dirty="0">
                <a:solidFill>
                  <a:srgbClr val="000000"/>
                </a:solidFill>
                <a:effectLst/>
                <a:latin typeface="CMR10"/>
              </a:rPr>
              <a:t>) + </a:t>
            </a:r>
            <a:r>
              <a:rPr lang="en-US" sz="2000" dirty="0">
                <a:solidFill>
                  <a:srgbClr val="000000"/>
                </a:solidFill>
                <a:effectLst/>
                <a:latin typeface="CMMI10"/>
              </a:rPr>
              <a:t>h</a:t>
            </a:r>
            <a:r>
              <a:rPr lang="en-US" sz="2000" dirty="0">
                <a:solidFill>
                  <a:srgbClr val="000000"/>
                </a:solidFill>
                <a:effectLst/>
                <a:latin typeface="CMR10"/>
              </a:rPr>
              <a:t>(</a:t>
            </a:r>
            <a:r>
              <a:rPr lang="en-US" sz="2000" dirty="0">
                <a:solidFill>
                  <a:srgbClr val="000000"/>
                </a:solidFill>
                <a:effectLst/>
                <a:latin typeface="CMMI10"/>
              </a:rPr>
              <a:t>n</a:t>
            </a:r>
            <a:r>
              <a:rPr lang="en-US" sz="2000" dirty="0">
                <a:solidFill>
                  <a:srgbClr val="000000"/>
                </a:solidFill>
                <a:effectLst/>
                <a:latin typeface="CMSY8"/>
              </a:rPr>
              <a:t> </a:t>
            </a:r>
            <a:r>
              <a:rPr lang="en-US" sz="2000" dirty="0">
                <a:solidFill>
                  <a:srgbClr val="000000"/>
                </a:solidFill>
                <a:effectLst/>
                <a:latin typeface="CMR10"/>
              </a:rPr>
              <a:t>) </a:t>
            </a:r>
            <a:r>
              <a:rPr lang="en-US" sz="2000" dirty="0">
                <a:solidFill>
                  <a:srgbClr val="000000"/>
                </a:solidFill>
                <a:effectLst/>
                <a:latin typeface="CMSY10"/>
              </a:rPr>
              <a:t>≥ </a:t>
            </a:r>
            <a:r>
              <a:rPr lang="en-US" sz="2000" dirty="0">
                <a:solidFill>
                  <a:srgbClr val="000000"/>
                </a:solidFill>
                <a:effectLst/>
                <a:latin typeface="CMMI10"/>
              </a:rPr>
              <a:t>g</a:t>
            </a:r>
            <a:r>
              <a:rPr lang="en-US" sz="2000" dirty="0">
                <a:solidFill>
                  <a:srgbClr val="000000"/>
                </a:solidFill>
                <a:effectLst/>
                <a:latin typeface="CMR10"/>
              </a:rPr>
              <a:t>(</a:t>
            </a:r>
            <a:r>
              <a:rPr lang="en-US" sz="2000" dirty="0">
                <a:solidFill>
                  <a:srgbClr val="000000"/>
                </a:solidFill>
                <a:effectLst/>
                <a:latin typeface="CMMI10"/>
              </a:rPr>
              <a:t>n</a:t>
            </a:r>
            <a:r>
              <a:rPr lang="en-US" sz="2000" dirty="0">
                <a:solidFill>
                  <a:srgbClr val="000000"/>
                </a:solidFill>
                <a:effectLst/>
                <a:latin typeface="CMR10"/>
              </a:rPr>
              <a:t>) + </a:t>
            </a:r>
            <a:r>
              <a:rPr lang="en-US" sz="2000" dirty="0">
                <a:solidFill>
                  <a:srgbClr val="000000"/>
                </a:solidFill>
                <a:effectLst/>
                <a:latin typeface="CMMI10"/>
              </a:rPr>
              <a:t>h</a:t>
            </a:r>
            <a:r>
              <a:rPr lang="en-US" sz="2000" dirty="0">
                <a:solidFill>
                  <a:srgbClr val="000000"/>
                </a:solidFill>
                <a:effectLst/>
                <a:latin typeface="CMR10"/>
              </a:rPr>
              <a:t>(</a:t>
            </a:r>
            <a:r>
              <a:rPr lang="en-US" sz="2000" dirty="0">
                <a:solidFill>
                  <a:srgbClr val="000000"/>
                </a:solidFill>
                <a:effectLst/>
                <a:latin typeface="CMMI10"/>
              </a:rPr>
              <a:t>n</a:t>
            </a:r>
            <a:r>
              <a:rPr lang="en-US" sz="2000" dirty="0">
                <a:solidFill>
                  <a:srgbClr val="000000"/>
                </a:solidFill>
                <a:effectLst/>
                <a:latin typeface="CMR10"/>
              </a:rPr>
              <a:t>) = </a:t>
            </a:r>
            <a:r>
              <a:rPr lang="en-US" sz="2000" dirty="0">
                <a:solidFill>
                  <a:srgbClr val="000000"/>
                </a:solidFill>
                <a:effectLst/>
                <a:latin typeface="CMMI10"/>
              </a:rPr>
              <a:t>f</a:t>
            </a:r>
            <a:r>
              <a:rPr lang="en-US" sz="2000" dirty="0">
                <a:solidFill>
                  <a:srgbClr val="000000"/>
                </a:solidFill>
                <a:effectLst/>
                <a:latin typeface="CMR10"/>
              </a:rPr>
              <a:t>(</a:t>
            </a:r>
            <a:r>
              <a:rPr lang="en-US" sz="2000" dirty="0">
                <a:solidFill>
                  <a:srgbClr val="000000"/>
                </a:solidFill>
                <a:effectLst/>
                <a:latin typeface="CMMI10"/>
              </a:rPr>
              <a:t>n</a:t>
            </a:r>
            <a:r>
              <a:rPr lang="en-US" sz="2000" dirty="0">
                <a:solidFill>
                  <a:srgbClr val="000000"/>
                </a:solidFill>
                <a:effectLst/>
                <a:latin typeface="CMR10"/>
              </a:rPr>
              <a:t>) </a:t>
            </a:r>
            <a:r>
              <a:rPr lang="en-US" sz="2000" dirty="0">
                <a:solidFill>
                  <a:srgbClr val="000000"/>
                </a:solidFill>
                <a:effectLst/>
                <a:latin typeface="CMMI10"/>
              </a:rPr>
              <a:t>. </a:t>
            </a:r>
            <a:endParaRPr lang="en-US" dirty="0"/>
          </a:p>
          <a:p>
            <a:endParaRPr lang="en-IN" dirty="0"/>
          </a:p>
        </p:txBody>
      </p:sp>
      <p:sp>
        <p:nvSpPr>
          <p:cNvPr id="4" name="Footer Placeholder 3">
            <a:extLst>
              <a:ext uri="{FF2B5EF4-FFF2-40B4-BE49-F238E27FC236}">
                <a16:creationId xmlns:a16="http://schemas.microsoft.com/office/drawing/2014/main" xmlns="" id="{4C8E269D-5172-89F3-0DD4-0A10BEF5755A}"/>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4A6C4E3B-BF98-77DC-5176-66C64DDF3F50}"/>
              </a:ext>
            </a:extLst>
          </p:cNvPr>
          <p:cNvSpPr>
            <a:spLocks noGrp="1"/>
          </p:cNvSpPr>
          <p:nvPr>
            <p:ph type="sldNum" sz="quarter" idx="12"/>
          </p:nvPr>
        </p:nvSpPr>
        <p:spPr/>
        <p:txBody>
          <a:bodyPr/>
          <a:lstStyle/>
          <a:p>
            <a:fld id="{1E81A027-E3F7-4FC9-A752-E855AD4A687D}" type="slidenum">
              <a:rPr lang="en-IN" smtClean="0"/>
              <a:t>108</a:t>
            </a:fld>
            <a:endParaRPr lang="en-IN"/>
          </a:p>
        </p:txBody>
      </p:sp>
    </p:spTree>
    <p:extLst>
      <p:ext uri="{BB962C8B-B14F-4D97-AF65-F5344CB8AC3E}">
        <p14:creationId xmlns:p14="http://schemas.microsoft.com/office/powerpoint/2010/main" val="144368463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32E80C-C42A-CC38-3C83-5065633052E1}"/>
              </a:ext>
            </a:extLst>
          </p:cNvPr>
          <p:cNvSpPr>
            <a:spLocks noGrp="1"/>
          </p:cNvSpPr>
          <p:nvPr>
            <p:ph type="title"/>
          </p:nvPr>
        </p:nvSpPr>
        <p:spPr/>
        <p:txBody>
          <a:bodyPr>
            <a:normAutofit fontScale="90000"/>
          </a:bodyPr>
          <a:lstStyle/>
          <a:p>
            <a:r>
              <a:rPr lang="en-US" sz="4800" dirty="0">
                <a:solidFill>
                  <a:srgbClr val="000000"/>
                </a:solidFill>
                <a:effectLst/>
              </a:rPr>
              <a:t>whenever A∗ selects a node n for expansion, the optimal path to that node has been found.</a:t>
            </a:r>
            <a:endParaRPr lang="en-IN" dirty="0"/>
          </a:p>
        </p:txBody>
      </p:sp>
      <p:sp>
        <p:nvSpPr>
          <p:cNvPr id="3" name="Content Placeholder 2">
            <a:extLst>
              <a:ext uri="{FF2B5EF4-FFF2-40B4-BE49-F238E27FC236}">
                <a16:creationId xmlns:a16="http://schemas.microsoft.com/office/drawing/2014/main" xmlns="" id="{02A01FCA-472C-FC86-9775-D9E742916F31}"/>
              </a:ext>
            </a:extLst>
          </p:cNvPr>
          <p:cNvSpPr>
            <a:spLocks noGrp="1"/>
          </p:cNvSpPr>
          <p:nvPr>
            <p:ph idx="1"/>
          </p:nvPr>
        </p:nvSpPr>
        <p:spPr/>
        <p:txBody>
          <a:bodyPr>
            <a:normAutofit/>
          </a:bodyPr>
          <a:lstStyle/>
          <a:p>
            <a:r>
              <a:rPr lang="en-US" sz="2400" dirty="0">
                <a:solidFill>
                  <a:srgbClr val="000000"/>
                </a:solidFill>
                <a:effectLst/>
              </a:rPr>
              <a:t>Were this not the case, there would have to be another frontier node n on the optimal path from the start node to n</a:t>
            </a:r>
          </a:p>
          <a:p>
            <a:r>
              <a:rPr lang="en-US" sz="2400" dirty="0">
                <a:solidFill>
                  <a:srgbClr val="000000"/>
                </a:solidFill>
                <a:effectLst/>
              </a:rPr>
              <a:t>because f is nondecreasing along any path, n would have lower f-cost than n and would have been selected first</a:t>
            </a:r>
            <a:endParaRPr lang="en-IN" sz="2400" dirty="0"/>
          </a:p>
          <a:p>
            <a:endParaRPr lang="en-IN" sz="2400" dirty="0"/>
          </a:p>
        </p:txBody>
      </p:sp>
      <p:sp>
        <p:nvSpPr>
          <p:cNvPr id="4" name="Footer Placeholder 3">
            <a:extLst>
              <a:ext uri="{FF2B5EF4-FFF2-40B4-BE49-F238E27FC236}">
                <a16:creationId xmlns:a16="http://schemas.microsoft.com/office/drawing/2014/main" xmlns="" id="{54830DC6-030D-89C1-0F5C-6941086808CE}"/>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16B899E8-7F2B-55B9-4E65-2F1CC1953319}"/>
              </a:ext>
            </a:extLst>
          </p:cNvPr>
          <p:cNvSpPr>
            <a:spLocks noGrp="1"/>
          </p:cNvSpPr>
          <p:nvPr>
            <p:ph type="sldNum" sz="quarter" idx="12"/>
          </p:nvPr>
        </p:nvSpPr>
        <p:spPr/>
        <p:txBody>
          <a:bodyPr/>
          <a:lstStyle/>
          <a:p>
            <a:fld id="{1E81A027-E3F7-4FC9-A752-E855AD4A687D}" type="slidenum">
              <a:rPr lang="en-IN" smtClean="0"/>
              <a:t>109</a:t>
            </a:fld>
            <a:endParaRPr lang="en-IN"/>
          </a:p>
        </p:txBody>
      </p:sp>
    </p:spTree>
    <p:extLst>
      <p:ext uri="{BB962C8B-B14F-4D97-AF65-F5344CB8AC3E}">
        <p14:creationId xmlns:p14="http://schemas.microsoft.com/office/powerpoint/2010/main" val="11530312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4D7502-075D-2BEB-874B-933ADD6196A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xmlns="" id="{F86FCF17-E8B8-EF9F-89AD-3460618C13DE}"/>
              </a:ext>
            </a:extLst>
          </p:cNvPr>
          <p:cNvSpPr>
            <a:spLocks noGrp="1"/>
          </p:cNvSpPr>
          <p:nvPr>
            <p:ph idx="1"/>
          </p:nvPr>
        </p:nvSpPr>
        <p:spPr/>
        <p:txBody>
          <a:bodyPr>
            <a:normAutofit/>
          </a:bodyPr>
          <a:lstStyle/>
          <a:p>
            <a:r>
              <a:rPr lang="en-US" sz="2800" dirty="0">
                <a:solidFill>
                  <a:srgbClr val="000000"/>
                </a:solidFill>
                <a:effectLst/>
              </a:rPr>
              <a:t>the sequence of nodes expanded by A∗ using GRAPH-SEARCH is in nondecreasing order of f(n). </a:t>
            </a:r>
          </a:p>
          <a:p>
            <a:r>
              <a:rPr lang="en-US" sz="2800" dirty="0">
                <a:solidFill>
                  <a:srgbClr val="000000"/>
                </a:solidFill>
                <a:effectLst/>
              </a:rPr>
              <a:t>Hence, the first goal node selected for expansion must be an optimal solution because f is the true cost for goal nodes (which have h = 0) and all later goal nodes will be at least as expensive.</a:t>
            </a:r>
            <a:endParaRPr lang="en-IN" sz="3200" dirty="0"/>
          </a:p>
        </p:txBody>
      </p:sp>
      <p:sp>
        <p:nvSpPr>
          <p:cNvPr id="4" name="Footer Placeholder 3">
            <a:extLst>
              <a:ext uri="{FF2B5EF4-FFF2-40B4-BE49-F238E27FC236}">
                <a16:creationId xmlns:a16="http://schemas.microsoft.com/office/drawing/2014/main" xmlns="" id="{D50856AA-FB04-7F13-7ECF-807CAB38EF33}"/>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B499E496-7BFC-264E-4E35-B548CDCF3D34}"/>
              </a:ext>
            </a:extLst>
          </p:cNvPr>
          <p:cNvSpPr>
            <a:spLocks noGrp="1"/>
          </p:cNvSpPr>
          <p:nvPr>
            <p:ph type="sldNum" sz="quarter" idx="12"/>
          </p:nvPr>
        </p:nvSpPr>
        <p:spPr/>
        <p:txBody>
          <a:bodyPr/>
          <a:lstStyle/>
          <a:p>
            <a:fld id="{1E81A027-E3F7-4FC9-A752-E855AD4A687D}" type="slidenum">
              <a:rPr lang="en-IN" smtClean="0"/>
              <a:t>110</a:t>
            </a:fld>
            <a:endParaRPr lang="en-IN"/>
          </a:p>
        </p:txBody>
      </p:sp>
    </p:spTree>
    <p:extLst>
      <p:ext uri="{BB962C8B-B14F-4D97-AF65-F5344CB8AC3E}">
        <p14:creationId xmlns:p14="http://schemas.microsoft.com/office/powerpoint/2010/main" val="259955671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40E946-484B-2C4A-EA93-D966D8E7B5B0}"/>
              </a:ext>
            </a:extLst>
          </p:cNvPr>
          <p:cNvSpPr>
            <a:spLocks noGrp="1"/>
          </p:cNvSpPr>
          <p:nvPr>
            <p:ph type="title"/>
          </p:nvPr>
        </p:nvSpPr>
        <p:spPr/>
        <p:txBody>
          <a:bodyPr/>
          <a:lstStyle/>
          <a:p>
            <a:r>
              <a:rPr lang="en-IN" dirty="0"/>
              <a:t>Disadvantages of A* Algorithm	</a:t>
            </a:r>
          </a:p>
        </p:txBody>
      </p:sp>
      <p:sp>
        <p:nvSpPr>
          <p:cNvPr id="3" name="Content Placeholder 2">
            <a:extLst>
              <a:ext uri="{FF2B5EF4-FFF2-40B4-BE49-F238E27FC236}">
                <a16:creationId xmlns:a16="http://schemas.microsoft.com/office/drawing/2014/main" xmlns="" id="{A0BDE63B-99E8-11C7-DCFD-79BE07F8EE47}"/>
              </a:ext>
            </a:extLst>
          </p:cNvPr>
          <p:cNvSpPr>
            <a:spLocks noGrp="1"/>
          </p:cNvSpPr>
          <p:nvPr>
            <p:ph idx="1"/>
          </p:nvPr>
        </p:nvSpPr>
        <p:spPr/>
        <p:txBody>
          <a:bodyPr>
            <a:normAutofit/>
          </a:bodyPr>
          <a:lstStyle/>
          <a:p>
            <a:r>
              <a:rPr lang="en-US" sz="2400" dirty="0">
                <a:solidFill>
                  <a:srgbClr val="000000"/>
                </a:solidFill>
                <a:effectLst/>
              </a:rPr>
              <a:t>the number of states within the goal contour search space is still exponential in the length of the solution.</a:t>
            </a:r>
            <a:endParaRPr lang="en-IN" sz="2800" dirty="0"/>
          </a:p>
        </p:txBody>
      </p:sp>
      <p:sp>
        <p:nvSpPr>
          <p:cNvPr id="4" name="Footer Placeholder 3">
            <a:extLst>
              <a:ext uri="{FF2B5EF4-FFF2-40B4-BE49-F238E27FC236}">
                <a16:creationId xmlns:a16="http://schemas.microsoft.com/office/drawing/2014/main" xmlns="" id="{CE5AAC7D-6638-D724-B745-ED371E6E6137}"/>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2947BC28-C642-696A-857E-11A1F435573A}"/>
              </a:ext>
            </a:extLst>
          </p:cNvPr>
          <p:cNvSpPr>
            <a:spLocks noGrp="1"/>
          </p:cNvSpPr>
          <p:nvPr>
            <p:ph type="sldNum" sz="quarter" idx="12"/>
          </p:nvPr>
        </p:nvSpPr>
        <p:spPr/>
        <p:txBody>
          <a:bodyPr/>
          <a:lstStyle/>
          <a:p>
            <a:fld id="{1E81A027-E3F7-4FC9-A752-E855AD4A687D}" type="slidenum">
              <a:rPr lang="en-IN" smtClean="0"/>
              <a:t>111</a:t>
            </a:fld>
            <a:endParaRPr lang="en-IN"/>
          </a:p>
        </p:txBody>
      </p:sp>
    </p:spTree>
    <p:extLst>
      <p:ext uri="{BB962C8B-B14F-4D97-AF65-F5344CB8AC3E}">
        <p14:creationId xmlns:p14="http://schemas.microsoft.com/office/powerpoint/2010/main" val="341613168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888E65-81FF-ADA2-D6E0-5FB7C59D1B5A}"/>
              </a:ext>
            </a:extLst>
          </p:cNvPr>
          <p:cNvSpPr>
            <a:spLocks noGrp="1"/>
          </p:cNvSpPr>
          <p:nvPr>
            <p:ph type="title"/>
          </p:nvPr>
        </p:nvSpPr>
        <p:spPr/>
        <p:txBody>
          <a:bodyPr>
            <a:normAutofit/>
          </a:bodyPr>
          <a:lstStyle/>
          <a:p>
            <a:r>
              <a:rPr lang="en-IN" dirty="0">
                <a:solidFill>
                  <a:srgbClr val="000000"/>
                </a:solidFill>
                <a:effectLst/>
              </a:rPr>
              <a:t>HEURISTIC FUNCTIONS</a:t>
            </a:r>
            <a:endParaRPr lang="en-IN" dirty="0"/>
          </a:p>
        </p:txBody>
      </p:sp>
      <p:sp>
        <p:nvSpPr>
          <p:cNvPr id="3" name="Content Placeholder 2">
            <a:extLst>
              <a:ext uri="{FF2B5EF4-FFF2-40B4-BE49-F238E27FC236}">
                <a16:creationId xmlns:a16="http://schemas.microsoft.com/office/drawing/2014/main" xmlns="" id="{0C443D11-7E03-D2CC-88E4-C0A6F8678ABE}"/>
              </a:ext>
            </a:extLst>
          </p:cNvPr>
          <p:cNvSpPr>
            <a:spLocks noGrp="1"/>
          </p:cNvSpPr>
          <p:nvPr>
            <p:ph idx="1"/>
          </p:nvPr>
        </p:nvSpPr>
        <p:spPr>
          <a:xfrm>
            <a:off x="0" y="1845734"/>
            <a:ext cx="4721290" cy="4023360"/>
          </a:xfrm>
        </p:spPr>
        <p:txBody>
          <a:bodyPr>
            <a:normAutofit/>
          </a:bodyPr>
          <a:lstStyle/>
          <a:p>
            <a:pPr>
              <a:buFont typeface="Arial" panose="020B0604020202020204" pitchFamily="34" charset="0"/>
              <a:buChar char="•"/>
            </a:pPr>
            <a:r>
              <a:rPr lang="en-US" sz="2800" dirty="0"/>
              <a:t>8-puzzle search space </a:t>
            </a:r>
          </a:p>
          <a:p>
            <a:pPr lvl="1"/>
            <a:r>
              <a:rPr lang="en-US" sz="2400" dirty="0"/>
              <a:t>Typical solution length: 22 steps </a:t>
            </a:r>
          </a:p>
          <a:p>
            <a:pPr lvl="1"/>
            <a:r>
              <a:rPr lang="en-US" sz="2400" dirty="0"/>
              <a:t>Average branching factor: 3 </a:t>
            </a:r>
          </a:p>
          <a:p>
            <a:pPr lvl="1"/>
            <a:r>
              <a:rPr lang="en-US" sz="2400" dirty="0"/>
              <a:t>Exhaustive search: 3</a:t>
            </a:r>
            <a:r>
              <a:rPr lang="en-US" sz="2400" baseline="30000" dirty="0"/>
              <a:t>22</a:t>
            </a:r>
            <a:r>
              <a:rPr lang="en-US" sz="2400" dirty="0"/>
              <a:t>=3.1 x 10</a:t>
            </a:r>
            <a:r>
              <a:rPr lang="en-US" sz="2400" baseline="30000" dirty="0"/>
              <a:t>10</a:t>
            </a:r>
            <a:r>
              <a:rPr lang="en-US" sz="2400" dirty="0"/>
              <a:t> </a:t>
            </a:r>
          </a:p>
          <a:p>
            <a:pPr lvl="1"/>
            <a:r>
              <a:rPr lang="en-US" sz="2400" dirty="0"/>
              <a:t>Bound on unique states: 9!/2 = 181,440 distinct reachable states</a:t>
            </a:r>
          </a:p>
          <a:p>
            <a:pPr>
              <a:buFont typeface="Arial" panose="020B0604020202020204" pitchFamily="34" charset="0"/>
              <a:buChar char="•"/>
            </a:pPr>
            <a:r>
              <a:rPr lang="en-IN" sz="2800" dirty="0"/>
              <a:t>15-puzzle is roughly 1013</a:t>
            </a:r>
          </a:p>
        </p:txBody>
      </p:sp>
      <p:sp>
        <p:nvSpPr>
          <p:cNvPr id="4" name="Footer Placeholder 3">
            <a:extLst>
              <a:ext uri="{FF2B5EF4-FFF2-40B4-BE49-F238E27FC236}">
                <a16:creationId xmlns:a16="http://schemas.microsoft.com/office/drawing/2014/main" xmlns="" id="{BEC86DAF-AB0A-CE1F-FA2F-BA12A59577A6}"/>
              </a:ext>
            </a:extLst>
          </p:cNvPr>
          <p:cNvSpPr>
            <a:spLocks noGrp="1"/>
          </p:cNvSpPr>
          <p:nvPr>
            <p:ph type="ftr" sz="quarter" idx="11"/>
          </p:nvPr>
        </p:nvSpPr>
        <p:spPr/>
        <p:txBody>
          <a:bodyPr/>
          <a:lstStyle/>
          <a:p>
            <a:r>
              <a:rPr lang="en-IN" dirty="0"/>
              <a:t>DEPARTMENT OF CSE SNGCE</a:t>
            </a:r>
          </a:p>
        </p:txBody>
      </p:sp>
      <p:sp>
        <p:nvSpPr>
          <p:cNvPr id="5" name="Slide Number Placeholder 4">
            <a:extLst>
              <a:ext uri="{FF2B5EF4-FFF2-40B4-BE49-F238E27FC236}">
                <a16:creationId xmlns:a16="http://schemas.microsoft.com/office/drawing/2014/main" xmlns="" id="{14107BBA-66F9-ABA7-4234-202B20D7A3F5}"/>
              </a:ext>
            </a:extLst>
          </p:cNvPr>
          <p:cNvSpPr>
            <a:spLocks noGrp="1"/>
          </p:cNvSpPr>
          <p:nvPr>
            <p:ph type="sldNum" sz="quarter" idx="12"/>
          </p:nvPr>
        </p:nvSpPr>
        <p:spPr/>
        <p:txBody>
          <a:bodyPr/>
          <a:lstStyle/>
          <a:p>
            <a:fld id="{1E81A027-E3F7-4FC9-A752-E855AD4A687D}" type="slidenum">
              <a:rPr lang="en-IN" smtClean="0"/>
              <a:t>112</a:t>
            </a:fld>
            <a:endParaRPr lang="en-IN"/>
          </a:p>
        </p:txBody>
      </p:sp>
      <p:pic>
        <p:nvPicPr>
          <p:cNvPr id="7" name="Picture 6">
            <a:extLst>
              <a:ext uri="{FF2B5EF4-FFF2-40B4-BE49-F238E27FC236}">
                <a16:creationId xmlns:a16="http://schemas.microsoft.com/office/drawing/2014/main" xmlns="" id="{9670B116-CF16-B7A0-142F-4445AF0A7F65}"/>
              </a:ext>
            </a:extLst>
          </p:cNvPr>
          <p:cNvPicPr>
            <a:picLocks noChangeAspect="1"/>
          </p:cNvPicPr>
          <p:nvPr/>
        </p:nvPicPr>
        <p:blipFill>
          <a:blip r:embed="rId2"/>
          <a:stretch>
            <a:fillRect/>
          </a:stretch>
        </p:blipFill>
        <p:spPr>
          <a:xfrm>
            <a:off x="5093110" y="2179067"/>
            <a:ext cx="7098890" cy="2607204"/>
          </a:xfrm>
          <a:prstGeom prst="rect">
            <a:avLst/>
          </a:prstGeom>
        </p:spPr>
      </p:pic>
    </p:spTree>
    <p:extLst>
      <p:ext uri="{BB962C8B-B14F-4D97-AF65-F5344CB8AC3E}">
        <p14:creationId xmlns:p14="http://schemas.microsoft.com/office/powerpoint/2010/main" val="190603172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CED1F4-0ED0-E4C5-631C-E066F8D5017E}"/>
              </a:ext>
            </a:extLst>
          </p:cNvPr>
          <p:cNvSpPr>
            <a:spLocks noGrp="1"/>
          </p:cNvSpPr>
          <p:nvPr>
            <p:ph type="title"/>
          </p:nvPr>
        </p:nvSpPr>
        <p:spPr/>
        <p:txBody>
          <a:bodyPr/>
          <a:lstStyle/>
          <a:p>
            <a:r>
              <a:rPr lang="en-US" dirty="0"/>
              <a:t>Admissible Heuristics</a:t>
            </a:r>
            <a:endParaRPr lang="en-IN" dirty="0"/>
          </a:p>
        </p:txBody>
      </p:sp>
      <p:sp>
        <p:nvSpPr>
          <p:cNvPr id="3" name="Content Placeholder 2">
            <a:extLst>
              <a:ext uri="{FF2B5EF4-FFF2-40B4-BE49-F238E27FC236}">
                <a16:creationId xmlns:a16="http://schemas.microsoft.com/office/drawing/2014/main" xmlns="" id="{A2ACA540-6EC4-D9ED-ABF3-4BFB4D680A07}"/>
              </a:ext>
            </a:extLst>
          </p:cNvPr>
          <p:cNvSpPr>
            <a:spLocks noGrp="1"/>
          </p:cNvSpPr>
          <p:nvPr>
            <p:ph idx="1"/>
          </p:nvPr>
        </p:nvSpPr>
        <p:spPr/>
        <p:txBody>
          <a:bodyPr>
            <a:normAutofit fontScale="92500" lnSpcReduction="20000"/>
          </a:bodyPr>
          <a:lstStyle/>
          <a:p>
            <a:r>
              <a:rPr lang="en-US" sz="2400" dirty="0">
                <a:solidFill>
                  <a:srgbClr val="FF0000"/>
                </a:solidFill>
                <a:effectLst/>
              </a:rPr>
              <a:t>h1 = the number of misplaced tiles</a:t>
            </a:r>
            <a:r>
              <a:rPr lang="en-US" sz="2400" dirty="0">
                <a:solidFill>
                  <a:srgbClr val="000000"/>
                </a:solidFill>
                <a:effectLst/>
              </a:rPr>
              <a:t>. </a:t>
            </a:r>
          </a:p>
          <a:p>
            <a:r>
              <a:rPr lang="en-US" sz="2400" dirty="0">
                <a:solidFill>
                  <a:srgbClr val="000000"/>
                </a:solidFill>
                <a:effectLst/>
              </a:rPr>
              <a:t>For Figure 3.28, all of the eight tiles are out of position, so the start state would have </a:t>
            </a:r>
            <a:r>
              <a:rPr lang="en-US" sz="2400" dirty="0">
                <a:solidFill>
                  <a:srgbClr val="FF0000"/>
                </a:solidFill>
                <a:effectLst/>
              </a:rPr>
              <a:t>h1 = 8</a:t>
            </a:r>
            <a:r>
              <a:rPr lang="en-US" sz="2400" dirty="0">
                <a:solidFill>
                  <a:srgbClr val="000000"/>
                </a:solidFill>
                <a:effectLst/>
              </a:rPr>
              <a:t>. h1 is an admissible heuristic because it is clear that any tile that is out of place must be moved at least once. </a:t>
            </a:r>
            <a:endParaRPr lang="en-US" sz="2800" dirty="0"/>
          </a:p>
          <a:p>
            <a:r>
              <a:rPr lang="en-US" sz="2400" dirty="0">
                <a:solidFill>
                  <a:srgbClr val="000000"/>
                </a:solidFill>
                <a:effectLst/>
              </a:rPr>
              <a:t>• </a:t>
            </a:r>
            <a:r>
              <a:rPr lang="en-US" sz="2400" dirty="0">
                <a:solidFill>
                  <a:srgbClr val="FF0000"/>
                </a:solidFill>
                <a:effectLst/>
              </a:rPr>
              <a:t>h2 = the sum of the distances of the tiles from their goal positions</a:t>
            </a:r>
            <a:r>
              <a:rPr lang="en-US" sz="2400" dirty="0">
                <a:solidFill>
                  <a:srgbClr val="000000"/>
                </a:solidFill>
                <a:effectLst/>
              </a:rPr>
              <a:t>. Because tiles cannot move along diagonals, the distance we will count is the </a:t>
            </a:r>
            <a:r>
              <a:rPr lang="en-US" sz="2400" dirty="0">
                <a:solidFill>
                  <a:srgbClr val="FF0000"/>
                </a:solidFill>
                <a:effectLst/>
              </a:rPr>
              <a:t>sum of the horizontal and vertical distances</a:t>
            </a:r>
            <a:r>
              <a:rPr lang="en-US" sz="2400" dirty="0">
                <a:solidFill>
                  <a:srgbClr val="000000"/>
                </a:solidFill>
                <a:effectLst/>
              </a:rPr>
              <a:t>. This is sometimes called the </a:t>
            </a:r>
            <a:r>
              <a:rPr lang="en-US" sz="2400" b="1" dirty="0">
                <a:solidFill>
                  <a:srgbClr val="0070C0"/>
                </a:solidFill>
                <a:effectLst/>
              </a:rPr>
              <a:t>city block distance </a:t>
            </a:r>
            <a:r>
              <a:rPr lang="en-US" sz="2400" dirty="0">
                <a:solidFill>
                  <a:srgbClr val="0070C0"/>
                </a:solidFill>
                <a:effectLst/>
              </a:rPr>
              <a:t>or </a:t>
            </a:r>
            <a:r>
              <a:rPr lang="en-US" sz="2400" b="1" dirty="0">
                <a:solidFill>
                  <a:srgbClr val="0070C0"/>
                </a:solidFill>
                <a:effectLst/>
              </a:rPr>
              <a:t>Manhattan distance</a:t>
            </a:r>
            <a:r>
              <a:rPr lang="en-US" sz="2400" dirty="0">
                <a:solidFill>
                  <a:srgbClr val="0070C0"/>
                </a:solidFill>
                <a:effectLst/>
              </a:rPr>
              <a:t>.</a:t>
            </a:r>
            <a:r>
              <a:rPr lang="en-US" sz="2400" dirty="0">
                <a:solidFill>
                  <a:srgbClr val="000000"/>
                </a:solidFill>
                <a:effectLst/>
              </a:rPr>
              <a:t> h2 is also admissible because all any move can do is move one tile one step closer to the goal. Tiles 1 to 8 in the start state give a Manhattan distance of </a:t>
            </a:r>
            <a:endParaRPr lang="en-US" sz="2800" dirty="0"/>
          </a:p>
          <a:p>
            <a:pPr lvl="2"/>
            <a:r>
              <a:rPr lang="pt-BR" sz="2400" dirty="0">
                <a:solidFill>
                  <a:srgbClr val="000000"/>
                </a:solidFill>
                <a:effectLst/>
                <a:latin typeface="CMMI10"/>
              </a:rPr>
              <a:t>h</a:t>
            </a:r>
            <a:r>
              <a:rPr lang="pt-BR" sz="2400" dirty="0">
                <a:solidFill>
                  <a:srgbClr val="000000"/>
                </a:solidFill>
                <a:effectLst/>
                <a:latin typeface="CMR8"/>
              </a:rPr>
              <a:t>2 </a:t>
            </a:r>
            <a:r>
              <a:rPr lang="pt-BR" sz="2400" dirty="0">
                <a:solidFill>
                  <a:srgbClr val="000000"/>
                </a:solidFill>
                <a:effectLst/>
                <a:latin typeface="CMR10"/>
              </a:rPr>
              <a:t>= 3 + 1 + 2 + 2 + 2 + 3 + 3 + 2 = 18 </a:t>
            </a:r>
            <a:r>
              <a:rPr lang="pt-BR" sz="2400" dirty="0">
                <a:solidFill>
                  <a:srgbClr val="000000"/>
                </a:solidFill>
                <a:effectLst/>
                <a:latin typeface="CMMI10"/>
              </a:rPr>
              <a:t>.</a:t>
            </a:r>
          </a:p>
          <a:p>
            <a:r>
              <a:rPr lang="en-US" sz="2400" dirty="0">
                <a:solidFill>
                  <a:srgbClr val="000000"/>
                </a:solidFill>
              </a:rPr>
              <a:t>neither of these overestimates the true solution cost,</a:t>
            </a:r>
          </a:p>
          <a:p>
            <a:r>
              <a:rPr lang="en-US" sz="2400" dirty="0">
                <a:solidFill>
                  <a:srgbClr val="000000"/>
                </a:solidFill>
              </a:rPr>
              <a:t> which is 26.</a:t>
            </a:r>
            <a:endParaRPr lang="en-IN" sz="2400" dirty="0">
              <a:solidFill>
                <a:srgbClr val="000000"/>
              </a:solidFill>
            </a:endParaRPr>
          </a:p>
        </p:txBody>
      </p:sp>
      <p:sp>
        <p:nvSpPr>
          <p:cNvPr id="4" name="Footer Placeholder 3">
            <a:extLst>
              <a:ext uri="{FF2B5EF4-FFF2-40B4-BE49-F238E27FC236}">
                <a16:creationId xmlns:a16="http://schemas.microsoft.com/office/drawing/2014/main" xmlns="" id="{403CD919-6B83-2C51-E5D2-695595803953}"/>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F5A5ED96-26C5-3CBE-0939-13BF755255F5}"/>
              </a:ext>
            </a:extLst>
          </p:cNvPr>
          <p:cNvSpPr>
            <a:spLocks noGrp="1"/>
          </p:cNvSpPr>
          <p:nvPr>
            <p:ph type="sldNum" sz="quarter" idx="12"/>
          </p:nvPr>
        </p:nvSpPr>
        <p:spPr/>
        <p:txBody>
          <a:bodyPr/>
          <a:lstStyle/>
          <a:p>
            <a:fld id="{1E81A027-E3F7-4FC9-A752-E855AD4A687D}" type="slidenum">
              <a:rPr lang="en-IN" smtClean="0"/>
              <a:t>113</a:t>
            </a:fld>
            <a:endParaRPr lang="en-IN"/>
          </a:p>
        </p:txBody>
      </p:sp>
      <p:pic>
        <p:nvPicPr>
          <p:cNvPr id="6" name="Picture 5">
            <a:extLst>
              <a:ext uri="{FF2B5EF4-FFF2-40B4-BE49-F238E27FC236}">
                <a16:creationId xmlns:a16="http://schemas.microsoft.com/office/drawing/2014/main" xmlns="" id="{DC5E030F-157A-9892-2831-8016DAAF4788}"/>
              </a:ext>
            </a:extLst>
          </p:cNvPr>
          <p:cNvPicPr>
            <a:picLocks noChangeAspect="1"/>
          </p:cNvPicPr>
          <p:nvPr/>
        </p:nvPicPr>
        <p:blipFill rotWithShape="1">
          <a:blip r:embed="rId2"/>
          <a:srcRect l="24205" t="5714" r="23221" b="20744"/>
          <a:stretch/>
        </p:blipFill>
        <p:spPr>
          <a:xfrm>
            <a:off x="8388221" y="4907532"/>
            <a:ext cx="3732246" cy="1917378"/>
          </a:xfrm>
          <a:prstGeom prst="rect">
            <a:avLst/>
          </a:prstGeom>
        </p:spPr>
      </p:pic>
    </p:spTree>
    <p:extLst>
      <p:ext uri="{BB962C8B-B14F-4D97-AF65-F5344CB8AC3E}">
        <p14:creationId xmlns:p14="http://schemas.microsoft.com/office/powerpoint/2010/main" val="121068044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E22B98-C80A-F8B6-317A-2919C8829223}"/>
              </a:ext>
            </a:extLst>
          </p:cNvPr>
          <p:cNvSpPr>
            <a:spLocks noGrp="1"/>
          </p:cNvSpPr>
          <p:nvPr>
            <p:ph type="title"/>
          </p:nvPr>
        </p:nvSpPr>
        <p:spPr/>
        <p:txBody>
          <a:bodyPr/>
          <a:lstStyle/>
          <a:p>
            <a:r>
              <a:rPr lang="en-IN" dirty="0"/>
              <a:t>Inventing Heuristics</a:t>
            </a:r>
          </a:p>
        </p:txBody>
      </p:sp>
      <p:sp>
        <p:nvSpPr>
          <p:cNvPr id="3" name="Content Placeholder 2">
            <a:extLst>
              <a:ext uri="{FF2B5EF4-FFF2-40B4-BE49-F238E27FC236}">
                <a16:creationId xmlns:a16="http://schemas.microsoft.com/office/drawing/2014/main" xmlns="" id="{676F26B2-0E39-B51C-4E5F-8DEFA45975D8}"/>
              </a:ext>
            </a:extLst>
          </p:cNvPr>
          <p:cNvSpPr>
            <a:spLocks noGrp="1"/>
          </p:cNvSpPr>
          <p:nvPr>
            <p:ph idx="1"/>
          </p:nvPr>
        </p:nvSpPr>
        <p:spPr/>
        <p:txBody>
          <a:bodyPr>
            <a:normAutofit/>
          </a:bodyPr>
          <a:lstStyle/>
          <a:p>
            <a:r>
              <a:rPr lang="en-US" sz="2400" dirty="0"/>
              <a:t>Many good heuristics can be invented by considering relaxed versions of the problem (abstractions). </a:t>
            </a:r>
          </a:p>
          <a:p>
            <a:r>
              <a:rPr lang="en-US" sz="2400" dirty="0"/>
              <a:t>For 8-puzzle: A tile can move from square A to B if A is adjacent to B and B is blank </a:t>
            </a:r>
          </a:p>
          <a:p>
            <a:pPr lvl="1"/>
            <a:r>
              <a:rPr lang="en-US" sz="2000" dirty="0"/>
              <a:t>(a) A tile can move from square A to B if A is adjacent to B. </a:t>
            </a:r>
          </a:p>
          <a:p>
            <a:pPr lvl="1"/>
            <a:r>
              <a:rPr lang="en-US" sz="2000" dirty="0"/>
              <a:t>(b) A tile can move from square A to B if B is blank. (c) A tile can move from square A to B. </a:t>
            </a:r>
          </a:p>
          <a:p>
            <a:r>
              <a:rPr lang="en-US" sz="2400" dirty="0"/>
              <a:t>If there are a number of features that indicate a promising or unpromising state, a weighted sum of these features can be useful. Learning methods can be used to set weights.</a:t>
            </a:r>
            <a:endParaRPr lang="en-IN" sz="2400" dirty="0"/>
          </a:p>
        </p:txBody>
      </p:sp>
      <p:sp>
        <p:nvSpPr>
          <p:cNvPr id="4" name="Footer Placeholder 3">
            <a:extLst>
              <a:ext uri="{FF2B5EF4-FFF2-40B4-BE49-F238E27FC236}">
                <a16:creationId xmlns:a16="http://schemas.microsoft.com/office/drawing/2014/main" xmlns="" id="{2710E1F4-434A-EEAF-CDCC-B5A13D9320BF}"/>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2487F60F-AB7A-3827-F29A-43047F001794}"/>
              </a:ext>
            </a:extLst>
          </p:cNvPr>
          <p:cNvSpPr>
            <a:spLocks noGrp="1"/>
          </p:cNvSpPr>
          <p:nvPr>
            <p:ph type="sldNum" sz="quarter" idx="12"/>
          </p:nvPr>
        </p:nvSpPr>
        <p:spPr/>
        <p:txBody>
          <a:bodyPr/>
          <a:lstStyle/>
          <a:p>
            <a:fld id="{1E81A027-E3F7-4FC9-A752-E855AD4A687D}" type="slidenum">
              <a:rPr lang="en-IN" smtClean="0"/>
              <a:t>114</a:t>
            </a:fld>
            <a:endParaRPr lang="en-IN"/>
          </a:p>
        </p:txBody>
      </p:sp>
    </p:spTree>
    <p:extLst>
      <p:ext uri="{BB962C8B-B14F-4D97-AF65-F5344CB8AC3E}">
        <p14:creationId xmlns:p14="http://schemas.microsoft.com/office/powerpoint/2010/main" val="26376798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CBE92D-B810-2BCA-4A31-71BDB0A3C018}"/>
              </a:ext>
            </a:extLst>
          </p:cNvPr>
          <p:cNvSpPr>
            <a:spLocks noGrp="1"/>
          </p:cNvSpPr>
          <p:nvPr>
            <p:ph type="title"/>
          </p:nvPr>
        </p:nvSpPr>
        <p:spPr/>
        <p:txBody>
          <a:bodyPr/>
          <a:lstStyle/>
          <a:p>
            <a:r>
              <a:rPr lang="en-IN" dirty="0"/>
              <a:t>Heuristic Performance</a:t>
            </a:r>
          </a:p>
        </p:txBody>
      </p:sp>
      <p:sp>
        <p:nvSpPr>
          <p:cNvPr id="3" name="Content Placeholder 2">
            <a:extLst>
              <a:ext uri="{FF2B5EF4-FFF2-40B4-BE49-F238E27FC236}">
                <a16:creationId xmlns:a16="http://schemas.microsoft.com/office/drawing/2014/main" xmlns="" id="{DBDD6122-A4C8-5EB0-E152-430780568336}"/>
              </a:ext>
            </a:extLst>
          </p:cNvPr>
          <p:cNvSpPr>
            <a:spLocks noGrp="1"/>
          </p:cNvSpPr>
          <p:nvPr>
            <p:ph idx="1"/>
          </p:nvPr>
        </p:nvSpPr>
        <p:spPr/>
        <p:txBody>
          <a:bodyPr>
            <a:normAutofit/>
          </a:bodyPr>
          <a:lstStyle/>
          <a:p>
            <a:r>
              <a:rPr lang="en-US" sz="2800" dirty="0"/>
              <a:t>Experiments on sample problems can determine the number of nodes searched and CPU time for different strategies. </a:t>
            </a:r>
          </a:p>
          <a:p>
            <a:r>
              <a:rPr lang="en-US" sz="2800" dirty="0"/>
              <a:t>One other useful measure is </a:t>
            </a:r>
            <a:r>
              <a:rPr lang="en-US" sz="2800" dirty="0">
                <a:solidFill>
                  <a:srgbClr val="0070C0"/>
                </a:solidFill>
              </a:rPr>
              <a:t>effective branching factor</a:t>
            </a:r>
            <a:r>
              <a:rPr lang="en-US" sz="2800" dirty="0"/>
              <a:t>: If a method expands </a:t>
            </a:r>
            <a:r>
              <a:rPr lang="en-US" sz="2800" dirty="0">
                <a:solidFill>
                  <a:srgbClr val="00B050"/>
                </a:solidFill>
              </a:rPr>
              <a:t>N nodes </a:t>
            </a:r>
            <a:r>
              <a:rPr lang="en-US" sz="2800" dirty="0"/>
              <a:t>to find solution of </a:t>
            </a:r>
            <a:r>
              <a:rPr lang="en-US" sz="2800" dirty="0">
                <a:solidFill>
                  <a:srgbClr val="FF0000"/>
                </a:solidFill>
              </a:rPr>
              <a:t>depth d</a:t>
            </a:r>
            <a:r>
              <a:rPr lang="en-US" sz="2800" dirty="0"/>
              <a:t>, and a </a:t>
            </a:r>
            <a:r>
              <a:rPr lang="en-US" sz="2800" dirty="0">
                <a:solidFill>
                  <a:srgbClr val="FF0000"/>
                </a:solidFill>
              </a:rPr>
              <a:t>uniform tree of depth d</a:t>
            </a:r>
            <a:r>
              <a:rPr lang="en-US" sz="2800" dirty="0"/>
              <a:t> would require a </a:t>
            </a:r>
            <a:r>
              <a:rPr lang="en-US" sz="2800" dirty="0">
                <a:solidFill>
                  <a:srgbClr val="FFC000"/>
                </a:solidFill>
              </a:rPr>
              <a:t>branching factor of b*</a:t>
            </a:r>
            <a:r>
              <a:rPr lang="en-US" sz="2800" dirty="0"/>
              <a:t> to contain N nodes, the effective branching factor is b* </a:t>
            </a:r>
          </a:p>
          <a:p>
            <a:pPr lvl="1"/>
            <a:r>
              <a:rPr lang="en-US" sz="2400" dirty="0"/>
              <a:t>N = 1 + b* + (b*)</a:t>
            </a:r>
            <a:r>
              <a:rPr lang="en-US" sz="2400" baseline="30000" dirty="0"/>
              <a:t>2</a:t>
            </a:r>
            <a:r>
              <a:rPr lang="en-US" sz="2400" dirty="0"/>
              <a:t> + ...+ (b*)</a:t>
            </a:r>
            <a:r>
              <a:rPr lang="en-US" sz="2400" baseline="30000" dirty="0"/>
              <a:t>d</a:t>
            </a:r>
            <a:r>
              <a:rPr lang="en-US" sz="2400" dirty="0"/>
              <a:t> </a:t>
            </a:r>
          </a:p>
        </p:txBody>
      </p:sp>
      <p:sp>
        <p:nvSpPr>
          <p:cNvPr id="4" name="Footer Placeholder 3">
            <a:extLst>
              <a:ext uri="{FF2B5EF4-FFF2-40B4-BE49-F238E27FC236}">
                <a16:creationId xmlns:a16="http://schemas.microsoft.com/office/drawing/2014/main" xmlns="" id="{FC7C4CD1-902B-9E8D-B120-B07DEB97C695}"/>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E14E533B-F397-2F27-3E64-C977D0D9F382}"/>
              </a:ext>
            </a:extLst>
          </p:cNvPr>
          <p:cNvSpPr>
            <a:spLocks noGrp="1"/>
          </p:cNvSpPr>
          <p:nvPr>
            <p:ph type="sldNum" sz="quarter" idx="12"/>
          </p:nvPr>
        </p:nvSpPr>
        <p:spPr/>
        <p:txBody>
          <a:bodyPr/>
          <a:lstStyle/>
          <a:p>
            <a:fld id="{1E81A027-E3F7-4FC9-A752-E855AD4A687D}" type="slidenum">
              <a:rPr lang="en-IN" smtClean="0"/>
              <a:t>115</a:t>
            </a:fld>
            <a:endParaRPr lang="en-IN"/>
          </a:p>
        </p:txBody>
      </p:sp>
    </p:spTree>
    <p:extLst>
      <p:ext uri="{BB962C8B-B14F-4D97-AF65-F5344CB8AC3E}">
        <p14:creationId xmlns:p14="http://schemas.microsoft.com/office/powerpoint/2010/main" val="348781045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878A63-E5BB-2B0B-8B49-0B5C83E26812}"/>
              </a:ext>
            </a:extLst>
          </p:cNvPr>
          <p:cNvSpPr>
            <a:spLocks noGrp="1"/>
          </p:cNvSpPr>
          <p:nvPr>
            <p:ph type="title"/>
          </p:nvPr>
        </p:nvSpPr>
        <p:spPr/>
        <p:txBody>
          <a:bodyPr>
            <a:normAutofit fontScale="90000"/>
          </a:bodyPr>
          <a:lstStyle/>
          <a:p>
            <a:r>
              <a:rPr lang="en-US" dirty="0"/>
              <a:t>Experimental Results on 8-puzzle problems</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240DE4CE-F984-C911-7FC6-3F0CD4EE42B1}"/>
              </a:ext>
            </a:extLst>
          </p:cNvPr>
          <p:cNvSpPr>
            <a:spLocks noGrp="1"/>
          </p:cNvSpPr>
          <p:nvPr>
            <p:ph idx="1"/>
          </p:nvPr>
        </p:nvSpPr>
        <p:spPr>
          <a:xfrm>
            <a:off x="8154954" y="1845734"/>
            <a:ext cx="3000725" cy="4023360"/>
          </a:xfrm>
        </p:spPr>
        <p:txBody>
          <a:bodyPr/>
          <a:lstStyle/>
          <a:p>
            <a:r>
              <a:rPr lang="en-US" sz="1800" dirty="0">
                <a:solidFill>
                  <a:srgbClr val="000000"/>
                </a:solidFill>
                <a:effectLst/>
                <a:latin typeface="Times-Roman"/>
              </a:rPr>
              <a:t>1200 random problems with solution lengths from 2 to 24</a:t>
            </a:r>
          </a:p>
          <a:p>
            <a:r>
              <a:rPr lang="en-US" sz="1800" dirty="0">
                <a:solidFill>
                  <a:srgbClr val="000000"/>
                </a:solidFill>
                <a:effectLst/>
                <a:latin typeface="Times-Roman"/>
              </a:rPr>
              <a:t>solved them with iterative deepening search and with A</a:t>
            </a:r>
            <a:r>
              <a:rPr lang="en-US" sz="1800" dirty="0">
                <a:solidFill>
                  <a:srgbClr val="000000"/>
                </a:solidFill>
                <a:effectLst/>
                <a:latin typeface="CMSY8"/>
              </a:rPr>
              <a:t>∗ </a:t>
            </a:r>
            <a:r>
              <a:rPr lang="en-US" sz="1800" dirty="0">
                <a:solidFill>
                  <a:srgbClr val="000000"/>
                </a:solidFill>
                <a:effectLst/>
                <a:latin typeface="Times-Roman"/>
              </a:rPr>
              <a:t>tree search using both </a:t>
            </a:r>
            <a:r>
              <a:rPr lang="en-US" sz="1800" dirty="0">
                <a:solidFill>
                  <a:srgbClr val="000000"/>
                </a:solidFill>
                <a:effectLst/>
                <a:latin typeface="CMMI10"/>
              </a:rPr>
              <a:t>h</a:t>
            </a:r>
            <a:r>
              <a:rPr lang="en-US" sz="1800" dirty="0">
                <a:solidFill>
                  <a:srgbClr val="000000"/>
                </a:solidFill>
                <a:effectLst/>
                <a:latin typeface="CMR8"/>
              </a:rPr>
              <a:t>1 </a:t>
            </a:r>
            <a:r>
              <a:rPr lang="en-US" sz="1800" dirty="0">
                <a:solidFill>
                  <a:srgbClr val="000000"/>
                </a:solidFill>
                <a:effectLst/>
                <a:latin typeface="Times-Roman"/>
              </a:rPr>
              <a:t>and </a:t>
            </a:r>
            <a:r>
              <a:rPr lang="en-US" sz="1800" dirty="0">
                <a:solidFill>
                  <a:srgbClr val="000000"/>
                </a:solidFill>
                <a:effectLst/>
                <a:latin typeface="CMMI10"/>
              </a:rPr>
              <a:t>h</a:t>
            </a:r>
            <a:r>
              <a:rPr lang="en-US" sz="1800" dirty="0">
                <a:solidFill>
                  <a:srgbClr val="000000"/>
                </a:solidFill>
                <a:effectLst/>
                <a:latin typeface="CMR8"/>
              </a:rPr>
              <a:t>2</a:t>
            </a:r>
          </a:p>
          <a:p>
            <a:r>
              <a:rPr lang="en-US" sz="1800" dirty="0">
                <a:solidFill>
                  <a:srgbClr val="000000"/>
                </a:solidFill>
                <a:effectLst/>
                <a:latin typeface="Times-Roman"/>
              </a:rPr>
              <a:t>This </a:t>
            </a:r>
            <a:r>
              <a:rPr lang="en-US" sz="1800" dirty="0">
                <a:solidFill>
                  <a:srgbClr val="000000"/>
                </a:solidFill>
                <a:latin typeface="Times-Roman"/>
              </a:rPr>
              <a:t>table show </a:t>
            </a:r>
            <a:r>
              <a:rPr lang="en-US" sz="1800" dirty="0">
                <a:solidFill>
                  <a:srgbClr val="000000"/>
                </a:solidFill>
                <a:effectLst/>
                <a:latin typeface="Times-Roman"/>
              </a:rPr>
              <a:t>average number of nodes generated by each strategy and the effective branching factor</a:t>
            </a:r>
            <a:endParaRPr lang="en-IN" dirty="0"/>
          </a:p>
        </p:txBody>
      </p:sp>
      <p:sp>
        <p:nvSpPr>
          <p:cNvPr id="4" name="Footer Placeholder 3">
            <a:extLst>
              <a:ext uri="{FF2B5EF4-FFF2-40B4-BE49-F238E27FC236}">
                <a16:creationId xmlns:a16="http://schemas.microsoft.com/office/drawing/2014/main" xmlns="" id="{44ABD799-4586-7CDD-E27C-B9F131F52DEB}"/>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1AB2C0CE-A0EC-8440-693D-9EB08C7773ED}"/>
              </a:ext>
            </a:extLst>
          </p:cNvPr>
          <p:cNvSpPr>
            <a:spLocks noGrp="1"/>
          </p:cNvSpPr>
          <p:nvPr>
            <p:ph type="sldNum" sz="quarter" idx="12"/>
          </p:nvPr>
        </p:nvSpPr>
        <p:spPr/>
        <p:txBody>
          <a:bodyPr/>
          <a:lstStyle/>
          <a:p>
            <a:fld id="{1E81A027-E3F7-4FC9-A752-E855AD4A687D}" type="slidenum">
              <a:rPr lang="en-IN" smtClean="0"/>
              <a:t>116</a:t>
            </a:fld>
            <a:endParaRPr lang="en-IN"/>
          </a:p>
        </p:txBody>
      </p:sp>
      <p:pic>
        <p:nvPicPr>
          <p:cNvPr id="6" name="Picture 5">
            <a:extLst>
              <a:ext uri="{FF2B5EF4-FFF2-40B4-BE49-F238E27FC236}">
                <a16:creationId xmlns:a16="http://schemas.microsoft.com/office/drawing/2014/main" xmlns="" id="{A6FCE8E0-16CB-C957-EB92-0195CB0A67C1}"/>
              </a:ext>
            </a:extLst>
          </p:cNvPr>
          <p:cNvPicPr>
            <a:picLocks noChangeAspect="1"/>
          </p:cNvPicPr>
          <p:nvPr/>
        </p:nvPicPr>
        <p:blipFill>
          <a:blip r:embed="rId2"/>
          <a:stretch>
            <a:fillRect/>
          </a:stretch>
        </p:blipFill>
        <p:spPr>
          <a:xfrm>
            <a:off x="111967" y="1435877"/>
            <a:ext cx="7965430" cy="4437882"/>
          </a:xfrm>
          <a:prstGeom prst="rect">
            <a:avLst/>
          </a:prstGeom>
        </p:spPr>
      </p:pic>
    </p:spTree>
    <p:extLst>
      <p:ext uri="{BB962C8B-B14F-4D97-AF65-F5344CB8AC3E}">
        <p14:creationId xmlns:p14="http://schemas.microsoft.com/office/powerpoint/2010/main" val="340065852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31A125-6BB2-CA02-B896-79DBDA41FCCB}"/>
              </a:ext>
            </a:extLst>
          </p:cNvPr>
          <p:cNvSpPr>
            <a:spLocks noGrp="1"/>
          </p:cNvSpPr>
          <p:nvPr>
            <p:ph type="title"/>
          </p:nvPr>
        </p:nvSpPr>
        <p:spPr/>
        <p:txBody>
          <a:bodyPr/>
          <a:lstStyle/>
          <a:p>
            <a:r>
              <a:rPr lang="en-IN" dirty="0"/>
              <a:t>Quality of Heuristics</a:t>
            </a:r>
          </a:p>
        </p:txBody>
      </p:sp>
      <p:sp>
        <p:nvSpPr>
          <p:cNvPr id="3" name="Content Placeholder 2">
            <a:extLst>
              <a:ext uri="{FF2B5EF4-FFF2-40B4-BE49-F238E27FC236}">
                <a16:creationId xmlns:a16="http://schemas.microsoft.com/office/drawing/2014/main" xmlns="" id="{16BFDF4B-1493-861F-87ED-E3528038BECD}"/>
              </a:ext>
            </a:extLst>
          </p:cNvPr>
          <p:cNvSpPr>
            <a:spLocks noGrp="1"/>
          </p:cNvSpPr>
          <p:nvPr>
            <p:ph idx="1"/>
          </p:nvPr>
        </p:nvSpPr>
        <p:spPr/>
        <p:txBody>
          <a:bodyPr>
            <a:normAutofit/>
          </a:bodyPr>
          <a:lstStyle/>
          <a:p>
            <a:r>
              <a:rPr lang="en-US" sz="2800" dirty="0"/>
              <a:t>Since A* expands all nodes whose f value is less than that of an optimal solution, </a:t>
            </a:r>
            <a:r>
              <a:rPr lang="en-US" sz="2800" dirty="0">
                <a:solidFill>
                  <a:srgbClr val="FF0000"/>
                </a:solidFill>
              </a:rPr>
              <a:t>it is always better to use a heuristic with a higher value as long as it does not over-estimate</a:t>
            </a:r>
            <a:r>
              <a:rPr lang="en-US" sz="2800" dirty="0"/>
              <a:t>. </a:t>
            </a:r>
          </a:p>
          <a:p>
            <a:r>
              <a:rPr lang="en-US" sz="2800" dirty="0"/>
              <a:t>Therefore h2 is uniformly better than h1 , or h2 dominates h1 . </a:t>
            </a:r>
          </a:p>
          <a:p>
            <a:r>
              <a:rPr lang="en-US" sz="2800" dirty="0">
                <a:solidFill>
                  <a:srgbClr val="FF0000"/>
                </a:solidFill>
              </a:rPr>
              <a:t>A heuristic should also be easy to compute, otherwise the overhead of computing the heuristic could outweigh the time saved by reducing search </a:t>
            </a:r>
            <a:r>
              <a:rPr lang="en-US" sz="2800" dirty="0"/>
              <a:t>(e.g. using full breadth-first search to estimate distance wouldn’t help)</a:t>
            </a:r>
            <a:endParaRPr lang="en-IN" sz="2800" dirty="0"/>
          </a:p>
        </p:txBody>
      </p:sp>
      <p:sp>
        <p:nvSpPr>
          <p:cNvPr id="4" name="Footer Placeholder 3">
            <a:extLst>
              <a:ext uri="{FF2B5EF4-FFF2-40B4-BE49-F238E27FC236}">
                <a16:creationId xmlns:a16="http://schemas.microsoft.com/office/drawing/2014/main" xmlns="" id="{FA61B21A-C6C5-7C22-BB19-C2286A5BBFA9}"/>
              </a:ext>
            </a:extLst>
          </p:cNvPr>
          <p:cNvSpPr>
            <a:spLocks noGrp="1"/>
          </p:cNvSpPr>
          <p:nvPr>
            <p:ph type="ftr" sz="quarter" idx="11"/>
          </p:nvPr>
        </p:nvSpPr>
        <p:spPr/>
        <p:txBody>
          <a:bodyPr/>
          <a:lstStyle/>
          <a:p>
            <a:r>
              <a:rPr lang="en-IN"/>
              <a:t>DEPARTMENT OF CSE SNGCE</a:t>
            </a:r>
          </a:p>
        </p:txBody>
      </p:sp>
      <p:sp>
        <p:nvSpPr>
          <p:cNvPr id="5" name="Slide Number Placeholder 4">
            <a:extLst>
              <a:ext uri="{FF2B5EF4-FFF2-40B4-BE49-F238E27FC236}">
                <a16:creationId xmlns:a16="http://schemas.microsoft.com/office/drawing/2014/main" xmlns="" id="{93A5157F-B3BC-6990-0C0D-3BFD359D1176}"/>
              </a:ext>
            </a:extLst>
          </p:cNvPr>
          <p:cNvSpPr>
            <a:spLocks noGrp="1"/>
          </p:cNvSpPr>
          <p:nvPr>
            <p:ph type="sldNum" sz="quarter" idx="12"/>
          </p:nvPr>
        </p:nvSpPr>
        <p:spPr/>
        <p:txBody>
          <a:bodyPr/>
          <a:lstStyle/>
          <a:p>
            <a:fld id="{1E81A027-E3F7-4FC9-A752-E855AD4A687D}" type="slidenum">
              <a:rPr lang="en-IN" smtClean="0"/>
              <a:t>117</a:t>
            </a:fld>
            <a:endParaRPr lang="en-IN"/>
          </a:p>
        </p:txBody>
      </p:sp>
    </p:spTree>
    <p:extLst>
      <p:ext uri="{BB962C8B-B14F-4D97-AF65-F5344CB8AC3E}">
        <p14:creationId xmlns:p14="http://schemas.microsoft.com/office/powerpoint/2010/main" val="142085643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5576</TotalTime>
  <Words>7192</Words>
  <Application>Microsoft Office PowerPoint</Application>
  <PresentationFormat>Widescreen</PresentationFormat>
  <Paragraphs>843</Paragraphs>
  <Slides>117</Slides>
  <Notes>0</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117</vt:i4>
      </vt:variant>
    </vt:vector>
  </HeadingPairs>
  <TitlesOfParts>
    <vt:vector size="135" baseType="lpstr">
      <vt:lpstr>Arial</vt:lpstr>
      <vt:lpstr>Calibri</vt:lpstr>
      <vt:lpstr>Calibri Light</vt:lpstr>
      <vt:lpstr>CMMI10</vt:lpstr>
      <vt:lpstr>CMR10</vt:lpstr>
      <vt:lpstr>CMR8</vt:lpstr>
      <vt:lpstr>CMSY10</vt:lpstr>
      <vt:lpstr>CMSY8</vt:lpstr>
      <vt:lpstr>Courier New</vt:lpstr>
      <vt:lpstr>新細明體</vt:lpstr>
      <vt:lpstr>新細明體</vt:lpstr>
      <vt:lpstr>Raleway</vt:lpstr>
      <vt:lpstr>Times New Roman</vt:lpstr>
      <vt:lpstr>Times-Italic</vt:lpstr>
      <vt:lpstr>Times-Roman</vt:lpstr>
      <vt:lpstr>Viner Hand ITC</vt:lpstr>
      <vt:lpstr>Wingdings</vt:lpstr>
      <vt:lpstr>Retrospect</vt:lpstr>
      <vt:lpstr>SYLLABUS Module 2- Problem Solving</vt:lpstr>
      <vt:lpstr>PowerPoint Presentation</vt:lpstr>
      <vt:lpstr>PowerPoint Presentation</vt:lpstr>
      <vt:lpstr>PowerPoint Presentation</vt:lpstr>
      <vt:lpstr>PROBLEM-SOLVING AGENTS</vt:lpstr>
      <vt:lpstr>Steps Require to Solve a Problem</vt:lpstr>
      <vt:lpstr>Goal formulation</vt:lpstr>
      <vt:lpstr>Problem formulation</vt:lpstr>
      <vt:lpstr>Components to formulate the associated problem</vt:lpstr>
      <vt:lpstr>PowerPoint Presentation</vt:lpstr>
      <vt:lpstr>Properties of the Environment</vt:lpstr>
      <vt:lpstr>Search</vt:lpstr>
      <vt:lpstr>Searching Process</vt:lpstr>
      <vt:lpstr>Open-loop system</vt:lpstr>
      <vt:lpstr>Well-defined problems and solutions</vt:lpstr>
      <vt:lpstr>PowerPoint Presentation</vt:lpstr>
      <vt:lpstr>PowerPoint Presentation</vt:lpstr>
      <vt:lpstr>Formulating problems</vt:lpstr>
      <vt:lpstr>Evaluation Criteria</vt:lpstr>
      <vt:lpstr>Problem-Solving Agents</vt:lpstr>
      <vt:lpstr>Example: Romania</vt:lpstr>
      <vt:lpstr>PowerPoint Presentation</vt:lpstr>
      <vt:lpstr>PowerPoint Presentation</vt:lpstr>
      <vt:lpstr>Single-state problem formulation</vt:lpstr>
      <vt:lpstr>Example Problems</vt:lpstr>
      <vt:lpstr>Toy problems- Vacuum World</vt:lpstr>
      <vt:lpstr>PowerPoint Presentation</vt:lpstr>
      <vt:lpstr>PowerPoint Presentation</vt:lpstr>
      <vt:lpstr>8-puzzle</vt:lpstr>
      <vt:lpstr>PowerPoint Presentation</vt:lpstr>
      <vt:lpstr>PowerPoint Presentation</vt:lpstr>
      <vt:lpstr>8-queens problem</vt:lpstr>
      <vt:lpstr>PowerPoint Presentation</vt:lpstr>
      <vt:lpstr>PowerPoint Presentation</vt:lpstr>
      <vt:lpstr>PowerPoint Presentation</vt:lpstr>
      <vt:lpstr>Real-world problems- Route-Finding problem</vt:lpstr>
      <vt:lpstr>Searching for solution</vt:lpstr>
      <vt:lpstr>Search tree for finding a route  from Arad to Bucharest</vt:lpstr>
      <vt:lpstr>Frontier</vt:lpstr>
      <vt:lpstr>PowerPoint Presentation</vt:lpstr>
      <vt:lpstr>PowerPoint Presentation</vt:lpstr>
      <vt:lpstr>PowerPoint Presentation</vt:lpstr>
      <vt:lpstr>TREE-SEARCH algorithm </vt:lpstr>
      <vt:lpstr>GRAPH-SEARCH algorithm </vt:lpstr>
      <vt:lpstr>PowerPoint Presentation</vt:lpstr>
      <vt:lpstr>PowerPoint Presentation</vt:lpstr>
      <vt:lpstr>Infrastructure for search algorithms</vt:lpstr>
      <vt:lpstr>PowerPoint Presentation</vt:lpstr>
      <vt:lpstr>PowerPoint Presentation</vt:lpstr>
      <vt:lpstr>PowerPoint Presentation</vt:lpstr>
      <vt:lpstr>Measuring problem-solving performance</vt:lpstr>
      <vt:lpstr>PowerPoint Presentation</vt:lpstr>
      <vt:lpstr>DIFFERENT TYPES OF SEARCHING </vt:lpstr>
      <vt:lpstr>Uninformed Search Strategies</vt:lpstr>
      <vt:lpstr>1. Breadth-First search</vt:lpstr>
      <vt:lpstr>PowerPoint Presentation</vt:lpstr>
      <vt:lpstr>PowerPoint Presentation</vt:lpstr>
      <vt:lpstr>PowerPoint Presentation</vt:lpstr>
      <vt:lpstr>PowerPoint Presentation</vt:lpstr>
      <vt:lpstr>Problem solving performance-BFS</vt:lpstr>
      <vt:lpstr>PowerPoint Presentation</vt:lpstr>
      <vt:lpstr>2. Uniform-cost search</vt:lpstr>
      <vt:lpstr>PowerPoint Presentation</vt:lpstr>
      <vt:lpstr>PowerPoint Presentation</vt:lpstr>
      <vt:lpstr>PowerPoint Presentation</vt:lpstr>
      <vt:lpstr>Problem solving performance-UCS</vt:lpstr>
      <vt:lpstr>PowerPoint Presentation</vt:lpstr>
      <vt:lpstr>Depth-first search</vt:lpstr>
      <vt:lpstr>PowerPoint Presentation</vt:lpstr>
      <vt:lpstr>PowerPoint Presentation</vt:lpstr>
      <vt:lpstr>Problem solving performance-DFS</vt:lpstr>
      <vt:lpstr>PowerPoint Presentation</vt:lpstr>
      <vt:lpstr>PowerPoint Presentation</vt:lpstr>
      <vt:lpstr>Backtracking search</vt:lpstr>
      <vt:lpstr>Depth-limited search</vt:lpstr>
      <vt:lpstr>Depth-limited search</vt:lpstr>
      <vt:lpstr>PowerPoint Presentation</vt:lpstr>
      <vt:lpstr>PowerPoint Presentation</vt:lpstr>
      <vt:lpstr>Iterative deepening depth-first search</vt:lpstr>
      <vt:lpstr>PowerPoint Presentation</vt:lpstr>
      <vt:lpstr>PowerPoint Presentation</vt:lpstr>
      <vt:lpstr>PowerPoint Presentation</vt:lpstr>
      <vt:lpstr>PowerPoint Presentation</vt:lpstr>
      <vt:lpstr>PowerPoint Presentation</vt:lpstr>
      <vt:lpstr>INFORMED (HEURISTIC) SEARCH STRATEGIES</vt:lpstr>
      <vt:lpstr>BEST-FIRST SEARCH</vt:lpstr>
      <vt:lpstr>PowerPoint Presentation</vt:lpstr>
      <vt:lpstr>Greedy best-first search</vt:lpstr>
      <vt:lpstr>Greedy best-first search- Route finding problems in Romania</vt:lpstr>
      <vt:lpstr>PowerPoint Presentation</vt:lpstr>
      <vt:lpstr>PowerPoint Presentation</vt:lpstr>
      <vt:lpstr>PowerPoint Presentation</vt:lpstr>
      <vt:lpstr>PowerPoint Presentation</vt:lpstr>
      <vt:lpstr>A* search: Minimizing the total estimated solution cost</vt:lpstr>
      <vt:lpstr>PowerPoint Presentation</vt:lpstr>
      <vt:lpstr>Progress of an A∗ tree 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Conditions for optimality: Admissibility</vt:lpstr>
      <vt:lpstr>Conditions for optimality: Consistency</vt:lpstr>
      <vt:lpstr>Optimality of A*</vt:lpstr>
      <vt:lpstr>if h(n) is consistent, then the values of f(n) along any path are nondecreasing. </vt:lpstr>
      <vt:lpstr>whenever A∗ selects a node n for expansion, the optimal path to that node has been found.</vt:lpstr>
      <vt:lpstr>PowerPoint Presentation</vt:lpstr>
      <vt:lpstr>Disadvantages of A* Algorithm </vt:lpstr>
      <vt:lpstr>HEURISTIC FUNCTIONS</vt:lpstr>
      <vt:lpstr>Admissible Heuristics</vt:lpstr>
      <vt:lpstr>Inventing Heuristics</vt:lpstr>
      <vt:lpstr>Heuristic Performance</vt:lpstr>
      <vt:lpstr>Experimental Results on 8-puzzle problems </vt:lpstr>
      <vt:lpstr>Quality of Heuristics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CST401 ARTIFICIAL INTELLIGENCE</dc:title>
  <dc:creator>sharika t r</dc:creator>
  <cp:lastModifiedBy>HP</cp:lastModifiedBy>
  <cp:revision>118</cp:revision>
  <dcterms:created xsi:type="dcterms:W3CDTF">2022-08-29T06:19:30Z</dcterms:created>
  <dcterms:modified xsi:type="dcterms:W3CDTF">2025-08-11T16:39:29Z</dcterms:modified>
</cp:coreProperties>
</file>